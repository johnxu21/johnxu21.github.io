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67" r:id="rId2"/>
    <p:sldId id="268" r:id="rId3"/>
    <p:sldId id="269" r:id="rId4"/>
    <p:sldId id="271" r:id="rId5"/>
    <p:sldId id="313" r:id="rId6"/>
    <p:sldId id="319" r:id="rId7"/>
    <p:sldId id="256" r:id="rId8"/>
    <p:sldId id="320" r:id="rId9"/>
    <p:sldId id="321" r:id="rId10"/>
    <p:sldId id="329" r:id="rId11"/>
    <p:sldId id="330" r:id="rId12"/>
    <p:sldId id="323" r:id="rId13"/>
    <p:sldId id="324" r:id="rId14"/>
    <p:sldId id="325" r:id="rId15"/>
    <p:sldId id="326" r:id="rId16"/>
    <p:sldId id="327" r:id="rId17"/>
    <p:sldId id="328" r:id="rId18"/>
    <p:sldId id="258" r:id="rId19"/>
    <p:sldId id="305" r:id="rId20"/>
    <p:sldId id="314" r:id="rId21"/>
    <p:sldId id="309" r:id="rId22"/>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02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914"/>
    <p:restoredTop sz="65953"/>
  </p:normalViewPr>
  <p:slideViewPr>
    <p:cSldViewPr snapToGrid="0">
      <p:cViewPr varScale="1">
        <p:scale>
          <a:sx n="78" d="100"/>
          <a:sy n="78" d="100"/>
        </p:scale>
        <p:origin x="200" y="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B8447B-21DA-C14B-8670-A0EC0E7C4FF8}" type="datetimeFigureOut">
              <a:rPr lang="en-BE" smtClean="0"/>
              <a:t>19/08/2026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181410-5F61-C247-9B70-F663CDE0B230}" type="slidenum">
              <a:rPr lang="en-BE" smtClean="0"/>
              <a:t>‹#›</a:t>
            </a:fld>
            <a:endParaRPr lang="en-BE"/>
          </a:p>
        </p:txBody>
      </p:sp>
    </p:spTree>
    <p:extLst>
      <p:ext uri="{BB962C8B-B14F-4D97-AF65-F5344CB8AC3E}">
        <p14:creationId xmlns:p14="http://schemas.microsoft.com/office/powerpoint/2010/main" val="2744533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Good afternoon dear All</a:t>
            </a:r>
          </a:p>
          <a:p>
            <a:r>
              <a:rPr lang="en-BE" dirty="0"/>
              <a:t>Welcome to the class </a:t>
            </a:r>
            <a:r>
              <a:rPr lang="en-GB" b="0" i="0" dirty="0">
                <a:solidFill>
                  <a:srgbClr val="000000"/>
                </a:solidFill>
                <a:effectLst/>
                <a:latin typeface="Titillium Web" panose="020F0502020204030204" pitchFamily="34" charset="0"/>
              </a:rPr>
              <a:t>Software Product Design and Development I.</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000000"/>
                </a:solidFill>
                <a:effectLst/>
                <a:latin typeface="Titillium Web" panose="020F0502020204030204" pitchFamily="34" charset="0"/>
              </a:rPr>
              <a:t>My name is </a:t>
            </a:r>
            <a:r>
              <a:rPr lang="en-GB" b="0" i="0" dirty="0" err="1">
                <a:solidFill>
                  <a:srgbClr val="000000"/>
                </a:solidFill>
                <a:effectLst/>
                <a:latin typeface="Titillium Web" panose="020F0502020204030204" pitchFamily="34" charset="0"/>
              </a:rPr>
              <a:t>Dr.</a:t>
            </a:r>
            <a:r>
              <a:rPr lang="en-GB" b="0" i="0" dirty="0">
                <a:solidFill>
                  <a:srgbClr val="000000"/>
                </a:solidFill>
                <a:effectLst/>
                <a:latin typeface="Titillium Web" panose="020F0502020204030204" pitchFamily="34" charset="0"/>
              </a:rPr>
              <a:t> John Businge and the professor responsible for this class. I am so exited to be taking you in this class</a:t>
            </a:r>
          </a:p>
          <a:p>
            <a:r>
              <a:rPr lang="en-GB" b="0" i="0" dirty="0">
                <a:solidFill>
                  <a:srgbClr val="000000"/>
                </a:solidFill>
                <a:effectLst/>
                <a:latin typeface="Titillium Web" panose="020F0502020204030204" pitchFamily="34" charset="0"/>
              </a:rPr>
              <a:t>Attendance is not compulsory. However, it would be nice if you attend you can influence what we are going to discuss and how we are going to discuss it</a:t>
            </a:r>
          </a:p>
          <a:p>
            <a:r>
              <a:rPr lang="en-GB" b="0" i="0" dirty="0">
                <a:solidFill>
                  <a:srgbClr val="000000"/>
                </a:solidFill>
                <a:effectLst/>
                <a:latin typeface="Titillium Web" panose="020F0502020204030204" pitchFamily="34" charset="0"/>
              </a:rPr>
              <a:t>This class will be physical</a:t>
            </a:r>
          </a:p>
        </p:txBody>
      </p:sp>
      <p:sp>
        <p:nvSpPr>
          <p:cNvPr id="4" name="Slide Number Placeholder 3"/>
          <p:cNvSpPr>
            <a:spLocks noGrp="1"/>
          </p:cNvSpPr>
          <p:nvPr>
            <p:ph type="sldNum" sz="quarter" idx="5"/>
          </p:nvPr>
        </p:nvSpPr>
        <p:spPr/>
        <p:txBody>
          <a:bodyPr/>
          <a:lstStyle/>
          <a:p>
            <a:fld id="{9D0EB0F8-85EF-E548-A1A5-FE8AC5357EA0}" type="slidenum">
              <a:rPr lang="en-BE" smtClean="0"/>
              <a:t>1</a:t>
            </a:fld>
            <a:endParaRPr lang="en-BE"/>
          </a:p>
        </p:txBody>
      </p:sp>
    </p:spTree>
    <p:extLst>
      <p:ext uri="{BB962C8B-B14F-4D97-AF65-F5344CB8AC3E}">
        <p14:creationId xmlns:p14="http://schemas.microsoft.com/office/powerpoint/2010/main" val="2107336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First let me give you a brief about myself</a:t>
            </a:r>
          </a:p>
        </p:txBody>
      </p:sp>
      <p:sp>
        <p:nvSpPr>
          <p:cNvPr id="4" name="Slide Number Placeholder 3"/>
          <p:cNvSpPr>
            <a:spLocks noGrp="1"/>
          </p:cNvSpPr>
          <p:nvPr>
            <p:ph type="sldNum" sz="quarter" idx="5"/>
          </p:nvPr>
        </p:nvSpPr>
        <p:spPr/>
        <p:txBody>
          <a:bodyPr/>
          <a:lstStyle/>
          <a:p>
            <a:fld id="{9D0EB0F8-85EF-E548-A1A5-FE8AC5357EA0}" type="slidenum">
              <a:rPr lang="en-BE" smtClean="0"/>
              <a:t>2</a:t>
            </a:fld>
            <a:endParaRPr lang="en-BE"/>
          </a:p>
        </p:txBody>
      </p:sp>
    </p:spTree>
    <p:extLst>
      <p:ext uri="{BB962C8B-B14F-4D97-AF65-F5344CB8AC3E}">
        <p14:creationId xmlns:p14="http://schemas.microsoft.com/office/powerpoint/2010/main" val="2786847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Let us discuss the boreing stuff about administation.</a:t>
            </a:r>
          </a:p>
        </p:txBody>
      </p:sp>
      <p:sp>
        <p:nvSpPr>
          <p:cNvPr id="4" name="Slide Number Placeholder 3"/>
          <p:cNvSpPr>
            <a:spLocks noGrp="1"/>
          </p:cNvSpPr>
          <p:nvPr>
            <p:ph type="sldNum" sz="quarter" idx="5"/>
          </p:nvPr>
        </p:nvSpPr>
        <p:spPr/>
        <p:txBody>
          <a:bodyPr/>
          <a:lstStyle/>
          <a:p>
            <a:fld id="{9D0EB0F8-85EF-E548-A1A5-FE8AC5357EA0}" type="slidenum">
              <a:rPr lang="en-BE" smtClean="0"/>
              <a:t>3</a:t>
            </a:fld>
            <a:endParaRPr lang="en-BE"/>
          </a:p>
        </p:txBody>
      </p:sp>
    </p:spTree>
    <p:extLst>
      <p:ext uri="{BB962C8B-B14F-4D97-AF65-F5344CB8AC3E}">
        <p14:creationId xmlns:p14="http://schemas.microsoft.com/office/powerpoint/2010/main" val="859601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This is the 4th time I am teaching this course.</a:t>
            </a:r>
          </a:p>
          <a:p>
            <a:r>
              <a:rPr lang="en-BE" dirty="0"/>
              <a:t>What this means is that </a:t>
            </a:r>
            <a:r>
              <a:rPr lang="en-GB" dirty="0"/>
              <a:t>I</a:t>
            </a:r>
            <a:r>
              <a:rPr lang="en-BE" dirty="0"/>
              <a:t> am still a student of this class and learning to improve in my mistakes. </a:t>
            </a:r>
          </a:p>
          <a:p>
            <a:r>
              <a:rPr lang="en-BE" dirty="0"/>
              <a:t>But at the same time, it is a great opportunity for you to influence how this course is going to look like.</a:t>
            </a:r>
          </a:p>
          <a:p>
            <a:r>
              <a:rPr lang="en-BE" dirty="0"/>
              <a:t>In case you have feedback, please do not wait until the end of the course; Kindy give me the feedback as we go on. If it means giving it to me privately/anonymously, I will be more than happy to receive feedback</a:t>
            </a:r>
          </a:p>
          <a:p>
            <a:r>
              <a:rPr lang="en-BE" dirty="0"/>
              <a:t>This is all I had for the administration. Before I can continue, are there any questions?</a:t>
            </a:r>
          </a:p>
          <a:p>
            <a:endParaRPr lang="en-BE" dirty="0"/>
          </a:p>
        </p:txBody>
      </p:sp>
      <p:sp>
        <p:nvSpPr>
          <p:cNvPr id="4" name="Slide Number Placeholder 3"/>
          <p:cNvSpPr>
            <a:spLocks noGrp="1"/>
          </p:cNvSpPr>
          <p:nvPr>
            <p:ph type="sldNum" sz="quarter" idx="5"/>
          </p:nvPr>
        </p:nvSpPr>
        <p:spPr/>
        <p:txBody>
          <a:bodyPr/>
          <a:lstStyle/>
          <a:p>
            <a:fld id="{9D0EB0F8-85EF-E548-A1A5-FE8AC5357EA0}" type="slidenum">
              <a:rPr lang="en-BE" smtClean="0"/>
              <a:t>4</a:t>
            </a:fld>
            <a:endParaRPr lang="en-BE"/>
          </a:p>
        </p:txBody>
      </p:sp>
    </p:spTree>
    <p:extLst>
      <p:ext uri="{BB962C8B-B14F-4D97-AF65-F5344CB8AC3E}">
        <p14:creationId xmlns:p14="http://schemas.microsoft.com/office/powerpoint/2010/main" val="2617090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MVP is not simply the smallest amount of code a team can produce. It must provide a usable outcome for a real user or client.</a:t>
            </a:r>
          </a:p>
          <a:p>
            <a:r>
              <a:t>A mockup may evaluate an interface, and a technical prototype may reduce uncertainty, but neither is automatically an MVP.</a:t>
            </a:r>
          </a:p>
          <a:p>
            <a:r>
              <a:t>For this course, viable means the product addresses a core need, works from end to end, and can be meaningfully evaluated.</a:t>
            </a:r>
          </a:p>
          <a:p>
            <a:r>
              <a:t>Minimum refers to scope, not engineering quality. The selected features should still be integrated, tested, and professionally implemented.</a:t>
            </a:r>
          </a:p>
          <a:p>
            <a:r>
              <a:t>Teams agree on the MVP scope with the client. Feedback may refine priorities and implementation decisions, but substantial scope changes should be discussed and documented with the client and instructor.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example uses a student assignment portal, a workflow students already understand from systems such as Canvas.</a:t>
            </a:r>
          </a:p>
          <a:p>
            <a:r>
              <a:rPr lang="en-BE" dirty="0"/>
              <a:t>The database, API, and basic interface are necessary components, but they do not provide a complete user outcome.</a:t>
            </a:r>
          </a:p>
          <a:p>
            <a:r>
              <a:rPr lang="en-BE" dirty="0"/>
              <a:t>The three increments build one working assignment workflow: view the assignment, submit the work, and receive feedback.</a:t>
            </a:r>
          </a:p>
          <a:p>
            <a:r>
              <a:rPr lang="en-BE" dirty="0"/>
              <a:t>Together, they form an MVP that is </a:t>
            </a:r>
            <a:r>
              <a:rPr lang="en-BE" b="1" dirty="0"/>
              <a:t>valuable</a:t>
            </a:r>
            <a:r>
              <a:rPr lang="en-BE" dirty="0"/>
              <a:t> because it addresses a real need, </a:t>
            </a:r>
            <a:r>
              <a:rPr lang="en-BE" b="1" dirty="0"/>
              <a:t>usable</a:t>
            </a:r>
            <a:r>
              <a:rPr lang="en-BE" dirty="0"/>
              <a:t> because it works end to end, and </a:t>
            </a:r>
            <a:r>
              <a:rPr lang="en-BE" b="1" dirty="0"/>
              <a:t>testable</a:t>
            </a:r>
            <a:r>
              <a:rPr lang="en-BE" dirty="0"/>
              <a:t> because students and instructors can use and evaluate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Students may choose the available client-sponsored project or propose a project of their own.</a:t>
            </a:r>
          </a:p>
          <a:p>
            <a:r>
              <a:rPr dirty="0"/>
              <a:t>Before choosing the client project, review its precondition report. It should explain the problem, intended users, existing software and documentation, expected MVP, technology, access requirements, client availability, dependencies, and known risks.</a:t>
            </a:r>
          </a:p>
          <a:p>
            <a:r>
              <a:rPr dirty="0"/>
              <a:t>A team-proposed project must complete an equivalent precondition report so that its scope and feasibility can be evaluated using the same standard.</a:t>
            </a:r>
          </a:p>
          <a:p>
            <a:r>
              <a:rPr dirty="0"/>
              <a:t>A team-proposed project should identify meaningful intended users and a way to obtain feedback. It is not simply permission to build any preferred technology.</a:t>
            </a:r>
          </a:p>
          <a:p>
            <a:r>
              <a:rPr dirty="0"/>
              <a:t>The purpose of the report is to support an informed commitment before the team begins development.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client project introduces the realities that are difficult to reproduce in a purely classroom-defined assignment.</a:t>
            </a:r>
          </a:p>
          <a:p>
            <a:r>
              <a:rPr dirty="0"/>
              <a:t>The team must understand a real problem, negotiate an achievable MVP, and work within the client’s technical and organizational constraints.</a:t>
            </a:r>
          </a:p>
          <a:p>
            <a:r>
              <a:rPr dirty="0"/>
              <a:t>Students must communicate professionally: ask clarifying questions, document decisions, report progress, manage access or confidentiality requirements, and respond constructively to feedback.</a:t>
            </a:r>
          </a:p>
          <a:p>
            <a:r>
              <a:rPr dirty="0"/>
              <a:t>The client is a stakeholder, not the team’s project manager. Students remain responsible for planning, technical decisions, testing, documentation, and delivery.</a:t>
            </a:r>
          </a:p>
          <a:p>
            <a:r>
              <a:rPr dirty="0"/>
              <a:t>A technically functioning system is not sufficient if the team fails to communicate, disregards agreed requirements, or leaves the client unable to use or maintain the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Team difficulties become engineering risks when they remain invisible.</a:t>
            </a:r>
          </a:p>
          <a:p>
            <a:r>
              <a:rPr dirty="0"/>
              <a:t>Uneven participation can overload a few students and leave other members without sufficient evidence of contribution.</a:t>
            </a:r>
          </a:p>
          <a:p>
            <a:r>
              <a:rPr dirty="0"/>
              <a:t>Unclear ownership leads to duplicated work, missed dependencies, and tasks that everyone assumes someone else will complete.</a:t>
            </a:r>
          </a:p>
          <a:p>
            <a:r>
              <a:rPr dirty="0"/>
              <a:t>Late integration produces larger conflicts, rushed reviews, inadequate testing, and unstable demonstrations.</a:t>
            </a:r>
          </a:p>
          <a:p>
            <a:r>
              <a:rPr dirty="0"/>
              <a:t>Silent problems include technical blockers, unavailable teammates, client delays, and scope concerns that are reported only when little recovery time remains.</a:t>
            </a:r>
          </a:p>
          <a:p>
            <a:r>
              <a:rPr dirty="0"/>
              <a:t>Use issues, assignments, pull requests, reviews, meetings, and written decisions to make the team’s actual state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policy applies to the Git and GitHub lab, the Testing and CI lab, and the team project.</a:t>
            </a:r>
          </a:p>
          <a:p>
            <a:r>
              <a:rPr dirty="0"/>
              <a:t>A review-ready pull request contains the required work, links to its issue, and is not marked as a draft.</a:t>
            </a:r>
          </a:p>
          <a:p>
            <a:r>
              <a:rPr dirty="0"/>
              <a:t>The author should open the pull request at least 24 hours before the assignment deadline so that review feedback can be addressed.</a:t>
            </a:r>
          </a:p>
          <a:p>
            <a:r>
              <a:rPr dirty="0"/>
              <a:t>Round-robin assignments identify the initial reviewer, not the only possible reviewer.</a:t>
            </a:r>
          </a:p>
          <a:p>
            <a:r>
              <a:rPr dirty="0"/>
              <a:t>If the assigned reviewer is unavailable, the author should request another teammate. If the assigned author has no review-ready pull request, the reviewer should review another available pull request.</a:t>
            </a:r>
          </a:p>
          <a:p>
            <a:r>
              <a:rPr dirty="0"/>
              <a:t>Notify the instructor or TA before the deadline if no teammate is available.</a:t>
            </a:r>
          </a:p>
          <a:p>
            <a:r>
              <a:rPr dirty="0"/>
              <a:t>A student who is ready on time and makes a reasonable effort to obtain a review will not be penalized for another student’s delay. GitHub timestamps provide evidence.</a:t>
            </a:r>
          </a:p>
          <a:p>
            <a:r>
              <a:rPr dirty="0"/>
              <a:t>Students who submit late remain responsible for obtaining the required review. Teammates are not required to delay completed work to accommodate a late contribution.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Preview the visible path from task definition to reviewed work on main.</a:t>
            </a:r>
          </a:p>
          <a:p>
            <a:r>
              <a:rPr dirty="0"/>
              <a:t>Students use the workflow in the lab and later in the team project.</a:t>
            </a:r>
          </a:p>
          <a:p>
            <a:r>
              <a:rPr dirty="0"/>
              <a:t>[Sources]</a:t>
            </a:r>
          </a:p>
          <a:p>
            <a:r>
              <a:rPr dirty="0"/>
              <a:t>- User-provided Git-and-</a:t>
            </a:r>
            <a:r>
              <a:rPr dirty="0" err="1"/>
              <a:t>GitHub.pdf</a:t>
            </a:r>
            <a:r>
              <a:rPr dirty="0"/>
              <a:t>.</a:t>
            </a:r>
          </a:p>
          <a:p>
            <a:r>
              <a:rPr dirty="0"/>
              <a:t>- User-provided Git workflow icon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check behavior; coverage identifies unexercised code; CI automates agreed checks.</a:t>
            </a:r>
          </a:p>
          <a:p>
            <a:r>
              <a:t>Coverage is evidence, not a guarantee of test quality.</a:t>
            </a:r>
          </a:p>
          <a:p>
            <a:r>
              <a:t>[Sources]</a:t>
            </a:r>
          </a:p>
          <a:p>
            <a:r>
              <a:t>- User-provided CS472 - Software Testing.pdf.</a:t>
            </a:r>
          </a:p>
          <a:p>
            <a:r>
              <a:t>- User-provided CS472 - CI - Using GitHub Actions - Setting up workflow.pdf.</a:t>
            </a:r>
          </a:p>
          <a:p>
            <a:r>
              <a:t>- User-provided software testing icon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Structural changes normally need class-diagram evidence; behavioral changes normally need sequence-diagram evidence.</a:t>
            </a:r>
          </a:p>
          <a:p>
            <a:r>
              <a:t>Students should show only the part of the system affected by the PR.</a:t>
            </a:r>
          </a:p>
          <a:p>
            <a:r>
              <a:t>[Sources]</a:t>
            </a:r>
          </a:p>
          <a:p>
            <a:r>
              <a:t>- User-provided OOD-V2.pptx.</a:t>
            </a:r>
          </a:p>
          <a:p>
            <a:r>
              <a:t>- User-provided class and sequence diagram icon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D5181410-5F61-C247-9B70-F663CDE0B230}" type="slidenum">
              <a:rPr lang="en-BE" smtClean="0"/>
              <a:t>19</a:t>
            </a:fld>
            <a:endParaRPr lang="en-BE"/>
          </a:p>
        </p:txBody>
      </p:sp>
    </p:spTree>
    <p:extLst>
      <p:ext uri="{BB962C8B-B14F-4D97-AF65-F5344CB8AC3E}">
        <p14:creationId xmlns:p14="http://schemas.microsoft.com/office/powerpoint/2010/main" val="3164780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A9EC8-4281-6493-7CA0-90ED3C251E8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DE412520-3BCA-D6C0-71A2-8A25DBEB7E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9EC552ED-BD61-6B45-69C4-ED0426D4B421}"/>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5" name="Footer Placeholder 4">
            <a:extLst>
              <a:ext uri="{FF2B5EF4-FFF2-40B4-BE49-F238E27FC236}">
                <a16:creationId xmlns:a16="http://schemas.microsoft.com/office/drawing/2014/main" id="{C991D082-73F5-3405-3469-88DC2939114A}"/>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3B1AB36-4647-CA24-9451-8C03E8A6A2F1}"/>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4001815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A0016-2AA2-0BC5-1BE8-046A702B05F6}"/>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5D4914FC-BF46-A1D2-C79A-3DD4CBA3401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EF63B6E8-FE60-3D7E-DA62-234DBC720A6C}"/>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5" name="Footer Placeholder 4">
            <a:extLst>
              <a:ext uri="{FF2B5EF4-FFF2-40B4-BE49-F238E27FC236}">
                <a16:creationId xmlns:a16="http://schemas.microsoft.com/office/drawing/2014/main" id="{930843DB-FEBE-9235-A482-1978ECFE0CF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41E103E2-824B-4862-D43B-B942CF3CE9A3}"/>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344783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261D-2BD8-0327-753C-C983F4A2D44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07AC9C3F-F0AC-7089-BA00-235CBA276F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6B35F0B-7569-94E3-83E0-23A9F36481A7}"/>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5" name="Footer Placeholder 4">
            <a:extLst>
              <a:ext uri="{FF2B5EF4-FFF2-40B4-BE49-F238E27FC236}">
                <a16:creationId xmlns:a16="http://schemas.microsoft.com/office/drawing/2014/main" id="{75C18F39-2D6B-AD23-0E04-EB9836A1765E}"/>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EED820C-BD09-7383-E751-A9C79D0F931D}"/>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937420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33488-E272-F08E-B372-AAC22EFB96D3}"/>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A074C13E-59C6-991D-E173-044E6C6F44E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6861E1D8-30D0-A88B-36F6-C1B89821ABF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2FA1BE9D-2DCB-6584-335F-B69C0B3C25CD}"/>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6" name="Footer Placeholder 5">
            <a:extLst>
              <a:ext uri="{FF2B5EF4-FFF2-40B4-BE49-F238E27FC236}">
                <a16:creationId xmlns:a16="http://schemas.microsoft.com/office/drawing/2014/main" id="{53539D49-B01E-2B7C-7B4C-2BAE1DCDC464}"/>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ACECC367-B1E4-D59F-E6AC-F5AC3E046B3C}"/>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1778932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D2917-351C-5F6A-ED62-1A0A5DF85302}"/>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9408401A-A5C0-BF22-EC3F-42E65B1BE7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3AE6126-A2CB-4A37-0A4F-CCED2B3A191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071C2CCC-F724-CB72-2EC4-10C982FCC3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AA43A65-DA43-1D86-403D-F307598F873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1426900B-52E0-9997-CAE8-8E79C17A0895}"/>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8" name="Footer Placeholder 7">
            <a:extLst>
              <a:ext uri="{FF2B5EF4-FFF2-40B4-BE49-F238E27FC236}">
                <a16:creationId xmlns:a16="http://schemas.microsoft.com/office/drawing/2014/main" id="{0062F47A-4C76-1135-7574-A1C40E425EDD}"/>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CDBD395D-2B7E-DD92-19B1-CA7D388C4B56}"/>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4026115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8C2E7-BC21-D61D-8A3C-80645687360E}"/>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9F8C2789-21B7-0644-2538-1AF100142A2D}"/>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4" name="Footer Placeholder 3">
            <a:extLst>
              <a:ext uri="{FF2B5EF4-FFF2-40B4-BE49-F238E27FC236}">
                <a16:creationId xmlns:a16="http://schemas.microsoft.com/office/drawing/2014/main" id="{5DE9C4FD-8DF2-1940-D82E-7F962C93BD7C}"/>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9E67B662-DED1-FACF-C415-3CBDDF68C14D}"/>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134631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2C61FD-8BB4-AA3F-0F6D-FA5BE38EB61C}"/>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3" name="Footer Placeholder 2">
            <a:extLst>
              <a:ext uri="{FF2B5EF4-FFF2-40B4-BE49-F238E27FC236}">
                <a16:creationId xmlns:a16="http://schemas.microsoft.com/office/drawing/2014/main" id="{4A4795A2-6FAD-8D88-181B-F8B356319D40}"/>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D6AB53A2-DADD-496B-EBCB-A6D2C41194B3}"/>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225842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FBE4D-535F-3E8D-C38E-3BD15DF6D0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70E2DEDC-E932-ECE5-C6E3-5A19082815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DE1BCFF7-6C3A-BC1C-0763-6BD42901E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84FFFF1-F84F-63A9-D50C-F65ACAECD688}"/>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6" name="Footer Placeholder 5">
            <a:extLst>
              <a:ext uri="{FF2B5EF4-FFF2-40B4-BE49-F238E27FC236}">
                <a16:creationId xmlns:a16="http://schemas.microsoft.com/office/drawing/2014/main" id="{2C1F5495-69E9-117C-BB3D-1B29F837BD16}"/>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B05934D0-9C37-ADC3-20F8-5A1995D0E1E2}"/>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3081716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71738-07D5-9C67-152E-72DD7DF861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7F563F70-D894-D24C-12DD-55DB7437AE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F1FECB67-9852-D802-02F6-A68B48A4DF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4877AB-6CFE-3168-06B2-5BAF5FA6A062}"/>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6" name="Footer Placeholder 5">
            <a:extLst>
              <a:ext uri="{FF2B5EF4-FFF2-40B4-BE49-F238E27FC236}">
                <a16:creationId xmlns:a16="http://schemas.microsoft.com/office/drawing/2014/main" id="{EDE0774D-60F1-B120-B644-4E6B5527B48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237AE64A-0E89-763B-B183-C00307A5E90D}"/>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153108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91D0F-C5DA-B2CB-3051-531E425230E9}"/>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B7702A4E-6C8C-64EA-8639-D72FDF12524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8B155C4E-FA73-7FE4-4B62-564D4F1F631F}"/>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5" name="Footer Placeholder 4">
            <a:extLst>
              <a:ext uri="{FF2B5EF4-FFF2-40B4-BE49-F238E27FC236}">
                <a16:creationId xmlns:a16="http://schemas.microsoft.com/office/drawing/2014/main" id="{1DBD84BD-E25F-B630-613A-57033150E932}"/>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43A879FD-F667-56DB-E685-9149BECD447E}"/>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933683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098BE8-1767-1425-A0CE-E378C810DA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CD5522CA-DDE5-47F0-3DB7-D1C301CDD50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93FA2F6E-013D-1469-4F08-3A8B4B04C915}"/>
              </a:ext>
            </a:extLst>
          </p:cNvPr>
          <p:cNvSpPr>
            <a:spLocks noGrp="1"/>
          </p:cNvSpPr>
          <p:nvPr>
            <p:ph type="dt" sz="half" idx="10"/>
          </p:nvPr>
        </p:nvSpPr>
        <p:spPr/>
        <p:txBody>
          <a:bodyPr/>
          <a:lstStyle/>
          <a:p>
            <a:fld id="{B7E51BDB-5485-5448-A1C9-423F9F721E80}" type="datetimeFigureOut">
              <a:rPr lang="en-BE" smtClean="0"/>
              <a:t>19/08/2026</a:t>
            </a:fld>
            <a:endParaRPr lang="en-BE"/>
          </a:p>
        </p:txBody>
      </p:sp>
      <p:sp>
        <p:nvSpPr>
          <p:cNvPr id="5" name="Footer Placeholder 4">
            <a:extLst>
              <a:ext uri="{FF2B5EF4-FFF2-40B4-BE49-F238E27FC236}">
                <a16:creationId xmlns:a16="http://schemas.microsoft.com/office/drawing/2014/main" id="{5C812E64-CD59-2A7F-BCAC-68808675F959}"/>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A2B6A02D-F018-2FF9-50C4-D2328CF9AE51}"/>
              </a:ext>
            </a:extLst>
          </p:cNvPr>
          <p:cNvSpPr>
            <a:spLocks noGrp="1"/>
          </p:cNvSpPr>
          <p:nvPr>
            <p:ph type="sldNum" sz="quarter" idx="12"/>
          </p:nvPr>
        </p:nvSpPr>
        <p:spPr/>
        <p:txBody>
          <a:bodyPr/>
          <a:lstStyle/>
          <a:p>
            <a:fld id="{59D708CE-B0CF-AE4C-BBAE-0FA0213604A1}" type="slidenum">
              <a:rPr lang="en-BE" smtClean="0"/>
              <a:t>‹#›</a:t>
            </a:fld>
            <a:endParaRPr lang="en-BE"/>
          </a:p>
        </p:txBody>
      </p:sp>
    </p:spTree>
    <p:extLst>
      <p:ext uri="{BB962C8B-B14F-4D97-AF65-F5344CB8AC3E}">
        <p14:creationId xmlns:p14="http://schemas.microsoft.com/office/powerpoint/2010/main" val="163598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897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5BD93C-D6BE-2F60-9D77-67F36C38DE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88C4592C-0B2A-7C9C-0A70-AA926F59EB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51AC7FFB-9221-D38D-E52B-916E82C8B4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E51BDB-5485-5448-A1C9-423F9F721E80}" type="datetimeFigureOut">
              <a:rPr lang="en-BE" smtClean="0"/>
              <a:t>19/08/2026</a:t>
            </a:fld>
            <a:endParaRPr lang="en-BE"/>
          </a:p>
        </p:txBody>
      </p:sp>
      <p:sp>
        <p:nvSpPr>
          <p:cNvPr id="5" name="Footer Placeholder 4">
            <a:extLst>
              <a:ext uri="{FF2B5EF4-FFF2-40B4-BE49-F238E27FC236}">
                <a16:creationId xmlns:a16="http://schemas.microsoft.com/office/drawing/2014/main" id="{50545A9A-456D-BE2E-2A16-AB94B40094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95EAACC9-608F-98DA-CB2D-9875957086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D708CE-B0CF-AE4C-BBAE-0FA0213604A1}" type="slidenum">
              <a:rPr lang="en-BE" smtClean="0"/>
              <a:t>‹#›</a:t>
            </a:fld>
            <a:endParaRPr lang="en-BE"/>
          </a:p>
        </p:txBody>
      </p:sp>
    </p:spTree>
    <p:extLst>
      <p:ext uri="{BB962C8B-B14F-4D97-AF65-F5344CB8AC3E}">
        <p14:creationId xmlns:p14="http://schemas.microsoft.com/office/powerpoint/2010/main" val="1893653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ohn.businge@unlv.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ogenrwot@unlv.nevada.edu"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johnxu21.github.io/teaching/CS47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orgs/UNLV-CS472-672/repositories?type=al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35892-D357-BD2D-83E8-1BAB2E47B02B}"/>
              </a:ext>
            </a:extLst>
          </p:cNvPr>
          <p:cNvSpPr>
            <a:spLocks noGrp="1"/>
          </p:cNvSpPr>
          <p:nvPr>
            <p:ph type="ctrTitle"/>
          </p:nvPr>
        </p:nvSpPr>
        <p:spPr/>
        <p:txBody>
          <a:bodyPr>
            <a:normAutofit/>
          </a:bodyPr>
          <a:lstStyle/>
          <a:p>
            <a:r>
              <a:rPr lang="en-GB" b="0" i="0" dirty="0">
                <a:solidFill>
                  <a:srgbClr val="000000"/>
                </a:solidFill>
                <a:effectLst/>
                <a:latin typeface="Titillium Web" panose="020F0502020204030204" pitchFamily="34" charset="0"/>
              </a:rPr>
              <a:t>Software Product Design and Development I</a:t>
            </a:r>
            <a:endParaRPr lang="en-BE" dirty="0"/>
          </a:p>
        </p:txBody>
      </p:sp>
      <p:sp>
        <p:nvSpPr>
          <p:cNvPr id="3" name="Subtitle 2">
            <a:extLst>
              <a:ext uri="{FF2B5EF4-FFF2-40B4-BE49-F238E27FC236}">
                <a16:creationId xmlns:a16="http://schemas.microsoft.com/office/drawing/2014/main" id="{1238AB8E-D5A2-E1A9-DBAF-62378C4C34ED}"/>
              </a:ext>
            </a:extLst>
          </p:cNvPr>
          <p:cNvSpPr>
            <a:spLocks noGrp="1"/>
          </p:cNvSpPr>
          <p:nvPr>
            <p:ph type="subTitle" idx="1"/>
          </p:nvPr>
        </p:nvSpPr>
        <p:spPr>
          <a:xfrm>
            <a:off x="1402814" y="4064000"/>
            <a:ext cx="9144000" cy="1943100"/>
          </a:xfrm>
        </p:spPr>
        <p:txBody>
          <a:bodyPr>
            <a:normAutofit fontScale="92500" lnSpcReduction="20000"/>
          </a:bodyPr>
          <a:lstStyle/>
          <a:p>
            <a:pPr algn="l"/>
            <a:r>
              <a:rPr lang="en-BE" b="1" dirty="0"/>
              <a:t>Dr. John Businge </a:t>
            </a:r>
          </a:p>
          <a:p>
            <a:pPr algn="l"/>
            <a:r>
              <a:rPr lang="en-GB" dirty="0">
                <a:hlinkClick r:id="rId3"/>
              </a:rPr>
              <a:t>J</a:t>
            </a:r>
            <a:r>
              <a:rPr lang="en-BE" dirty="0">
                <a:hlinkClick r:id="rId3"/>
              </a:rPr>
              <a:t>ohn.businge@unlv.edu</a:t>
            </a:r>
            <a:endParaRPr lang="en-BE" dirty="0"/>
          </a:p>
          <a:p>
            <a:pPr algn="l"/>
            <a:endParaRPr lang="en-GB" b="0" i="0" dirty="0">
              <a:solidFill>
                <a:srgbClr val="5E5E5E"/>
              </a:solidFill>
              <a:effectLst/>
              <a:latin typeface="Google Sans"/>
            </a:endParaRPr>
          </a:p>
          <a:p>
            <a:pPr algn="l"/>
            <a:r>
              <a:rPr lang="en-GB" sz="2500" b="1" dirty="0">
                <a:latin typeface="Google Sans"/>
              </a:rPr>
              <a:t>TA: Daniel </a:t>
            </a:r>
            <a:r>
              <a:rPr lang="en-GB" sz="2500" b="1" dirty="0" err="1">
                <a:latin typeface="Google Sans"/>
              </a:rPr>
              <a:t>Ogenrwot</a:t>
            </a:r>
            <a:endParaRPr lang="en-GB" sz="2500" b="1" dirty="0">
              <a:latin typeface="Google Sans"/>
            </a:endParaRPr>
          </a:p>
          <a:p>
            <a:pPr algn="l"/>
            <a:r>
              <a:rPr lang="en-GB" b="0" i="0" dirty="0">
                <a:solidFill>
                  <a:srgbClr val="5E5E5E"/>
                </a:solidFill>
                <a:effectLst/>
                <a:latin typeface="Google Sans"/>
                <a:hlinkClick r:id="rId4"/>
              </a:rPr>
              <a:t>ogenrwot@unlv.nevada.edu</a:t>
            </a:r>
            <a:endParaRPr lang="en-GB" dirty="0">
              <a:solidFill>
                <a:srgbClr val="5E5E5E"/>
              </a:solidFill>
              <a:latin typeface="Google Sans"/>
            </a:endParaRPr>
          </a:p>
          <a:p>
            <a:pPr algn="l"/>
            <a:endParaRPr lang="en-GB" b="0" i="0" dirty="0">
              <a:solidFill>
                <a:srgbClr val="5E5E5E"/>
              </a:solidFill>
              <a:effectLst/>
              <a:latin typeface="Google Sans"/>
            </a:endParaRPr>
          </a:p>
          <a:p>
            <a:pPr algn="l"/>
            <a:endParaRPr lang="en-GB" b="0" i="0" dirty="0">
              <a:solidFill>
                <a:srgbClr val="5E5E5E"/>
              </a:solidFill>
              <a:effectLst/>
              <a:latin typeface="Google Sans"/>
            </a:endParaRPr>
          </a:p>
          <a:p>
            <a:pPr algn="l"/>
            <a:endParaRPr lang="en-GB" b="0" i="0" dirty="0">
              <a:solidFill>
                <a:srgbClr val="5E5E5E"/>
              </a:solidFill>
              <a:effectLst/>
              <a:latin typeface="Google Sans"/>
            </a:endParaRPr>
          </a:p>
          <a:p>
            <a:pPr algn="l"/>
            <a:endParaRPr lang="en-BE" dirty="0"/>
          </a:p>
        </p:txBody>
      </p:sp>
    </p:spTree>
    <p:extLst>
      <p:ext uri="{BB962C8B-B14F-4D97-AF65-F5344CB8AC3E}">
        <p14:creationId xmlns:p14="http://schemas.microsoft.com/office/powerpoint/2010/main" val="15138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Map&#10;&#10;Description automatically generated">
            <a:extLst>
              <a:ext uri="{FF2B5EF4-FFF2-40B4-BE49-F238E27FC236}">
                <a16:creationId xmlns:a16="http://schemas.microsoft.com/office/drawing/2014/main" id="{7173756C-2601-617A-E174-D42CE0524794}"/>
              </a:ext>
            </a:extLst>
          </p:cNvPr>
          <p:cNvPicPr>
            <a:picLocks noChangeAspect="1"/>
          </p:cNvPicPr>
          <p:nvPr/>
        </p:nvPicPr>
        <p:blipFill>
          <a:blip r:embed="rId3"/>
          <a:stretch>
            <a:fillRect/>
          </a:stretch>
        </p:blipFill>
        <p:spPr>
          <a:xfrm>
            <a:off x="72961" y="869950"/>
            <a:ext cx="12019848" cy="5186293"/>
          </a:xfrm>
          <a:prstGeom prst="rect">
            <a:avLst/>
          </a:prstGeom>
        </p:spPr>
      </p:pic>
      <p:sp>
        <p:nvSpPr>
          <p:cNvPr id="7" name="TextBox 6">
            <a:extLst>
              <a:ext uri="{FF2B5EF4-FFF2-40B4-BE49-F238E27FC236}">
                <a16:creationId xmlns:a16="http://schemas.microsoft.com/office/drawing/2014/main" id="{10339302-767A-5F2B-10A9-FB13C921159D}"/>
              </a:ext>
            </a:extLst>
          </p:cNvPr>
          <p:cNvSpPr txBox="1"/>
          <p:nvPr/>
        </p:nvSpPr>
        <p:spPr>
          <a:xfrm>
            <a:off x="1002535" y="155426"/>
            <a:ext cx="8747393" cy="646331"/>
          </a:xfrm>
          <a:prstGeom prst="rect">
            <a:avLst/>
          </a:prstGeom>
          <a:noFill/>
        </p:spPr>
        <p:txBody>
          <a:bodyPr wrap="square" rtlCol="0">
            <a:spAutoFit/>
          </a:bodyPr>
          <a:lstStyle/>
          <a:p>
            <a:r>
              <a:rPr lang="en-BE" sz="3600" dirty="0"/>
              <a:t>My Journey to UNLV</a:t>
            </a:r>
          </a:p>
        </p:txBody>
      </p:sp>
    </p:spTree>
    <p:extLst>
      <p:ext uri="{BB962C8B-B14F-4D97-AF65-F5344CB8AC3E}">
        <p14:creationId xmlns:p14="http://schemas.microsoft.com/office/powerpoint/2010/main" val="48493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ECD1-C6D4-CE47-1EBF-20D6F03387FF}"/>
              </a:ext>
            </a:extLst>
          </p:cNvPr>
          <p:cNvSpPr>
            <a:spLocks noGrp="1"/>
          </p:cNvSpPr>
          <p:nvPr>
            <p:ph type="title"/>
          </p:nvPr>
        </p:nvSpPr>
        <p:spPr/>
        <p:txBody>
          <a:bodyPr/>
          <a:lstStyle/>
          <a:p>
            <a:r>
              <a:rPr lang="en-BE" dirty="0"/>
              <a:t>Administration</a:t>
            </a:r>
          </a:p>
        </p:txBody>
      </p:sp>
      <p:sp>
        <p:nvSpPr>
          <p:cNvPr id="3" name="Content Placeholder 2">
            <a:extLst>
              <a:ext uri="{FF2B5EF4-FFF2-40B4-BE49-F238E27FC236}">
                <a16:creationId xmlns:a16="http://schemas.microsoft.com/office/drawing/2014/main" id="{CC0BD5D2-9307-83F5-F607-B75B14EA5F40}"/>
              </a:ext>
            </a:extLst>
          </p:cNvPr>
          <p:cNvSpPr>
            <a:spLocks noGrp="1"/>
          </p:cNvSpPr>
          <p:nvPr>
            <p:ph idx="1"/>
          </p:nvPr>
        </p:nvSpPr>
        <p:spPr/>
        <p:txBody>
          <a:bodyPr/>
          <a:lstStyle/>
          <a:p>
            <a:r>
              <a:rPr lang="en-GB" b="0" i="0" dirty="0">
                <a:solidFill>
                  <a:srgbClr val="202124"/>
                </a:solidFill>
                <a:effectLst/>
                <a:latin typeface="docs-Roboto"/>
              </a:rPr>
              <a:t>Background Information survey.</a:t>
            </a:r>
            <a:endParaRPr lang="en-BE" dirty="0"/>
          </a:p>
          <a:p>
            <a:endParaRPr lang="en-BE" dirty="0"/>
          </a:p>
          <a:p>
            <a:r>
              <a:rPr lang="en-BE" dirty="0"/>
              <a:t>Go to -  </a:t>
            </a:r>
            <a:r>
              <a:rPr lang="en-GB" dirty="0">
                <a:hlinkClick r:id="rId3"/>
              </a:rPr>
              <a:t>https://johnxu21.github.io/teaching/CS472/</a:t>
            </a:r>
            <a:endParaRPr lang="en-GB" dirty="0"/>
          </a:p>
          <a:p>
            <a:endParaRPr lang="en-BE" dirty="0"/>
          </a:p>
        </p:txBody>
      </p:sp>
    </p:spTree>
    <p:extLst>
      <p:ext uri="{BB962C8B-B14F-4D97-AF65-F5344CB8AC3E}">
        <p14:creationId xmlns:p14="http://schemas.microsoft.com/office/powerpoint/2010/main" val="1855081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olorful pie chart with numbers and a white background&#10;&#10;Description automatically generated">
            <a:extLst>
              <a:ext uri="{FF2B5EF4-FFF2-40B4-BE49-F238E27FC236}">
                <a16:creationId xmlns:a16="http://schemas.microsoft.com/office/drawing/2014/main" id="{E2ADA65B-ACE2-2957-AB4E-03EA737D30F6}"/>
              </a:ext>
            </a:extLst>
          </p:cNvPr>
          <p:cNvPicPr>
            <a:picLocks noChangeAspect="1"/>
          </p:cNvPicPr>
          <p:nvPr/>
        </p:nvPicPr>
        <p:blipFill>
          <a:blip r:embed="rId3"/>
          <a:srcRect l="-5774" t="14969" r="18052" b="-14969"/>
          <a:stretch/>
        </p:blipFill>
        <p:spPr>
          <a:xfrm>
            <a:off x="5888602" y="2298592"/>
            <a:ext cx="4944713" cy="2691862"/>
          </a:xfrm>
          <a:prstGeom prst="rect">
            <a:avLst/>
          </a:prstGeom>
        </p:spPr>
      </p:pic>
      <p:sp>
        <p:nvSpPr>
          <p:cNvPr id="9" name="TextBox 8">
            <a:extLst>
              <a:ext uri="{FF2B5EF4-FFF2-40B4-BE49-F238E27FC236}">
                <a16:creationId xmlns:a16="http://schemas.microsoft.com/office/drawing/2014/main" id="{D3FA43A4-D27F-68F7-CB7B-03A8DCAD2BF0}"/>
              </a:ext>
            </a:extLst>
          </p:cNvPr>
          <p:cNvSpPr txBox="1"/>
          <p:nvPr/>
        </p:nvSpPr>
        <p:spPr>
          <a:xfrm>
            <a:off x="6540286" y="1626117"/>
            <a:ext cx="1642820" cy="400110"/>
          </a:xfrm>
          <a:prstGeom prst="rect">
            <a:avLst/>
          </a:prstGeom>
          <a:noFill/>
        </p:spPr>
        <p:txBody>
          <a:bodyPr wrap="square" rtlCol="0">
            <a:spAutoFit/>
          </a:bodyPr>
          <a:lstStyle/>
          <a:p>
            <a:r>
              <a:rPr lang="en-US" sz="2000" dirty="0"/>
              <a:t>Fall 2025</a:t>
            </a:r>
          </a:p>
        </p:txBody>
      </p:sp>
      <p:sp>
        <p:nvSpPr>
          <p:cNvPr id="11" name="TextBox 10">
            <a:extLst>
              <a:ext uri="{FF2B5EF4-FFF2-40B4-BE49-F238E27FC236}">
                <a16:creationId xmlns:a16="http://schemas.microsoft.com/office/drawing/2014/main" id="{11F6F52D-430E-5926-2235-F1AF912F844D}"/>
              </a:ext>
            </a:extLst>
          </p:cNvPr>
          <p:cNvSpPr txBox="1"/>
          <p:nvPr/>
        </p:nvSpPr>
        <p:spPr>
          <a:xfrm>
            <a:off x="1193369" y="574299"/>
            <a:ext cx="8804221" cy="707886"/>
          </a:xfrm>
          <a:prstGeom prst="rect">
            <a:avLst/>
          </a:prstGeom>
          <a:noFill/>
        </p:spPr>
        <p:txBody>
          <a:bodyPr wrap="square">
            <a:spAutoFit/>
          </a:bodyPr>
          <a:lstStyle/>
          <a:p>
            <a:r>
              <a:rPr lang="en-GB" sz="2000" b="0" i="0" dirty="0">
                <a:solidFill>
                  <a:srgbClr val="202124"/>
                </a:solidFill>
                <a:effectLst/>
                <a:latin typeface="Roboto" panose="02000000000000000000" pitchFamily="2" charset="0"/>
              </a:rPr>
              <a:t>How many months of industry software development experience did you have before the beginning of class 472/672?</a:t>
            </a:r>
            <a:endParaRPr lang="en-US" sz="2000" dirty="0"/>
          </a:p>
        </p:txBody>
      </p:sp>
      <p:sp>
        <p:nvSpPr>
          <p:cNvPr id="14" name="TextBox 13">
            <a:extLst>
              <a:ext uri="{FF2B5EF4-FFF2-40B4-BE49-F238E27FC236}">
                <a16:creationId xmlns:a16="http://schemas.microsoft.com/office/drawing/2014/main" id="{A1D8CF0F-CD2D-4E71-C217-78BFE7F7A93B}"/>
              </a:ext>
            </a:extLst>
          </p:cNvPr>
          <p:cNvSpPr txBox="1"/>
          <p:nvPr/>
        </p:nvSpPr>
        <p:spPr>
          <a:xfrm>
            <a:off x="2250562" y="1826172"/>
            <a:ext cx="2009130" cy="400110"/>
          </a:xfrm>
          <a:prstGeom prst="rect">
            <a:avLst/>
          </a:prstGeom>
          <a:noFill/>
        </p:spPr>
        <p:txBody>
          <a:bodyPr wrap="square" rtlCol="0">
            <a:spAutoFit/>
          </a:bodyPr>
          <a:lstStyle/>
          <a:p>
            <a:r>
              <a:rPr lang="en-US" sz="2000" dirty="0"/>
              <a:t>Spring 2025</a:t>
            </a:r>
          </a:p>
        </p:txBody>
      </p:sp>
      <p:pic>
        <p:nvPicPr>
          <p:cNvPr id="3" name="Picture 2" descr="A pie chart with numbers and a few percentages&#10;&#10;AI-generated content may be incorrect.">
            <a:extLst>
              <a:ext uri="{FF2B5EF4-FFF2-40B4-BE49-F238E27FC236}">
                <a16:creationId xmlns:a16="http://schemas.microsoft.com/office/drawing/2014/main" id="{DB81E3E5-75E0-4571-F7CC-E11D1AD5001E}"/>
              </a:ext>
            </a:extLst>
          </p:cNvPr>
          <p:cNvPicPr>
            <a:picLocks noChangeAspect="1"/>
          </p:cNvPicPr>
          <p:nvPr/>
        </p:nvPicPr>
        <p:blipFill>
          <a:blip r:embed="rId4"/>
          <a:stretch>
            <a:fillRect/>
          </a:stretch>
        </p:blipFill>
        <p:spPr>
          <a:xfrm>
            <a:off x="2250562" y="2226282"/>
            <a:ext cx="2676684" cy="2727668"/>
          </a:xfrm>
          <a:prstGeom prst="rect">
            <a:avLst/>
          </a:prstGeom>
        </p:spPr>
      </p:pic>
    </p:spTree>
    <p:extLst>
      <p:ext uri="{BB962C8B-B14F-4D97-AF65-F5344CB8AC3E}">
        <p14:creationId xmlns:p14="http://schemas.microsoft.com/office/powerpoint/2010/main" val="2805129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97D90-E729-C447-89D9-240E50008923}"/>
              </a:ext>
            </a:extLst>
          </p:cNvPr>
          <p:cNvSpPr>
            <a:spLocks noGrp="1"/>
          </p:cNvSpPr>
          <p:nvPr>
            <p:ph type="title"/>
          </p:nvPr>
        </p:nvSpPr>
        <p:spPr/>
        <p:txBody>
          <a:bodyPr/>
          <a:lstStyle/>
          <a:p>
            <a:r>
              <a:rPr lang="en-GB" dirty="0">
                <a:latin typeface="+mn-lt"/>
              </a:rPr>
              <a:t>Inclusivity and Gradual Learning</a:t>
            </a:r>
            <a:endParaRPr lang="en-US" dirty="0">
              <a:latin typeface="+mn-lt"/>
            </a:endParaRPr>
          </a:p>
        </p:txBody>
      </p:sp>
      <p:sp>
        <p:nvSpPr>
          <p:cNvPr id="3" name="Content Placeholder 2">
            <a:extLst>
              <a:ext uri="{FF2B5EF4-FFF2-40B4-BE49-F238E27FC236}">
                <a16:creationId xmlns:a16="http://schemas.microsoft.com/office/drawing/2014/main" id="{B1E0D806-9615-5FBB-A79D-0D41D3A9090B}"/>
              </a:ext>
            </a:extLst>
          </p:cNvPr>
          <p:cNvSpPr>
            <a:spLocks noGrp="1"/>
          </p:cNvSpPr>
          <p:nvPr>
            <p:ph idx="1"/>
          </p:nvPr>
        </p:nvSpPr>
        <p:spPr/>
        <p:txBody>
          <a:bodyPr/>
          <a:lstStyle/>
          <a:p>
            <a:r>
              <a:rPr lang="en-GB" dirty="0"/>
              <a:t>We want to build confidence for all students through gradual, structured learning</a:t>
            </a:r>
          </a:p>
          <a:p>
            <a:r>
              <a:rPr lang="en-GB" dirty="0"/>
              <a:t>Familiar material for experienced developers serves as refinement and perspective-sharing</a:t>
            </a:r>
          </a:p>
          <a:p>
            <a:r>
              <a:rPr lang="en-GB" dirty="0"/>
              <a:t>Help in reflecting real-world collaboration where diverse teams work together</a:t>
            </a:r>
          </a:p>
          <a:p>
            <a:r>
              <a:rPr lang="en-GB" dirty="0"/>
              <a:t>Encourages mutual support between </a:t>
            </a:r>
            <a:r>
              <a:rPr lang="en-GB" b="1" dirty="0"/>
              <a:t>experienced</a:t>
            </a:r>
            <a:r>
              <a:rPr lang="en-GB" dirty="0"/>
              <a:t> and </a:t>
            </a:r>
            <a:r>
              <a:rPr lang="en-GB" b="1" dirty="0"/>
              <a:t>novice</a:t>
            </a:r>
            <a:r>
              <a:rPr lang="en-GB" dirty="0"/>
              <a:t> peers</a:t>
            </a:r>
            <a:endParaRPr lang="en-US" dirty="0"/>
          </a:p>
        </p:txBody>
      </p:sp>
    </p:spTree>
    <p:extLst>
      <p:ext uri="{BB962C8B-B14F-4D97-AF65-F5344CB8AC3E}">
        <p14:creationId xmlns:p14="http://schemas.microsoft.com/office/powerpoint/2010/main" val="3364827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title">
            <a:extLst>
              <a:ext uri="{FF2B5EF4-FFF2-40B4-BE49-F238E27FC236}">
                <a16:creationId xmlns:a16="http://schemas.microsoft.com/office/drawing/2014/main" id="{18CA6FED-FEA1-41EC-A456-572C93706840}"/>
              </a:ext>
            </a:extLst>
          </p:cNvPr>
          <p:cNvSpPr>
            <a:spLocks noGrp="1"/>
          </p:cNvSpPr>
          <p:nvPr/>
        </p:nvSpPr>
        <p:spPr>
          <a:xfrm>
            <a:off x="685800" y="361950"/>
            <a:ext cx="10820400" cy="590550"/>
          </a:xfrm>
          <a:prstGeom prst="rect">
            <a:avLst/>
          </a:prstGeom>
          <a:noFill/>
          <a:ln w="0">
            <a:noFill/>
            <a:prstDash val="solid"/>
          </a:ln>
        </p:spPr>
        <p:txBody>
          <a:bodyPr/>
          <a:lstStyle/>
          <a:p>
            <a:pPr algn="l">
              <a:defRPr sz="2400" b="1">
                <a:solidFill>
                  <a:srgbClr val="1F4E79"/>
                </a:solidFill>
              </a:defRPr>
            </a:pPr>
            <a:r>
              <a:rPr sz="3200" b="1" dirty="0"/>
              <a:t>Course Goal: Build High-Quality Software Collaboratively</a:t>
            </a:r>
          </a:p>
        </p:txBody>
      </p:sp>
      <p:sp>
        <p:nvSpPr>
          <p:cNvPr id="2" name="goal-progress-line">
            <a:extLst>
              <a:ext uri="{FF2B5EF4-FFF2-40B4-BE49-F238E27FC236}">
                <a16:creationId xmlns:a16="http://schemas.microsoft.com/office/drawing/2014/main" id="{9A96EB24-5667-4FC4-96E5-E5456D8D37D1}"/>
              </a:ext>
            </a:extLst>
          </p:cNvPr>
          <p:cNvSpPr>
            <a:spLocks noGrp="1"/>
          </p:cNvSpPr>
          <p:nvPr/>
        </p:nvSpPr>
        <p:spPr>
          <a:xfrm>
            <a:off x="1009650" y="1638300"/>
            <a:ext cx="38100" cy="2381250"/>
          </a:xfrm>
          <a:prstGeom prst="rect">
            <a:avLst/>
          </a:prstGeom>
          <a:solidFill>
            <a:srgbClr val="D9E1E8"/>
          </a:solidFill>
          <a:ln w="0">
            <a:noFill/>
            <a:prstDash val="solid"/>
          </a:ln>
        </p:spPr>
        <p:txBody>
          <a:bodyPr/>
          <a:lstStyle/>
          <a:p>
            <a:endParaRPr lang="en-US"/>
          </a:p>
        </p:txBody>
      </p:sp>
      <p:sp>
        <p:nvSpPr>
          <p:cNvPr id="3" name="number-circle-1">
            <a:extLst>
              <a:ext uri="{FF2B5EF4-FFF2-40B4-BE49-F238E27FC236}">
                <a16:creationId xmlns:a16="http://schemas.microsoft.com/office/drawing/2014/main" id="{0B476B9B-8C0E-48F1-832B-41079FE919DB}"/>
              </a:ext>
            </a:extLst>
          </p:cNvPr>
          <p:cNvSpPr>
            <a:spLocks noGrp="1"/>
          </p:cNvSpPr>
          <p:nvPr/>
        </p:nvSpPr>
        <p:spPr>
          <a:xfrm>
            <a:off x="762000" y="1371600"/>
            <a:ext cx="533400" cy="533400"/>
          </a:xfrm>
          <a:prstGeom prst="ellipse">
            <a:avLst/>
          </a:prstGeom>
          <a:solidFill>
            <a:srgbClr val="1F4E79"/>
          </a:solidFill>
          <a:ln w="0">
            <a:solidFill>
              <a:srgbClr val="1F4E79"/>
            </a:solidFill>
            <a:prstDash val="solid"/>
          </a:ln>
        </p:spPr>
        <p:txBody>
          <a:bodyPr/>
          <a:lstStyle/>
          <a:p>
            <a:endParaRPr lang="en-US"/>
          </a:p>
        </p:txBody>
      </p:sp>
      <p:sp>
        <p:nvSpPr>
          <p:cNvPr id="4" name="number-1">
            <a:extLst>
              <a:ext uri="{FF2B5EF4-FFF2-40B4-BE49-F238E27FC236}">
                <a16:creationId xmlns:a16="http://schemas.microsoft.com/office/drawing/2014/main" id="{C5BAC1FB-F557-4092-B13B-58DBE0B4527D}"/>
              </a:ext>
            </a:extLst>
          </p:cNvPr>
          <p:cNvSpPr>
            <a:spLocks noGrp="1"/>
          </p:cNvSpPr>
          <p:nvPr/>
        </p:nvSpPr>
        <p:spPr>
          <a:xfrm>
            <a:off x="762000" y="1438275"/>
            <a:ext cx="533400" cy="361950"/>
          </a:xfrm>
          <a:prstGeom prst="rect">
            <a:avLst/>
          </a:prstGeom>
          <a:noFill/>
          <a:ln w="0">
            <a:noFill/>
            <a:prstDash val="solid"/>
          </a:ln>
        </p:spPr>
        <p:txBody>
          <a:bodyPr/>
          <a:lstStyle/>
          <a:p>
            <a:pPr algn="ctr">
              <a:defRPr sz="1800" b="1">
                <a:solidFill>
                  <a:srgbClr val="FFFFFF"/>
                </a:solidFill>
              </a:defRPr>
            </a:pPr>
            <a:r>
              <a:rPr sz="1800" b="1" dirty="0">
                <a:solidFill>
                  <a:srgbClr val="FFFFFF"/>
                </a:solidFill>
              </a:rPr>
              <a:t>1</a:t>
            </a:r>
          </a:p>
        </p:txBody>
      </p:sp>
      <p:sp>
        <p:nvSpPr>
          <p:cNvPr id="5" name="goal-heading-1">
            <a:extLst>
              <a:ext uri="{FF2B5EF4-FFF2-40B4-BE49-F238E27FC236}">
                <a16:creationId xmlns:a16="http://schemas.microsoft.com/office/drawing/2014/main" id="{89A96F86-F362-4344-8FAD-3CC1C1933AE5}"/>
              </a:ext>
            </a:extLst>
          </p:cNvPr>
          <p:cNvSpPr>
            <a:spLocks noGrp="1"/>
          </p:cNvSpPr>
          <p:nvPr/>
        </p:nvSpPr>
        <p:spPr>
          <a:xfrm>
            <a:off x="1600200" y="1295400"/>
            <a:ext cx="7620000" cy="342900"/>
          </a:xfrm>
          <a:prstGeom prst="rect">
            <a:avLst/>
          </a:prstGeom>
          <a:noFill/>
          <a:ln w="0">
            <a:noFill/>
            <a:prstDash val="solid"/>
          </a:ln>
        </p:spPr>
        <p:txBody>
          <a:bodyPr/>
          <a:lstStyle/>
          <a:p>
            <a:pPr>
              <a:defRPr sz="1800" b="1">
                <a:solidFill>
                  <a:srgbClr val="1F4E79"/>
                </a:solidFill>
              </a:defRPr>
            </a:pPr>
            <a:r>
              <a:rPr sz="2400" b="1" dirty="0">
                <a:solidFill>
                  <a:srgbClr val="1F4E79"/>
                </a:solidFill>
              </a:rPr>
              <a:t>Collaborate as a Team</a:t>
            </a:r>
          </a:p>
        </p:txBody>
      </p:sp>
      <p:sp>
        <p:nvSpPr>
          <p:cNvPr id="6" name="goal-body-1">
            <a:extLst>
              <a:ext uri="{FF2B5EF4-FFF2-40B4-BE49-F238E27FC236}">
                <a16:creationId xmlns:a16="http://schemas.microsoft.com/office/drawing/2014/main" id="{7FEDC4BD-87CF-4B8A-816A-562758DB677C}"/>
              </a:ext>
            </a:extLst>
          </p:cNvPr>
          <p:cNvSpPr>
            <a:spLocks noGrp="1"/>
          </p:cNvSpPr>
          <p:nvPr/>
        </p:nvSpPr>
        <p:spPr>
          <a:xfrm>
            <a:off x="1600200" y="1695450"/>
            <a:ext cx="9429750" cy="457200"/>
          </a:xfrm>
          <a:prstGeom prst="rect">
            <a:avLst/>
          </a:prstGeom>
          <a:noFill/>
          <a:ln w="0">
            <a:noFill/>
            <a:prstDash val="solid"/>
          </a:ln>
        </p:spPr>
        <p:txBody>
          <a:bodyPr/>
          <a:lstStyle/>
          <a:p>
            <a:pPr>
              <a:defRPr sz="1500">
                <a:solidFill>
                  <a:srgbClr val="000000"/>
                </a:solidFill>
              </a:defRPr>
            </a:pPr>
            <a:r>
              <a:rPr sz="2000" dirty="0">
                <a:solidFill>
                  <a:srgbClr val="000000"/>
                </a:solidFill>
              </a:rPr>
              <a:t>Work effectively with teammates who bring different skills and responsibilities.</a:t>
            </a:r>
          </a:p>
        </p:txBody>
      </p:sp>
      <p:sp>
        <p:nvSpPr>
          <p:cNvPr id="7" name="goal-divider-1">
            <a:extLst>
              <a:ext uri="{FF2B5EF4-FFF2-40B4-BE49-F238E27FC236}">
                <a16:creationId xmlns:a16="http://schemas.microsoft.com/office/drawing/2014/main" id="{1C5DA0EF-B349-44FD-8D06-81DA6CF0CC33}"/>
              </a:ext>
            </a:extLst>
          </p:cNvPr>
          <p:cNvSpPr>
            <a:spLocks noGrp="1"/>
          </p:cNvSpPr>
          <p:nvPr/>
        </p:nvSpPr>
        <p:spPr>
          <a:xfrm>
            <a:off x="1600200" y="2295525"/>
            <a:ext cx="9239250" cy="9525"/>
          </a:xfrm>
          <a:prstGeom prst="rect">
            <a:avLst/>
          </a:prstGeom>
          <a:solidFill>
            <a:srgbClr val="E3E7EA"/>
          </a:solidFill>
          <a:ln w="0">
            <a:noFill/>
            <a:prstDash val="solid"/>
          </a:ln>
        </p:spPr>
        <p:txBody>
          <a:bodyPr/>
          <a:lstStyle/>
          <a:p>
            <a:endParaRPr lang="en-US"/>
          </a:p>
        </p:txBody>
      </p:sp>
      <p:sp>
        <p:nvSpPr>
          <p:cNvPr id="8" name="number-circle-2">
            <a:extLst>
              <a:ext uri="{FF2B5EF4-FFF2-40B4-BE49-F238E27FC236}">
                <a16:creationId xmlns:a16="http://schemas.microsoft.com/office/drawing/2014/main" id="{26C8417A-E50A-40B5-B8A3-A83262E0D1F9}"/>
              </a:ext>
            </a:extLst>
          </p:cNvPr>
          <p:cNvSpPr>
            <a:spLocks noGrp="1"/>
          </p:cNvSpPr>
          <p:nvPr/>
        </p:nvSpPr>
        <p:spPr>
          <a:xfrm>
            <a:off x="762000" y="2562225"/>
            <a:ext cx="533400" cy="533400"/>
          </a:xfrm>
          <a:prstGeom prst="ellipse">
            <a:avLst/>
          </a:prstGeom>
          <a:solidFill>
            <a:srgbClr val="008C95"/>
          </a:solidFill>
          <a:ln w="0">
            <a:solidFill>
              <a:srgbClr val="008C95"/>
            </a:solidFill>
            <a:prstDash val="solid"/>
          </a:ln>
        </p:spPr>
        <p:txBody>
          <a:bodyPr/>
          <a:lstStyle/>
          <a:p>
            <a:endParaRPr lang="en-US"/>
          </a:p>
        </p:txBody>
      </p:sp>
      <p:sp>
        <p:nvSpPr>
          <p:cNvPr id="9" name="number-2">
            <a:extLst>
              <a:ext uri="{FF2B5EF4-FFF2-40B4-BE49-F238E27FC236}">
                <a16:creationId xmlns:a16="http://schemas.microsoft.com/office/drawing/2014/main" id="{163AFEFB-1CA5-464E-8D8C-C6F6E5F22381}"/>
              </a:ext>
            </a:extLst>
          </p:cNvPr>
          <p:cNvSpPr>
            <a:spLocks noGrp="1"/>
          </p:cNvSpPr>
          <p:nvPr/>
        </p:nvSpPr>
        <p:spPr>
          <a:xfrm>
            <a:off x="762000" y="2628900"/>
            <a:ext cx="533400" cy="361950"/>
          </a:xfrm>
          <a:prstGeom prst="rect">
            <a:avLst/>
          </a:prstGeom>
          <a:noFill/>
          <a:ln w="0">
            <a:noFill/>
            <a:prstDash val="solid"/>
          </a:ln>
        </p:spPr>
        <p:txBody>
          <a:bodyPr/>
          <a:lstStyle/>
          <a:p>
            <a:pPr algn="ctr">
              <a:defRPr sz="1800" b="1">
                <a:solidFill>
                  <a:srgbClr val="FFFFFF"/>
                </a:solidFill>
              </a:defRPr>
            </a:pPr>
            <a:r>
              <a:rPr sz="1800" b="1">
                <a:solidFill>
                  <a:srgbClr val="FFFFFF"/>
                </a:solidFill>
              </a:rPr>
              <a:t>2</a:t>
            </a:r>
          </a:p>
        </p:txBody>
      </p:sp>
      <p:sp>
        <p:nvSpPr>
          <p:cNvPr id="10" name="goal-heading-2">
            <a:extLst>
              <a:ext uri="{FF2B5EF4-FFF2-40B4-BE49-F238E27FC236}">
                <a16:creationId xmlns:a16="http://schemas.microsoft.com/office/drawing/2014/main" id="{4B5B3DDA-C672-4078-957B-3DFB0225C18D}"/>
              </a:ext>
            </a:extLst>
          </p:cNvPr>
          <p:cNvSpPr>
            <a:spLocks noGrp="1"/>
          </p:cNvSpPr>
          <p:nvPr/>
        </p:nvSpPr>
        <p:spPr>
          <a:xfrm>
            <a:off x="1600200" y="2486025"/>
            <a:ext cx="7620000" cy="342900"/>
          </a:xfrm>
          <a:prstGeom prst="rect">
            <a:avLst/>
          </a:prstGeom>
          <a:noFill/>
          <a:ln w="0">
            <a:noFill/>
            <a:prstDash val="solid"/>
          </a:ln>
        </p:spPr>
        <p:txBody>
          <a:bodyPr/>
          <a:lstStyle/>
          <a:p>
            <a:pPr>
              <a:defRPr sz="1800" b="1">
                <a:solidFill>
                  <a:srgbClr val="008C95"/>
                </a:solidFill>
              </a:defRPr>
            </a:pPr>
            <a:r>
              <a:rPr sz="2400" b="1" dirty="0">
                <a:solidFill>
                  <a:srgbClr val="008C95"/>
                </a:solidFill>
              </a:rPr>
              <a:t>Coordinate and Verify Contributions</a:t>
            </a:r>
          </a:p>
        </p:txBody>
      </p:sp>
      <p:sp>
        <p:nvSpPr>
          <p:cNvPr id="11" name="goal-body-2">
            <a:extLst>
              <a:ext uri="{FF2B5EF4-FFF2-40B4-BE49-F238E27FC236}">
                <a16:creationId xmlns:a16="http://schemas.microsoft.com/office/drawing/2014/main" id="{9E3AA6F1-AE8C-4AC2-85B1-9410FAA0F245}"/>
              </a:ext>
            </a:extLst>
          </p:cNvPr>
          <p:cNvSpPr>
            <a:spLocks noGrp="1"/>
          </p:cNvSpPr>
          <p:nvPr/>
        </p:nvSpPr>
        <p:spPr>
          <a:xfrm>
            <a:off x="1600200" y="2886075"/>
            <a:ext cx="9429750" cy="457200"/>
          </a:xfrm>
          <a:prstGeom prst="rect">
            <a:avLst/>
          </a:prstGeom>
          <a:noFill/>
          <a:ln w="0">
            <a:noFill/>
            <a:prstDash val="solid"/>
          </a:ln>
        </p:spPr>
        <p:txBody>
          <a:bodyPr/>
          <a:lstStyle/>
          <a:p>
            <a:pPr>
              <a:defRPr sz="1500">
                <a:solidFill>
                  <a:srgbClr val="000000"/>
                </a:solidFill>
              </a:defRPr>
            </a:pPr>
            <a:r>
              <a:rPr sz="2000" dirty="0">
                <a:solidFill>
                  <a:srgbClr val="000000"/>
                </a:solidFill>
              </a:rPr>
              <a:t>Use GitHub, code reviews, testing, and CI to coordinate work and verify changes.</a:t>
            </a:r>
          </a:p>
        </p:txBody>
      </p:sp>
      <p:sp>
        <p:nvSpPr>
          <p:cNvPr id="12" name="goal-divider-2">
            <a:extLst>
              <a:ext uri="{FF2B5EF4-FFF2-40B4-BE49-F238E27FC236}">
                <a16:creationId xmlns:a16="http://schemas.microsoft.com/office/drawing/2014/main" id="{BC1CBF29-2D04-4737-A975-55309477CF74}"/>
              </a:ext>
            </a:extLst>
          </p:cNvPr>
          <p:cNvSpPr>
            <a:spLocks noGrp="1"/>
          </p:cNvSpPr>
          <p:nvPr/>
        </p:nvSpPr>
        <p:spPr>
          <a:xfrm>
            <a:off x="1600200" y="3486150"/>
            <a:ext cx="9239250" cy="9525"/>
          </a:xfrm>
          <a:prstGeom prst="rect">
            <a:avLst/>
          </a:prstGeom>
          <a:solidFill>
            <a:srgbClr val="E3E7EA"/>
          </a:solidFill>
          <a:ln w="0">
            <a:noFill/>
            <a:prstDash val="solid"/>
          </a:ln>
        </p:spPr>
        <p:txBody>
          <a:bodyPr/>
          <a:lstStyle/>
          <a:p>
            <a:endParaRPr lang="en-US"/>
          </a:p>
        </p:txBody>
      </p:sp>
      <p:sp>
        <p:nvSpPr>
          <p:cNvPr id="13" name="number-circle-3">
            <a:extLst>
              <a:ext uri="{FF2B5EF4-FFF2-40B4-BE49-F238E27FC236}">
                <a16:creationId xmlns:a16="http://schemas.microsoft.com/office/drawing/2014/main" id="{6C4E0412-A1C0-40B3-8B26-D3551A67610F}"/>
              </a:ext>
            </a:extLst>
          </p:cNvPr>
          <p:cNvSpPr>
            <a:spLocks noGrp="1"/>
          </p:cNvSpPr>
          <p:nvPr/>
        </p:nvSpPr>
        <p:spPr>
          <a:xfrm>
            <a:off x="762000" y="3752850"/>
            <a:ext cx="533400" cy="533400"/>
          </a:xfrm>
          <a:prstGeom prst="ellipse">
            <a:avLst/>
          </a:prstGeom>
          <a:solidFill>
            <a:srgbClr val="6B5B95"/>
          </a:solidFill>
          <a:ln w="0">
            <a:solidFill>
              <a:srgbClr val="6B5B95"/>
            </a:solidFill>
            <a:prstDash val="solid"/>
          </a:ln>
        </p:spPr>
        <p:txBody>
          <a:bodyPr/>
          <a:lstStyle/>
          <a:p>
            <a:endParaRPr lang="en-US"/>
          </a:p>
        </p:txBody>
      </p:sp>
      <p:sp>
        <p:nvSpPr>
          <p:cNvPr id="14" name="number-3">
            <a:extLst>
              <a:ext uri="{FF2B5EF4-FFF2-40B4-BE49-F238E27FC236}">
                <a16:creationId xmlns:a16="http://schemas.microsoft.com/office/drawing/2014/main" id="{5ED02E62-9F3F-4039-9C39-F1DBA21F6890}"/>
              </a:ext>
            </a:extLst>
          </p:cNvPr>
          <p:cNvSpPr>
            <a:spLocks noGrp="1"/>
          </p:cNvSpPr>
          <p:nvPr/>
        </p:nvSpPr>
        <p:spPr>
          <a:xfrm>
            <a:off x="762000" y="3819525"/>
            <a:ext cx="533400" cy="361950"/>
          </a:xfrm>
          <a:prstGeom prst="rect">
            <a:avLst/>
          </a:prstGeom>
          <a:noFill/>
          <a:ln w="0">
            <a:noFill/>
            <a:prstDash val="solid"/>
          </a:ln>
        </p:spPr>
        <p:txBody>
          <a:bodyPr/>
          <a:lstStyle/>
          <a:p>
            <a:pPr algn="ctr">
              <a:defRPr sz="1800" b="1">
                <a:solidFill>
                  <a:srgbClr val="FFFFFF"/>
                </a:solidFill>
              </a:defRPr>
            </a:pPr>
            <a:r>
              <a:rPr sz="1800" b="1">
                <a:solidFill>
                  <a:srgbClr val="FFFFFF"/>
                </a:solidFill>
              </a:rPr>
              <a:t>3</a:t>
            </a:r>
          </a:p>
        </p:txBody>
      </p:sp>
      <p:sp>
        <p:nvSpPr>
          <p:cNvPr id="15" name="goal-heading-3">
            <a:extLst>
              <a:ext uri="{FF2B5EF4-FFF2-40B4-BE49-F238E27FC236}">
                <a16:creationId xmlns:a16="http://schemas.microsoft.com/office/drawing/2014/main" id="{F2703DAD-6456-4E57-A9E8-0402B62FEA87}"/>
              </a:ext>
            </a:extLst>
          </p:cNvPr>
          <p:cNvSpPr>
            <a:spLocks noGrp="1"/>
          </p:cNvSpPr>
          <p:nvPr/>
        </p:nvSpPr>
        <p:spPr>
          <a:xfrm>
            <a:off x="1600200" y="3676650"/>
            <a:ext cx="7620000" cy="342900"/>
          </a:xfrm>
          <a:prstGeom prst="rect">
            <a:avLst/>
          </a:prstGeom>
          <a:noFill/>
          <a:ln w="0">
            <a:noFill/>
            <a:prstDash val="solid"/>
          </a:ln>
        </p:spPr>
        <p:txBody>
          <a:bodyPr/>
          <a:lstStyle/>
          <a:p>
            <a:pPr>
              <a:defRPr sz="1800" b="1">
                <a:solidFill>
                  <a:srgbClr val="6B5B95"/>
                </a:solidFill>
              </a:defRPr>
            </a:pPr>
            <a:r>
              <a:rPr sz="2400" b="1" dirty="0">
                <a:solidFill>
                  <a:srgbClr val="6B5B95"/>
                </a:solidFill>
              </a:rPr>
              <a:t>Design for Shared Development</a:t>
            </a:r>
          </a:p>
        </p:txBody>
      </p:sp>
      <p:sp>
        <p:nvSpPr>
          <p:cNvPr id="16" name="goal-body-3">
            <a:extLst>
              <a:ext uri="{FF2B5EF4-FFF2-40B4-BE49-F238E27FC236}">
                <a16:creationId xmlns:a16="http://schemas.microsoft.com/office/drawing/2014/main" id="{F785042E-9F4D-4719-A3D8-F18ED214D590}"/>
              </a:ext>
            </a:extLst>
          </p:cNvPr>
          <p:cNvSpPr>
            <a:spLocks noGrp="1"/>
          </p:cNvSpPr>
          <p:nvPr/>
        </p:nvSpPr>
        <p:spPr>
          <a:xfrm>
            <a:off x="1600200" y="4076700"/>
            <a:ext cx="9429750" cy="457200"/>
          </a:xfrm>
          <a:prstGeom prst="rect">
            <a:avLst/>
          </a:prstGeom>
          <a:noFill/>
          <a:ln w="0">
            <a:noFill/>
            <a:prstDash val="solid"/>
          </a:ln>
        </p:spPr>
        <p:txBody>
          <a:bodyPr/>
          <a:lstStyle/>
          <a:p>
            <a:pPr>
              <a:defRPr sz="1500">
                <a:solidFill>
                  <a:srgbClr val="000000"/>
                </a:solidFill>
              </a:defRPr>
            </a:pPr>
            <a:r>
              <a:rPr sz="2000" dirty="0">
                <a:solidFill>
                  <a:srgbClr val="000000"/>
                </a:solidFill>
              </a:rPr>
              <a:t>Design software that team members can develop, integrate, and maintain together.</a:t>
            </a:r>
          </a:p>
        </p:txBody>
      </p:sp>
      <p:sp>
        <p:nvSpPr>
          <p:cNvPr id="17" name="goal-takeaway-band">
            <a:extLst>
              <a:ext uri="{FF2B5EF4-FFF2-40B4-BE49-F238E27FC236}">
                <a16:creationId xmlns:a16="http://schemas.microsoft.com/office/drawing/2014/main" id="{5C6CFBD8-BB3F-4D84-A154-4831C4EE7FD7}"/>
              </a:ext>
            </a:extLst>
          </p:cNvPr>
          <p:cNvSpPr>
            <a:spLocks noGrp="1"/>
          </p:cNvSpPr>
          <p:nvPr/>
        </p:nvSpPr>
        <p:spPr>
          <a:xfrm>
            <a:off x="685800" y="5267325"/>
            <a:ext cx="10820400" cy="876300"/>
          </a:xfrm>
          <a:prstGeom prst="roundRect">
            <a:avLst>
              <a:gd name="adj" fmla="val 8696"/>
            </a:avLst>
          </a:prstGeom>
          <a:solidFill>
            <a:srgbClr val="EAF2F8"/>
          </a:solidFill>
          <a:ln w="9525">
            <a:solidFill>
              <a:srgbClr val="C9DDEA"/>
            </a:solidFill>
            <a:prstDash val="solid"/>
          </a:ln>
        </p:spPr>
        <p:txBody>
          <a:bodyPr/>
          <a:lstStyle/>
          <a:p>
            <a:endParaRPr lang="en-US"/>
          </a:p>
        </p:txBody>
      </p:sp>
      <p:sp>
        <p:nvSpPr>
          <p:cNvPr id="18" name="goal-takeaway">
            <a:extLst>
              <a:ext uri="{FF2B5EF4-FFF2-40B4-BE49-F238E27FC236}">
                <a16:creationId xmlns:a16="http://schemas.microsoft.com/office/drawing/2014/main" id="{80530565-74E7-48F6-AF6B-AB7E519045D2}"/>
              </a:ext>
            </a:extLst>
          </p:cNvPr>
          <p:cNvSpPr>
            <a:spLocks noGrp="1"/>
          </p:cNvSpPr>
          <p:nvPr/>
        </p:nvSpPr>
        <p:spPr>
          <a:xfrm>
            <a:off x="882501" y="5495925"/>
            <a:ext cx="10451805" cy="400050"/>
          </a:xfrm>
          <a:prstGeom prst="rect">
            <a:avLst/>
          </a:prstGeom>
          <a:noFill/>
          <a:ln w="0">
            <a:noFill/>
            <a:prstDash val="solid"/>
          </a:ln>
        </p:spPr>
        <p:txBody>
          <a:bodyPr/>
          <a:lstStyle/>
          <a:p>
            <a:pPr algn="ctr">
              <a:defRPr sz="1500" b="1">
                <a:solidFill>
                  <a:srgbClr val="1F4E79"/>
                </a:solidFill>
              </a:defRPr>
            </a:pPr>
            <a:r>
              <a:rPr sz="2400" b="1" dirty="0">
                <a:solidFill>
                  <a:srgbClr val="1F4E79"/>
                </a:solidFill>
              </a:rPr>
              <a:t>Throughout the course, you will apply these practices to deliver a working MVP.</a:t>
            </a:r>
          </a:p>
        </p:txBody>
      </p:sp>
    </p:spTree>
    <p:extLst>
      <p:ext uri="{BB962C8B-B14F-4D97-AF65-F5344CB8AC3E}">
        <p14:creationId xmlns:p14="http://schemas.microsoft.com/office/powerpoint/2010/main" val="156619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p:bldP spid="7" grpId="0" animBg="1"/>
      <p:bldP spid="8" grpId="0" animBg="1"/>
      <p:bldP spid="10" grpId="0"/>
      <p:bldP spid="11" grpId="0"/>
      <p:bldP spid="12" grpId="0" animBg="1"/>
      <p:bldP spid="13" grpId="0" animBg="1"/>
      <p:bldP spid="15" grpId="0"/>
      <p:bldP spid="16" grpId="0"/>
      <p:bldP spid="17" grpId="0" animBg="1"/>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a:extLst>
              <a:ext uri="{FF2B5EF4-FFF2-40B4-BE49-F238E27FC236}">
                <a16:creationId xmlns:a16="http://schemas.microsoft.com/office/drawing/2014/main" id="{FF56E714-DF00-4F02-B732-77F1CCC234D9}"/>
              </a:ext>
            </a:extLst>
          </p:cNvPr>
          <p:cNvSpPr>
            <a:spLocks noGrp="1"/>
          </p:cNvSpPr>
          <p:nvPr/>
        </p:nvSpPr>
        <p:spPr>
          <a:xfrm>
            <a:off x="666750" y="400050"/>
            <a:ext cx="10858500" cy="552450"/>
          </a:xfrm>
          <a:prstGeom prst="rect">
            <a:avLst/>
          </a:prstGeom>
          <a:noFill/>
          <a:ln w="0">
            <a:noFill/>
            <a:prstDash val="solid"/>
          </a:ln>
        </p:spPr>
        <p:txBody>
          <a:bodyPr/>
          <a:lstStyle/>
          <a:p>
            <a:pPr>
              <a:defRPr sz="2850" b="1">
                <a:solidFill>
                  <a:srgbClr val="1F4E79"/>
                </a:solidFill>
              </a:defRPr>
            </a:pPr>
            <a:r>
              <a:rPr sz="3200" b="1" dirty="0"/>
              <a:t>Course Learning Roadmap</a:t>
            </a:r>
          </a:p>
        </p:txBody>
      </p:sp>
      <p:sp>
        <p:nvSpPr>
          <p:cNvPr id="2" name="subtitle">
            <a:extLst>
              <a:ext uri="{FF2B5EF4-FFF2-40B4-BE49-F238E27FC236}">
                <a16:creationId xmlns:a16="http://schemas.microsoft.com/office/drawing/2014/main" id="{0BCFA44B-4888-439B-83C0-C117F3B99535}"/>
              </a:ext>
            </a:extLst>
          </p:cNvPr>
          <p:cNvSpPr>
            <a:spLocks noGrp="1"/>
          </p:cNvSpPr>
          <p:nvPr/>
        </p:nvSpPr>
        <p:spPr>
          <a:xfrm>
            <a:off x="685800" y="952500"/>
            <a:ext cx="10001250" cy="342900"/>
          </a:xfrm>
          <a:prstGeom prst="rect">
            <a:avLst/>
          </a:prstGeom>
          <a:noFill/>
          <a:ln w="0">
            <a:noFill/>
            <a:prstDash val="solid"/>
          </a:ln>
        </p:spPr>
        <p:txBody>
          <a:bodyPr/>
          <a:lstStyle/>
          <a:p>
            <a:pPr>
              <a:defRPr sz="1425">
                <a:solidFill>
                  <a:srgbClr val="555555"/>
                </a:solidFill>
              </a:defRPr>
            </a:pPr>
            <a:r>
              <a:rPr sz="2000" b="1" dirty="0"/>
              <a:t>Each stage prepares you to contribute more effectively to the team project.</a:t>
            </a:r>
          </a:p>
        </p:txBody>
      </p:sp>
      <p:sp>
        <p:nvSpPr>
          <p:cNvPr id="3" name="progress-line">
            <a:extLst>
              <a:ext uri="{FF2B5EF4-FFF2-40B4-BE49-F238E27FC236}">
                <a16:creationId xmlns:a16="http://schemas.microsoft.com/office/drawing/2014/main" id="{BD0DD8DD-D324-45F3-8A8D-55DEDA67275D}"/>
              </a:ext>
            </a:extLst>
          </p:cNvPr>
          <p:cNvSpPr>
            <a:spLocks noGrp="1"/>
          </p:cNvSpPr>
          <p:nvPr/>
        </p:nvSpPr>
        <p:spPr>
          <a:xfrm>
            <a:off x="1009650" y="1905000"/>
            <a:ext cx="38100" cy="3028950"/>
          </a:xfrm>
          <a:prstGeom prst="rect">
            <a:avLst/>
          </a:prstGeom>
          <a:solidFill>
            <a:srgbClr val="D9E1E8"/>
          </a:solidFill>
          <a:ln w="0">
            <a:noFill/>
            <a:prstDash val="solid"/>
          </a:ln>
        </p:spPr>
        <p:txBody>
          <a:bodyPr/>
          <a:lstStyle/>
          <a:p>
            <a:endParaRPr lang="en-US"/>
          </a:p>
        </p:txBody>
      </p:sp>
      <p:sp>
        <p:nvSpPr>
          <p:cNvPr id="4" name="stage-1-number">
            <a:extLst>
              <a:ext uri="{FF2B5EF4-FFF2-40B4-BE49-F238E27FC236}">
                <a16:creationId xmlns:a16="http://schemas.microsoft.com/office/drawing/2014/main" id="{C32721DB-38EB-4E5B-BFAD-EC197F44EB17}"/>
              </a:ext>
            </a:extLst>
          </p:cNvPr>
          <p:cNvSpPr>
            <a:spLocks noGrp="1"/>
          </p:cNvSpPr>
          <p:nvPr/>
        </p:nvSpPr>
        <p:spPr>
          <a:xfrm>
            <a:off x="762000" y="1666875"/>
            <a:ext cx="533400" cy="533400"/>
          </a:xfrm>
          <a:prstGeom prst="ellipse">
            <a:avLst/>
          </a:prstGeom>
          <a:solidFill>
            <a:srgbClr val="1F4E79"/>
          </a:solidFill>
          <a:ln w="0">
            <a:solidFill>
              <a:srgbClr val="1F4E79"/>
            </a:solidFill>
            <a:prstDash val="solid"/>
          </a:ln>
        </p:spPr>
        <p:txBody>
          <a:bodyPr/>
          <a:lstStyle/>
          <a:p>
            <a:endParaRPr lang="en-US"/>
          </a:p>
        </p:txBody>
      </p:sp>
      <p:sp>
        <p:nvSpPr>
          <p:cNvPr id="5" name="stage-1-digit">
            <a:extLst>
              <a:ext uri="{FF2B5EF4-FFF2-40B4-BE49-F238E27FC236}">
                <a16:creationId xmlns:a16="http://schemas.microsoft.com/office/drawing/2014/main" id="{FC38FC7D-63E5-4AD8-B76E-35AA30AB51F8}"/>
              </a:ext>
            </a:extLst>
          </p:cNvPr>
          <p:cNvSpPr>
            <a:spLocks noGrp="1"/>
          </p:cNvSpPr>
          <p:nvPr/>
        </p:nvSpPr>
        <p:spPr>
          <a:xfrm>
            <a:off x="762000" y="1724025"/>
            <a:ext cx="533400" cy="400050"/>
          </a:xfrm>
          <a:prstGeom prst="rect">
            <a:avLst/>
          </a:prstGeom>
          <a:noFill/>
          <a:ln w="0">
            <a:noFill/>
            <a:prstDash val="solid"/>
          </a:ln>
        </p:spPr>
        <p:txBody>
          <a:bodyPr/>
          <a:lstStyle/>
          <a:p>
            <a:pPr algn="ctr">
              <a:defRPr sz="1875" b="1">
                <a:solidFill>
                  <a:srgbClr val="FFFFFF"/>
                </a:solidFill>
              </a:defRPr>
            </a:pPr>
            <a:r>
              <a:rPr sz="1875" b="1" dirty="0">
                <a:solidFill>
                  <a:srgbClr val="FFFFFF"/>
                </a:solidFill>
              </a:rPr>
              <a:t>1</a:t>
            </a:r>
          </a:p>
        </p:txBody>
      </p:sp>
      <p:sp>
        <p:nvSpPr>
          <p:cNvPr id="6" name="stage-1-heading">
            <a:extLst>
              <a:ext uri="{FF2B5EF4-FFF2-40B4-BE49-F238E27FC236}">
                <a16:creationId xmlns:a16="http://schemas.microsoft.com/office/drawing/2014/main" id="{705A8CDE-9ECC-4229-BAAF-D05F14C16839}"/>
              </a:ext>
            </a:extLst>
          </p:cNvPr>
          <p:cNvSpPr>
            <a:spLocks noGrp="1"/>
          </p:cNvSpPr>
          <p:nvPr/>
        </p:nvSpPr>
        <p:spPr>
          <a:xfrm>
            <a:off x="1600200" y="1590675"/>
            <a:ext cx="4953000" cy="323850"/>
          </a:xfrm>
          <a:prstGeom prst="rect">
            <a:avLst/>
          </a:prstGeom>
          <a:noFill/>
          <a:ln w="0">
            <a:noFill/>
            <a:prstDash val="solid"/>
          </a:ln>
        </p:spPr>
        <p:txBody>
          <a:bodyPr/>
          <a:lstStyle/>
          <a:p>
            <a:pPr>
              <a:defRPr sz="1800" b="1">
                <a:solidFill>
                  <a:srgbClr val="1F4E79"/>
                </a:solidFill>
              </a:defRPr>
            </a:pPr>
            <a:r>
              <a:rPr sz="2400" b="1" dirty="0">
                <a:solidFill>
                  <a:srgbClr val="1F4E79"/>
                </a:solidFill>
              </a:rPr>
              <a:t>Git and GitHub</a:t>
            </a:r>
          </a:p>
        </p:txBody>
      </p:sp>
      <p:sp>
        <p:nvSpPr>
          <p:cNvPr id="7" name="stage-1-body">
            <a:extLst>
              <a:ext uri="{FF2B5EF4-FFF2-40B4-BE49-F238E27FC236}">
                <a16:creationId xmlns:a16="http://schemas.microsoft.com/office/drawing/2014/main" id="{8E85C83C-C7A6-4504-B86A-96F9D73D96FD}"/>
              </a:ext>
            </a:extLst>
          </p:cNvPr>
          <p:cNvSpPr>
            <a:spLocks noGrp="1"/>
          </p:cNvSpPr>
          <p:nvPr/>
        </p:nvSpPr>
        <p:spPr>
          <a:xfrm>
            <a:off x="1600200" y="1933575"/>
            <a:ext cx="9239250" cy="400050"/>
          </a:xfrm>
          <a:prstGeom prst="rect">
            <a:avLst/>
          </a:prstGeom>
          <a:noFill/>
          <a:ln w="0">
            <a:noFill/>
            <a:prstDash val="solid"/>
          </a:ln>
        </p:spPr>
        <p:txBody>
          <a:bodyPr/>
          <a:lstStyle/>
          <a:p>
            <a:pPr>
              <a:defRPr sz="1350">
                <a:solidFill>
                  <a:srgbClr val="333333"/>
                </a:solidFill>
              </a:defRPr>
            </a:pPr>
            <a:r>
              <a:rPr sz="2000" dirty="0"/>
              <a:t>Coordinate work through issues, branches, pull requests, reviews, and merges.</a:t>
            </a:r>
          </a:p>
        </p:txBody>
      </p:sp>
      <p:sp>
        <p:nvSpPr>
          <p:cNvPr id="8" name="divider-1">
            <a:extLst>
              <a:ext uri="{FF2B5EF4-FFF2-40B4-BE49-F238E27FC236}">
                <a16:creationId xmlns:a16="http://schemas.microsoft.com/office/drawing/2014/main" id="{42E5CC08-CA0E-46C9-8731-B047C0CD2D33}"/>
              </a:ext>
            </a:extLst>
          </p:cNvPr>
          <p:cNvSpPr>
            <a:spLocks noGrp="1"/>
          </p:cNvSpPr>
          <p:nvPr/>
        </p:nvSpPr>
        <p:spPr>
          <a:xfrm>
            <a:off x="1600200" y="2419350"/>
            <a:ext cx="9239250" cy="9525"/>
          </a:xfrm>
          <a:prstGeom prst="rect">
            <a:avLst/>
          </a:prstGeom>
          <a:solidFill>
            <a:srgbClr val="E6E9EC"/>
          </a:solidFill>
          <a:ln w="0">
            <a:noFill/>
            <a:prstDash val="solid"/>
          </a:ln>
        </p:spPr>
        <p:txBody>
          <a:bodyPr/>
          <a:lstStyle/>
          <a:p>
            <a:endParaRPr lang="en-US"/>
          </a:p>
        </p:txBody>
      </p:sp>
      <p:sp>
        <p:nvSpPr>
          <p:cNvPr id="9" name="stage-2-number">
            <a:extLst>
              <a:ext uri="{FF2B5EF4-FFF2-40B4-BE49-F238E27FC236}">
                <a16:creationId xmlns:a16="http://schemas.microsoft.com/office/drawing/2014/main" id="{BB0F432B-BA2A-477B-8A8E-B156691FD2AC}"/>
              </a:ext>
            </a:extLst>
          </p:cNvPr>
          <p:cNvSpPr>
            <a:spLocks noGrp="1"/>
          </p:cNvSpPr>
          <p:nvPr/>
        </p:nvSpPr>
        <p:spPr>
          <a:xfrm>
            <a:off x="762000" y="2676525"/>
            <a:ext cx="533400" cy="533400"/>
          </a:xfrm>
          <a:prstGeom prst="ellipse">
            <a:avLst/>
          </a:prstGeom>
          <a:solidFill>
            <a:srgbClr val="008C95"/>
          </a:solidFill>
          <a:ln w="0">
            <a:solidFill>
              <a:srgbClr val="008C95"/>
            </a:solidFill>
            <a:prstDash val="solid"/>
          </a:ln>
        </p:spPr>
        <p:txBody>
          <a:bodyPr/>
          <a:lstStyle/>
          <a:p>
            <a:endParaRPr lang="en-US"/>
          </a:p>
        </p:txBody>
      </p:sp>
      <p:sp>
        <p:nvSpPr>
          <p:cNvPr id="10" name="stage-2-digit">
            <a:extLst>
              <a:ext uri="{FF2B5EF4-FFF2-40B4-BE49-F238E27FC236}">
                <a16:creationId xmlns:a16="http://schemas.microsoft.com/office/drawing/2014/main" id="{BDB72205-4193-4398-902B-6607DB9B951B}"/>
              </a:ext>
            </a:extLst>
          </p:cNvPr>
          <p:cNvSpPr>
            <a:spLocks noGrp="1"/>
          </p:cNvSpPr>
          <p:nvPr/>
        </p:nvSpPr>
        <p:spPr>
          <a:xfrm>
            <a:off x="762000" y="2733675"/>
            <a:ext cx="533400" cy="400050"/>
          </a:xfrm>
          <a:prstGeom prst="rect">
            <a:avLst/>
          </a:prstGeom>
          <a:noFill/>
          <a:ln w="0">
            <a:noFill/>
            <a:prstDash val="solid"/>
          </a:ln>
        </p:spPr>
        <p:txBody>
          <a:bodyPr/>
          <a:lstStyle/>
          <a:p>
            <a:pPr algn="ctr">
              <a:defRPr sz="1875" b="1">
                <a:solidFill>
                  <a:srgbClr val="FFFFFF"/>
                </a:solidFill>
              </a:defRPr>
            </a:pPr>
            <a:r>
              <a:rPr sz="1875" b="1">
                <a:solidFill>
                  <a:srgbClr val="FFFFFF"/>
                </a:solidFill>
              </a:rPr>
              <a:t>2</a:t>
            </a:r>
          </a:p>
        </p:txBody>
      </p:sp>
      <p:sp>
        <p:nvSpPr>
          <p:cNvPr id="11" name="stage-2-heading">
            <a:extLst>
              <a:ext uri="{FF2B5EF4-FFF2-40B4-BE49-F238E27FC236}">
                <a16:creationId xmlns:a16="http://schemas.microsoft.com/office/drawing/2014/main" id="{7DD7457E-3979-4AB4-AFAE-53D642DA5DC8}"/>
              </a:ext>
            </a:extLst>
          </p:cNvPr>
          <p:cNvSpPr>
            <a:spLocks noGrp="1"/>
          </p:cNvSpPr>
          <p:nvPr/>
        </p:nvSpPr>
        <p:spPr>
          <a:xfrm>
            <a:off x="1600200" y="2600325"/>
            <a:ext cx="4953000" cy="323850"/>
          </a:xfrm>
          <a:prstGeom prst="rect">
            <a:avLst/>
          </a:prstGeom>
          <a:noFill/>
          <a:ln w="0">
            <a:noFill/>
            <a:prstDash val="solid"/>
          </a:ln>
        </p:spPr>
        <p:txBody>
          <a:bodyPr/>
          <a:lstStyle/>
          <a:p>
            <a:pPr>
              <a:defRPr sz="1800" b="1">
                <a:solidFill>
                  <a:srgbClr val="008C95"/>
                </a:solidFill>
              </a:defRPr>
            </a:pPr>
            <a:r>
              <a:rPr sz="2400" b="1" dirty="0">
                <a:solidFill>
                  <a:srgbClr val="008C95"/>
                </a:solidFill>
              </a:rPr>
              <a:t>Software Testing and CI</a:t>
            </a:r>
          </a:p>
        </p:txBody>
      </p:sp>
      <p:sp>
        <p:nvSpPr>
          <p:cNvPr id="12" name="stage-2-body">
            <a:extLst>
              <a:ext uri="{FF2B5EF4-FFF2-40B4-BE49-F238E27FC236}">
                <a16:creationId xmlns:a16="http://schemas.microsoft.com/office/drawing/2014/main" id="{FF544EEF-519C-41EB-94EA-3F1C8C0E573B}"/>
              </a:ext>
            </a:extLst>
          </p:cNvPr>
          <p:cNvSpPr>
            <a:spLocks noGrp="1"/>
          </p:cNvSpPr>
          <p:nvPr/>
        </p:nvSpPr>
        <p:spPr>
          <a:xfrm>
            <a:off x="1600200" y="2943225"/>
            <a:ext cx="9239250" cy="400050"/>
          </a:xfrm>
          <a:prstGeom prst="rect">
            <a:avLst/>
          </a:prstGeom>
          <a:noFill/>
          <a:ln w="0">
            <a:noFill/>
            <a:prstDash val="solid"/>
          </a:ln>
        </p:spPr>
        <p:txBody>
          <a:bodyPr/>
          <a:lstStyle/>
          <a:p>
            <a:pPr>
              <a:defRPr sz="1350">
                <a:solidFill>
                  <a:srgbClr val="333333"/>
                </a:solidFill>
              </a:defRPr>
            </a:pPr>
            <a:r>
              <a:rPr sz="2000" dirty="0"/>
              <a:t>Write tests and use automated checks to protect software quality.</a:t>
            </a:r>
          </a:p>
        </p:txBody>
      </p:sp>
      <p:sp>
        <p:nvSpPr>
          <p:cNvPr id="13" name="divider-2">
            <a:extLst>
              <a:ext uri="{FF2B5EF4-FFF2-40B4-BE49-F238E27FC236}">
                <a16:creationId xmlns:a16="http://schemas.microsoft.com/office/drawing/2014/main" id="{D3CCC174-53DB-491F-8B5B-5F62F42B0975}"/>
              </a:ext>
            </a:extLst>
          </p:cNvPr>
          <p:cNvSpPr>
            <a:spLocks noGrp="1"/>
          </p:cNvSpPr>
          <p:nvPr/>
        </p:nvSpPr>
        <p:spPr>
          <a:xfrm>
            <a:off x="1600200" y="3429000"/>
            <a:ext cx="9239250" cy="9525"/>
          </a:xfrm>
          <a:prstGeom prst="rect">
            <a:avLst/>
          </a:prstGeom>
          <a:solidFill>
            <a:srgbClr val="E6E9EC"/>
          </a:solidFill>
          <a:ln w="0">
            <a:noFill/>
            <a:prstDash val="solid"/>
          </a:ln>
        </p:spPr>
        <p:txBody>
          <a:bodyPr/>
          <a:lstStyle/>
          <a:p>
            <a:endParaRPr lang="en-US"/>
          </a:p>
        </p:txBody>
      </p:sp>
      <p:sp>
        <p:nvSpPr>
          <p:cNvPr id="14" name="stage-3-number">
            <a:extLst>
              <a:ext uri="{FF2B5EF4-FFF2-40B4-BE49-F238E27FC236}">
                <a16:creationId xmlns:a16="http://schemas.microsoft.com/office/drawing/2014/main" id="{4C654018-247C-41F9-B1F5-EED0F706D784}"/>
              </a:ext>
            </a:extLst>
          </p:cNvPr>
          <p:cNvSpPr>
            <a:spLocks noGrp="1"/>
          </p:cNvSpPr>
          <p:nvPr/>
        </p:nvSpPr>
        <p:spPr>
          <a:xfrm>
            <a:off x="762000" y="3686175"/>
            <a:ext cx="533400" cy="533400"/>
          </a:xfrm>
          <a:prstGeom prst="ellipse">
            <a:avLst/>
          </a:prstGeom>
          <a:solidFill>
            <a:srgbClr val="6B5B95"/>
          </a:solidFill>
          <a:ln w="0">
            <a:solidFill>
              <a:srgbClr val="6B5B95"/>
            </a:solidFill>
            <a:prstDash val="solid"/>
          </a:ln>
        </p:spPr>
        <p:txBody>
          <a:bodyPr/>
          <a:lstStyle/>
          <a:p>
            <a:endParaRPr lang="en-US"/>
          </a:p>
        </p:txBody>
      </p:sp>
      <p:sp>
        <p:nvSpPr>
          <p:cNvPr id="15" name="stage-3-digit">
            <a:extLst>
              <a:ext uri="{FF2B5EF4-FFF2-40B4-BE49-F238E27FC236}">
                <a16:creationId xmlns:a16="http://schemas.microsoft.com/office/drawing/2014/main" id="{BD10146F-3281-4CD3-BB4C-6B6F4D66F76F}"/>
              </a:ext>
            </a:extLst>
          </p:cNvPr>
          <p:cNvSpPr>
            <a:spLocks noGrp="1"/>
          </p:cNvSpPr>
          <p:nvPr/>
        </p:nvSpPr>
        <p:spPr>
          <a:xfrm>
            <a:off x="762000" y="3743325"/>
            <a:ext cx="533400" cy="400050"/>
          </a:xfrm>
          <a:prstGeom prst="rect">
            <a:avLst/>
          </a:prstGeom>
          <a:noFill/>
          <a:ln w="0">
            <a:noFill/>
            <a:prstDash val="solid"/>
          </a:ln>
        </p:spPr>
        <p:txBody>
          <a:bodyPr/>
          <a:lstStyle/>
          <a:p>
            <a:pPr algn="ctr">
              <a:defRPr sz="1875" b="1">
                <a:solidFill>
                  <a:srgbClr val="FFFFFF"/>
                </a:solidFill>
              </a:defRPr>
            </a:pPr>
            <a:r>
              <a:rPr sz="1875" b="1">
                <a:solidFill>
                  <a:srgbClr val="FFFFFF"/>
                </a:solidFill>
              </a:rPr>
              <a:t>3</a:t>
            </a:r>
          </a:p>
        </p:txBody>
      </p:sp>
      <p:sp>
        <p:nvSpPr>
          <p:cNvPr id="16" name="stage-3-heading">
            <a:extLst>
              <a:ext uri="{FF2B5EF4-FFF2-40B4-BE49-F238E27FC236}">
                <a16:creationId xmlns:a16="http://schemas.microsoft.com/office/drawing/2014/main" id="{E43B689F-576E-471D-9131-1B1C56859C5C}"/>
              </a:ext>
            </a:extLst>
          </p:cNvPr>
          <p:cNvSpPr>
            <a:spLocks noGrp="1"/>
          </p:cNvSpPr>
          <p:nvPr/>
        </p:nvSpPr>
        <p:spPr>
          <a:xfrm>
            <a:off x="1600200" y="3609975"/>
            <a:ext cx="4953000" cy="323850"/>
          </a:xfrm>
          <a:prstGeom prst="rect">
            <a:avLst/>
          </a:prstGeom>
          <a:noFill/>
          <a:ln w="0">
            <a:noFill/>
            <a:prstDash val="solid"/>
          </a:ln>
        </p:spPr>
        <p:txBody>
          <a:bodyPr/>
          <a:lstStyle/>
          <a:p>
            <a:pPr>
              <a:defRPr sz="1800" b="1">
                <a:solidFill>
                  <a:srgbClr val="6B5B95"/>
                </a:solidFill>
              </a:defRPr>
            </a:pPr>
            <a:r>
              <a:rPr sz="2400" b="1" dirty="0">
                <a:solidFill>
                  <a:srgbClr val="6B5B95"/>
                </a:solidFill>
              </a:rPr>
              <a:t>Collaborative Software Design</a:t>
            </a:r>
          </a:p>
        </p:txBody>
      </p:sp>
      <p:sp>
        <p:nvSpPr>
          <p:cNvPr id="17" name="stage-3-body">
            <a:extLst>
              <a:ext uri="{FF2B5EF4-FFF2-40B4-BE49-F238E27FC236}">
                <a16:creationId xmlns:a16="http://schemas.microsoft.com/office/drawing/2014/main" id="{C11F5D03-0124-401A-A6B6-8C7BCE4549CA}"/>
              </a:ext>
            </a:extLst>
          </p:cNvPr>
          <p:cNvSpPr>
            <a:spLocks noGrp="1"/>
          </p:cNvSpPr>
          <p:nvPr/>
        </p:nvSpPr>
        <p:spPr>
          <a:xfrm>
            <a:off x="1600200" y="3952875"/>
            <a:ext cx="9239250" cy="400050"/>
          </a:xfrm>
          <a:prstGeom prst="rect">
            <a:avLst/>
          </a:prstGeom>
          <a:noFill/>
          <a:ln w="0">
            <a:noFill/>
            <a:prstDash val="solid"/>
          </a:ln>
        </p:spPr>
        <p:txBody>
          <a:bodyPr/>
          <a:lstStyle/>
          <a:p>
            <a:pPr>
              <a:defRPr sz="1350">
                <a:solidFill>
                  <a:srgbClr val="333333"/>
                </a:solidFill>
              </a:defRPr>
            </a:pPr>
            <a:r>
              <a:rPr sz="2000" dirty="0"/>
              <a:t>Use architecture and clear interfaces to support parallel development and integration.</a:t>
            </a:r>
          </a:p>
        </p:txBody>
      </p:sp>
      <p:sp>
        <p:nvSpPr>
          <p:cNvPr id="18" name="divider-3">
            <a:extLst>
              <a:ext uri="{FF2B5EF4-FFF2-40B4-BE49-F238E27FC236}">
                <a16:creationId xmlns:a16="http://schemas.microsoft.com/office/drawing/2014/main" id="{F5D3068C-B46F-430F-8E5C-540A97B1D45C}"/>
              </a:ext>
            </a:extLst>
          </p:cNvPr>
          <p:cNvSpPr>
            <a:spLocks noGrp="1"/>
          </p:cNvSpPr>
          <p:nvPr/>
        </p:nvSpPr>
        <p:spPr>
          <a:xfrm>
            <a:off x="1600200" y="4438650"/>
            <a:ext cx="9239250" cy="9525"/>
          </a:xfrm>
          <a:prstGeom prst="rect">
            <a:avLst/>
          </a:prstGeom>
          <a:solidFill>
            <a:srgbClr val="E6E9EC"/>
          </a:solidFill>
          <a:ln w="0">
            <a:noFill/>
            <a:prstDash val="solid"/>
          </a:ln>
        </p:spPr>
        <p:txBody>
          <a:bodyPr/>
          <a:lstStyle/>
          <a:p>
            <a:endParaRPr lang="en-US"/>
          </a:p>
        </p:txBody>
      </p:sp>
      <p:sp>
        <p:nvSpPr>
          <p:cNvPr id="19" name="stage-4-number">
            <a:extLst>
              <a:ext uri="{FF2B5EF4-FFF2-40B4-BE49-F238E27FC236}">
                <a16:creationId xmlns:a16="http://schemas.microsoft.com/office/drawing/2014/main" id="{CBE8983F-8778-4C36-8CA9-4B901A8E2657}"/>
              </a:ext>
            </a:extLst>
          </p:cNvPr>
          <p:cNvSpPr>
            <a:spLocks noGrp="1"/>
          </p:cNvSpPr>
          <p:nvPr/>
        </p:nvSpPr>
        <p:spPr>
          <a:xfrm>
            <a:off x="762000" y="4695825"/>
            <a:ext cx="533400" cy="533400"/>
          </a:xfrm>
          <a:prstGeom prst="ellipse">
            <a:avLst/>
          </a:prstGeom>
          <a:solidFill>
            <a:srgbClr val="C55A11"/>
          </a:solidFill>
          <a:ln w="0">
            <a:solidFill>
              <a:srgbClr val="C55A11"/>
            </a:solidFill>
            <a:prstDash val="solid"/>
          </a:ln>
        </p:spPr>
        <p:txBody>
          <a:bodyPr/>
          <a:lstStyle/>
          <a:p>
            <a:endParaRPr lang="en-US"/>
          </a:p>
        </p:txBody>
      </p:sp>
      <p:sp>
        <p:nvSpPr>
          <p:cNvPr id="20" name="stage-4-digit">
            <a:extLst>
              <a:ext uri="{FF2B5EF4-FFF2-40B4-BE49-F238E27FC236}">
                <a16:creationId xmlns:a16="http://schemas.microsoft.com/office/drawing/2014/main" id="{118EFE90-0A4B-470B-847B-73B2F57FBC4E}"/>
              </a:ext>
            </a:extLst>
          </p:cNvPr>
          <p:cNvSpPr>
            <a:spLocks noGrp="1"/>
          </p:cNvSpPr>
          <p:nvPr/>
        </p:nvSpPr>
        <p:spPr>
          <a:xfrm>
            <a:off x="762000" y="4752975"/>
            <a:ext cx="533400" cy="400050"/>
          </a:xfrm>
          <a:prstGeom prst="rect">
            <a:avLst/>
          </a:prstGeom>
          <a:noFill/>
          <a:ln w="0">
            <a:noFill/>
            <a:prstDash val="solid"/>
          </a:ln>
        </p:spPr>
        <p:txBody>
          <a:bodyPr/>
          <a:lstStyle/>
          <a:p>
            <a:pPr algn="ctr">
              <a:defRPr sz="1875" b="1">
                <a:solidFill>
                  <a:srgbClr val="FFFFFF"/>
                </a:solidFill>
              </a:defRPr>
            </a:pPr>
            <a:r>
              <a:rPr sz="1875" b="1">
                <a:solidFill>
                  <a:srgbClr val="FFFFFF"/>
                </a:solidFill>
              </a:rPr>
              <a:t>4</a:t>
            </a:r>
          </a:p>
        </p:txBody>
      </p:sp>
      <p:sp>
        <p:nvSpPr>
          <p:cNvPr id="21" name="stage-4-heading">
            <a:extLst>
              <a:ext uri="{FF2B5EF4-FFF2-40B4-BE49-F238E27FC236}">
                <a16:creationId xmlns:a16="http://schemas.microsoft.com/office/drawing/2014/main" id="{A1E643A2-0E8D-4D6D-836C-12B6E00861CC}"/>
              </a:ext>
            </a:extLst>
          </p:cNvPr>
          <p:cNvSpPr>
            <a:spLocks noGrp="1"/>
          </p:cNvSpPr>
          <p:nvPr/>
        </p:nvSpPr>
        <p:spPr>
          <a:xfrm>
            <a:off x="1600200" y="4619625"/>
            <a:ext cx="4953000" cy="323850"/>
          </a:xfrm>
          <a:prstGeom prst="rect">
            <a:avLst/>
          </a:prstGeom>
          <a:noFill/>
          <a:ln w="0">
            <a:noFill/>
            <a:prstDash val="solid"/>
          </a:ln>
        </p:spPr>
        <p:txBody>
          <a:bodyPr/>
          <a:lstStyle/>
          <a:p>
            <a:pPr>
              <a:defRPr sz="1800" b="1">
                <a:solidFill>
                  <a:srgbClr val="C55A11"/>
                </a:solidFill>
              </a:defRPr>
            </a:pPr>
            <a:r>
              <a:rPr sz="2400" b="1" dirty="0">
                <a:solidFill>
                  <a:srgbClr val="C55A11"/>
                </a:solidFill>
              </a:rPr>
              <a:t>Team Project</a:t>
            </a:r>
          </a:p>
        </p:txBody>
      </p:sp>
      <p:sp>
        <p:nvSpPr>
          <p:cNvPr id="22" name="stage-4-body">
            <a:extLst>
              <a:ext uri="{FF2B5EF4-FFF2-40B4-BE49-F238E27FC236}">
                <a16:creationId xmlns:a16="http://schemas.microsoft.com/office/drawing/2014/main" id="{795A1ABE-CE3B-4004-B9C4-C45918D22ADB}"/>
              </a:ext>
            </a:extLst>
          </p:cNvPr>
          <p:cNvSpPr>
            <a:spLocks noGrp="1"/>
          </p:cNvSpPr>
          <p:nvPr/>
        </p:nvSpPr>
        <p:spPr>
          <a:xfrm>
            <a:off x="1600200" y="4962525"/>
            <a:ext cx="9239250" cy="400050"/>
          </a:xfrm>
          <a:prstGeom prst="rect">
            <a:avLst/>
          </a:prstGeom>
          <a:noFill/>
          <a:ln w="0">
            <a:noFill/>
            <a:prstDash val="solid"/>
          </a:ln>
        </p:spPr>
        <p:txBody>
          <a:bodyPr/>
          <a:lstStyle/>
          <a:p>
            <a:pPr>
              <a:defRPr sz="1350">
                <a:solidFill>
                  <a:srgbClr val="333333"/>
                </a:solidFill>
              </a:defRPr>
            </a:pPr>
            <a:r>
              <a:rPr sz="2000" dirty="0"/>
              <a:t>Apply these practices together to develop, evaluate, and deliver a working MVP.</a:t>
            </a:r>
          </a:p>
        </p:txBody>
      </p:sp>
      <p:sp>
        <p:nvSpPr>
          <p:cNvPr id="23" name="takeaway-band">
            <a:extLst>
              <a:ext uri="{FF2B5EF4-FFF2-40B4-BE49-F238E27FC236}">
                <a16:creationId xmlns:a16="http://schemas.microsoft.com/office/drawing/2014/main" id="{3A80EBC1-5F77-41B8-B338-68669EB5DAA0}"/>
              </a:ext>
            </a:extLst>
          </p:cNvPr>
          <p:cNvSpPr>
            <a:spLocks noGrp="1"/>
          </p:cNvSpPr>
          <p:nvPr/>
        </p:nvSpPr>
        <p:spPr>
          <a:xfrm>
            <a:off x="685800" y="5791200"/>
            <a:ext cx="10820400" cy="647700"/>
          </a:xfrm>
          <a:prstGeom prst="roundRect">
            <a:avLst>
              <a:gd name="adj" fmla="val 11765"/>
            </a:avLst>
          </a:prstGeom>
          <a:solidFill>
            <a:srgbClr val="EAF2F8"/>
          </a:solidFill>
          <a:ln w="9525">
            <a:solidFill>
              <a:srgbClr val="C9DDEA"/>
            </a:solidFill>
            <a:prstDash val="solid"/>
          </a:ln>
        </p:spPr>
        <p:txBody>
          <a:bodyPr/>
          <a:lstStyle/>
          <a:p>
            <a:endParaRPr lang="en-US"/>
          </a:p>
        </p:txBody>
      </p:sp>
      <p:sp>
        <p:nvSpPr>
          <p:cNvPr id="24" name="takeaway">
            <a:extLst>
              <a:ext uri="{FF2B5EF4-FFF2-40B4-BE49-F238E27FC236}">
                <a16:creationId xmlns:a16="http://schemas.microsoft.com/office/drawing/2014/main" id="{EB3CB70C-E54C-4096-B4F5-E4FA4F230DA7}"/>
              </a:ext>
            </a:extLst>
          </p:cNvPr>
          <p:cNvSpPr>
            <a:spLocks noGrp="1"/>
          </p:cNvSpPr>
          <p:nvPr/>
        </p:nvSpPr>
        <p:spPr>
          <a:xfrm>
            <a:off x="1028700" y="5943600"/>
            <a:ext cx="10134600" cy="323850"/>
          </a:xfrm>
          <a:prstGeom prst="rect">
            <a:avLst/>
          </a:prstGeom>
          <a:noFill/>
          <a:ln w="0">
            <a:noFill/>
            <a:prstDash val="solid"/>
          </a:ln>
        </p:spPr>
        <p:txBody>
          <a:bodyPr/>
          <a:lstStyle/>
          <a:p>
            <a:pPr algn="ctr">
              <a:defRPr sz="1575" b="1">
                <a:solidFill>
                  <a:srgbClr val="1F4E79"/>
                </a:solidFill>
              </a:defRPr>
            </a:pPr>
            <a:r>
              <a:rPr sz="2400" b="1" dirty="0">
                <a:solidFill>
                  <a:srgbClr val="1F4E79"/>
                </a:solidFill>
              </a:rPr>
              <a:t>Instruction  →  Practice  →  Application in the team project</a:t>
            </a:r>
          </a:p>
        </p:txBody>
      </p:sp>
    </p:spTree>
    <p:extLst>
      <p:ext uri="{BB962C8B-B14F-4D97-AF65-F5344CB8AC3E}">
        <p14:creationId xmlns:p14="http://schemas.microsoft.com/office/powerpoint/2010/main" val="2139430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ADE200D0-9973-480E-8FFD-835BD552190B}"/>
              </a:ext>
            </a:extLst>
          </p:cNvPr>
          <p:cNvSpPr>
            <a:spLocks noGrp="1"/>
          </p:cNvSpPr>
          <p:nvPr/>
        </p:nvSpPr>
        <p:spPr>
          <a:xfrm>
            <a:off x="685800" y="361950"/>
            <a:ext cx="10820400" cy="590550"/>
          </a:xfrm>
          <a:prstGeom prst="rect">
            <a:avLst/>
          </a:prstGeom>
          <a:noFill/>
          <a:ln w="0">
            <a:noFill/>
            <a:prstDash val="solid"/>
          </a:ln>
        </p:spPr>
        <p:txBody>
          <a:bodyPr/>
          <a:lstStyle/>
          <a:p>
            <a:pPr algn="l">
              <a:defRPr sz="2400" b="1">
                <a:solidFill>
                  <a:srgbClr val="1F4E79"/>
                </a:solidFill>
              </a:defRPr>
            </a:pPr>
            <a:r>
              <a:rPr sz="3200" b="1" dirty="0">
                <a:solidFill>
                  <a:srgbClr val="1F4E79"/>
                </a:solidFill>
              </a:rPr>
              <a:t>One Collaborative Engineering Loop</a:t>
            </a:r>
          </a:p>
        </p:txBody>
      </p:sp>
      <p:sp>
        <p:nvSpPr>
          <p:cNvPr id="2" name="subtitle">
            <a:extLst>
              <a:ext uri="{FF2B5EF4-FFF2-40B4-BE49-F238E27FC236}">
                <a16:creationId xmlns:a16="http://schemas.microsoft.com/office/drawing/2014/main" id="{819008C0-E71E-46CE-B86D-1E26A393A752}"/>
              </a:ext>
            </a:extLst>
          </p:cNvPr>
          <p:cNvSpPr>
            <a:spLocks noGrp="1"/>
          </p:cNvSpPr>
          <p:nvPr/>
        </p:nvSpPr>
        <p:spPr>
          <a:xfrm>
            <a:off x="685800" y="1204913"/>
            <a:ext cx="9525000" cy="342900"/>
          </a:xfrm>
          <a:prstGeom prst="rect">
            <a:avLst/>
          </a:prstGeom>
          <a:noFill/>
          <a:ln w="0">
            <a:noFill/>
            <a:prstDash val="solid"/>
          </a:ln>
        </p:spPr>
        <p:txBody>
          <a:bodyPr/>
          <a:lstStyle/>
          <a:p>
            <a:pPr>
              <a:defRPr sz="1500" b="1">
                <a:solidFill>
                  <a:srgbClr val="000000"/>
                </a:solidFill>
              </a:defRPr>
            </a:pPr>
            <a:r>
              <a:rPr lang="en-US" sz="2000" b="1" dirty="0">
                <a:solidFill>
                  <a:srgbClr val="000000"/>
                </a:solidFill>
              </a:rPr>
              <a:t>We will use</a:t>
            </a:r>
            <a:r>
              <a:rPr sz="2000" b="1" dirty="0">
                <a:solidFill>
                  <a:srgbClr val="000000"/>
                </a:solidFill>
              </a:rPr>
              <a:t> </a:t>
            </a:r>
            <a:r>
              <a:rPr lang="en-US" sz="2000" b="1" dirty="0">
                <a:solidFill>
                  <a:srgbClr val="000000"/>
                </a:solidFill>
              </a:rPr>
              <a:t>the </a:t>
            </a:r>
            <a:r>
              <a:rPr lang="en-US" sz="2000" b="1" dirty="0" err="1">
                <a:solidFill>
                  <a:srgbClr val="000000"/>
                </a:solidFill>
              </a:rPr>
              <a:t>follwing</a:t>
            </a:r>
            <a:r>
              <a:rPr sz="2000" b="1" dirty="0">
                <a:solidFill>
                  <a:srgbClr val="000000"/>
                </a:solidFill>
              </a:rPr>
              <a:t> workflow for each meaningful project change.</a:t>
            </a:r>
          </a:p>
        </p:txBody>
      </p:sp>
      <p:sp>
        <p:nvSpPr>
          <p:cNvPr id="3" name="arrow-1">
            <a:extLst>
              <a:ext uri="{FF2B5EF4-FFF2-40B4-BE49-F238E27FC236}">
                <a16:creationId xmlns:a16="http://schemas.microsoft.com/office/drawing/2014/main" id="{DC7F3C91-31AF-4211-99C0-7C36C277646A}"/>
              </a:ext>
            </a:extLst>
          </p:cNvPr>
          <p:cNvSpPr>
            <a:spLocks noGrp="1"/>
          </p:cNvSpPr>
          <p:nvPr/>
        </p:nvSpPr>
        <p:spPr>
          <a:xfrm>
            <a:off x="1809750" y="2543175"/>
            <a:ext cx="552450" cy="419100"/>
          </a:xfrm>
          <a:prstGeom prst="rect">
            <a:avLst/>
          </a:prstGeom>
          <a:noFill/>
          <a:ln w="0">
            <a:noFill/>
            <a:prstDash val="solid"/>
          </a:ln>
        </p:spPr>
        <p:txBody>
          <a:bodyPr/>
          <a:lstStyle/>
          <a:p>
            <a:pPr algn="ctr">
              <a:defRPr sz="2100" b="1">
                <a:solidFill>
                  <a:srgbClr val="7A8793"/>
                </a:solidFill>
              </a:defRPr>
            </a:pPr>
            <a:r>
              <a:rPr sz="2100" b="1" dirty="0">
                <a:solidFill>
                  <a:srgbClr val="7A8793"/>
                </a:solidFill>
              </a:rPr>
              <a:t>→</a:t>
            </a:r>
          </a:p>
        </p:txBody>
      </p:sp>
      <p:sp>
        <p:nvSpPr>
          <p:cNvPr id="4" name="arrow-2">
            <a:extLst>
              <a:ext uri="{FF2B5EF4-FFF2-40B4-BE49-F238E27FC236}">
                <a16:creationId xmlns:a16="http://schemas.microsoft.com/office/drawing/2014/main" id="{684D6A0D-1DFF-4C51-879E-920F94918310}"/>
              </a:ext>
            </a:extLst>
          </p:cNvPr>
          <p:cNvSpPr>
            <a:spLocks noGrp="1"/>
          </p:cNvSpPr>
          <p:nvPr/>
        </p:nvSpPr>
        <p:spPr>
          <a:xfrm>
            <a:off x="3676650" y="2543175"/>
            <a:ext cx="552450" cy="419100"/>
          </a:xfrm>
          <a:prstGeom prst="rect">
            <a:avLst/>
          </a:prstGeom>
          <a:noFill/>
          <a:ln w="0">
            <a:noFill/>
            <a:prstDash val="solid"/>
          </a:ln>
        </p:spPr>
        <p:txBody>
          <a:bodyPr/>
          <a:lstStyle/>
          <a:p>
            <a:pPr algn="ctr">
              <a:defRPr sz="2100" b="1">
                <a:solidFill>
                  <a:srgbClr val="7A8793"/>
                </a:solidFill>
              </a:defRPr>
            </a:pPr>
            <a:r>
              <a:rPr sz="2100" b="1" dirty="0">
                <a:solidFill>
                  <a:srgbClr val="7A8793"/>
                </a:solidFill>
              </a:rPr>
              <a:t>→</a:t>
            </a:r>
          </a:p>
        </p:txBody>
      </p:sp>
      <p:sp>
        <p:nvSpPr>
          <p:cNvPr id="5" name="arrow-3">
            <a:extLst>
              <a:ext uri="{FF2B5EF4-FFF2-40B4-BE49-F238E27FC236}">
                <a16:creationId xmlns:a16="http://schemas.microsoft.com/office/drawing/2014/main" id="{829C878D-92F3-499A-B2B2-7DE2F37E02F3}"/>
              </a:ext>
            </a:extLst>
          </p:cNvPr>
          <p:cNvSpPr>
            <a:spLocks noGrp="1"/>
          </p:cNvSpPr>
          <p:nvPr/>
        </p:nvSpPr>
        <p:spPr>
          <a:xfrm>
            <a:off x="5543550" y="2543175"/>
            <a:ext cx="552450" cy="419100"/>
          </a:xfrm>
          <a:prstGeom prst="rect">
            <a:avLst/>
          </a:prstGeom>
          <a:noFill/>
          <a:ln w="0">
            <a:noFill/>
            <a:prstDash val="solid"/>
          </a:ln>
        </p:spPr>
        <p:txBody>
          <a:bodyPr/>
          <a:lstStyle/>
          <a:p>
            <a:pPr algn="ctr">
              <a:defRPr sz="2100" b="1">
                <a:solidFill>
                  <a:srgbClr val="7A8793"/>
                </a:solidFill>
              </a:defRPr>
            </a:pPr>
            <a:r>
              <a:rPr sz="2100" b="1" dirty="0">
                <a:solidFill>
                  <a:srgbClr val="7A8793"/>
                </a:solidFill>
              </a:rPr>
              <a:t>→</a:t>
            </a:r>
          </a:p>
        </p:txBody>
      </p:sp>
      <p:sp>
        <p:nvSpPr>
          <p:cNvPr id="6" name="arrow-4">
            <a:extLst>
              <a:ext uri="{FF2B5EF4-FFF2-40B4-BE49-F238E27FC236}">
                <a16:creationId xmlns:a16="http://schemas.microsoft.com/office/drawing/2014/main" id="{2EA395C2-085F-4CEE-83DA-43AE0E64A8EB}"/>
              </a:ext>
            </a:extLst>
          </p:cNvPr>
          <p:cNvSpPr>
            <a:spLocks noGrp="1"/>
          </p:cNvSpPr>
          <p:nvPr/>
        </p:nvSpPr>
        <p:spPr>
          <a:xfrm>
            <a:off x="7410450" y="2543175"/>
            <a:ext cx="552450" cy="419100"/>
          </a:xfrm>
          <a:prstGeom prst="rect">
            <a:avLst/>
          </a:prstGeom>
          <a:noFill/>
          <a:ln w="0">
            <a:noFill/>
            <a:prstDash val="solid"/>
          </a:ln>
        </p:spPr>
        <p:txBody>
          <a:bodyPr/>
          <a:lstStyle/>
          <a:p>
            <a:pPr algn="ctr">
              <a:defRPr sz="2100" b="1">
                <a:solidFill>
                  <a:srgbClr val="7A8793"/>
                </a:solidFill>
              </a:defRPr>
            </a:pPr>
            <a:r>
              <a:rPr sz="2100" b="1" dirty="0">
                <a:solidFill>
                  <a:srgbClr val="7A8793"/>
                </a:solidFill>
              </a:rPr>
              <a:t>→</a:t>
            </a:r>
          </a:p>
        </p:txBody>
      </p:sp>
      <p:sp>
        <p:nvSpPr>
          <p:cNvPr id="7" name="arrow-5">
            <a:extLst>
              <a:ext uri="{FF2B5EF4-FFF2-40B4-BE49-F238E27FC236}">
                <a16:creationId xmlns:a16="http://schemas.microsoft.com/office/drawing/2014/main" id="{8E96A43B-4AC5-45DF-8EFE-AE8E7D1F8621}"/>
              </a:ext>
            </a:extLst>
          </p:cNvPr>
          <p:cNvSpPr>
            <a:spLocks noGrp="1"/>
          </p:cNvSpPr>
          <p:nvPr/>
        </p:nvSpPr>
        <p:spPr>
          <a:xfrm>
            <a:off x="9277350" y="2543175"/>
            <a:ext cx="552450" cy="419100"/>
          </a:xfrm>
          <a:prstGeom prst="rect">
            <a:avLst/>
          </a:prstGeom>
          <a:noFill/>
          <a:ln w="0">
            <a:noFill/>
            <a:prstDash val="solid"/>
          </a:ln>
        </p:spPr>
        <p:txBody>
          <a:bodyPr/>
          <a:lstStyle/>
          <a:p>
            <a:pPr algn="ctr">
              <a:defRPr sz="2100" b="1">
                <a:solidFill>
                  <a:srgbClr val="7A8793"/>
                </a:solidFill>
              </a:defRPr>
            </a:pPr>
            <a:r>
              <a:rPr sz="2100" b="1" dirty="0">
                <a:solidFill>
                  <a:srgbClr val="7A8793"/>
                </a:solidFill>
              </a:rPr>
              <a:t>→</a:t>
            </a:r>
          </a:p>
        </p:txBody>
      </p:sp>
      <p:sp>
        <p:nvSpPr>
          <p:cNvPr id="8" name="step-circle-1">
            <a:extLst>
              <a:ext uri="{FF2B5EF4-FFF2-40B4-BE49-F238E27FC236}">
                <a16:creationId xmlns:a16="http://schemas.microsoft.com/office/drawing/2014/main" id="{76F702A1-2476-46B6-93FF-1E6AE2CCB23E}"/>
              </a:ext>
            </a:extLst>
          </p:cNvPr>
          <p:cNvSpPr>
            <a:spLocks noGrp="1"/>
          </p:cNvSpPr>
          <p:nvPr/>
        </p:nvSpPr>
        <p:spPr>
          <a:xfrm>
            <a:off x="781050" y="2333625"/>
            <a:ext cx="819150" cy="819150"/>
          </a:xfrm>
          <a:prstGeom prst="ellipse">
            <a:avLst/>
          </a:prstGeom>
          <a:solidFill>
            <a:srgbClr val="1F4E79"/>
          </a:solidFill>
          <a:ln w="0">
            <a:solidFill>
              <a:srgbClr val="1F4E79"/>
            </a:solidFill>
            <a:prstDash val="solid"/>
          </a:ln>
        </p:spPr>
        <p:txBody>
          <a:bodyPr/>
          <a:lstStyle/>
          <a:p>
            <a:endParaRPr lang="en-US" dirty="0"/>
          </a:p>
        </p:txBody>
      </p:sp>
      <p:sp>
        <p:nvSpPr>
          <p:cNvPr id="9" name="step-number-1">
            <a:extLst>
              <a:ext uri="{FF2B5EF4-FFF2-40B4-BE49-F238E27FC236}">
                <a16:creationId xmlns:a16="http://schemas.microsoft.com/office/drawing/2014/main" id="{ED290C97-917F-4755-8B46-9323D55B1027}"/>
              </a:ext>
            </a:extLst>
          </p:cNvPr>
          <p:cNvSpPr>
            <a:spLocks noGrp="1"/>
          </p:cNvSpPr>
          <p:nvPr/>
        </p:nvSpPr>
        <p:spPr>
          <a:xfrm>
            <a:off x="781050" y="2495550"/>
            <a:ext cx="819150" cy="419100"/>
          </a:xfrm>
          <a:prstGeom prst="rect">
            <a:avLst/>
          </a:prstGeom>
          <a:noFill/>
          <a:ln w="0">
            <a:noFill/>
            <a:prstDash val="solid"/>
          </a:ln>
        </p:spPr>
        <p:txBody>
          <a:bodyPr/>
          <a:lstStyle/>
          <a:p>
            <a:pPr algn="ctr">
              <a:defRPr sz="2100" b="1">
                <a:solidFill>
                  <a:srgbClr val="FFFFFF"/>
                </a:solidFill>
              </a:defRPr>
            </a:pPr>
            <a:r>
              <a:rPr sz="2100" b="1" dirty="0">
                <a:solidFill>
                  <a:srgbClr val="FFFFFF"/>
                </a:solidFill>
              </a:rPr>
              <a:t>1</a:t>
            </a:r>
          </a:p>
        </p:txBody>
      </p:sp>
      <p:sp>
        <p:nvSpPr>
          <p:cNvPr id="10" name="step-heading-1">
            <a:extLst>
              <a:ext uri="{FF2B5EF4-FFF2-40B4-BE49-F238E27FC236}">
                <a16:creationId xmlns:a16="http://schemas.microsoft.com/office/drawing/2014/main" id="{A47A3B1B-9E1F-4FA3-801D-443A7BBD4DCE}"/>
              </a:ext>
            </a:extLst>
          </p:cNvPr>
          <p:cNvSpPr>
            <a:spLocks noGrp="1"/>
          </p:cNvSpPr>
          <p:nvPr/>
        </p:nvSpPr>
        <p:spPr>
          <a:xfrm>
            <a:off x="485775" y="3333750"/>
            <a:ext cx="1409700" cy="323850"/>
          </a:xfrm>
          <a:prstGeom prst="rect">
            <a:avLst/>
          </a:prstGeom>
          <a:noFill/>
          <a:ln w="0">
            <a:noFill/>
            <a:prstDash val="solid"/>
          </a:ln>
        </p:spPr>
        <p:txBody>
          <a:bodyPr/>
          <a:lstStyle/>
          <a:p>
            <a:pPr algn="ctr">
              <a:defRPr sz="1500" b="1">
                <a:solidFill>
                  <a:srgbClr val="1F4E79"/>
                </a:solidFill>
              </a:defRPr>
            </a:pPr>
            <a:r>
              <a:rPr sz="2400" b="1" dirty="0">
                <a:solidFill>
                  <a:srgbClr val="1F4E79"/>
                </a:solidFill>
              </a:rPr>
              <a:t>ISSUE</a:t>
            </a:r>
          </a:p>
        </p:txBody>
      </p:sp>
      <p:sp>
        <p:nvSpPr>
          <p:cNvPr id="11" name="step-body-1">
            <a:extLst>
              <a:ext uri="{FF2B5EF4-FFF2-40B4-BE49-F238E27FC236}">
                <a16:creationId xmlns:a16="http://schemas.microsoft.com/office/drawing/2014/main" id="{3882BBCF-0FD5-456F-9001-2C8F148D9E2C}"/>
              </a:ext>
            </a:extLst>
          </p:cNvPr>
          <p:cNvSpPr>
            <a:spLocks noGrp="1"/>
          </p:cNvSpPr>
          <p:nvPr/>
        </p:nvSpPr>
        <p:spPr>
          <a:xfrm>
            <a:off x="371475" y="3695700"/>
            <a:ext cx="1638300" cy="381000"/>
          </a:xfrm>
          <a:prstGeom prst="rect">
            <a:avLst/>
          </a:prstGeom>
          <a:noFill/>
          <a:ln w="0">
            <a:noFill/>
            <a:prstDash val="solid"/>
          </a:ln>
        </p:spPr>
        <p:txBody>
          <a:bodyPr/>
          <a:lstStyle/>
          <a:p>
            <a:pPr algn="ctr">
              <a:defRPr sz="1500">
                <a:solidFill>
                  <a:srgbClr val="000000"/>
                </a:solidFill>
              </a:defRPr>
            </a:pPr>
            <a:r>
              <a:rPr sz="2000" dirty="0">
                <a:solidFill>
                  <a:srgbClr val="000000"/>
                </a:solidFill>
              </a:rPr>
              <a:t>Define change</a:t>
            </a:r>
          </a:p>
        </p:txBody>
      </p:sp>
      <p:sp>
        <p:nvSpPr>
          <p:cNvPr id="12" name="step-circle-2">
            <a:extLst>
              <a:ext uri="{FF2B5EF4-FFF2-40B4-BE49-F238E27FC236}">
                <a16:creationId xmlns:a16="http://schemas.microsoft.com/office/drawing/2014/main" id="{5648C023-7F6C-482E-8FB9-A110D13FCC24}"/>
              </a:ext>
            </a:extLst>
          </p:cNvPr>
          <p:cNvSpPr>
            <a:spLocks noGrp="1"/>
          </p:cNvSpPr>
          <p:nvPr/>
        </p:nvSpPr>
        <p:spPr>
          <a:xfrm>
            <a:off x="2647950" y="2333625"/>
            <a:ext cx="819150" cy="819150"/>
          </a:xfrm>
          <a:prstGeom prst="ellipse">
            <a:avLst/>
          </a:prstGeom>
          <a:solidFill>
            <a:srgbClr val="6B5B95"/>
          </a:solidFill>
          <a:ln w="0">
            <a:solidFill>
              <a:srgbClr val="6B5B95"/>
            </a:solidFill>
            <a:prstDash val="solid"/>
          </a:ln>
        </p:spPr>
        <p:txBody>
          <a:bodyPr/>
          <a:lstStyle/>
          <a:p>
            <a:endParaRPr lang="en-US"/>
          </a:p>
        </p:txBody>
      </p:sp>
      <p:sp>
        <p:nvSpPr>
          <p:cNvPr id="13" name="step-number-2">
            <a:extLst>
              <a:ext uri="{FF2B5EF4-FFF2-40B4-BE49-F238E27FC236}">
                <a16:creationId xmlns:a16="http://schemas.microsoft.com/office/drawing/2014/main" id="{240B813B-0F15-4823-9851-808AD790301C}"/>
              </a:ext>
            </a:extLst>
          </p:cNvPr>
          <p:cNvSpPr>
            <a:spLocks noGrp="1"/>
          </p:cNvSpPr>
          <p:nvPr/>
        </p:nvSpPr>
        <p:spPr>
          <a:xfrm>
            <a:off x="2647950" y="2495550"/>
            <a:ext cx="819150" cy="419100"/>
          </a:xfrm>
          <a:prstGeom prst="rect">
            <a:avLst/>
          </a:prstGeom>
          <a:noFill/>
          <a:ln w="0">
            <a:noFill/>
            <a:prstDash val="solid"/>
          </a:ln>
        </p:spPr>
        <p:txBody>
          <a:bodyPr/>
          <a:lstStyle/>
          <a:p>
            <a:pPr algn="ctr">
              <a:defRPr sz="2100" b="1">
                <a:solidFill>
                  <a:srgbClr val="FFFFFF"/>
                </a:solidFill>
              </a:defRPr>
            </a:pPr>
            <a:r>
              <a:rPr sz="2100" b="1">
                <a:solidFill>
                  <a:srgbClr val="FFFFFF"/>
                </a:solidFill>
              </a:rPr>
              <a:t>2</a:t>
            </a:r>
          </a:p>
        </p:txBody>
      </p:sp>
      <p:sp>
        <p:nvSpPr>
          <p:cNvPr id="14" name="step-heading-2">
            <a:extLst>
              <a:ext uri="{FF2B5EF4-FFF2-40B4-BE49-F238E27FC236}">
                <a16:creationId xmlns:a16="http://schemas.microsoft.com/office/drawing/2014/main" id="{86C2B9F6-0418-47F1-BD95-505D8B3AA6CB}"/>
              </a:ext>
            </a:extLst>
          </p:cNvPr>
          <p:cNvSpPr>
            <a:spLocks noGrp="1"/>
          </p:cNvSpPr>
          <p:nvPr/>
        </p:nvSpPr>
        <p:spPr>
          <a:xfrm>
            <a:off x="2352675" y="3333750"/>
            <a:ext cx="1409700" cy="323850"/>
          </a:xfrm>
          <a:prstGeom prst="rect">
            <a:avLst/>
          </a:prstGeom>
          <a:noFill/>
          <a:ln w="0">
            <a:noFill/>
            <a:prstDash val="solid"/>
          </a:ln>
        </p:spPr>
        <p:txBody>
          <a:bodyPr/>
          <a:lstStyle/>
          <a:p>
            <a:pPr algn="ctr">
              <a:defRPr sz="1500" b="1">
                <a:solidFill>
                  <a:srgbClr val="6B5B95"/>
                </a:solidFill>
              </a:defRPr>
            </a:pPr>
            <a:r>
              <a:rPr sz="2400" b="1" dirty="0">
                <a:solidFill>
                  <a:srgbClr val="6B5B95"/>
                </a:solidFill>
              </a:rPr>
              <a:t>DESIGN</a:t>
            </a:r>
          </a:p>
        </p:txBody>
      </p:sp>
      <p:sp>
        <p:nvSpPr>
          <p:cNvPr id="15" name="step-body-2">
            <a:extLst>
              <a:ext uri="{FF2B5EF4-FFF2-40B4-BE49-F238E27FC236}">
                <a16:creationId xmlns:a16="http://schemas.microsoft.com/office/drawing/2014/main" id="{D7D18F12-307E-4A94-BB07-764607E980EE}"/>
              </a:ext>
            </a:extLst>
          </p:cNvPr>
          <p:cNvSpPr>
            <a:spLocks noGrp="1"/>
          </p:cNvSpPr>
          <p:nvPr/>
        </p:nvSpPr>
        <p:spPr>
          <a:xfrm>
            <a:off x="2238375" y="3695700"/>
            <a:ext cx="1638300" cy="381000"/>
          </a:xfrm>
          <a:prstGeom prst="rect">
            <a:avLst/>
          </a:prstGeom>
          <a:noFill/>
          <a:ln w="0">
            <a:noFill/>
            <a:prstDash val="solid"/>
          </a:ln>
        </p:spPr>
        <p:txBody>
          <a:bodyPr/>
          <a:lstStyle/>
          <a:p>
            <a:pPr algn="ctr">
              <a:defRPr sz="1500">
                <a:solidFill>
                  <a:srgbClr val="000000"/>
                </a:solidFill>
              </a:defRPr>
            </a:pPr>
            <a:r>
              <a:rPr sz="2000" dirty="0">
                <a:solidFill>
                  <a:srgbClr val="000000"/>
                </a:solidFill>
              </a:rPr>
              <a:t>Plan impact</a:t>
            </a:r>
          </a:p>
        </p:txBody>
      </p:sp>
      <p:sp>
        <p:nvSpPr>
          <p:cNvPr id="16" name="step-circle-3">
            <a:extLst>
              <a:ext uri="{FF2B5EF4-FFF2-40B4-BE49-F238E27FC236}">
                <a16:creationId xmlns:a16="http://schemas.microsoft.com/office/drawing/2014/main" id="{97F1BBCC-71B5-4991-853C-3C2596A51710}"/>
              </a:ext>
            </a:extLst>
          </p:cNvPr>
          <p:cNvSpPr>
            <a:spLocks noGrp="1"/>
          </p:cNvSpPr>
          <p:nvPr/>
        </p:nvSpPr>
        <p:spPr>
          <a:xfrm>
            <a:off x="4514850" y="2333625"/>
            <a:ext cx="819150" cy="819150"/>
          </a:xfrm>
          <a:prstGeom prst="ellipse">
            <a:avLst/>
          </a:prstGeom>
          <a:solidFill>
            <a:srgbClr val="1F4E79"/>
          </a:solidFill>
          <a:ln w="0">
            <a:solidFill>
              <a:srgbClr val="1F4E79"/>
            </a:solidFill>
            <a:prstDash val="solid"/>
          </a:ln>
        </p:spPr>
        <p:txBody>
          <a:bodyPr/>
          <a:lstStyle/>
          <a:p>
            <a:endParaRPr lang="en-US"/>
          </a:p>
        </p:txBody>
      </p:sp>
      <p:sp>
        <p:nvSpPr>
          <p:cNvPr id="17" name="step-number-3">
            <a:extLst>
              <a:ext uri="{FF2B5EF4-FFF2-40B4-BE49-F238E27FC236}">
                <a16:creationId xmlns:a16="http://schemas.microsoft.com/office/drawing/2014/main" id="{0BAD3C04-662F-446F-8E9A-B91421DBA515}"/>
              </a:ext>
            </a:extLst>
          </p:cNvPr>
          <p:cNvSpPr>
            <a:spLocks noGrp="1"/>
          </p:cNvSpPr>
          <p:nvPr/>
        </p:nvSpPr>
        <p:spPr>
          <a:xfrm>
            <a:off x="4514850" y="2495550"/>
            <a:ext cx="819150" cy="419100"/>
          </a:xfrm>
          <a:prstGeom prst="rect">
            <a:avLst/>
          </a:prstGeom>
          <a:noFill/>
          <a:ln w="0">
            <a:noFill/>
            <a:prstDash val="solid"/>
          </a:ln>
        </p:spPr>
        <p:txBody>
          <a:bodyPr/>
          <a:lstStyle/>
          <a:p>
            <a:pPr algn="ctr">
              <a:defRPr sz="2100" b="1">
                <a:solidFill>
                  <a:srgbClr val="FFFFFF"/>
                </a:solidFill>
              </a:defRPr>
            </a:pPr>
            <a:r>
              <a:rPr sz="2100" b="1" dirty="0">
                <a:solidFill>
                  <a:srgbClr val="FFFFFF"/>
                </a:solidFill>
              </a:rPr>
              <a:t>3</a:t>
            </a:r>
          </a:p>
        </p:txBody>
      </p:sp>
      <p:sp>
        <p:nvSpPr>
          <p:cNvPr id="18" name="step-heading-3">
            <a:extLst>
              <a:ext uri="{FF2B5EF4-FFF2-40B4-BE49-F238E27FC236}">
                <a16:creationId xmlns:a16="http://schemas.microsoft.com/office/drawing/2014/main" id="{3092D529-BC8F-4809-AF83-E3C02CB00F69}"/>
              </a:ext>
            </a:extLst>
          </p:cNvPr>
          <p:cNvSpPr>
            <a:spLocks noGrp="1"/>
          </p:cNvSpPr>
          <p:nvPr/>
        </p:nvSpPr>
        <p:spPr>
          <a:xfrm>
            <a:off x="4219575" y="3333750"/>
            <a:ext cx="1409700" cy="323850"/>
          </a:xfrm>
          <a:prstGeom prst="rect">
            <a:avLst/>
          </a:prstGeom>
          <a:noFill/>
          <a:ln w="0">
            <a:noFill/>
            <a:prstDash val="solid"/>
          </a:ln>
        </p:spPr>
        <p:txBody>
          <a:bodyPr/>
          <a:lstStyle/>
          <a:p>
            <a:pPr algn="ctr">
              <a:defRPr sz="1500" b="1">
                <a:solidFill>
                  <a:srgbClr val="1F4E79"/>
                </a:solidFill>
              </a:defRPr>
            </a:pPr>
            <a:r>
              <a:rPr sz="2400" b="1" dirty="0">
                <a:solidFill>
                  <a:srgbClr val="1F4E79"/>
                </a:solidFill>
              </a:rPr>
              <a:t>BUILD</a:t>
            </a:r>
          </a:p>
        </p:txBody>
      </p:sp>
      <p:sp>
        <p:nvSpPr>
          <p:cNvPr id="19" name="step-body-3">
            <a:extLst>
              <a:ext uri="{FF2B5EF4-FFF2-40B4-BE49-F238E27FC236}">
                <a16:creationId xmlns:a16="http://schemas.microsoft.com/office/drawing/2014/main" id="{9463D4A5-AB1C-45E9-AE23-4927E6A37629}"/>
              </a:ext>
            </a:extLst>
          </p:cNvPr>
          <p:cNvSpPr>
            <a:spLocks noGrp="1"/>
          </p:cNvSpPr>
          <p:nvPr/>
        </p:nvSpPr>
        <p:spPr>
          <a:xfrm>
            <a:off x="4105275" y="3695700"/>
            <a:ext cx="1638300" cy="381000"/>
          </a:xfrm>
          <a:prstGeom prst="rect">
            <a:avLst/>
          </a:prstGeom>
          <a:noFill/>
          <a:ln w="0">
            <a:noFill/>
            <a:prstDash val="solid"/>
          </a:ln>
        </p:spPr>
        <p:txBody>
          <a:bodyPr/>
          <a:lstStyle/>
          <a:p>
            <a:pPr algn="ctr">
              <a:defRPr sz="1500">
                <a:solidFill>
                  <a:srgbClr val="000000"/>
                </a:solidFill>
              </a:defRPr>
            </a:pPr>
            <a:r>
              <a:rPr sz="2000" dirty="0">
                <a:solidFill>
                  <a:srgbClr val="000000"/>
                </a:solidFill>
              </a:rPr>
              <a:t>Branch + code</a:t>
            </a:r>
          </a:p>
        </p:txBody>
      </p:sp>
      <p:sp>
        <p:nvSpPr>
          <p:cNvPr id="20" name="step-circle-4">
            <a:extLst>
              <a:ext uri="{FF2B5EF4-FFF2-40B4-BE49-F238E27FC236}">
                <a16:creationId xmlns:a16="http://schemas.microsoft.com/office/drawing/2014/main" id="{32FA6562-64E4-4BD6-B623-AD6D0345B861}"/>
              </a:ext>
            </a:extLst>
          </p:cNvPr>
          <p:cNvSpPr>
            <a:spLocks noGrp="1"/>
          </p:cNvSpPr>
          <p:nvPr/>
        </p:nvSpPr>
        <p:spPr>
          <a:xfrm>
            <a:off x="6381750" y="2333625"/>
            <a:ext cx="819150" cy="819150"/>
          </a:xfrm>
          <a:prstGeom prst="ellipse">
            <a:avLst/>
          </a:prstGeom>
          <a:solidFill>
            <a:srgbClr val="008C95"/>
          </a:solidFill>
          <a:ln w="0">
            <a:solidFill>
              <a:srgbClr val="008C95"/>
            </a:solidFill>
            <a:prstDash val="solid"/>
          </a:ln>
        </p:spPr>
        <p:txBody>
          <a:bodyPr/>
          <a:lstStyle/>
          <a:p>
            <a:endParaRPr lang="en-US"/>
          </a:p>
        </p:txBody>
      </p:sp>
      <p:sp>
        <p:nvSpPr>
          <p:cNvPr id="21" name="step-number-4">
            <a:extLst>
              <a:ext uri="{FF2B5EF4-FFF2-40B4-BE49-F238E27FC236}">
                <a16:creationId xmlns:a16="http://schemas.microsoft.com/office/drawing/2014/main" id="{F1E3616A-F126-46D3-A4A7-E1F6ED06661E}"/>
              </a:ext>
            </a:extLst>
          </p:cNvPr>
          <p:cNvSpPr>
            <a:spLocks noGrp="1"/>
          </p:cNvSpPr>
          <p:nvPr/>
        </p:nvSpPr>
        <p:spPr>
          <a:xfrm>
            <a:off x="6381750" y="2495550"/>
            <a:ext cx="819150" cy="419100"/>
          </a:xfrm>
          <a:prstGeom prst="rect">
            <a:avLst/>
          </a:prstGeom>
          <a:noFill/>
          <a:ln w="0">
            <a:noFill/>
            <a:prstDash val="solid"/>
          </a:ln>
        </p:spPr>
        <p:txBody>
          <a:bodyPr/>
          <a:lstStyle/>
          <a:p>
            <a:pPr algn="ctr">
              <a:defRPr sz="2100" b="1">
                <a:solidFill>
                  <a:srgbClr val="FFFFFF"/>
                </a:solidFill>
              </a:defRPr>
            </a:pPr>
            <a:r>
              <a:rPr sz="2100" b="1">
                <a:solidFill>
                  <a:srgbClr val="FFFFFF"/>
                </a:solidFill>
              </a:rPr>
              <a:t>4</a:t>
            </a:r>
          </a:p>
        </p:txBody>
      </p:sp>
      <p:sp>
        <p:nvSpPr>
          <p:cNvPr id="22" name="step-heading-4">
            <a:extLst>
              <a:ext uri="{FF2B5EF4-FFF2-40B4-BE49-F238E27FC236}">
                <a16:creationId xmlns:a16="http://schemas.microsoft.com/office/drawing/2014/main" id="{FCD4263B-EBEA-4BAF-A108-7421DADF3386}"/>
              </a:ext>
            </a:extLst>
          </p:cNvPr>
          <p:cNvSpPr>
            <a:spLocks noGrp="1"/>
          </p:cNvSpPr>
          <p:nvPr/>
        </p:nvSpPr>
        <p:spPr>
          <a:xfrm>
            <a:off x="6086475" y="3333750"/>
            <a:ext cx="1409700" cy="323850"/>
          </a:xfrm>
          <a:prstGeom prst="rect">
            <a:avLst/>
          </a:prstGeom>
          <a:noFill/>
          <a:ln w="0">
            <a:noFill/>
            <a:prstDash val="solid"/>
          </a:ln>
        </p:spPr>
        <p:txBody>
          <a:bodyPr/>
          <a:lstStyle/>
          <a:p>
            <a:pPr algn="ctr">
              <a:defRPr sz="1500" b="1">
                <a:solidFill>
                  <a:srgbClr val="008C95"/>
                </a:solidFill>
              </a:defRPr>
            </a:pPr>
            <a:r>
              <a:rPr sz="2400" b="1" dirty="0">
                <a:solidFill>
                  <a:srgbClr val="008C95"/>
                </a:solidFill>
              </a:rPr>
              <a:t>TEST</a:t>
            </a:r>
          </a:p>
        </p:txBody>
      </p:sp>
      <p:sp>
        <p:nvSpPr>
          <p:cNvPr id="23" name="step-body-4">
            <a:extLst>
              <a:ext uri="{FF2B5EF4-FFF2-40B4-BE49-F238E27FC236}">
                <a16:creationId xmlns:a16="http://schemas.microsoft.com/office/drawing/2014/main" id="{57396503-8EAE-41C0-A0B4-165A0464D0E5}"/>
              </a:ext>
            </a:extLst>
          </p:cNvPr>
          <p:cNvSpPr>
            <a:spLocks noGrp="1"/>
          </p:cNvSpPr>
          <p:nvPr/>
        </p:nvSpPr>
        <p:spPr>
          <a:xfrm>
            <a:off x="5972175" y="3695700"/>
            <a:ext cx="1638300" cy="381000"/>
          </a:xfrm>
          <a:prstGeom prst="rect">
            <a:avLst/>
          </a:prstGeom>
          <a:noFill/>
          <a:ln w="0">
            <a:noFill/>
            <a:prstDash val="solid"/>
          </a:ln>
        </p:spPr>
        <p:txBody>
          <a:bodyPr/>
          <a:lstStyle/>
          <a:p>
            <a:pPr algn="ctr">
              <a:defRPr sz="1500">
                <a:solidFill>
                  <a:srgbClr val="000000"/>
                </a:solidFill>
              </a:defRPr>
            </a:pPr>
            <a:r>
              <a:rPr sz="2000" dirty="0">
                <a:solidFill>
                  <a:srgbClr val="000000"/>
                </a:solidFill>
              </a:rPr>
              <a:t>Verify behavior</a:t>
            </a:r>
          </a:p>
        </p:txBody>
      </p:sp>
      <p:sp>
        <p:nvSpPr>
          <p:cNvPr id="24" name="step-circle-5">
            <a:extLst>
              <a:ext uri="{FF2B5EF4-FFF2-40B4-BE49-F238E27FC236}">
                <a16:creationId xmlns:a16="http://schemas.microsoft.com/office/drawing/2014/main" id="{6FC1B075-9613-40B1-85ED-87368FC94F05}"/>
              </a:ext>
            </a:extLst>
          </p:cNvPr>
          <p:cNvSpPr>
            <a:spLocks noGrp="1"/>
          </p:cNvSpPr>
          <p:nvPr/>
        </p:nvSpPr>
        <p:spPr>
          <a:xfrm>
            <a:off x="8248650" y="2333625"/>
            <a:ext cx="819150" cy="819150"/>
          </a:xfrm>
          <a:prstGeom prst="ellipse">
            <a:avLst/>
          </a:prstGeom>
          <a:solidFill>
            <a:srgbClr val="008C95"/>
          </a:solidFill>
          <a:ln w="0">
            <a:solidFill>
              <a:srgbClr val="008C95"/>
            </a:solidFill>
            <a:prstDash val="solid"/>
          </a:ln>
        </p:spPr>
        <p:txBody>
          <a:bodyPr/>
          <a:lstStyle/>
          <a:p>
            <a:endParaRPr lang="en-US"/>
          </a:p>
        </p:txBody>
      </p:sp>
      <p:sp>
        <p:nvSpPr>
          <p:cNvPr id="25" name="step-number-5">
            <a:extLst>
              <a:ext uri="{FF2B5EF4-FFF2-40B4-BE49-F238E27FC236}">
                <a16:creationId xmlns:a16="http://schemas.microsoft.com/office/drawing/2014/main" id="{6ECF6173-5CCA-4500-A393-969A8E4DB897}"/>
              </a:ext>
            </a:extLst>
          </p:cNvPr>
          <p:cNvSpPr>
            <a:spLocks noGrp="1"/>
          </p:cNvSpPr>
          <p:nvPr/>
        </p:nvSpPr>
        <p:spPr>
          <a:xfrm>
            <a:off x="8248650" y="2495550"/>
            <a:ext cx="819150" cy="419100"/>
          </a:xfrm>
          <a:prstGeom prst="rect">
            <a:avLst/>
          </a:prstGeom>
          <a:noFill/>
          <a:ln w="0">
            <a:noFill/>
            <a:prstDash val="solid"/>
          </a:ln>
        </p:spPr>
        <p:txBody>
          <a:bodyPr/>
          <a:lstStyle/>
          <a:p>
            <a:pPr algn="ctr">
              <a:defRPr sz="2100" b="1">
                <a:solidFill>
                  <a:srgbClr val="FFFFFF"/>
                </a:solidFill>
              </a:defRPr>
            </a:pPr>
            <a:r>
              <a:rPr sz="2100" b="1">
                <a:solidFill>
                  <a:srgbClr val="FFFFFF"/>
                </a:solidFill>
              </a:rPr>
              <a:t>5</a:t>
            </a:r>
          </a:p>
        </p:txBody>
      </p:sp>
      <p:sp>
        <p:nvSpPr>
          <p:cNvPr id="26" name="step-heading-5">
            <a:extLst>
              <a:ext uri="{FF2B5EF4-FFF2-40B4-BE49-F238E27FC236}">
                <a16:creationId xmlns:a16="http://schemas.microsoft.com/office/drawing/2014/main" id="{4444C5A9-FB34-41CF-820D-8E807DEA0F7C}"/>
              </a:ext>
            </a:extLst>
          </p:cNvPr>
          <p:cNvSpPr>
            <a:spLocks noGrp="1"/>
          </p:cNvSpPr>
          <p:nvPr/>
        </p:nvSpPr>
        <p:spPr>
          <a:xfrm>
            <a:off x="7953375" y="3333750"/>
            <a:ext cx="1409700" cy="323850"/>
          </a:xfrm>
          <a:prstGeom prst="rect">
            <a:avLst/>
          </a:prstGeom>
          <a:noFill/>
          <a:ln w="0">
            <a:noFill/>
            <a:prstDash val="solid"/>
          </a:ln>
        </p:spPr>
        <p:txBody>
          <a:bodyPr/>
          <a:lstStyle/>
          <a:p>
            <a:pPr algn="ctr">
              <a:defRPr sz="1500" b="1">
                <a:solidFill>
                  <a:srgbClr val="008C95"/>
                </a:solidFill>
              </a:defRPr>
            </a:pPr>
            <a:r>
              <a:rPr sz="2400" b="1" dirty="0">
                <a:solidFill>
                  <a:srgbClr val="008C95"/>
                </a:solidFill>
              </a:rPr>
              <a:t>REVIEW</a:t>
            </a:r>
          </a:p>
        </p:txBody>
      </p:sp>
      <p:sp>
        <p:nvSpPr>
          <p:cNvPr id="27" name="step-body-5">
            <a:extLst>
              <a:ext uri="{FF2B5EF4-FFF2-40B4-BE49-F238E27FC236}">
                <a16:creationId xmlns:a16="http://schemas.microsoft.com/office/drawing/2014/main" id="{831B746C-01F3-484F-87F2-FF220B5C228B}"/>
              </a:ext>
            </a:extLst>
          </p:cNvPr>
          <p:cNvSpPr>
            <a:spLocks noGrp="1"/>
          </p:cNvSpPr>
          <p:nvPr/>
        </p:nvSpPr>
        <p:spPr>
          <a:xfrm>
            <a:off x="7839075" y="3695700"/>
            <a:ext cx="1638300" cy="381000"/>
          </a:xfrm>
          <a:prstGeom prst="rect">
            <a:avLst/>
          </a:prstGeom>
          <a:noFill/>
          <a:ln w="0">
            <a:noFill/>
            <a:prstDash val="solid"/>
          </a:ln>
        </p:spPr>
        <p:txBody>
          <a:bodyPr/>
          <a:lstStyle/>
          <a:p>
            <a:pPr algn="ctr">
              <a:defRPr sz="1500">
                <a:solidFill>
                  <a:srgbClr val="000000"/>
                </a:solidFill>
              </a:defRPr>
            </a:pPr>
            <a:r>
              <a:rPr sz="2000" dirty="0">
                <a:solidFill>
                  <a:srgbClr val="000000"/>
                </a:solidFill>
              </a:rPr>
              <a:t>PR + CI</a:t>
            </a:r>
          </a:p>
        </p:txBody>
      </p:sp>
      <p:sp>
        <p:nvSpPr>
          <p:cNvPr id="28" name="step-circle-6">
            <a:extLst>
              <a:ext uri="{FF2B5EF4-FFF2-40B4-BE49-F238E27FC236}">
                <a16:creationId xmlns:a16="http://schemas.microsoft.com/office/drawing/2014/main" id="{198E0F4E-552C-44DD-81CF-64971DBA4BE5}"/>
              </a:ext>
            </a:extLst>
          </p:cNvPr>
          <p:cNvSpPr>
            <a:spLocks noGrp="1"/>
          </p:cNvSpPr>
          <p:nvPr/>
        </p:nvSpPr>
        <p:spPr>
          <a:xfrm>
            <a:off x="10115550" y="2333625"/>
            <a:ext cx="819150" cy="819150"/>
          </a:xfrm>
          <a:prstGeom prst="ellipse">
            <a:avLst/>
          </a:prstGeom>
          <a:solidFill>
            <a:srgbClr val="C55A11"/>
          </a:solidFill>
          <a:ln w="0">
            <a:solidFill>
              <a:srgbClr val="C55A11"/>
            </a:solidFill>
            <a:prstDash val="solid"/>
          </a:ln>
        </p:spPr>
        <p:txBody>
          <a:bodyPr/>
          <a:lstStyle/>
          <a:p>
            <a:endParaRPr lang="en-US"/>
          </a:p>
        </p:txBody>
      </p:sp>
      <p:sp>
        <p:nvSpPr>
          <p:cNvPr id="29" name="step-number-6">
            <a:extLst>
              <a:ext uri="{FF2B5EF4-FFF2-40B4-BE49-F238E27FC236}">
                <a16:creationId xmlns:a16="http://schemas.microsoft.com/office/drawing/2014/main" id="{27F9043E-3BB7-40BF-86AB-A65FCD001C4D}"/>
              </a:ext>
            </a:extLst>
          </p:cNvPr>
          <p:cNvSpPr>
            <a:spLocks noGrp="1"/>
          </p:cNvSpPr>
          <p:nvPr/>
        </p:nvSpPr>
        <p:spPr>
          <a:xfrm>
            <a:off x="10115550" y="2495550"/>
            <a:ext cx="819150" cy="419100"/>
          </a:xfrm>
          <a:prstGeom prst="rect">
            <a:avLst/>
          </a:prstGeom>
          <a:noFill/>
          <a:ln w="0">
            <a:noFill/>
            <a:prstDash val="solid"/>
          </a:ln>
        </p:spPr>
        <p:txBody>
          <a:bodyPr/>
          <a:lstStyle/>
          <a:p>
            <a:pPr algn="ctr">
              <a:defRPr sz="2100" b="1">
                <a:solidFill>
                  <a:srgbClr val="FFFFFF"/>
                </a:solidFill>
              </a:defRPr>
            </a:pPr>
            <a:r>
              <a:rPr sz="2100" b="1">
                <a:solidFill>
                  <a:srgbClr val="FFFFFF"/>
                </a:solidFill>
              </a:rPr>
              <a:t>6</a:t>
            </a:r>
          </a:p>
        </p:txBody>
      </p:sp>
      <p:sp>
        <p:nvSpPr>
          <p:cNvPr id="30" name="step-heading-6">
            <a:extLst>
              <a:ext uri="{FF2B5EF4-FFF2-40B4-BE49-F238E27FC236}">
                <a16:creationId xmlns:a16="http://schemas.microsoft.com/office/drawing/2014/main" id="{5914B3B8-B819-45C1-B70E-FFA83E4132A7}"/>
              </a:ext>
            </a:extLst>
          </p:cNvPr>
          <p:cNvSpPr>
            <a:spLocks noGrp="1"/>
          </p:cNvSpPr>
          <p:nvPr/>
        </p:nvSpPr>
        <p:spPr>
          <a:xfrm>
            <a:off x="9820275" y="3333750"/>
            <a:ext cx="1409700" cy="323850"/>
          </a:xfrm>
          <a:prstGeom prst="rect">
            <a:avLst/>
          </a:prstGeom>
          <a:noFill/>
          <a:ln w="0">
            <a:noFill/>
            <a:prstDash val="solid"/>
          </a:ln>
        </p:spPr>
        <p:txBody>
          <a:bodyPr/>
          <a:lstStyle/>
          <a:p>
            <a:pPr algn="ctr">
              <a:defRPr sz="1500" b="1">
                <a:solidFill>
                  <a:srgbClr val="C55A11"/>
                </a:solidFill>
              </a:defRPr>
            </a:pPr>
            <a:r>
              <a:rPr sz="2400" b="1" dirty="0">
                <a:solidFill>
                  <a:srgbClr val="C55A11"/>
                </a:solidFill>
              </a:rPr>
              <a:t>MERGE</a:t>
            </a:r>
          </a:p>
        </p:txBody>
      </p:sp>
      <p:sp>
        <p:nvSpPr>
          <p:cNvPr id="31" name="step-body-6">
            <a:extLst>
              <a:ext uri="{FF2B5EF4-FFF2-40B4-BE49-F238E27FC236}">
                <a16:creationId xmlns:a16="http://schemas.microsoft.com/office/drawing/2014/main" id="{1E831233-3697-486C-A3E7-0CABF15D3706}"/>
              </a:ext>
            </a:extLst>
          </p:cNvPr>
          <p:cNvSpPr>
            <a:spLocks noGrp="1"/>
          </p:cNvSpPr>
          <p:nvPr/>
        </p:nvSpPr>
        <p:spPr>
          <a:xfrm>
            <a:off x="9705975" y="3695700"/>
            <a:ext cx="1638300" cy="381000"/>
          </a:xfrm>
          <a:prstGeom prst="rect">
            <a:avLst/>
          </a:prstGeom>
          <a:noFill/>
          <a:ln w="0">
            <a:noFill/>
            <a:prstDash val="solid"/>
          </a:ln>
        </p:spPr>
        <p:txBody>
          <a:bodyPr/>
          <a:lstStyle/>
          <a:p>
            <a:pPr algn="ctr">
              <a:defRPr sz="1500">
                <a:solidFill>
                  <a:srgbClr val="000000"/>
                </a:solidFill>
              </a:defRPr>
            </a:pPr>
            <a:r>
              <a:rPr sz="2000" dirty="0">
                <a:solidFill>
                  <a:srgbClr val="000000"/>
                </a:solidFill>
              </a:rPr>
              <a:t>Integrate</a:t>
            </a:r>
          </a:p>
        </p:txBody>
      </p:sp>
      <p:sp>
        <p:nvSpPr>
          <p:cNvPr id="32" name="shared-practice-band">
            <a:extLst>
              <a:ext uri="{FF2B5EF4-FFF2-40B4-BE49-F238E27FC236}">
                <a16:creationId xmlns:a16="http://schemas.microsoft.com/office/drawing/2014/main" id="{8478E334-3324-4B97-90B1-C87DD565FC81}"/>
              </a:ext>
            </a:extLst>
          </p:cNvPr>
          <p:cNvSpPr>
            <a:spLocks noGrp="1"/>
          </p:cNvSpPr>
          <p:nvPr/>
        </p:nvSpPr>
        <p:spPr>
          <a:xfrm>
            <a:off x="685800" y="4905375"/>
            <a:ext cx="10820400" cy="1000125"/>
          </a:xfrm>
          <a:prstGeom prst="roundRect">
            <a:avLst>
              <a:gd name="adj" fmla="val 7619"/>
            </a:avLst>
          </a:prstGeom>
          <a:solidFill>
            <a:srgbClr val="EAF2F8"/>
          </a:solidFill>
          <a:ln w="9525">
            <a:solidFill>
              <a:srgbClr val="C9DDEA"/>
            </a:solidFill>
            <a:prstDash val="solid"/>
          </a:ln>
        </p:spPr>
        <p:txBody>
          <a:bodyPr/>
          <a:lstStyle/>
          <a:p>
            <a:endParaRPr lang="en-US"/>
          </a:p>
        </p:txBody>
      </p:sp>
      <p:sp>
        <p:nvSpPr>
          <p:cNvPr id="33" name="band-heading">
            <a:extLst>
              <a:ext uri="{FF2B5EF4-FFF2-40B4-BE49-F238E27FC236}">
                <a16:creationId xmlns:a16="http://schemas.microsoft.com/office/drawing/2014/main" id="{7AA2E345-FEDA-40B6-90B9-4F69FD34F687}"/>
              </a:ext>
            </a:extLst>
          </p:cNvPr>
          <p:cNvSpPr>
            <a:spLocks noGrp="1"/>
          </p:cNvSpPr>
          <p:nvPr/>
        </p:nvSpPr>
        <p:spPr>
          <a:xfrm>
            <a:off x="1123950" y="5095875"/>
            <a:ext cx="9944100" cy="323850"/>
          </a:xfrm>
          <a:prstGeom prst="rect">
            <a:avLst/>
          </a:prstGeom>
          <a:noFill/>
          <a:ln w="0">
            <a:noFill/>
            <a:prstDash val="solid"/>
          </a:ln>
        </p:spPr>
        <p:txBody>
          <a:bodyPr/>
          <a:lstStyle/>
          <a:p>
            <a:pPr algn="ctr">
              <a:defRPr sz="1800" b="1">
                <a:solidFill>
                  <a:srgbClr val="1F4E79"/>
                </a:solidFill>
              </a:defRPr>
            </a:pPr>
            <a:r>
              <a:rPr sz="2400" b="1" dirty="0">
                <a:solidFill>
                  <a:srgbClr val="1F4E79"/>
                </a:solidFill>
              </a:rPr>
              <a:t>MERGE  ↻  NEXT ISSUE</a:t>
            </a:r>
          </a:p>
        </p:txBody>
      </p:sp>
      <p:sp>
        <p:nvSpPr>
          <p:cNvPr id="34" name="band-body">
            <a:extLst>
              <a:ext uri="{FF2B5EF4-FFF2-40B4-BE49-F238E27FC236}">
                <a16:creationId xmlns:a16="http://schemas.microsoft.com/office/drawing/2014/main" id="{012A0483-CC01-4864-AEDF-3B05D17BC7AE}"/>
              </a:ext>
            </a:extLst>
          </p:cNvPr>
          <p:cNvSpPr>
            <a:spLocks noGrp="1"/>
          </p:cNvSpPr>
          <p:nvPr/>
        </p:nvSpPr>
        <p:spPr>
          <a:xfrm>
            <a:off x="1123950" y="5476875"/>
            <a:ext cx="9944100" cy="323850"/>
          </a:xfrm>
          <a:prstGeom prst="rect">
            <a:avLst/>
          </a:prstGeom>
          <a:noFill/>
          <a:ln w="0">
            <a:noFill/>
            <a:prstDash val="solid"/>
          </a:ln>
        </p:spPr>
        <p:txBody>
          <a:bodyPr/>
          <a:lstStyle/>
          <a:p>
            <a:pPr algn="ctr">
              <a:defRPr sz="1500">
                <a:solidFill>
                  <a:srgbClr val="000000"/>
                </a:solidFill>
              </a:defRPr>
            </a:pPr>
            <a:r>
              <a:rPr sz="2000" dirty="0">
                <a:solidFill>
                  <a:srgbClr val="000000"/>
                </a:solidFill>
              </a:rPr>
              <a:t>Repeat the loop for each meaningful project change.</a:t>
            </a:r>
          </a:p>
        </p:txBody>
      </p:sp>
    </p:spTree>
    <p:extLst>
      <p:ext uri="{BB962C8B-B14F-4D97-AF65-F5344CB8AC3E}">
        <p14:creationId xmlns:p14="http://schemas.microsoft.com/office/powerpoint/2010/main" val="13158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animBg="1"/>
      <p:bldP spid="10" grpId="0"/>
      <p:bldP spid="11" grpId="0"/>
      <p:bldP spid="12" grpId="0" animBg="1"/>
      <p:bldP spid="14" grpId="0"/>
      <p:bldP spid="15" grpId="0"/>
      <p:bldP spid="16" grpId="0" animBg="1"/>
      <p:bldP spid="18" grpId="0"/>
      <p:bldP spid="19" grpId="0"/>
      <p:bldP spid="20" grpId="0" animBg="1"/>
      <p:bldP spid="22" grpId="0"/>
      <p:bldP spid="23" grpId="0"/>
      <p:bldP spid="24" grpId="0" animBg="1"/>
      <p:bldP spid="26" grpId="0"/>
      <p:bldP spid="27" grpId="0"/>
      <p:bldP spid="28" grpId="0" animBg="1"/>
      <p:bldP spid="30" grpId="0"/>
      <p:bldP spid="31" grpId="0"/>
      <p:bldP spid="32" grpId="0" animBg="1"/>
      <p:bldP spid="33"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B301118C-B32A-4023-B167-91A64245A0A2}"/>
              </a:ext>
            </a:extLst>
          </p:cNvPr>
          <p:cNvSpPr>
            <a:spLocks noGrp="1"/>
          </p:cNvSpPr>
          <p:nvPr/>
        </p:nvSpPr>
        <p:spPr>
          <a:xfrm>
            <a:off x="685800" y="361950"/>
            <a:ext cx="10820400" cy="590550"/>
          </a:xfrm>
          <a:prstGeom prst="rect">
            <a:avLst/>
          </a:prstGeom>
          <a:noFill/>
          <a:ln w="0">
            <a:noFill/>
            <a:prstDash val="solid"/>
          </a:ln>
        </p:spPr>
        <p:txBody>
          <a:bodyPr/>
          <a:lstStyle/>
          <a:p>
            <a:pPr algn="l">
              <a:defRPr sz="2400" b="1">
                <a:solidFill>
                  <a:srgbClr val="1F4E79"/>
                </a:solidFill>
              </a:defRPr>
            </a:pPr>
            <a:r>
              <a:rPr sz="3200" b="1" dirty="0">
                <a:solidFill>
                  <a:srgbClr val="1F4E79"/>
                </a:solidFill>
              </a:rPr>
              <a:t>Teams, Iterative Development, and Design Portfolios</a:t>
            </a:r>
          </a:p>
        </p:txBody>
      </p:sp>
      <p:sp>
        <p:nvSpPr>
          <p:cNvPr id="3" name="timeline">
            <a:extLst>
              <a:ext uri="{FF2B5EF4-FFF2-40B4-BE49-F238E27FC236}">
                <a16:creationId xmlns:a16="http://schemas.microsoft.com/office/drawing/2014/main" id="{90636572-FB86-4B38-83FB-AC8C1EC02115}"/>
              </a:ext>
            </a:extLst>
          </p:cNvPr>
          <p:cNvSpPr>
            <a:spLocks noGrp="1"/>
          </p:cNvSpPr>
          <p:nvPr/>
        </p:nvSpPr>
        <p:spPr>
          <a:xfrm>
            <a:off x="2143125" y="2609850"/>
            <a:ext cx="7905750" cy="47625"/>
          </a:xfrm>
          <a:prstGeom prst="rect">
            <a:avLst/>
          </a:prstGeom>
          <a:solidFill>
            <a:srgbClr val="D9E1E8"/>
          </a:solidFill>
          <a:ln w="0">
            <a:noFill/>
            <a:prstDash val="solid"/>
          </a:ln>
        </p:spPr>
        <p:txBody>
          <a:bodyPr/>
          <a:lstStyle/>
          <a:p>
            <a:endParaRPr lang="en-US"/>
          </a:p>
        </p:txBody>
      </p:sp>
      <p:sp>
        <p:nvSpPr>
          <p:cNvPr id="4" name="arrow-1">
            <a:extLst>
              <a:ext uri="{FF2B5EF4-FFF2-40B4-BE49-F238E27FC236}">
                <a16:creationId xmlns:a16="http://schemas.microsoft.com/office/drawing/2014/main" id="{03EDBC59-62D0-49B2-BC46-4D7B2C0ED978}"/>
              </a:ext>
            </a:extLst>
          </p:cNvPr>
          <p:cNvSpPr>
            <a:spLocks noGrp="1"/>
          </p:cNvSpPr>
          <p:nvPr/>
        </p:nvSpPr>
        <p:spPr>
          <a:xfrm>
            <a:off x="3810000" y="2400300"/>
            <a:ext cx="666750" cy="428625"/>
          </a:xfrm>
          <a:prstGeom prst="rect">
            <a:avLst/>
          </a:prstGeom>
          <a:noFill/>
          <a:ln w="0">
            <a:noFill/>
            <a:prstDash val="solid"/>
          </a:ln>
        </p:spPr>
        <p:txBody>
          <a:bodyPr/>
          <a:lstStyle/>
          <a:p>
            <a:pPr algn="ctr">
              <a:defRPr sz="2100" b="1">
                <a:solidFill>
                  <a:srgbClr val="7A8793"/>
                </a:solidFill>
              </a:defRPr>
            </a:pPr>
            <a:r>
              <a:rPr sz="2100" b="1">
                <a:solidFill>
                  <a:srgbClr val="7A8793"/>
                </a:solidFill>
              </a:rPr>
              <a:t>→</a:t>
            </a:r>
          </a:p>
        </p:txBody>
      </p:sp>
      <p:sp>
        <p:nvSpPr>
          <p:cNvPr id="5" name="arrow-2">
            <a:extLst>
              <a:ext uri="{FF2B5EF4-FFF2-40B4-BE49-F238E27FC236}">
                <a16:creationId xmlns:a16="http://schemas.microsoft.com/office/drawing/2014/main" id="{5BDDEC2A-98DD-4EDD-B97F-1B4A6A0A9841}"/>
              </a:ext>
            </a:extLst>
          </p:cNvPr>
          <p:cNvSpPr>
            <a:spLocks noGrp="1"/>
          </p:cNvSpPr>
          <p:nvPr/>
        </p:nvSpPr>
        <p:spPr>
          <a:xfrm>
            <a:off x="7762875" y="2400300"/>
            <a:ext cx="666750" cy="428625"/>
          </a:xfrm>
          <a:prstGeom prst="rect">
            <a:avLst/>
          </a:prstGeom>
          <a:noFill/>
          <a:ln w="0">
            <a:noFill/>
            <a:prstDash val="solid"/>
          </a:ln>
        </p:spPr>
        <p:txBody>
          <a:bodyPr/>
          <a:lstStyle/>
          <a:p>
            <a:pPr algn="ctr">
              <a:defRPr sz="2100" b="1">
                <a:solidFill>
                  <a:srgbClr val="7A8793"/>
                </a:solidFill>
              </a:defRPr>
            </a:pPr>
            <a:r>
              <a:rPr sz="2100" b="1">
                <a:solidFill>
                  <a:srgbClr val="7A8793"/>
                </a:solidFill>
              </a:rPr>
              <a:t>→</a:t>
            </a:r>
          </a:p>
        </p:txBody>
      </p:sp>
      <p:sp>
        <p:nvSpPr>
          <p:cNvPr id="6" name="portfolio-I">
            <a:extLst>
              <a:ext uri="{FF2B5EF4-FFF2-40B4-BE49-F238E27FC236}">
                <a16:creationId xmlns:a16="http://schemas.microsoft.com/office/drawing/2014/main" id="{F50A4BF3-7BC8-49CE-AC23-71DD29368D96}"/>
              </a:ext>
            </a:extLst>
          </p:cNvPr>
          <p:cNvSpPr>
            <a:spLocks noGrp="1"/>
          </p:cNvSpPr>
          <p:nvPr/>
        </p:nvSpPr>
        <p:spPr>
          <a:xfrm>
            <a:off x="1685925" y="2190750"/>
            <a:ext cx="914400" cy="914400"/>
          </a:xfrm>
          <a:prstGeom prst="ellipse">
            <a:avLst/>
          </a:prstGeom>
          <a:solidFill>
            <a:srgbClr val="1F4E79"/>
          </a:solidFill>
          <a:ln w="0">
            <a:solidFill>
              <a:srgbClr val="1F4E79"/>
            </a:solidFill>
            <a:prstDash val="solid"/>
          </a:ln>
        </p:spPr>
        <p:txBody>
          <a:bodyPr/>
          <a:lstStyle/>
          <a:p>
            <a:endParaRPr lang="en-US"/>
          </a:p>
        </p:txBody>
      </p:sp>
      <p:sp>
        <p:nvSpPr>
          <p:cNvPr id="7" name="portfolio-label-I">
            <a:extLst>
              <a:ext uri="{FF2B5EF4-FFF2-40B4-BE49-F238E27FC236}">
                <a16:creationId xmlns:a16="http://schemas.microsoft.com/office/drawing/2014/main" id="{109F9D8F-2C45-4CF1-8007-EE92E4AE9FE2}"/>
              </a:ext>
            </a:extLst>
          </p:cNvPr>
          <p:cNvSpPr>
            <a:spLocks noGrp="1"/>
          </p:cNvSpPr>
          <p:nvPr/>
        </p:nvSpPr>
        <p:spPr>
          <a:xfrm>
            <a:off x="1685925" y="2428875"/>
            <a:ext cx="914400" cy="400050"/>
          </a:xfrm>
          <a:prstGeom prst="rect">
            <a:avLst/>
          </a:prstGeom>
          <a:noFill/>
          <a:ln w="0">
            <a:noFill/>
            <a:prstDash val="solid"/>
          </a:ln>
        </p:spPr>
        <p:txBody>
          <a:bodyPr/>
          <a:lstStyle/>
          <a:p>
            <a:pPr algn="ctr">
              <a:defRPr sz="1800" b="1">
                <a:solidFill>
                  <a:srgbClr val="FFFFFF"/>
                </a:solidFill>
              </a:defRPr>
            </a:pPr>
            <a:r>
              <a:rPr sz="1800" b="1" dirty="0">
                <a:solidFill>
                  <a:srgbClr val="FFFFFF"/>
                </a:solidFill>
              </a:rPr>
              <a:t>DP I</a:t>
            </a:r>
          </a:p>
        </p:txBody>
      </p:sp>
      <p:sp>
        <p:nvSpPr>
          <p:cNvPr id="8" name="portfolio-heading-I">
            <a:extLst>
              <a:ext uri="{FF2B5EF4-FFF2-40B4-BE49-F238E27FC236}">
                <a16:creationId xmlns:a16="http://schemas.microsoft.com/office/drawing/2014/main" id="{03B80DDB-932F-4A7C-9F1D-78437713DEA0}"/>
              </a:ext>
            </a:extLst>
          </p:cNvPr>
          <p:cNvSpPr>
            <a:spLocks noGrp="1"/>
          </p:cNvSpPr>
          <p:nvPr/>
        </p:nvSpPr>
        <p:spPr>
          <a:xfrm>
            <a:off x="428625" y="3333750"/>
            <a:ext cx="3429000" cy="342900"/>
          </a:xfrm>
          <a:prstGeom prst="rect">
            <a:avLst/>
          </a:prstGeom>
          <a:noFill/>
          <a:ln w="0">
            <a:noFill/>
            <a:prstDash val="solid"/>
          </a:ln>
        </p:spPr>
        <p:txBody>
          <a:bodyPr/>
          <a:lstStyle/>
          <a:p>
            <a:pPr algn="ctr">
              <a:defRPr sz="1800" b="1">
                <a:solidFill>
                  <a:srgbClr val="1F4E79"/>
                </a:solidFill>
              </a:defRPr>
            </a:pPr>
            <a:r>
              <a:rPr sz="1800" b="1">
                <a:solidFill>
                  <a:srgbClr val="1F4E79"/>
                </a:solidFill>
              </a:rPr>
              <a:t>PLAN THE MVP</a:t>
            </a:r>
          </a:p>
        </p:txBody>
      </p:sp>
      <p:sp>
        <p:nvSpPr>
          <p:cNvPr id="9" name="portfolio-body-I">
            <a:extLst>
              <a:ext uri="{FF2B5EF4-FFF2-40B4-BE49-F238E27FC236}">
                <a16:creationId xmlns:a16="http://schemas.microsoft.com/office/drawing/2014/main" id="{77F03B4F-C6C0-4672-A9BC-25048E5025C1}"/>
              </a:ext>
            </a:extLst>
          </p:cNvPr>
          <p:cNvSpPr>
            <a:spLocks noGrp="1"/>
          </p:cNvSpPr>
          <p:nvPr/>
        </p:nvSpPr>
        <p:spPr>
          <a:xfrm>
            <a:off x="381000" y="3771900"/>
            <a:ext cx="3524250" cy="723900"/>
          </a:xfrm>
          <a:prstGeom prst="rect">
            <a:avLst/>
          </a:prstGeom>
          <a:noFill/>
          <a:ln w="0">
            <a:noFill/>
            <a:prstDash val="solid"/>
          </a:ln>
        </p:spPr>
        <p:txBody>
          <a:bodyPr/>
          <a:lstStyle/>
          <a:p>
            <a:pPr algn="ctr">
              <a:defRPr sz="1500">
                <a:solidFill>
                  <a:srgbClr val="000000"/>
                </a:solidFill>
              </a:defRPr>
            </a:pPr>
            <a:r>
              <a:rPr sz="2000" dirty="0">
                <a:solidFill>
                  <a:srgbClr val="000000"/>
                </a:solidFill>
              </a:rPr>
              <a:t>Scope • requirements • architecture</a:t>
            </a:r>
          </a:p>
        </p:txBody>
      </p:sp>
      <p:sp>
        <p:nvSpPr>
          <p:cNvPr id="10" name="portfolio-II">
            <a:extLst>
              <a:ext uri="{FF2B5EF4-FFF2-40B4-BE49-F238E27FC236}">
                <a16:creationId xmlns:a16="http://schemas.microsoft.com/office/drawing/2014/main" id="{97BBA381-B6E4-491A-9EF5-80BD5D13D2A9}"/>
              </a:ext>
            </a:extLst>
          </p:cNvPr>
          <p:cNvSpPr>
            <a:spLocks noGrp="1"/>
          </p:cNvSpPr>
          <p:nvPr/>
        </p:nvSpPr>
        <p:spPr>
          <a:xfrm>
            <a:off x="5638800" y="2190750"/>
            <a:ext cx="914400" cy="914400"/>
          </a:xfrm>
          <a:prstGeom prst="ellipse">
            <a:avLst/>
          </a:prstGeom>
          <a:solidFill>
            <a:srgbClr val="008C95"/>
          </a:solidFill>
          <a:ln w="0">
            <a:solidFill>
              <a:srgbClr val="008C95"/>
            </a:solidFill>
            <a:prstDash val="solid"/>
          </a:ln>
        </p:spPr>
        <p:txBody>
          <a:bodyPr/>
          <a:lstStyle/>
          <a:p>
            <a:endParaRPr lang="en-US"/>
          </a:p>
        </p:txBody>
      </p:sp>
      <p:sp>
        <p:nvSpPr>
          <p:cNvPr id="11" name="portfolio-label-II">
            <a:extLst>
              <a:ext uri="{FF2B5EF4-FFF2-40B4-BE49-F238E27FC236}">
                <a16:creationId xmlns:a16="http://schemas.microsoft.com/office/drawing/2014/main" id="{D9EBAF27-6BD1-4E86-B1E1-CDBFFDF3EB2A}"/>
              </a:ext>
            </a:extLst>
          </p:cNvPr>
          <p:cNvSpPr>
            <a:spLocks noGrp="1"/>
          </p:cNvSpPr>
          <p:nvPr/>
        </p:nvSpPr>
        <p:spPr>
          <a:xfrm>
            <a:off x="5638800" y="2428875"/>
            <a:ext cx="914400" cy="400050"/>
          </a:xfrm>
          <a:prstGeom prst="rect">
            <a:avLst/>
          </a:prstGeom>
          <a:noFill/>
          <a:ln w="0">
            <a:noFill/>
            <a:prstDash val="solid"/>
          </a:ln>
        </p:spPr>
        <p:txBody>
          <a:bodyPr/>
          <a:lstStyle/>
          <a:p>
            <a:pPr algn="ctr">
              <a:defRPr sz="1800" b="1">
                <a:solidFill>
                  <a:srgbClr val="FFFFFF"/>
                </a:solidFill>
              </a:defRPr>
            </a:pPr>
            <a:r>
              <a:rPr sz="1800" b="1">
                <a:solidFill>
                  <a:srgbClr val="FFFFFF"/>
                </a:solidFill>
              </a:rPr>
              <a:t>DP II</a:t>
            </a:r>
          </a:p>
        </p:txBody>
      </p:sp>
      <p:sp>
        <p:nvSpPr>
          <p:cNvPr id="12" name="portfolio-heading-II">
            <a:extLst>
              <a:ext uri="{FF2B5EF4-FFF2-40B4-BE49-F238E27FC236}">
                <a16:creationId xmlns:a16="http://schemas.microsoft.com/office/drawing/2014/main" id="{367C2D9E-1D04-4158-82BB-28CD1074E5A0}"/>
              </a:ext>
            </a:extLst>
          </p:cNvPr>
          <p:cNvSpPr>
            <a:spLocks noGrp="1"/>
          </p:cNvSpPr>
          <p:nvPr/>
        </p:nvSpPr>
        <p:spPr>
          <a:xfrm>
            <a:off x="4381500" y="3333750"/>
            <a:ext cx="3429000" cy="342900"/>
          </a:xfrm>
          <a:prstGeom prst="rect">
            <a:avLst/>
          </a:prstGeom>
          <a:noFill/>
          <a:ln w="0">
            <a:noFill/>
            <a:prstDash val="solid"/>
          </a:ln>
        </p:spPr>
        <p:txBody>
          <a:bodyPr/>
          <a:lstStyle/>
          <a:p>
            <a:pPr algn="ctr">
              <a:defRPr sz="1800" b="1">
                <a:solidFill>
                  <a:srgbClr val="008C95"/>
                </a:solidFill>
              </a:defRPr>
            </a:pPr>
            <a:r>
              <a:rPr sz="1800" b="1">
                <a:solidFill>
                  <a:srgbClr val="008C95"/>
                </a:solidFill>
              </a:rPr>
              <a:t>BUILD AND TEST</a:t>
            </a:r>
          </a:p>
        </p:txBody>
      </p:sp>
      <p:sp>
        <p:nvSpPr>
          <p:cNvPr id="13" name="portfolio-body-II">
            <a:extLst>
              <a:ext uri="{FF2B5EF4-FFF2-40B4-BE49-F238E27FC236}">
                <a16:creationId xmlns:a16="http://schemas.microsoft.com/office/drawing/2014/main" id="{2B7BDA28-C354-4B4F-8A8C-48D6FA5A50EC}"/>
              </a:ext>
            </a:extLst>
          </p:cNvPr>
          <p:cNvSpPr>
            <a:spLocks noGrp="1"/>
          </p:cNvSpPr>
          <p:nvPr/>
        </p:nvSpPr>
        <p:spPr>
          <a:xfrm>
            <a:off x="4333875" y="3771900"/>
            <a:ext cx="3524250" cy="723900"/>
          </a:xfrm>
          <a:prstGeom prst="rect">
            <a:avLst/>
          </a:prstGeom>
          <a:noFill/>
          <a:ln w="0">
            <a:noFill/>
            <a:prstDash val="solid"/>
          </a:ln>
        </p:spPr>
        <p:txBody>
          <a:bodyPr/>
          <a:lstStyle/>
          <a:p>
            <a:pPr algn="ctr">
              <a:defRPr sz="1500">
                <a:solidFill>
                  <a:srgbClr val="000000"/>
                </a:solidFill>
              </a:defRPr>
            </a:pPr>
            <a:r>
              <a:rPr sz="2000" dirty="0">
                <a:solidFill>
                  <a:srgbClr val="000000"/>
                </a:solidFill>
              </a:rPr>
              <a:t>≥3 substantive PRs</a:t>
            </a:r>
          </a:p>
          <a:p>
            <a:pPr algn="ctr">
              <a:defRPr sz="1500">
                <a:solidFill>
                  <a:srgbClr val="000000"/>
                </a:solidFill>
              </a:defRPr>
            </a:pPr>
            <a:r>
              <a:rPr sz="2000" dirty="0">
                <a:solidFill>
                  <a:srgbClr val="000000"/>
                </a:solidFill>
              </a:rPr>
              <a:t>≥3 evidence-based reviews</a:t>
            </a:r>
          </a:p>
        </p:txBody>
      </p:sp>
      <p:sp>
        <p:nvSpPr>
          <p:cNvPr id="14" name="portfolio-III">
            <a:extLst>
              <a:ext uri="{FF2B5EF4-FFF2-40B4-BE49-F238E27FC236}">
                <a16:creationId xmlns:a16="http://schemas.microsoft.com/office/drawing/2014/main" id="{9E552166-617D-49D1-86EE-3857FEB98233}"/>
              </a:ext>
            </a:extLst>
          </p:cNvPr>
          <p:cNvSpPr>
            <a:spLocks noGrp="1"/>
          </p:cNvSpPr>
          <p:nvPr/>
        </p:nvSpPr>
        <p:spPr>
          <a:xfrm>
            <a:off x="9591675" y="2190750"/>
            <a:ext cx="914400" cy="914400"/>
          </a:xfrm>
          <a:prstGeom prst="ellipse">
            <a:avLst/>
          </a:prstGeom>
          <a:solidFill>
            <a:srgbClr val="C55A11"/>
          </a:solidFill>
          <a:ln w="0">
            <a:solidFill>
              <a:srgbClr val="C55A11"/>
            </a:solidFill>
            <a:prstDash val="solid"/>
          </a:ln>
        </p:spPr>
        <p:txBody>
          <a:bodyPr/>
          <a:lstStyle/>
          <a:p>
            <a:endParaRPr lang="en-US"/>
          </a:p>
        </p:txBody>
      </p:sp>
      <p:sp>
        <p:nvSpPr>
          <p:cNvPr id="15" name="portfolio-label-III">
            <a:extLst>
              <a:ext uri="{FF2B5EF4-FFF2-40B4-BE49-F238E27FC236}">
                <a16:creationId xmlns:a16="http://schemas.microsoft.com/office/drawing/2014/main" id="{809BE954-57BC-4874-91C4-73BB3D0635B3}"/>
              </a:ext>
            </a:extLst>
          </p:cNvPr>
          <p:cNvSpPr>
            <a:spLocks noGrp="1"/>
          </p:cNvSpPr>
          <p:nvPr/>
        </p:nvSpPr>
        <p:spPr>
          <a:xfrm>
            <a:off x="9591675" y="2428875"/>
            <a:ext cx="914400" cy="400050"/>
          </a:xfrm>
          <a:prstGeom prst="rect">
            <a:avLst/>
          </a:prstGeom>
          <a:noFill/>
          <a:ln w="0">
            <a:noFill/>
            <a:prstDash val="solid"/>
          </a:ln>
        </p:spPr>
        <p:txBody>
          <a:bodyPr/>
          <a:lstStyle/>
          <a:p>
            <a:pPr algn="ctr">
              <a:defRPr sz="1800" b="1">
                <a:solidFill>
                  <a:srgbClr val="FFFFFF"/>
                </a:solidFill>
              </a:defRPr>
            </a:pPr>
            <a:r>
              <a:rPr sz="1800" b="1">
                <a:solidFill>
                  <a:srgbClr val="FFFFFF"/>
                </a:solidFill>
              </a:rPr>
              <a:t>DP III</a:t>
            </a:r>
          </a:p>
        </p:txBody>
      </p:sp>
      <p:sp>
        <p:nvSpPr>
          <p:cNvPr id="16" name="portfolio-heading-III">
            <a:extLst>
              <a:ext uri="{FF2B5EF4-FFF2-40B4-BE49-F238E27FC236}">
                <a16:creationId xmlns:a16="http://schemas.microsoft.com/office/drawing/2014/main" id="{CF68D79D-3678-4F28-83B6-22FC1910A7ED}"/>
              </a:ext>
            </a:extLst>
          </p:cNvPr>
          <p:cNvSpPr>
            <a:spLocks noGrp="1"/>
          </p:cNvSpPr>
          <p:nvPr/>
        </p:nvSpPr>
        <p:spPr>
          <a:xfrm>
            <a:off x="8334375" y="3333750"/>
            <a:ext cx="3429000" cy="342900"/>
          </a:xfrm>
          <a:prstGeom prst="rect">
            <a:avLst/>
          </a:prstGeom>
          <a:noFill/>
          <a:ln w="0">
            <a:noFill/>
            <a:prstDash val="solid"/>
          </a:ln>
        </p:spPr>
        <p:txBody>
          <a:bodyPr/>
          <a:lstStyle/>
          <a:p>
            <a:pPr algn="ctr">
              <a:defRPr sz="1800" b="1">
                <a:solidFill>
                  <a:srgbClr val="C55A11"/>
                </a:solidFill>
              </a:defRPr>
            </a:pPr>
            <a:r>
              <a:rPr sz="1800" b="1">
                <a:solidFill>
                  <a:srgbClr val="C55A11"/>
                </a:solidFill>
              </a:rPr>
              <a:t>INTEGRATE AND DELIVER</a:t>
            </a:r>
          </a:p>
        </p:txBody>
      </p:sp>
      <p:sp>
        <p:nvSpPr>
          <p:cNvPr id="17" name="portfolio-body-III">
            <a:extLst>
              <a:ext uri="{FF2B5EF4-FFF2-40B4-BE49-F238E27FC236}">
                <a16:creationId xmlns:a16="http://schemas.microsoft.com/office/drawing/2014/main" id="{30632668-244C-42E7-866E-2D58C6FBB384}"/>
              </a:ext>
            </a:extLst>
          </p:cNvPr>
          <p:cNvSpPr>
            <a:spLocks noGrp="1"/>
          </p:cNvSpPr>
          <p:nvPr/>
        </p:nvSpPr>
        <p:spPr>
          <a:xfrm>
            <a:off x="8286750" y="3771900"/>
            <a:ext cx="3524250" cy="723900"/>
          </a:xfrm>
          <a:prstGeom prst="rect">
            <a:avLst/>
          </a:prstGeom>
          <a:noFill/>
          <a:ln w="0">
            <a:noFill/>
            <a:prstDash val="solid"/>
          </a:ln>
        </p:spPr>
        <p:txBody>
          <a:bodyPr/>
          <a:lstStyle/>
          <a:p>
            <a:pPr algn="ctr">
              <a:defRPr sz="1500">
                <a:solidFill>
                  <a:srgbClr val="000000"/>
                </a:solidFill>
              </a:defRPr>
            </a:pPr>
            <a:r>
              <a:rPr sz="2000" dirty="0">
                <a:solidFill>
                  <a:srgbClr val="000000"/>
                </a:solidFill>
              </a:rPr>
              <a:t>≥3 substantive PRs</a:t>
            </a:r>
          </a:p>
          <a:p>
            <a:pPr algn="ctr">
              <a:defRPr sz="1500">
                <a:solidFill>
                  <a:srgbClr val="000000"/>
                </a:solidFill>
              </a:defRPr>
            </a:pPr>
            <a:r>
              <a:rPr sz="2000" dirty="0">
                <a:solidFill>
                  <a:srgbClr val="000000"/>
                </a:solidFill>
              </a:rPr>
              <a:t>≥3 evidence-based reviews</a:t>
            </a:r>
          </a:p>
        </p:txBody>
      </p:sp>
      <p:sp>
        <p:nvSpPr>
          <p:cNvPr id="18" name="accountability-band">
            <a:extLst>
              <a:ext uri="{FF2B5EF4-FFF2-40B4-BE49-F238E27FC236}">
                <a16:creationId xmlns:a16="http://schemas.microsoft.com/office/drawing/2014/main" id="{45464A6A-7047-444A-A51F-946E1F42CF81}"/>
              </a:ext>
            </a:extLst>
          </p:cNvPr>
          <p:cNvSpPr>
            <a:spLocks noGrp="1"/>
          </p:cNvSpPr>
          <p:nvPr/>
        </p:nvSpPr>
        <p:spPr>
          <a:xfrm>
            <a:off x="685800" y="5095875"/>
            <a:ext cx="10820400" cy="1066800"/>
          </a:xfrm>
          <a:prstGeom prst="roundRect">
            <a:avLst>
              <a:gd name="adj" fmla="val 7143"/>
            </a:avLst>
          </a:prstGeom>
          <a:solidFill>
            <a:srgbClr val="EAF2F8"/>
          </a:solidFill>
          <a:ln w="9525">
            <a:solidFill>
              <a:srgbClr val="C9DDEA"/>
            </a:solidFill>
            <a:prstDash val="solid"/>
          </a:ln>
        </p:spPr>
        <p:txBody>
          <a:bodyPr/>
          <a:lstStyle/>
          <a:p>
            <a:endParaRPr lang="en-US"/>
          </a:p>
        </p:txBody>
      </p:sp>
      <p:sp>
        <p:nvSpPr>
          <p:cNvPr id="19" name="accountability-heading">
            <a:extLst>
              <a:ext uri="{FF2B5EF4-FFF2-40B4-BE49-F238E27FC236}">
                <a16:creationId xmlns:a16="http://schemas.microsoft.com/office/drawing/2014/main" id="{EF855D26-AA24-4963-BECD-EEEC62DA1E88}"/>
              </a:ext>
            </a:extLst>
          </p:cNvPr>
          <p:cNvSpPr>
            <a:spLocks noGrp="1"/>
          </p:cNvSpPr>
          <p:nvPr/>
        </p:nvSpPr>
        <p:spPr>
          <a:xfrm>
            <a:off x="1104900" y="5276850"/>
            <a:ext cx="9982200" cy="342900"/>
          </a:xfrm>
          <a:prstGeom prst="rect">
            <a:avLst/>
          </a:prstGeom>
          <a:noFill/>
          <a:ln w="0">
            <a:noFill/>
            <a:prstDash val="solid"/>
          </a:ln>
        </p:spPr>
        <p:txBody>
          <a:bodyPr/>
          <a:lstStyle/>
          <a:p>
            <a:pPr algn="ctr">
              <a:defRPr sz="1800" b="1">
                <a:solidFill>
                  <a:srgbClr val="1F4E79"/>
                </a:solidFill>
              </a:defRPr>
            </a:pPr>
            <a:r>
              <a:rPr sz="2400" b="1" dirty="0">
                <a:solidFill>
                  <a:srgbClr val="1F4E79"/>
                </a:solidFill>
              </a:rPr>
              <a:t>Individual contribution across DP II and DP III</a:t>
            </a:r>
          </a:p>
        </p:txBody>
      </p:sp>
      <p:sp>
        <p:nvSpPr>
          <p:cNvPr id="20" name="accountability-body">
            <a:extLst>
              <a:ext uri="{FF2B5EF4-FFF2-40B4-BE49-F238E27FC236}">
                <a16:creationId xmlns:a16="http://schemas.microsoft.com/office/drawing/2014/main" id="{09AFBB86-F1AE-47A8-A038-39DB8796E42D}"/>
              </a:ext>
            </a:extLst>
          </p:cNvPr>
          <p:cNvSpPr>
            <a:spLocks noGrp="1"/>
          </p:cNvSpPr>
          <p:nvPr/>
        </p:nvSpPr>
        <p:spPr>
          <a:xfrm>
            <a:off x="1104900" y="5695950"/>
            <a:ext cx="9982200" cy="323850"/>
          </a:xfrm>
          <a:prstGeom prst="rect">
            <a:avLst/>
          </a:prstGeom>
          <a:noFill/>
          <a:ln w="0">
            <a:noFill/>
            <a:prstDash val="solid"/>
          </a:ln>
        </p:spPr>
        <p:txBody>
          <a:bodyPr/>
          <a:lstStyle/>
          <a:p>
            <a:pPr algn="ctr">
              <a:defRPr sz="1500">
                <a:solidFill>
                  <a:srgbClr val="000000"/>
                </a:solidFill>
              </a:defRPr>
            </a:pPr>
            <a:r>
              <a:rPr sz="2000" dirty="0">
                <a:solidFill>
                  <a:srgbClr val="000000"/>
                </a:solidFill>
              </a:rPr>
              <a:t>Each member:  ≥6 PRs  •  ≥6 reviews   |   Quality and relevance matter</a:t>
            </a:r>
            <a:r>
              <a:rPr lang="en-US" sz="2000" dirty="0">
                <a:solidFill>
                  <a:srgbClr val="000000"/>
                </a:solidFill>
              </a:rPr>
              <a:t> - </a:t>
            </a:r>
            <a:r>
              <a:rPr sz="2000" dirty="0">
                <a:solidFill>
                  <a:srgbClr val="000000"/>
                </a:solidFill>
              </a:rPr>
              <a:t>not only the count.</a:t>
            </a:r>
          </a:p>
        </p:txBody>
      </p:sp>
    </p:spTree>
    <p:extLst>
      <p:ext uri="{BB962C8B-B14F-4D97-AF65-F5344CB8AC3E}">
        <p14:creationId xmlns:p14="http://schemas.microsoft.com/office/powerpoint/2010/main" val="846923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a:extLst>
              <a:ext uri="{FF2B5EF4-FFF2-40B4-BE49-F238E27FC236}">
                <a16:creationId xmlns:a16="http://schemas.microsoft.com/office/drawing/2014/main" id="{9BC9DEC9-9478-460C-ACDE-C32BDEF1EE5C}"/>
              </a:ext>
            </a:extLst>
          </p:cNvPr>
          <p:cNvSpPr>
            <a:spLocks noGrp="1"/>
          </p:cNvSpPr>
          <p:nvPr/>
        </p:nvSpPr>
        <p:spPr>
          <a:xfrm>
            <a:off x="685800" y="361950"/>
            <a:ext cx="10820400" cy="590550"/>
          </a:xfrm>
          <a:prstGeom prst="rect">
            <a:avLst/>
          </a:prstGeom>
          <a:noFill/>
          <a:ln w="0">
            <a:noFill/>
            <a:prstDash val="solid"/>
          </a:ln>
        </p:spPr>
        <p:txBody>
          <a:bodyPr/>
          <a:lstStyle/>
          <a:p>
            <a:pPr algn="l">
              <a:defRPr sz="2400" b="1">
                <a:solidFill>
                  <a:srgbClr val="1F4E79"/>
                </a:solidFill>
              </a:defRPr>
            </a:pPr>
            <a:r>
              <a:rPr sz="3200" b="1" dirty="0">
                <a:solidFill>
                  <a:srgbClr val="1F4E79"/>
                </a:solidFill>
              </a:rPr>
              <a:t>What Is a Minimum Viable Product?</a:t>
            </a:r>
          </a:p>
        </p:txBody>
      </p:sp>
      <p:sp>
        <p:nvSpPr>
          <p:cNvPr id="2" name="definition-band">
            <a:extLst>
              <a:ext uri="{FF2B5EF4-FFF2-40B4-BE49-F238E27FC236}">
                <a16:creationId xmlns:a16="http://schemas.microsoft.com/office/drawing/2014/main" id="{53EA5FB2-4583-4A85-92F7-976E8E9B311D}"/>
              </a:ext>
            </a:extLst>
          </p:cNvPr>
          <p:cNvSpPr>
            <a:spLocks noGrp="1"/>
          </p:cNvSpPr>
          <p:nvPr/>
        </p:nvSpPr>
        <p:spPr>
          <a:xfrm>
            <a:off x="685800" y="1143000"/>
            <a:ext cx="10820400" cy="1000125"/>
          </a:xfrm>
          <a:prstGeom prst="roundRect">
            <a:avLst>
              <a:gd name="adj" fmla="val 7619"/>
            </a:avLst>
          </a:prstGeom>
          <a:solidFill>
            <a:srgbClr val="EAF2F8"/>
          </a:solidFill>
          <a:ln w="9525">
            <a:solidFill>
              <a:srgbClr val="C9DDEA"/>
            </a:solidFill>
            <a:prstDash val="solid"/>
          </a:ln>
        </p:spPr>
        <p:txBody>
          <a:bodyPr/>
          <a:lstStyle/>
          <a:p>
            <a:endParaRPr lang="en-US"/>
          </a:p>
        </p:txBody>
      </p:sp>
      <p:sp>
        <p:nvSpPr>
          <p:cNvPr id="3" name="definition">
            <a:extLst>
              <a:ext uri="{FF2B5EF4-FFF2-40B4-BE49-F238E27FC236}">
                <a16:creationId xmlns:a16="http://schemas.microsoft.com/office/drawing/2014/main" id="{824DE913-16CA-4534-AF07-663E4CCEBB7A}"/>
              </a:ext>
            </a:extLst>
          </p:cNvPr>
          <p:cNvSpPr>
            <a:spLocks noGrp="1"/>
          </p:cNvSpPr>
          <p:nvPr/>
        </p:nvSpPr>
        <p:spPr>
          <a:xfrm>
            <a:off x="865414" y="1400175"/>
            <a:ext cx="10319657" cy="533400"/>
          </a:xfrm>
          <a:prstGeom prst="rect">
            <a:avLst/>
          </a:prstGeom>
          <a:noFill/>
          <a:ln w="0">
            <a:noFill/>
            <a:prstDash val="solid"/>
          </a:ln>
        </p:spPr>
        <p:txBody>
          <a:bodyPr/>
          <a:lstStyle/>
          <a:p>
            <a:pPr algn="ctr">
              <a:defRPr sz="1800" b="1">
                <a:solidFill>
                  <a:srgbClr val="1F4E79"/>
                </a:solidFill>
              </a:defRPr>
            </a:pPr>
            <a:r>
              <a:rPr sz="2000" b="1" dirty="0">
                <a:solidFill>
                  <a:srgbClr val="1F4E79"/>
                </a:solidFill>
              </a:rPr>
              <a:t>The smallest usable version that addresses a core user need and can be meaningfully evaluated.</a:t>
            </a:r>
          </a:p>
        </p:txBody>
      </p:sp>
      <p:sp>
        <p:nvSpPr>
          <p:cNvPr id="4" name="criterion-value-tile">
            <a:extLst>
              <a:ext uri="{FF2B5EF4-FFF2-40B4-BE49-F238E27FC236}">
                <a16:creationId xmlns:a16="http://schemas.microsoft.com/office/drawing/2014/main" id="{C7441B7A-E196-4AC6-B069-16F2E229ACFF}"/>
              </a:ext>
            </a:extLst>
          </p:cNvPr>
          <p:cNvSpPr>
            <a:spLocks noGrp="1"/>
          </p:cNvSpPr>
          <p:nvPr/>
        </p:nvSpPr>
        <p:spPr>
          <a:xfrm>
            <a:off x="1695450" y="2714625"/>
            <a:ext cx="990600" cy="876300"/>
          </a:xfrm>
          <a:prstGeom prst="roundRect">
            <a:avLst>
              <a:gd name="adj" fmla="val 8696"/>
            </a:avLst>
          </a:prstGeom>
          <a:solidFill>
            <a:srgbClr val="FFFFFF"/>
          </a:solidFill>
          <a:ln w="19050">
            <a:solidFill>
              <a:srgbClr val="1F4E79"/>
            </a:solidFill>
            <a:prstDash val="solid"/>
          </a:ln>
        </p:spPr>
        <p:txBody>
          <a:bodyPr/>
          <a:lstStyle/>
          <a:p>
            <a:endParaRPr lang="en-US"/>
          </a:p>
        </p:txBody>
      </p:sp>
      <p:pic>
        <p:nvPicPr>
          <p:cNvPr id="22" name="Picture 21"/>
          <p:cNvPicPr>
            <a:picLocks noChangeAspect="1"/>
          </p:cNvPicPr>
          <p:nvPr/>
        </p:nvPicPr>
        <p:blipFill>
          <a:blip r:embed="rId3"/>
          <a:stretch/>
        </p:blipFill>
        <p:spPr>
          <a:xfrm>
            <a:off x="1800225" y="2865859"/>
            <a:ext cx="781050" cy="573833"/>
          </a:xfrm>
          <a:prstGeom prst="rect">
            <a:avLst/>
          </a:prstGeom>
        </p:spPr>
      </p:pic>
      <p:sp>
        <p:nvSpPr>
          <p:cNvPr id="6" name="criterion-heading-value">
            <a:extLst>
              <a:ext uri="{FF2B5EF4-FFF2-40B4-BE49-F238E27FC236}">
                <a16:creationId xmlns:a16="http://schemas.microsoft.com/office/drawing/2014/main" id="{F7921666-DDC3-46D6-8C52-969234E18E3C}"/>
              </a:ext>
            </a:extLst>
          </p:cNvPr>
          <p:cNvSpPr>
            <a:spLocks noGrp="1"/>
          </p:cNvSpPr>
          <p:nvPr/>
        </p:nvSpPr>
        <p:spPr>
          <a:xfrm>
            <a:off x="619125" y="3857625"/>
            <a:ext cx="3143250" cy="342900"/>
          </a:xfrm>
          <a:prstGeom prst="rect">
            <a:avLst/>
          </a:prstGeom>
          <a:noFill/>
          <a:ln w="0">
            <a:noFill/>
            <a:prstDash val="solid"/>
          </a:ln>
        </p:spPr>
        <p:txBody>
          <a:bodyPr/>
          <a:lstStyle/>
          <a:p>
            <a:pPr algn="ctr">
              <a:defRPr sz="1800" b="1">
                <a:solidFill>
                  <a:srgbClr val="1F4E79"/>
                </a:solidFill>
              </a:defRPr>
            </a:pPr>
            <a:r>
              <a:rPr sz="1800" b="1">
                <a:solidFill>
                  <a:srgbClr val="1F4E79"/>
                </a:solidFill>
              </a:rPr>
              <a:t>VALUABLE</a:t>
            </a:r>
          </a:p>
        </p:txBody>
      </p:sp>
      <p:sp>
        <p:nvSpPr>
          <p:cNvPr id="7" name="criterion-body-value">
            <a:extLst>
              <a:ext uri="{FF2B5EF4-FFF2-40B4-BE49-F238E27FC236}">
                <a16:creationId xmlns:a16="http://schemas.microsoft.com/office/drawing/2014/main" id="{E36CCE72-B0B9-4B2C-8BBC-5F66F03580B1}"/>
              </a:ext>
            </a:extLst>
          </p:cNvPr>
          <p:cNvSpPr>
            <a:spLocks noGrp="1"/>
          </p:cNvSpPr>
          <p:nvPr/>
        </p:nvSpPr>
        <p:spPr>
          <a:xfrm>
            <a:off x="523875" y="4295775"/>
            <a:ext cx="3333750" cy="628650"/>
          </a:xfrm>
          <a:prstGeom prst="rect">
            <a:avLst/>
          </a:prstGeom>
          <a:noFill/>
          <a:ln w="0">
            <a:noFill/>
            <a:prstDash val="solid"/>
          </a:ln>
        </p:spPr>
        <p:txBody>
          <a:bodyPr/>
          <a:lstStyle/>
          <a:p>
            <a:pPr algn="ctr">
              <a:defRPr sz="1500">
                <a:solidFill>
                  <a:srgbClr val="000000"/>
                </a:solidFill>
              </a:defRPr>
            </a:pPr>
            <a:r>
              <a:rPr sz="2000" dirty="0">
                <a:solidFill>
                  <a:srgbClr val="000000"/>
                </a:solidFill>
              </a:rPr>
              <a:t>Addresses an important user need.</a:t>
            </a:r>
          </a:p>
        </p:txBody>
      </p:sp>
      <p:sp>
        <p:nvSpPr>
          <p:cNvPr id="8" name="criterion-usable-tile">
            <a:extLst>
              <a:ext uri="{FF2B5EF4-FFF2-40B4-BE49-F238E27FC236}">
                <a16:creationId xmlns:a16="http://schemas.microsoft.com/office/drawing/2014/main" id="{7C3A3B15-2E83-4507-85F1-337288311D4F}"/>
              </a:ext>
            </a:extLst>
          </p:cNvPr>
          <p:cNvSpPr>
            <a:spLocks noGrp="1"/>
          </p:cNvSpPr>
          <p:nvPr/>
        </p:nvSpPr>
        <p:spPr>
          <a:xfrm>
            <a:off x="5600700" y="2714625"/>
            <a:ext cx="990600" cy="876300"/>
          </a:xfrm>
          <a:prstGeom prst="roundRect">
            <a:avLst>
              <a:gd name="adj" fmla="val 8696"/>
            </a:avLst>
          </a:prstGeom>
          <a:solidFill>
            <a:srgbClr val="FFFFFF"/>
          </a:solidFill>
          <a:ln w="19050">
            <a:solidFill>
              <a:srgbClr val="008C95"/>
            </a:solidFill>
            <a:prstDash val="solid"/>
          </a:ln>
        </p:spPr>
        <p:txBody>
          <a:bodyPr/>
          <a:lstStyle/>
          <a:p>
            <a:endParaRPr lang="en-US"/>
          </a:p>
        </p:txBody>
      </p:sp>
      <p:pic>
        <p:nvPicPr>
          <p:cNvPr id="26" name="Picture 25"/>
          <p:cNvPicPr>
            <a:picLocks noChangeAspect="1"/>
          </p:cNvPicPr>
          <p:nvPr/>
        </p:nvPicPr>
        <p:blipFill>
          <a:blip r:embed="rId4"/>
          <a:stretch/>
        </p:blipFill>
        <p:spPr>
          <a:xfrm>
            <a:off x="5753100" y="2809875"/>
            <a:ext cx="685800" cy="685800"/>
          </a:xfrm>
          <a:prstGeom prst="rect">
            <a:avLst/>
          </a:prstGeom>
        </p:spPr>
      </p:pic>
      <p:sp>
        <p:nvSpPr>
          <p:cNvPr id="10" name="criterion-heading-usable">
            <a:extLst>
              <a:ext uri="{FF2B5EF4-FFF2-40B4-BE49-F238E27FC236}">
                <a16:creationId xmlns:a16="http://schemas.microsoft.com/office/drawing/2014/main" id="{EEE221E1-59B0-4EDE-936A-E39A4651A1E2}"/>
              </a:ext>
            </a:extLst>
          </p:cNvPr>
          <p:cNvSpPr>
            <a:spLocks noGrp="1"/>
          </p:cNvSpPr>
          <p:nvPr/>
        </p:nvSpPr>
        <p:spPr>
          <a:xfrm>
            <a:off x="4524375" y="3857625"/>
            <a:ext cx="3143250" cy="342900"/>
          </a:xfrm>
          <a:prstGeom prst="rect">
            <a:avLst/>
          </a:prstGeom>
          <a:noFill/>
          <a:ln w="0">
            <a:noFill/>
            <a:prstDash val="solid"/>
          </a:ln>
        </p:spPr>
        <p:txBody>
          <a:bodyPr/>
          <a:lstStyle/>
          <a:p>
            <a:pPr algn="ctr">
              <a:defRPr sz="1800" b="1">
                <a:solidFill>
                  <a:srgbClr val="008C95"/>
                </a:solidFill>
              </a:defRPr>
            </a:pPr>
            <a:r>
              <a:rPr sz="1800" b="1">
                <a:solidFill>
                  <a:srgbClr val="008C95"/>
                </a:solidFill>
              </a:rPr>
              <a:t>USABLE</a:t>
            </a:r>
          </a:p>
        </p:txBody>
      </p:sp>
      <p:sp>
        <p:nvSpPr>
          <p:cNvPr id="11" name="criterion-body-usable">
            <a:extLst>
              <a:ext uri="{FF2B5EF4-FFF2-40B4-BE49-F238E27FC236}">
                <a16:creationId xmlns:a16="http://schemas.microsoft.com/office/drawing/2014/main" id="{2F264A01-CE10-4FDE-BE60-AFED3A68DD61}"/>
              </a:ext>
            </a:extLst>
          </p:cNvPr>
          <p:cNvSpPr>
            <a:spLocks noGrp="1"/>
          </p:cNvSpPr>
          <p:nvPr/>
        </p:nvSpPr>
        <p:spPr>
          <a:xfrm>
            <a:off x="4429125" y="4295775"/>
            <a:ext cx="3333750" cy="628650"/>
          </a:xfrm>
          <a:prstGeom prst="rect">
            <a:avLst/>
          </a:prstGeom>
          <a:noFill/>
          <a:ln w="0">
            <a:noFill/>
            <a:prstDash val="solid"/>
          </a:ln>
        </p:spPr>
        <p:txBody>
          <a:bodyPr/>
          <a:lstStyle/>
          <a:p>
            <a:pPr algn="ctr">
              <a:defRPr sz="1500">
                <a:solidFill>
                  <a:srgbClr val="000000"/>
                </a:solidFill>
              </a:defRPr>
            </a:pPr>
            <a:r>
              <a:rPr sz="2000" dirty="0">
                <a:solidFill>
                  <a:srgbClr val="000000"/>
                </a:solidFill>
              </a:rPr>
              <a:t>Works as an integrated, end-to-end solution.</a:t>
            </a:r>
          </a:p>
        </p:txBody>
      </p:sp>
      <p:sp>
        <p:nvSpPr>
          <p:cNvPr id="12" name="criterion-testable-tile">
            <a:extLst>
              <a:ext uri="{FF2B5EF4-FFF2-40B4-BE49-F238E27FC236}">
                <a16:creationId xmlns:a16="http://schemas.microsoft.com/office/drawing/2014/main" id="{00255A37-4990-4734-93A1-BD1A4694A573}"/>
              </a:ext>
            </a:extLst>
          </p:cNvPr>
          <p:cNvSpPr>
            <a:spLocks noGrp="1"/>
          </p:cNvSpPr>
          <p:nvPr/>
        </p:nvSpPr>
        <p:spPr>
          <a:xfrm>
            <a:off x="9505950" y="2714625"/>
            <a:ext cx="990600" cy="876300"/>
          </a:xfrm>
          <a:prstGeom prst="roundRect">
            <a:avLst>
              <a:gd name="adj" fmla="val 8696"/>
            </a:avLst>
          </a:prstGeom>
          <a:solidFill>
            <a:srgbClr val="FFFFFF"/>
          </a:solidFill>
          <a:ln w="19050">
            <a:solidFill>
              <a:srgbClr val="6B5B95"/>
            </a:solidFill>
            <a:prstDash val="solid"/>
          </a:ln>
        </p:spPr>
        <p:txBody>
          <a:bodyPr/>
          <a:lstStyle/>
          <a:p>
            <a:endParaRPr lang="en-US"/>
          </a:p>
        </p:txBody>
      </p:sp>
      <p:pic>
        <p:nvPicPr>
          <p:cNvPr id="30" name="Picture 29"/>
          <p:cNvPicPr>
            <a:picLocks noChangeAspect="1"/>
          </p:cNvPicPr>
          <p:nvPr/>
        </p:nvPicPr>
        <p:blipFill>
          <a:blip r:embed="rId5"/>
          <a:stretch/>
        </p:blipFill>
        <p:spPr>
          <a:xfrm>
            <a:off x="9658350" y="2809875"/>
            <a:ext cx="685800" cy="685800"/>
          </a:xfrm>
          <a:prstGeom prst="rect">
            <a:avLst/>
          </a:prstGeom>
        </p:spPr>
      </p:pic>
      <p:sp>
        <p:nvSpPr>
          <p:cNvPr id="14" name="criterion-heading-testable">
            <a:extLst>
              <a:ext uri="{FF2B5EF4-FFF2-40B4-BE49-F238E27FC236}">
                <a16:creationId xmlns:a16="http://schemas.microsoft.com/office/drawing/2014/main" id="{21CFE0C1-60EF-455B-B6F2-202C477199EF}"/>
              </a:ext>
            </a:extLst>
          </p:cNvPr>
          <p:cNvSpPr>
            <a:spLocks noGrp="1"/>
          </p:cNvSpPr>
          <p:nvPr/>
        </p:nvSpPr>
        <p:spPr>
          <a:xfrm>
            <a:off x="8429625" y="3857625"/>
            <a:ext cx="3143250" cy="342900"/>
          </a:xfrm>
          <a:prstGeom prst="rect">
            <a:avLst/>
          </a:prstGeom>
          <a:noFill/>
          <a:ln w="0">
            <a:noFill/>
            <a:prstDash val="solid"/>
          </a:ln>
        </p:spPr>
        <p:txBody>
          <a:bodyPr/>
          <a:lstStyle/>
          <a:p>
            <a:pPr algn="ctr">
              <a:defRPr sz="1800" b="1">
                <a:solidFill>
                  <a:srgbClr val="6B5B95"/>
                </a:solidFill>
              </a:defRPr>
            </a:pPr>
            <a:r>
              <a:rPr sz="1800" b="1">
                <a:solidFill>
                  <a:srgbClr val="6B5B95"/>
                </a:solidFill>
              </a:rPr>
              <a:t>TESTABLE</a:t>
            </a:r>
          </a:p>
        </p:txBody>
      </p:sp>
      <p:sp>
        <p:nvSpPr>
          <p:cNvPr id="15" name="criterion-body-testable">
            <a:extLst>
              <a:ext uri="{FF2B5EF4-FFF2-40B4-BE49-F238E27FC236}">
                <a16:creationId xmlns:a16="http://schemas.microsoft.com/office/drawing/2014/main" id="{465FFBF5-85A3-470F-946B-B90F00BBE6AE}"/>
              </a:ext>
            </a:extLst>
          </p:cNvPr>
          <p:cNvSpPr>
            <a:spLocks noGrp="1"/>
          </p:cNvSpPr>
          <p:nvPr/>
        </p:nvSpPr>
        <p:spPr>
          <a:xfrm>
            <a:off x="8334375" y="4295775"/>
            <a:ext cx="3333750" cy="628650"/>
          </a:xfrm>
          <a:prstGeom prst="rect">
            <a:avLst/>
          </a:prstGeom>
          <a:noFill/>
          <a:ln w="0">
            <a:noFill/>
            <a:prstDash val="solid"/>
          </a:ln>
        </p:spPr>
        <p:txBody>
          <a:bodyPr/>
          <a:lstStyle/>
          <a:p>
            <a:pPr algn="ctr">
              <a:defRPr sz="1500">
                <a:solidFill>
                  <a:srgbClr val="000000"/>
                </a:solidFill>
              </a:defRPr>
            </a:pPr>
            <a:r>
              <a:rPr sz="2000" dirty="0">
                <a:solidFill>
                  <a:srgbClr val="000000"/>
                </a:solidFill>
              </a:rPr>
              <a:t>Produces evidence and feedback for improvement.</a:t>
            </a:r>
          </a:p>
        </p:txBody>
      </p:sp>
      <p:sp>
        <p:nvSpPr>
          <p:cNvPr id="16" name="quality-band">
            <a:extLst>
              <a:ext uri="{FF2B5EF4-FFF2-40B4-BE49-F238E27FC236}">
                <a16:creationId xmlns:a16="http://schemas.microsoft.com/office/drawing/2014/main" id="{6900996A-C2B9-40E1-A915-6160EC79890F}"/>
              </a:ext>
            </a:extLst>
          </p:cNvPr>
          <p:cNvSpPr>
            <a:spLocks noGrp="1"/>
          </p:cNvSpPr>
          <p:nvPr/>
        </p:nvSpPr>
        <p:spPr>
          <a:xfrm>
            <a:off x="2667000" y="5391150"/>
            <a:ext cx="6858000" cy="666750"/>
          </a:xfrm>
          <a:prstGeom prst="roundRect">
            <a:avLst>
              <a:gd name="adj" fmla="val 11429"/>
            </a:avLst>
          </a:prstGeom>
          <a:solidFill>
            <a:srgbClr val="FFF2E8"/>
          </a:solidFill>
          <a:ln w="9525">
            <a:solidFill>
              <a:srgbClr val="F0C7A7"/>
            </a:solidFill>
            <a:prstDash val="solid"/>
          </a:ln>
        </p:spPr>
        <p:txBody>
          <a:bodyPr/>
          <a:lstStyle/>
          <a:p>
            <a:endParaRPr lang="en-US"/>
          </a:p>
        </p:txBody>
      </p:sp>
      <p:sp>
        <p:nvSpPr>
          <p:cNvPr id="17" name="quality-takeaway">
            <a:extLst>
              <a:ext uri="{FF2B5EF4-FFF2-40B4-BE49-F238E27FC236}">
                <a16:creationId xmlns:a16="http://schemas.microsoft.com/office/drawing/2014/main" id="{BFE2EC88-2F9C-4F52-A027-C7F3CE9DF7AC}"/>
              </a:ext>
            </a:extLst>
          </p:cNvPr>
          <p:cNvSpPr>
            <a:spLocks noGrp="1"/>
          </p:cNvSpPr>
          <p:nvPr/>
        </p:nvSpPr>
        <p:spPr>
          <a:xfrm>
            <a:off x="3000375" y="5581650"/>
            <a:ext cx="6191250" cy="342900"/>
          </a:xfrm>
          <a:prstGeom prst="rect">
            <a:avLst/>
          </a:prstGeom>
          <a:noFill/>
          <a:ln w="0">
            <a:noFill/>
            <a:prstDash val="solid"/>
          </a:ln>
        </p:spPr>
        <p:txBody>
          <a:bodyPr/>
          <a:lstStyle/>
          <a:p>
            <a:pPr algn="ctr">
              <a:defRPr sz="1800" b="1">
                <a:solidFill>
                  <a:srgbClr val="C55A11"/>
                </a:solidFill>
              </a:defRPr>
            </a:pPr>
            <a:r>
              <a:rPr sz="2000" b="1" dirty="0">
                <a:solidFill>
                  <a:srgbClr val="C55A11"/>
                </a:solidFill>
              </a:rPr>
              <a:t>Minimum scope—not minimum quality.</a:t>
            </a:r>
          </a:p>
        </p:txBody>
      </p:sp>
    </p:spTree>
    <p:extLst>
      <p:ext uri="{BB962C8B-B14F-4D97-AF65-F5344CB8AC3E}">
        <p14:creationId xmlns:p14="http://schemas.microsoft.com/office/powerpoint/2010/main" val="165086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animBg="1"/>
      <p:bldP spid="10" grpId="0"/>
      <p:bldP spid="11" grpId="0"/>
      <p:bldP spid="12" grpId="0" animBg="1"/>
      <p:bldP spid="14" grpId="0"/>
      <p:bldP spid="15" grpId="0"/>
      <p:bldP spid="16" grpId="0" animBg="1"/>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a:extLst>
              <a:ext uri="{FF2B5EF4-FFF2-40B4-BE49-F238E27FC236}">
                <a16:creationId xmlns:a16="http://schemas.microsoft.com/office/drawing/2014/main" id="{C3DB7EBF-2CFD-4514-88D4-6A2287827719}"/>
              </a:ext>
            </a:extLst>
          </p:cNvPr>
          <p:cNvSpPr>
            <a:spLocks noGrp="1"/>
          </p:cNvSpPr>
          <p:nvPr/>
        </p:nvSpPr>
        <p:spPr>
          <a:xfrm>
            <a:off x="685800" y="361950"/>
            <a:ext cx="10820400" cy="590550"/>
          </a:xfrm>
          <a:prstGeom prst="rect">
            <a:avLst/>
          </a:prstGeom>
          <a:noFill/>
          <a:ln w="0">
            <a:noFill/>
            <a:prstDash val="solid"/>
          </a:ln>
        </p:spPr>
        <p:txBody>
          <a:bodyPr/>
          <a:lstStyle/>
          <a:p>
            <a:pPr algn="l">
              <a:defRPr sz="2400" b="1">
                <a:solidFill>
                  <a:srgbClr val="1F4E79"/>
                </a:solidFill>
              </a:defRPr>
            </a:pPr>
            <a:r>
              <a:rPr sz="3200" b="1" dirty="0">
                <a:solidFill>
                  <a:srgbClr val="1F4E79"/>
                </a:solidFill>
              </a:rPr>
              <a:t>Build the MVP Through Usable Increments</a:t>
            </a:r>
          </a:p>
        </p:txBody>
      </p:sp>
      <p:sp>
        <p:nvSpPr>
          <p:cNvPr id="2" name="example-label">
            <a:extLst>
              <a:ext uri="{FF2B5EF4-FFF2-40B4-BE49-F238E27FC236}">
                <a16:creationId xmlns:a16="http://schemas.microsoft.com/office/drawing/2014/main" id="{179CF28A-21B2-4045-9EB4-05C2E12B7483}"/>
              </a:ext>
            </a:extLst>
          </p:cNvPr>
          <p:cNvSpPr>
            <a:spLocks noGrp="1"/>
          </p:cNvSpPr>
          <p:nvPr/>
        </p:nvSpPr>
        <p:spPr>
          <a:xfrm>
            <a:off x="685799" y="962025"/>
            <a:ext cx="9085521" cy="342900"/>
          </a:xfrm>
          <a:prstGeom prst="rect">
            <a:avLst/>
          </a:prstGeom>
          <a:noFill/>
          <a:ln w="0">
            <a:noFill/>
            <a:prstDash val="solid"/>
          </a:ln>
        </p:spPr>
        <p:txBody>
          <a:bodyPr/>
          <a:lstStyle/>
          <a:p>
            <a:pPr>
              <a:defRPr sz="1500" b="1">
                <a:solidFill>
                  <a:srgbClr val="000000"/>
                </a:solidFill>
              </a:defRPr>
            </a:pPr>
            <a:r>
              <a:rPr sz="2400" b="1" dirty="0">
                <a:solidFill>
                  <a:srgbClr val="000000"/>
                </a:solidFill>
              </a:rPr>
              <a:t>Example: student assignment portal (a Canvas-like workflow)</a:t>
            </a:r>
          </a:p>
        </p:txBody>
      </p:sp>
      <p:sp>
        <p:nvSpPr>
          <p:cNvPr id="3" name="components-label">
            <a:extLst>
              <a:ext uri="{FF2B5EF4-FFF2-40B4-BE49-F238E27FC236}">
                <a16:creationId xmlns:a16="http://schemas.microsoft.com/office/drawing/2014/main" id="{6B65D3A0-4D5B-4681-93DA-D8EB8DC3FDFE}"/>
              </a:ext>
            </a:extLst>
          </p:cNvPr>
          <p:cNvSpPr>
            <a:spLocks noGrp="1"/>
          </p:cNvSpPr>
          <p:nvPr/>
        </p:nvSpPr>
        <p:spPr>
          <a:xfrm>
            <a:off x="723900" y="1733550"/>
            <a:ext cx="2333625" cy="323850"/>
          </a:xfrm>
          <a:prstGeom prst="rect">
            <a:avLst/>
          </a:prstGeom>
          <a:noFill/>
          <a:ln w="0">
            <a:noFill/>
            <a:prstDash val="solid"/>
          </a:ln>
        </p:spPr>
        <p:txBody>
          <a:bodyPr/>
          <a:lstStyle/>
          <a:p>
            <a:pPr>
              <a:defRPr sz="1500" b="1">
                <a:solidFill>
                  <a:srgbClr val="C55A11"/>
                </a:solidFill>
              </a:defRPr>
            </a:pPr>
            <a:r>
              <a:rPr sz="2400" b="1" dirty="0">
                <a:solidFill>
                  <a:srgbClr val="C55A11"/>
                </a:solidFill>
              </a:rPr>
              <a:t>COMPONENTS ONLY</a:t>
            </a:r>
          </a:p>
        </p:txBody>
      </p:sp>
      <p:sp>
        <p:nvSpPr>
          <p:cNvPr id="4" name="top-arrow-0">
            <a:extLst>
              <a:ext uri="{FF2B5EF4-FFF2-40B4-BE49-F238E27FC236}">
                <a16:creationId xmlns:a16="http://schemas.microsoft.com/office/drawing/2014/main" id="{167F7408-A695-4085-BAF7-8C47D2BBFAE3}"/>
              </a:ext>
            </a:extLst>
          </p:cNvPr>
          <p:cNvSpPr>
            <a:spLocks noGrp="1"/>
          </p:cNvSpPr>
          <p:nvPr/>
        </p:nvSpPr>
        <p:spPr>
          <a:xfrm>
            <a:off x="5181600" y="1809750"/>
            <a:ext cx="762000" cy="323850"/>
          </a:xfrm>
          <a:prstGeom prst="rect">
            <a:avLst/>
          </a:prstGeom>
          <a:noFill/>
          <a:ln w="0">
            <a:noFill/>
            <a:prstDash val="solid"/>
          </a:ln>
        </p:spPr>
        <p:txBody>
          <a:bodyPr/>
          <a:lstStyle/>
          <a:p>
            <a:pPr algn="ctr">
              <a:defRPr sz="1800" b="1">
                <a:solidFill>
                  <a:srgbClr val="7A8793"/>
                </a:solidFill>
              </a:defRPr>
            </a:pPr>
            <a:r>
              <a:rPr sz="1800" b="1">
                <a:solidFill>
                  <a:srgbClr val="7A8793"/>
                </a:solidFill>
              </a:rPr>
              <a:t>→</a:t>
            </a:r>
          </a:p>
        </p:txBody>
      </p:sp>
      <p:sp>
        <p:nvSpPr>
          <p:cNvPr id="5" name="top-node-0">
            <a:extLst>
              <a:ext uri="{FF2B5EF4-FFF2-40B4-BE49-F238E27FC236}">
                <a16:creationId xmlns:a16="http://schemas.microsoft.com/office/drawing/2014/main" id="{5D10C4AF-0F8A-4816-A829-8618F392E1D5}"/>
              </a:ext>
            </a:extLst>
          </p:cNvPr>
          <p:cNvSpPr>
            <a:spLocks noGrp="1"/>
          </p:cNvSpPr>
          <p:nvPr/>
        </p:nvSpPr>
        <p:spPr>
          <a:xfrm>
            <a:off x="4076700" y="1524000"/>
            <a:ext cx="800100" cy="742950"/>
          </a:xfrm>
          <a:prstGeom prst="roundRect">
            <a:avLst>
              <a:gd name="adj" fmla="val 10256"/>
            </a:avLst>
          </a:prstGeom>
          <a:solidFill>
            <a:srgbClr val="FFF8F2"/>
          </a:solidFill>
          <a:ln w="19050">
            <a:solidFill>
              <a:srgbClr val="C55A11"/>
            </a:solidFill>
            <a:prstDash val="solid"/>
          </a:ln>
        </p:spPr>
        <p:txBody>
          <a:bodyPr/>
          <a:lstStyle/>
          <a:p>
            <a:endParaRPr lang="en-US"/>
          </a:p>
        </p:txBody>
      </p:sp>
      <p:pic>
        <p:nvPicPr>
          <p:cNvPr id="39" name="Picture 38"/>
          <p:cNvPicPr>
            <a:picLocks noChangeAspect="1"/>
          </p:cNvPicPr>
          <p:nvPr/>
        </p:nvPicPr>
        <p:blipFill>
          <a:blip r:embed="rId3"/>
          <a:stretch/>
        </p:blipFill>
        <p:spPr>
          <a:xfrm>
            <a:off x="4200525" y="1619250"/>
            <a:ext cx="552450" cy="552450"/>
          </a:xfrm>
          <a:prstGeom prst="rect">
            <a:avLst/>
          </a:prstGeom>
        </p:spPr>
      </p:pic>
      <p:sp>
        <p:nvSpPr>
          <p:cNvPr id="7" name="top-label-0">
            <a:extLst>
              <a:ext uri="{FF2B5EF4-FFF2-40B4-BE49-F238E27FC236}">
                <a16:creationId xmlns:a16="http://schemas.microsoft.com/office/drawing/2014/main" id="{97ADEE42-7152-4CA9-B022-FABEE98A4350}"/>
              </a:ext>
            </a:extLst>
          </p:cNvPr>
          <p:cNvSpPr>
            <a:spLocks noGrp="1"/>
          </p:cNvSpPr>
          <p:nvPr/>
        </p:nvSpPr>
        <p:spPr>
          <a:xfrm>
            <a:off x="3667125" y="2352675"/>
            <a:ext cx="1619250" cy="323850"/>
          </a:xfrm>
          <a:prstGeom prst="rect">
            <a:avLst/>
          </a:prstGeom>
          <a:noFill/>
          <a:ln w="0">
            <a:noFill/>
            <a:prstDash val="solid"/>
          </a:ln>
        </p:spPr>
        <p:txBody>
          <a:bodyPr/>
          <a:lstStyle/>
          <a:p>
            <a:pPr algn="ctr">
              <a:defRPr sz="1350">
                <a:solidFill>
                  <a:srgbClr val="000000"/>
                </a:solidFill>
              </a:defRPr>
            </a:pPr>
            <a:r>
              <a:rPr sz="1350">
                <a:solidFill>
                  <a:srgbClr val="000000"/>
                </a:solidFill>
              </a:rPr>
              <a:t>Data store</a:t>
            </a:r>
          </a:p>
        </p:txBody>
      </p:sp>
      <p:sp>
        <p:nvSpPr>
          <p:cNvPr id="8" name="top-arrow-1">
            <a:extLst>
              <a:ext uri="{FF2B5EF4-FFF2-40B4-BE49-F238E27FC236}">
                <a16:creationId xmlns:a16="http://schemas.microsoft.com/office/drawing/2014/main" id="{2FC212F8-2C35-4142-9685-8F0C83FC079A}"/>
              </a:ext>
            </a:extLst>
          </p:cNvPr>
          <p:cNvSpPr>
            <a:spLocks noGrp="1"/>
          </p:cNvSpPr>
          <p:nvPr/>
        </p:nvSpPr>
        <p:spPr>
          <a:xfrm>
            <a:off x="7896225" y="1809750"/>
            <a:ext cx="762000" cy="323850"/>
          </a:xfrm>
          <a:prstGeom prst="rect">
            <a:avLst/>
          </a:prstGeom>
          <a:noFill/>
          <a:ln w="0">
            <a:noFill/>
            <a:prstDash val="solid"/>
          </a:ln>
        </p:spPr>
        <p:txBody>
          <a:bodyPr/>
          <a:lstStyle/>
          <a:p>
            <a:pPr algn="ctr">
              <a:defRPr sz="1800" b="1">
                <a:solidFill>
                  <a:srgbClr val="7A8793"/>
                </a:solidFill>
              </a:defRPr>
            </a:pPr>
            <a:r>
              <a:rPr sz="1800" b="1">
                <a:solidFill>
                  <a:srgbClr val="7A8793"/>
                </a:solidFill>
              </a:rPr>
              <a:t>→</a:t>
            </a:r>
          </a:p>
        </p:txBody>
      </p:sp>
      <p:sp>
        <p:nvSpPr>
          <p:cNvPr id="9" name="top-node-1">
            <a:extLst>
              <a:ext uri="{FF2B5EF4-FFF2-40B4-BE49-F238E27FC236}">
                <a16:creationId xmlns:a16="http://schemas.microsoft.com/office/drawing/2014/main" id="{F7505CA2-DAFD-46DB-891F-CA721F149FD4}"/>
              </a:ext>
            </a:extLst>
          </p:cNvPr>
          <p:cNvSpPr>
            <a:spLocks noGrp="1"/>
          </p:cNvSpPr>
          <p:nvPr/>
        </p:nvSpPr>
        <p:spPr>
          <a:xfrm>
            <a:off x="6791325" y="1524000"/>
            <a:ext cx="800100" cy="742950"/>
          </a:xfrm>
          <a:prstGeom prst="roundRect">
            <a:avLst>
              <a:gd name="adj" fmla="val 10256"/>
            </a:avLst>
          </a:prstGeom>
          <a:solidFill>
            <a:srgbClr val="FFF8F2"/>
          </a:solidFill>
          <a:ln w="19050">
            <a:solidFill>
              <a:srgbClr val="C55A11"/>
            </a:solidFill>
            <a:prstDash val="solid"/>
          </a:ln>
        </p:spPr>
        <p:txBody>
          <a:bodyPr/>
          <a:lstStyle/>
          <a:p>
            <a:endParaRPr lang="en-US"/>
          </a:p>
        </p:txBody>
      </p:sp>
      <p:pic>
        <p:nvPicPr>
          <p:cNvPr id="43" name="Picture 42"/>
          <p:cNvPicPr>
            <a:picLocks noChangeAspect="1"/>
          </p:cNvPicPr>
          <p:nvPr/>
        </p:nvPicPr>
        <p:blipFill>
          <a:blip r:embed="rId4"/>
          <a:stretch/>
        </p:blipFill>
        <p:spPr>
          <a:xfrm>
            <a:off x="6915150" y="1619250"/>
            <a:ext cx="552450" cy="552450"/>
          </a:xfrm>
          <a:prstGeom prst="rect">
            <a:avLst/>
          </a:prstGeom>
        </p:spPr>
      </p:pic>
      <p:sp>
        <p:nvSpPr>
          <p:cNvPr id="11" name="top-label-1">
            <a:extLst>
              <a:ext uri="{FF2B5EF4-FFF2-40B4-BE49-F238E27FC236}">
                <a16:creationId xmlns:a16="http://schemas.microsoft.com/office/drawing/2014/main" id="{771C77BD-31FF-4596-9C41-B1B15A50C755}"/>
              </a:ext>
            </a:extLst>
          </p:cNvPr>
          <p:cNvSpPr>
            <a:spLocks noGrp="1"/>
          </p:cNvSpPr>
          <p:nvPr/>
        </p:nvSpPr>
        <p:spPr>
          <a:xfrm>
            <a:off x="6381750" y="2352675"/>
            <a:ext cx="1619250" cy="323850"/>
          </a:xfrm>
          <a:prstGeom prst="rect">
            <a:avLst/>
          </a:prstGeom>
          <a:noFill/>
          <a:ln w="0">
            <a:noFill/>
            <a:prstDash val="solid"/>
          </a:ln>
        </p:spPr>
        <p:txBody>
          <a:bodyPr/>
          <a:lstStyle/>
          <a:p>
            <a:pPr algn="ctr">
              <a:defRPr sz="1350">
                <a:solidFill>
                  <a:srgbClr val="000000"/>
                </a:solidFill>
              </a:defRPr>
            </a:pPr>
            <a:r>
              <a:rPr sz="1350">
                <a:solidFill>
                  <a:srgbClr val="000000"/>
                </a:solidFill>
              </a:rPr>
              <a:t>Service API</a:t>
            </a:r>
          </a:p>
        </p:txBody>
      </p:sp>
      <p:sp>
        <p:nvSpPr>
          <p:cNvPr id="12" name="top-node-2">
            <a:extLst>
              <a:ext uri="{FF2B5EF4-FFF2-40B4-BE49-F238E27FC236}">
                <a16:creationId xmlns:a16="http://schemas.microsoft.com/office/drawing/2014/main" id="{529373FB-D9A0-4C12-9919-5FB2ECD489AB}"/>
              </a:ext>
            </a:extLst>
          </p:cNvPr>
          <p:cNvSpPr>
            <a:spLocks noGrp="1"/>
          </p:cNvSpPr>
          <p:nvPr/>
        </p:nvSpPr>
        <p:spPr>
          <a:xfrm>
            <a:off x="9505950" y="1524000"/>
            <a:ext cx="800100" cy="742950"/>
          </a:xfrm>
          <a:prstGeom prst="roundRect">
            <a:avLst>
              <a:gd name="adj" fmla="val 10256"/>
            </a:avLst>
          </a:prstGeom>
          <a:solidFill>
            <a:srgbClr val="FFF8F2"/>
          </a:solidFill>
          <a:ln w="19050">
            <a:solidFill>
              <a:srgbClr val="C55A11"/>
            </a:solidFill>
            <a:prstDash val="solid"/>
          </a:ln>
        </p:spPr>
        <p:txBody>
          <a:bodyPr/>
          <a:lstStyle/>
          <a:p>
            <a:endParaRPr lang="en-US"/>
          </a:p>
        </p:txBody>
      </p:sp>
      <p:pic>
        <p:nvPicPr>
          <p:cNvPr id="46" name="Picture 45"/>
          <p:cNvPicPr>
            <a:picLocks noChangeAspect="1"/>
          </p:cNvPicPr>
          <p:nvPr/>
        </p:nvPicPr>
        <p:blipFill>
          <a:blip r:embed="rId5"/>
          <a:stretch/>
        </p:blipFill>
        <p:spPr>
          <a:xfrm>
            <a:off x="9629775" y="1619250"/>
            <a:ext cx="552450" cy="552450"/>
          </a:xfrm>
          <a:prstGeom prst="rect">
            <a:avLst/>
          </a:prstGeom>
        </p:spPr>
      </p:pic>
      <p:sp>
        <p:nvSpPr>
          <p:cNvPr id="14" name="top-label-2">
            <a:extLst>
              <a:ext uri="{FF2B5EF4-FFF2-40B4-BE49-F238E27FC236}">
                <a16:creationId xmlns:a16="http://schemas.microsoft.com/office/drawing/2014/main" id="{AAFED5A5-86E5-431F-9FDA-83D1833DD933}"/>
              </a:ext>
            </a:extLst>
          </p:cNvPr>
          <p:cNvSpPr>
            <a:spLocks noGrp="1"/>
          </p:cNvSpPr>
          <p:nvPr/>
        </p:nvSpPr>
        <p:spPr>
          <a:xfrm>
            <a:off x="9096375" y="2352675"/>
            <a:ext cx="1619250" cy="323850"/>
          </a:xfrm>
          <a:prstGeom prst="rect">
            <a:avLst/>
          </a:prstGeom>
          <a:noFill/>
          <a:ln w="0">
            <a:noFill/>
            <a:prstDash val="solid"/>
          </a:ln>
        </p:spPr>
        <p:txBody>
          <a:bodyPr/>
          <a:lstStyle/>
          <a:p>
            <a:pPr algn="ctr">
              <a:defRPr sz="1350">
                <a:solidFill>
                  <a:srgbClr val="000000"/>
                </a:solidFill>
              </a:defRPr>
            </a:pPr>
            <a:r>
              <a:rPr sz="1350">
                <a:solidFill>
                  <a:srgbClr val="000000"/>
                </a:solidFill>
              </a:rPr>
              <a:t>Basic interface</a:t>
            </a:r>
          </a:p>
        </p:txBody>
      </p:sp>
      <p:sp>
        <p:nvSpPr>
          <p:cNvPr id="15" name="top-outcome">
            <a:extLst>
              <a:ext uri="{FF2B5EF4-FFF2-40B4-BE49-F238E27FC236}">
                <a16:creationId xmlns:a16="http://schemas.microsoft.com/office/drawing/2014/main" id="{BB731987-1DE4-4524-B8B8-961A41C3186E}"/>
              </a:ext>
            </a:extLst>
          </p:cNvPr>
          <p:cNvSpPr>
            <a:spLocks noGrp="1"/>
          </p:cNvSpPr>
          <p:nvPr/>
        </p:nvSpPr>
        <p:spPr>
          <a:xfrm>
            <a:off x="3333750" y="2838450"/>
            <a:ext cx="7524750" cy="333375"/>
          </a:xfrm>
          <a:prstGeom prst="rect">
            <a:avLst/>
          </a:prstGeom>
          <a:noFill/>
          <a:ln w="0">
            <a:noFill/>
            <a:prstDash val="solid"/>
          </a:ln>
        </p:spPr>
        <p:txBody>
          <a:bodyPr/>
          <a:lstStyle/>
          <a:p>
            <a:pPr algn="ctr">
              <a:defRPr sz="1500" b="1">
                <a:solidFill>
                  <a:srgbClr val="C55A11"/>
                </a:solidFill>
              </a:defRPr>
            </a:pPr>
            <a:r>
              <a:rPr sz="2000" b="1" dirty="0">
                <a:solidFill>
                  <a:srgbClr val="C55A11"/>
                </a:solidFill>
              </a:rPr>
              <a:t>Necessary components—but not yet a complete user outcome.</a:t>
            </a:r>
          </a:p>
        </p:txBody>
      </p:sp>
      <p:sp>
        <p:nvSpPr>
          <p:cNvPr id="16" name="divider">
            <a:extLst>
              <a:ext uri="{FF2B5EF4-FFF2-40B4-BE49-F238E27FC236}">
                <a16:creationId xmlns:a16="http://schemas.microsoft.com/office/drawing/2014/main" id="{51975D64-797D-4A74-A034-03B786F08101}"/>
              </a:ext>
            </a:extLst>
          </p:cNvPr>
          <p:cNvSpPr>
            <a:spLocks noGrp="1"/>
          </p:cNvSpPr>
          <p:nvPr/>
        </p:nvSpPr>
        <p:spPr>
          <a:xfrm>
            <a:off x="685800" y="3381375"/>
            <a:ext cx="10820400" cy="9525"/>
          </a:xfrm>
          <a:prstGeom prst="rect">
            <a:avLst/>
          </a:prstGeom>
          <a:solidFill>
            <a:srgbClr val="D9E1E8"/>
          </a:solidFill>
          <a:ln w="0">
            <a:noFill/>
            <a:prstDash val="solid"/>
          </a:ln>
        </p:spPr>
        <p:txBody>
          <a:bodyPr/>
          <a:lstStyle/>
          <a:p>
            <a:endParaRPr lang="en-US" sz="2000" dirty="0">
              <a:solidFill>
                <a:schemeClr val="bg1">
                  <a:lumMod val="65000"/>
                </a:schemeClr>
              </a:solidFill>
            </a:endParaRPr>
          </a:p>
        </p:txBody>
      </p:sp>
      <p:sp>
        <p:nvSpPr>
          <p:cNvPr id="17" name="increments-label">
            <a:extLst>
              <a:ext uri="{FF2B5EF4-FFF2-40B4-BE49-F238E27FC236}">
                <a16:creationId xmlns:a16="http://schemas.microsoft.com/office/drawing/2014/main" id="{4476C0F8-B5AF-4672-8D61-9CE699D0080F}"/>
              </a:ext>
            </a:extLst>
          </p:cNvPr>
          <p:cNvSpPr>
            <a:spLocks noGrp="1"/>
          </p:cNvSpPr>
          <p:nvPr/>
        </p:nvSpPr>
        <p:spPr>
          <a:xfrm>
            <a:off x="723900" y="3876675"/>
            <a:ext cx="2476500" cy="323850"/>
          </a:xfrm>
          <a:prstGeom prst="rect">
            <a:avLst/>
          </a:prstGeom>
          <a:noFill/>
          <a:ln w="0">
            <a:noFill/>
            <a:prstDash val="solid"/>
          </a:ln>
        </p:spPr>
        <p:txBody>
          <a:bodyPr/>
          <a:lstStyle/>
          <a:p>
            <a:pPr>
              <a:defRPr sz="1500" b="1">
                <a:solidFill>
                  <a:srgbClr val="008C95"/>
                </a:solidFill>
              </a:defRPr>
            </a:pPr>
            <a:r>
              <a:rPr sz="2400" b="1" dirty="0">
                <a:solidFill>
                  <a:srgbClr val="008C95"/>
                </a:solidFill>
              </a:rPr>
              <a:t>USABLE INCREMENTS</a:t>
            </a:r>
          </a:p>
        </p:txBody>
      </p:sp>
      <p:sp>
        <p:nvSpPr>
          <p:cNvPr id="18" name="bottom-arrow-0">
            <a:extLst>
              <a:ext uri="{FF2B5EF4-FFF2-40B4-BE49-F238E27FC236}">
                <a16:creationId xmlns:a16="http://schemas.microsoft.com/office/drawing/2014/main" id="{87AAB3D6-C43F-44FA-9D24-EE89FBFF7C84}"/>
              </a:ext>
            </a:extLst>
          </p:cNvPr>
          <p:cNvSpPr>
            <a:spLocks noGrp="1"/>
          </p:cNvSpPr>
          <p:nvPr/>
        </p:nvSpPr>
        <p:spPr>
          <a:xfrm>
            <a:off x="4686300" y="3962400"/>
            <a:ext cx="762000" cy="400050"/>
          </a:xfrm>
          <a:prstGeom prst="rect">
            <a:avLst/>
          </a:prstGeom>
          <a:noFill/>
          <a:ln w="0">
            <a:noFill/>
            <a:prstDash val="solid"/>
          </a:ln>
        </p:spPr>
        <p:txBody>
          <a:bodyPr/>
          <a:lstStyle/>
          <a:p>
            <a:pPr algn="ctr">
              <a:defRPr sz="2100" b="1">
                <a:solidFill>
                  <a:srgbClr val="7A8793"/>
                </a:solidFill>
              </a:defRPr>
            </a:pPr>
            <a:r>
              <a:rPr sz="2100" b="1">
                <a:solidFill>
                  <a:srgbClr val="7A8793"/>
                </a:solidFill>
              </a:rPr>
              <a:t>→</a:t>
            </a:r>
          </a:p>
        </p:txBody>
      </p:sp>
      <p:sp>
        <p:nvSpPr>
          <p:cNvPr id="19" name="increment-assignment">
            <a:extLst>
              <a:ext uri="{FF2B5EF4-FFF2-40B4-BE49-F238E27FC236}">
                <a16:creationId xmlns:a16="http://schemas.microsoft.com/office/drawing/2014/main" id="{01495088-B1F6-4E85-A328-9A694C331585}"/>
              </a:ext>
            </a:extLst>
          </p:cNvPr>
          <p:cNvSpPr>
            <a:spLocks noGrp="1"/>
          </p:cNvSpPr>
          <p:nvPr/>
        </p:nvSpPr>
        <p:spPr>
          <a:xfrm>
            <a:off x="3476625" y="3714750"/>
            <a:ext cx="857250" cy="800100"/>
          </a:xfrm>
          <a:prstGeom prst="roundRect">
            <a:avLst>
              <a:gd name="adj" fmla="val 9524"/>
            </a:avLst>
          </a:prstGeom>
          <a:solidFill>
            <a:srgbClr val="FFFFFF"/>
          </a:solidFill>
          <a:ln w="19050">
            <a:solidFill>
              <a:srgbClr val="1F4E79"/>
            </a:solidFill>
            <a:prstDash val="solid"/>
          </a:ln>
        </p:spPr>
        <p:txBody>
          <a:bodyPr/>
          <a:lstStyle/>
          <a:p>
            <a:endParaRPr lang="en-US"/>
          </a:p>
        </p:txBody>
      </p:sp>
      <p:pic>
        <p:nvPicPr>
          <p:cNvPr id="53" name="Picture 52"/>
          <p:cNvPicPr>
            <a:picLocks noChangeAspect="1"/>
          </p:cNvPicPr>
          <p:nvPr/>
        </p:nvPicPr>
        <p:blipFill>
          <a:blip r:embed="rId6"/>
          <a:stretch/>
        </p:blipFill>
        <p:spPr>
          <a:xfrm>
            <a:off x="3609975" y="3819525"/>
            <a:ext cx="590550" cy="590550"/>
          </a:xfrm>
          <a:prstGeom prst="rect">
            <a:avLst/>
          </a:prstGeom>
        </p:spPr>
      </p:pic>
      <p:sp>
        <p:nvSpPr>
          <p:cNvPr id="21" name="increment-quality-assignment">
            <a:extLst>
              <a:ext uri="{FF2B5EF4-FFF2-40B4-BE49-F238E27FC236}">
                <a16:creationId xmlns:a16="http://schemas.microsoft.com/office/drawing/2014/main" id="{43146B4E-F31A-47EB-A63C-3613554001C9}"/>
              </a:ext>
            </a:extLst>
          </p:cNvPr>
          <p:cNvSpPr>
            <a:spLocks noGrp="1"/>
          </p:cNvSpPr>
          <p:nvPr/>
        </p:nvSpPr>
        <p:spPr>
          <a:xfrm>
            <a:off x="2857500" y="4572000"/>
            <a:ext cx="2095500" cy="285750"/>
          </a:xfrm>
          <a:prstGeom prst="rect">
            <a:avLst/>
          </a:prstGeom>
          <a:noFill/>
          <a:ln w="0">
            <a:noFill/>
            <a:prstDash val="solid"/>
          </a:ln>
        </p:spPr>
        <p:txBody>
          <a:bodyPr/>
          <a:lstStyle/>
          <a:p>
            <a:pPr algn="ctr">
              <a:defRPr sz="1350" b="1">
                <a:solidFill>
                  <a:srgbClr val="1F4E79"/>
                </a:solidFill>
              </a:defRPr>
            </a:pPr>
            <a:r>
              <a:rPr lang="en-US" sz="2000" b="1" dirty="0">
                <a:solidFill>
                  <a:srgbClr val="1F4E79"/>
                </a:solidFill>
              </a:rPr>
              <a:t>INCREMENT 1</a:t>
            </a:r>
            <a:endParaRPr sz="2000" b="1" dirty="0">
              <a:solidFill>
                <a:srgbClr val="1F4E79"/>
              </a:solidFill>
            </a:endParaRPr>
          </a:p>
        </p:txBody>
      </p:sp>
      <p:sp>
        <p:nvSpPr>
          <p:cNvPr id="22" name="increment-label-assignment">
            <a:extLst>
              <a:ext uri="{FF2B5EF4-FFF2-40B4-BE49-F238E27FC236}">
                <a16:creationId xmlns:a16="http://schemas.microsoft.com/office/drawing/2014/main" id="{D626C1F6-A6B7-42F2-8C10-411EC2F76369}"/>
              </a:ext>
            </a:extLst>
          </p:cNvPr>
          <p:cNvSpPr>
            <a:spLocks noGrp="1"/>
          </p:cNvSpPr>
          <p:nvPr/>
        </p:nvSpPr>
        <p:spPr>
          <a:xfrm>
            <a:off x="2857500" y="4905375"/>
            <a:ext cx="2095500" cy="552450"/>
          </a:xfrm>
          <a:prstGeom prst="rect">
            <a:avLst/>
          </a:prstGeom>
          <a:noFill/>
          <a:ln w="0">
            <a:noFill/>
            <a:prstDash val="solid"/>
          </a:ln>
        </p:spPr>
        <p:txBody>
          <a:bodyPr/>
          <a:lstStyle/>
          <a:p>
            <a:pPr algn="ctr">
              <a:defRPr sz="1500">
                <a:solidFill>
                  <a:srgbClr val="000000"/>
                </a:solidFill>
              </a:defRPr>
            </a:pPr>
            <a:r>
              <a:rPr sz="2000" dirty="0">
                <a:solidFill>
                  <a:srgbClr val="000000"/>
                </a:solidFill>
              </a:rPr>
              <a:t>View assignment</a:t>
            </a:r>
          </a:p>
          <a:p>
            <a:pPr algn="ctr">
              <a:defRPr sz="1500">
                <a:solidFill>
                  <a:srgbClr val="000000"/>
                </a:solidFill>
              </a:defRPr>
            </a:pPr>
            <a:r>
              <a:rPr sz="2000" dirty="0">
                <a:solidFill>
                  <a:srgbClr val="000000"/>
                </a:solidFill>
              </a:rPr>
              <a:t>+ due date</a:t>
            </a:r>
          </a:p>
        </p:txBody>
      </p:sp>
      <p:sp>
        <p:nvSpPr>
          <p:cNvPr id="23" name="bottom-arrow-1">
            <a:extLst>
              <a:ext uri="{FF2B5EF4-FFF2-40B4-BE49-F238E27FC236}">
                <a16:creationId xmlns:a16="http://schemas.microsoft.com/office/drawing/2014/main" id="{0B0C1DBA-A2E0-4966-80C8-DB14197D9593}"/>
              </a:ext>
            </a:extLst>
          </p:cNvPr>
          <p:cNvSpPr>
            <a:spLocks noGrp="1"/>
          </p:cNvSpPr>
          <p:nvPr/>
        </p:nvSpPr>
        <p:spPr>
          <a:xfrm>
            <a:off x="7543800" y="3962400"/>
            <a:ext cx="762000" cy="400050"/>
          </a:xfrm>
          <a:prstGeom prst="rect">
            <a:avLst/>
          </a:prstGeom>
          <a:noFill/>
          <a:ln w="0">
            <a:noFill/>
            <a:prstDash val="solid"/>
          </a:ln>
        </p:spPr>
        <p:txBody>
          <a:bodyPr/>
          <a:lstStyle/>
          <a:p>
            <a:pPr algn="ctr">
              <a:defRPr sz="2100" b="1">
                <a:solidFill>
                  <a:srgbClr val="7A8793"/>
                </a:solidFill>
              </a:defRPr>
            </a:pPr>
            <a:r>
              <a:rPr sz="2100" b="1">
                <a:solidFill>
                  <a:srgbClr val="7A8793"/>
                </a:solidFill>
              </a:rPr>
              <a:t>→</a:t>
            </a:r>
          </a:p>
        </p:txBody>
      </p:sp>
      <p:sp>
        <p:nvSpPr>
          <p:cNvPr id="24" name="increment-submit">
            <a:extLst>
              <a:ext uri="{FF2B5EF4-FFF2-40B4-BE49-F238E27FC236}">
                <a16:creationId xmlns:a16="http://schemas.microsoft.com/office/drawing/2014/main" id="{BD963ED4-EA37-4758-98C8-8F794A98AF08}"/>
              </a:ext>
            </a:extLst>
          </p:cNvPr>
          <p:cNvSpPr>
            <a:spLocks noGrp="1"/>
          </p:cNvSpPr>
          <p:nvPr/>
        </p:nvSpPr>
        <p:spPr>
          <a:xfrm>
            <a:off x="6334125" y="3714750"/>
            <a:ext cx="857250" cy="800100"/>
          </a:xfrm>
          <a:prstGeom prst="roundRect">
            <a:avLst>
              <a:gd name="adj" fmla="val 9524"/>
            </a:avLst>
          </a:prstGeom>
          <a:solidFill>
            <a:srgbClr val="FFFFFF"/>
          </a:solidFill>
          <a:ln w="19050">
            <a:solidFill>
              <a:srgbClr val="008C95"/>
            </a:solidFill>
            <a:prstDash val="solid"/>
          </a:ln>
        </p:spPr>
        <p:txBody>
          <a:bodyPr/>
          <a:lstStyle/>
          <a:p>
            <a:endParaRPr lang="en-US"/>
          </a:p>
        </p:txBody>
      </p:sp>
      <p:pic>
        <p:nvPicPr>
          <p:cNvPr id="58" name="Picture 57"/>
          <p:cNvPicPr>
            <a:picLocks noChangeAspect="1"/>
          </p:cNvPicPr>
          <p:nvPr/>
        </p:nvPicPr>
        <p:blipFill>
          <a:blip r:embed="rId7"/>
          <a:stretch/>
        </p:blipFill>
        <p:spPr>
          <a:xfrm>
            <a:off x="6467475" y="3819525"/>
            <a:ext cx="590550" cy="590550"/>
          </a:xfrm>
          <a:prstGeom prst="rect">
            <a:avLst/>
          </a:prstGeom>
        </p:spPr>
      </p:pic>
      <p:sp>
        <p:nvSpPr>
          <p:cNvPr id="26" name="increment-quality-submit">
            <a:extLst>
              <a:ext uri="{FF2B5EF4-FFF2-40B4-BE49-F238E27FC236}">
                <a16:creationId xmlns:a16="http://schemas.microsoft.com/office/drawing/2014/main" id="{37721FAD-6AA8-431A-BC26-3C04DAF1F904}"/>
              </a:ext>
            </a:extLst>
          </p:cNvPr>
          <p:cNvSpPr>
            <a:spLocks noGrp="1"/>
          </p:cNvSpPr>
          <p:nvPr/>
        </p:nvSpPr>
        <p:spPr>
          <a:xfrm>
            <a:off x="5715000" y="4572000"/>
            <a:ext cx="2095500" cy="285750"/>
          </a:xfrm>
          <a:prstGeom prst="rect">
            <a:avLst/>
          </a:prstGeom>
          <a:noFill/>
          <a:ln w="0">
            <a:noFill/>
            <a:prstDash val="solid"/>
          </a:ln>
        </p:spPr>
        <p:txBody>
          <a:bodyPr/>
          <a:lstStyle/>
          <a:p>
            <a:pPr algn="ctr">
              <a:defRPr sz="1350" b="1">
                <a:solidFill>
                  <a:srgbClr val="008C95"/>
                </a:solidFill>
              </a:defRPr>
            </a:pPr>
            <a:r>
              <a:rPr lang="en-US" sz="2000" b="1" dirty="0">
                <a:solidFill>
                  <a:srgbClr val="008C95"/>
                </a:solidFill>
              </a:rPr>
              <a:t>INCREMENT 2</a:t>
            </a:r>
            <a:endParaRPr sz="2000" b="1" dirty="0">
              <a:solidFill>
                <a:srgbClr val="008C95"/>
              </a:solidFill>
            </a:endParaRPr>
          </a:p>
        </p:txBody>
      </p:sp>
      <p:sp>
        <p:nvSpPr>
          <p:cNvPr id="27" name="increment-label-submit">
            <a:extLst>
              <a:ext uri="{FF2B5EF4-FFF2-40B4-BE49-F238E27FC236}">
                <a16:creationId xmlns:a16="http://schemas.microsoft.com/office/drawing/2014/main" id="{CDD6E49E-E948-497E-97A2-6EF834AA0E8D}"/>
              </a:ext>
            </a:extLst>
          </p:cNvPr>
          <p:cNvSpPr>
            <a:spLocks noGrp="1"/>
          </p:cNvSpPr>
          <p:nvPr/>
        </p:nvSpPr>
        <p:spPr>
          <a:xfrm>
            <a:off x="5715000" y="4905375"/>
            <a:ext cx="2095500" cy="552450"/>
          </a:xfrm>
          <a:prstGeom prst="rect">
            <a:avLst/>
          </a:prstGeom>
          <a:noFill/>
          <a:ln w="0">
            <a:noFill/>
            <a:prstDash val="solid"/>
          </a:ln>
        </p:spPr>
        <p:txBody>
          <a:bodyPr/>
          <a:lstStyle/>
          <a:p>
            <a:pPr algn="ctr">
              <a:defRPr sz="1500">
                <a:solidFill>
                  <a:srgbClr val="000000"/>
                </a:solidFill>
              </a:defRPr>
            </a:pPr>
            <a:r>
              <a:rPr sz="2000" dirty="0">
                <a:solidFill>
                  <a:srgbClr val="000000"/>
                </a:solidFill>
              </a:rPr>
              <a:t>Submit work</a:t>
            </a:r>
          </a:p>
          <a:p>
            <a:pPr algn="ctr">
              <a:defRPr sz="1500">
                <a:solidFill>
                  <a:srgbClr val="000000"/>
                </a:solidFill>
              </a:defRPr>
            </a:pPr>
            <a:r>
              <a:rPr sz="2000" dirty="0">
                <a:solidFill>
                  <a:srgbClr val="000000"/>
                </a:solidFill>
              </a:rPr>
              <a:t>+ confirmation</a:t>
            </a:r>
          </a:p>
        </p:txBody>
      </p:sp>
      <p:sp>
        <p:nvSpPr>
          <p:cNvPr id="28" name="increment-feedback">
            <a:extLst>
              <a:ext uri="{FF2B5EF4-FFF2-40B4-BE49-F238E27FC236}">
                <a16:creationId xmlns:a16="http://schemas.microsoft.com/office/drawing/2014/main" id="{6A57239F-E821-4FCA-86BD-10A18CF4308C}"/>
              </a:ext>
            </a:extLst>
          </p:cNvPr>
          <p:cNvSpPr>
            <a:spLocks noGrp="1"/>
          </p:cNvSpPr>
          <p:nvPr/>
        </p:nvSpPr>
        <p:spPr>
          <a:xfrm>
            <a:off x="9191625" y="3714750"/>
            <a:ext cx="857250" cy="800100"/>
          </a:xfrm>
          <a:prstGeom prst="roundRect">
            <a:avLst>
              <a:gd name="adj" fmla="val 9524"/>
            </a:avLst>
          </a:prstGeom>
          <a:solidFill>
            <a:srgbClr val="FFFFFF"/>
          </a:solidFill>
          <a:ln w="19050">
            <a:solidFill>
              <a:srgbClr val="6B5B95"/>
            </a:solidFill>
            <a:prstDash val="solid"/>
          </a:ln>
        </p:spPr>
        <p:txBody>
          <a:bodyPr/>
          <a:lstStyle/>
          <a:p>
            <a:endParaRPr lang="en-US"/>
          </a:p>
        </p:txBody>
      </p:sp>
      <p:pic>
        <p:nvPicPr>
          <p:cNvPr id="62" name="Picture 61"/>
          <p:cNvPicPr>
            <a:picLocks noChangeAspect="1"/>
          </p:cNvPicPr>
          <p:nvPr/>
        </p:nvPicPr>
        <p:blipFill>
          <a:blip r:embed="rId8"/>
          <a:stretch/>
        </p:blipFill>
        <p:spPr>
          <a:xfrm>
            <a:off x="9324975" y="3819525"/>
            <a:ext cx="590550" cy="590550"/>
          </a:xfrm>
          <a:prstGeom prst="rect">
            <a:avLst/>
          </a:prstGeom>
        </p:spPr>
      </p:pic>
      <p:sp>
        <p:nvSpPr>
          <p:cNvPr id="30" name="increment-quality-feedback">
            <a:extLst>
              <a:ext uri="{FF2B5EF4-FFF2-40B4-BE49-F238E27FC236}">
                <a16:creationId xmlns:a16="http://schemas.microsoft.com/office/drawing/2014/main" id="{5446199D-8652-4BD2-9D6E-9F2C70E5A35C}"/>
              </a:ext>
            </a:extLst>
          </p:cNvPr>
          <p:cNvSpPr>
            <a:spLocks noGrp="1"/>
          </p:cNvSpPr>
          <p:nvPr/>
        </p:nvSpPr>
        <p:spPr>
          <a:xfrm>
            <a:off x="8572500" y="4572000"/>
            <a:ext cx="2095500" cy="285750"/>
          </a:xfrm>
          <a:prstGeom prst="rect">
            <a:avLst/>
          </a:prstGeom>
          <a:noFill/>
          <a:ln w="0">
            <a:noFill/>
            <a:prstDash val="solid"/>
          </a:ln>
        </p:spPr>
        <p:txBody>
          <a:bodyPr/>
          <a:lstStyle/>
          <a:p>
            <a:pPr algn="ctr">
              <a:defRPr sz="1350" b="1">
                <a:solidFill>
                  <a:srgbClr val="6B5B95"/>
                </a:solidFill>
              </a:defRPr>
            </a:pPr>
            <a:r>
              <a:rPr lang="en-US" sz="2000" b="1" dirty="0">
                <a:solidFill>
                  <a:srgbClr val="6B5B95"/>
                </a:solidFill>
              </a:rPr>
              <a:t>INCREMENT 3</a:t>
            </a:r>
            <a:endParaRPr sz="2000" b="1" dirty="0">
              <a:solidFill>
                <a:srgbClr val="6B5B95"/>
              </a:solidFill>
            </a:endParaRPr>
          </a:p>
        </p:txBody>
      </p:sp>
      <p:sp>
        <p:nvSpPr>
          <p:cNvPr id="31" name="increment-label-feedback">
            <a:extLst>
              <a:ext uri="{FF2B5EF4-FFF2-40B4-BE49-F238E27FC236}">
                <a16:creationId xmlns:a16="http://schemas.microsoft.com/office/drawing/2014/main" id="{9F4F9D8E-4B2E-4F60-B1A1-56ABBFDC790B}"/>
              </a:ext>
            </a:extLst>
          </p:cNvPr>
          <p:cNvSpPr>
            <a:spLocks noGrp="1"/>
          </p:cNvSpPr>
          <p:nvPr/>
        </p:nvSpPr>
        <p:spPr>
          <a:xfrm>
            <a:off x="8572500" y="4905375"/>
            <a:ext cx="2095500" cy="552450"/>
          </a:xfrm>
          <a:prstGeom prst="rect">
            <a:avLst/>
          </a:prstGeom>
          <a:noFill/>
          <a:ln w="0">
            <a:noFill/>
            <a:prstDash val="solid"/>
          </a:ln>
        </p:spPr>
        <p:txBody>
          <a:bodyPr/>
          <a:lstStyle/>
          <a:p>
            <a:pPr algn="ctr">
              <a:defRPr sz="1500">
                <a:solidFill>
                  <a:srgbClr val="000000"/>
                </a:solidFill>
              </a:defRPr>
            </a:pPr>
            <a:r>
              <a:rPr sz="2000" dirty="0">
                <a:solidFill>
                  <a:srgbClr val="000000"/>
                </a:solidFill>
              </a:rPr>
              <a:t>Instructor review</a:t>
            </a:r>
          </a:p>
          <a:p>
            <a:pPr algn="ctr">
              <a:defRPr sz="1500">
                <a:solidFill>
                  <a:srgbClr val="000000"/>
                </a:solidFill>
              </a:defRPr>
            </a:pPr>
            <a:r>
              <a:rPr sz="2000" dirty="0">
                <a:solidFill>
                  <a:srgbClr val="000000"/>
                </a:solidFill>
              </a:rPr>
              <a:t>+ feedback</a:t>
            </a:r>
          </a:p>
        </p:txBody>
      </p:sp>
      <p:sp>
        <p:nvSpPr>
          <p:cNvPr id="32" name="increment-takeaway-band">
            <a:extLst>
              <a:ext uri="{FF2B5EF4-FFF2-40B4-BE49-F238E27FC236}">
                <a16:creationId xmlns:a16="http://schemas.microsoft.com/office/drawing/2014/main" id="{7F82FA17-5EC4-441F-817F-49D26585E887}"/>
              </a:ext>
            </a:extLst>
          </p:cNvPr>
          <p:cNvSpPr>
            <a:spLocks noGrp="1"/>
          </p:cNvSpPr>
          <p:nvPr/>
        </p:nvSpPr>
        <p:spPr>
          <a:xfrm>
            <a:off x="685800" y="5715000"/>
            <a:ext cx="10820400" cy="590550"/>
          </a:xfrm>
          <a:prstGeom prst="roundRect">
            <a:avLst>
              <a:gd name="adj" fmla="val 12903"/>
            </a:avLst>
          </a:prstGeom>
          <a:solidFill>
            <a:srgbClr val="EAF2F8"/>
          </a:solidFill>
          <a:ln w="9525">
            <a:solidFill>
              <a:srgbClr val="C9DDEA"/>
            </a:solidFill>
            <a:prstDash val="solid"/>
          </a:ln>
        </p:spPr>
        <p:txBody>
          <a:bodyPr/>
          <a:lstStyle/>
          <a:p>
            <a:endParaRPr lang="en-US"/>
          </a:p>
        </p:txBody>
      </p:sp>
      <p:sp>
        <p:nvSpPr>
          <p:cNvPr id="33" name="increment-takeaway">
            <a:extLst>
              <a:ext uri="{FF2B5EF4-FFF2-40B4-BE49-F238E27FC236}">
                <a16:creationId xmlns:a16="http://schemas.microsoft.com/office/drawing/2014/main" id="{5EED2377-FFE3-4C36-9B17-8AE9202DF9A1}"/>
              </a:ext>
            </a:extLst>
          </p:cNvPr>
          <p:cNvSpPr>
            <a:spLocks noGrp="1"/>
          </p:cNvSpPr>
          <p:nvPr/>
        </p:nvSpPr>
        <p:spPr>
          <a:xfrm>
            <a:off x="1104900" y="5867400"/>
            <a:ext cx="9982200" cy="304800"/>
          </a:xfrm>
          <a:prstGeom prst="rect">
            <a:avLst/>
          </a:prstGeom>
          <a:noFill/>
          <a:ln w="0">
            <a:noFill/>
            <a:prstDash val="solid"/>
          </a:ln>
        </p:spPr>
        <p:txBody>
          <a:bodyPr/>
          <a:lstStyle/>
          <a:p>
            <a:pPr algn="ctr">
              <a:defRPr sz="1425" b="1">
                <a:solidFill>
                  <a:srgbClr val="1F4E79"/>
                </a:solidFill>
              </a:defRPr>
            </a:pPr>
            <a:r>
              <a:rPr sz="2400" b="1" dirty="0">
                <a:solidFill>
                  <a:srgbClr val="1F4E79"/>
                </a:solidFill>
              </a:rPr>
              <a:t>Each increment works, provides value, and guides the next decision.</a:t>
            </a:r>
          </a:p>
        </p:txBody>
      </p:sp>
    </p:spTree>
    <p:extLst>
      <p:ext uri="{BB962C8B-B14F-4D97-AF65-F5344CB8AC3E}">
        <p14:creationId xmlns:p14="http://schemas.microsoft.com/office/powerpoint/2010/main" val="86897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7" grpId="0"/>
      <p:bldP spid="8" grpId="0"/>
      <p:bldP spid="9" grpId="0" animBg="1"/>
      <p:bldP spid="11" grpId="0"/>
      <p:bldP spid="12" grpId="0" animBg="1"/>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FA8605D5-FA76-4B45-BF43-1E1C0DFDD641}"/>
              </a:ext>
            </a:extLst>
          </p:cNvPr>
          <p:cNvSpPr>
            <a:spLocks noGrp="1"/>
          </p:cNvSpPr>
          <p:nvPr/>
        </p:nvSpPr>
        <p:spPr>
          <a:xfrm>
            <a:off x="685800" y="361950"/>
            <a:ext cx="10820400" cy="590550"/>
          </a:xfrm>
          <a:prstGeom prst="rect">
            <a:avLst/>
          </a:prstGeom>
          <a:noFill/>
          <a:ln w="0">
            <a:noFill/>
            <a:prstDash val="solid"/>
          </a:ln>
        </p:spPr>
        <p:txBody>
          <a:bodyPr/>
          <a:lstStyle/>
          <a:p>
            <a:pPr algn="l">
              <a:defRPr sz="2400" b="1">
                <a:solidFill>
                  <a:srgbClr val="1F4E79"/>
                </a:solidFill>
              </a:defRPr>
            </a:pPr>
            <a:r>
              <a:rPr sz="2400" b="1">
                <a:solidFill>
                  <a:srgbClr val="1F4E79"/>
                </a:solidFill>
              </a:rPr>
              <a:t>Choose Your Project Pathway</a:t>
            </a:r>
          </a:p>
        </p:txBody>
      </p:sp>
      <p:sp>
        <p:nvSpPr>
          <p:cNvPr id="2" name="subtitle">
            <a:extLst>
              <a:ext uri="{FF2B5EF4-FFF2-40B4-BE49-F238E27FC236}">
                <a16:creationId xmlns:a16="http://schemas.microsoft.com/office/drawing/2014/main" id="{CF95DC2D-F8CF-4221-B48A-541A28F5F3FB}"/>
              </a:ext>
            </a:extLst>
          </p:cNvPr>
          <p:cNvSpPr>
            <a:spLocks noGrp="1"/>
          </p:cNvSpPr>
          <p:nvPr/>
        </p:nvSpPr>
        <p:spPr>
          <a:xfrm>
            <a:off x="685800" y="962025"/>
            <a:ext cx="6858000" cy="342900"/>
          </a:xfrm>
          <a:prstGeom prst="rect">
            <a:avLst/>
          </a:prstGeom>
          <a:noFill/>
          <a:ln w="0">
            <a:noFill/>
            <a:prstDash val="solid"/>
          </a:ln>
        </p:spPr>
        <p:txBody>
          <a:bodyPr/>
          <a:lstStyle/>
          <a:p>
            <a:pPr>
              <a:defRPr sz="1500" b="1">
                <a:solidFill>
                  <a:srgbClr val="000000"/>
                </a:solidFill>
              </a:defRPr>
            </a:pPr>
            <a:r>
              <a:rPr sz="2400" b="1" dirty="0">
                <a:solidFill>
                  <a:srgbClr val="000000"/>
                </a:solidFill>
              </a:rPr>
              <a:t>3 teams  •  2 pathways  •  1 informed decision</a:t>
            </a:r>
          </a:p>
        </p:txBody>
      </p:sp>
      <p:sp>
        <p:nvSpPr>
          <p:cNvPr id="3" name="vertical-divider">
            <a:extLst>
              <a:ext uri="{FF2B5EF4-FFF2-40B4-BE49-F238E27FC236}">
                <a16:creationId xmlns:a16="http://schemas.microsoft.com/office/drawing/2014/main" id="{87CC7E33-5961-4734-9B62-4766302972BD}"/>
              </a:ext>
            </a:extLst>
          </p:cNvPr>
          <p:cNvSpPr>
            <a:spLocks noGrp="1"/>
          </p:cNvSpPr>
          <p:nvPr/>
        </p:nvSpPr>
        <p:spPr>
          <a:xfrm>
            <a:off x="6076950" y="1929130"/>
            <a:ext cx="9525" cy="3143250"/>
          </a:xfrm>
          <a:prstGeom prst="rect">
            <a:avLst/>
          </a:prstGeom>
          <a:solidFill>
            <a:srgbClr val="D9E1E8"/>
          </a:solidFill>
          <a:ln w="0">
            <a:noFill/>
            <a:prstDash val="solid"/>
          </a:ln>
        </p:spPr>
        <p:txBody>
          <a:bodyPr/>
          <a:lstStyle/>
          <a:p>
            <a:endParaRPr lang="en-US"/>
          </a:p>
        </p:txBody>
      </p:sp>
      <p:sp>
        <p:nvSpPr>
          <p:cNvPr id="4" name="pathway-circle-1">
            <a:extLst>
              <a:ext uri="{FF2B5EF4-FFF2-40B4-BE49-F238E27FC236}">
                <a16:creationId xmlns:a16="http://schemas.microsoft.com/office/drawing/2014/main" id="{D3E977F9-C6DF-45AF-80D8-AF17EB83B924}"/>
              </a:ext>
            </a:extLst>
          </p:cNvPr>
          <p:cNvSpPr>
            <a:spLocks noGrp="1"/>
          </p:cNvSpPr>
          <p:nvPr/>
        </p:nvSpPr>
        <p:spPr>
          <a:xfrm>
            <a:off x="742950" y="2043430"/>
            <a:ext cx="800100" cy="800100"/>
          </a:xfrm>
          <a:prstGeom prst="ellipse">
            <a:avLst/>
          </a:prstGeom>
          <a:solidFill>
            <a:srgbClr val="1F4E79"/>
          </a:solidFill>
          <a:ln w="0">
            <a:solidFill>
              <a:srgbClr val="1F4E79"/>
            </a:solidFill>
            <a:prstDash val="solid"/>
          </a:ln>
        </p:spPr>
        <p:txBody>
          <a:bodyPr/>
          <a:lstStyle/>
          <a:p>
            <a:endParaRPr lang="en-US"/>
          </a:p>
        </p:txBody>
      </p:sp>
      <p:sp>
        <p:nvSpPr>
          <p:cNvPr id="5" name="pathway-number-1">
            <a:extLst>
              <a:ext uri="{FF2B5EF4-FFF2-40B4-BE49-F238E27FC236}">
                <a16:creationId xmlns:a16="http://schemas.microsoft.com/office/drawing/2014/main" id="{C8A3BD14-1D78-4A9D-9E29-369D325790DF}"/>
              </a:ext>
            </a:extLst>
          </p:cNvPr>
          <p:cNvSpPr>
            <a:spLocks noGrp="1"/>
          </p:cNvSpPr>
          <p:nvPr/>
        </p:nvSpPr>
        <p:spPr>
          <a:xfrm>
            <a:off x="742950" y="2214880"/>
            <a:ext cx="800100" cy="400050"/>
          </a:xfrm>
          <a:prstGeom prst="rect">
            <a:avLst/>
          </a:prstGeom>
          <a:noFill/>
          <a:ln w="0">
            <a:noFill/>
            <a:prstDash val="solid"/>
          </a:ln>
        </p:spPr>
        <p:txBody>
          <a:bodyPr/>
          <a:lstStyle/>
          <a:p>
            <a:pPr algn="ctr">
              <a:defRPr sz="1950" b="1">
                <a:solidFill>
                  <a:srgbClr val="FFFFFF"/>
                </a:solidFill>
              </a:defRPr>
            </a:pPr>
            <a:r>
              <a:rPr sz="1950" b="1">
                <a:solidFill>
                  <a:srgbClr val="FFFFFF"/>
                </a:solidFill>
              </a:rPr>
              <a:t>1</a:t>
            </a:r>
          </a:p>
        </p:txBody>
      </p:sp>
      <p:sp>
        <p:nvSpPr>
          <p:cNvPr id="6" name="pathway-heading-1">
            <a:extLst>
              <a:ext uri="{FF2B5EF4-FFF2-40B4-BE49-F238E27FC236}">
                <a16:creationId xmlns:a16="http://schemas.microsoft.com/office/drawing/2014/main" id="{506D2DDB-C891-4F6A-B915-EC793506AC73}"/>
              </a:ext>
            </a:extLst>
          </p:cNvPr>
          <p:cNvSpPr>
            <a:spLocks noGrp="1"/>
          </p:cNvSpPr>
          <p:nvPr/>
        </p:nvSpPr>
        <p:spPr>
          <a:xfrm>
            <a:off x="1847850" y="1986280"/>
            <a:ext cx="3905250" cy="419100"/>
          </a:xfrm>
          <a:prstGeom prst="rect">
            <a:avLst/>
          </a:prstGeom>
          <a:noFill/>
          <a:ln w="0">
            <a:noFill/>
            <a:prstDash val="solid"/>
          </a:ln>
        </p:spPr>
        <p:txBody>
          <a:bodyPr/>
          <a:lstStyle/>
          <a:p>
            <a:pPr>
              <a:defRPr sz="1800" b="1">
                <a:solidFill>
                  <a:srgbClr val="1F4E79"/>
                </a:solidFill>
              </a:defRPr>
            </a:pPr>
            <a:r>
              <a:rPr sz="1800" b="1">
                <a:solidFill>
                  <a:srgbClr val="1F4E79"/>
                </a:solidFill>
              </a:rPr>
              <a:t>CLIENT-SPONSORED PROJECT</a:t>
            </a:r>
          </a:p>
        </p:txBody>
      </p:sp>
      <p:sp>
        <p:nvSpPr>
          <p:cNvPr id="7" name="pathway-1-line-0">
            <a:extLst>
              <a:ext uri="{FF2B5EF4-FFF2-40B4-BE49-F238E27FC236}">
                <a16:creationId xmlns:a16="http://schemas.microsoft.com/office/drawing/2014/main" id="{C4219901-0201-4201-BA06-34FBCFB7B9D1}"/>
              </a:ext>
            </a:extLst>
          </p:cNvPr>
          <p:cNvSpPr>
            <a:spLocks noGrp="1"/>
          </p:cNvSpPr>
          <p:nvPr/>
        </p:nvSpPr>
        <p:spPr>
          <a:xfrm>
            <a:off x="1847850" y="2529205"/>
            <a:ext cx="4095750" cy="419100"/>
          </a:xfrm>
          <a:prstGeom prst="rect">
            <a:avLst/>
          </a:prstGeom>
          <a:noFill/>
          <a:ln w="0">
            <a:noFill/>
            <a:prstDash val="solid"/>
          </a:ln>
        </p:spPr>
        <p:txBody>
          <a:bodyPr/>
          <a:lstStyle/>
          <a:p>
            <a:pPr>
              <a:defRPr sz="1500">
                <a:solidFill>
                  <a:srgbClr val="000000"/>
                </a:solidFill>
              </a:defRPr>
            </a:pPr>
            <a:r>
              <a:rPr sz="1600" dirty="0">
                <a:solidFill>
                  <a:srgbClr val="000000"/>
                </a:solidFill>
              </a:rPr>
              <a:t>Review the client’s precondition report.</a:t>
            </a:r>
          </a:p>
        </p:txBody>
      </p:sp>
      <p:sp>
        <p:nvSpPr>
          <p:cNvPr id="8" name="pathway-1-dot-0">
            <a:extLst>
              <a:ext uri="{FF2B5EF4-FFF2-40B4-BE49-F238E27FC236}">
                <a16:creationId xmlns:a16="http://schemas.microsoft.com/office/drawing/2014/main" id="{AE9B5780-E647-4E88-87E7-6BB3B0013F14}"/>
              </a:ext>
            </a:extLst>
          </p:cNvPr>
          <p:cNvSpPr>
            <a:spLocks noGrp="1"/>
          </p:cNvSpPr>
          <p:nvPr/>
        </p:nvSpPr>
        <p:spPr>
          <a:xfrm>
            <a:off x="1609725" y="2662555"/>
            <a:ext cx="85725" cy="85725"/>
          </a:xfrm>
          <a:prstGeom prst="ellipse">
            <a:avLst/>
          </a:prstGeom>
          <a:solidFill>
            <a:srgbClr val="1F4E79"/>
          </a:solidFill>
          <a:ln w="0">
            <a:solidFill>
              <a:srgbClr val="1F4E79"/>
            </a:solidFill>
            <a:prstDash val="solid"/>
          </a:ln>
        </p:spPr>
        <p:txBody>
          <a:bodyPr/>
          <a:lstStyle/>
          <a:p>
            <a:endParaRPr lang="en-US"/>
          </a:p>
        </p:txBody>
      </p:sp>
      <p:sp>
        <p:nvSpPr>
          <p:cNvPr id="9" name="pathway-1-line-1">
            <a:extLst>
              <a:ext uri="{FF2B5EF4-FFF2-40B4-BE49-F238E27FC236}">
                <a16:creationId xmlns:a16="http://schemas.microsoft.com/office/drawing/2014/main" id="{8BC41BA8-54A6-410A-90DE-6BF7D5746AAB}"/>
              </a:ext>
            </a:extLst>
          </p:cNvPr>
          <p:cNvSpPr>
            <a:spLocks noGrp="1"/>
          </p:cNvSpPr>
          <p:nvPr/>
        </p:nvSpPr>
        <p:spPr>
          <a:xfrm>
            <a:off x="1847850" y="3081655"/>
            <a:ext cx="4095750" cy="419100"/>
          </a:xfrm>
          <a:prstGeom prst="rect">
            <a:avLst/>
          </a:prstGeom>
          <a:noFill/>
          <a:ln w="0">
            <a:noFill/>
            <a:prstDash val="solid"/>
          </a:ln>
        </p:spPr>
        <p:txBody>
          <a:bodyPr/>
          <a:lstStyle/>
          <a:p>
            <a:pPr>
              <a:defRPr sz="1500">
                <a:solidFill>
                  <a:srgbClr val="000000"/>
                </a:solidFill>
              </a:defRPr>
            </a:pPr>
            <a:r>
              <a:rPr sz="1600" dirty="0">
                <a:solidFill>
                  <a:srgbClr val="000000"/>
                </a:solidFill>
              </a:rPr>
              <a:t>Assess the scope, starting point, and constraints.</a:t>
            </a:r>
          </a:p>
        </p:txBody>
      </p:sp>
      <p:sp>
        <p:nvSpPr>
          <p:cNvPr id="10" name="pathway-1-dot-1">
            <a:extLst>
              <a:ext uri="{FF2B5EF4-FFF2-40B4-BE49-F238E27FC236}">
                <a16:creationId xmlns:a16="http://schemas.microsoft.com/office/drawing/2014/main" id="{FD534DB4-EE3C-41BA-A89F-C3645C8F896D}"/>
              </a:ext>
            </a:extLst>
          </p:cNvPr>
          <p:cNvSpPr>
            <a:spLocks noGrp="1"/>
          </p:cNvSpPr>
          <p:nvPr/>
        </p:nvSpPr>
        <p:spPr>
          <a:xfrm>
            <a:off x="1609725" y="3215005"/>
            <a:ext cx="85725" cy="85725"/>
          </a:xfrm>
          <a:prstGeom prst="ellipse">
            <a:avLst/>
          </a:prstGeom>
          <a:solidFill>
            <a:srgbClr val="1F4E79"/>
          </a:solidFill>
          <a:ln w="0">
            <a:solidFill>
              <a:srgbClr val="1F4E79"/>
            </a:solidFill>
            <a:prstDash val="solid"/>
          </a:ln>
        </p:spPr>
        <p:txBody>
          <a:bodyPr/>
          <a:lstStyle/>
          <a:p>
            <a:endParaRPr lang="en-US"/>
          </a:p>
        </p:txBody>
      </p:sp>
      <p:sp>
        <p:nvSpPr>
          <p:cNvPr id="11" name="pathway-1-line-2">
            <a:extLst>
              <a:ext uri="{FF2B5EF4-FFF2-40B4-BE49-F238E27FC236}">
                <a16:creationId xmlns:a16="http://schemas.microsoft.com/office/drawing/2014/main" id="{39719DC3-30CC-4D59-8FF8-A1568930E133}"/>
              </a:ext>
            </a:extLst>
          </p:cNvPr>
          <p:cNvSpPr>
            <a:spLocks noGrp="1"/>
          </p:cNvSpPr>
          <p:nvPr/>
        </p:nvSpPr>
        <p:spPr>
          <a:xfrm>
            <a:off x="1828800" y="3791268"/>
            <a:ext cx="4095750" cy="419100"/>
          </a:xfrm>
          <a:prstGeom prst="rect">
            <a:avLst/>
          </a:prstGeom>
          <a:noFill/>
          <a:ln w="0">
            <a:noFill/>
            <a:prstDash val="solid"/>
          </a:ln>
        </p:spPr>
        <p:txBody>
          <a:bodyPr/>
          <a:lstStyle/>
          <a:p>
            <a:pPr>
              <a:defRPr sz="1500">
                <a:solidFill>
                  <a:srgbClr val="000000"/>
                </a:solidFill>
              </a:defRPr>
            </a:pPr>
            <a:r>
              <a:rPr sz="1600" dirty="0">
                <a:solidFill>
                  <a:srgbClr val="000000"/>
                </a:solidFill>
              </a:rPr>
              <a:t>Collaborate with the client throughout development.</a:t>
            </a:r>
          </a:p>
        </p:txBody>
      </p:sp>
      <p:sp>
        <p:nvSpPr>
          <p:cNvPr id="12" name="pathway-1-dot-2">
            <a:extLst>
              <a:ext uri="{FF2B5EF4-FFF2-40B4-BE49-F238E27FC236}">
                <a16:creationId xmlns:a16="http://schemas.microsoft.com/office/drawing/2014/main" id="{A7447DF7-FE17-43AC-85E8-FA1E13ADF29E}"/>
              </a:ext>
            </a:extLst>
          </p:cNvPr>
          <p:cNvSpPr>
            <a:spLocks noGrp="1"/>
          </p:cNvSpPr>
          <p:nvPr/>
        </p:nvSpPr>
        <p:spPr>
          <a:xfrm>
            <a:off x="1609725" y="3960495"/>
            <a:ext cx="85725" cy="85725"/>
          </a:xfrm>
          <a:prstGeom prst="ellipse">
            <a:avLst/>
          </a:prstGeom>
          <a:solidFill>
            <a:srgbClr val="1F4E79"/>
          </a:solidFill>
          <a:ln w="0">
            <a:solidFill>
              <a:srgbClr val="1F4E79"/>
            </a:solidFill>
            <a:prstDash val="solid"/>
          </a:ln>
        </p:spPr>
        <p:txBody>
          <a:bodyPr/>
          <a:lstStyle/>
          <a:p>
            <a:endParaRPr lang="en-US"/>
          </a:p>
        </p:txBody>
      </p:sp>
      <p:sp>
        <p:nvSpPr>
          <p:cNvPr id="13" name="pathway-circle-2">
            <a:extLst>
              <a:ext uri="{FF2B5EF4-FFF2-40B4-BE49-F238E27FC236}">
                <a16:creationId xmlns:a16="http://schemas.microsoft.com/office/drawing/2014/main" id="{3B86954E-AA8F-4FA1-B4DA-BF9C14259E75}"/>
              </a:ext>
            </a:extLst>
          </p:cNvPr>
          <p:cNvSpPr>
            <a:spLocks noGrp="1"/>
          </p:cNvSpPr>
          <p:nvPr/>
        </p:nvSpPr>
        <p:spPr>
          <a:xfrm>
            <a:off x="6286500" y="2043430"/>
            <a:ext cx="800100" cy="800100"/>
          </a:xfrm>
          <a:prstGeom prst="ellipse">
            <a:avLst/>
          </a:prstGeom>
          <a:solidFill>
            <a:srgbClr val="6B5B95"/>
          </a:solidFill>
          <a:ln w="0">
            <a:solidFill>
              <a:srgbClr val="6B5B95"/>
            </a:solidFill>
            <a:prstDash val="solid"/>
          </a:ln>
        </p:spPr>
        <p:txBody>
          <a:bodyPr/>
          <a:lstStyle/>
          <a:p>
            <a:endParaRPr lang="en-US"/>
          </a:p>
        </p:txBody>
      </p:sp>
      <p:sp>
        <p:nvSpPr>
          <p:cNvPr id="14" name="pathway-number-2">
            <a:extLst>
              <a:ext uri="{FF2B5EF4-FFF2-40B4-BE49-F238E27FC236}">
                <a16:creationId xmlns:a16="http://schemas.microsoft.com/office/drawing/2014/main" id="{AFCAC79A-9FF3-4907-A24B-36A79F3C6E25}"/>
              </a:ext>
            </a:extLst>
          </p:cNvPr>
          <p:cNvSpPr>
            <a:spLocks noGrp="1"/>
          </p:cNvSpPr>
          <p:nvPr/>
        </p:nvSpPr>
        <p:spPr>
          <a:xfrm>
            <a:off x="6286500" y="2214880"/>
            <a:ext cx="800100" cy="400050"/>
          </a:xfrm>
          <a:prstGeom prst="rect">
            <a:avLst/>
          </a:prstGeom>
          <a:noFill/>
          <a:ln w="0">
            <a:noFill/>
            <a:prstDash val="solid"/>
          </a:ln>
        </p:spPr>
        <p:txBody>
          <a:bodyPr/>
          <a:lstStyle/>
          <a:p>
            <a:pPr algn="ctr">
              <a:defRPr sz="1950" b="1">
                <a:solidFill>
                  <a:srgbClr val="FFFFFF"/>
                </a:solidFill>
              </a:defRPr>
            </a:pPr>
            <a:r>
              <a:rPr sz="1950" b="1">
                <a:solidFill>
                  <a:srgbClr val="FFFFFF"/>
                </a:solidFill>
              </a:rPr>
              <a:t>2</a:t>
            </a:r>
          </a:p>
        </p:txBody>
      </p:sp>
      <p:sp>
        <p:nvSpPr>
          <p:cNvPr id="15" name="pathway-heading-2">
            <a:extLst>
              <a:ext uri="{FF2B5EF4-FFF2-40B4-BE49-F238E27FC236}">
                <a16:creationId xmlns:a16="http://schemas.microsoft.com/office/drawing/2014/main" id="{5D1C9F44-AD25-4E0A-A707-25923A551DD7}"/>
              </a:ext>
            </a:extLst>
          </p:cNvPr>
          <p:cNvSpPr>
            <a:spLocks noGrp="1"/>
          </p:cNvSpPr>
          <p:nvPr/>
        </p:nvSpPr>
        <p:spPr>
          <a:xfrm>
            <a:off x="7391400" y="1986280"/>
            <a:ext cx="3905250" cy="419100"/>
          </a:xfrm>
          <a:prstGeom prst="rect">
            <a:avLst/>
          </a:prstGeom>
          <a:noFill/>
          <a:ln w="0">
            <a:noFill/>
            <a:prstDash val="solid"/>
          </a:ln>
        </p:spPr>
        <p:txBody>
          <a:bodyPr/>
          <a:lstStyle/>
          <a:p>
            <a:pPr>
              <a:defRPr sz="1800" b="1">
                <a:solidFill>
                  <a:srgbClr val="6B5B95"/>
                </a:solidFill>
              </a:defRPr>
            </a:pPr>
            <a:r>
              <a:rPr sz="1800" b="1">
                <a:solidFill>
                  <a:srgbClr val="6B5B95"/>
                </a:solidFill>
              </a:rPr>
              <a:t>TEAM-PROPOSED PROJECT</a:t>
            </a:r>
          </a:p>
        </p:txBody>
      </p:sp>
      <p:sp>
        <p:nvSpPr>
          <p:cNvPr id="16" name="pathway-2-line-0">
            <a:extLst>
              <a:ext uri="{FF2B5EF4-FFF2-40B4-BE49-F238E27FC236}">
                <a16:creationId xmlns:a16="http://schemas.microsoft.com/office/drawing/2014/main" id="{D3208329-2AF0-435A-9F19-BF40913FC397}"/>
              </a:ext>
            </a:extLst>
          </p:cNvPr>
          <p:cNvSpPr>
            <a:spLocks noGrp="1"/>
          </p:cNvSpPr>
          <p:nvPr/>
        </p:nvSpPr>
        <p:spPr>
          <a:xfrm>
            <a:off x="7391400" y="2529205"/>
            <a:ext cx="4095750" cy="419100"/>
          </a:xfrm>
          <a:prstGeom prst="rect">
            <a:avLst/>
          </a:prstGeom>
          <a:noFill/>
          <a:ln w="0">
            <a:noFill/>
            <a:prstDash val="solid"/>
          </a:ln>
        </p:spPr>
        <p:txBody>
          <a:bodyPr/>
          <a:lstStyle/>
          <a:p>
            <a:pPr>
              <a:defRPr sz="1500">
                <a:solidFill>
                  <a:srgbClr val="000000"/>
                </a:solidFill>
              </a:defRPr>
            </a:pPr>
            <a:r>
              <a:rPr sz="1600" dirty="0">
                <a:solidFill>
                  <a:srgbClr val="000000"/>
                </a:solidFill>
              </a:rPr>
              <a:t>Define a meaningful problem and intended users.</a:t>
            </a:r>
          </a:p>
        </p:txBody>
      </p:sp>
      <p:sp>
        <p:nvSpPr>
          <p:cNvPr id="17" name="pathway-2-dot-0">
            <a:extLst>
              <a:ext uri="{FF2B5EF4-FFF2-40B4-BE49-F238E27FC236}">
                <a16:creationId xmlns:a16="http://schemas.microsoft.com/office/drawing/2014/main" id="{EF66B87E-D430-42F3-8B0E-C2F50D865B0F}"/>
              </a:ext>
            </a:extLst>
          </p:cNvPr>
          <p:cNvSpPr>
            <a:spLocks noGrp="1"/>
          </p:cNvSpPr>
          <p:nvPr/>
        </p:nvSpPr>
        <p:spPr>
          <a:xfrm>
            <a:off x="7153275" y="2662555"/>
            <a:ext cx="85725" cy="85725"/>
          </a:xfrm>
          <a:prstGeom prst="ellipse">
            <a:avLst/>
          </a:prstGeom>
          <a:solidFill>
            <a:srgbClr val="6B5B95"/>
          </a:solidFill>
          <a:ln w="0">
            <a:solidFill>
              <a:srgbClr val="6B5B95"/>
            </a:solidFill>
            <a:prstDash val="solid"/>
          </a:ln>
        </p:spPr>
        <p:txBody>
          <a:bodyPr/>
          <a:lstStyle/>
          <a:p>
            <a:endParaRPr lang="en-US"/>
          </a:p>
        </p:txBody>
      </p:sp>
      <p:sp>
        <p:nvSpPr>
          <p:cNvPr id="18" name="pathway-2-line-1">
            <a:extLst>
              <a:ext uri="{FF2B5EF4-FFF2-40B4-BE49-F238E27FC236}">
                <a16:creationId xmlns:a16="http://schemas.microsoft.com/office/drawing/2014/main" id="{7DAD1DEB-3340-4237-A70D-099F495143D9}"/>
              </a:ext>
            </a:extLst>
          </p:cNvPr>
          <p:cNvSpPr>
            <a:spLocks noGrp="1"/>
          </p:cNvSpPr>
          <p:nvPr/>
        </p:nvSpPr>
        <p:spPr>
          <a:xfrm>
            <a:off x="7391400" y="3152775"/>
            <a:ext cx="4095750" cy="419100"/>
          </a:xfrm>
          <a:prstGeom prst="rect">
            <a:avLst/>
          </a:prstGeom>
          <a:noFill/>
          <a:ln w="0">
            <a:noFill/>
            <a:prstDash val="solid"/>
          </a:ln>
        </p:spPr>
        <p:txBody>
          <a:bodyPr/>
          <a:lstStyle/>
          <a:p>
            <a:pPr>
              <a:defRPr sz="1500">
                <a:solidFill>
                  <a:srgbClr val="000000"/>
                </a:solidFill>
              </a:defRPr>
            </a:pPr>
            <a:r>
              <a:rPr sz="1600" dirty="0">
                <a:solidFill>
                  <a:srgbClr val="000000"/>
                </a:solidFill>
              </a:rPr>
              <a:t>Prepare the team’s precondition report.</a:t>
            </a:r>
          </a:p>
        </p:txBody>
      </p:sp>
      <p:sp>
        <p:nvSpPr>
          <p:cNvPr id="19" name="pathway-2-dot-1">
            <a:extLst>
              <a:ext uri="{FF2B5EF4-FFF2-40B4-BE49-F238E27FC236}">
                <a16:creationId xmlns:a16="http://schemas.microsoft.com/office/drawing/2014/main" id="{F3799562-164F-4210-AD9B-8922972C585D}"/>
              </a:ext>
            </a:extLst>
          </p:cNvPr>
          <p:cNvSpPr>
            <a:spLocks noGrp="1"/>
          </p:cNvSpPr>
          <p:nvPr/>
        </p:nvSpPr>
        <p:spPr>
          <a:xfrm>
            <a:off x="7153275" y="3286125"/>
            <a:ext cx="85725" cy="85725"/>
          </a:xfrm>
          <a:prstGeom prst="ellipse">
            <a:avLst/>
          </a:prstGeom>
          <a:solidFill>
            <a:srgbClr val="6B5B95"/>
          </a:solidFill>
          <a:ln w="0">
            <a:solidFill>
              <a:srgbClr val="6B5B95"/>
            </a:solidFill>
            <a:prstDash val="solid"/>
          </a:ln>
        </p:spPr>
        <p:txBody>
          <a:bodyPr/>
          <a:lstStyle/>
          <a:p>
            <a:endParaRPr lang="en-US"/>
          </a:p>
        </p:txBody>
      </p:sp>
      <p:sp>
        <p:nvSpPr>
          <p:cNvPr id="20" name="pathway-2-line-2">
            <a:extLst>
              <a:ext uri="{FF2B5EF4-FFF2-40B4-BE49-F238E27FC236}">
                <a16:creationId xmlns:a16="http://schemas.microsoft.com/office/drawing/2014/main" id="{00803C74-F1F2-48E7-9CF9-89D6B59B8432}"/>
              </a:ext>
            </a:extLst>
          </p:cNvPr>
          <p:cNvSpPr>
            <a:spLocks noGrp="1"/>
          </p:cNvSpPr>
          <p:nvPr/>
        </p:nvSpPr>
        <p:spPr>
          <a:xfrm>
            <a:off x="7391400" y="3674745"/>
            <a:ext cx="4095750" cy="419100"/>
          </a:xfrm>
          <a:prstGeom prst="rect">
            <a:avLst/>
          </a:prstGeom>
          <a:noFill/>
          <a:ln w="0">
            <a:noFill/>
            <a:prstDash val="solid"/>
          </a:ln>
        </p:spPr>
        <p:txBody>
          <a:bodyPr/>
          <a:lstStyle/>
          <a:p>
            <a:pPr>
              <a:defRPr sz="1500">
                <a:solidFill>
                  <a:srgbClr val="000000"/>
                </a:solidFill>
              </a:defRPr>
            </a:pPr>
            <a:r>
              <a:rPr sz="1600" dirty="0">
                <a:solidFill>
                  <a:srgbClr val="000000"/>
                </a:solidFill>
              </a:rPr>
              <a:t>Obtain instructor approval before development.</a:t>
            </a:r>
          </a:p>
        </p:txBody>
      </p:sp>
      <p:sp>
        <p:nvSpPr>
          <p:cNvPr id="21" name="pathway-2-dot-2">
            <a:extLst>
              <a:ext uri="{FF2B5EF4-FFF2-40B4-BE49-F238E27FC236}">
                <a16:creationId xmlns:a16="http://schemas.microsoft.com/office/drawing/2014/main" id="{F85C935B-2B52-4E65-8501-AE7C1EBF0FC3}"/>
              </a:ext>
            </a:extLst>
          </p:cNvPr>
          <p:cNvSpPr>
            <a:spLocks noGrp="1"/>
          </p:cNvSpPr>
          <p:nvPr/>
        </p:nvSpPr>
        <p:spPr>
          <a:xfrm>
            <a:off x="7153275" y="3808095"/>
            <a:ext cx="85725" cy="85725"/>
          </a:xfrm>
          <a:prstGeom prst="ellipse">
            <a:avLst/>
          </a:prstGeom>
          <a:solidFill>
            <a:srgbClr val="6B5B95"/>
          </a:solidFill>
          <a:ln w="0">
            <a:solidFill>
              <a:srgbClr val="6B5B95"/>
            </a:solidFill>
            <a:prstDash val="solid"/>
          </a:ln>
        </p:spPr>
        <p:txBody>
          <a:bodyPr/>
          <a:lstStyle/>
          <a:p>
            <a:endParaRPr lang="en-US"/>
          </a:p>
        </p:txBody>
      </p:sp>
      <p:sp>
        <p:nvSpPr>
          <p:cNvPr id="22" name="choice-band">
            <a:extLst>
              <a:ext uri="{FF2B5EF4-FFF2-40B4-BE49-F238E27FC236}">
                <a16:creationId xmlns:a16="http://schemas.microsoft.com/office/drawing/2014/main" id="{256929E6-0933-4353-8F57-CFD215396BF0}"/>
              </a:ext>
            </a:extLst>
          </p:cNvPr>
          <p:cNvSpPr>
            <a:spLocks noGrp="1"/>
          </p:cNvSpPr>
          <p:nvPr/>
        </p:nvSpPr>
        <p:spPr>
          <a:xfrm>
            <a:off x="685800" y="5238750"/>
            <a:ext cx="10820400" cy="781050"/>
          </a:xfrm>
          <a:prstGeom prst="roundRect">
            <a:avLst>
              <a:gd name="adj" fmla="val 9756"/>
            </a:avLst>
          </a:prstGeom>
          <a:solidFill>
            <a:srgbClr val="EAF2F8"/>
          </a:solidFill>
          <a:ln w="9525">
            <a:solidFill>
              <a:srgbClr val="C9DDEA"/>
            </a:solidFill>
            <a:prstDash val="solid"/>
          </a:ln>
        </p:spPr>
        <p:txBody>
          <a:bodyPr/>
          <a:lstStyle/>
          <a:p>
            <a:endParaRPr lang="en-US"/>
          </a:p>
        </p:txBody>
      </p:sp>
      <p:sp>
        <p:nvSpPr>
          <p:cNvPr id="23" name="choice-takeaway">
            <a:extLst>
              <a:ext uri="{FF2B5EF4-FFF2-40B4-BE49-F238E27FC236}">
                <a16:creationId xmlns:a16="http://schemas.microsoft.com/office/drawing/2014/main" id="{5E890819-752A-4ECD-A553-F2B9E2E774C5}"/>
              </a:ext>
            </a:extLst>
          </p:cNvPr>
          <p:cNvSpPr>
            <a:spLocks noGrp="1"/>
          </p:cNvSpPr>
          <p:nvPr/>
        </p:nvSpPr>
        <p:spPr>
          <a:xfrm>
            <a:off x="1104900" y="5467350"/>
            <a:ext cx="9982200" cy="381000"/>
          </a:xfrm>
          <a:prstGeom prst="rect">
            <a:avLst/>
          </a:prstGeom>
          <a:noFill/>
          <a:ln w="0">
            <a:noFill/>
            <a:prstDash val="solid"/>
          </a:ln>
        </p:spPr>
        <p:txBody>
          <a:bodyPr/>
          <a:lstStyle/>
          <a:p>
            <a:pPr algn="ctr">
              <a:defRPr sz="1500" b="1">
                <a:solidFill>
                  <a:srgbClr val="1F4E79"/>
                </a:solidFill>
              </a:defRPr>
            </a:pPr>
            <a:r>
              <a:rPr sz="2200" b="1" dirty="0">
                <a:solidFill>
                  <a:srgbClr val="1F4E79"/>
                </a:solidFill>
              </a:rPr>
              <a:t>Choose based on the problem, feasibility, and team fit—not only the technology.</a:t>
            </a:r>
          </a:p>
        </p:txBody>
      </p:sp>
    </p:spTree>
    <p:extLst>
      <p:ext uri="{BB962C8B-B14F-4D97-AF65-F5344CB8AC3E}">
        <p14:creationId xmlns:p14="http://schemas.microsoft.com/office/powerpoint/2010/main" val="1997515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p:bldP spid="7" grpId="0"/>
      <p:bldP spid="8" grpId="0" animBg="1"/>
      <p:bldP spid="9" grpId="0"/>
      <p:bldP spid="10" grpId="0" animBg="1"/>
      <p:bldP spid="11" grpId="0"/>
      <p:bldP spid="12" grpId="0" animBg="1"/>
      <p:bldP spid="13" grpId="0" animBg="1"/>
      <p:bldP spid="14" grpId="0"/>
      <p:bldP spid="15" grpId="0"/>
      <p:bldP spid="16" grpId="0"/>
      <p:bldP spid="17" grpId="0" animBg="1"/>
      <p:bldP spid="18" grpId="0"/>
      <p:bldP spid="19" grpId="0" animBg="1"/>
      <p:bldP spid="20" grpId="0"/>
      <p:bldP spid="21" grpId="0" animBg="1"/>
      <p:bldP spid="22" grpId="0" animBg="1"/>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36E9B612-787F-4BFF-940B-4A4EC568E6D6}"/>
              </a:ext>
            </a:extLst>
          </p:cNvPr>
          <p:cNvSpPr>
            <a:spLocks noGrp="1"/>
          </p:cNvSpPr>
          <p:nvPr/>
        </p:nvSpPr>
        <p:spPr>
          <a:xfrm>
            <a:off x="685800" y="361950"/>
            <a:ext cx="10820400" cy="590550"/>
          </a:xfrm>
          <a:prstGeom prst="rect">
            <a:avLst/>
          </a:prstGeom>
          <a:noFill/>
          <a:ln w="0">
            <a:noFill/>
            <a:prstDash val="solid"/>
          </a:ln>
        </p:spPr>
        <p:txBody>
          <a:bodyPr/>
          <a:lstStyle/>
          <a:p>
            <a:pPr algn="l">
              <a:defRPr sz="2400" b="1">
                <a:solidFill>
                  <a:srgbClr val="1F4E79"/>
                </a:solidFill>
              </a:defRPr>
            </a:pPr>
            <a:r>
              <a:rPr sz="3200" b="1" dirty="0">
                <a:solidFill>
                  <a:srgbClr val="1F4E79"/>
                </a:solidFill>
              </a:rPr>
              <a:t>Why Client Projects Matter</a:t>
            </a:r>
          </a:p>
        </p:txBody>
      </p:sp>
      <p:sp>
        <p:nvSpPr>
          <p:cNvPr id="2" name="subtitle">
            <a:extLst>
              <a:ext uri="{FF2B5EF4-FFF2-40B4-BE49-F238E27FC236}">
                <a16:creationId xmlns:a16="http://schemas.microsoft.com/office/drawing/2014/main" id="{6A3459CF-B0EB-47EB-8B4D-E995A5BB507D}"/>
              </a:ext>
            </a:extLst>
          </p:cNvPr>
          <p:cNvSpPr>
            <a:spLocks noGrp="1"/>
          </p:cNvSpPr>
          <p:nvPr/>
        </p:nvSpPr>
        <p:spPr>
          <a:xfrm>
            <a:off x="685800" y="1109662"/>
            <a:ext cx="10287000" cy="342900"/>
          </a:xfrm>
          <a:prstGeom prst="rect">
            <a:avLst/>
          </a:prstGeom>
          <a:noFill/>
          <a:ln w="0">
            <a:noFill/>
            <a:prstDash val="solid"/>
          </a:ln>
        </p:spPr>
        <p:txBody>
          <a:bodyPr/>
          <a:lstStyle/>
          <a:p>
            <a:pPr>
              <a:defRPr sz="1500" b="1">
                <a:solidFill>
                  <a:srgbClr val="000000"/>
                </a:solidFill>
              </a:defRPr>
            </a:pPr>
            <a:r>
              <a:rPr sz="2000" b="1" dirty="0">
                <a:solidFill>
                  <a:srgbClr val="000000"/>
                </a:solidFill>
              </a:rPr>
              <a:t>They add authentic needs, constraints, and accountability to the engineering work.</a:t>
            </a:r>
          </a:p>
        </p:txBody>
      </p:sp>
      <p:sp>
        <p:nvSpPr>
          <p:cNvPr id="3" name="value-circle-1">
            <a:extLst>
              <a:ext uri="{FF2B5EF4-FFF2-40B4-BE49-F238E27FC236}">
                <a16:creationId xmlns:a16="http://schemas.microsoft.com/office/drawing/2014/main" id="{B44B9538-09F3-4ED1-AD98-E97237D77730}"/>
              </a:ext>
            </a:extLst>
          </p:cNvPr>
          <p:cNvSpPr>
            <a:spLocks noGrp="1"/>
          </p:cNvSpPr>
          <p:nvPr/>
        </p:nvSpPr>
        <p:spPr>
          <a:xfrm>
            <a:off x="1752600" y="1952625"/>
            <a:ext cx="876300" cy="876300"/>
          </a:xfrm>
          <a:prstGeom prst="ellipse">
            <a:avLst/>
          </a:prstGeom>
          <a:solidFill>
            <a:srgbClr val="1F4E79"/>
          </a:solidFill>
          <a:ln w="0">
            <a:solidFill>
              <a:srgbClr val="1F4E79"/>
            </a:solidFill>
            <a:prstDash val="solid"/>
          </a:ln>
        </p:spPr>
        <p:txBody>
          <a:bodyPr/>
          <a:lstStyle/>
          <a:p>
            <a:endParaRPr lang="en-US"/>
          </a:p>
        </p:txBody>
      </p:sp>
      <p:sp>
        <p:nvSpPr>
          <p:cNvPr id="4" name="value-number-1">
            <a:extLst>
              <a:ext uri="{FF2B5EF4-FFF2-40B4-BE49-F238E27FC236}">
                <a16:creationId xmlns:a16="http://schemas.microsoft.com/office/drawing/2014/main" id="{0799E04A-A164-4339-ACC8-E00A5560302C}"/>
              </a:ext>
            </a:extLst>
          </p:cNvPr>
          <p:cNvSpPr>
            <a:spLocks noGrp="1"/>
          </p:cNvSpPr>
          <p:nvPr/>
        </p:nvSpPr>
        <p:spPr>
          <a:xfrm>
            <a:off x="1752600" y="2143125"/>
            <a:ext cx="876300" cy="419100"/>
          </a:xfrm>
          <a:prstGeom prst="rect">
            <a:avLst/>
          </a:prstGeom>
          <a:noFill/>
          <a:ln w="0">
            <a:noFill/>
            <a:prstDash val="solid"/>
          </a:ln>
        </p:spPr>
        <p:txBody>
          <a:bodyPr/>
          <a:lstStyle/>
          <a:p>
            <a:pPr algn="ctr">
              <a:defRPr sz="2100" b="1">
                <a:solidFill>
                  <a:srgbClr val="FFFFFF"/>
                </a:solidFill>
              </a:defRPr>
            </a:pPr>
            <a:r>
              <a:rPr sz="2100" b="1">
                <a:solidFill>
                  <a:srgbClr val="FFFFFF"/>
                </a:solidFill>
              </a:rPr>
              <a:t>1</a:t>
            </a:r>
          </a:p>
        </p:txBody>
      </p:sp>
      <p:sp>
        <p:nvSpPr>
          <p:cNvPr id="5" name="value-heading-1">
            <a:extLst>
              <a:ext uri="{FF2B5EF4-FFF2-40B4-BE49-F238E27FC236}">
                <a16:creationId xmlns:a16="http://schemas.microsoft.com/office/drawing/2014/main" id="{370892E8-C4E0-46EC-9E2D-41DFCF100EFF}"/>
              </a:ext>
            </a:extLst>
          </p:cNvPr>
          <p:cNvSpPr>
            <a:spLocks noGrp="1"/>
          </p:cNvSpPr>
          <p:nvPr/>
        </p:nvSpPr>
        <p:spPr>
          <a:xfrm>
            <a:off x="619125" y="3190875"/>
            <a:ext cx="3143250" cy="400050"/>
          </a:xfrm>
          <a:prstGeom prst="rect">
            <a:avLst/>
          </a:prstGeom>
          <a:noFill/>
          <a:ln w="0">
            <a:noFill/>
            <a:prstDash val="solid"/>
          </a:ln>
        </p:spPr>
        <p:txBody>
          <a:bodyPr/>
          <a:lstStyle/>
          <a:p>
            <a:pPr algn="ctr">
              <a:defRPr sz="1800" b="1">
                <a:solidFill>
                  <a:srgbClr val="1F4E79"/>
                </a:solidFill>
              </a:defRPr>
            </a:pPr>
            <a:r>
              <a:rPr sz="1800" b="1">
                <a:solidFill>
                  <a:srgbClr val="1F4E79"/>
                </a:solidFill>
              </a:rPr>
              <a:t>REAL NEEDS</a:t>
            </a:r>
          </a:p>
        </p:txBody>
      </p:sp>
      <p:sp>
        <p:nvSpPr>
          <p:cNvPr id="6" name="value-body-1">
            <a:extLst>
              <a:ext uri="{FF2B5EF4-FFF2-40B4-BE49-F238E27FC236}">
                <a16:creationId xmlns:a16="http://schemas.microsoft.com/office/drawing/2014/main" id="{744B2359-F640-4E65-8A98-CED3D8C594C9}"/>
              </a:ext>
            </a:extLst>
          </p:cNvPr>
          <p:cNvSpPr>
            <a:spLocks noGrp="1"/>
          </p:cNvSpPr>
          <p:nvPr/>
        </p:nvSpPr>
        <p:spPr>
          <a:xfrm>
            <a:off x="714375" y="3714750"/>
            <a:ext cx="2952750" cy="876300"/>
          </a:xfrm>
          <a:prstGeom prst="rect">
            <a:avLst/>
          </a:prstGeom>
          <a:noFill/>
          <a:ln w="0">
            <a:noFill/>
            <a:prstDash val="solid"/>
          </a:ln>
        </p:spPr>
        <p:txBody>
          <a:bodyPr/>
          <a:lstStyle/>
          <a:p>
            <a:pPr algn="ctr">
              <a:defRPr sz="1500">
                <a:solidFill>
                  <a:srgbClr val="000000"/>
                </a:solidFill>
              </a:defRPr>
            </a:pPr>
            <a:r>
              <a:rPr sz="1600" dirty="0">
                <a:solidFill>
                  <a:srgbClr val="000000"/>
                </a:solidFill>
              </a:rPr>
              <a:t>Build for an actual organization and its users.</a:t>
            </a:r>
          </a:p>
        </p:txBody>
      </p:sp>
      <p:sp>
        <p:nvSpPr>
          <p:cNvPr id="7" name="value-circle-2">
            <a:extLst>
              <a:ext uri="{FF2B5EF4-FFF2-40B4-BE49-F238E27FC236}">
                <a16:creationId xmlns:a16="http://schemas.microsoft.com/office/drawing/2014/main" id="{F83CAB95-7DEB-4DA5-A843-273CD4703625}"/>
              </a:ext>
            </a:extLst>
          </p:cNvPr>
          <p:cNvSpPr>
            <a:spLocks noGrp="1"/>
          </p:cNvSpPr>
          <p:nvPr/>
        </p:nvSpPr>
        <p:spPr>
          <a:xfrm>
            <a:off x="5657850" y="1952625"/>
            <a:ext cx="876300" cy="876300"/>
          </a:xfrm>
          <a:prstGeom prst="ellipse">
            <a:avLst/>
          </a:prstGeom>
          <a:solidFill>
            <a:srgbClr val="008C95"/>
          </a:solidFill>
          <a:ln w="0">
            <a:solidFill>
              <a:srgbClr val="008C95"/>
            </a:solidFill>
            <a:prstDash val="solid"/>
          </a:ln>
        </p:spPr>
        <p:txBody>
          <a:bodyPr/>
          <a:lstStyle/>
          <a:p>
            <a:endParaRPr lang="en-US"/>
          </a:p>
        </p:txBody>
      </p:sp>
      <p:sp>
        <p:nvSpPr>
          <p:cNvPr id="8" name="value-number-2">
            <a:extLst>
              <a:ext uri="{FF2B5EF4-FFF2-40B4-BE49-F238E27FC236}">
                <a16:creationId xmlns:a16="http://schemas.microsoft.com/office/drawing/2014/main" id="{4853ECDA-7FF2-41C9-8C98-E812FC8B3F0F}"/>
              </a:ext>
            </a:extLst>
          </p:cNvPr>
          <p:cNvSpPr>
            <a:spLocks noGrp="1"/>
          </p:cNvSpPr>
          <p:nvPr/>
        </p:nvSpPr>
        <p:spPr>
          <a:xfrm>
            <a:off x="5657850" y="2143125"/>
            <a:ext cx="876300" cy="419100"/>
          </a:xfrm>
          <a:prstGeom prst="rect">
            <a:avLst/>
          </a:prstGeom>
          <a:noFill/>
          <a:ln w="0">
            <a:noFill/>
            <a:prstDash val="solid"/>
          </a:ln>
        </p:spPr>
        <p:txBody>
          <a:bodyPr/>
          <a:lstStyle/>
          <a:p>
            <a:pPr algn="ctr">
              <a:defRPr sz="2100" b="1">
                <a:solidFill>
                  <a:srgbClr val="FFFFFF"/>
                </a:solidFill>
              </a:defRPr>
            </a:pPr>
            <a:r>
              <a:rPr sz="2100" b="1">
                <a:solidFill>
                  <a:srgbClr val="FFFFFF"/>
                </a:solidFill>
              </a:rPr>
              <a:t>2</a:t>
            </a:r>
          </a:p>
        </p:txBody>
      </p:sp>
      <p:sp>
        <p:nvSpPr>
          <p:cNvPr id="9" name="value-heading-2">
            <a:extLst>
              <a:ext uri="{FF2B5EF4-FFF2-40B4-BE49-F238E27FC236}">
                <a16:creationId xmlns:a16="http://schemas.microsoft.com/office/drawing/2014/main" id="{C45A14EB-1DF8-4112-8165-F6788714BC37}"/>
              </a:ext>
            </a:extLst>
          </p:cNvPr>
          <p:cNvSpPr>
            <a:spLocks noGrp="1"/>
          </p:cNvSpPr>
          <p:nvPr/>
        </p:nvSpPr>
        <p:spPr>
          <a:xfrm>
            <a:off x="4524375" y="3190875"/>
            <a:ext cx="3143250" cy="400050"/>
          </a:xfrm>
          <a:prstGeom prst="rect">
            <a:avLst/>
          </a:prstGeom>
          <a:noFill/>
          <a:ln w="0">
            <a:noFill/>
            <a:prstDash val="solid"/>
          </a:ln>
        </p:spPr>
        <p:txBody>
          <a:bodyPr/>
          <a:lstStyle/>
          <a:p>
            <a:pPr algn="ctr">
              <a:defRPr sz="1800" b="1">
                <a:solidFill>
                  <a:srgbClr val="008C95"/>
                </a:solidFill>
              </a:defRPr>
            </a:pPr>
            <a:r>
              <a:rPr sz="1800" b="1">
                <a:solidFill>
                  <a:srgbClr val="008C95"/>
                </a:solidFill>
              </a:rPr>
              <a:t>REAL CONSTRAINTS</a:t>
            </a:r>
          </a:p>
        </p:txBody>
      </p:sp>
      <p:sp>
        <p:nvSpPr>
          <p:cNvPr id="10" name="value-body-2">
            <a:extLst>
              <a:ext uri="{FF2B5EF4-FFF2-40B4-BE49-F238E27FC236}">
                <a16:creationId xmlns:a16="http://schemas.microsoft.com/office/drawing/2014/main" id="{F23AC9A1-51CB-47F6-8839-49F66811A020}"/>
              </a:ext>
            </a:extLst>
          </p:cNvPr>
          <p:cNvSpPr>
            <a:spLocks noGrp="1"/>
          </p:cNvSpPr>
          <p:nvPr/>
        </p:nvSpPr>
        <p:spPr>
          <a:xfrm>
            <a:off x="4619625" y="3714750"/>
            <a:ext cx="2952750" cy="876300"/>
          </a:xfrm>
          <a:prstGeom prst="rect">
            <a:avLst/>
          </a:prstGeom>
          <a:noFill/>
          <a:ln w="0">
            <a:noFill/>
            <a:prstDash val="solid"/>
          </a:ln>
        </p:spPr>
        <p:txBody>
          <a:bodyPr/>
          <a:lstStyle/>
          <a:p>
            <a:pPr algn="ctr">
              <a:defRPr sz="1500">
                <a:solidFill>
                  <a:srgbClr val="000000"/>
                </a:solidFill>
              </a:defRPr>
            </a:pPr>
            <a:r>
              <a:rPr sz="1600" dirty="0">
                <a:solidFill>
                  <a:srgbClr val="000000"/>
                </a:solidFill>
              </a:rPr>
              <a:t>Work within existing systems, access limits, and deadlines.</a:t>
            </a:r>
          </a:p>
        </p:txBody>
      </p:sp>
      <p:sp>
        <p:nvSpPr>
          <p:cNvPr id="11" name="value-circle-3">
            <a:extLst>
              <a:ext uri="{FF2B5EF4-FFF2-40B4-BE49-F238E27FC236}">
                <a16:creationId xmlns:a16="http://schemas.microsoft.com/office/drawing/2014/main" id="{E21AA195-63AD-4CBB-8881-6AC029A98B80}"/>
              </a:ext>
            </a:extLst>
          </p:cNvPr>
          <p:cNvSpPr>
            <a:spLocks noGrp="1"/>
          </p:cNvSpPr>
          <p:nvPr/>
        </p:nvSpPr>
        <p:spPr>
          <a:xfrm>
            <a:off x="9563100" y="1952625"/>
            <a:ext cx="876300" cy="876300"/>
          </a:xfrm>
          <a:prstGeom prst="ellipse">
            <a:avLst/>
          </a:prstGeom>
          <a:solidFill>
            <a:srgbClr val="6B5B95"/>
          </a:solidFill>
          <a:ln w="0">
            <a:solidFill>
              <a:srgbClr val="6B5B95"/>
            </a:solidFill>
            <a:prstDash val="solid"/>
          </a:ln>
        </p:spPr>
        <p:txBody>
          <a:bodyPr/>
          <a:lstStyle/>
          <a:p>
            <a:endParaRPr lang="en-US"/>
          </a:p>
        </p:txBody>
      </p:sp>
      <p:sp>
        <p:nvSpPr>
          <p:cNvPr id="12" name="value-number-3">
            <a:extLst>
              <a:ext uri="{FF2B5EF4-FFF2-40B4-BE49-F238E27FC236}">
                <a16:creationId xmlns:a16="http://schemas.microsoft.com/office/drawing/2014/main" id="{6BDF81AC-B84E-4D5D-80EA-1C5A9A1AE1F0}"/>
              </a:ext>
            </a:extLst>
          </p:cNvPr>
          <p:cNvSpPr>
            <a:spLocks noGrp="1"/>
          </p:cNvSpPr>
          <p:nvPr/>
        </p:nvSpPr>
        <p:spPr>
          <a:xfrm>
            <a:off x="9563100" y="2143125"/>
            <a:ext cx="876300" cy="419100"/>
          </a:xfrm>
          <a:prstGeom prst="rect">
            <a:avLst/>
          </a:prstGeom>
          <a:noFill/>
          <a:ln w="0">
            <a:noFill/>
            <a:prstDash val="solid"/>
          </a:ln>
        </p:spPr>
        <p:txBody>
          <a:bodyPr/>
          <a:lstStyle/>
          <a:p>
            <a:pPr algn="ctr">
              <a:defRPr sz="2100" b="1">
                <a:solidFill>
                  <a:srgbClr val="FFFFFF"/>
                </a:solidFill>
              </a:defRPr>
            </a:pPr>
            <a:r>
              <a:rPr sz="2100" b="1">
                <a:solidFill>
                  <a:srgbClr val="FFFFFF"/>
                </a:solidFill>
              </a:rPr>
              <a:t>3</a:t>
            </a:r>
          </a:p>
        </p:txBody>
      </p:sp>
      <p:sp>
        <p:nvSpPr>
          <p:cNvPr id="13" name="value-heading-3">
            <a:extLst>
              <a:ext uri="{FF2B5EF4-FFF2-40B4-BE49-F238E27FC236}">
                <a16:creationId xmlns:a16="http://schemas.microsoft.com/office/drawing/2014/main" id="{0F7AEA28-F356-414E-BF3B-20ABDA0350BC}"/>
              </a:ext>
            </a:extLst>
          </p:cNvPr>
          <p:cNvSpPr>
            <a:spLocks noGrp="1"/>
          </p:cNvSpPr>
          <p:nvPr/>
        </p:nvSpPr>
        <p:spPr>
          <a:xfrm>
            <a:off x="8429625" y="3190875"/>
            <a:ext cx="3143250" cy="400050"/>
          </a:xfrm>
          <a:prstGeom prst="rect">
            <a:avLst/>
          </a:prstGeom>
          <a:noFill/>
          <a:ln w="0">
            <a:noFill/>
            <a:prstDash val="solid"/>
          </a:ln>
        </p:spPr>
        <p:txBody>
          <a:bodyPr/>
          <a:lstStyle/>
          <a:p>
            <a:pPr algn="ctr">
              <a:defRPr sz="1800" b="1">
                <a:solidFill>
                  <a:srgbClr val="6B5B95"/>
                </a:solidFill>
              </a:defRPr>
            </a:pPr>
            <a:r>
              <a:rPr sz="1800" b="1">
                <a:solidFill>
                  <a:srgbClr val="6B5B95"/>
                </a:solidFill>
              </a:rPr>
              <a:t>REAL COLLABORATION</a:t>
            </a:r>
          </a:p>
        </p:txBody>
      </p:sp>
      <p:sp>
        <p:nvSpPr>
          <p:cNvPr id="14" name="value-body-3">
            <a:extLst>
              <a:ext uri="{FF2B5EF4-FFF2-40B4-BE49-F238E27FC236}">
                <a16:creationId xmlns:a16="http://schemas.microsoft.com/office/drawing/2014/main" id="{7DE5E1AC-3A55-4FD4-90EE-1B7889694C59}"/>
              </a:ext>
            </a:extLst>
          </p:cNvPr>
          <p:cNvSpPr>
            <a:spLocks noGrp="1"/>
          </p:cNvSpPr>
          <p:nvPr/>
        </p:nvSpPr>
        <p:spPr>
          <a:xfrm>
            <a:off x="8524875" y="3714750"/>
            <a:ext cx="2952750" cy="876300"/>
          </a:xfrm>
          <a:prstGeom prst="rect">
            <a:avLst/>
          </a:prstGeom>
          <a:noFill/>
          <a:ln w="0">
            <a:noFill/>
            <a:prstDash val="solid"/>
          </a:ln>
        </p:spPr>
        <p:txBody>
          <a:bodyPr/>
          <a:lstStyle/>
          <a:p>
            <a:pPr algn="ctr">
              <a:defRPr sz="1500">
                <a:solidFill>
                  <a:srgbClr val="000000"/>
                </a:solidFill>
              </a:defRPr>
            </a:pPr>
            <a:r>
              <a:rPr sz="1600" dirty="0">
                <a:solidFill>
                  <a:srgbClr val="000000"/>
                </a:solidFill>
              </a:rPr>
              <a:t>Clarify expectations, communicate progress, and respond to feedback.</a:t>
            </a:r>
          </a:p>
        </p:txBody>
      </p:sp>
      <p:sp>
        <p:nvSpPr>
          <p:cNvPr id="15" name="success-band">
            <a:extLst>
              <a:ext uri="{FF2B5EF4-FFF2-40B4-BE49-F238E27FC236}">
                <a16:creationId xmlns:a16="http://schemas.microsoft.com/office/drawing/2014/main" id="{A167D8F2-B113-4E6F-878A-1D9173A6B6C1}"/>
              </a:ext>
            </a:extLst>
          </p:cNvPr>
          <p:cNvSpPr>
            <a:spLocks noGrp="1"/>
          </p:cNvSpPr>
          <p:nvPr/>
        </p:nvSpPr>
        <p:spPr>
          <a:xfrm>
            <a:off x="1714500" y="5191125"/>
            <a:ext cx="8763000" cy="857250"/>
          </a:xfrm>
          <a:prstGeom prst="roundRect">
            <a:avLst>
              <a:gd name="adj" fmla="val 8889"/>
            </a:avLst>
          </a:prstGeom>
          <a:solidFill>
            <a:srgbClr val="FFF2E8"/>
          </a:solidFill>
          <a:ln w="9525">
            <a:solidFill>
              <a:srgbClr val="F0C7A7"/>
            </a:solidFill>
            <a:prstDash val="solid"/>
          </a:ln>
        </p:spPr>
        <p:txBody>
          <a:bodyPr/>
          <a:lstStyle/>
          <a:p>
            <a:endParaRPr lang="en-US"/>
          </a:p>
        </p:txBody>
      </p:sp>
      <p:sp>
        <p:nvSpPr>
          <p:cNvPr id="16" name="success-takeaway">
            <a:extLst>
              <a:ext uri="{FF2B5EF4-FFF2-40B4-BE49-F238E27FC236}">
                <a16:creationId xmlns:a16="http://schemas.microsoft.com/office/drawing/2014/main" id="{27E5EB0A-2EF6-4A04-95D5-6629EEF332F2}"/>
              </a:ext>
            </a:extLst>
          </p:cNvPr>
          <p:cNvSpPr>
            <a:spLocks noGrp="1"/>
          </p:cNvSpPr>
          <p:nvPr/>
        </p:nvSpPr>
        <p:spPr>
          <a:xfrm>
            <a:off x="1886673" y="5438775"/>
            <a:ext cx="8209827" cy="381000"/>
          </a:xfrm>
          <a:prstGeom prst="rect">
            <a:avLst/>
          </a:prstGeom>
          <a:noFill/>
          <a:ln w="0">
            <a:noFill/>
            <a:prstDash val="solid"/>
          </a:ln>
        </p:spPr>
        <p:txBody>
          <a:bodyPr/>
          <a:lstStyle/>
          <a:p>
            <a:pPr algn="ctr">
              <a:defRPr sz="1500" b="1">
                <a:solidFill>
                  <a:srgbClr val="C55A11"/>
                </a:solidFill>
              </a:defRPr>
            </a:pPr>
            <a:r>
              <a:rPr sz="2400" b="1" dirty="0">
                <a:solidFill>
                  <a:srgbClr val="C55A11"/>
                </a:solidFill>
              </a:rPr>
              <a:t>Success = a working product + a professional client relationship</a:t>
            </a:r>
          </a:p>
        </p:txBody>
      </p:sp>
    </p:spTree>
    <p:extLst>
      <p:ext uri="{BB962C8B-B14F-4D97-AF65-F5344CB8AC3E}">
        <p14:creationId xmlns:p14="http://schemas.microsoft.com/office/powerpoint/2010/main" val="1619883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9FC72601-517C-4C46-9634-38C5EBA65601}"/>
              </a:ext>
            </a:extLst>
          </p:cNvPr>
          <p:cNvSpPr>
            <a:spLocks noGrp="1"/>
          </p:cNvSpPr>
          <p:nvPr/>
        </p:nvSpPr>
        <p:spPr>
          <a:xfrm>
            <a:off x="685800" y="361950"/>
            <a:ext cx="10820400" cy="590550"/>
          </a:xfrm>
          <a:prstGeom prst="rect">
            <a:avLst/>
          </a:prstGeom>
          <a:noFill/>
          <a:ln w="0">
            <a:noFill/>
            <a:prstDash val="solid"/>
          </a:ln>
        </p:spPr>
        <p:txBody>
          <a:bodyPr/>
          <a:lstStyle/>
          <a:p>
            <a:pPr algn="l">
              <a:defRPr sz="2400" b="1">
                <a:solidFill>
                  <a:srgbClr val="1F4E79"/>
                </a:solidFill>
              </a:defRPr>
            </a:pPr>
            <a:r>
              <a:rPr sz="3200" b="1" dirty="0">
                <a:solidFill>
                  <a:srgbClr val="1F4E79"/>
                </a:solidFill>
              </a:rPr>
              <a:t>Teamwork Challenges Become Project Risks</a:t>
            </a:r>
          </a:p>
        </p:txBody>
      </p:sp>
      <p:sp>
        <p:nvSpPr>
          <p:cNvPr id="2" name="subtitle">
            <a:extLst>
              <a:ext uri="{FF2B5EF4-FFF2-40B4-BE49-F238E27FC236}">
                <a16:creationId xmlns:a16="http://schemas.microsoft.com/office/drawing/2014/main" id="{B0D75D21-F5D8-4F7B-9D72-806A944D2D2E}"/>
              </a:ext>
            </a:extLst>
          </p:cNvPr>
          <p:cNvSpPr>
            <a:spLocks noGrp="1"/>
          </p:cNvSpPr>
          <p:nvPr/>
        </p:nvSpPr>
        <p:spPr>
          <a:xfrm>
            <a:off x="685800" y="962025"/>
            <a:ext cx="9810750" cy="342900"/>
          </a:xfrm>
          <a:prstGeom prst="rect">
            <a:avLst/>
          </a:prstGeom>
          <a:noFill/>
          <a:ln w="0">
            <a:noFill/>
            <a:prstDash val="solid"/>
          </a:ln>
        </p:spPr>
        <p:txBody>
          <a:bodyPr/>
          <a:lstStyle/>
          <a:p>
            <a:pPr>
              <a:defRPr sz="1500" b="1">
                <a:solidFill>
                  <a:srgbClr val="000000"/>
                </a:solidFill>
              </a:defRPr>
            </a:pPr>
            <a:r>
              <a:rPr sz="2000" b="1" dirty="0">
                <a:solidFill>
                  <a:srgbClr val="000000"/>
                </a:solidFill>
              </a:rPr>
              <a:t>Recognize these patterns early—before they affect integration and delivery.</a:t>
            </a:r>
          </a:p>
        </p:txBody>
      </p:sp>
      <p:sp>
        <p:nvSpPr>
          <p:cNvPr id="3" name="item-circle-1">
            <a:extLst>
              <a:ext uri="{FF2B5EF4-FFF2-40B4-BE49-F238E27FC236}">
                <a16:creationId xmlns:a16="http://schemas.microsoft.com/office/drawing/2014/main" id="{A0EB90E0-4FAA-4F89-9298-5F0546D774BE}"/>
              </a:ext>
            </a:extLst>
          </p:cNvPr>
          <p:cNvSpPr>
            <a:spLocks noGrp="1"/>
          </p:cNvSpPr>
          <p:nvPr/>
        </p:nvSpPr>
        <p:spPr>
          <a:xfrm>
            <a:off x="1571625" y="1952625"/>
            <a:ext cx="742950" cy="742950"/>
          </a:xfrm>
          <a:prstGeom prst="ellipse">
            <a:avLst/>
          </a:prstGeom>
          <a:solidFill>
            <a:srgbClr val="1F4E79"/>
          </a:solidFill>
          <a:ln w="0">
            <a:solidFill>
              <a:srgbClr val="1F4E79"/>
            </a:solidFill>
            <a:prstDash val="solid"/>
          </a:ln>
        </p:spPr>
        <p:txBody>
          <a:bodyPr/>
          <a:lstStyle/>
          <a:p>
            <a:endParaRPr lang="en-US"/>
          </a:p>
        </p:txBody>
      </p:sp>
      <p:sp>
        <p:nvSpPr>
          <p:cNvPr id="4" name="item-number-1">
            <a:extLst>
              <a:ext uri="{FF2B5EF4-FFF2-40B4-BE49-F238E27FC236}">
                <a16:creationId xmlns:a16="http://schemas.microsoft.com/office/drawing/2014/main" id="{E36FB0A3-D219-4999-A9D9-DA13E00E9FE4}"/>
              </a:ext>
            </a:extLst>
          </p:cNvPr>
          <p:cNvSpPr>
            <a:spLocks noGrp="1"/>
          </p:cNvSpPr>
          <p:nvPr/>
        </p:nvSpPr>
        <p:spPr>
          <a:xfrm>
            <a:off x="1571625" y="2105025"/>
            <a:ext cx="742950" cy="400050"/>
          </a:xfrm>
          <a:prstGeom prst="rect">
            <a:avLst/>
          </a:prstGeom>
          <a:noFill/>
          <a:ln w="0">
            <a:noFill/>
            <a:prstDash val="solid"/>
          </a:ln>
        </p:spPr>
        <p:txBody>
          <a:bodyPr/>
          <a:lstStyle/>
          <a:p>
            <a:pPr algn="ctr">
              <a:defRPr sz="1950" b="1">
                <a:solidFill>
                  <a:srgbClr val="FFFFFF"/>
                </a:solidFill>
              </a:defRPr>
            </a:pPr>
            <a:r>
              <a:rPr sz="1950" b="1">
                <a:solidFill>
                  <a:srgbClr val="FFFFFF"/>
                </a:solidFill>
              </a:rPr>
              <a:t>1</a:t>
            </a:r>
          </a:p>
        </p:txBody>
      </p:sp>
      <p:sp>
        <p:nvSpPr>
          <p:cNvPr id="5" name="item-heading-1">
            <a:extLst>
              <a:ext uri="{FF2B5EF4-FFF2-40B4-BE49-F238E27FC236}">
                <a16:creationId xmlns:a16="http://schemas.microsoft.com/office/drawing/2014/main" id="{643290BE-34C6-4806-B7A9-3534A34F9F2C}"/>
              </a:ext>
            </a:extLst>
          </p:cNvPr>
          <p:cNvSpPr>
            <a:spLocks noGrp="1"/>
          </p:cNvSpPr>
          <p:nvPr/>
        </p:nvSpPr>
        <p:spPr>
          <a:xfrm>
            <a:off x="809625" y="2905125"/>
            <a:ext cx="2476500" cy="704850"/>
          </a:xfrm>
          <a:prstGeom prst="rect">
            <a:avLst/>
          </a:prstGeom>
          <a:noFill/>
          <a:ln w="0">
            <a:noFill/>
            <a:prstDash val="solid"/>
          </a:ln>
        </p:spPr>
        <p:txBody>
          <a:bodyPr/>
          <a:lstStyle/>
          <a:p>
            <a:pPr algn="ctr">
              <a:defRPr sz="1800" b="1">
                <a:solidFill>
                  <a:srgbClr val="1F4E79"/>
                </a:solidFill>
              </a:defRPr>
            </a:pPr>
            <a:r>
              <a:rPr sz="1800" b="1">
                <a:solidFill>
                  <a:srgbClr val="1F4E79"/>
                </a:solidFill>
              </a:rPr>
              <a:t>UNEVEN PARTICIPATION</a:t>
            </a:r>
          </a:p>
        </p:txBody>
      </p:sp>
      <p:sp>
        <p:nvSpPr>
          <p:cNvPr id="6" name="item-body-1">
            <a:extLst>
              <a:ext uri="{FF2B5EF4-FFF2-40B4-BE49-F238E27FC236}">
                <a16:creationId xmlns:a16="http://schemas.microsoft.com/office/drawing/2014/main" id="{EB6E791D-4337-47CF-82BB-064CD358B1CA}"/>
              </a:ext>
            </a:extLst>
          </p:cNvPr>
          <p:cNvSpPr>
            <a:spLocks noGrp="1"/>
          </p:cNvSpPr>
          <p:nvPr/>
        </p:nvSpPr>
        <p:spPr>
          <a:xfrm>
            <a:off x="476250" y="3400425"/>
            <a:ext cx="2667000" cy="781050"/>
          </a:xfrm>
          <a:prstGeom prst="rect">
            <a:avLst/>
          </a:prstGeom>
          <a:noFill/>
          <a:ln w="0">
            <a:noFill/>
            <a:prstDash val="solid"/>
          </a:ln>
        </p:spPr>
        <p:txBody>
          <a:bodyPr/>
          <a:lstStyle/>
          <a:p>
            <a:pPr algn="ctr">
              <a:defRPr sz="1500">
                <a:solidFill>
                  <a:srgbClr val="000000"/>
                </a:solidFill>
              </a:defRPr>
            </a:pPr>
            <a:r>
              <a:rPr dirty="0">
                <a:solidFill>
                  <a:srgbClr val="000000"/>
                </a:solidFill>
              </a:rPr>
              <a:t>A few members carry most of the work.</a:t>
            </a:r>
          </a:p>
        </p:txBody>
      </p:sp>
      <p:sp>
        <p:nvSpPr>
          <p:cNvPr id="7" name="item-circle-2">
            <a:extLst>
              <a:ext uri="{FF2B5EF4-FFF2-40B4-BE49-F238E27FC236}">
                <a16:creationId xmlns:a16="http://schemas.microsoft.com/office/drawing/2014/main" id="{7986F521-C771-48ED-B38A-25F48C4FF9E5}"/>
              </a:ext>
            </a:extLst>
          </p:cNvPr>
          <p:cNvSpPr>
            <a:spLocks noGrp="1"/>
          </p:cNvSpPr>
          <p:nvPr/>
        </p:nvSpPr>
        <p:spPr>
          <a:xfrm>
            <a:off x="4333875" y="1952625"/>
            <a:ext cx="742950" cy="742950"/>
          </a:xfrm>
          <a:prstGeom prst="ellipse">
            <a:avLst/>
          </a:prstGeom>
          <a:solidFill>
            <a:srgbClr val="008C95"/>
          </a:solidFill>
          <a:ln w="0">
            <a:solidFill>
              <a:srgbClr val="008C95"/>
            </a:solidFill>
            <a:prstDash val="solid"/>
          </a:ln>
        </p:spPr>
        <p:txBody>
          <a:bodyPr/>
          <a:lstStyle/>
          <a:p>
            <a:endParaRPr lang="en-US"/>
          </a:p>
        </p:txBody>
      </p:sp>
      <p:sp>
        <p:nvSpPr>
          <p:cNvPr id="8" name="item-number-2">
            <a:extLst>
              <a:ext uri="{FF2B5EF4-FFF2-40B4-BE49-F238E27FC236}">
                <a16:creationId xmlns:a16="http://schemas.microsoft.com/office/drawing/2014/main" id="{39B8E1D6-7B4C-4BFA-8528-CFEE7C9CF7C5}"/>
              </a:ext>
            </a:extLst>
          </p:cNvPr>
          <p:cNvSpPr>
            <a:spLocks noGrp="1"/>
          </p:cNvSpPr>
          <p:nvPr/>
        </p:nvSpPr>
        <p:spPr>
          <a:xfrm>
            <a:off x="4333875" y="2105025"/>
            <a:ext cx="742950" cy="400050"/>
          </a:xfrm>
          <a:prstGeom prst="rect">
            <a:avLst/>
          </a:prstGeom>
          <a:noFill/>
          <a:ln w="0">
            <a:noFill/>
            <a:prstDash val="solid"/>
          </a:ln>
        </p:spPr>
        <p:txBody>
          <a:bodyPr/>
          <a:lstStyle/>
          <a:p>
            <a:pPr algn="ctr">
              <a:defRPr sz="1950" b="1">
                <a:solidFill>
                  <a:srgbClr val="FFFFFF"/>
                </a:solidFill>
              </a:defRPr>
            </a:pPr>
            <a:r>
              <a:rPr sz="1950" b="1">
                <a:solidFill>
                  <a:srgbClr val="FFFFFF"/>
                </a:solidFill>
              </a:rPr>
              <a:t>2</a:t>
            </a:r>
          </a:p>
        </p:txBody>
      </p:sp>
      <p:sp>
        <p:nvSpPr>
          <p:cNvPr id="9" name="item-heading-2">
            <a:extLst>
              <a:ext uri="{FF2B5EF4-FFF2-40B4-BE49-F238E27FC236}">
                <a16:creationId xmlns:a16="http://schemas.microsoft.com/office/drawing/2014/main" id="{9B700333-9187-4997-B0B6-5F6E35580F21}"/>
              </a:ext>
            </a:extLst>
          </p:cNvPr>
          <p:cNvSpPr>
            <a:spLocks noGrp="1"/>
          </p:cNvSpPr>
          <p:nvPr/>
        </p:nvSpPr>
        <p:spPr>
          <a:xfrm>
            <a:off x="3571875" y="2905125"/>
            <a:ext cx="2476500" cy="704850"/>
          </a:xfrm>
          <a:prstGeom prst="rect">
            <a:avLst/>
          </a:prstGeom>
          <a:noFill/>
          <a:ln w="0">
            <a:noFill/>
            <a:prstDash val="solid"/>
          </a:ln>
        </p:spPr>
        <p:txBody>
          <a:bodyPr/>
          <a:lstStyle/>
          <a:p>
            <a:pPr algn="ctr">
              <a:defRPr sz="1800" b="1">
                <a:solidFill>
                  <a:srgbClr val="008C95"/>
                </a:solidFill>
              </a:defRPr>
            </a:pPr>
            <a:r>
              <a:rPr sz="1800" b="1" dirty="0">
                <a:solidFill>
                  <a:srgbClr val="008C95"/>
                </a:solidFill>
              </a:rPr>
              <a:t>UNCLEAR OWNERSHIP</a:t>
            </a:r>
          </a:p>
        </p:txBody>
      </p:sp>
      <p:sp>
        <p:nvSpPr>
          <p:cNvPr id="10" name="item-body-2">
            <a:extLst>
              <a:ext uri="{FF2B5EF4-FFF2-40B4-BE49-F238E27FC236}">
                <a16:creationId xmlns:a16="http://schemas.microsoft.com/office/drawing/2014/main" id="{BFEF374C-F3B2-4FD0-81D9-82AE5BFA9565}"/>
              </a:ext>
            </a:extLst>
          </p:cNvPr>
          <p:cNvSpPr>
            <a:spLocks noGrp="1"/>
          </p:cNvSpPr>
          <p:nvPr/>
        </p:nvSpPr>
        <p:spPr>
          <a:xfrm>
            <a:off x="3418915" y="3400425"/>
            <a:ext cx="2667000" cy="781050"/>
          </a:xfrm>
          <a:prstGeom prst="rect">
            <a:avLst/>
          </a:prstGeom>
          <a:noFill/>
          <a:ln w="0">
            <a:noFill/>
            <a:prstDash val="solid"/>
          </a:ln>
        </p:spPr>
        <p:txBody>
          <a:bodyPr/>
          <a:lstStyle/>
          <a:p>
            <a:pPr algn="ctr">
              <a:defRPr sz="1500">
                <a:solidFill>
                  <a:srgbClr val="000000"/>
                </a:solidFill>
              </a:defRPr>
            </a:pPr>
            <a:r>
              <a:rPr dirty="0">
                <a:solidFill>
                  <a:srgbClr val="000000"/>
                </a:solidFill>
              </a:rPr>
              <a:t>Tasks and dependencies are not clearly assigned.</a:t>
            </a:r>
          </a:p>
        </p:txBody>
      </p:sp>
      <p:sp>
        <p:nvSpPr>
          <p:cNvPr id="11" name="item-circle-3">
            <a:extLst>
              <a:ext uri="{FF2B5EF4-FFF2-40B4-BE49-F238E27FC236}">
                <a16:creationId xmlns:a16="http://schemas.microsoft.com/office/drawing/2014/main" id="{AA7F8E8E-A2C4-48E3-864C-503BB079398B}"/>
              </a:ext>
            </a:extLst>
          </p:cNvPr>
          <p:cNvSpPr>
            <a:spLocks noGrp="1"/>
          </p:cNvSpPr>
          <p:nvPr/>
        </p:nvSpPr>
        <p:spPr>
          <a:xfrm>
            <a:off x="7096125" y="1952625"/>
            <a:ext cx="742950" cy="742950"/>
          </a:xfrm>
          <a:prstGeom prst="ellipse">
            <a:avLst/>
          </a:prstGeom>
          <a:solidFill>
            <a:srgbClr val="6B5B95"/>
          </a:solidFill>
          <a:ln w="0">
            <a:solidFill>
              <a:srgbClr val="6B5B95"/>
            </a:solidFill>
            <a:prstDash val="solid"/>
          </a:ln>
        </p:spPr>
        <p:txBody>
          <a:bodyPr/>
          <a:lstStyle/>
          <a:p>
            <a:endParaRPr lang="en-US"/>
          </a:p>
        </p:txBody>
      </p:sp>
      <p:sp>
        <p:nvSpPr>
          <p:cNvPr id="12" name="item-number-3">
            <a:extLst>
              <a:ext uri="{FF2B5EF4-FFF2-40B4-BE49-F238E27FC236}">
                <a16:creationId xmlns:a16="http://schemas.microsoft.com/office/drawing/2014/main" id="{A78800D4-E797-4887-8D6C-9A16509015BC}"/>
              </a:ext>
            </a:extLst>
          </p:cNvPr>
          <p:cNvSpPr>
            <a:spLocks noGrp="1"/>
          </p:cNvSpPr>
          <p:nvPr/>
        </p:nvSpPr>
        <p:spPr>
          <a:xfrm>
            <a:off x="7096125" y="2105025"/>
            <a:ext cx="742950" cy="400050"/>
          </a:xfrm>
          <a:prstGeom prst="rect">
            <a:avLst/>
          </a:prstGeom>
          <a:noFill/>
          <a:ln w="0">
            <a:noFill/>
            <a:prstDash val="solid"/>
          </a:ln>
        </p:spPr>
        <p:txBody>
          <a:bodyPr/>
          <a:lstStyle/>
          <a:p>
            <a:pPr algn="ctr">
              <a:defRPr sz="1950" b="1">
                <a:solidFill>
                  <a:srgbClr val="FFFFFF"/>
                </a:solidFill>
              </a:defRPr>
            </a:pPr>
            <a:r>
              <a:rPr sz="1950" b="1">
                <a:solidFill>
                  <a:srgbClr val="FFFFFF"/>
                </a:solidFill>
              </a:rPr>
              <a:t>3</a:t>
            </a:r>
          </a:p>
        </p:txBody>
      </p:sp>
      <p:sp>
        <p:nvSpPr>
          <p:cNvPr id="13" name="item-heading-3">
            <a:extLst>
              <a:ext uri="{FF2B5EF4-FFF2-40B4-BE49-F238E27FC236}">
                <a16:creationId xmlns:a16="http://schemas.microsoft.com/office/drawing/2014/main" id="{7AE5978D-3891-4964-8E32-B827F68A768F}"/>
              </a:ext>
            </a:extLst>
          </p:cNvPr>
          <p:cNvSpPr>
            <a:spLocks noGrp="1"/>
          </p:cNvSpPr>
          <p:nvPr/>
        </p:nvSpPr>
        <p:spPr>
          <a:xfrm>
            <a:off x="6334125" y="2905125"/>
            <a:ext cx="2476500" cy="704850"/>
          </a:xfrm>
          <a:prstGeom prst="rect">
            <a:avLst/>
          </a:prstGeom>
          <a:noFill/>
          <a:ln w="0">
            <a:noFill/>
            <a:prstDash val="solid"/>
          </a:ln>
        </p:spPr>
        <p:txBody>
          <a:bodyPr/>
          <a:lstStyle/>
          <a:p>
            <a:pPr algn="ctr">
              <a:defRPr sz="1800" b="1">
                <a:solidFill>
                  <a:srgbClr val="6B5B95"/>
                </a:solidFill>
              </a:defRPr>
            </a:pPr>
            <a:r>
              <a:rPr sz="1800" b="1" dirty="0">
                <a:solidFill>
                  <a:srgbClr val="6B5B95"/>
                </a:solidFill>
              </a:rPr>
              <a:t>LATE INTEGRATION</a:t>
            </a:r>
          </a:p>
        </p:txBody>
      </p:sp>
      <p:sp>
        <p:nvSpPr>
          <p:cNvPr id="14" name="item-body-3">
            <a:extLst>
              <a:ext uri="{FF2B5EF4-FFF2-40B4-BE49-F238E27FC236}">
                <a16:creationId xmlns:a16="http://schemas.microsoft.com/office/drawing/2014/main" id="{6AAC712D-3161-40F4-B292-470AF7A38E1B}"/>
              </a:ext>
            </a:extLst>
          </p:cNvPr>
          <p:cNvSpPr>
            <a:spLocks noGrp="1"/>
          </p:cNvSpPr>
          <p:nvPr/>
        </p:nvSpPr>
        <p:spPr>
          <a:xfrm>
            <a:off x="6106087" y="3394262"/>
            <a:ext cx="2667000" cy="781050"/>
          </a:xfrm>
          <a:prstGeom prst="rect">
            <a:avLst/>
          </a:prstGeom>
          <a:noFill/>
          <a:ln w="0">
            <a:noFill/>
            <a:prstDash val="solid"/>
          </a:ln>
        </p:spPr>
        <p:txBody>
          <a:bodyPr/>
          <a:lstStyle/>
          <a:p>
            <a:pPr algn="ctr">
              <a:defRPr sz="1500">
                <a:solidFill>
                  <a:srgbClr val="000000"/>
                </a:solidFill>
              </a:defRPr>
            </a:pPr>
            <a:r>
              <a:rPr dirty="0">
                <a:solidFill>
                  <a:srgbClr val="000000"/>
                </a:solidFill>
              </a:rPr>
              <a:t>Changes collide near the deadline.</a:t>
            </a:r>
          </a:p>
        </p:txBody>
      </p:sp>
      <p:sp>
        <p:nvSpPr>
          <p:cNvPr id="15" name="item-circle-4">
            <a:extLst>
              <a:ext uri="{FF2B5EF4-FFF2-40B4-BE49-F238E27FC236}">
                <a16:creationId xmlns:a16="http://schemas.microsoft.com/office/drawing/2014/main" id="{FFB1F64A-26DE-4871-9B33-5C3AC7390342}"/>
              </a:ext>
            </a:extLst>
          </p:cNvPr>
          <p:cNvSpPr>
            <a:spLocks noGrp="1"/>
          </p:cNvSpPr>
          <p:nvPr/>
        </p:nvSpPr>
        <p:spPr>
          <a:xfrm>
            <a:off x="9858375" y="1952625"/>
            <a:ext cx="742950" cy="742950"/>
          </a:xfrm>
          <a:prstGeom prst="ellipse">
            <a:avLst/>
          </a:prstGeom>
          <a:solidFill>
            <a:srgbClr val="C55A11"/>
          </a:solidFill>
          <a:ln w="0">
            <a:solidFill>
              <a:srgbClr val="C55A11"/>
            </a:solidFill>
            <a:prstDash val="solid"/>
          </a:ln>
        </p:spPr>
        <p:txBody>
          <a:bodyPr/>
          <a:lstStyle/>
          <a:p>
            <a:endParaRPr lang="en-US"/>
          </a:p>
        </p:txBody>
      </p:sp>
      <p:sp>
        <p:nvSpPr>
          <p:cNvPr id="16" name="item-number-4">
            <a:extLst>
              <a:ext uri="{FF2B5EF4-FFF2-40B4-BE49-F238E27FC236}">
                <a16:creationId xmlns:a16="http://schemas.microsoft.com/office/drawing/2014/main" id="{791BB8ED-DA9C-4CE4-A335-3CED6F73EFE4}"/>
              </a:ext>
            </a:extLst>
          </p:cNvPr>
          <p:cNvSpPr>
            <a:spLocks noGrp="1"/>
          </p:cNvSpPr>
          <p:nvPr/>
        </p:nvSpPr>
        <p:spPr>
          <a:xfrm>
            <a:off x="9858375" y="2105025"/>
            <a:ext cx="742950" cy="400050"/>
          </a:xfrm>
          <a:prstGeom prst="rect">
            <a:avLst/>
          </a:prstGeom>
          <a:noFill/>
          <a:ln w="0">
            <a:noFill/>
            <a:prstDash val="solid"/>
          </a:ln>
        </p:spPr>
        <p:txBody>
          <a:bodyPr/>
          <a:lstStyle/>
          <a:p>
            <a:pPr algn="ctr">
              <a:defRPr sz="1950" b="1">
                <a:solidFill>
                  <a:srgbClr val="FFFFFF"/>
                </a:solidFill>
              </a:defRPr>
            </a:pPr>
            <a:r>
              <a:rPr sz="1950" b="1">
                <a:solidFill>
                  <a:srgbClr val="FFFFFF"/>
                </a:solidFill>
              </a:rPr>
              <a:t>4</a:t>
            </a:r>
          </a:p>
        </p:txBody>
      </p:sp>
      <p:sp>
        <p:nvSpPr>
          <p:cNvPr id="17" name="item-heading-4">
            <a:extLst>
              <a:ext uri="{FF2B5EF4-FFF2-40B4-BE49-F238E27FC236}">
                <a16:creationId xmlns:a16="http://schemas.microsoft.com/office/drawing/2014/main" id="{BBB07F1D-D7D5-462D-83F6-9D174EDCE7E2}"/>
              </a:ext>
            </a:extLst>
          </p:cNvPr>
          <p:cNvSpPr>
            <a:spLocks noGrp="1"/>
          </p:cNvSpPr>
          <p:nvPr/>
        </p:nvSpPr>
        <p:spPr>
          <a:xfrm>
            <a:off x="9096375" y="2905125"/>
            <a:ext cx="2476500" cy="704850"/>
          </a:xfrm>
          <a:prstGeom prst="rect">
            <a:avLst/>
          </a:prstGeom>
          <a:noFill/>
          <a:ln w="0">
            <a:noFill/>
            <a:prstDash val="solid"/>
          </a:ln>
        </p:spPr>
        <p:txBody>
          <a:bodyPr/>
          <a:lstStyle/>
          <a:p>
            <a:pPr algn="ctr">
              <a:defRPr sz="1800" b="1">
                <a:solidFill>
                  <a:srgbClr val="C55A11"/>
                </a:solidFill>
              </a:defRPr>
            </a:pPr>
            <a:r>
              <a:rPr sz="1800" b="1">
                <a:solidFill>
                  <a:srgbClr val="C55A11"/>
                </a:solidFill>
              </a:rPr>
              <a:t>SILENT PROBLEMS</a:t>
            </a:r>
          </a:p>
        </p:txBody>
      </p:sp>
      <p:sp>
        <p:nvSpPr>
          <p:cNvPr id="18" name="item-body-4">
            <a:extLst>
              <a:ext uri="{FF2B5EF4-FFF2-40B4-BE49-F238E27FC236}">
                <a16:creationId xmlns:a16="http://schemas.microsoft.com/office/drawing/2014/main" id="{18FA2CE3-8248-41FA-BAC8-46DAD77AD6C7}"/>
              </a:ext>
            </a:extLst>
          </p:cNvPr>
          <p:cNvSpPr>
            <a:spLocks noGrp="1"/>
          </p:cNvSpPr>
          <p:nvPr/>
        </p:nvSpPr>
        <p:spPr>
          <a:xfrm>
            <a:off x="8905875" y="3349999"/>
            <a:ext cx="2667000" cy="781050"/>
          </a:xfrm>
          <a:prstGeom prst="rect">
            <a:avLst/>
          </a:prstGeom>
          <a:noFill/>
          <a:ln w="0">
            <a:noFill/>
            <a:prstDash val="solid"/>
          </a:ln>
        </p:spPr>
        <p:txBody>
          <a:bodyPr/>
          <a:lstStyle/>
          <a:p>
            <a:pPr algn="ctr">
              <a:defRPr sz="1500">
                <a:solidFill>
                  <a:srgbClr val="000000"/>
                </a:solidFill>
              </a:defRPr>
            </a:pPr>
            <a:r>
              <a:rPr dirty="0">
                <a:solidFill>
                  <a:srgbClr val="000000"/>
                </a:solidFill>
              </a:rPr>
              <a:t>Risks remain hidden until recovery is difficult.</a:t>
            </a:r>
          </a:p>
        </p:txBody>
      </p:sp>
      <p:sp>
        <p:nvSpPr>
          <p:cNvPr id="19" name="visibility-band">
            <a:extLst>
              <a:ext uri="{FF2B5EF4-FFF2-40B4-BE49-F238E27FC236}">
                <a16:creationId xmlns:a16="http://schemas.microsoft.com/office/drawing/2014/main" id="{B5893D94-DAD6-4B4A-B4DA-15DE54E1B617}"/>
              </a:ext>
            </a:extLst>
          </p:cNvPr>
          <p:cNvSpPr>
            <a:spLocks noGrp="1"/>
          </p:cNvSpPr>
          <p:nvPr/>
        </p:nvSpPr>
        <p:spPr>
          <a:xfrm>
            <a:off x="1428750" y="5286375"/>
            <a:ext cx="9334500" cy="781050"/>
          </a:xfrm>
          <a:prstGeom prst="roundRect">
            <a:avLst>
              <a:gd name="adj" fmla="val 9756"/>
            </a:avLst>
          </a:prstGeom>
          <a:solidFill>
            <a:srgbClr val="EAF2F8"/>
          </a:solidFill>
          <a:ln w="9525">
            <a:solidFill>
              <a:srgbClr val="C9DDEA"/>
            </a:solidFill>
            <a:prstDash val="solid"/>
          </a:ln>
        </p:spPr>
        <p:txBody>
          <a:bodyPr/>
          <a:lstStyle/>
          <a:p>
            <a:endParaRPr lang="en-US"/>
          </a:p>
        </p:txBody>
      </p:sp>
      <p:sp>
        <p:nvSpPr>
          <p:cNvPr id="20" name="visibility-takeaway">
            <a:extLst>
              <a:ext uri="{FF2B5EF4-FFF2-40B4-BE49-F238E27FC236}">
                <a16:creationId xmlns:a16="http://schemas.microsoft.com/office/drawing/2014/main" id="{226AEEAA-4387-4A0F-9F28-D8497216B720}"/>
              </a:ext>
            </a:extLst>
          </p:cNvPr>
          <p:cNvSpPr>
            <a:spLocks noGrp="1"/>
          </p:cNvSpPr>
          <p:nvPr/>
        </p:nvSpPr>
        <p:spPr>
          <a:xfrm>
            <a:off x="1809750" y="5514975"/>
            <a:ext cx="8572500" cy="381000"/>
          </a:xfrm>
          <a:prstGeom prst="rect">
            <a:avLst/>
          </a:prstGeom>
          <a:noFill/>
          <a:ln w="0">
            <a:noFill/>
            <a:prstDash val="solid"/>
          </a:ln>
        </p:spPr>
        <p:txBody>
          <a:bodyPr/>
          <a:lstStyle/>
          <a:p>
            <a:pPr algn="ctr">
              <a:defRPr sz="1500" b="1">
                <a:solidFill>
                  <a:srgbClr val="1F4E79"/>
                </a:solidFill>
              </a:defRPr>
            </a:pPr>
            <a:r>
              <a:rPr sz="2400" b="1" dirty="0">
                <a:solidFill>
                  <a:srgbClr val="1F4E79"/>
                </a:solidFill>
              </a:rPr>
              <a:t>Make work, ownership, dependencies, and risks visible early.</a:t>
            </a:r>
          </a:p>
        </p:txBody>
      </p:sp>
    </p:spTree>
    <p:extLst>
      <p:ext uri="{BB962C8B-B14F-4D97-AF65-F5344CB8AC3E}">
        <p14:creationId xmlns:p14="http://schemas.microsoft.com/office/powerpoint/2010/main" val="141370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animBg="1"/>
      <p:bldP spid="8" grpId="0"/>
      <p:bldP spid="9" grpId="0"/>
      <p:bldP spid="10" grpId="0"/>
      <p:bldP spid="11" grpId="0" animBg="1"/>
      <p:bldP spid="12" grpId="0"/>
      <p:bldP spid="13" grpId="0"/>
      <p:bldP spid="14" grpId="0"/>
      <p:bldP spid="15" grpId="0" animBg="1"/>
      <p:bldP spid="16" grpId="0"/>
      <p:bldP spid="17" grpId="0"/>
      <p:bldP spid="18" grpId="0"/>
      <p:bldP spid="19" grpId="0" animBg="1"/>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a:extLst>
              <a:ext uri="{FF2B5EF4-FFF2-40B4-BE49-F238E27FC236}">
                <a16:creationId xmlns:a16="http://schemas.microsoft.com/office/drawing/2014/main" id="{6B5264D5-1477-4D19-BA37-5FDAA3169E50}"/>
              </a:ext>
            </a:extLst>
          </p:cNvPr>
          <p:cNvSpPr>
            <a:spLocks noGrp="1"/>
          </p:cNvSpPr>
          <p:nvPr/>
        </p:nvSpPr>
        <p:spPr>
          <a:xfrm>
            <a:off x="685800" y="361950"/>
            <a:ext cx="10820400" cy="590550"/>
          </a:xfrm>
          <a:prstGeom prst="rect">
            <a:avLst/>
          </a:prstGeom>
          <a:noFill/>
          <a:ln w="0">
            <a:noFill/>
            <a:prstDash val="solid"/>
          </a:ln>
        </p:spPr>
        <p:txBody>
          <a:bodyPr/>
          <a:lstStyle/>
          <a:p>
            <a:pPr algn="l">
              <a:defRPr sz="2400" b="1">
                <a:solidFill>
                  <a:srgbClr val="1F4E79"/>
                </a:solidFill>
              </a:defRPr>
            </a:pPr>
            <a:r>
              <a:rPr sz="3200" b="1" dirty="0">
                <a:solidFill>
                  <a:srgbClr val="1F4E79"/>
                </a:solidFill>
              </a:rPr>
              <a:t>Do Not Block the Team</a:t>
            </a:r>
          </a:p>
        </p:txBody>
      </p:sp>
      <p:sp>
        <p:nvSpPr>
          <p:cNvPr id="2" name="subtitle">
            <a:extLst>
              <a:ext uri="{FF2B5EF4-FFF2-40B4-BE49-F238E27FC236}">
                <a16:creationId xmlns:a16="http://schemas.microsoft.com/office/drawing/2014/main" id="{87BB3C2A-240C-4AAC-9608-7E8FA834284B}"/>
              </a:ext>
            </a:extLst>
          </p:cNvPr>
          <p:cNvSpPr>
            <a:spLocks noGrp="1"/>
          </p:cNvSpPr>
          <p:nvPr/>
        </p:nvSpPr>
        <p:spPr>
          <a:xfrm>
            <a:off x="685800" y="962025"/>
            <a:ext cx="9239250" cy="342900"/>
          </a:xfrm>
          <a:prstGeom prst="rect">
            <a:avLst/>
          </a:prstGeom>
          <a:noFill/>
          <a:ln w="0">
            <a:noFill/>
            <a:prstDash val="solid"/>
          </a:ln>
        </p:spPr>
        <p:txBody>
          <a:bodyPr/>
          <a:lstStyle/>
          <a:p>
            <a:pPr>
              <a:defRPr sz="1500" b="1">
                <a:solidFill>
                  <a:srgbClr val="000000"/>
                </a:solidFill>
              </a:defRPr>
            </a:pPr>
            <a:r>
              <a:rPr sz="2000" b="1" dirty="0">
                <a:solidFill>
                  <a:srgbClr val="000000"/>
                </a:solidFill>
              </a:rPr>
              <a:t>Collaborative work depends on timely contributions and timely reviews.</a:t>
            </a:r>
          </a:p>
        </p:txBody>
      </p:sp>
      <p:sp>
        <p:nvSpPr>
          <p:cNvPr id="3" name="item-circle-1">
            <a:extLst>
              <a:ext uri="{FF2B5EF4-FFF2-40B4-BE49-F238E27FC236}">
                <a16:creationId xmlns:a16="http://schemas.microsoft.com/office/drawing/2014/main" id="{F8D2CC8C-44D7-4E3F-A22B-D00B19C8E1B3}"/>
              </a:ext>
            </a:extLst>
          </p:cNvPr>
          <p:cNvSpPr>
            <a:spLocks noGrp="1"/>
          </p:cNvSpPr>
          <p:nvPr/>
        </p:nvSpPr>
        <p:spPr>
          <a:xfrm>
            <a:off x="1819275" y="1952625"/>
            <a:ext cx="742950" cy="742950"/>
          </a:xfrm>
          <a:prstGeom prst="ellipse">
            <a:avLst/>
          </a:prstGeom>
          <a:solidFill>
            <a:srgbClr val="1F4E79"/>
          </a:solidFill>
          <a:ln w="0">
            <a:solidFill>
              <a:srgbClr val="1F4E79"/>
            </a:solidFill>
            <a:prstDash val="solid"/>
          </a:ln>
        </p:spPr>
        <p:txBody>
          <a:bodyPr/>
          <a:lstStyle/>
          <a:p>
            <a:endParaRPr lang="en-US"/>
          </a:p>
        </p:txBody>
      </p:sp>
      <p:sp>
        <p:nvSpPr>
          <p:cNvPr id="4" name="item-number-1">
            <a:extLst>
              <a:ext uri="{FF2B5EF4-FFF2-40B4-BE49-F238E27FC236}">
                <a16:creationId xmlns:a16="http://schemas.microsoft.com/office/drawing/2014/main" id="{C115B378-C997-4B13-B42C-A3455239FFF6}"/>
              </a:ext>
            </a:extLst>
          </p:cNvPr>
          <p:cNvSpPr>
            <a:spLocks noGrp="1"/>
          </p:cNvSpPr>
          <p:nvPr/>
        </p:nvSpPr>
        <p:spPr>
          <a:xfrm>
            <a:off x="1819275" y="2105025"/>
            <a:ext cx="742950" cy="400050"/>
          </a:xfrm>
          <a:prstGeom prst="rect">
            <a:avLst/>
          </a:prstGeom>
          <a:noFill/>
          <a:ln w="0">
            <a:noFill/>
            <a:prstDash val="solid"/>
          </a:ln>
        </p:spPr>
        <p:txBody>
          <a:bodyPr/>
          <a:lstStyle/>
          <a:p>
            <a:pPr algn="ctr">
              <a:defRPr sz="1950" b="1">
                <a:solidFill>
                  <a:srgbClr val="FFFFFF"/>
                </a:solidFill>
              </a:defRPr>
            </a:pPr>
            <a:r>
              <a:rPr sz="1950" b="1">
                <a:solidFill>
                  <a:srgbClr val="FFFFFF"/>
                </a:solidFill>
              </a:rPr>
              <a:t>1</a:t>
            </a:r>
          </a:p>
        </p:txBody>
      </p:sp>
      <p:sp>
        <p:nvSpPr>
          <p:cNvPr id="5" name="item-heading-1">
            <a:extLst>
              <a:ext uri="{FF2B5EF4-FFF2-40B4-BE49-F238E27FC236}">
                <a16:creationId xmlns:a16="http://schemas.microsoft.com/office/drawing/2014/main" id="{CC546E0B-53BE-48CB-A05D-63090DC7459E}"/>
              </a:ext>
            </a:extLst>
          </p:cNvPr>
          <p:cNvSpPr>
            <a:spLocks noGrp="1"/>
          </p:cNvSpPr>
          <p:nvPr/>
        </p:nvSpPr>
        <p:spPr>
          <a:xfrm>
            <a:off x="523875" y="2905125"/>
            <a:ext cx="3333750" cy="704850"/>
          </a:xfrm>
          <a:prstGeom prst="rect">
            <a:avLst/>
          </a:prstGeom>
          <a:noFill/>
          <a:ln w="0">
            <a:noFill/>
            <a:prstDash val="solid"/>
          </a:ln>
        </p:spPr>
        <p:txBody>
          <a:bodyPr/>
          <a:lstStyle/>
          <a:p>
            <a:pPr algn="ctr">
              <a:defRPr sz="1800" b="1">
                <a:solidFill>
                  <a:srgbClr val="1F4E79"/>
                </a:solidFill>
              </a:defRPr>
            </a:pPr>
            <a:r>
              <a:rPr sz="1800" b="1" dirty="0">
                <a:solidFill>
                  <a:srgbClr val="1F4E79"/>
                </a:solidFill>
              </a:rPr>
              <a:t>BE READY EARLY</a:t>
            </a:r>
          </a:p>
        </p:txBody>
      </p:sp>
      <p:sp>
        <p:nvSpPr>
          <p:cNvPr id="6" name="item-body-1">
            <a:extLst>
              <a:ext uri="{FF2B5EF4-FFF2-40B4-BE49-F238E27FC236}">
                <a16:creationId xmlns:a16="http://schemas.microsoft.com/office/drawing/2014/main" id="{BAB27538-56D0-4E94-B2B5-DAAC40011CCE}"/>
              </a:ext>
            </a:extLst>
          </p:cNvPr>
          <p:cNvSpPr>
            <a:spLocks noGrp="1"/>
          </p:cNvSpPr>
          <p:nvPr/>
        </p:nvSpPr>
        <p:spPr>
          <a:xfrm>
            <a:off x="523875" y="3437436"/>
            <a:ext cx="3524250" cy="781050"/>
          </a:xfrm>
          <a:prstGeom prst="rect">
            <a:avLst/>
          </a:prstGeom>
          <a:noFill/>
          <a:ln w="0">
            <a:noFill/>
            <a:prstDash val="solid"/>
          </a:ln>
        </p:spPr>
        <p:txBody>
          <a:bodyPr/>
          <a:lstStyle/>
          <a:p>
            <a:pPr algn="ctr">
              <a:defRPr sz="1500">
                <a:solidFill>
                  <a:srgbClr val="000000"/>
                </a:solidFill>
              </a:defRPr>
            </a:pPr>
            <a:r>
              <a:rPr sz="1600" dirty="0">
                <a:solidFill>
                  <a:srgbClr val="000000"/>
                </a:solidFill>
              </a:rPr>
              <a:t>Open a complete, review-ready PR at least 24 hours before the deadline.</a:t>
            </a:r>
          </a:p>
        </p:txBody>
      </p:sp>
      <p:sp>
        <p:nvSpPr>
          <p:cNvPr id="7" name="item-circle-2">
            <a:extLst>
              <a:ext uri="{FF2B5EF4-FFF2-40B4-BE49-F238E27FC236}">
                <a16:creationId xmlns:a16="http://schemas.microsoft.com/office/drawing/2014/main" id="{4177FBB0-C5ED-4733-B1C4-D9CFE92CFBE4}"/>
              </a:ext>
            </a:extLst>
          </p:cNvPr>
          <p:cNvSpPr>
            <a:spLocks noGrp="1"/>
          </p:cNvSpPr>
          <p:nvPr/>
        </p:nvSpPr>
        <p:spPr>
          <a:xfrm>
            <a:off x="5724525" y="1952625"/>
            <a:ext cx="742950" cy="742950"/>
          </a:xfrm>
          <a:prstGeom prst="ellipse">
            <a:avLst/>
          </a:prstGeom>
          <a:solidFill>
            <a:srgbClr val="008C95"/>
          </a:solidFill>
          <a:ln w="0">
            <a:solidFill>
              <a:srgbClr val="008C95"/>
            </a:solidFill>
            <a:prstDash val="solid"/>
          </a:ln>
        </p:spPr>
        <p:txBody>
          <a:bodyPr/>
          <a:lstStyle/>
          <a:p>
            <a:endParaRPr lang="en-US"/>
          </a:p>
        </p:txBody>
      </p:sp>
      <p:sp>
        <p:nvSpPr>
          <p:cNvPr id="8" name="item-number-2">
            <a:extLst>
              <a:ext uri="{FF2B5EF4-FFF2-40B4-BE49-F238E27FC236}">
                <a16:creationId xmlns:a16="http://schemas.microsoft.com/office/drawing/2014/main" id="{2FEBBA40-9944-45F2-AF37-25FAC37020C4}"/>
              </a:ext>
            </a:extLst>
          </p:cNvPr>
          <p:cNvSpPr>
            <a:spLocks noGrp="1"/>
          </p:cNvSpPr>
          <p:nvPr/>
        </p:nvSpPr>
        <p:spPr>
          <a:xfrm>
            <a:off x="5724525" y="2105025"/>
            <a:ext cx="742950" cy="400050"/>
          </a:xfrm>
          <a:prstGeom prst="rect">
            <a:avLst/>
          </a:prstGeom>
          <a:noFill/>
          <a:ln w="0">
            <a:noFill/>
            <a:prstDash val="solid"/>
          </a:ln>
        </p:spPr>
        <p:txBody>
          <a:bodyPr/>
          <a:lstStyle/>
          <a:p>
            <a:pPr algn="ctr">
              <a:defRPr sz="1950" b="1">
                <a:solidFill>
                  <a:srgbClr val="FFFFFF"/>
                </a:solidFill>
              </a:defRPr>
            </a:pPr>
            <a:r>
              <a:rPr sz="1950" b="1">
                <a:solidFill>
                  <a:srgbClr val="FFFFFF"/>
                </a:solidFill>
              </a:rPr>
              <a:t>2</a:t>
            </a:r>
          </a:p>
        </p:txBody>
      </p:sp>
      <p:sp>
        <p:nvSpPr>
          <p:cNvPr id="9" name="item-heading-2">
            <a:extLst>
              <a:ext uri="{FF2B5EF4-FFF2-40B4-BE49-F238E27FC236}">
                <a16:creationId xmlns:a16="http://schemas.microsoft.com/office/drawing/2014/main" id="{DC6426E4-4430-4B33-8E3B-FAEBD5787980}"/>
              </a:ext>
            </a:extLst>
          </p:cNvPr>
          <p:cNvSpPr>
            <a:spLocks noGrp="1"/>
          </p:cNvSpPr>
          <p:nvPr/>
        </p:nvSpPr>
        <p:spPr>
          <a:xfrm>
            <a:off x="4429125" y="2879271"/>
            <a:ext cx="3333750" cy="704850"/>
          </a:xfrm>
          <a:prstGeom prst="rect">
            <a:avLst/>
          </a:prstGeom>
          <a:noFill/>
          <a:ln w="0">
            <a:noFill/>
            <a:prstDash val="solid"/>
          </a:ln>
        </p:spPr>
        <p:txBody>
          <a:bodyPr/>
          <a:lstStyle/>
          <a:p>
            <a:pPr algn="ctr">
              <a:defRPr sz="1800" b="1">
                <a:solidFill>
                  <a:srgbClr val="008C95"/>
                </a:solidFill>
              </a:defRPr>
            </a:pPr>
            <a:r>
              <a:rPr sz="1800" b="1" dirty="0">
                <a:solidFill>
                  <a:srgbClr val="008C95"/>
                </a:solidFill>
              </a:rPr>
              <a:t>REVIEW PROMPTLY</a:t>
            </a:r>
          </a:p>
        </p:txBody>
      </p:sp>
      <p:sp>
        <p:nvSpPr>
          <p:cNvPr id="10" name="item-body-2">
            <a:extLst>
              <a:ext uri="{FF2B5EF4-FFF2-40B4-BE49-F238E27FC236}">
                <a16:creationId xmlns:a16="http://schemas.microsoft.com/office/drawing/2014/main" id="{304C6F72-EE6F-46D3-94C2-19FD7FED4EC1}"/>
              </a:ext>
            </a:extLst>
          </p:cNvPr>
          <p:cNvSpPr>
            <a:spLocks noGrp="1"/>
          </p:cNvSpPr>
          <p:nvPr/>
        </p:nvSpPr>
        <p:spPr>
          <a:xfrm>
            <a:off x="4238625" y="3471998"/>
            <a:ext cx="3524250" cy="781050"/>
          </a:xfrm>
          <a:prstGeom prst="rect">
            <a:avLst/>
          </a:prstGeom>
          <a:noFill/>
          <a:ln w="0">
            <a:noFill/>
            <a:prstDash val="solid"/>
          </a:ln>
        </p:spPr>
        <p:txBody>
          <a:bodyPr/>
          <a:lstStyle/>
          <a:p>
            <a:pPr algn="ctr">
              <a:defRPr sz="1500">
                <a:solidFill>
                  <a:srgbClr val="000000"/>
                </a:solidFill>
              </a:defRPr>
            </a:pPr>
            <a:r>
              <a:rPr sz="1600" dirty="0">
                <a:solidFill>
                  <a:srgbClr val="000000"/>
                </a:solidFill>
              </a:rPr>
              <a:t>Complete assigned reviews early enough for authors to respond.</a:t>
            </a:r>
          </a:p>
        </p:txBody>
      </p:sp>
      <p:sp>
        <p:nvSpPr>
          <p:cNvPr id="11" name="item-circle-3">
            <a:extLst>
              <a:ext uri="{FF2B5EF4-FFF2-40B4-BE49-F238E27FC236}">
                <a16:creationId xmlns:a16="http://schemas.microsoft.com/office/drawing/2014/main" id="{F7696463-EE69-42F2-BDE7-B3DAC6EE0298}"/>
              </a:ext>
            </a:extLst>
          </p:cNvPr>
          <p:cNvSpPr>
            <a:spLocks noGrp="1"/>
          </p:cNvSpPr>
          <p:nvPr/>
        </p:nvSpPr>
        <p:spPr>
          <a:xfrm>
            <a:off x="9629775" y="1952625"/>
            <a:ext cx="742950" cy="742950"/>
          </a:xfrm>
          <a:prstGeom prst="ellipse">
            <a:avLst/>
          </a:prstGeom>
          <a:solidFill>
            <a:srgbClr val="6B5B95"/>
          </a:solidFill>
          <a:ln w="0">
            <a:solidFill>
              <a:srgbClr val="6B5B95"/>
            </a:solidFill>
            <a:prstDash val="solid"/>
          </a:ln>
        </p:spPr>
        <p:txBody>
          <a:bodyPr/>
          <a:lstStyle/>
          <a:p>
            <a:endParaRPr lang="en-US"/>
          </a:p>
        </p:txBody>
      </p:sp>
      <p:sp>
        <p:nvSpPr>
          <p:cNvPr id="12" name="item-number-3">
            <a:extLst>
              <a:ext uri="{FF2B5EF4-FFF2-40B4-BE49-F238E27FC236}">
                <a16:creationId xmlns:a16="http://schemas.microsoft.com/office/drawing/2014/main" id="{D1CCD2C1-1191-4E1E-95EE-BC17139E6C4D}"/>
              </a:ext>
            </a:extLst>
          </p:cNvPr>
          <p:cNvSpPr>
            <a:spLocks noGrp="1"/>
          </p:cNvSpPr>
          <p:nvPr/>
        </p:nvSpPr>
        <p:spPr>
          <a:xfrm>
            <a:off x="9629775" y="2105025"/>
            <a:ext cx="742950" cy="400050"/>
          </a:xfrm>
          <a:prstGeom prst="rect">
            <a:avLst/>
          </a:prstGeom>
          <a:noFill/>
          <a:ln w="0">
            <a:noFill/>
            <a:prstDash val="solid"/>
          </a:ln>
        </p:spPr>
        <p:txBody>
          <a:bodyPr/>
          <a:lstStyle/>
          <a:p>
            <a:pPr algn="ctr">
              <a:defRPr sz="1950" b="1">
                <a:solidFill>
                  <a:srgbClr val="FFFFFF"/>
                </a:solidFill>
              </a:defRPr>
            </a:pPr>
            <a:r>
              <a:rPr sz="1950" b="1">
                <a:solidFill>
                  <a:srgbClr val="FFFFFF"/>
                </a:solidFill>
              </a:rPr>
              <a:t>3</a:t>
            </a:r>
          </a:p>
        </p:txBody>
      </p:sp>
      <p:sp>
        <p:nvSpPr>
          <p:cNvPr id="13" name="item-heading-3">
            <a:extLst>
              <a:ext uri="{FF2B5EF4-FFF2-40B4-BE49-F238E27FC236}">
                <a16:creationId xmlns:a16="http://schemas.microsoft.com/office/drawing/2014/main" id="{CBEADC9D-0417-4CB1-8882-375F78765693}"/>
              </a:ext>
            </a:extLst>
          </p:cNvPr>
          <p:cNvSpPr>
            <a:spLocks noGrp="1"/>
          </p:cNvSpPr>
          <p:nvPr/>
        </p:nvSpPr>
        <p:spPr>
          <a:xfrm>
            <a:off x="8258175" y="2866481"/>
            <a:ext cx="3333750" cy="704850"/>
          </a:xfrm>
          <a:prstGeom prst="rect">
            <a:avLst/>
          </a:prstGeom>
          <a:noFill/>
          <a:ln w="0">
            <a:noFill/>
            <a:prstDash val="solid"/>
          </a:ln>
        </p:spPr>
        <p:txBody>
          <a:bodyPr/>
          <a:lstStyle/>
          <a:p>
            <a:pPr algn="ctr">
              <a:defRPr sz="1800" b="1">
                <a:solidFill>
                  <a:srgbClr val="6B5B95"/>
                </a:solidFill>
              </a:defRPr>
            </a:pPr>
            <a:r>
              <a:rPr sz="1800" b="1" dirty="0">
                <a:solidFill>
                  <a:srgbClr val="6B5B95"/>
                </a:solidFill>
              </a:rPr>
              <a:t>REASSIGN—DON’T WAIT</a:t>
            </a:r>
          </a:p>
        </p:txBody>
      </p:sp>
      <p:sp>
        <p:nvSpPr>
          <p:cNvPr id="14" name="item-body-3">
            <a:extLst>
              <a:ext uri="{FF2B5EF4-FFF2-40B4-BE49-F238E27FC236}">
                <a16:creationId xmlns:a16="http://schemas.microsoft.com/office/drawing/2014/main" id="{285C86E5-3BFE-4942-A11C-3F8AFB8845D7}"/>
              </a:ext>
            </a:extLst>
          </p:cNvPr>
          <p:cNvSpPr>
            <a:spLocks noGrp="1"/>
          </p:cNvSpPr>
          <p:nvPr/>
        </p:nvSpPr>
        <p:spPr>
          <a:xfrm>
            <a:off x="8143875" y="3429000"/>
            <a:ext cx="3524250" cy="781050"/>
          </a:xfrm>
          <a:prstGeom prst="rect">
            <a:avLst/>
          </a:prstGeom>
          <a:noFill/>
          <a:ln w="0">
            <a:noFill/>
            <a:prstDash val="solid"/>
          </a:ln>
        </p:spPr>
        <p:txBody>
          <a:bodyPr/>
          <a:lstStyle/>
          <a:p>
            <a:pPr algn="ctr">
              <a:defRPr sz="1500">
                <a:solidFill>
                  <a:srgbClr val="000000"/>
                </a:solidFill>
              </a:defRPr>
            </a:pPr>
            <a:r>
              <a:rPr sz="1600" dirty="0">
                <a:solidFill>
                  <a:srgbClr val="000000"/>
                </a:solidFill>
              </a:rPr>
              <a:t>Request another reviewer or review another available PR.</a:t>
            </a:r>
          </a:p>
        </p:txBody>
      </p:sp>
      <p:sp>
        <p:nvSpPr>
          <p:cNvPr id="15" name="evidence-band">
            <a:extLst>
              <a:ext uri="{FF2B5EF4-FFF2-40B4-BE49-F238E27FC236}">
                <a16:creationId xmlns:a16="http://schemas.microsoft.com/office/drawing/2014/main" id="{18886884-9470-4854-A6E8-78BC542B5A3A}"/>
              </a:ext>
            </a:extLst>
          </p:cNvPr>
          <p:cNvSpPr>
            <a:spLocks noGrp="1"/>
          </p:cNvSpPr>
          <p:nvPr/>
        </p:nvSpPr>
        <p:spPr>
          <a:xfrm>
            <a:off x="1571625" y="5649444"/>
            <a:ext cx="9048750" cy="895350"/>
          </a:xfrm>
          <a:prstGeom prst="roundRect">
            <a:avLst>
              <a:gd name="adj" fmla="val 8511"/>
            </a:avLst>
          </a:prstGeom>
          <a:solidFill>
            <a:srgbClr val="FFF2E8"/>
          </a:solidFill>
          <a:ln w="9525">
            <a:solidFill>
              <a:srgbClr val="F0C7A7"/>
            </a:solidFill>
            <a:prstDash val="solid"/>
          </a:ln>
        </p:spPr>
        <p:txBody>
          <a:bodyPr/>
          <a:lstStyle/>
          <a:p>
            <a:endParaRPr lang="en-US"/>
          </a:p>
        </p:txBody>
      </p:sp>
      <p:sp>
        <p:nvSpPr>
          <p:cNvPr id="16" name="evidence-heading">
            <a:extLst>
              <a:ext uri="{FF2B5EF4-FFF2-40B4-BE49-F238E27FC236}">
                <a16:creationId xmlns:a16="http://schemas.microsoft.com/office/drawing/2014/main" id="{FDCA0E01-31FA-4614-8908-1406FC09AE3C}"/>
              </a:ext>
            </a:extLst>
          </p:cNvPr>
          <p:cNvSpPr>
            <a:spLocks noGrp="1"/>
          </p:cNvSpPr>
          <p:nvPr/>
        </p:nvSpPr>
        <p:spPr>
          <a:xfrm>
            <a:off x="1952625" y="5744694"/>
            <a:ext cx="8286750" cy="323850"/>
          </a:xfrm>
          <a:prstGeom prst="rect">
            <a:avLst/>
          </a:prstGeom>
          <a:noFill/>
          <a:ln w="0">
            <a:noFill/>
            <a:prstDash val="solid"/>
          </a:ln>
        </p:spPr>
        <p:txBody>
          <a:bodyPr/>
          <a:lstStyle/>
          <a:p>
            <a:pPr algn="ctr">
              <a:defRPr sz="1800" b="1">
                <a:solidFill>
                  <a:srgbClr val="C55A11"/>
                </a:solidFill>
              </a:defRPr>
            </a:pPr>
            <a:r>
              <a:rPr sz="2400" b="1" dirty="0">
                <a:solidFill>
                  <a:srgbClr val="C55A11"/>
                </a:solidFill>
              </a:rPr>
              <a:t>GitHub timestamps protect students who are ready on time.</a:t>
            </a:r>
          </a:p>
        </p:txBody>
      </p:sp>
      <p:sp>
        <p:nvSpPr>
          <p:cNvPr id="17" name="evidence-body">
            <a:extLst>
              <a:ext uri="{FF2B5EF4-FFF2-40B4-BE49-F238E27FC236}">
                <a16:creationId xmlns:a16="http://schemas.microsoft.com/office/drawing/2014/main" id="{7C8C22E4-2EFB-4C83-90D0-7DBB2405C16D}"/>
              </a:ext>
            </a:extLst>
          </p:cNvPr>
          <p:cNvSpPr>
            <a:spLocks noGrp="1"/>
          </p:cNvSpPr>
          <p:nvPr/>
        </p:nvSpPr>
        <p:spPr>
          <a:xfrm>
            <a:off x="1952625" y="6106644"/>
            <a:ext cx="8286750" cy="266700"/>
          </a:xfrm>
          <a:prstGeom prst="rect">
            <a:avLst/>
          </a:prstGeom>
          <a:noFill/>
          <a:ln w="0">
            <a:noFill/>
            <a:prstDash val="solid"/>
          </a:ln>
        </p:spPr>
        <p:txBody>
          <a:bodyPr/>
          <a:lstStyle/>
          <a:p>
            <a:pPr algn="ctr">
              <a:defRPr sz="1500">
                <a:solidFill>
                  <a:srgbClr val="000000"/>
                </a:solidFill>
              </a:defRPr>
            </a:pPr>
            <a:r>
              <a:rPr sz="2000" dirty="0">
                <a:solidFill>
                  <a:srgbClr val="000000"/>
                </a:solidFill>
              </a:rPr>
              <a:t>Be ready, communicate, and keep the workflow moving.</a:t>
            </a:r>
          </a:p>
        </p:txBody>
      </p:sp>
      <p:sp>
        <p:nvSpPr>
          <p:cNvPr id="20" name="evidence-band">
            <a:extLst>
              <a:ext uri="{FF2B5EF4-FFF2-40B4-BE49-F238E27FC236}">
                <a16:creationId xmlns:a16="http://schemas.microsoft.com/office/drawing/2014/main" id="{4534A5EF-DA6D-0252-14C6-5FE7D8CE4DE7}"/>
              </a:ext>
            </a:extLst>
          </p:cNvPr>
          <p:cNvSpPr>
            <a:spLocks noGrp="1"/>
          </p:cNvSpPr>
          <p:nvPr/>
        </p:nvSpPr>
        <p:spPr>
          <a:xfrm>
            <a:off x="1510665" y="4416278"/>
            <a:ext cx="9048750" cy="895350"/>
          </a:xfrm>
          <a:prstGeom prst="roundRect">
            <a:avLst>
              <a:gd name="adj" fmla="val 8511"/>
            </a:avLst>
          </a:prstGeom>
          <a:solidFill>
            <a:srgbClr val="FFF2E8"/>
          </a:solidFill>
          <a:ln w="9525">
            <a:solidFill>
              <a:srgbClr val="F0C7A7"/>
            </a:solidFill>
            <a:prstDash val="solid"/>
          </a:ln>
        </p:spPr>
        <p:txBody>
          <a:bodyPr/>
          <a:lstStyle/>
          <a:p>
            <a:endParaRPr lang="en-US"/>
          </a:p>
        </p:txBody>
      </p:sp>
      <p:sp>
        <p:nvSpPr>
          <p:cNvPr id="21" name="evidence-heading">
            <a:extLst>
              <a:ext uri="{FF2B5EF4-FFF2-40B4-BE49-F238E27FC236}">
                <a16:creationId xmlns:a16="http://schemas.microsoft.com/office/drawing/2014/main" id="{26592C1D-1E49-6D30-7A07-B00FF3C4222B}"/>
              </a:ext>
            </a:extLst>
          </p:cNvPr>
          <p:cNvSpPr>
            <a:spLocks noGrp="1"/>
          </p:cNvSpPr>
          <p:nvPr/>
        </p:nvSpPr>
        <p:spPr>
          <a:xfrm>
            <a:off x="1891665" y="4606778"/>
            <a:ext cx="8286750" cy="323850"/>
          </a:xfrm>
          <a:prstGeom prst="rect">
            <a:avLst/>
          </a:prstGeom>
          <a:noFill/>
          <a:ln w="0">
            <a:noFill/>
            <a:prstDash val="solid"/>
          </a:ln>
        </p:spPr>
        <p:txBody>
          <a:bodyPr/>
          <a:lstStyle/>
          <a:p>
            <a:pPr algn="ctr">
              <a:defRPr sz="1800" b="1">
                <a:solidFill>
                  <a:srgbClr val="C55A11"/>
                </a:solidFill>
              </a:defRPr>
            </a:pPr>
            <a:r>
              <a:rPr sz="2400" b="1" dirty="0">
                <a:solidFill>
                  <a:srgbClr val="C55A11"/>
                </a:solidFill>
              </a:rPr>
              <a:t>Different timelines, same responsibility</a:t>
            </a:r>
          </a:p>
        </p:txBody>
      </p:sp>
      <p:sp>
        <p:nvSpPr>
          <p:cNvPr id="22" name="evidence-body">
            <a:extLst>
              <a:ext uri="{FF2B5EF4-FFF2-40B4-BE49-F238E27FC236}">
                <a16:creationId xmlns:a16="http://schemas.microsoft.com/office/drawing/2014/main" id="{22C290A4-E199-FC56-4D8B-ECCCAC19AC3A}"/>
              </a:ext>
            </a:extLst>
          </p:cNvPr>
          <p:cNvSpPr>
            <a:spLocks noGrp="1"/>
          </p:cNvSpPr>
          <p:nvPr/>
        </p:nvSpPr>
        <p:spPr>
          <a:xfrm>
            <a:off x="1891665" y="4968728"/>
            <a:ext cx="8286750" cy="266700"/>
          </a:xfrm>
          <a:prstGeom prst="rect">
            <a:avLst/>
          </a:prstGeom>
          <a:noFill/>
          <a:ln w="0">
            <a:noFill/>
            <a:prstDash val="solid"/>
          </a:ln>
        </p:spPr>
        <p:txBody>
          <a:bodyPr/>
          <a:lstStyle/>
          <a:p>
            <a:pPr algn="ctr">
              <a:defRPr sz="1500">
                <a:solidFill>
                  <a:srgbClr val="000000"/>
                </a:solidFill>
              </a:defRPr>
            </a:pPr>
            <a:r>
              <a:rPr sz="2000" dirty="0">
                <a:solidFill>
                  <a:srgbClr val="000000"/>
                </a:solidFill>
              </a:rPr>
              <a:t>Labs: PR ready ≥24 hours early   •   Projects: ≥1 meaningful PR each week</a:t>
            </a:r>
          </a:p>
        </p:txBody>
      </p:sp>
    </p:spTree>
    <p:extLst>
      <p:ext uri="{BB962C8B-B14F-4D97-AF65-F5344CB8AC3E}">
        <p14:creationId xmlns:p14="http://schemas.microsoft.com/office/powerpoint/2010/main" val="137650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animBg="1"/>
      <p:bldP spid="8" grpId="0"/>
      <p:bldP spid="9" grpId="0"/>
      <p:bldP spid="10" grpId="0"/>
      <p:bldP spid="11" grpId="0" animBg="1"/>
      <p:bldP spid="12" grpId="0"/>
      <p:bldP spid="13" grpId="0"/>
      <p:bldP spid="14" grpId="0"/>
      <p:bldP spid="15" grpId="0" animBg="1"/>
      <p:bldP spid="16" grpId="0"/>
      <p:bldP spid="17" grpId="0"/>
      <p:bldP spid="20" grpId="0" animBg="1"/>
      <p:bldP spid="21"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a:extLst>
              <a:ext uri="{FF2B5EF4-FFF2-40B4-BE49-F238E27FC236}">
                <a16:creationId xmlns:a16="http://schemas.microsoft.com/office/drawing/2014/main" id="{CAC8877D-8692-4B39-AF09-82B4AD9D3650}"/>
              </a:ext>
            </a:extLst>
          </p:cNvPr>
          <p:cNvSpPr>
            <a:spLocks noGrp="1"/>
          </p:cNvSpPr>
          <p:nvPr/>
        </p:nvSpPr>
        <p:spPr>
          <a:xfrm>
            <a:off x="685800" y="361950"/>
            <a:ext cx="10820400" cy="571500"/>
          </a:xfrm>
          <a:prstGeom prst="rect">
            <a:avLst/>
          </a:prstGeom>
          <a:noFill/>
          <a:ln w="0">
            <a:noFill/>
            <a:prstDash val="solid"/>
          </a:ln>
        </p:spPr>
        <p:txBody>
          <a:bodyPr/>
          <a:lstStyle/>
          <a:p>
            <a:pPr>
              <a:defRPr sz="2400" b="1">
                <a:solidFill>
                  <a:srgbClr val="1F4E79"/>
                </a:solidFill>
              </a:defRPr>
            </a:pPr>
            <a:r>
              <a:rPr sz="3200" b="1" dirty="0">
                <a:solidFill>
                  <a:srgbClr val="1F4E79"/>
                </a:solidFill>
              </a:rPr>
              <a:t>Git and GitHub: A Shared Path from Task to Merge</a:t>
            </a:r>
          </a:p>
        </p:txBody>
      </p:sp>
      <p:sp>
        <p:nvSpPr>
          <p:cNvPr id="2" name="subtitle">
            <a:extLst>
              <a:ext uri="{FF2B5EF4-FFF2-40B4-BE49-F238E27FC236}">
                <a16:creationId xmlns:a16="http://schemas.microsoft.com/office/drawing/2014/main" id="{5A00E2FB-A5AC-445C-AC53-7E56D3C8F46E}"/>
              </a:ext>
            </a:extLst>
          </p:cNvPr>
          <p:cNvSpPr>
            <a:spLocks noGrp="1"/>
          </p:cNvSpPr>
          <p:nvPr/>
        </p:nvSpPr>
        <p:spPr>
          <a:xfrm>
            <a:off x="685800" y="981075"/>
            <a:ext cx="10668000" cy="323850"/>
          </a:xfrm>
          <a:prstGeom prst="rect">
            <a:avLst/>
          </a:prstGeom>
          <a:noFill/>
          <a:ln w="0">
            <a:noFill/>
            <a:prstDash val="solid"/>
          </a:ln>
        </p:spPr>
        <p:txBody>
          <a:bodyPr/>
          <a:lstStyle/>
          <a:p>
            <a:pPr>
              <a:defRPr sz="1500" b="1">
                <a:solidFill>
                  <a:srgbClr val="000000"/>
                </a:solidFill>
              </a:defRPr>
            </a:pPr>
            <a:r>
              <a:rPr sz="2000" b="1" dirty="0">
                <a:solidFill>
                  <a:srgbClr val="000000"/>
                </a:solidFill>
              </a:rPr>
              <a:t>The workflow makes ownership, progress, and review visible.</a:t>
            </a:r>
          </a:p>
        </p:txBody>
      </p:sp>
      <p:sp>
        <p:nvSpPr>
          <p:cNvPr id="3" name="gh0">
            <a:extLst>
              <a:ext uri="{FF2B5EF4-FFF2-40B4-BE49-F238E27FC236}">
                <a16:creationId xmlns:a16="http://schemas.microsoft.com/office/drawing/2014/main" id="{6D1A8C43-639F-420C-98B3-51C18CF87D39}"/>
              </a:ext>
            </a:extLst>
          </p:cNvPr>
          <p:cNvSpPr>
            <a:spLocks noGrp="1"/>
          </p:cNvSpPr>
          <p:nvPr/>
        </p:nvSpPr>
        <p:spPr>
          <a:xfrm>
            <a:off x="666750" y="1666875"/>
            <a:ext cx="2667000" cy="400050"/>
          </a:xfrm>
          <a:prstGeom prst="rect">
            <a:avLst/>
          </a:prstGeom>
          <a:noFill/>
          <a:ln w="0">
            <a:noFill/>
            <a:prstDash val="solid"/>
          </a:ln>
        </p:spPr>
        <p:txBody>
          <a:bodyPr/>
          <a:lstStyle/>
          <a:p>
            <a:pPr algn="ctr">
              <a:defRPr sz="1800" b="1">
                <a:solidFill>
                  <a:srgbClr val="1F4E79"/>
                </a:solidFill>
              </a:defRPr>
            </a:pPr>
            <a:r>
              <a:rPr sz="2000" b="1" dirty="0">
                <a:solidFill>
                  <a:srgbClr val="1F4E79"/>
                </a:solidFill>
              </a:rPr>
              <a:t>ISSUE</a:t>
            </a:r>
          </a:p>
        </p:txBody>
      </p:sp>
      <p:sp>
        <p:nvSpPr>
          <p:cNvPr id="4" name="gb0">
            <a:extLst>
              <a:ext uri="{FF2B5EF4-FFF2-40B4-BE49-F238E27FC236}">
                <a16:creationId xmlns:a16="http://schemas.microsoft.com/office/drawing/2014/main" id="{08D06220-FD81-4197-86CE-63040B656171}"/>
              </a:ext>
            </a:extLst>
          </p:cNvPr>
          <p:cNvSpPr>
            <a:spLocks noGrp="1"/>
          </p:cNvSpPr>
          <p:nvPr/>
        </p:nvSpPr>
        <p:spPr>
          <a:xfrm>
            <a:off x="809625" y="3743325"/>
            <a:ext cx="2381250" cy="647700"/>
          </a:xfrm>
          <a:prstGeom prst="rect">
            <a:avLst/>
          </a:prstGeom>
          <a:noFill/>
          <a:ln w="0">
            <a:noFill/>
            <a:prstDash val="solid"/>
          </a:ln>
        </p:spPr>
        <p:txBody>
          <a:bodyPr/>
          <a:lstStyle/>
          <a:p>
            <a:pPr algn="ctr">
              <a:defRPr sz="1500">
                <a:solidFill>
                  <a:srgbClr val="000000"/>
                </a:solidFill>
              </a:defRPr>
            </a:pPr>
            <a:r>
              <a:rPr sz="2000" dirty="0">
                <a:solidFill>
                  <a:srgbClr val="000000"/>
                </a:solidFill>
              </a:rPr>
              <a:t>Agree on the task</a:t>
            </a:r>
          </a:p>
          <a:p>
            <a:pPr algn="ctr">
              <a:defRPr sz="1500">
                <a:solidFill>
                  <a:srgbClr val="000000"/>
                </a:solidFill>
              </a:defRPr>
            </a:pPr>
            <a:r>
              <a:rPr sz="2000" dirty="0">
                <a:solidFill>
                  <a:srgbClr val="000000"/>
                </a:solidFill>
              </a:rPr>
              <a:t>and ownership</a:t>
            </a:r>
          </a:p>
        </p:txBody>
      </p:sp>
      <p:sp>
        <p:nvSpPr>
          <p:cNvPr id="5" name="arrow0">
            <a:extLst>
              <a:ext uri="{FF2B5EF4-FFF2-40B4-BE49-F238E27FC236}">
                <a16:creationId xmlns:a16="http://schemas.microsoft.com/office/drawing/2014/main" id="{968E19D2-CB37-4E32-ADBA-23EBDF635F6A}"/>
              </a:ext>
            </a:extLst>
          </p:cNvPr>
          <p:cNvSpPr>
            <a:spLocks noGrp="1"/>
          </p:cNvSpPr>
          <p:nvPr/>
        </p:nvSpPr>
        <p:spPr>
          <a:xfrm>
            <a:off x="3238500" y="2714625"/>
            <a:ext cx="381000" cy="419100"/>
          </a:xfrm>
          <a:prstGeom prst="rect">
            <a:avLst/>
          </a:prstGeom>
          <a:noFill/>
          <a:ln w="0">
            <a:noFill/>
            <a:prstDash val="solid"/>
          </a:ln>
        </p:spPr>
        <p:txBody>
          <a:bodyPr/>
          <a:lstStyle/>
          <a:p>
            <a:pPr algn="ctr">
              <a:defRPr sz="2100" b="1">
                <a:solidFill>
                  <a:srgbClr val="D9E2E8"/>
                </a:solidFill>
              </a:defRPr>
            </a:pPr>
            <a:r>
              <a:rPr sz="2100" b="1">
                <a:solidFill>
                  <a:srgbClr val="D9E2E8"/>
                </a:solidFill>
              </a:rPr>
              <a:t>→</a:t>
            </a:r>
          </a:p>
        </p:txBody>
      </p:sp>
      <p:sp>
        <p:nvSpPr>
          <p:cNvPr id="6" name="gh1">
            <a:extLst>
              <a:ext uri="{FF2B5EF4-FFF2-40B4-BE49-F238E27FC236}">
                <a16:creationId xmlns:a16="http://schemas.microsoft.com/office/drawing/2014/main" id="{AC024BB6-9893-4A38-AC6F-D403CC79963F}"/>
              </a:ext>
            </a:extLst>
          </p:cNvPr>
          <p:cNvSpPr>
            <a:spLocks noGrp="1"/>
          </p:cNvSpPr>
          <p:nvPr/>
        </p:nvSpPr>
        <p:spPr>
          <a:xfrm>
            <a:off x="3333750" y="1666875"/>
            <a:ext cx="2667000" cy="400050"/>
          </a:xfrm>
          <a:prstGeom prst="rect">
            <a:avLst/>
          </a:prstGeom>
          <a:noFill/>
          <a:ln w="0">
            <a:noFill/>
            <a:prstDash val="solid"/>
          </a:ln>
        </p:spPr>
        <p:txBody>
          <a:bodyPr/>
          <a:lstStyle/>
          <a:p>
            <a:pPr algn="ctr">
              <a:defRPr sz="1800" b="1">
                <a:solidFill>
                  <a:srgbClr val="008C95"/>
                </a:solidFill>
              </a:defRPr>
            </a:pPr>
            <a:r>
              <a:rPr sz="2000" b="1" dirty="0">
                <a:solidFill>
                  <a:srgbClr val="008C95"/>
                </a:solidFill>
              </a:rPr>
              <a:t>BRANCH + COMMITS</a:t>
            </a:r>
          </a:p>
        </p:txBody>
      </p:sp>
      <p:sp>
        <p:nvSpPr>
          <p:cNvPr id="7" name="gb1">
            <a:extLst>
              <a:ext uri="{FF2B5EF4-FFF2-40B4-BE49-F238E27FC236}">
                <a16:creationId xmlns:a16="http://schemas.microsoft.com/office/drawing/2014/main" id="{F385DECF-1B0F-4206-B9E0-AE1FBADAA088}"/>
              </a:ext>
            </a:extLst>
          </p:cNvPr>
          <p:cNvSpPr>
            <a:spLocks noGrp="1"/>
          </p:cNvSpPr>
          <p:nvPr/>
        </p:nvSpPr>
        <p:spPr>
          <a:xfrm>
            <a:off x="3476625" y="3743325"/>
            <a:ext cx="2381250" cy="647700"/>
          </a:xfrm>
          <a:prstGeom prst="rect">
            <a:avLst/>
          </a:prstGeom>
          <a:noFill/>
          <a:ln w="0">
            <a:noFill/>
            <a:prstDash val="solid"/>
          </a:ln>
        </p:spPr>
        <p:txBody>
          <a:bodyPr/>
          <a:lstStyle/>
          <a:p>
            <a:pPr algn="ctr">
              <a:defRPr sz="1500">
                <a:solidFill>
                  <a:srgbClr val="000000"/>
                </a:solidFill>
              </a:defRPr>
            </a:pPr>
            <a:r>
              <a:rPr sz="2000" dirty="0">
                <a:solidFill>
                  <a:srgbClr val="000000"/>
                </a:solidFill>
              </a:rPr>
              <a:t>Develop a focused</a:t>
            </a:r>
          </a:p>
          <a:p>
            <a:pPr algn="ctr">
              <a:defRPr sz="1500">
                <a:solidFill>
                  <a:srgbClr val="000000"/>
                </a:solidFill>
              </a:defRPr>
            </a:pPr>
            <a:r>
              <a:rPr sz="2000" dirty="0">
                <a:solidFill>
                  <a:srgbClr val="000000"/>
                </a:solidFill>
              </a:rPr>
              <a:t>change</a:t>
            </a:r>
          </a:p>
        </p:txBody>
      </p:sp>
      <p:sp>
        <p:nvSpPr>
          <p:cNvPr id="8" name="arrow1">
            <a:extLst>
              <a:ext uri="{FF2B5EF4-FFF2-40B4-BE49-F238E27FC236}">
                <a16:creationId xmlns:a16="http://schemas.microsoft.com/office/drawing/2014/main" id="{48B0A54F-D6A8-4A90-9B99-19ABCBBEF5B7}"/>
              </a:ext>
            </a:extLst>
          </p:cNvPr>
          <p:cNvSpPr>
            <a:spLocks noGrp="1"/>
          </p:cNvSpPr>
          <p:nvPr/>
        </p:nvSpPr>
        <p:spPr>
          <a:xfrm>
            <a:off x="5905500" y="2714625"/>
            <a:ext cx="381000" cy="419100"/>
          </a:xfrm>
          <a:prstGeom prst="rect">
            <a:avLst/>
          </a:prstGeom>
          <a:noFill/>
          <a:ln w="0">
            <a:noFill/>
            <a:prstDash val="solid"/>
          </a:ln>
        </p:spPr>
        <p:txBody>
          <a:bodyPr/>
          <a:lstStyle/>
          <a:p>
            <a:pPr algn="ctr">
              <a:defRPr sz="2100" b="1">
                <a:solidFill>
                  <a:srgbClr val="D9E2E8"/>
                </a:solidFill>
              </a:defRPr>
            </a:pPr>
            <a:r>
              <a:rPr sz="2100" b="1">
                <a:solidFill>
                  <a:srgbClr val="D9E2E8"/>
                </a:solidFill>
              </a:rPr>
              <a:t>→</a:t>
            </a:r>
          </a:p>
        </p:txBody>
      </p:sp>
      <p:sp>
        <p:nvSpPr>
          <p:cNvPr id="9" name="gh2">
            <a:extLst>
              <a:ext uri="{FF2B5EF4-FFF2-40B4-BE49-F238E27FC236}">
                <a16:creationId xmlns:a16="http://schemas.microsoft.com/office/drawing/2014/main" id="{C8B1C6A3-59AB-4378-A85C-DA70AC887DE4}"/>
              </a:ext>
            </a:extLst>
          </p:cNvPr>
          <p:cNvSpPr>
            <a:spLocks noGrp="1"/>
          </p:cNvSpPr>
          <p:nvPr/>
        </p:nvSpPr>
        <p:spPr>
          <a:xfrm>
            <a:off x="6191250" y="1666875"/>
            <a:ext cx="2667000" cy="400050"/>
          </a:xfrm>
          <a:prstGeom prst="rect">
            <a:avLst/>
          </a:prstGeom>
          <a:noFill/>
          <a:ln w="0">
            <a:noFill/>
            <a:prstDash val="solid"/>
          </a:ln>
        </p:spPr>
        <p:txBody>
          <a:bodyPr/>
          <a:lstStyle/>
          <a:p>
            <a:pPr algn="ctr">
              <a:defRPr sz="1800" b="1">
                <a:solidFill>
                  <a:srgbClr val="1F4E79"/>
                </a:solidFill>
              </a:defRPr>
            </a:pPr>
            <a:r>
              <a:rPr sz="2000" b="1" dirty="0">
                <a:solidFill>
                  <a:srgbClr val="1F4E79"/>
                </a:solidFill>
              </a:rPr>
              <a:t>PULL REQUEST</a:t>
            </a:r>
          </a:p>
        </p:txBody>
      </p:sp>
      <p:sp>
        <p:nvSpPr>
          <p:cNvPr id="10" name="gb2">
            <a:extLst>
              <a:ext uri="{FF2B5EF4-FFF2-40B4-BE49-F238E27FC236}">
                <a16:creationId xmlns:a16="http://schemas.microsoft.com/office/drawing/2014/main" id="{978A1F63-0861-4A63-985E-154D95A56819}"/>
              </a:ext>
            </a:extLst>
          </p:cNvPr>
          <p:cNvSpPr>
            <a:spLocks noGrp="1"/>
          </p:cNvSpPr>
          <p:nvPr/>
        </p:nvSpPr>
        <p:spPr>
          <a:xfrm>
            <a:off x="6334125" y="3743325"/>
            <a:ext cx="2381250" cy="647700"/>
          </a:xfrm>
          <a:prstGeom prst="rect">
            <a:avLst/>
          </a:prstGeom>
          <a:noFill/>
          <a:ln w="0">
            <a:noFill/>
            <a:prstDash val="solid"/>
          </a:ln>
        </p:spPr>
        <p:txBody>
          <a:bodyPr/>
          <a:lstStyle/>
          <a:p>
            <a:pPr algn="ctr">
              <a:defRPr sz="1500">
                <a:solidFill>
                  <a:srgbClr val="000000"/>
                </a:solidFill>
              </a:defRPr>
            </a:pPr>
            <a:r>
              <a:rPr sz="2000" dirty="0">
                <a:solidFill>
                  <a:srgbClr val="000000"/>
                </a:solidFill>
              </a:rPr>
              <a:t>Explain the change</a:t>
            </a:r>
          </a:p>
          <a:p>
            <a:pPr algn="ctr">
              <a:defRPr sz="1500">
                <a:solidFill>
                  <a:srgbClr val="000000"/>
                </a:solidFill>
              </a:defRPr>
            </a:pPr>
            <a:r>
              <a:rPr sz="2000" dirty="0">
                <a:solidFill>
                  <a:srgbClr val="000000"/>
                </a:solidFill>
              </a:rPr>
              <a:t>and request review</a:t>
            </a:r>
          </a:p>
        </p:txBody>
      </p:sp>
      <p:sp>
        <p:nvSpPr>
          <p:cNvPr id="11" name="arrow2">
            <a:extLst>
              <a:ext uri="{FF2B5EF4-FFF2-40B4-BE49-F238E27FC236}">
                <a16:creationId xmlns:a16="http://schemas.microsoft.com/office/drawing/2014/main" id="{9BB9FA6A-C079-47E5-BBB1-3160CE1AAC76}"/>
              </a:ext>
            </a:extLst>
          </p:cNvPr>
          <p:cNvSpPr>
            <a:spLocks noGrp="1"/>
          </p:cNvSpPr>
          <p:nvPr/>
        </p:nvSpPr>
        <p:spPr>
          <a:xfrm>
            <a:off x="8763000" y="2714625"/>
            <a:ext cx="381000" cy="419100"/>
          </a:xfrm>
          <a:prstGeom prst="rect">
            <a:avLst/>
          </a:prstGeom>
          <a:noFill/>
          <a:ln w="0">
            <a:noFill/>
            <a:prstDash val="solid"/>
          </a:ln>
        </p:spPr>
        <p:txBody>
          <a:bodyPr/>
          <a:lstStyle/>
          <a:p>
            <a:pPr algn="ctr">
              <a:defRPr sz="2100" b="1">
                <a:solidFill>
                  <a:srgbClr val="D9E2E8"/>
                </a:solidFill>
              </a:defRPr>
            </a:pPr>
            <a:r>
              <a:rPr sz="2100" b="1">
                <a:solidFill>
                  <a:srgbClr val="D9E2E8"/>
                </a:solidFill>
              </a:rPr>
              <a:t>→</a:t>
            </a:r>
          </a:p>
        </p:txBody>
      </p:sp>
      <p:sp>
        <p:nvSpPr>
          <p:cNvPr id="12" name="gh3">
            <a:extLst>
              <a:ext uri="{FF2B5EF4-FFF2-40B4-BE49-F238E27FC236}">
                <a16:creationId xmlns:a16="http://schemas.microsoft.com/office/drawing/2014/main" id="{64272012-AABD-46D0-9B42-2D9599BA1CD6}"/>
              </a:ext>
            </a:extLst>
          </p:cNvPr>
          <p:cNvSpPr>
            <a:spLocks noGrp="1"/>
          </p:cNvSpPr>
          <p:nvPr/>
        </p:nvSpPr>
        <p:spPr>
          <a:xfrm>
            <a:off x="8953500" y="1666875"/>
            <a:ext cx="2667000" cy="400050"/>
          </a:xfrm>
          <a:prstGeom prst="rect">
            <a:avLst/>
          </a:prstGeom>
          <a:noFill/>
          <a:ln w="0">
            <a:noFill/>
            <a:prstDash val="solid"/>
          </a:ln>
        </p:spPr>
        <p:txBody>
          <a:bodyPr/>
          <a:lstStyle/>
          <a:p>
            <a:pPr algn="ctr">
              <a:defRPr sz="1800" b="1">
                <a:solidFill>
                  <a:srgbClr val="008C95"/>
                </a:solidFill>
              </a:defRPr>
            </a:pPr>
            <a:r>
              <a:rPr sz="2000" b="1" dirty="0">
                <a:solidFill>
                  <a:srgbClr val="008C95"/>
                </a:solidFill>
              </a:rPr>
              <a:t>REVIEW + MERGE</a:t>
            </a:r>
          </a:p>
        </p:txBody>
      </p:sp>
      <p:sp>
        <p:nvSpPr>
          <p:cNvPr id="13" name="gb3">
            <a:extLst>
              <a:ext uri="{FF2B5EF4-FFF2-40B4-BE49-F238E27FC236}">
                <a16:creationId xmlns:a16="http://schemas.microsoft.com/office/drawing/2014/main" id="{5ED1EE1C-295E-448E-A714-841772606EB3}"/>
              </a:ext>
            </a:extLst>
          </p:cNvPr>
          <p:cNvSpPr>
            <a:spLocks noGrp="1"/>
          </p:cNvSpPr>
          <p:nvPr/>
        </p:nvSpPr>
        <p:spPr>
          <a:xfrm>
            <a:off x="9096375" y="3743325"/>
            <a:ext cx="2381250" cy="647700"/>
          </a:xfrm>
          <a:prstGeom prst="rect">
            <a:avLst/>
          </a:prstGeom>
          <a:noFill/>
          <a:ln w="0">
            <a:noFill/>
            <a:prstDash val="solid"/>
          </a:ln>
        </p:spPr>
        <p:txBody>
          <a:bodyPr/>
          <a:lstStyle/>
          <a:p>
            <a:pPr algn="ctr">
              <a:defRPr sz="1500">
                <a:solidFill>
                  <a:srgbClr val="000000"/>
                </a:solidFill>
              </a:defRPr>
            </a:pPr>
            <a:r>
              <a:rPr sz="2000" dirty="0">
                <a:solidFill>
                  <a:srgbClr val="000000"/>
                </a:solidFill>
              </a:rPr>
              <a:t>Improve it before</a:t>
            </a:r>
          </a:p>
          <a:p>
            <a:pPr algn="ctr">
              <a:defRPr sz="1500">
                <a:solidFill>
                  <a:srgbClr val="000000"/>
                </a:solidFill>
              </a:defRPr>
            </a:pPr>
            <a:r>
              <a:rPr sz="2000" dirty="0">
                <a:solidFill>
                  <a:srgbClr val="000000"/>
                </a:solidFill>
              </a:rPr>
              <a:t>it reaches main</a:t>
            </a:r>
          </a:p>
        </p:txBody>
      </p:sp>
      <p:pic>
        <p:nvPicPr>
          <p:cNvPr id="39" name="Picture 38"/>
          <p:cNvPicPr>
            <a:picLocks noChangeAspect="1"/>
          </p:cNvPicPr>
          <p:nvPr/>
        </p:nvPicPr>
        <p:blipFill>
          <a:blip r:embed="rId3"/>
          <a:stretch/>
        </p:blipFill>
        <p:spPr>
          <a:xfrm>
            <a:off x="1381125" y="2385810"/>
            <a:ext cx="1143000" cy="705255"/>
          </a:xfrm>
          <a:prstGeom prst="rect">
            <a:avLst/>
          </a:prstGeom>
        </p:spPr>
      </p:pic>
      <p:pic>
        <p:nvPicPr>
          <p:cNvPr id="40" name="Picture 39"/>
          <p:cNvPicPr>
            <a:picLocks noChangeAspect="1"/>
          </p:cNvPicPr>
          <p:nvPr/>
        </p:nvPicPr>
        <p:blipFill>
          <a:blip r:embed="rId4"/>
          <a:stretch/>
        </p:blipFill>
        <p:spPr>
          <a:xfrm>
            <a:off x="4183784" y="2190750"/>
            <a:ext cx="1062182" cy="1095375"/>
          </a:xfrm>
          <a:prstGeom prst="rect">
            <a:avLst/>
          </a:prstGeom>
        </p:spPr>
      </p:pic>
      <p:sp>
        <p:nvSpPr>
          <p:cNvPr id="16" name="commit-line">
            <a:extLst>
              <a:ext uri="{FF2B5EF4-FFF2-40B4-BE49-F238E27FC236}">
                <a16:creationId xmlns:a16="http://schemas.microsoft.com/office/drawing/2014/main" id="{D0E352E8-FE3E-4179-9E73-CBA36EE64DAB}"/>
              </a:ext>
            </a:extLst>
          </p:cNvPr>
          <p:cNvSpPr>
            <a:spLocks noGrp="1"/>
          </p:cNvSpPr>
          <p:nvPr/>
        </p:nvSpPr>
        <p:spPr>
          <a:xfrm>
            <a:off x="4362450" y="3381375"/>
            <a:ext cx="714375" cy="0"/>
          </a:xfrm>
          <a:prstGeom prst="line">
            <a:avLst/>
          </a:prstGeom>
          <a:noFill/>
          <a:ln w="19050">
            <a:solidFill>
              <a:srgbClr val="000000"/>
            </a:solidFill>
            <a:prstDash val="solid"/>
          </a:ln>
        </p:spPr>
        <p:txBody>
          <a:bodyPr/>
          <a:lstStyle/>
          <a:p>
            <a:endParaRPr lang="en-US"/>
          </a:p>
        </p:txBody>
      </p:sp>
      <p:sp>
        <p:nvSpPr>
          <p:cNvPr id="17" name="commit-dot-0">
            <a:extLst>
              <a:ext uri="{FF2B5EF4-FFF2-40B4-BE49-F238E27FC236}">
                <a16:creationId xmlns:a16="http://schemas.microsoft.com/office/drawing/2014/main" id="{B89BCABF-8A3B-421E-807E-BF4201004D2F}"/>
              </a:ext>
            </a:extLst>
          </p:cNvPr>
          <p:cNvSpPr>
            <a:spLocks noGrp="1"/>
          </p:cNvSpPr>
          <p:nvPr/>
        </p:nvSpPr>
        <p:spPr>
          <a:xfrm>
            <a:off x="4305300" y="3324225"/>
            <a:ext cx="114300" cy="114300"/>
          </a:xfrm>
          <a:prstGeom prst="ellipse">
            <a:avLst/>
          </a:prstGeom>
          <a:solidFill>
            <a:srgbClr val="000000"/>
          </a:solidFill>
          <a:ln w="0">
            <a:solidFill>
              <a:srgbClr val="000000"/>
            </a:solidFill>
            <a:prstDash val="solid"/>
          </a:ln>
        </p:spPr>
        <p:txBody>
          <a:bodyPr/>
          <a:lstStyle/>
          <a:p>
            <a:endParaRPr lang="en-US"/>
          </a:p>
        </p:txBody>
      </p:sp>
      <p:sp>
        <p:nvSpPr>
          <p:cNvPr id="18" name="commit-dot-1">
            <a:extLst>
              <a:ext uri="{FF2B5EF4-FFF2-40B4-BE49-F238E27FC236}">
                <a16:creationId xmlns:a16="http://schemas.microsoft.com/office/drawing/2014/main" id="{D227963A-3749-4FC1-9E3A-FC9A7FB69A1E}"/>
              </a:ext>
            </a:extLst>
          </p:cNvPr>
          <p:cNvSpPr>
            <a:spLocks noGrp="1"/>
          </p:cNvSpPr>
          <p:nvPr/>
        </p:nvSpPr>
        <p:spPr>
          <a:xfrm>
            <a:off x="4657725" y="3324225"/>
            <a:ext cx="114300" cy="114300"/>
          </a:xfrm>
          <a:prstGeom prst="ellipse">
            <a:avLst/>
          </a:prstGeom>
          <a:solidFill>
            <a:srgbClr val="000000"/>
          </a:solidFill>
          <a:ln w="0">
            <a:solidFill>
              <a:srgbClr val="000000"/>
            </a:solidFill>
            <a:prstDash val="solid"/>
          </a:ln>
        </p:spPr>
        <p:txBody>
          <a:bodyPr/>
          <a:lstStyle/>
          <a:p>
            <a:endParaRPr lang="en-US"/>
          </a:p>
        </p:txBody>
      </p:sp>
      <p:sp>
        <p:nvSpPr>
          <p:cNvPr id="19" name="commit-dot-2">
            <a:extLst>
              <a:ext uri="{FF2B5EF4-FFF2-40B4-BE49-F238E27FC236}">
                <a16:creationId xmlns:a16="http://schemas.microsoft.com/office/drawing/2014/main" id="{26E097A4-E4F4-4956-A6E5-9CAB5BC027D5}"/>
              </a:ext>
            </a:extLst>
          </p:cNvPr>
          <p:cNvSpPr>
            <a:spLocks noGrp="1"/>
          </p:cNvSpPr>
          <p:nvPr/>
        </p:nvSpPr>
        <p:spPr>
          <a:xfrm>
            <a:off x="5019675" y="3324225"/>
            <a:ext cx="114300" cy="114300"/>
          </a:xfrm>
          <a:prstGeom prst="ellipse">
            <a:avLst/>
          </a:prstGeom>
          <a:solidFill>
            <a:srgbClr val="000000"/>
          </a:solidFill>
          <a:ln w="0">
            <a:solidFill>
              <a:srgbClr val="000000"/>
            </a:solidFill>
            <a:prstDash val="solid"/>
          </a:ln>
        </p:spPr>
        <p:txBody>
          <a:bodyPr/>
          <a:lstStyle/>
          <a:p>
            <a:endParaRPr lang="en-US"/>
          </a:p>
        </p:txBody>
      </p:sp>
      <p:pic>
        <p:nvPicPr>
          <p:cNvPr id="45" name="Picture 44"/>
          <p:cNvPicPr>
            <a:picLocks noChangeAspect="1"/>
          </p:cNvPicPr>
          <p:nvPr/>
        </p:nvPicPr>
        <p:blipFill>
          <a:blip r:embed="rId5"/>
          <a:stretch/>
        </p:blipFill>
        <p:spPr>
          <a:xfrm>
            <a:off x="6929438" y="2190750"/>
            <a:ext cx="1095375" cy="1095375"/>
          </a:xfrm>
          <a:prstGeom prst="rect">
            <a:avLst/>
          </a:prstGeom>
        </p:spPr>
      </p:pic>
      <p:pic>
        <p:nvPicPr>
          <p:cNvPr id="46" name="Picture 45"/>
          <p:cNvPicPr>
            <a:picLocks noChangeAspect="1"/>
          </p:cNvPicPr>
          <p:nvPr/>
        </p:nvPicPr>
        <p:blipFill>
          <a:blip r:embed="rId6"/>
          <a:stretch/>
        </p:blipFill>
        <p:spPr>
          <a:xfrm>
            <a:off x="9382125" y="2238375"/>
            <a:ext cx="876300" cy="876300"/>
          </a:xfrm>
          <a:prstGeom prst="rect">
            <a:avLst/>
          </a:prstGeom>
        </p:spPr>
      </p:pic>
      <p:pic>
        <p:nvPicPr>
          <p:cNvPr id="47" name="Picture 46"/>
          <p:cNvPicPr>
            <a:picLocks noChangeAspect="1"/>
          </p:cNvPicPr>
          <p:nvPr/>
        </p:nvPicPr>
        <p:blipFill>
          <a:blip r:embed="rId7"/>
          <a:stretch/>
        </p:blipFill>
        <p:spPr>
          <a:xfrm>
            <a:off x="10334625" y="2238375"/>
            <a:ext cx="876300" cy="876300"/>
          </a:xfrm>
          <a:prstGeom prst="rect">
            <a:avLst/>
          </a:prstGeom>
        </p:spPr>
      </p:pic>
      <p:sp>
        <p:nvSpPr>
          <p:cNvPr id="23" name="gitband">
            <a:extLst>
              <a:ext uri="{FF2B5EF4-FFF2-40B4-BE49-F238E27FC236}">
                <a16:creationId xmlns:a16="http://schemas.microsoft.com/office/drawing/2014/main" id="{08DFEE6B-A097-4ECE-8CB7-6D6ACA296464}"/>
              </a:ext>
            </a:extLst>
          </p:cNvPr>
          <p:cNvSpPr>
            <a:spLocks noGrp="1"/>
          </p:cNvSpPr>
          <p:nvPr/>
        </p:nvSpPr>
        <p:spPr>
          <a:xfrm>
            <a:off x="1381125" y="5219700"/>
            <a:ext cx="9429750" cy="914400"/>
          </a:xfrm>
          <a:prstGeom prst="roundRect">
            <a:avLst>
              <a:gd name="adj" fmla="val 8333"/>
            </a:avLst>
          </a:prstGeom>
          <a:solidFill>
            <a:srgbClr val="EAF2F8"/>
          </a:solidFill>
          <a:ln w="9525">
            <a:solidFill>
              <a:srgbClr val="C9DDEA"/>
            </a:solidFill>
            <a:prstDash val="solid"/>
          </a:ln>
        </p:spPr>
        <p:txBody>
          <a:bodyPr/>
          <a:lstStyle/>
          <a:p>
            <a:endParaRPr lang="en-US"/>
          </a:p>
        </p:txBody>
      </p:sp>
      <p:sp>
        <p:nvSpPr>
          <p:cNvPr id="24" name="gitbandh">
            <a:extLst>
              <a:ext uri="{FF2B5EF4-FFF2-40B4-BE49-F238E27FC236}">
                <a16:creationId xmlns:a16="http://schemas.microsoft.com/office/drawing/2014/main" id="{400B9181-067C-4FA0-ACC0-C2133B2128C1}"/>
              </a:ext>
            </a:extLst>
          </p:cNvPr>
          <p:cNvSpPr>
            <a:spLocks noGrp="1"/>
          </p:cNvSpPr>
          <p:nvPr/>
        </p:nvSpPr>
        <p:spPr>
          <a:xfrm>
            <a:off x="1809750" y="5391150"/>
            <a:ext cx="8572500" cy="323850"/>
          </a:xfrm>
          <a:prstGeom prst="rect">
            <a:avLst/>
          </a:prstGeom>
          <a:noFill/>
          <a:ln w="0">
            <a:noFill/>
            <a:prstDash val="solid"/>
          </a:ln>
        </p:spPr>
        <p:txBody>
          <a:bodyPr/>
          <a:lstStyle/>
          <a:p>
            <a:pPr algn="ctr">
              <a:defRPr sz="1800" b="1">
                <a:solidFill>
                  <a:srgbClr val="1F4E79"/>
                </a:solidFill>
              </a:defRPr>
            </a:pPr>
            <a:r>
              <a:rPr sz="2400" b="1" dirty="0">
                <a:solidFill>
                  <a:srgbClr val="1F4E79"/>
                </a:solidFill>
              </a:rPr>
              <a:t>The repository becomes the record of collaboration</a:t>
            </a:r>
          </a:p>
        </p:txBody>
      </p:sp>
      <p:sp>
        <p:nvSpPr>
          <p:cNvPr id="25" name="gitbandb">
            <a:extLst>
              <a:ext uri="{FF2B5EF4-FFF2-40B4-BE49-F238E27FC236}">
                <a16:creationId xmlns:a16="http://schemas.microsoft.com/office/drawing/2014/main" id="{FA0E5640-74BD-4800-8CE7-3122CC206B65}"/>
              </a:ext>
            </a:extLst>
          </p:cNvPr>
          <p:cNvSpPr>
            <a:spLocks noGrp="1"/>
          </p:cNvSpPr>
          <p:nvPr/>
        </p:nvSpPr>
        <p:spPr>
          <a:xfrm>
            <a:off x="1809750" y="5781675"/>
            <a:ext cx="8572500" cy="266700"/>
          </a:xfrm>
          <a:prstGeom prst="rect">
            <a:avLst/>
          </a:prstGeom>
          <a:noFill/>
          <a:ln w="0">
            <a:noFill/>
            <a:prstDash val="solid"/>
          </a:ln>
        </p:spPr>
        <p:txBody>
          <a:bodyPr/>
          <a:lstStyle/>
          <a:p>
            <a:pPr algn="ctr">
              <a:defRPr sz="1500">
                <a:solidFill>
                  <a:srgbClr val="000000"/>
                </a:solidFill>
              </a:defRPr>
            </a:pPr>
            <a:r>
              <a:rPr sz="2000" dirty="0">
                <a:solidFill>
                  <a:srgbClr val="000000"/>
                </a:solidFill>
              </a:rPr>
              <a:t>Issues, commits, PRs, reviews, and merges show how the team worked.</a:t>
            </a:r>
          </a:p>
        </p:txBody>
      </p:sp>
    </p:spTree>
    <p:extLst>
      <p:ext uri="{BB962C8B-B14F-4D97-AF65-F5344CB8AC3E}">
        <p14:creationId xmlns:p14="http://schemas.microsoft.com/office/powerpoint/2010/main" val="1612546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C45C5D28-FD4F-4306-A3A4-034F2DBE95A2}"/>
              </a:ext>
            </a:extLst>
          </p:cNvPr>
          <p:cNvSpPr>
            <a:spLocks noGrp="1"/>
          </p:cNvSpPr>
          <p:nvPr/>
        </p:nvSpPr>
        <p:spPr>
          <a:xfrm>
            <a:off x="685800" y="361950"/>
            <a:ext cx="10820400" cy="571500"/>
          </a:xfrm>
          <a:prstGeom prst="rect">
            <a:avLst/>
          </a:prstGeom>
          <a:noFill/>
          <a:ln w="0">
            <a:noFill/>
            <a:prstDash val="solid"/>
          </a:ln>
        </p:spPr>
        <p:txBody>
          <a:bodyPr/>
          <a:lstStyle/>
          <a:p>
            <a:pPr>
              <a:defRPr sz="2400" b="1">
                <a:solidFill>
                  <a:srgbClr val="1F4E79"/>
                </a:solidFill>
              </a:defRPr>
            </a:pPr>
            <a:r>
              <a:rPr sz="3200" b="1" dirty="0">
                <a:solidFill>
                  <a:srgbClr val="1F4E79"/>
                </a:solidFill>
              </a:rPr>
              <a:t>Testing and CI: Three Questions Before We Merge</a:t>
            </a:r>
          </a:p>
        </p:txBody>
      </p:sp>
      <p:sp>
        <p:nvSpPr>
          <p:cNvPr id="2" name="subtitle">
            <a:extLst>
              <a:ext uri="{FF2B5EF4-FFF2-40B4-BE49-F238E27FC236}">
                <a16:creationId xmlns:a16="http://schemas.microsoft.com/office/drawing/2014/main" id="{76D65660-756B-4F06-A4BD-D692F8C6810D}"/>
              </a:ext>
            </a:extLst>
          </p:cNvPr>
          <p:cNvSpPr>
            <a:spLocks noGrp="1"/>
          </p:cNvSpPr>
          <p:nvPr/>
        </p:nvSpPr>
        <p:spPr>
          <a:xfrm>
            <a:off x="685800" y="981075"/>
            <a:ext cx="10668000" cy="323850"/>
          </a:xfrm>
          <a:prstGeom prst="rect">
            <a:avLst/>
          </a:prstGeom>
          <a:noFill/>
          <a:ln w="0">
            <a:noFill/>
            <a:prstDash val="solid"/>
          </a:ln>
        </p:spPr>
        <p:txBody>
          <a:bodyPr/>
          <a:lstStyle/>
          <a:p>
            <a:pPr>
              <a:defRPr sz="1500" b="1">
                <a:solidFill>
                  <a:srgbClr val="000000"/>
                </a:solidFill>
              </a:defRPr>
            </a:pPr>
            <a:r>
              <a:rPr sz="2000" b="1" dirty="0">
                <a:solidFill>
                  <a:srgbClr val="000000"/>
                </a:solidFill>
              </a:rPr>
              <a:t>Each practice provides a different kind of evidence.</a:t>
            </a:r>
          </a:p>
        </p:txBody>
      </p:sp>
      <p:sp>
        <p:nvSpPr>
          <p:cNvPr id="3" name="rh0">
            <a:extLst>
              <a:ext uri="{FF2B5EF4-FFF2-40B4-BE49-F238E27FC236}">
                <a16:creationId xmlns:a16="http://schemas.microsoft.com/office/drawing/2014/main" id="{F84C7E52-A68A-4A4F-81EE-25834AF003AD}"/>
              </a:ext>
            </a:extLst>
          </p:cNvPr>
          <p:cNvSpPr>
            <a:spLocks noGrp="1"/>
          </p:cNvSpPr>
          <p:nvPr/>
        </p:nvSpPr>
        <p:spPr>
          <a:xfrm>
            <a:off x="2381250" y="1790700"/>
            <a:ext cx="2857500" cy="381000"/>
          </a:xfrm>
          <a:prstGeom prst="rect">
            <a:avLst/>
          </a:prstGeom>
          <a:noFill/>
          <a:ln w="0">
            <a:noFill/>
            <a:prstDash val="solid"/>
          </a:ln>
        </p:spPr>
        <p:txBody>
          <a:bodyPr/>
          <a:lstStyle/>
          <a:p>
            <a:pPr>
              <a:defRPr sz="1800" b="1">
                <a:solidFill>
                  <a:srgbClr val="1F4E79"/>
                </a:solidFill>
              </a:defRPr>
            </a:pPr>
            <a:r>
              <a:rPr sz="2200" b="1" dirty="0">
                <a:solidFill>
                  <a:srgbClr val="1F4E79"/>
                </a:solidFill>
              </a:rPr>
              <a:t>DOES IT WORK?</a:t>
            </a:r>
          </a:p>
        </p:txBody>
      </p:sp>
      <p:sp>
        <p:nvSpPr>
          <p:cNvPr id="4" name="rb0">
            <a:extLst>
              <a:ext uri="{FF2B5EF4-FFF2-40B4-BE49-F238E27FC236}">
                <a16:creationId xmlns:a16="http://schemas.microsoft.com/office/drawing/2014/main" id="{82EE8CA5-FD2F-4988-A10F-A6D9D1780C0F}"/>
              </a:ext>
            </a:extLst>
          </p:cNvPr>
          <p:cNvSpPr>
            <a:spLocks noGrp="1"/>
          </p:cNvSpPr>
          <p:nvPr/>
        </p:nvSpPr>
        <p:spPr>
          <a:xfrm>
            <a:off x="5286375" y="1790700"/>
            <a:ext cx="5619750" cy="552450"/>
          </a:xfrm>
          <a:prstGeom prst="rect">
            <a:avLst/>
          </a:prstGeom>
          <a:noFill/>
          <a:ln w="0">
            <a:noFill/>
            <a:prstDash val="solid"/>
          </a:ln>
        </p:spPr>
        <p:txBody>
          <a:bodyPr/>
          <a:lstStyle/>
          <a:p>
            <a:pPr>
              <a:defRPr sz="1500">
                <a:solidFill>
                  <a:srgbClr val="000000"/>
                </a:solidFill>
              </a:defRPr>
            </a:pPr>
            <a:r>
              <a:rPr sz="2000" dirty="0">
                <a:solidFill>
                  <a:srgbClr val="000000"/>
                </a:solidFill>
              </a:rPr>
              <a:t>Write tests for expected behavior and important edge cases.</a:t>
            </a:r>
          </a:p>
        </p:txBody>
      </p:sp>
      <p:sp>
        <p:nvSpPr>
          <p:cNvPr id="5" name="sep0">
            <a:extLst>
              <a:ext uri="{FF2B5EF4-FFF2-40B4-BE49-F238E27FC236}">
                <a16:creationId xmlns:a16="http://schemas.microsoft.com/office/drawing/2014/main" id="{100DED03-F279-4037-B936-289DD4D2CB4A}"/>
              </a:ext>
            </a:extLst>
          </p:cNvPr>
          <p:cNvSpPr>
            <a:spLocks noGrp="1"/>
          </p:cNvSpPr>
          <p:nvPr/>
        </p:nvSpPr>
        <p:spPr>
          <a:xfrm>
            <a:off x="2381250" y="2581275"/>
            <a:ext cx="8524875" cy="19050"/>
          </a:xfrm>
          <a:prstGeom prst="rect">
            <a:avLst/>
          </a:prstGeom>
          <a:solidFill>
            <a:srgbClr val="D9E2E8"/>
          </a:solidFill>
          <a:ln w="0">
            <a:solidFill>
              <a:srgbClr val="D9E2E8"/>
            </a:solidFill>
            <a:prstDash val="solid"/>
          </a:ln>
        </p:spPr>
        <p:txBody>
          <a:bodyPr/>
          <a:lstStyle/>
          <a:p>
            <a:endParaRPr lang="en-US"/>
          </a:p>
        </p:txBody>
      </p:sp>
      <p:sp>
        <p:nvSpPr>
          <p:cNvPr id="6" name="rh1">
            <a:extLst>
              <a:ext uri="{FF2B5EF4-FFF2-40B4-BE49-F238E27FC236}">
                <a16:creationId xmlns:a16="http://schemas.microsoft.com/office/drawing/2014/main" id="{79D07BAA-5E90-4FE0-A7DA-AB0E5A77DDEF}"/>
              </a:ext>
            </a:extLst>
          </p:cNvPr>
          <p:cNvSpPr>
            <a:spLocks noGrp="1"/>
          </p:cNvSpPr>
          <p:nvPr/>
        </p:nvSpPr>
        <p:spPr>
          <a:xfrm>
            <a:off x="2381250" y="2933700"/>
            <a:ext cx="2857500" cy="381000"/>
          </a:xfrm>
          <a:prstGeom prst="rect">
            <a:avLst/>
          </a:prstGeom>
          <a:noFill/>
          <a:ln w="0">
            <a:noFill/>
            <a:prstDash val="solid"/>
          </a:ln>
        </p:spPr>
        <p:txBody>
          <a:bodyPr/>
          <a:lstStyle/>
          <a:p>
            <a:pPr>
              <a:defRPr sz="1800" b="1">
                <a:solidFill>
                  <a:srgbClr val="008C95"/>
                </a:solidFill>
              </a:defRPr>
            </a:pPr>
            <a:r>
              <a:rPr sz="2200" b="1" dirty="0">
                <a:solidFill>
                  <a:srgbClr val="008C95"/>
                </a:solidFill>
              </a:rPr>
              <a:t>WHAT IS UNTESTED?</a:t>
            </a:r>
          </a:p>
        </p:txBody>
      </p:sp>
      <p:sp>
        <p:nvSpPr>
          <p:cNvPr id="7" name="rb1">
            <a:extLst>
              <a:ext uri="{FF2B5EF4-FFF2-40B4-BE49-F238E27FC236}">
                <a16:creationId xmlns:a16="http://schemas.microsoft.com/office/drawing/2014/main" id="{D4C56E0B-733E-488C-8F87-FD7C136D7B90}"/>
              </a:ext>
            </a:extLst>
          </p:cNvPr>
          <p:cNvSpPr>
            <a:spLocks noGrp="1"/>
          </p:cNvSpPr>
          <p:nvPr/>
        </p:nvSpPr>
        <p:spPr>
          <a:xfrm>
            <a:off x="5286375" y="2933700"/>
            <a:ext cx="5619750" cy="552450"/>
          </a:xfrm>
          <a:prstGeom prst="rect">
            <a:avLst/>
          </a:prstGeom>
          <a:noFill/>
          <a:ln w="0">
            <a:noFill/>
            <a:prstDash val="solid"/>
          </a:ln>
        </p:spPr>
        <p:txBody>
          <a:bodyPr/>
          <a:lstStyle/>
          <a:p>
            <a:pPr>
              <a:defRPr sz="1500">
                <a:solidFill>
                  <a:srgbClr val="000000"/>
                </a:solidFill>
              </a:defRPr>
            </a:pPr>
            <a:r>
              <a:rPr sz="2000" dirty="0">
                <a:solidFill>
                  <a:srgbClr val="000000"/>
                </a:solidFill>
              </a:rPr>
              <a:t>Use coverage to find important code the tests do not exercise.</a:t>
            </a:r>
          </a:p>
        </p:txBody>
      </p:sp>
      <p:sp>
        <p:nvSpPr>
          <p:cNvPr id="8" name="sep1">
            <a:extLst>
              <a:ext uri="{FF2B5EF4-FFF2-40B4-BE49-F238E27FC236}">
                <a16:creationId xmlns:a16="http://schemas.microsoft.com/office/drawing/2014/main" id="{9970290D-2C2B-47EE-8378-A01CCEF3ABA0}"/>
              </a:ext>
            </a:extLst>
          </p:cNvPr>
          <p:cNvSpPr>
            <a:spLocks noGrp="1"/>
          </p:cNvSpPr>
          <p:nvPr/>
        </p:nvSpPr>
        <p:spPr>
          <a:xfrm>
            <a:off x="2381250" y="3724275"/>
            <a:ext cx="8524875" cy="19050"/>
          </a:xfrm>
          <a:prstGeom prst="rect">
            <a:avLst/>
          </a:prstGeom>
          <a:solidFill>
            <a:srgbClr val="D9E2E8"/>
          </a:solidFill>
          <a:ln w="0">
            <a:solidFill>
              <a:srgbClr val="D9E2E8"/>
            </a:solidFill>
            <a:prstDash val="solid"/>
          </a:ln>
        </p:spPr>
        <p:txBody>
          <a:bodyPr/>
          <a:lstStyle/>
          <a:p>
            <a:endParaRPr lang="en-US"/>
          </a:p>
        </p:txBody>
      </p:sp>
      <p:sp>
        <p:nvSpPr>
          <p:cNvPr id="9" name="rh2">
            <a:extLst>
              <a:ext uri="{FF2B5EF4-FFF2-40B4-BE49-F238E27FC236}">
                <a16:creationId xmlns:a16="http://schemas.microsoft.com/office/drawing/2014/main" id="{7739F007-52B9-4D4B-B495-98FE21331850}"/>
              </a:ext>
            </a:extLst>
          </p:cNvPr>
          <p:cNvSpPr>
            <a:spLocks noGrp="1"/>
          </p:cNvSpPr>
          <p:nvPr/>
        </p:nvSpPr>
        <p:spPr>
          <a:xfrm>
            <a:off x="2381250" y="4076700"/>
            <a:ext cx="2857500" cy="381000"/>
          </a:xfrm>
          <a:prstGeom prst="rect">
            <a:avLst/>
          </a:prstGeom>
          <a:noFill/>
          <a:ln w="0">
            <a:noFill/>
            <a:prstDash val="solid"/>
          </a:ln>
        </p:spPr>
        <p:txBody>
          <a:bodyPr/>
          <a:lstStyle/>
          <a:p>
            <a:pPr>
              <a:defRPr sz="1800" b="1">
                <a:solidFill>
                  <a:srgbClr val="1F4E79"/>
                </a:solidFill>
              </a:defRPr>
            </a:pPr>
            <a:r>
              <a:rPr sz="2200" b="1" dirty="0">
                <a:solidFill>
                  <a:srgbClr val="1F4E79"/>
                </a:solidFill>
              </a:rPr>
              <a:t>WILL IT STAY CHECKED?</a:t>
            </a:r>
          </a:p>
        </p:txBody>
      </p:sp>
      <p:sp>
        <p:nvSpPr>
          <p:cNvPr id="10" name="rb2">
            <a:extLst>
              <a:ext uri="{FF2B5EF4-FFF2-40B4-BE49-F238E27FC236}">
                <a16:creationId xmlns:a16="http://schemas.microsoft.com/office/drawing/2014/main" id="{2598A10D-4012-4808-8BBF-ED3DDF4AAA35}"/>
              </a:ext>
            </a:extLst>
          </p:cNvPr>
          <p:cNvSpPr>
            <a:spLocks noGrp="1"/>
          </p:cNvSpPr>
          <p:nvPr/>
        </p:nvSpPr>
        <p:spPr>
          <a:xfrm>
            <a:off x="5286375" y="4076700"/>
            <a:ext cx="5619750" cy="552450"/>
          </a:xfrm>
          <a:prstGeom prst="rect">
            <a:avLst/>
          </a:prstGeom>
          <a:noFill/>
          <a:ln w="0">
            <a:noFill/>
            <a:prstDash val="solid"/>
          </a:ln>
        </p:spPr>
        <p:txBody>
          <a:bodyPr/>
          <a:lstStyle/>
          <a:p>
            <a:pPr>
              <a:defRPr sz="1500">
                <a:solidFill>
                  <a:srgbClr val="000000"/>
                </a:solidFill>
              </a:defRPr>
            </a:pPr>
            <a:r>
              <a:rPr sz="2000" dirty="0">
                <a:solidFill>
                  <a:srgbClr val="000000"/>
                </a:solidFill>
              </a:rPr>
              <a:t>Use CI to run tests and quality checks on every pull request.</a:t>
            </a:r>
          </a:p>
        </p:txBody>
      </p:sp>
      <p:pic>
        <p:nvPicPr>
          <p:cNvPr id="27" name="Picture 26"/>
          <p:cNvPicPr>
            <a:picLocks noChangeAspect="1"/>
          </p:cNvPicPr>
          <p:nvPr/>
        </p:nvPicPr>
        <p:blipFill>
          <a:blip r:embed="rId3"/>
          <a:stretch/>
        </p:blipFill>
        <p:spPr>
          <a:xfrm>
            <a:off x="1095375" y="1736217"/>
            <a:ext cx="876300" cy="718566"/>
          </a:xfrm>
          <a:prstGeom prst="rect">
            <a:avLst/>
          </a:prstGeom>
        </p:spPr>
      </p:pic>
      <p:pic>
        <p:nvPicPr>
          <p:cNvPr id="28" name="Picture 27"/>
          <p:cNvPicPr>
            <a:picLocks noChangeAspect="1"/>
          </p:cNvPicPr>
          <p:nvPr/>
        </p:nvPicPr>
        <p:blipFill>
          <a:blip r:embed="rId4"/>
          <a:stretch/>
        </p:blipFill>
        <p:spPr>
          <a:xfrm>
            <a:off x="1104900" y="2828925"/>
            <a:ext cx="857250" cy="857250"/>
          </a:xfrm>
          <a:prstGeom prst="rect">
            <a:avLst/>
          </a:prstGeom>
        </p:spPr>
      </p:pic>
      <p:pic>
        <p:nvPicPr>
          <p:cNvPr id="29" name="Picture 28"/>
          <p:cNvPicPr>
            <a:picLocks noChangeAspect="1"/>
          </p:cNvPicPr>
          <p:nvPr/>
        </p:nvPicPr>
        <p:blipFill>
          <a:blip r:embed="rId5"/>
          <a:stretch/>
        </p:blipFill>
        <p:spPr>
          <a:xfrm>
            <a:off x="1000125" y="3970564"/>
            <a:ext cx="1066800" cy="783771"/>
          </a:xfrm>
          <a:prstGeom prst="rect">
            <a:avLst/>
          </a:prstGeom>
        </p:spPr>
      </p:pic>
      <p:sp>
        <p:nvSpPr>
          <p:cNvPr id="14" name="testband">
            <a:extLst>
              <a:ext uri="{FF2B5EF4-FFF2-40B4-BE49-F238E27FC236}">
                <a16:creationId xmlns:a16="http://schemas.microsoft.com/office/drawing/2014/main" id="{6A799A53-366A-4704-A933-BAC9317D4BC8}"/>
              </a:ext>
            </a:extLst>
          </p:cNvPr>
          <p:cNvSpPr>
            <a:spLocks noGrp="1"/>
          </p:cNvSpPr>
          <p:nvPr/>
        </p:nvSpPr>
        <p:spPr>
          <a:xfrm>
            <a:off x="1381125" y="5219700"/>
            <a:ext cx="9429750" cy="914400"/>
          </a:xfrm>
          <a:prstGeom prst="roundRect">
            <a:avLst>
              <a:gd name="adj" fmla="val 8333"/>
            </a:avLst>
          </a:prstGeom>
          <a:solidFill>
            <a:srgbClr val="FFF2E8"/>
          </a:solidFill>
          <a:ln w="9525">
            <a:solidFill>
              <a:srgbClr val="F0C7A7"/>
            </a:solidFill>
            <a:prstDash val="solid"/>
          </a:ln>
        </p:spPr>
        <p:txBody>
          <a:bodyPr/>
          <a:lstStyle/>
          <a:p>
            <a:endParaRPr lang="en-US"/>
          </a:p>
        </p:txBody>
      </p:sp>
      <p:sp>
        <p:nvSpPr>
          <p:cNvPr id="15" name="testbandh">
            <a:extLst>
              <a:ext uri="{FF2B5EF4-FFF2-40B4-BE49-F238E27FC236}">
                <a16:creationId xmlns:a16="http://schemas.microsoft.com/office/drawing/2014/main" id="{F6E1AA77-15B4-4A86-86C4-DB56EDC73B9F}"/>
              </a:ext>
            </a:extLst>
          </p:cNvPr>
          <p:cNvSpPr>
            <a:spLocks noGrp="1"/>
          </p:cNvSpPr>
          <p:nvPr/>
        </p:nvSpPr>
        <p:spPr>
          <a:xfrm>
            <a:off x="1809750" y="5391150"/>
            <a:ext cx="8572500" cy="323850"/>
          </a:xfrm>
          <a:prstGeom prst="rect">
            <a:avLst/>
          </a:prstGeom>
          <a:noFill/>
          <a:ln w="0">
            <a:noFill/>
            <a:prstDash val="solid"/>
          </a:ln>
        </p:spPr>
        <p:txBody>
          <a:bodyPr/>
          <a:lstStyle/>
          <a:p>
            <a:pPr algn="ctr">
              <a:defRPr sz="1800" b="1">
                <a:solidFill>
                  <a:srgbClr val="C55A11"/>
                </a:solidFill>
              </a:defRPr>
            </a:pPr>
            <a:r>
              <a:rPr sz="1800" b="1">
                <a:solidFill>
                  <a:srgbClr val="C55A11"/>
                </a:solidFill>
              </a:rPr>
              <a:t>A green pipeline supports review</a:t>
            </a:r>
          </a:p>
        </p:txBody>
      </p:sp>
      <p:sp>
        <p:nvSpPr>
          <p:cNvPr id="16" name="testbandb">
            <a:extLst>
              <a:ext uri="{FF2B5EF4-FFF2-40B4-BE49-F238E27FC236}">
                <a16:creationId xmlns:a16="http://schemas.microsoft.com/office/drawing/2014/main" id="{28774AE0-E7FF-455E-BA9B-08EE5C5D706F}"/>
              </a:ext>
            </a:extLst>
          </p:cNvPr>
          <p:cNvSpPr>
            <a:spLocks noGrp="1"/>
          </p:cNvSpPr>
          <p:nvPr/>
        </p:nvSpPr>
        <p:spPr>
          <a:xfrm>
            <a:off x="1809750" y="5781675"/>
            <a:ext cx="8572500" cy="266700"/>
          </a:xfrm>
          <a:prstGeom prst="rect">
            <a:avLst/>
          </a:prstGeom>
          <a:noFill/>
          <a:ln w="0">
            <a:noFill/>
            <a:prstDash val="solid"/>
          </a:ln>
        </p:spPr>
        <p:txBody>
          <a:bodyPr/>
          <a:lstStyle/>
          <a:p>
            <a:pPr algn="ctr">
              <a:defRPr sz="1500">
                <a:solidFill>
                  <a:srgbClr val="000000"/>
                </a:solidFill>
              </a:defRPr>
            </a:pPr>
            <a:r>
              <a:rPr sz="1500">
                <a:solidFill>
                  <a:srgbClr val="000000"/>
                </a:solidFill>
              </a:rPr>
              <a:t>It provides fast feedback, but it does not replace thoughtful review.</a:t>
            </a:r>
          </a:p>
        </p:txBody>
      </p:sp>
    </p:spTree>
    <p:extLst>
      <p:ext uri="{BB962C8B-B14F-4D97-AF65-F5344CB8AC3E}">
        <p14:creationId xmlns:p14="http://schemas.microsoft.com/office/powerpoint/2010/main" val="1231033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a:extLst>
              <a:ext uri="{FF2B5EF4-FFF2-40B4-BE49-F238E27FC236}">
                <a16:creationId xmlns:a16="http://schemas.microsoft.com/office/drawing/2014/main" id="{50FDE64E-E997-417E-B04B-442D56FDF48C}"/>
              </a:ext>
            </a:extLst>
          </p:cNvPr>
          <p:cNvSpPr>
            <a:spLocks noGrp="1"/>
          </p:cNvSpPr>
          <p:nvPr/>
        </p:nvSpPr>
        <p:spPr>
          <a:xfrm>
            <a:off x="685800" y="361950"/>
            <a:ext cx="10820400" cy="571500"/>
          </a:xfrm>
          <a:prstGeom prst="rect">
            <a:avLst/>
          </a:prstGeom>
          <a:noFill/>
          <a:ln w="0">
            <a:noFill/>
            <a:prstDash val="solid"/>
          </a:ln>
        </p:spPr>
        <p:txBody>
          <a:bodyPr/>
          <a:lstStyle/>
          <a:p>
            <a:pPr>
              <a:defRPr sz="2400" b="1">
                <a:solidFill>
                  <a:srgbClr val="1F4E79"/>
                </a:solidFill>
              </a:defRPr>
            </a:pPr>
            <a:r>
              <a:rPr sz="3200" b="1" dirty="0">
                <a:solidFill>
                  <a:srgbClr val="1F4E79"/>
                </a:solidFill>
              </a:rPr>
              <a:t>Collaborative Design: Decide What the Change Affects</a:t>
            </a:r>
          </a:p>
        </p:txBody>
      </p:sp>
      <p:sp>
        <p:nvSpPr>
          <p:cNvPr id="2" name="subtitle">
            <a:extLst>
              <a:ext uri="{FF2B5EF4-FFF2-40B4-BE49-F238E27FC236}">
                <a16:creationId xmlns:a16="http://schemas.microsoft.com/office/drawing/2014/main" id="{68AE4DE7-9788-4FCF-AA5B-2C6F8B4A63BC}"/>
              </a:ext>
            </a:extLst>
          </p:cNvPr>
          <p:cNvSpPr>
            <a:spLocks noGrp="1"/>
          </p:cNvSpPr>
          <p:nvPr/>
        </p:nvSpPr>
        <p:spPr>
          <a:xfrm>
            <a:off x="685800" y="981075"/>
            <a:ext cx="10668000" cy="323850"/>
          </a:xfrm>
          <a:prstGeom prst="rect">
            <a:avLst/>
          </a:prstGeom>
          <a:noFill/>
          <a:ln w="0">
            <a:noFill/>
            <a:prstDash val="solid"/>
          </a:ln>
        </p:spPr>
        <p:txBody>
          <a:bodyPr/>
          <a:lstStyle/>
          <a:p>
            <a:pPr>
              <a:defRPr sz="1500" b="1">
                <a:solidFill>
                  <a:srgbClr val="000000"/>
                </a:solidFill>
              </a:defRPr>
            </a:pPr>
            <a:r>
              <a:rPr sz="2000" b="1" dirty="0">
                <a:solidFill>
                  <a:srgbClr val="000000"/>
                </a:solidFill>
              </a:rPr>
              <a:t>Use only the design evidence needed to explain the contribution.</a:t>
            </a:r>
          </a:p>
        </p:txBody>
      </p:sp>
      <p:sp>
        <p:nvSpPr>
          <p:cNvPr id="3" name="divider">
            <a:extLst>
              <a:ext uri="{FF2B5EF4-FFF2-40B4-BE49-F238E27FC236}">
                <a16:creationId xmlns:a16="http://schemas.microsoft.com/office/drawing/2014/main" id="{8D22EDBC-57FF-446F-86F4-C035B009CF07}"/>
              </a:ext>
            </a:extLst>
          </p:cNvPr>
          <p:cNvSpPr>
            <a:spLocks noGrp="1"/>
          </p:cNvSpPr>
          <p:nvPr/>
        </p:nvSpPr>
        <p:spPr>
          <a:xfrm>
            <a:off x="6096000" y="1666875"/>
            <a:ext cx="19050" cy="3238500"/>
          </a:xfrm>
          <a:prstGeom prst="rect">
            <a:avLst/>
          </a:prstGeom>
          <a:solidFill>
            <a:srgbClr val="D9E2E8"/>
          </a:solidFill>
          <a:ln w="0">
            <a:solidFill>
              <a:srgbClr val="D9E2E8"/>
            </a:solidFill>
            <a:prstDash val="solid"/>
          </a:ln>
        </p:spPr>
        <p:txBody>
          <a:bodyPr/>
          <a:lstStyle/>
          <a:p>
            <a:endParaRPr lang="en-US"/>
          </a:p>
        </p:txBody>
      </p:sp>
      <p:pic>
        <p:nvPicPr>
          <p:cNvPr id="18" name="Picture 17"/>
          <p:cNvPicPr>
            <a:picLocks noChangeAspect="1"/>
          </p:cNvPicPr>
          <p:nvPr/>
        </p:nvPicPr>
        <p:blipFill>
          <a:blip r:embed="rId3"/>
          <a:stretch/>
        </p:blipFill>
        <p:spPr>
          <a:xfrm>
            <a:off x="2361079" y="1456204"/>
            <a:ext cx="1564341" cy="1564341"/>
          </a:xfrm>
          <a:prstGeom prst="rect">
            <a:avLst/>
          </a:prstGeom>
        </p:spPr>
      </p:pic>
      <p:pic>
        <p:nvPicPr>
          <p:cNvPr id="19" name="Picture 18"/>
          <p:cNvPicPr>
            <a:picLocks noChangeAspect="1"/>
          </p:cNvPicPr>
          <p:nvPr/>
        </p:nvPicPr>
        <p:blipFill>
          <a:blip r:embed="rId4"/>
          <a:stretch/>
        </p:blipFill>
        <p:spPr>
          <a:xfrm>
            <a:off x="8131688" y="1211776"/>
            <a:ext cx="2074629" cy="2074629"/>
          </a:xfrm>
          <a:prstGeom prst="rect">
            <a:avLst/>
          </a:prstGeom>
        </p:spPr>
      </p:pic>
      <p:sp>
        <p:nvSpPr>
          <p:cNvPr id="6" name="sh">
            <a:extLst>
              <a:ext uri="{FF2B5EF4-FFF2-40B4-BE49-F238E27FC236}">
                <a16:creationId xmlns:a16="http://schemas.microsoft.com/office/drawing/2014/main" id="{E34AF905-703F-49B9-8954-0837C74AC161}"/>
              </a:ext>
            </a:extLst>
          </p:cNvPr>
          <p:cNvSpPr>
            <a:spLocks noGrp="1"/>
          </p:cNvSpPr>
          <p:nvPr/>
        </p:nvSpPr>
        <p:spPr>
          <a:xfrm>
            <a:off x="1000125" y="2952750"/>
            <a:ext cx="4286250" cy="400050"/>
          </a:xfrm>
          <a:prstGeom prst="rect">
            <a:avLst/>
          </a:prstGeom>
          <a:noFill/>
          <a:ln w="0">
            <a:noFill/>
            <a:prstDash val="solid"/>
          </a:ln>
        </p:spPr>
        <p:txBody>
          <a:bodyPr/>
          <a:lstStyle/>
          <a:p>
            <a:pPr algn="ctr">
              <a:defRPr sz="1800" b="1">
                <a:solidFill>
                  <a:srgbClr val="6B5B95"/>
                </a:solidFill>
              </a:defRPr>
            </a:pPr>
            <a:r>
              <a:rPr sz="1800" b="1">
                <a:solidFill>
                  <a:srgbClr val="6B5B95"/>
                </a:solidFill>
              </a:rPr>
              <a:t>STRUCTURE</a:t>
            </a:r>
          </a:p>
        </p:txBody>
      </p:sp>
      <p:sp>
        <p:nvSpPr>
          <p:cNvPr id="7" name="sq">
            <a:extLst>
              <a:ext uri="{FF2B5EF4-FFF2-40B4-BE49-F238E27FC236}">
                <a16:creationId xmlns:a16="http://schemas.microsoft.com/office/drawing/2014/main" id="{6DB3518E-1D1D-4D1F-8367-3ACDC071777B}"/>
              </a:ext>
            </a:extLst>
          </p:cNvPr>
          <p:cNvSpPr>
            <a:spLocks noGrp="1"/>
          </p:cNvSpPr>
          <p:nvPr/>
        </p:nvSpPr>
        <p:spPr>
          <a:xfrm>
            <a:off x="1095375" y="3486150"/>
            <a:ext cx="4095750" cy="647700"/>
          </a:xfrm>
          <a:prstGeom prst="rect">
            <a:avLst/>
          </a:prstGeom>
          <a:noFill/>
          <a:ln w="0">
            <a:noFill/>
            <a:prstDash val="solid"/>
          </a:ln>
        </p:spPr>
        <p:txBody>
          <a:bodyPr/>
          <a:lstStyle/>
          <a:p>
            <a:pPr algn="ctr">
              <a:defRPr sz="1800" b="1">
                <a:solidFill>
                  <a:srgbClr val="000000"/>
                </a:solidFill>
              </a:defRPr>
            </a:pPr>
            <a:r>
              <a:rPr sz="1800" b="1">
                <a:solidFill>
                  <a:srgbClr val="000000"/>
                </a:solidFill>
              </a:rPr>
              <a:t>Are classes, responsibilities, or relationships changing?</a:t>
            </a:r>
          </a:p>
        </p:txBody>
      </p:sp>
      <p:sp>
        <p:nvSpPr>
          <p:cNvPr id="8" name="sa">
            <a:extLst>
              <a:ext uri="{FF2B5EF4-FFF2-40B4-BE49-F238E27FC236}">
                <a16:creationId xmlns:a16="http://schemas.microsoft.com/office/drawing/2014/main" id="{858C2FA6-311D-4950-BCA9-67CBA9375D88}"/>
              </a:ext>
            </a:extLst>
          </p:cNvPr>
          <p:cNvSpPr>
            <a:spLocks noGrp="1"/>
          </p:cNvSpPr>
          <p:nvPr/>
        </p:nvSpPr>
        <p:spPr>
          <a:xfrm>
            <a:off x="1238250" y="4429125"/>
            <a:ext cx="3810000" cy="381000"/>
          </a:xfrm>
          <a:prstGeom prst="rect">
            <a:avLst/>
          </a:prstGeom>
          <a:noFill/>
          <a:ln w="0">
            <a:noFill/>
            <a:prstDash val="solid"/>
          </a:ln>
        </p:spPr>
        <p:txBody>
          <a:bodyPr/>
          <a:lstStyle/>
          <a:p>
            <a:pPr algn="ctr">
              <a:defRPr sz="1500">
                <a:solidFill>
                  <a:srgbClr val="000000"/>
                </a:solidFill>
              </a:defRPr>
            </a:pPr>
            <a:r>
              <a:rPr sz="1500" dirty="0">
                <a:solidFill>
                  <a:srgbClr val="000000"/>
                </a:solidFill>
              </a:rPr>
              <a:t>Update the relevant class diagram.</a:t>
            </a:r>
          </a:p>
        </p:txBody>
      </p:sp>
      <p:sp>
        <p:nvSpPr>
          <p:cNvPr id="9" name="bh">
            <a:extLst>
              <a:ext uri="{FF2B5EF4-FFF2-40B4-BE49-F238E27FC236}">
                <a16:creationId xmlns:a16="http://schemas.microsoft.com/office/drawing/2014/main" id="{5EF5B811-439E-4E50-A517-39D0E70B137E}"/>
              </a:ext>
            </a:extLst>
          </p:cNvPr>
          <p:cNvSpPr>
            <a:spLocks noGrp="1"/>
          </p:cNvSpPr>
          <p:nvPr/>
        </p:nvSpPr>
        <p:spPr>
          <a:xfrm>
            <a:off x="6905625" y="3075734"/>
            <a:ext cx="4286250" cy="400050"/>
          </a:xfrm>
          <a:prstGeom prst="rect">
            <a:avLst/>
          </a:prstGeom>
          <a:noFill/>
          <a:ln w="0">
            <a:noFill/>
            <a:prstDash val="solid"/>
          </a:ln>
        </p:spPr>
        <p:txBody>
          <a:bodyPr/>
          <a:lstStyle/>
          <a:p>
            <a:pPr algn="ctr">
              <a:defRPr sz="1800" b="1">
                <a:solidFill>
                  <a:srgbClr val="008C95"/>
                </a:solidFill>
              </a:defRPr>
            </a:pPr>
            <a:r>
              <a:rPr sz="1800" b="1" dirty="0">
                <a:solidFill>
                  <a:srgbClr val="008C95"/>
                </a:solidFill>
              </a:rPr>
              <a:t>BEHAVIOR</a:t>
            </a:r>
          </a:p>
        </p:txBody>
      </p:sp>
      <p:sp>
        <p:nvSpPr>
          <p:cNvPr id="10" name="bq">
            <a:extLst>
              <a:ext uri="{FF2B5EF4-FFF2-40B4-BE49-F238E27FC236}">
                <a16:creationId xmlns:a16="http://schemas.microsoft.com/office/drawing/2014/main" id="{232EB6CB-80B6-4012-9058-A0F57EE354B8}"/>
              </a:ext>
            </a:extLst>
          </p:cNvPr>
          <p:cNvSpPr>
            <a:spLocks noGrp="1"/>
          </p:cNvSpPr>
          <p:nvPr/>
        </p:nvSpPr>
        <p:spPr>
          <a:xfrm>
            <a:off x="7000875" y="3486150"/>
            <a:ext cx="4095750" cy="647700"/>
          </a:xfrm>
          <a:prstGeom prst="rect">
            <a:avLst/>
          </a:prstGeom>
          <a:noFill/>
          <a:ln w="0">
            <a:noFill/>
            <a:prstDash val="solid"/>
          </a:ln>
        </p:spPr>
        <p:txBody>
          <a:bodyPr/>
          <a:lstStyle/>
          <a:p>
            <a:pPr algn="ctr">
              <a:defRPr sz="1800" b="1">
                <a:solidFill>
                  <a:srgbClr val="000000"/>
                </a:solidFill>
              </a:defRPr>
            </a:pPr>
            <a:r>
              <a:rPr sz="1800" b="1">
                <a:solidFill>
                  <a:srgbClr val="000000"/>
                </a:solidFill>
              </a:rPr>
              <a:t>Are interactions between objects changing?</a:t>
            </a:r>
          </a:p>
        </p:txBody>
      </p:sp>
      <p:sp>
        <p:nvSpPr>
          <p:cNvPr id="11" name="ba">
            <a:extLst>
              <a:ext uri="{FF2B5EF4-FFF2-40B4-BE49-F238E27FC236}">
                <a16:creationId xmlns:a16="http://schemas.microsoft.com/office/drawing/2014/main" id="{68CC013A-6AC6-42FE-8AB8-7B5BE1A93B76}"/>
              </a:ext>
            </a:extLst>
          </p:cNvPr>
          <p:cNvSpPr>
            <a:spLocks noGrp="1"/>
          </p:cNvSpPr>
          <p:nvPr/>
        </p:nvSpPr>
        <p:spPr>
          <a:xfrm>
            <a:off x="7143750" y="4429125"/>
            <a:ext cx="3810000" cy="381000"/>
          </a:xfrm>
          <a:prstGeom prst="rect">
            <a:avLst/>
          </a:prstGeom>
          <a:noFill/>
          <a:ln w="0">
            <a:noFill/>
            <a:prstDash val="solid"/>
          </a:ln>
        </p:spPr>
        <p:txBody>
          <a:bodyPr/>
          <a:lstStyle/>
          <a:p>
            <a:pPr algn="ctr">
              <a:defRPr sz="1500">
                <a:solidFill>
                  <a:srgbClr val="000000"/>
                </a:solidFill>
              </a:defRPr>
            </a:pPr>
            <a:r>
              <a:rPr sz="1500" dirty="0">
                <a:solidFill>
                  <a:srgbClr val="000000"/>
                </a:solidFill>
              </a:rPr>
              <a:t>Update the relevant sequence diagram.</a:t>
            </a:r>
          </a:p>
        </p:txBody>
      </p:sp>
      <p:sp>
        <p:nvSpPr>
          <p:cNvPr id="12" name="designband">
            <a:extLst>
              <a:ext uri="{FF2B5EF4-FFF2-40B4-BE49-F238E27FC236}">
                <a16:creationId xmlns:a16="http://schemas.microsoft.com/office/drawing/2014/main" id="{452D306C-F63E-456C-AE1B-82D11DEC786B}"/>
              </a:ext>
            </a:extLst>
          </p:cNvPr>
          <p:cNvSpPr>
            <a:spLocks noGrp="1"/>
          </p:cNvSpPr>
          <p:nvPr/>
        </p:nvSpPr>
        <p:spPr>
          <a:xfrm>
            <a:off x="1381125" y="5219700"/>
            <a:ext cx="9429750" cy="914400"/>
          </a:xfrm>
          <a:prstGeom prst="roundRect">
            <a:avLst>
              <a:gd name="adj" fmla="val 8333"/>
            </a:avLst>
          </a:prstGeom>
          <a:solidFill>
            <a:srgbClr val="EAF2F8"/>
          </a:solidFill>
          <a:ln w="9525">
            <a:solidFill>
              <a:srgbClr val="C9DDEA"/>
            </a:solidFill>
            <a:prstDash val="solid"/>
          </a:ln>
        </p:spPr>
        <p:txBody>
          <a:bodyPr/>
          <a:lstStyle/>
          <a:p>
            <a:endParaRPr lang="en-US"/>
          </a:p>
        </p:txBody>
      </p:sp>
      <p:sp>
        <p:nvSpPr>
          <p:cNvPr id="13" name="designbandh">
            <a:extLst>
              <a:ext uri="{FF2B5EF4-FFF2-40B4-BE49-F238E27FC236}">
                <a16:creationId xmlns:a16="http://schemas.microsoft.com/office/drawing/2014/main" id="{43D28F96-9BE9-476D-B150-852E5206EC78}"/>
              </a:ext>
            </a:extLst>
          </p:cNvPr>
          <p:cNvSpPr>
            <a:spLocks noGrp="1"/>
          </p:cNvSpPr>
          <p:nvPr/>
        </p:nvSpPr>
        <p:spPr>
          <a:xfrm>
            <a:off x="1809750" y="5391150"/>
            <a:ext cx="8572500" cy="323850"/>
          </a:xfrm>
          <a:prstGeom prst="rect">
            <a:avLst/>
          </a:prstGeom>
          <a:noFill/>
          <a:ln w="0">
            <a:noFill/>
            <a:prstDash val="solid"/>
          </a:ln>
        </p:spPr>
        <p:txBody>
          <a:bodyPr/>
          <a:lstStyle/>
          <a:p>
            <a:pPr algn="ctr">
              <a:defRPr sz="1800" b="1">
                <a:solidFill>
                  <a:srgbClr val="1F4E79"/>
                </a:solidFill>
              </a:defRPr>
            </a:pPr>
            <a:r>
              <a:rPr sz="1800" b="1">
                <a:solidFill>
                  <a:srgbClr val="1F4E79"/>
                </a:solidFill>
              </a:rPr>
              <a:t>The PR connects design to implementation</a:t>
            </a:r>
          </a:p>
        </p:txBody>
      </p:sp>
      <p:sp>
        <p:nvSpPr>
          <p:cNvPr id="14" name="designbandb">
            <a:extLst>
              <a:ext uri="{FF2B5EF4-FFF2-40B4-BE49-F238E27FC236}">
                <a16:creationId xmlns:a16="http://schemas.microsoft.com/office/drawing/2014/main" id="{48E63A64-515E-422F-9747-13CD2D4E7916}"/>
              </a:ext>
            </a:extLst>
          </p:cNvPr>
          <p:cNvSpPr>
            <a:spLocks noGrp="1"/>
          </p:cNvSpPr>
          <p:nvPr/>
        </p:nvSpPr>
        <p:spPr>
          <a:xfrm>
            <a:off x="1809750" y="5781675"/>
            <a:ext cx="8572500" cy="266700"/>
          </a:xfrm>
          <a:prstGeom prst="rect">
            <a:avLst/>
          </a:prstGeom>
          <a:noFill/>
          <a:ln w="0">
            <a:noFill/>
            <a:prstDash val="solid"/>
          </a:ln>
        </p:spPr>
        <p:txBody>
          <a:bodyPr/>
          <a:lstStyle/>
          <a:p>
            <a:pPr algn="ctr">
              <a:defRPr sz="1500">
                <a:solidFill>
                  <a:srgbClr val="000000"/>
                </a:solidFill>
              </a:defRPr>
            </a:pPr>
            <a:r>
              <a:rPr sz="1500">
                <a:solidFill>
                  <a:srgbClr val="000000"/>
                </a:solidFill>
              </a:rPr>
              <a:t>Show the affected part of the system—not the entire system.</a:t>
            </a:r>
          </a:p>
        </p:txBody>
      </p:sp>
    </p:spTree>
    <p:extLst>
      <p:ext uri="{BB962C8B-B14F-4D97-AF65-F5344CB8AC3E}">
        <p14:creationId xmlns:p14="http://schemas.microsoft.com/office/powerpoint/2010/main" val="1874078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FFB77-4E0B-D410-3C2C-BD30AC625364}"/>
              </a:ext>
            </a:extLst>
          </p:cNvPr>
          <p:cNvSpPr>
            <a:spLocks noGrp="1"/>
          </p:cNvSpPr>
          <p:nvPr>
            <p:ph type="title"/>
          </p:nvPr>
        </p:nvSpPr>
        <p:spPr>
          <a:xfrm>
            <a:off x="838200" y="115792"/>
            <a:ext cx="10515600" cy="538258"/>
          </a:xfrm>
        </p:spPr>
        <p:txBody>
          <a:bodyPr>
            <a:normAutofit fontScale="90000"/>
          </a:bodyPr>
          <a:lstStyle/>
          <a:p>
            <a:r>
              <a:rPr lang="en-BE" dirty="0"/>
              <a:t>Assessment</a:t>
            </a:r>
          </a:p>
        </p:txBody>
      </p:sp>
      <p:pic>
        <p:nvPicPr>
          <p:cNvPr id="11266" name="Picture 2">
            <a:extLst>
              <a:ext uri="{FF2B5EF4-FFF2-40B4-BE49-F238E27FC236}">
                <a16:creationId xmlns:a16="http://schemas.microsoft.com/office/drawing/2014/main" id="{9BA72932-EF1F-8D1E-2208-B862B281B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6182" y="830320"/>
            <a:ext cx="7645400" cy="554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5379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DE891-5030-49D9-8CEB-2E70D87DD31B}"/>
              </a:ext>
            </a:extLst>
          </p:cNvPr>
          <p:cNvSpPr>
            <a:spLocks noGrp="1"/>
          </p:cNvSpPr>
          <p:nvPr>
            <p:ph type="title"/>
          </p:nvPr>
        </p:nvSpPr>
        <p:spPr/>
        <p:txBody>
          <a:bodyPr/>
          <a:lstStyle/>
          <a:p>
            <a:r>
              <a:rPr lang="en-US" dirty="0"/>
              <a:t>A list of previous projects by students</a:t>
            </a:r>
          </a:p>
        </p:txBody>
      </p:sp>
      <p:sp>
        <p:nvSpPr>
          <p:cNvPr id="5" name="TextBox 4">
            <a:extLst>
              <a:ext uri="{FF2B5EF4-FFF2-40B4-BE49-F238E27FC236}">
                <a16:creationId xmlns:a16="http://schemas.microsoft.com/office/drawing/2014/main" id="{251CBEFF-1C56-B803-C345-BD8B196284D3}"/>
              </a:ext>
            </a:extLst>
          </p:cNvPr>
          <p:cNvSpPr txBox="1"/>
          <p:nvPr/>
        </p:nvSpPr>
        <p:spPr>
          <a:xfrm>
            <a:off x="1022888" y="3109709"/>
            <a:ext cx="9159498" cy="830997"/>
          </a:xfrm>
          <a:prstGeom prst="rect">
            <a:avLst/>
          </a:prstGeom>
          <a:noFill/>
        </p:spPr>
        <p:txBody>
          <a:bodyPr wrap="square">
            <a:spAutoFit/>
          </a:bodyPr>
          <a:lstStyle/>
          <a:p>
            <a:r>
              <a:rPr lang="en-US" sz="2400" dirty="0">
                <a:hlinkClick r:id="rId2"/>
              </a:rPr>
              <a:t>https://github.com/orgs/UNLV-CS472-672/repositories?type=all</a:t>
            </a:r>
            <a:endParaRPr lang="en-US" sz="2400" dirty="0"/>
          </a:p>
          <a:p>
            <a:endParaRPr lang="en-US" sz="2400" dirty="0"/>
          </a:p>
        </p:txBody>
      </p:sp>
    </p:spTree>
    <p:extLst>
      <p:ext uri="{BB962C8B-B14F-4D97-AF65-F5344CB8AC3E}">
        <p14:creationId xmlns:p14="http://schemas.microsoft.com/office/powerpoint/2010/main" val="3319831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369,580 Question Icon Images, Stock Photos, 3D objects, &amp; Vectors |  Shutterstock">
            <a:extLst>
              <a:ext uri="{FF2B5EF4-FFF2-40B4-BE49-F238E27FC236}">
                <a16:creationId xmlns:a16="http://schemas.microsoft.com/office/drawing/2014/main" id="{43AEE0AA-A897-DA9B-B23C-E3407C7B73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231" t="21785" r="13847" b="30000"/>
          <a:stretch/>
        </p:blipFill>
        <p:spPr bwMode="auto">
          <a:xfrm>
            <a:off x="3835447" y="1346200"/>
            <a:ext cx="4521106" cy="326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561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27365</TotalTime>
  <Words>2270</Words>
  <Application>Microsoft Macintosh PowerPoint</Application>
  <PresentationFormat>Widescreen</PresentationFormat>
  <Paragraphs>284</Paragraphs>
  <Slides>21</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docs-Roboto</vt:lpstr>
      <vt:lpstr>Google Sans</vt:lpstr>
      <vt:lpstr>Roboto</vt:lpstr>
      <vt:lpstr>Titillium Web</vt:lpstr>
      <vt:lpstr>Office Theme</vt:lpstr>
      <vt:lpstr>Software Product Design and Development I</vt:lpstr>
      <vt:lpstr>PowerPoint Presentation</vt:lpstr>
      <vt:lpstr>Administration</vt:lpstr>
      <vt:lpstr>PowerPoint Presentation</vt:lpstr>
      <vt:lpstr>Inclusivity and Gradual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Assessment</vt:lpstr>
      <vt:lpstr>A list of previous projects by students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Businge</dc:creator>
  <cp:lastModifiedBy>John Businge</cp:lastModifiedBy>
  <cp:revision>65</cp:revision>
  <dcterms:created xsi:type="dcterms:W3CDTF">2023-08-10T00:04:12Z</dcterms:created>
  <dcterms:modified xsi:type="dcterms:W3CDTF">2026-08-20T18:59:51Z</dcterms:modified>
</cp:coreProperties>
</file>