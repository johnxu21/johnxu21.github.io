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76" r:id="rId3"/>
    <p:sldId id="324" r:id="rId4"/>
    <p:sldId id="322" r:id="rId5"/>
    <p:sldId id="323" r:id="rId6"/>
    <p:sldId id="325" r:id="rId7"/>
    <p:sldId id="326" r:id="rId8"/>
    <p:sldId id="327" r:id="rId9"/>
    <p:sldId id="328" r:id="rId10"/>
    <p:sldId id="329" r:id="rId11"/>
    <p:sldId id="331" r:id="rId12"/>
    <p:sldId id="332" r:id="rId13"/>
    <p:sldId id="333" r:id="rId14"/>
    <p:sldId id="334" r:id="rId15"/>
    <p:sldId id="335" r:id="rId16"/>
    <p:sldId id="336" r:id="rId17"/>
    <p:sldId id="337" r:id="rId18"/>
    <p:sldId id="338" r:id="rId19"/>
    <p:sldId id="339" r:id="rId20"/>
    <p:sldId id="340" r:id="rId21"/>
    <p:sldId id="342" r:id="rId22"/>
    <p:sldId id="341" r:id="rId23"/>
    <p:sldId id="315" r:id="rId2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EA"/>
    <a:srgbClr val="006600"/>
    <a:srgbClr val="009051"/>
    <a:srgbClr val="0432FF"/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459"/>
    <p:restoredTop sz="81057"/>
  </p:normalViewPr>
  <p:slideViewPr>
    <p:cSldViewPr snapToGrid="0">
      <p:cViewPr varScale="1">
        <p:scale>
          <a:sx n="69" d="100"/>
          <a:sy n="69" d="100"/>
        </p:scale>
        <p:origin x="216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75346B-715E-CA4E-A294-01B0C7460D3C}" type="datetimeFigureOut">
              <a:rPr lang="en-BE" smtClean="0"/>
              <a:t>12/02/2026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370A86-051A-7C48-98C3-08CACFB9377A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5527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41246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9400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E1FD6-734B-7048-B426-35E2F0D4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ABD3-5EE7-6E52-00D2-E5B8D9E09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3A519-2FBE-616B-E7CD-6AED7CD79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0B79B-E7F5-84B5-74CA-2BC924007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132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F5ED-CBAF-BA83-778E-AE3A6D04F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4387C-AA3C-E1F5-C1C0-8C968BD73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CFC35-50AA-2701-34CE-7AE8267F8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96E8-2C1E-2BAB-F45B-79879BAEE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75250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707C8-A2F5-078D-1AA9-54D85422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04636-0D44-A0DD-D703-0FEDB48AD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83004-927A-1FB7-2A5C-D4B4E7635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0A856-41E0-164F-8172-C1A4A64B0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5408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77F30-3BA4-2D63-7DBE-288BC9109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E8A32-C74C-67A5-D5D8-FA6F36D8D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8C97D-24B0-4141-55AF-21A4260E4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61487-557A-DA4E-B8D4-468AF9ED6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1835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10175-F557-E7F4-7A5D-E741239E9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303A9-35B7-8EE4-4449-C6A0760E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10E7F-9BC3-1C6D-647E-8C153284F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26949-FB92-F93A-876F-ADE0B37F0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64167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06B1-1C9B-3FBE-9552-4CDC9901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7CBA3-CC1C-0C44-690B-A4392175C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C886F-66C0-BBF6-862C-48171374A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332C-90D5-5D5E-8E7E-4D5C3310E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77363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6A75-6D91-C22C-6E52-A280DBE03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C2B452-A240-DE3A-4817-543C948F6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4D060D-FF89-C97E-8DA1-09DDFE05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352DC-6177-77CF-6F92-D5463507C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96479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31B25-5843-3A7C-C952-69A9B1FA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7AACB7-89CD-E973-41D8-95D6879A1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15127-C899-53FC-C593-064C54097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9B5CE-58D3-36C4-B661-34975334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84622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E5825-1E0C-923F-0798-48B897F2A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8BB58C-D4F5-57AA-3F79-AEEA4DC3D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1D0B4-8928-21D8-848C-000278326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9DAD-C8F9-E84D-D10B-B882E3BB8D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35338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D6C92-850B-7D74-2F40-4D7D36F04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73FEB8-8E59-432B-5108-E5D5543DAE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6F8782-CB68-3754-E474-6AD31F5B1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Level 1 is reactive — students just code and maybe draw a diagram later.</a:t>
            </a:r>
          </a:p>
          <a:p>
            <a:r>
              <a:rPr lang="en-GB" dirty="0"/>
              <a:t>Level 2 is selective — they design only big features, but small PRs slowly degrade the architecture.</a:t>
            </a:r>
          </a:p>
          <a:p>
            <a:r>
              <a:rPr lang="en-GB" dirty="0"/>
              <a:t>Level 3 is intentional PR design — and this is our goal in Senior Design. Every meaningful pull request forces you to ask: Am I changing structure? Am I changing </a:t>
            </a:r>
            <a:r>
              <a:rPr lang="en-GB" dirty="0" err="1"/>
              <a:t>behavior</a:t>
            </a:r>
            <a:r>
              <a:rPr lang="en-GB" dirty="0"/>
              <a:t>? What diagram needs to be updated?</a:t>
            </a:r>
          </a:p>
          <a:p>
            <a:r>
              <a:rPr lang="en-GB" dirty="0"/>
              <a:t>Level 4 is architectural stewardship. That’s when teams actively evolve the architecture over time. They refactor intentionally, protect boundaries, and reduce coupling. That’s what senior engineers and architects do in industry.</a:t>
            </a:r>
          </a:p>
          <a:p>
            <a:r>
              <a:rPr lang="en-GB" dirty="0"/>
              <a:t>In this course, I expect Level 3. If you reach Level 4, that’s exceptional.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229DD-1013-F911-8CEB-3E300377B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439241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DBEE8-1E80-A98C-5071-BC32BFE5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EFEC4-6307-9549-4EBE-01B666A61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1BFC1-C71F-AD79-67E8-6B3E3E4FE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9F04-5BFA-8220-64D2-A431D8C162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3661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B8F3-3B15-96C5-1B51-6C9783A4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605423-7923-7899-7D66-C74FC6565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74486-8749-2236-F66D-5B8AB36D4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1E36-7270-AF83-AE24-E6E7DB272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046546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AD470-E232-6DF4-E57B-B636C87D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2593D-467D-29AF-9DE8-A82C942E9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29874-C0CE-0A1F-2B9F-A279892D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344F1-7FA0-215F-AD8F-DDD5F48A1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83221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581D0-C4F3-165D-A562-93986FB2E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984FD-35D9-BB8E-5CAC-E497BBE8C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2B11D3-D278-4987-B16E-87DDD4779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1CC08-4E06-1CCE-6055-4E44B68C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42038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2202F-AE4D-EB36-ABCC-ABE91261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E8156-67DD-F370-168C-34076E71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08AC7-3677-BB99-8483-3BE59C2A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00D81-C162-B725-997C-807C91B9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980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B9D10-B560-9F18-8E4D-AB2B511F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49950-D6D2-2EE1-EF0B-9688057B4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24058A-8E7D-C392-23B6-6B310743F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BEBDC-D762-1F57-F2C3-32F20DFFA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07843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3D338-D4BF-63C1-8361-560428BCAB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BDB33B-D24D-A607-D07F-FB6B6D3980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DCB5-EF6D-9E80-03F4-2ED04EFB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A91C8-B2E3-704D-BB13-1CFAF93BF6B8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2FDEDC-6B67-6CD9-4B0F-CF2F4F03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59847-C5AC-85F3-9FD5-0A55F33D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6809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2C583-176C-5FD6-7091-8D1865B2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370-9955-AF6E-9D22-E0BFF730D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E8C37-DBDE-77E0-0D0D-319BCEE45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DC92E-A032-AA40-B206-4B8F85B33AD7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6DEA8-5E41-EECC-2F72-7375BA4F4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8D68D-C953-D3F6-FA9A-A84CCE28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68689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A76C-D5D1-F97D-C36A-261E42BC1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296C-03D6-3B41-6DBA-83C32D0CA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AF7D-ACBA-95B4-93F1-CA843CE7B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83E1B-DD33-FA46-853E-AA4154D5BD7C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BC8B6-032F-00A9-8020-2C016EB43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59562-4C63-EC1E-8258-751A2DF96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91449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3E3DF-1951-80D7-7D8F-473A68BA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91DC6-E6D4-242D-FA12-A84AFED0ED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14202-08A1-BFEF-9E45-D9C64394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8F2AD-12EF-E04D-5BBC-6276C3EC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B6EE-912C-0F48-A922-B72D2E281D42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CD995-ADC4-FEB4-DE0B-E7793207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797B2-D6B3-D7C4-92D4-6202EF255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066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916CC-7CB6-A70E-8112-F7AF54E06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E6133-46AE-CD7E-C1A7-9C3084EE7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A7AE51-1139-839C-B51B-D97EFE0C1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16CA53-85DD-06D2-5CF5-0E255DFD73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CEDDC-B200-AA31-37FF-0312D1027F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C1210-18E0-E8D8-093C-FCA522258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38D5E-832C-224C-AA9A-C31D638223D8}" type="datetime1">
              <a:rPr lang="en-US" smtClean="0"/>
              <a:t>2/14/26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EFED9E-EAAF-F2AB-2641-45BBF09D4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B1FEBB-ABEE-1CBA-CB17-10E02E04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31341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1585F-6FCF-9478-5060-53B74497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614A72-C4BA-1B4F-339A-1B6541105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8A3B2-CE34-414B-B9C4-B8108E527B8D}" type="datetime1">
              <a:rPr lang="en-US" smtClean="0"/>
              <a:t>2/14/26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E89A0-5ECF-9578-F46C-BD06E5EE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2BC91-EDCD-E011-B081-68BB1F11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5708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36B45C-B701-6032-9C0F-C4DBA89B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59100-F087-DD41-91E8-BF774AFE27DF}" type="datetime1">
              <a:rPr lang="en-US" smtClean="0"/>
              <a:t>2/14/26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A0ED5-AEED-B85D-AFD5-C8710FC6A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A4D14-A2EB-9B44-C1BA-95B55F0F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15652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A4FD-71A8-BD24-A6FA-39A858DBF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3F4C1-0E29-75B4-B644-993C97124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A73BE6-C986-70A6-FA1E-E5C9B6272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41456-587E-967D-D465-AB3FBA99E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1B03A-66C4-9743-97A2-E6FEE3067D56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96DB79-C222-57DF-342D-6FC47CCCC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92CB4-8900-C252-6051-0AAE06B0A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098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62FBE-9EB0-B72F-2532-3D143A3D7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7B5B4-6E12-35EE-F9C8-DF7BAF1E9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6719A-2871-BA0E-56DE-266357E6D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0D149-493D-A359-6735-E099FC04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2535E-AB61-F24F-9714-D7F54FA51084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E256D-7BB1-18D9-E036-B38666306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1CC5E-20D3-5201-2202-71A288AB0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6337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0255-B7BA-3704-346D-5453C2C3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2CC00C-44DB-1E4F-7DD1-3A66B04CB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53060-A9EA-490F-30B9-0130AE3B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4D828-BADB-F043-A298-D5A55FD97470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23EB-46A1-99A7-128F-09028407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246E6-B784-ED9B-F576-9F583B5F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7698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8F506F-2428-ACD9-E81C-5C34D709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330FD-8831-9BDD-3703-B03056DF2C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1D94D-E8FA-867E-243D-944A6B07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32606-3532-984E-802A-9CE416040F6B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DDFF6-9A45-BAC1-F0F6-669AA362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925EF-90C0-B247-CEB8-2BA3920E8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3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901F-9BFC-DC7B-97F9-7148FD22D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46409-BB71-519B-DD09-E22863004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EA3D3-F715-CFDC-3DED-C4B7FDAFE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A58D67-8AE7-5F40-AADF-BEF1719A9296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C09C2-855B-B1BF-E91D-7B99D782D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AAD7C-BFBE-9158-7E25-C2D4C06BD0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620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premium-vector/ecosystem-icon_211026208.htm" TargetMode="External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44DCB-4FA0-3888-F823-548AC27B80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Designing Software Systems for Collaborative Development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91069-3B92-5EB1-FC8F-EE09098BE0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>
                <a:solidFill>
                  <a:schemeClr val="tx1"/>
                </a:solidFill>
              </a:rPr>
              <a:t>Dr.</a:t>
            </a:r>
            <a:r>
              <a:rPr lang="en-GB" dirty="0">
                <a:solidFill>
                  <a:schemeClr val="tx1"/>
                </a:solidFill>
              </a:rPr>
              <a:t> John Businge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/>
              <a:t>j</a:t>
            </a:r>
            <a:r>
              <a:rPr lang="en-GB" dirty="0" err="1">
                <a:solidFill>
                  <a:schemeClr val="tx1"/>
                </a:solidFill>
              </a:rPr>
              <a:t>ohn.businge@unlv.edu</a:t>
            </a:r>
            <a:endParaRPr lang="en-GB" dirty="0">
              <a:solidFill>
                <a:schemeClr val="tx1"/>
              </a:solidFill>
            </a:endParaRP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FB39F-1018-C5A7-2310-F0A4257BB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738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B02A-6D2C-8593-D1D2-0F7F93D99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B13C0-2F22-7B03-F87C-066C9440C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/>
              <a:t>Grading Lab 1 </a:t>
            </a:r>
          </a:p>
          <a:p>
            <a:r>
              <a:rPr lang="en-BE" dirty="0"/>
              <a:t>Submit your DP I 02/20 on Canvas and pin the Google doc on Discord</a:t>
            </a:r>
          </a:p>
          <a:p>
            <a:r>
              <a:rPr lang="en-BE" dirty="0"/>
              <a:t>Focus on DP II and III – Its both team and individual</a:t>
            </a:r>
          </a:p>
          <a:p>
            <a:pPr lvl="1"/>
            <a:r>
              <a:rPr lang="en-BE" dirty="0"/>
              <a:t>Individual 60%</a:t>
            </a:r>
          </a:p>
          <a:p>
            <a:pPr lvl="1"/>
            <a:r>
              <a:rPr lang="en-BE" dirty="0"/>
              <a:t>Team 40%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C59AC-2B89-7EC9-1148-E29E8463B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</a:t>
            </a:fld>
            <a:endParaRPr lang="en-BE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CE81E4-9D9D-5461-5ACE-6C4430DF0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373" y="4024312"/>
            <a:ext cx="5540699" cy="261827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4B6F42F-F6EC-B399-95BE-7724D451F8F2}"/>
              </a:ext>
            </a:extLst>
          </p:cNvPr>
          <p:cNvCxnSpPr>
            <a:cxnSpLocks/>
          </p:cNvCxnSpPr>
          <p:nvPr/>
        </p:nvCxnSpPr>
        <p:spPr>
          <a:xfrm flipH="1">
            <a:off x="3928754" y="5407089"/>
            <a:ext cx="4028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9A590A8-C26E-7BBE-EAE5-FACE80C6E063}"/>
              </a:ext>
            </a:extLst>
          </p:cNvPr>
          <p:cNvSpPr txBox="1"/>
          <p:nvPr/>
        </p:nvSpPr>
        <p:spPr>
          <a:xfrm>
            <a:off x="7957585" y="5176256"/>
            <a:ext cx="3623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Reimbursement up to </a:t>
            </a:r>
            <a:r>
              <a:rPr lang="en-US" sz="2400" b="1" dirty="0"/>
              <a:t>$750 </a:t>
            </a:r>
          </a:p>
        </p:txBody>
      </p:sp>
    </p:spTree>
    <p:extLst>
      <p:ext uri="{BB962C8B-B14F-4D97-AF65-F5344CB8AC3E}">
        <p14:creationId xmlns:p14="http://schemas.microsoft.com/office/powerpoint/2010/main" val="2495615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E5D8EA2-1643-5046-F213-B991145F5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pic>
        <p:nvPicPr>
          <p:cNvPr id="3077" name="Picture 5" descr="Ecosystem icon | Premium Vector">
            <a:extLst>
              <a:ext uri="{FF2B5EF4-FFF2-40B4-BE49-F238E27FC236}">
                <a16:creationId xmlns:a16="http://schemas.microsoft.com/office/drawing/2014/main" id="{3556FA7E-AFF2-2396-6346-1D1B902CF4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5800" y="-3810000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AEC097A6-1181-DC81-C48D-4CFC46B2C8CD}"/>
              </a:ext>
            </a:extLst>
          </p:cNvPr>
          <p:cNvGrpSpPr/>
          <p:nvPr/>
        </p:nvGrpSpPr>
        <p:grpSpPr>
          <a:xfrm>
            <a:off x="53742" y="2495235"/>
            <a:ext cx="1818213" cy="2173055"/>
            <a:chOff x="527523" y="2494436"/>
            <a:chExt cx="1818213" cy="2173055"/>
          </a:xfrm>
        </p:grpSpPr>
        <p:pic>
          <p:nvPicPr>
            <p:cNvPr id="3076" name="Picture 4" descr="Ecosystem icon | Premium Vector">
              <a:hlinkClick r:id="rId3"/>
              <a:extLst>
                <a:ext uri="{FF2B5EF4-FFF2-40B4-BE49-F238E27FC236}">
                  <a16:creationId xmlns:a16="http://schemas.microsoft.com/office/drawing/2014/main" id="{C7263368-9A28-C5A8-7E5F-050D62780F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523" y="2494436"/>
              <a:ext cx="1818213" cy="1818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F6226-EACF-2D9A-F48C-0202D1E54C8C}"/>
                </a:ext>
              </a:extLst>
            </p:cNvPr>
            <p:cNvSpPr txBox="1"/>
            <p:nvPr/>
          </p:nvSpPr>
          <p:spPr>
            <a:xfrm>
              <a:off x="748948" y="4267381"/>
              <a:ext cx="15967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Real World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0EEF904-73C0-6776-DA9F-A2440456B1E5}"/>
              </a:ext>
            </a:extLst>
          </p:cNvPr>
          <p:cNvGrpSpPr/>
          <p:nvPr/>
        </p:nvGrpSpPr>
        <p:grpSpPr>
          <a:xfrm>
            <a:off x="1915569" y="2356313"/>
            <a:ext cx="3190696" cy="2725778"/>
            <a:chOff x="1915569" y="2356313"/>
            <a:chExt cx="3190696" cy="2725778"/>
          </a:xfrm>
        </p:grpSpPr>
        <p:pic>
          <p:nvPicPr>
            <p:cNvPr id="6" name="Google Shape;195;p9" descr="hand drawn architectural sketch of a modern fantastic city with high  futuristic buildings and people in the streets Stock Vector Image &amp; Art -  Alamy">
              <a:extLst>
                <a:ext uri="{FF2B5EF4-FFF2-40B4-BE49-F238E27FC236}">
                  <a16:creationId xmlns:a16="http://schemas.microsoft.com/office/drawing/2014/main" id="{59107E59-3D34-189C-1583-D25E4E71F925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 b="11422"/>
            <a:stretch/>
          </p:blipFill>
          <p:spPr>
            <a:xfrm>
              <a:off x="2648394" y="2356313"/>
              <a:ext cx="2457871" cy="21453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926F67-4614-E81D-CF2B-FFA14D5FEDC2}"/>
                </a:ext>
              </a:extLst>
            </p:cNvPr>
            <p:cNvSpPr txBox="1"/>
            <p:nvPr/>
          </p:nvSpPr>
          <p:spPr>
            <a:xfrm>
              <a:off x="2648394" y="4681981"/>
              <a:ext cx="23037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Domain Model - DPI</a:t>
              </a:r>
            </a:p>
          </p:txBody>
        </p:sp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92DCB4C4-E71D-95A1-C221-E0CB05DE8078}"/>
                </a:ext>
              </a:extLst>
            </p:cNvPr>
            <p:cNvSpPr/>
            <p:nvPr/>
          </p:nvSpPr>
          <p:spPr>
            <a:xfrm>
              <a:off x="1915569" y="3261426"/>
              <a:ext cx="601230" cy="335146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3ABC0DF-5679-1ACA-4074-37CD6D23B14B}"/>
              </a:ext>
            </a:extLst>
          </p:cNvPr>
          <p:cNvGrpSpPr/>
          <p:nvPr/>
        </p:nvGrpSpPr>
        <p:grpSpPr>
          <a:xfrm>
            <a:off x="5280955" y="2021173"/>
            <a:ext cx="3018886" cy="2949410"/>
            <a:chOff x="5280955" y="2021173"/>
            <a:chExt cx="3018886" cy="2949410"/>
          </a:xfrm>
        </p:grpSpPr>
        <p:pic>
          <p:nvPicPr>
            <p:cNvPr id="3081" name="Picture 9" descr="it architecture analyst line icon vector illustration 33064252 Vector Art  at Vecteezy">
              <a:extLst>
                <a:ext uri="{FF2B5EF4-FFF2-40B4-BE49-F238E27FC236}">
                  <a16:creationId xmlns:a16="http://schemas.microsoft.com/office/drawing/2014/main" id="{7A347320-CD02-E540-2335-FFBABE36D2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853" t="12936" r="12521" b="12836"/>
            <a:stretch>
              <a:fillRect/>
            </a:stretch>
          </p:blipFill>
          <p:spPr bwMode="auto">
            <a:xfrm>
              <a:off x="5996079" y="2021173"/>
              <a:ext cx="2303762" cy="22914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39F7CB-9092-4C7D-6694-A509B4E1868A}"/>
                </a:ext>
              </a:extLst>
            </p:cNvPr>
            <p:cNvSpPr txBox="1"/>
            <p:nvPr/>
          </p:nvSpPr>
          <p:spPr>
            <a:xfrm>
              <a:off x="5973845" y="4570473"/>
              <a:ext cx="23037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Design Model - DPII</a:t>
              </a:r>
            </a:p>
          </p:txBody>
        </p:sp>
        <p:sp>
          <p:nvSpPr>
            <p:cNvPr id="14" name="Right Arrow 13">
              <a:extLst>
                <a:ext uri="{FF2B5EF4-FFF2-40B4-BE49-F238E27FC236}">
                  <a16:creationId xmlns:a16="http://schemas.microsoft.com/office/drawing/2014/main" id="{07A6EF04-AA98-033D-E9B6-313975F54D2D}"/>
                </a:ext>
              </a:extLst>
            </p:cNvPr>
            <p:cNvSpPr/>
            <p:nvPr/>
          </p:nvSpPr>
          <p:spPr>
            <a:xfrm>
              <a:off x="5280955" y="3261426"/>
              <a:ext cx="601230" cy="335146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D82A67B-C371-3C20-782D-56281CBFD329}"/>
              </a:ext>
            </a:extLst>
          </p:cNvPr>
          <p:cNvGrpSpPr/>
          <p:nvPr/>
        </p:nvGrpSpPr>
        <p:grpSpPr>
          <a:xfrm>
            <a:off x="8576008" y="2194129"/>
            <a:ext cx="3158115" cy="2519429"/>
            <a:chOff x="8576008" y="2194129"/>
            <a:chExt cx="3158115" cy="2519429"/>
          </a:xfrm>
        </p:grpSpPr>
        <p:pic>
          <p:nvPicPr>
            <p:cNvPr id="3074" name="Picture 2" descr="Pull Request Icons - Free SVG &amp; PNG Pull Request Images - Noun Project">
              <a:extLst>
                <a:ext uri="{FF2B5EF4-FFF2-40B4-BE49-F238E27FC236}">
                  <a16:creationId xmlns:a16="http://schemas.microsoft.com/office/drawing/2014/main" id="{77F94D26-A0AE-BE59-9311-3EA5BDC9BB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9184717" y="2085173"/>
              <a:ext cx="1925092" cy="2143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5B8A00F-85CD-0373-6208-77AB24E31BD7}"/>
                </a:ext>
              </a:extLst>
            </p:cNvPr>
            <p:cNvSpPr txBox="1"/>
            <p:nvPr/>
          </p:nvSpPr>
          <p:spPr>
            <a:xfrm>
              <a:off x="8876623" y="4313448"/>
              <a:ext cx="28575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Implementation + PR + CI</a:t>
              </a:r>
            </a:p>
          </p:txBody>
        </p:sp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3251922D-FC0C-7809-F87F-C7087C1E5C10}"/>
                </a:ext>
              </a:extLst>
            </p:cNvPr>
            <p:cNvSpPr/>
            <p:nvPr/>
          </p:nvSpPr>
          <p:spPr>
            <a:xfrm>
              <a:off x="8576008" y="3046473"/>
              <a:ext cx="601230" cy="335146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64C6481-2B05-7438-8D78-53426A49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5420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DFE56-3E3A-F966-C6E5-C6850AE9B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1E4FC3E-C31E-6F4B-65F6-D703D1C01573}"/>
              </a:ext>
            </a:extLst>
          </p:cNvPr>
          <p:cNvGrpSpPr/>
          <p:nvPr/>
        </p:nvGrpSpPr>
        <p:grpSpPr>
          <a:xfrm>
            <a:off x="477669" y="1283711"/>
            <a:ext cx="3930557" cy="5094991"/>
            <a:chOff x="477669" y="1283711"/>
            <a:chExt cx="3930557" cy="509499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2FC989-CDFF-A074-2D62-8292B470E86A}"/>
                </a:ext>
              </a:extLst>
            </p:cNvPr>
            <p:cNvSpPr txBox="1"/>
            <p:nvPr/>
          </p:nvSpPr>
          <p:spPr>
            <a:xfrm>
              <a:off x="818866" y="2647669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Requirements</a:t>
              </a:r>
            </a:p>
          </p:txBody>
        </p:sp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D9547CB4-870D-96A3-1CFB-41ED8584CEF0}"/>
                </a:ext>
              </a:extLst>
            </p:cNvPr>
            <p:cNvSpPr/>
            <p:nvPr/>
          </p:nvSpPr>
          <p:spPr>
            <a:xfrm rot="5400000">
              <a:off x="1760562" y="3128626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FA7356-7578-A2F6-2808-AE6E0390CB7D}"/>
                </a:ext>
              </a:extLst>
            </p:cNvPr>
            <p:cNvSpPr txBox="1"/>
            <p:nvPr/>
          </p:nvSpPr>
          <p:spPr>
            <a:xfrm>
              <a:off x="818866" y="34914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Use Cases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BDBD85-66DC-903F-1663-80746EE79EAA}"/>
                </a:ext>
              </a:extLst>
            </p:cNvPr>
            <p:cNvSpPr txBox="1"/>
            <p:nvPr/>
          </p:nvSpPr>
          <p:spPr>
            <a:xfrm>
              <a:off x="818865" y="429774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Domain Model</a:t>
              </a:r>
            </a:p>
          </p:txBody>
        </p: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84C71E4F-2E9E-5054-0446-115E9C01A9FB}"/>
                </a:ext>
              </a:extLst>
            </p:cNvPr>
            <p:cNvSpPr/>
            <p:nvPr/>
          </p:nvSpPr>
          <p:spPr>
            <a:xfrm rot="5400000">
              <a:off x="1760561" y="3962194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778BCF-5BEB-A636-C74C-D760D11A5DDF}"/>
                </a:ext>
              </a:extLst>
            </p:cNvPr>
            <p:cNvSpPr txBox="1"/>
            <p:nvPr/>
          </p:nvSpPr>
          <p:spPr>
            <a:xfrm>
              <a:off x="477669" y="1283711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Architectural Baseline - DPI</a:t>
              </a:r>
              <a:endParaRPr lang="en-US" sz="2400" b="1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B83722B1-6B19-00D6-92E8-1E5888CDE7AE}"/>
                </a:ext>
              </a:extLst>
            </p:cNvPr>
            <p:cNvSpPr/>
            <p:nvPr/>
          </p:nvSpPr>
          <p:spPr>
            <a:xfrm rot="5400000">
              <a:off x="1779897" y="4778699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F6F2F0-A165-7998-68C2-EDEB517B3CE8}"/>
                </a:ext>
              </a:extLst>
            </p:cNvPr>
            <p:cNvSpPr txBox="1"/>
            <p:nvPr/>
          </p:nvSpPr>
          <p:spPr>
            <a:xfrm>
              <a:off x="838201" y="5141544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Initial Class Diagrams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325002-4618-160D-E531-52105A94A514}"/>
                </a:ext>
              </a:extLst>
            </p:cNvPr>
            <p:cNvSpPr txBox="1"/>
            <p:nvPr/>
          </p:nvSpPr>
          <p:spPr>
            <a:xfrm>
              <a:off x="838200" y="5947815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High-level Architecture</a:t>
              </a: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A278F32E-CB81-CB9C-65AA-21B7CD087E15}"/>
                </a:ext>
              </a:extLst>
            </p:cNvPr>
            <p:cNvSpPr/>
            <p:nvPr/>
          </p:nvSpPr>
          <p:spPr>
            <a:xfrm rot="5400000">
              <a:off x="1779896" y="561226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BDB2533-1505-3BDF-2CBD-E7D3093AA736}"/>
                </a:ext>
              </a:extLst>
            </p:cNvPr>
            <p:cNvSpPr txBox="1"/>
            <p:nvPr/>
          </p:nvSpPr>
          <p:spPr>
            <a:xfrm>
              <a:off x="834789" y="18310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Problem</a:t>
              </a:r>
            </a:p>
          </p:txBody>
        </p:sp>
        <p:sp>
          <p:nvSpPr>
            <p:cNvPr id="34" name="Right Arrow 33">
              <a:extLst>
                <a:ext uri="{FF2B5EF4-FFF2-40B4-BE49-F238E27FC236}">
                  <a16:creationId xmlns:a16="http://schemas.microsoft.com/office/drawing/2014/main" id="{8D2F2D21-5AA5-8ADE-FF5B-555277C3C891}"/>
                </a:ext>
              </a:extLst>
            </p:cNvPr>
            <p:cNvSpPr/>
            <p:nvPr/>
          </p:nvSpPr>
          <p:spPr>
            <a:xfrm rot="5400000">
              <a:off x="1776485" y="231202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2F6DF61-B717-75CE-D048-FFD71ED969E4}"/>
              </a:ext>
            </a:extLst>
          </p:cNvPr>
          <p:cNvGrpSpPr/>
          <p:nvPr/>
        </p:nvGrpSpPr>
        <p:grpSpPr>
          <a:xfrm>
            <a:off x="7783775" y="1250730"/>
            <a:ext cx="3930557" cy="5096570"/>
            <a:chOff x="7783775" y="1250730"/>
            <a:chExt cx="3930557" cy="509657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43F92C-5D78-2A94-5EBD-5AD3100B84CD}"/>
                </a:ext>
              </a:extLst>
            </p:cNvPr>
            <p:cNvSpPr txBox="1"/>
            <p:nvPr/>
          </p:nvSpPr>
          <p:spPr>
            <a:xfrm>
              <a:off x="7783775" y="1250730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Controlled Evolution - DPII</a:t>
              </a:r>
              <a:endParaRPr lang="en-US" sz="2400" b="1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E6DFFC-EF77-FE04-2C9A-F7269FCFD1F4}"/>
                </a:ext>
              </a:extLst>
            </p:cNvPr>
            <p:cNvSpPr txBox="1"/>
            <p:nvPr/>
          </p:nvSpPr>
          <p:spPr>
            <a:xfrm>
              <a:off x="7972568" y="1815150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Refined Class Diagrams</a:t>
              </a:r>
            </a:p>
          </p:txBody>
        </p:sp>
        <p:sp>
          <p:nvSpPr>
            <p:cNvPr id="25" name="Right Arrow 24">
              <a:extLst>
                <a:ext uri="{FF2B5EF4-FFF2-40B4-BE49-F238E27FC236}">
                  <a16:creationId xmlns:a16="http://schemas.microsoft.com/office/drawing/2014/main" id="{A446AE9B-7C89-38B2-5BBD-CC89C827ED71}"/>
                </a:ext>
              </a:extLst>
            </p:cNvPr>
            <p:cNvSpPr/>
            <p:nvPr/>
          </p:nvSpPr>
          <p:spPr>
            <a:xfrm rot="5400000">
              <a:off x="8914264" y="229610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08E0AD0-4D89-CC67-0D85-C4349E8305DE}"/>
                </a:ext>
              </a:extLst>
            </p:cNvPr>
            <p:cNvSpPr txBox="1"/>
            <p:nvPr/>
          </p:nvSpPr>
          <p:spPr>
            <a:xfrm>
              <a:off x="7972568" y="265895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Sequence Diagrams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2535C2-8FF4-F634-975E-B5071F9A6680}"/>
                </a:ext>
              </a:extLst>
            </p:cNvPr>
            <p:cNvSpPr txBox="1"/>
            <p:nvPr/>
          </p:nvSpPr>
          <p:spPr>
            <a:xfrm>
              <a:off x="7972567" y="3465223"/>
              <a:ext cx="2893325" cy="41549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100" dirty="0"/>
                <a:t>Feature Implementation</a:t>
              </a:r>
            </a:p>
          </p:txBody>
        </p:sp>
        <p:sp>
          <p:nvSpPr>
            <p:cNvPr id="28" name="Right Arrow 27">
              <a:extLst>
                <a:ext uri="{FF2B5EF4-FFF2-40B4-BE49-F238E27FC236}">
                  <a16:creationId xmlns:a16="http://schemas.microsoft.com/office/drawing/2014/main" id="{DD84C314-6D44-62E5-FEAA-D092BE064560}"/>
                </a:ext>
              </a:extLst>
            </p:cNvPr>
            <p:cNvSpPr/>
            <p:nvPr/>
          </p:nvSpPr>
          <p:spPr>
            <a:xfrm rot="5400000">
              <a:off x="8914263" y="312967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ight Arrow 28">
              <a:extLst>
                <a:ext uri="{FF2B5EF4-FFF2-40B4-BE49-F238E27FC236}">
                  <a16:creationId xmlns:a16="http://schemas.microsoft.com/office/drawing/2014/main" id="{77EB5A4F-5A56-A4D1-9AC4-77E7794E46EE}"/>
                </a:ext>
              </a:extLst>
            </p:cNvPr>
            <p:cNvSpPr/>
            <p:nvPr/>
          </p:nvSpPr>
          <p:spPr>
            <a:xfrm rot="5400000">
              <a:off x="8933599" y="3946180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72C604D-BE96-2AE9-FB56-7DF36ABE2CFC}"/>
                </a:ext>
              </a:extLst>
            </p:cNvPr>
            <p:cNvSpPr txBox="1"/>
            <p:nvPr/>
          </p:nvSpPr>
          <p:spPr>
            <a:xfrm>
              <a:off x="7991903" y="4309025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Pull Request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4D279A-6B7F-5D4F-DB8A-64638D20B449}"/>
                </a:ext>
              </a:extLst>
            </p:cNvPr>
            <p:cNvSpPr txBox="1"/>
            <p:nvPr/>
          </p:nvSpPr>
          <p:spPr>
            <a:xfrm>
              <a:off x="7991902" y="5115296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CI + Coverage</a:t>
              </a:r>
            </a:p>
          </p:txBody>
        </p:sp>
        <p:sp>
          <p:nvSpPr>
            <p:cNvPr id="32" name="Right Arrow 31">
              <a:extLst>
                <a:ext uri="{FF2B5EF4-FFF2-40B4-BE49-F238E27FC236}">
                  <a16:creationId xmlns:a16="http://schemas.microsoft.com/office/drawing/2014/main" id="{B2AD3583-4698-AB50-B12F-25301604D03D}"/>
                </a:ext>
              </a:extLst>
            </p:cNvPr>
            <p:cNvSpPr/>
            <p:nvPr/>
          </p:nvSpPr>
          <p:spPr>
            <a:xfrm rot="5400000">
              <a:off x="8933598" y="477974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DB7F37A-4DC6-3021-D813-33736489D025}"/>
                </a:ext>
              </a:extLst>
            </p:cNvPr>
            <p:cNvSpPr txBox="1"/>
            <p:nvPr/>
          </p:nvSpPr>
          <p:spPr>
            <a:xfrm>
              <a:off x="7991902" y="5916413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Merge</a:t>
              </a:r>
            </a:p>
          </p:txBody>
        </p:sp>
        <p:sp>
          <p:nvSpPr>
            <p:cNvPr id="36" name="Right Arrow 35">
              <a:extLst>
                <a:ext uri="{FF2B5EF4-FFF2-40B4-BE49-F238E27FC236}">
                  <a16:creationId xmlns:a16="http://schemas.microsoft.com/office/drawing/2014/main" id="{CAEA3049-B873-3933-E350-4877A7DFC226}"/>
                </a:ext>
              </a:extLst>
            </p:cNvPr>
            <p:cNvSpPr/>
            <p:nvPr/>
          </p:nvSpPr>
          <p:spPr>
            <a:xfrm rot="5400000">
              <a:off x="8933598" y="558086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7EB3F8CD-CA6B-8A0D-1B2E-9936EDF7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45935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24FFCAC-EA38-1B9E-A257-9905C0AC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Is About Controlling Change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1BA17-02BE-27D8-C2B0-05AFEA1FA398}"/>
              </a:ext>
            </a:extLst>
          </p:cNvPr>
          <p:cNvSpPr txBox="1"/>
          <p:nvPr/>
        </p:nvSpPr>
        <p:spPr>
          <a:xfrm>
            <a:off x="736980" y="1061227"/>
            <a:ext cx="90348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GB" sz="2400" dirty="0"/>
              <a:t>What will change most often in this system?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If I add a new feature, how many classes must I modify?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Does this design make testing easy?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Can this system evolve through small pull requests?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C9A105-159C-1DAA-AD96-2E143E947D8A}"/>
              </a:ext>
            </a:extLst>
          </p:cNvPr>
          <p:cNvGrpSpPr/>
          <p:nvPr/>
        </p:nvGrpSpPr>
        <p:grpSpPr>
          <a:xfrm>
            <a:off x="375314" y="3010649"/>
            <a:ext cx="5815467" cy="1459732"/>
            <a:chOff x="375314" y="3010649"/>
            <a:chExt cx="5815467" cy="1459732"/>
          </a:xfrm>
        </p:grpSpPr>
        <p:pic>
          <p:nvPicPr>
            <p:cNvPr id="10" name="Picture 9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39FF7F00-D08E-6AB5-6E39-C7FE58066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314" y="3379981"/>
              <a:ext cx="5815467" cy="1090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9D3DEE-493A-BB9C-42FA-ECDDFD05F7A6}"/>
                </a:ext>
              </a:extLst>
            </p:cNvPr>
            <p:cNvSpPr txBox="1"/>
            <p:nvPr/>
          </p:nvSpPr>
          <p:spPr>
            <a:xfrm>
              <a:off x="959893" y="3010649"/>
              <a:ext cx="24656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BAD DESIGN (Tangled)</a:t>
              </a:r>
              <a:endParaRPr lang="en-US" b="1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C72F8D9-832F-2517-C381-C1925AC80A7A}"/>
              </a:ext>
            </a:extLst>
          </p:cNvPr>
          <p:cNvGrpSpPr/>
          <p:nvPr/>
        </p:nvGrpSpPr>
        <p:grpSpPr>
          <a:xfrm>
            <a:off x="7624927" y="2581651"/>
            <a:ext cx="3607180" cy="2699529"/>
            <a:chOff x="7624927" y="2581651"/>
            <a:chExt cx="3607180" cy="2699529"/>
          </a:xfrm>
        </p:grpSpPr>
        <p:pic>
          <p:nvPicPr>
            <p:cNvPr id="12" name="Picture 11" descr="A screenshot of a computer program&#10;&#10;AI-generated content may be incorrect.">
              <a:extLst>
                <a:ext uri="{FF2B5EF4-FFF2-40B4-BE49-F238E27FC236}">
                  <a16:creationId xmlns:a16="http://schemas.microsoft.com/office/drawing/2014/main" id="{CEB5E5E4-E427-0D98-EAD5-C714BD14F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24927" y="2917855"/>
              <a:ext cx="3607180" cy="236332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3B8118-19B1-BE9F-0A6E-F42D3C463E6D}"/>
                </a:ext>
              </a:extLst>
            </p:cNvPr>
            <p:cNvSpPr txBox="1"/>
            <p:nvPr/>
          </p:nvSpPr>
          <p:spPr>
            <a:xfrm>
              <a:off x="8045355" y="2581651"/>
              <a:ext cx="30457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GOOD DESIGN (Layered)</a:t>
              </a:r>
              <a:endParaRPr lang="en-US" b="1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2594BB5-AB55-7517-076E-FBF8ED7F30D4}"/>
              </a:ext>
            </a:extLst>
          </p:cNvPr>
          <p:cNvSpPr txBox="1"/>
          <p:nvPr/>
        </p:nvSpPr>
        <p:spPr>
          <a:xfrm>
            <a:off x="375314" y="4655047"/>
            <a:ext cx="430586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One change spreads everywhere.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Overdue feature changes 6 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4A41F-65E6-E996-FDAD-385927EEE0F0}"/>
              </a:ext>
            </a:extLst>
          </p:cNvPr>
          <p:cNvSpPr txBox="1"/>
          <p:nvPr/>
        </p:nvSpPr>
        <p:spPr>
          <a:xfrm>
            <a:off x="7624927" y="5281180"/>
            <a:ext cx="39373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One Change stays local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Changes 1 or 2 classes</a:t>
            </a:r>
            <a:endParaRPr lang="en-US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A8DEA5-3276-08F7-B187-8B82B7F20309}"/>
              </a:ext>
            </a:extLst>
          </p:cNvPr>
          <p:cNvSpPr txBox="1"/>
          <p:nvPr/>
        </p:nvSpPr>
        <p:spPr>
          <a:xfrm>
            <a:off x="4922293" y="2803520"/>
            <a:ext cx="2461523" cy="3693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Book overdue feature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E9FD2-FF1F-C3E6-0A1C-A55C551A12BA}"/>
              </a:ext>
            </a:extLst>
          </p:cNvPr>
          <p:cNvSpPr txBox="1"/>
          <p:nvPr/>
        </p:nvSpPr>
        <p:spPr>
          <a:xfrm>
            <a:off x="6520783" y="6096788"/>
            <a:ext cx="5295903" cy="461665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Layered design → small PRs → stable CI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13C402-E884-97B0-657B-148F490B1DB9}"/>
              </a:ext>
            </a:extLst>
          </p:cNvPr>
          <p:cNvSpPr txBox="1"/>
          <p:nvPr/>
        </p:nvSpPr>
        <p:spPr>
          <a:xfrm>
            <a:off x="375314" y="5635123"/>
            <a:ext cx="5156957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Tangled design → large PRs → fragile CI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6F8046B-1E42-B271-7F5A-1EDDAF2B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4560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 animBg="1"/>
      <p:bldP spid="22" grpId="0"/>
      <p:bldP spid="2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8668-5C3C-410D-9F8E-0E6EDC14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A96B6F-7A70-31FD-D3C8-4AB8C60C5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before You Code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CB110-AE9B-4A0E-BF40-5232D5BC6F44}"/>
              </a:ext>
            </a:extLst>
          </p:cNvPr>
          <p:cNvSpPr txBox="1"/>
          <p:nvPr/>
        </p:nvSpPr>
        <p:spPr>
          <a:xfrm>
            <a:off x="838200" y="1280160"/>
            <a:ext cx="949452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Before Opening a Pull Request, Ask: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requirement / issue does this PR address?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type of PR is this?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Feature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Refactor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Test-only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CI / Config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structure (classes, responsibilities)?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</a:t>
            </a:r>
            <a:r>
              <a:rPr lang="en-GB" sz="2400" dirty="0" err="1"/>
              <a:t>behavior</a:t>
            </a:r>
            <a:r>
              <a:rPr lang="en-GB" sz="2400" dirty="0"/>
              <a:t> (interactions between objects)?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Is this change localized to a coherent part of the system?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Do I need to update a diagram or design artifact?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EB41D7C-17F6-E41C-B0FE-960ABDDF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6</a:t>
            </a:fld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C500C-DE12-5A6C-9A1D-941B550E7F3A}"/>
              </a:ext>
            </a:extLst>
          </p:cNvPr>
          <p:cNvSpPr txBox="1"/>
          <p:nvPr/>
        </p:nvSpPr>
        <p:spPr>
          <a:xfrm>
            <a:off x="1367028" y="5954137"/>
            <a:ext cx="8965692" cy="584775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3200" b="1" dirty="0"/>
              <a:t>If architecture changes, the design must reflect it.</a:t>
            </a:r>
          </a:p>
        </p:txBody>
      </p:sp>
    </p:spTree>
    <p:extLst>
      <p:ext uri="{BB962C8B-B14F-4D97-AF65-F5344CB8AC3E}">
        <p14:creationId xmlns:p14="http://schemas.microsoft.com/office/powerpoint/2010/main" val="43720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0B5F5-A648-5D2C-99A2-7EB1F8663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01EE0F-F268-0E91-149B-CCD24D6B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Which Diagram Do I Need Before My PR?</a:t>
            </a:r>
            <a:endParaRPr lang="en-GB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A25B946-270B-EA9D-B257-9C718EE09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7</a:t>
            </a:fld>
            <a:endParaRPr lang="en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3CECE0-78F5-FF83-B704-5E2B0D3BBEB0}"/>
              </a:ext>
            </a:extLst>
          </p:cNvPr>
          <p:cNvSpPr txBox="1"/>
          <p:nvPr/>
        </p:nvSpPr>
        <p:spPr>
          <a:xfrm>
            <a:off x="306324" y="1320557"/>
            <a:ext cx="5789676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STRUCTURAL CHANGE</a:t>
            </a:r>
          </a:p>
          <a:p>
            <a:pPr>
              <a:buNone/>
            </a:pPr>
            <a:r>
              <a:rPr lang="en-GB" sz="2400" b="1" dirty="0"/>
              <a:t>(DP II – Design Model)</a:t>
            </a:r>
            <a:endParaRPr lang="en-GB" sz="2400" dirty="0"/>
          </a:p>
          <a:p>
            <a:pPr>
              <a:buNone/>
            </a:pPr>
            <a:r>
              <a:rPr lang="en-GB" sz="2400" dirty="0"/>
              <a:t>→ Update </a:t>
            </a:r>
            <a:r>
              <a:rPr lang="en-GB" sz="2400" b="1" dirty="0"/>
              <a:t>Class Diagram</a:t>
            </a:r>
            <a:endParaRPr lang="en-GB" sz="2400" dirty="0"/>
          </a:p>
          <a:p>
            <a:pPr>
              <a:buNone/>
            </a:pPr>
            <a:r>
              <a:rPr lang="en-GB" sz="2800" b="1" dirty="0"/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Add </a:t>
            </a:r>
            <a:r>
              <a:rPr lang="en-GB" sz="2400" dirty="0" err="1">
                <a:latin typeface="Courier New" panose="02070309020205020404" pitchFamily="49" charset="0"/>
              </a:rPr>
              <a:t>FinePolicy</a:t>
            </a:r>
            <a:endParaRPr lang="en-GB" sz="2400" dirty="0">
              <a:latin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Split </a:t>
            </a:r>
            <a:r>
              <a:rPr lang="en-GB" sz="2200" dirty="0" err="1">
                <a:latin typeface="Courier New" panose="02070309020205020404" pitchFamily="49" charset="0"/>
              </a:rPr>
              <a:t>LibraryService</a:t>
            </a:r>
            <a:r>
              <a:rPr lang="en-GB" sz="2200" dirty="0"/>
              <a:t> into two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Introduce new interface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relationships between classes</a:t>
            </a:r>
          </a:p>
          <a:p>
            <a:pPr>
              <a:buNone/>
            </a:pPr>
            <a:r>
              <a:rPr lang="en-GB" sz="2800" b="1" i="1" dirty="0"/>
              <a:t>Question to ask:</a:t>
            </a:r>
          </a:p>
          <a:p>
            <a:pPr lvl="1"/>
            <a:r>
              <a:rPr lang="en-GB" sz="2200" dirty="0"/>
              <a:t>Am I changing the structure of the system?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DDE72-B32C-BFD1-230D-9BA0444C0EFB}"/>
              </a:ext>
            </a:extLst>
          </p:cNvPr>
          <p:cNvSpPr txBox="1"/>
          <p:nvPr/>
        </p:nvSpPr>
        <p:spPr>
          <a:xfrm>
            <a:off x="6092952" y="1320557"/>
            <a:ext cx="609904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BEHAVIORAL CHANGE</a:t>
            </a:r>
          </a:p>
          <a:p>
            <a:r>
              <a:rPr lang="en-GB" sz="2400" b="1" dirty="0"/>
              <a:t>(DP I – Domain </a:t>
            </a:r>
            <a:r>
              <a:rPr lang="en-GB" sz="2400" b="1" dirty="0" err="1"/>
              <a:t>Behavior</a:t>
            </a:r>
            <a:r>
              <a:rPr lang="en-GB" sz="2400" b="1" dirty="0"/>
              <a:t>)</a:t>
            </a:r>
            <a:endParaRPr lang="en-GB" sz="2400" dirty="0"/>
          </a:p>
          <a:p>
            <a:r>
              <a:rPr lang="en-GB" sz="2400" dirty="0"/>
              <a:t>→ Draw / Update </a:t>
            </a:r>
            <a:r>
              <a:rPr lang="en-GB" sz="2400" b="1" dirty="0"/>
              <a:t>Sequence Diagram</a:t>
            </a:r>
            <a:endParaRPr lang="en-GB" sz="2400" dirty="0"/>
          </a:p>
          <a:p>
            <a:r>
              <a:rPr lang="en-GB" sz="2800" b="1" dirty="0"/>
              <a:t>Examples: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new borrow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return-with-fine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reservation approval process</a:t>
            </a:r>
          </a:p>
          <a:p>
            <a:r>
              <a:rPr lang="en-GB" sz="2800" b="1" i="1" dirty="0"/>
              <a:t>Question to ask:</a:t>
            </a:r>
            <a:endParaRPr lang="en-GB" sz="2800" b="1" dirty="0"/>
          </a:p>
          <a:p>
            <a:pPr lvl="1"/>
            <a:r>
              <a:rPr lang="en-GB" sz="2800" dirty="0"/>
              <a:t>Am I changing how objects interact?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D328E6-AC29-0678-20AB-0B7899D7E0BC}"/>
              </a:ext>
            </a:extLst>
          </p:cNvPr>
          <p:cNvCxnSpPr>
            <a:cxnSpLocks/>
          </p:cNvCxnSpPr>
          <p:nvPr/>
        </p:nvCxnSpPr>
        <p:spPr>
          <a:xfrm>
            <a:off x="5852160" y="1320557"/>
            <a:ext cx="0" cy="40726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8C958F4-A7D2-53B2-9AC0-F63992D626B8}"/>
              </a:ext>
            </a:extLst>
          </p:cNvPr>
          <p:cNvSpPr txBox="1"/>
          <p:nvPr/>
        </p:nvSpPr>
        <p:spPr>
          <a:xfrm>
            <a:off x="1862330" y="5833130"/>
            <a:ext cx="8214358" cy="5232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dirty="0"/>
              <a:t>Major architectural change → Update both diagrams</a:t>
            </a:r>
          </a:p>
        </p:txBody>
      </p:sp>
    </p:spTree>
    <p:extLst>
      <p:ext uri="{BB962C8B-B14F-4D97-AF65-F5344CB8AC3E}">
        <p14:creationId xmlns:p14="http://schemas.microsoft.com/office/powerpoint/2010/main" val="80404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6C33A-C7CB-C25F-DB78-B6B098F23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8132782-3A35-AB57-0DD7-F1A997333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Which Diagram Do I Need Before My PR?</a:t>
            </a:r>
            <a:endParaRPr lang="en-GB" dirty="0"/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AA755C5-5F5F-203C-A2ED-8558233EC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511" y="1064525"/>
            <a:ext cx="5757983" cy="4580214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2096AF5A-2021-706D-6D02-74CE855D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806" y="1064525"/>
            <a:ext cx="3176016" cy="578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C27DE0-0DE0-7FA5-D742-E2F686F2ED28}"/>
              </a:ext>
            </a:extLst>
          </p:cNvPr>
          <p:cNvSpPr txBox="1"/>
          <p:nvPr/>
        </p:nvSpPr>
        <p:spPr>
          <a:xfrm>
            <a:off x="4519625" y="6010860"/>
            <a:ext cx="6834175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Design changes must be visible before code changes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196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3AA2D-010E-DD16-BB32-786E16F71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51741D5-4469-65B4-E6AB-1840E0AA0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Think of Google Maps</a:t>
            </a:r>
            <a:endParaRPr lang="en-GB" dirty="0"/>
          </a:p>
        </p:txBody>
      </p:sp>
      <p:pic>
        <p:nvPicPr>
          <p:cNvPr id="7" name="Picture 6" descr="A map of a city and street&#10;&#10;AI-generated content may be incorrect.">
            <a:extLst>
              <a:ext uri="{FF2B5EF4-FFF2-40B4-BE49-F238E27FC236}">
                <a16:creationId xmlns:a16="http://schemas.microsoft.com/office/drawing/2014/main" id="{BB495570-ECF0-F1D3-E4D8-558505EE82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81" b="3405"/>
          <a:stretch>
            <a:fillRect/>
          </a:stretch>
        </p:blipFill>
        <p:spPr>
          <a:xfrm>
            <a:off x="1814285" y="1951856"/>
            <a:ext cx="7772400" cy="35345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EEB512-E9D4-4662-0E45-AC86FAE99E4F}"/>
              </a:ext>
            </a:extLst>
          </p:cNvPr>
          <p:cNvSpPr txBox="1"/>
          <p:nvPr/>
        </p:nvSpPr>
        <p:spPr>
          <a:xfrm>
            <a:off x="1814286" y="989881"/>
            <a:ext cx="3074956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System = City</a:t>
            </a:r>
          </a:p>
          <a:p>
            <a:r>
              <a:rPr lang="en-US" sz="2400" dirty="0"/>
              <a:t>Your PR = One Street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19D6EC-BC12-6351-7B35-9DC3801647C6}"/>
              </a:ext>
            </a:extLst>
          </p:cNvPr>
          <p:cNvSpPr txBox="1"/>
          <p:nvPr/>
        </p:nvSpPr>
        <p:spPr>
          <a:xfrm>
            <a:off x="838200" y="5793475"/>
            <a:ext cx="10731759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You do </a:t>
            </a:r>
            <a:r>
              <a:rPr lang="en-GB" sz="2400" b="1" dirty="0"/>
              <a:t>NOT</a:t>
            </a:r>
            <a:r>
              <a:rPr lang="en-GB" sz="2400" dirty="0"/>
              <a:t> redraw the entire system.</a:t>
            </a:r>
            <a:br>
              <a:rPr lang="en-GB" sz="2400" dirty="0"/>
            </a:br>
            <a:r>
              <a:rPr lang="en-GB" sz="2400" dirty="0"/>
              <a:t>You show only the </a:t>
            </a:r>
            <a:r>
              <a:rPr lang="en-GB" sz="2400" b="1" dirty="0"/>
              <a:t>part your PR changes</a:t>
            </a:r>
            <a:r>
              <a:rPr lang="en-GB" sz="2400" dirty="0"/>
              <a:t> — but it must clearly fit back into the whole.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143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D1A0-AF78-3BC3-121E-BBAC0DF32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4D2277-EA92-FF04-847B-85958D92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1AB91A-4B11-CF8E-D9F8-5E7B42732E31}"/>
              </a:ext>
            </a:extLst>
          </p:cNvPr>
          <p:cNvSpPr txBox="1"/>
          <p:nvPr/>
        </p:nvSpPr>
        <p:spPr>
          <a:xfrm>
            <a:off x="1814286" y="989881"/>
            <a:ext cx="3074956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System = City</a:t>
            </a:r>
          </a:p>
          <a:p>
            <a:r>
              <a:rPr lang="en-US" sz="2400" dirty="0"/>
              <a:t>Your PR = One Street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9B124-BA37-6C74-A320-5761DB98F15B}"/>
              </a:ext>
            </a:extLst>
          </p:cNvPr>
          <p:cNvSpPr txBox="1"/>
          <p:nvPr/>
        </p:nvSpPr>
        <p:spPr>
          <a:xfrm>
            <a:off x="345233" y="2390244"/>
            <a:ext cx="70259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GitHub Issue:</a:t>
            </a:r>
          </a:p>
          <a:p>
            <a:pPr>
              <a:buNone/>
            </a:pPr>
            <a:r>
              <a:rPr lang="en-GB" sz="2300" b="1" dirty="0"/>
              <a:t>Issue #42 </a:t>
            </a:r>
            <a:r>
              <a:rPr lang="en-GB" sz="2300" dirty="0"/>
              <a:t>– Add Traffic Light Support to Streets</a:t>
            </a:r>
          </a:p>
          <a:p>
            <a:pPr>
              <a:buNone/>
            </a:pPr>
            <a:r>
              <a:rPr lang="en-GB" sz="2300" b="1" dirty="0"/>
              <a:t>Requirement: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The system must support traffic lights on streets.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Each Street can have multiple Traffic Lights.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Traffic Lights must: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Have a location (latitude, longitude)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Have a status (RED, YELLOW, GREEN)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Be changeable dynamically</a:t>
            </a:r>
            <a:endParaRPr lang="en-GB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6CBBAF4-D3B3-3333-2A2C-550332748EC4}"/>
              </a:ext>
            </a:extLst>
          </p:cNvPr>
          <p:cNvCxnSpPr>
            <a:cxnSpLocks/>
          </p:cNvCxnSpPr>
          <p:nvPr/>
        </p:nvCxnSpPr>
        <p:spPr>
          <a:xfrm>
            <a:off x="6805904" y="1820878"/>
            <a:ext cx="0" cy="45799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9367D0-76E5-D027-5450-3FDDD82F9DA1}"/>
              </a:ext>
            </a:extLst>
          </p:cNvPr>
          <p:cNvSpPr txBox="1"/>
          <p:nvPr/>
        </p:nvSpPr>
        <p:spPr>
          <a:xfrm>
            <a:off x="6945863" y="1861116"/>
            <a:ext cx="468396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Are we redesigning the entire city?</a:t>
            </a:r>
          </a:p>
          <a:p>
            <a:pPr lvl="1"/>
            <a:r>
              <a:rPr lang="en-GB" sz="2000" dirty="0"/>
              <a:t>We are modifying one street and introducing a new element inside it.</a:t>
            </a:r>
          </a:p>
          <a:p>
            <a:pPr lvl="1"/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Does this change structure?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Does this change </a:t>
            </a:r>
            <a:r>
              <a:rPr lang="en-GB" sz="2400" dirty="0" err="1"/>
              <a:t>behavior</a:t>
            </a:r>
            <a:r>
              <a:rPr lang="en-GB" sz="2400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Which diagram do we need?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b="1" dirty="0"/>
              <a:t>New class</a:t>
            </a:r>
            <a:r>
              <a:rPr lang="en-GB" dirty="0"/>
              <a:t>: </a:t>
            </a:r>
            <a:r>
              <a:rPr lang="en-GB" dirty="0" err="1"/>
              <a:t>TrafficLight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b="1" dirty="0"/>
              <a:t>New relationship</a:t>
            </a:r>
            <a:r>
              <a:rPr lang="en-GB" dirty="0"/>
              <a:t>: Street → </a:t>
            </a:r>
            <a:r>
              <a:rPr lang="en-GB" dirty="0" err="1"/>
              <a:t>TrafficLight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b="1" dirty="0"/>
              <a:t>New interaction</a:t>
            </a:r>
            <a:r>
              <a:rPr lang="en-GB" dirty="0"/>
              <a:t>: Change light 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D19E5B-106B-D3A8-AEC8-E52A86C84D1B}"/>
              </a:ext>
            </a:extLst>
          </p:cNvPr>
          <p:cNvSpPr txBox="1"/>
          <p:nvPr/>
        </p:nvSpPr>
        <p:spPr>
          <a:xfrm>
            <a:off x="6945863" y="5381529"/>
            <a:ext cx="49008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Both diagrams are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Structural change → Class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Behavioral</a:t>
            </a:r>
            <a:r>
              <a:rPr lang="en-GB" dirty="0"/>
              <a:t> change → Sequence Diagram (light change)</a:t>
            </a:r>
          </a:p>
        </p:txBody>
      </p:sp>
    </p:spTree>
    <p:extLst>
      <p:ext uri="{BB962C8B-B14F-4D97-AF65-F5344CB8AC3E}">
        <p14:creationId xmlns:p14="http://schemas.microsoft.com/office/powerpoint/2010/main" val="163866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9EED-32A4-BB62-3F8D-5BEABEBE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7B791-307F-2F59-74E0-8F0ECAB11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11</a:t>
            </a:fld>
            <a:endParaRPr lang="en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5DD6C8-92F3-285E-2A78-6F31A26F463E}"/>
              </a:ext>
            </a:extLst>
          </p:cNvPr>
          <p:cNvSpPr txBox="1"/>
          <p:nvPr/>
        </p:nvSpPr>
        <p:spPr>
          <a:xfrm>
            <a:off x="4435380" y="4784586"/>
            <a:ext cx="7756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 → Street :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updateTraffic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Controller starts the process. It tells the Street: update your traffic.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Street →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</a:t>
            </a:r>
          </a:p>
          <a:p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b="1" dirty="0"/>
              <a:t> receives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 → GREEN → YELLOW → RED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7E12C37-5B2C-89F9-79D5-06CD94A2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30642E-682D-65FC-BBE6-5DB6FDF20831}"/>
              </a:ext>
            </a:extLst>
          </p:cNvPr>
          <p:cNvSpPr txBox="1"/>
          <p:nvPr/>
        </p:nvSpPr>
        <p:spPr>
          <a:xfrm>
            <a:off x="223934" y="4784586"/>
            <a:ext cx="380689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Changes: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class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Street</a:t>
            </a:r>
            <a:r>
              <a:rPr lang="en-US" dirty="0"/>
              <a:t> now contains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0..* 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</a:t>
            </a:r>
            <a:r>
              <a:rPr lang="en-US" dirty="0"/>
              <a:t> unchanged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BF81A-1C9F-93F8-E301-A06BFB75B04A}"/>
              </a:ext>
            </a:extLst>
          </p:cNvPr>
          <p:cNvSpPr txBox="1"/>
          <p:nvPr/>
        </p:nvSpPr>
        <p:spPr>
          <a:xfrm>
            <a:off x="771296" y="1317762"/>
            <a:ext cx="2043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Class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C3BB3-A861-0603-5854-1A3321684268}"/>
              </a:ext>
            </a:extLst>
          </p:cNvPr>
          <p:cNvSpPr txBox="1"/>
          <p:nvPr/>
        </p:nvSpPr>
        <p:spPr>
          <a:xfrm>
            <a:off x="5868137" y="998469"/>
            <a:ext cx="2865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Diagram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A3B694D-6DD5-BCAA-A0AD-8989A3DE01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96" y="1662595"/>
            <a:ext cx="2043979" cy="2963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F3AB9450-593D-F8C0-443F-E0ABD07CB1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5308915" y="1460134"/>
            <a:ext cx="4189649" cy="341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651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19AA-30DA-1E13-989B-223129BB3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21AE1-385E-5DC3-C5A2-5881DD36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12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1EE1B-A505-E952-BF87-58DCD585D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Anatomy of a Well-Designed PR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8C37FD-92CD-133E-7837-6E984EC2C90E}"/>
              </a:ext>
            </a:extLst>
          </p:cNvPr>
          <p:cNvSpPr txBox="1"/>
          <p:nvPr/>
        </p:nvSpPr>
        <p:spPr>
          <a:xfrm>
            <a:off x="408991" y="1443841"/>
            <a:ext cx="50214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dirty="0"/>
              <a:t>PR must contain:</a:t>
            </a:r>
            <a:endParaRPr lang="en-GB" sz="2800" dirty="0"/>
          </a:p>
          <a:p>
            <a:pPr>
              <a:buNone/>
            </a:pPr>
            <a:r>
              <a:rPr lang="en-GB" sz="2800" dirty="0"/>
              <a:t>• Linked issue</a:t>
            </a:r>
            <a:br>
              <a:rPr lang="en-GB" sz="2800" dirty="0"/>
            </a:br>
            <a:r>
              <a:rPr lang="en-GB" sz="2800" dirty="0"/>
              <a:t>• Clear requirement description</a:t>
            </a:r>
            <a:br>
              <a:rPr lang="en-GB" sz="2800" dirty="0"/>
            </a:br>
            <a:r>
              <a:rPr lang="en-GB" sz="2800" dirty="0"/>
              <a:t>• Relevant diagram(s)</a:t>
            </a:r>
            <a:br>
              <a:rPr lang="en-GB" sz="2800" dirty="0"/>
            </a:br>
            <a:r>
              <a:rPr lang="en-GB" sz="2800" dirty="0"/>
              <a:t>• Small, focused change</a:t>
            </a:r>
            <a:br>
              <a:rPr lang="en-GB" sz="2800" dirty="0"/>
            </a:br>
            <a:r>
              <a:rPr lang="en-GB" sz="2800" dirty="0"/>
              <a:t>• Tests</a:t>
            </a:r>
            <a:br>
              <a:rPr lang="en-GB" sz="2800" dirty="0"/>
            </a:br>
            <a:r>
              <a:rPr lang="en-GB" sz="2800" dirty="0"/>
              <a:t>• Passing CI</a:t>
            </a:r>
            <a:br>
              <a:rPr lang="en-GB" sz="2800" dirty="0"/>
            </a:br>
            <a:r>
              <a:rPr lang="en-GB" sz="2800" dirty="0"/>
              <a:t>• No coverage drop</a:t>
            </a:r>
          </a:p>
          <a:p>
            <a:pPr>
              <a:buNone/>
            </a:pP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EF08F9-516C-DDAE-CA0C-8CDE7456A738}"/>
              </a:ext>
            </a:extLst>
          </p:cNvPr>
          <p:cNvSpPr txBox="1"/>
          <p:nvPr/>
        </p:nvSpPr>
        <p:spPr>
          <a:xfrm>
            <a:off x="1013926" y="5954137"/>
            <a:ext cx="9843796" cy="58477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A PR is a design proposal — not just a code submission.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C6B2F4-D21B-BD2D-82F9-F965132F71FF}"/>
              </a:ext>
            </a:extLst>
          </p:cNvPr>
          <p:cNvSpPr txBox="1"/>
          <p:nvPr/>
        </p:nvSpPr>
        <p:spPr>
          <a:xfrm>
            <a:off x="6761584" y="1592768"/>
            <a:ext cx="502142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What This Looks Like in Practice:</a:t>
            </a:r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PR title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Requirement paragraph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Design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Diagram reference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CI green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4991-8AC2-97D5-2A78-41CF69C35B4A}"/>
              </a:ext>
            </a:extLst>
          </p:cNvPr>
          <p:cNvCxnSpPr/>
          <p:nvPr/>
        </p:nvCxnSpPr>
        <p:spPr>
          <a:xfrm>
            <a:off x="5728996" y="1443841"/>
            <a:ext cx="0" cy="39703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569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3D93C-344C-2ADB-0989-8E07CF35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6BFE9-8520-F57F-2753-933E25791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13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1A68928-5CF7-4C67-FA9D-5BEE2A0B7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Lights to a Street</a:t>
            </a:r>
            <a:endParaRPr lang="en-GB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3E80DFE-B9C9-6BE1-80AD-4AE921731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399" y="1011317"/>
            <a:ext cx="4304003" cy="53982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3543BC-FB0E-76A7-2AA8-7BE825017125}"/>
              </a:ext>
            </a:extLst>
          </p:cNvPr>
          <p:cNvSpPr txBox="1"/>
          <p:nvPr/>
        </p:nvSpPr>
        <p:spPr>
          <a:xfrm>
            <a:off x="5934269" y="2719133"/>
            <a:ext cx="5990253" cy="95410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/>
              <a:t>This PR explains </a:t>
            </a:r>
            <a:r>
              <a:rPr lang="en-US" sz="2800" b="1" dirty="0"/>
              <a:t>WHAT</a:t>
            </a:r>
            <a:r>
              <a:rPr lang="en-US" sz="2800" dirty="0"/>
              <a:t> changed and </a:t>
            </a:r>
            <a:r>
              <a:rPr lang="en-US" sz="2800" b="1" dirty="0"/>
              <a:t>WHY</a:t>
            </a:r>
            <a:r>
              <a:rPr lang="en-US" sz="2800" dirty="0"/>
              <a:t> — before anyone reads the code.</a:t>
            </a:r>
          </a:p>
        </p:txBody>
      </p:sp>
    </p:spTree>
    <p:extLst>
      <p:ext uri="{BB962C8B-B14F-4D97-AF65-F5344CB8AC3E}">
        <p14:creationId xmlns:p14="http://schemas.microsoft.com/office/powerpoint/2010/main" val="308269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BDB-93B6-E252-AAD5-E23216A1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0B04D-A6B5-8274-DC47-9E3CD896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14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9993B525-2ADE-8122-CD76-DEDEBF1E5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What Happens When You Skip Design?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50B5F2C9-854E-0FB1-7A5D-C6014BA276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BD2460E5-C21C-0B1D-340E-8E583963EB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7653AF28-922C-2A58-50ED-65822C3DCB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97610CA2-F44E-B165-2D8D-02080860A1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6019C6-719A-0C7E-6BA7-2081F9D2CFDD}"/>
              </a:ext>
            </a:extLst>
          </p:cNvPr>
          <p:cNvGrpSpPr/>
          <p:nvPr/>
        </p:nvGrpSpPr>
        <p:grpSpPr>
          <a:xfrm>
            <a:off x="838200" y="1834541"/>
            <a:ext cx="3645159" cy="2884117"/>
            <a:chOff x="1156995" y="1865762"/>
            <a:chExt cx="6046237" cy="2821676"/>
          </a:xfrm>
        </p:grpSpPr>
        <p:pic>
          <p:nvPicPr>
            <p:cNvPr id="8" name="Picture 7" descr="A diagram of a traffic system&#10;&#10;AI-generated content may be incorrect.">
              <a:extLst>
                <a:ext uri="{FF2B5EF4-FFF2-40B4-BE49-F238E27FC236}">
                  <a16:creationId xmlns:a16="http://schemas.microsoft.com/office/drawing/2014/main" id="{8EABB1B3-8B5F-2937-EDF5-6CA65054F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445" t="17113" r="10765" b="28431"/>
            <a:stretch>
              <a:fillRect/>
            </a:stretch>
          </p:blipFill>
          <p:spPr>
            <a:xfrm>
              <a:off x="1156995" y="1865762"/>
              <a:ext cx="6046237" cy="2821676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BDF898-B882-EB33-A661-8E67E7F64B9A}"/>
                </a:ext>
              </a:extLst>
            </p:cNvPr>
            <p:cNvSpPr/>
            <p:nvPr/>
          </p:nvSpPr>
          <p:spPr>
            <a:xfrm>
              <a:off x="6248400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36658C-DA27-5EBC-1140-37FAF0728118}"/>
                </a:ext>
              </a:extLst>
            </p:cNvPr>
            <p:cNvSpPr/>
            <p:nvPr/>
          </p:nvSpPr>
          <p:spPr>
            <a:xfrm>
              <a:off x="1996751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2BE66B1-2654-EB0C-3A20-929A23CA0B4F}"/>
              </a:ext>
            </a:extLst>
          </p:cNvPr>
          <p:cNvSpPr txBox="1"/>
          <p:nvPr/>
        </p:nvSpPr>
        <p:spPr>
          <a:xfrm>
            <a:off x="558690" y="5075273"/>
            <a:ext cx="42041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clear boundary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“We’ll figure it out in code”</a:t>
            </a:r>
            <a:endParaRPr lang="en-US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C3589C-BE22-84DE-628B-BF792946FB51}"/>
              </a:ext>
            </a:extLst>
          </p:cNvPr>
          <p:cNvSpPr txBox="1"/>
          <p:nvPr/>
        </p:nvSpPr>
        <p:spPr>
          <a:xfrm>
            <a:off x="690467" y="1321063"/>
            <a:ext cx="37928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Messy/Tangled deign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CC78AE-0DC9-D440-5965-8B04809F1C53}"/>
              </a:ext>
            </a:extLst>
          </p:cNvPr>
          <p:cNvSpPr txBox="1"/>
          <p:nvPr/>
        </p:nvSpPr>
        <p:spPr>
          <a:xfrm>
            <a:off x="5952520" y="1321063"/>
            <a:ext cx="5700025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When You Skip Design…</a:t>
            </a:r>
          </a:p>
          <a:p>
            <a:r>
              <a:rPr lang="en-GB" sz="2800" dirty="0"/>
              <a:t>You don’t modify </a:t>
            </a:r>
            <a:r>
              <a:rPr lang="en-GB" sz="2800" b="1" dirty="0"/>
              <a:t>one street</a:t>
            </a:r>
            <a:r>
              <a:rPr lang="en-GB" sz="2800" dirty="0"/>
              <a:t>.</a:t>
            </a:r>
          </a:p>
          <a:p>
            <a:r>
              <a:rPr lang="en-GB" sz="2800" dirty="0"/>
              <a:t>You accidentally modify:</a:t>
            </a:r>
            <a:br>
              <a:rPr lang="en-GB" sz="2800" dirty="0"/>
            </a:br>
            <a:r>
              <a:rPr lang="en-GB" sz="2800" dirty="0"/>
              <a:t>• </a:t>
            </a:r>
            <a:r>
              <a:rPr lang="en-GB" sz="2400" dirty="0"/>
              <a:t>the street</a:t>
            </a:r>
            <a:br>
              <a:rPr lang="en-GB" sz="2400" dirty="0"/>
            </a:br>
            <a:r>
              <a:rPr lang="en-GB" sz="2400" dirty="0"/>
              <a:t>• the </a:t>
            </a:r>
            <a:r>
              <a:rPr lang="en-GB" sz="2400" dirty="0" err="1"/>
              <a:t>neighborhood</a:t>
            </a:r>
            <a:br>
              <a:rPr lang="en-GB" sz="2400" dirty="0"/>
            </a:br>
            <a:r>
              <a:rPr lang="en-GB" sz="2400" dirty="0"/>
              <a:t>• the traffic system</a:t>
            </a:r>
            <a:br>
              <a:rPr lang="en-GB" sz="2400" dirty="0"/>
            </a:br>
            <a:r>
              <a:rPr lang="en-GB" sz="2400" dirty="0"/>
              <a:t>• the city boundary</a:t>
            </a:r>
          </a:p>
          <a:p>
            <a:r>
              <a:rPr lang="en-GB" sz="2800" b="1" dirty="0"/>
              <a:t>Now your PR:</a:t>
            </a:r>
            <a:br>
              <a:rPr lang="en-GB" sz="2800" b="1" dirty="0"/>
            </a:br>
            <a:r>
              <a:rPr lang="en-GB" sz="2800" dirty="0"/>
              <a:t>• </a:t>
            </a:r>
            <a:r>
              <a:rPr lang="en-GB" sz="2400" dirty="0"/>
              <a:t>touches unrelated classes</a:t>
            </a:r>
            <a:br>
              <a:rPr lang="en-GB" sz="2400" dirty="0"/>
            </a:br>
            <a:r>
              <a:rPr lang="en-GB" sz="2400" dirty="0"/>
              <a:t>• breaks existing </a:t>
            </a:r>
            <a:r>
              <a:rPr lang="en-GB" sz="2400" dirty="0" err="1"/>
              <a:t>behavior</a:t>
            </a:r>
            <a:br>
              <a:rPr lang="en-GB" sz="2400" dirty="0"/>
            </a:br>
            <a:r>
              <a:rPr lang="en-GB" sz="2400" dirty="0"/>
              <a:t>• increases merge conflicts</a:t>
            </a:r>
            <a:br>
              <a:rPr lang="en-GB" sz="2400" dirty="0"/>
            </a:br>
            <a:r>
              <a:rPr lang="en-GB" sz="2400" dirty="0"/>
              <a:t>• destabilizes CI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53F60B9-9140-9ED2-E85F-49D8251411F1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395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E88BC-313C-6FBB-1997-2121723D2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BFCF74-0780-2528-9FB6-D9DEF623C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15</a:t>
            </a:fld>
            <a:endParaRPr lang="en-BE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8451834-F87C-C7F5-DD4D-20B1EDB47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Maturity in Senior Projects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1099CC66-596E-5033-99D3-5F5AEFA108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47CBCA86-8755-E922-4DA8-77D678DAE5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DA7B8717-7E4C-714A-C527-1F10859E52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DB6AAA15-F4CE-D344-D09F-EECE8725C0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85521A-6C1E-6F4D-E740-A551419BA692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4EB11F2-7E09-1E9A-B5A9-0EF6BAC65EB8}"/>
              </a:ext>
            </a:extLst>
          </p:cNvPr>
          <p:cNvSpPr txBox="1"/>
          <p:nvPr/>
        </p:nvSpPr>
        <p:spPr>
          <a:xfrm>
            <a:off x="524070" y="2950458"/>
            <a:ext cx="40510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🔴 </a:t>
            </a:r>
            <a:r>
              <a:rPr lang="en-GB" sz="2800" b="1" dirty="0"/>
              <a:t>Level 1 — Reactive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first.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Diagram after (if at all).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ACA38B-1C12-D4EA-7CB4-F7426E88FBED}"/>
              </a:ext>
            </a:extLst>
          </p:cNvPr>
          <p:cNvSpPr txBox="1"/>
          <p:nvPr/>
        </p:nvSpPr>
        <p:spPr>
          <a:xfrm>
            <a:off x="387055" y="4700699"/>
            <a:ext cx="434045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🟠 </a:t>
            </a:r>
            <a:r>
              <a:rPr lang="en-GB" sz="2800" b="1" dirty="0"/>
              <a:t>Level 2 — Selective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only major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Small PRs skip design.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09A847-81D3-01AD-7586-612A90B5B85B}"/>
              </a:ext>
            </a:extLst>
          </p:cNvPr>
          <p:cNvSpPr txBox="1"/>
          <p:nvPr/>
        </p:nvSpPr>
        <p:spPr>
          <a:xfrm>
            <a:off x="5559490" y="1240315"/>
            <a:ext cx="5637237" cy="2492990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🟡 </a:t>
            </a:r>
            <a:r>
              <a:rPr lang="en-GB" sz="2800" b="1" dirty="0"/>
              <a:t>Level 3 — Intentional PR Design</a:t>
            </a:r>
            <a:endParaRPr lang="en-BE" sz="2800" b="1" dirty="0"/>
          </a:p>
          <a:p>
            <a:pPr>
              <a:buNone/>
            </a:pPr>
            <a:r>
              <a:rPr lang="en-GB" sz="2800" b="1" dirty="0"/>
              <a:t>Every meaningful PR: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structural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</a:t>
            </a:r>
            <a:r>
              <a:rPr lang="en-GB" sz="2400" dirty="0" err="1"/>
              <a:t>behavioral</a:t>
            </a:r>
            <a:r>
              <a:rPr lang="en-GB" sz="2400" dirty="0"/>
              <a:t>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Updates the correct diagram</a:t>
            </a:r>
          </a:p>
          <a:p>
            <a:pPr>
              <a:buNone/>
            </a:pPr>
            <a:r>
              <a:rPr lang="en-GB" sz="2800" b="1" dirty="0"/>
              <a:t>Senior Design Target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FECFED-048E-05B8-1116-2A61B66FE600}"/>
              </a:ext>
            </a:extLst>
          </p:cNvPr>
          <p:cNvSpPr txBox="1"/>
          <p:nvPr/>
        </p:nvSpPr>
        <p:spPr>
          <a:xfrm>
            <a:off x="5559490" y="3896921"/>
            <a:ext cx="61022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🟢 </a:t>
            </a:r>
            <a:r>
              <a:rPr lang="en-GB" sz="2800" b="1" dirty="0"/>
              <a:t>Level 4 — Architectural Stewardship</a:t>
            </a:r>
          </a:p>
          <a:p>
            <a:pPr>
              <a:buNone/>
            </a:pPr>
            <a:r>
              <a:rPr lang="en-GB" sz="2800" dirty="0"/>
              <a:t>Architecture evolves intentionally: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Refactor proactively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Protect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Reduce 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Improve design over time</a:t>
            </a:r>
          </a:p>
          <a:p>
            <a:r>
              <a:rPr lang="en-GB" sz="2400" b="1" dirty="0"/>
              <a:t>Senior engineers and architects do in industry.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5A1DFC-64F8-BC41-3AE6-039265CADD38}"/>
              </a:ext>
            </a:extLst>
          </p:cNvPr>
          <p:cNvSpPr txBox="1"/>
          <p:nvPr/>
        </p:nvSpPr>
        <p:spPr>
          <a:xfrm>
            <a:off x="242603" y="1326304"/>
            <a:ext cx="5095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There are four levels of design maturity in software projects.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03188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9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2EB04-CE5D-AFA8-3306-23F04B43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73BE8-FD66-0BB2-0936-97A6C4B5B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16</a:t>
            </a:fld>
            <a:endParaRPr lang="en-BE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C2E4353-5CDD-603D-D593-A235462F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Maturity in Senior Projects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4496E4CF-9B15-6E15-7B68-9EE44D491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5955B0B5-8F5A-A0BD-9002-478911A5E6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AF54452D-5D4A-EB63-AF39-8FF4C88FEF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AE7AD8FE-9F96-F5F7-6630-FA4736891C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402176-EFE2-F94E-EB30-855395B60985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58EBE92-225B-F409-7748-B54E7556A076}"/>
              </a:ext>
            </a:extLst>
          </p:cNvPr>
          <p:cNvSpPr txBox="1"/>
          <p:nvPr/>
        </p:nvSpPr>
        <p:spPr>
          <a:xfrm>
            <a:off x="524070" y="2950458"/>
            <a:ext cx="40510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🔴 </a:t>
            </a:r>
            <a:r>
              <a:rPr lang="en-GB" sz="2800" b="1" dirty="0"/>
              <a:t>Level 1 — Reactive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first.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Diagram after (if at all).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7F4D56-8803-15D6-918A-B647C3915D21}"/>
              </a:ext>
            </a:extLst>
          </p:cNvPr>
          <p:cNvSpPr txBox="1"/>
          <p:nvPr/>
        </p:nvSpPr>
        <p:spPr>
          <a:xfrm>
            <a:off x="387055" y="4700699"/>
            <a:ext cx="434045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🟠 </a:t>
            </a:r>
            <a:r>
              <a:rPr lang="en-GB" sz="2800" b="1" dirty="0"/>
              <a:t>Level 2 — Selective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only major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Small PRs skip design.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0D7E1B-5F31-7A7D-7771-2EAD59AC4A6E}"/>
              </a:ext>
            </a:extLst>
          </p:cNvPr>
          <p:cNvSpPr txBox="1"/>
          <p:nvPr/>
        </p:nvSpPr>
        <p:spPr>
          <a:xfrm>
            <a:off x="5559490" y="1240315"/>
            <a:ext cx="5637237" cy="2492990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🟡 </a:t>
            </a:r>
            <a:r>
              <a:rPr lang="en-GB" sz="2800" b="1" dirty="0"/>
              <a:t>Level 3 — Intentional PR Design</a:t>
            </a:r>
            <a:endParaRPr lang="en-BE" sz="2800" b="1" dirty="0"/>
          </a:p>
          <a:p>
            <a:pPr>
              <a:buNone/>
            </a:pPr>
            <a:r>
              <a:rPr lang="en-GB" sz="2800" b="1" dirty="0"/>
              <a:t>Every meaningful PR: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structural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</a:t>
            </a:r>
            <a:r>
              <a:rPr lang="en-GB" sz="2400" dirty="0" err="1"/>
              <a:t>behavioral</a:t>
            </a:r>
            <a:r>
              <a:rPr lang="en-GB" sz="2400" dirty="0"/>
              <a:t>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Updates the correct diagram</a:t>
            </a:r>
          </a:p>
          <a:p>
            <a:pPr>
              <a:buNone/>
            </a:pPr>
            <a:r>
              <a:rPr lang="en-GB" sz="2800" b="1" dirty="0"/>
              <a:t>Senior Design Target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87DCF-8989-1F89-C344-DE871982468C}"/>
              </a:ext>
            </a:extLst>
          </p:cNvPr>
          <p:cNvSpPr txBox="1"/>
          <p:nvPr/>
        </p:nvSpPr>
        <p:spPr>
          <a:xfrm>
            <a:off x="5559490" y="3896921"/>
            <a:ext cx="61022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🟢 </a:t>
            </a:r>
            <a:r>
              <a:rPr lang="en-GB" sz="2800" b="1" dirty="0"/>
              <a:t>Level 4 — Architectural Stewardship</a:t>
            </a:r>
          </a:p>
          <a:p>
            <a:pPr>
              <a:buNone/>
            </a:pPr>
            <a:r>
              <a:rPr lang="en-GB" sz="2800" dirty="0"/>
              <a:t>Architecture evolves intentionally: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Refactor proactively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Protect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Reduce 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Improve design over time</a:t>
            </a:r>
          </a:p>
          <a:p>
            <a:r>
              <a:rPr lang="en-GB" sz="2400" b="1" dirty="0"/>
              <a:t>Senior engineers and architects do in industry.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D293BE-284B-8205-059E-81234B4C56FC}"/>
              </a:ext>
            </a:extLst>
          </p:cNvPr>
          <p:cNvSpPr txBox="1"/>
          <p:nvPr/>
        </p:nvSpPr>
        <p:spPr>
          <a:xfrm>
            <a:off x="242603" y="1326304"/>
            <a:ext cx="5095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There are four levels of design maturity in software projects.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883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9" grpId="0" animBg="1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2F8-CD4F-2A70-3BEA-ECECD0B9B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AB4F0DC-65D4-AC10-56D2-F9E093900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Implementation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1D663-67F1-DF24-A477-7220DCE60808}"/>
              </a:ext>
            </a:extLst>
          </p:cNvPr>
          <p:cNvSpPr/>
          <p:nvPr/>
        </p:nvSpPr>
        <p:spPr>
          <a:xfrm>
            <a:off x="838200" y="1586204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Street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1CBE1A-6F49-90F5-8401-03039CE1768B}"/>
              </a:ext>
            </a:extLst>
          </p:cNvPr>
          <p:cNvSpPr/>
          <p:nvPr/>
        </p:nvSpPr>
        <p:spPr>
          <a:xfrm>
            <a:off x="838199" y="2501242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TrafficLight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669E0E-AF73-36EA-F1AC-ECCB3291CE41}"/>
              </a:ext>
            </a:extLst>
          </p:cNvPr>
          <p:cNvSpPr/>
          <p:nvPr/>
        </p:nvSpPr>
        <p:spPr>
          <a:xfrm>
            <a:off x="838199" y="3890867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</a:rPr>
              <a:t>Street.java</a:t>
            </a:r>
            <a:r>
              <a:rPr lang="en-US" sz="2000" dirty="0">
                <a:solidFill>
                  <a:sysClr val="windowText" lastClr="000000"/>
                </a:solidFill>
              </a:rPr>
              <a:t> (class Street)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6AD96C-D933-B5A1-5D35-205DF953A2E0}"/>
              </a:ext>
            </a:extLst>
          </p:cNvPr>
          <p:cNvSpPr/>
          <p:nvPr/>
        </p:nvSpPr>
        <p:spPr>
          <a:xfrm>
            <a:off x="838199" y="4926563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Traffic_light.java</a:t>
            </a:r>
            <a:r>
              <a:rPr lang="en-US" dirty="0">
                <a:solidFill>
                  <a:sysClr val="windowText" lastClr="000000"/>
                </a:solidFill>
              </a:rPr>
              <a:t> (class TrafficLight)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702203F-FB6A-8AD2-3E16-EEE2A7C6E533}"/>
              </a:ext>
            </a:extLst>
          </p:cNvPr>
          <p:cNvSpPr/>
          <p:nvPr/>
        </p:nvSpPr>
        <p:spPr>
          <a:xfrm rot="5400000">
            <a:off x="1166486" y="3434464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4EB32686-DD39-6131-F94B-5F18A36E309B}"/>
              </a:ext>
            </a:extLst>
          </p:cNvPr>
          <p:cNvSpPr/>
          <p:nvPr/>
        </p:nvSpPr>
        <p:spPr>
          <a:xfrm rot="5400000">
            <a:off x="2903691" y="3434146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A33E20-9E61-39F2-CA3C-37AE43455627}"/>
              </a:ext>
            </a:extLst>
          </p:cNvPr>
          <p:cNvSpPr txBox="1"/>
          <p:nvPr/>
        </p:nvSpPr>
        <p:spPr>
          <a:xfrm>
            <a:off x="1820564" y="3369686"/>
            <a:ext cx="138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becomes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C255B8-C59B-5CD2-8B82-4A5FEF305062}"/>
              </a:ext>
            </a:extLst>
          </p:cNvPr>
          <p:cNvSpPr txBox="1"/>
          <p:nvPr/>
        </p:nvSpPr>
        <p:spPr>
          <a:xfrm>
            <a:off x="343674" y="5766319"/>
            <a:ext cx="3939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 defined: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5C4211-C198-BD0F-D4E4-643FB915DE68}"/>
              </a:ext>
            </a:extLst>
          </p:cNvPr>
          <p:cNvSpPr txBox="1"/>
          <p:nvPr/>
        </p:nvSpPr>
        <p:spPr>
          <a:xfrm>
            <a:off x="1381250" y="1130798"/>
            <a:ext cx="2350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Class Diagram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233022-3023-486E-7362-D43897920427}"/>
              </a:ext>
            </a:extLst>
          </p:cNvPr>
          <p:cNvSpPr/>
          <p:nvPr/>
        </p:nvSpPr>
        <p:spPr>
          <a:xfrm>
            <a:off x="6587412" y="1559527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Controller       Street      TrafficLight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3C6EBF-0E84-6D6A-6533-9250F0EA74C1}"/>
              </a:ext>
            </a:extLst>
          </p:cNvPr>
          <p:cNvSpPr txBox="1"/>
          <p:nvPr/>
        </p:nvSpPr>
        <p:spPr>
          <a:xfrm>
            <a:off x="7300628" y="1104121"/>
            <a:ext cx="3546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Sequence Diagram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8EEFB4-AB69-F306-11FE-AEAADEE3DBF2}"/>
              </a:ext>
            </a:extLst>
          </p:cNvPr>
          <p:cNvCxnSpPr>
            <a:cxnSpLocks/>
          </p:cNvCxnSpPr>
          <p:nvPr/>
        </p:nvCxnSpPr>
        <p:spPr>
          <a:xfrm>
            <a:off x="8266921" y="1932771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07836-DF5D-F8CF-4A54-E93363A78980}"/>
              </a:ext>
            </a:extLst>
          </p:cNvPr>
          <p:cNvCxnSpPr>
            <a:cxnSpLocks/>
          </p:cNvCxnSpPr>
          <p:nvPr/>
        </p:nvCxnSpPr>
        <p:spPr>
          <a:xfrm>
            <a:off x="9296398" y="1935883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9E7B1C-961D-0CC8-143C-DCB819E88AE9}"/>
              </a:ext>
            </a:extLst>
          </p:cNvPr>
          <p:cNvCxnSpPr>
            <a:cxnSpLocks/>
          </p:cNvCxnSpPr>
          <p:nvPr/>
        </p:nvCxnSpPr>
        <p:spPr>
          <a:xfrm>
            <a:off x="7300628" y="2501242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66227FA-E2A2-1F09-B3B3-AAF43AFB783C}"/>
              </a:ext>
            </a:extLst>
          </p:cNvPr>
          <p:cNvCxnSpPr>
            <a:cxnSpLocks/>
          </p:cNvCxnSpPr>
          <p:nvPr/>
        </p:nvCxnSpPr>
        <p:spPr>
          <a:xfrm>
            <a:off x="10308196" y="2406921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40EA5E9-EC68-A74D-7C2E-14446AB068E5}"/>
              </a:ext>
            </a:extLst>
          </p:cNvPr>
          <p:cNvSpPr txBox="1"/>
          <p:nvPr/>
        </p:nvSpPr>
        <p:spPr>
          <a:xfrm>
            <a:off x="8012866" y="2896769"/>
            <a:ext cx="17261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becomes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AF62A1-E298-4A2B-BFF4-032CBCC582F5}"/>
              </a:ext>
            </a:extLst>
          </p:cNvPr>
          <p:cNvSpPr/>
          <p:nvPr/>
        </p:nvSpPr>
        <p:spPr>
          <a:xfrm>
            <a:off x="6587412" y="371390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controller.updateTraffic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687974E-EB07-8420-8A44-3CB5B038DA68}"/>
              </a:ext>
            </a:extLst>
          </p:cNvPr>
          <p:cNvSpPr/>
          <p:nvPr/>
        </p:nvSpPr>
        <p:spPr>
          <a:xfrm>
            <a:off x="6587412" y="4664988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6A684C-FC1C-9187-0F72-3B8756445E55}"/>
              </a:ext>
            </a:extLst>
          </p:cNvPr>
          <p:cNvSpPr/>
          <p:nvPr/>
        </p:nvSpPr>
        <p:spPr>
          <a:xfrm>
            <a:off x="6587412" y="561607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26415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CFE2-DD22-544B-7F8B-D4B163506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628930-F454-2EF1-BD89-CC2D47C15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Implementation</a:t>
            </a: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B6BEF9F-6CC6-14A8-9A3E-DBCD533447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456996" y="1478794"/>
            <a:ext cx="6186400" cy="5038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3E98611-1D3A-8DA8-7D59-2F0FA76D60E4}"/>
              </a:ext>
            </a:extLst>
          </p:cNvPr>
          <p:cNvGrpSpPr/>
          <p:nvPr/>
        </p:nvGrpSpPr>
        <p:grpSpPr>
          <a:xfrm>
            <a:off x="6997960" y="1064525"/>
            <a:ext cx="4355840" cy="1567964"/>
            <a:chOff x="6997960" y="1064525"/>
            <a:chExt cx="4355840" cy="15679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89482B-53D6-3A2A-1672-E72DC4341F58}"/>
                </a:ext>
              </a:extLst>
            </p:cNvPr>
            <p:cNvSpPr txBox="1"/>
            <p:nvPr/>
          </p:nvSpPr>
          <p:spPr>
            <a:xfrm>
              <a:off x="6997960" y="1064525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Controller</a:t>
              </a:r>
            </a:p>
          </p:txBody>
        </p:sp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6FDCBA7F-7D65-233B-A073-051FA5F41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1028" y="1427347"/>
              <a:ext cx="4332772" cy="120514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C9BAF5C-FC32-AAAE-6148-DAD8D4239721}"/>
              </a:ext>
            </a:extLst>
          </p:cNvPr>
          <p:cNvGrpSpPr/>
          <p:nvPr/>
        </p:nvGrpSpPr>
        <p:grpSpPr>
          <a:xfrm>
            <a:off x="7021028" y="2627307"/>
            <a:ext cx="4332772" cy="2086145"/>
            <a:chOff x="7021028" y="2627307"/>
            <a:chExt cx="4332772" cy="20861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F1680D-9345-6A49-299A-7DD80239258D}"/>
                </a:ext>
              </a:extLst>
            </p:cNvPr>
            <p:cNvSpPr txBox="1"/>
            <p:nvPr/>
          </p:nvSpPr>
          <p:spPr>
            <a:xfrm>
              <a:off x="7021028" y="2627307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Street</a:t>
              </a:r>
            </a:p>
          </p:txBody>
        </p:sp>
        <p:pic>
          <p:nvPicPr>
            <p:cNvPr id="8" name="Picture 7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38A60C70-E9AA-054C-8CC3-A126BFDAF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1028" y="3008755"/>
              <a:ext cx="4332772" cy="1704697"/>
            </a:xfrm>
            <a:prstGeom prst="rect">
              <a:avLst/>
            </a:prstGeom>
          </p:spPr>
        </p:pic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86AEB19F-27CD-FE0E-9B6C-70C77BA11454}"/>
              </a:ext>
            </a:extLst>
          </p:cNvPr>
          <p:cNvSpPr/>
          <p:nvPr/>
        </p:nvSpPr>
        <p:spPr>
          <a:xfrm>
            <a:off x="1884784" y="280851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720274-5099-0C4E-99EA-4834E3005719}"/>
              </a:ext>
            </a:extLst>
          </p:cNvPr>
          <p:cNvSpPr/>
          <p:nvPr/>
        </p:nvSpPr>
        <p:spPr>
          <a:xfrm>
            <a:off x="4519126" y="3247053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498DBA-722B-C4FB-7C74-1D02BE28035E}"/>
              </a:ext>
            </a:extLst>
          </p:cNvPr>
          <p:cNvSpPr/>
          <p:nvPr/>
        </p:nvSpPr>
        <p:spPr>
          <a:xfrm>
            <a:off x="4371396" y="458804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ECF4610-4132-9215-56AC-67F4EB30183A}"/>
              </a:ext>
            </a:extLst>
          </p:cNvPr>
          <p:cNvGrpSpPr/>
          <p:nvPr/>
        </p:nvGrpSpPr>
        <p:grpSpPr>
          <a:xfrm>
            <a:off x="6892214" y="4713452"/>
            <a:ext cx="4438172" cy="1803410"/>
            <a:chOff x="6892214" y="4713452"/>
            <a:chExt cx="4438172" cy="18034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A03CD4-4CA2-C104-B395-98DC0A967178}"/>
                </a:ext>
              </a:extLst>
            </p:cNvPr>
            <p:cNvSpPr txBox="1"/>
            <p:nvPr/>
          </p:nvSpPr>
          <p:spPr>
            <a:xfrm>
              <a:off x="6892214" y="4713452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TrafficLight</a:t>
              </a:r>
            </a:p>
          </p:txBody>
        </p:sp>
        <p:pic>
          <p:nvPicPr>
            <p:cNvPr id="34" name="Picture 33" descr="A computer screen with text&#10;&#10;AI-generated content may be incorrect.">
              <a:extLst>
                <a:ext uri="{FF2B5EF4-FFF2-40B4-BE49-F238E27FC236}">
                  <a16:creationId xmlns:a16="http://schemas.microsoft.com/office/drawing/2014/main" id="{D38B89D4-7AEE-E827-B523-8E6A4D180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97959" y="5119305"/>
              <a:ext cx="4332427" cy="13975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42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2FB2F-5B3E-EE90-BBA0-2D512B78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A321C94B-B115-3CCA-BAC5-67FE42604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Implementation Must Realize the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E6303D-0F0B-AF81-2D21-552378B0211F}"/>
              </a:ext>
            </a:extLst>
          </p:cNvPr>
          <p:cNvSpPr txBox="1"/>
          <p:nvPr/>
        </p:nvSpPr>
        <p:spPr>
          <a:xfrm>
            <a:off x="3814665" y="1064525"/>
            <a:ext cx="4562670" cy="1631216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In our </a:t>
            </a:r>
            <a:r>
              <a:rPr lang="en-GB" sz="2800" b="1" dirty="0" err="1"/>
              <a:t>TrafficLight</a:t>
            </a:r>
            <a:r>
              <a:rPr lang="en-GB" sz="2800" b="1" dirty="0"/>
              <a:t> example:</a:t>
            </a:r>
            <a:endParaRPr lang="en-GB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Controller only calls Street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Street owns the 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TrafficLight</a:t>
            </a:r>
            <a:r>
              <a:rPr lang="en-GB" sz="2400" dirty="0"/>
              <a:t> changes its own state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83A2E5-D001-D31F-DC20-9FBF2F9899CF}"/>
              </a:ext>
            </a:extLst>
          </p:cNvPr>
          <p:cNvSpPr txBox="1"/>
          <p:nvPr/>
        </p:nvSpPr>
        <p:spPr>
          <a:xfrm>
            <a:off x="251927" y="2875002"/>
            <a:ext cx="4562670" cy="273921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Ignores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Responsibilities shift accidentally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Classes grow “God methods”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scope expands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Review confusion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don’t match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failures increase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BF53D-D025-C91A-565B-A6ED4D8E3C5A}"/>
              </a:ext>
            </a:extLst>
          </p:cNvPr>
          <p:cNvSpPr txBox="1"/>
          <p:nvPr/>
        </p:nvSpPr>
        <p:spPr>
          <a:xfrm>
            <a:off x="6096000" y="2875002"/>
            <a:ext cx="5604587" cy="2369880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Follows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Changes stay localized (Street owns loop)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Each class has one responsibility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remains small and focused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map cleanly to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remains stable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4486F4-BDF6-ACD1-309F-72E52D874D71}"/>
              </a:ext>
            </a:extLst>
          </p:cNvPr>
          <p:cNvSpPr txBox="1"/>
          <p:nvPr/>
        </p:nvSpPr>
        <p:spPr>
          <a:xfrm>
            <a:off x="2729204" y="5793475"/>
            <a:ext cx="6190861" cy="830997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Design → Code → Tests → CI → Stable 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Skipping design breaks the chain.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368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6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FF700-FB5D-EDD2-A3D9-B05F2EF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B466A313-F4B8-0C29-56D9-C068B8250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A Pull Request Is a Design Increment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B88B8B-B30C-E904-D50B-340CECFE663F}"/>
              </a:ext>
            </a:extLst>
          </p:cNvPr>
          <p:cNvSpPr txBox="1"/>
          <p:nvPr/>
        </p:nvSpPr>
        <p:spPr>
          <a:xfrm>
            <a:off x="1054358" y="803268"/>
            <a:ext cx="9321281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A good PR includes: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Linked issue (clear requirement). What problem are we solving?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Clear PR Title (what change is being introduced)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PR Description explaining </a:t>
            </a:r>
            <a:r>
              <a:rPr lang="en-GB" sz="2200" i="1" dirty="0"/>
              <a:t>why</a:t>
            </a:r>
            <a:r>
              <a:rPr lang="en-GB" sz="2200" dirty="0"/>
              <a:t> the change is needed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Design Evidence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Class Diagram (if structure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Sequence Diagram (if </a:t>
            </a:r>
            <a:r>
              <a:rPr lang="en-GB" dirty="0" err="1"/>
              <a:t>behavior</a:t>
            </a:r>
            <a:r>
              <a:rPr lang="en-GB" dirty="0"/>
              <a:t>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Explanation of what part of the system is affected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Focused Implementation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Small, localized change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Only related files modified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“drive-by” edits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Responsibilities respected (no God methods)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Verification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Tests added or updated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All tests passing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CI pipeline green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coverage regression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8EEBA-01F3-B9B3-8BF5-3284B357A702}"/>
              </a:ext>
            </a:extLst>
          </p:cNvPr>
          <p:cNvSpPr txBox="1"/>
          <p:nvPr/>
        </p:nvSpPr>
        <p:spPr>
          <a:xfrm>
            <a:off x="2211354" y="6305924"/>
            <a:ext cx="7884367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/>
              <a:t>PR = Requirement + Design + Implementation + Validation</a:t>
            </a:r>
          </a:p>
        </p:txBody>
      </p:sp>
    </p:spTree>
    <p:extLst>
      <p:ext uri="{BB962C8B-B14F-4D97-AF65-F5344CB8AC3E}">
        <p14:creationId xmlns:p14="http://schemas.microsoft.com/office/powerpoint/2010/main" val="178603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193A-2122-9475-1354-70801FA9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31E1359-5830-D046-5A10-55349744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CI Is Architecture Protection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B53F3-19BD-2AF3-8BFF-86B5E488FF20}"/>
              </a:ext>
            </a:extLst>
          </p:cNvPr>
          <p:cNvSpPr txBox="1"/>
          <p:nvPr/>
        </p:nvSpPr>
        <p:spPr>
          <a:xfrm>
            <a:off x="1763486" y="1064525"/>
            <a:ext cx="610222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Small, well-designed PRs lead to:</a:t>
            </a:r>
          </a:p>
          <a:p>
            <a:pPr>
              <a:buNone/>
            </a:pPr>
            <a:r>
              <a:rPr lang="en-GB" sz="2800" dirty="0"/>
              <a:t>→ Easier review</a:t>
            </a:r>
            <a:br>
              <a:rPr lang="en-GB" sz="2800" dirty="0"/>
            </a:br>
            <a:r>
              <a:rPr lang="en-GB" sz="2800" dirty="0"/>
              <a:t>→ Faster CI feedback</a:t>
            </a:r>
            <a:br>
              <a:rPr lang="en-GB" sz="2800" dirty="0"/>
            </a:br>
            <a:r>
              <a:rPr lang="en-GB" sz="2800" dirty="0"/>
              <a:t>→ Fewer conflicts</a:t>
            </a:r>
            <a:br>
              <a:rPr lang="en-GB" sz="2800" dirty="0"/>
            </a:br>
            <a:r>
              <a:rPr lang="en-GB" sz="2800" dirty="0"/>
              <a:t>→ Stable main branch</a:t>
            </a:r>
          </a:p>
          <a:p>
            <a:pPr>
              <a:buNone/>
            </a:pPr>
            <a:endParaRPr lang="en-GB" sz="3200" b="1" dirty="0"/>
          </a:p>
          <a:p>
            <a:pPr>
              <a:buNone/>
            </a:pPr>
            <a:r>
              <a:rPr lang="en-GB" sz="3200" b="1" dirty="0"/>
              <a:t>Large, design-less PRs lead to:</a:t>
            </a:r>
          </a:p>
          <a:p>
            <a:pPr>
              <a:buNone/>
            </a:pPr>
            <a:r>
              <a:rPr lang="en-GB" sz="2800" dirty="0"/>
              <a:t>→ Review confusion</a:t>
            </a:r>
            <a:br>
              <a:rPr lang="en-GB" sz="2800" dirty="0"/>
            </a:br>
            <a:r>
              <a:rPr lang="en-GB" sz="2800" dirty="0"/>
              <a:t>→ CI failures</a:t>
            </a:r>
            <a:br>
              <a:rPr lang="en-GB" sz="2800" dirty="0"/>
            </a:br>
            <a:r>
              <a:rPr lang="en-GB" sz="2800" dirty="0"/>
              <a:t>→ Rework</a:t>
            </a:r>
            <a:br>
              <a:rPr lang="en-GB" sz="2800" dirty="0"/>
            </a:br>
            <a:r>
              <a:rPr lang="en-GB" sz="2800" dirty="0"/>
              <a:t>→ Architecture drift</a:t>
            </a:r>
          </a:p>
        </p:txBody>
      </p:sp>
    </p:spTree>
    <p:extLst>
      <p:ext uri="{BB962C8B-B14F-4D97-AF65-F5344CB8AC3E}">
        <p14:creationId xmlns:p14="http://schemas.microsoft.com/office/powerpoint/2010/main" val="2057761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4662C-FE4E-7564-5D04-BDEFC9C7A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Design controls change.</a:t>
            </a:r>
          </a:p>
          <a:p>
            <a:r>
              <a:rPr lang="en-GB" sz="4000" dirty="0"/>
              <a:t>PRs implement design.</a:t>
            </a:r>
          </a:p>
          <a:p>
            <a:r>
              <a:rPr lang="en-GB" sz="4000" dirty="0"/>
              <a:t>CI protects architecture.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4000" dirty="0"/>
              <a:t>Senior Design goal: Intentional architecture evolution.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13599-49FA-BD8D-8889-4DF418D6A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22</a:t>
            </a:fld>
            <a:endParaRPr lang="en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14547B8-4486-695F-C887-D0CECFCA1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The Collaborative Engineering Control Loop</a:t>
            </a:r>
          </a:p>
        </p:txBody>
      </p:sp>
    </p:spTree>
    <p:extLst>
      <p:ext uri="{BB962C8B-B14F-4D97-AF65-F5344CB8AC3E}">
        <p14:creationId xmlns:p14="http://schemas.microsoft.com/office/powerpoint/2010/main" val="1350729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973F-4AAC-6BBA-9B38-696F6C36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BE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F6D2-1C9C-329F-0736-4BD87688D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r>
              <a:rPr lang="en-BE" dirty="0"/>
              <a:t>For Design Portfolio II and III</a:t>
            </a:r>
            <a:br>
              <a:rPr lang="en-GB" dirty="0"/>
            </a:b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BABE01-23A1-652A-CBB6-5FAA459AE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23</a:t>
            </a:fld>
            <a:endParaRPr lang="en-BE"/>
          </a:p>
        </p:txBody>
      </p:sp>
      <p:pic>
        <p:nvPicPr>
          <p:cNvPr id="6" name="Picture 5" descr="A text on a white sheet&#10;&#10;AI-generated content may be incorrect.">
            <a:extLst>
              <a:ext uri="{FF2B5EF4-FFF2-40B4-BE49-F238E27FC236}">
                <a16:creationId xmlns:a16="http://schemas.microsoft.com/office/drawing/2014/main" id="{246DDC80-2E0E-D3CC-A643-9B480DE42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8924"/>
            <a:ext cx="10145697" cy="3777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392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12738</TotalTime>
  <Words>1761</Words>
  <Application>Microsoft Macintosh PowerPoint</Application>
  <PresentationFormat>Widescreen</PresentationFormat>
  <Paragraphs>316</Paragraphs>
  <Slides>23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Office Theme</vt:lpstr>
      <vt:lpstr>Designing Software Systems for Collaborative Development</vt:lpstr>
      <vt:lpstr>Announcements</vt:lpstr>
      <vt:lpstr>From Requirements to Pull Requests</vt:lpstr>
      <vt:lpstr>From Requirements to Pull Requests</vt:lpstr>
      <vt:lpstr>Design Is About Controlling Change</vt:lpstr>
      <vt:lpstr>Design before You Code</vt:lpstr>
      <vt:lpstr>Which Diagram Do I Need Before My PR?</vt:lpstr>
      <vt:lpstr>Which Diagram Do I Need Before My PR?</vt:lpstr>
      <vt:lpstr>Think of Google Maps</vt:lpstr>
      <vt:lpstr>Example PR: Add Traffic Light Support</vt:lpstr>
      <vt:lpstr>Example PR: Add Traffic Light Support</vt:lpstr>
      <vt:lpstr>Anatomy of a Well-Designed PR</vt:lpstr>
      <vt:lpstr>Example PR: Add Traffic Lights to a Street</vt:lpstr>
      <vt:lpstr>What Happens When You Skip Design?</vt:lpstr>
      <vt:lpstr>Design Maturity in Senior Projects</vt:lpstr>
      <vt:lpstr>Design Maturity in Senior Projects</vt:lpstr>
      <vt:lpstr>From Diagram to Implementation</vt:lpstr>
      <vt:lpstr>From Diagram to Implementation</vt:lpstr>
      <vt:lpstr>Implementation Must Realize the Design</vt:lpstr>
      <vt:lpstr>A Pull Request Is a Design Increment</vt:lpstr>
      <vt:lpstr>CI Is Architecture Protection</vt:lpstr>
      <vt:lpstr>The Collaborative Engineering Control Loop</vt:lpstr>
      <vt:lpstr>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Practice with Unified Modeling Language</dc:title>
  <dc:creator>John Businge</dc:creator>
  <cp:lastModifiedBy>John Businge</cp:lastModifiedBy>
  <cp:revision>48</cp:revision>
  <dcterms:created xsi:type="dcterms:W3CDTF">2023-10-02T17:24:10Z</dcterms:created>
  <dcterms:modified xsi:type="dcterms:W3CDTF">2026-02-17T19:27:12Z</dcterms:modified>
</cp:coreProperties>
</file>