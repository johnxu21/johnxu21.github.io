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76" r:id="rId3"/>
    <p:sldId id="257" r:id="rId4"/>
    <p:sldId id="343" r:id="rId5"/>
    <p:sldId id="324" r:id="rId6"/>
    <p:sldId id="322" r:id="rId7"/>
    <p:sldId id="323" r:id="rId8"/>
    <p:sldId id="345" r:id="rId9"/>
    <p:sldId id="325" r:id="rId10"/>
    <p:sldId id="348" r:id="rId11"/>
    <p:sldId id="327" r:id="rId12"/>
    <p:sldId id="328" r:id="rId13"/>
    <p:sldId id="329" r:id="rId14"/>
    <p:sldId id="331" r:id="rId15"/>
    <p:sldId id="279" r:id="rId16"/>
    <p:sldId id="280" r:id="rId17"/>
    <p:sldId id="337" r:id="rId18"/>
    <p:sldId id="338" r:id="rId19"/>
    <p:sldId id="347" r:id="rId20"/>
    <p:sldId id="346" r:id="rId21"/>
    <p:sldId id="278" r:id="rId22"/>
    <p:sldId id="315" r:id="rId23"/>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EA"/>
    <a:srgbClr val="006600"/>
    <a:srgbClr val="009051"/>
    <a:srgbClr val="0432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81064"/>
  </p:normalViewPr>
  <p:slideViewPr>
    <p:cSldViewPr snapToGrid="0">
      <p:cViewPr varScale="1">
        <p:scale>
          <a:sx n="100" d="100"/>
          <a:sy n="100" d="100"/>
        </p:scale>
        <p:origin x="18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5346B-715E-CA4E-A294-01B0C7460D3C}" type="datetimeFigureOut">
              <a:rPr lang="en-BE" smtClean="0"/>
              <a:t>15/09/2026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370A86-051A-7C48-98C3-08CACFB9377A}" type="slidenum">
              <a:rPr lang="en-BE" smtClean="0"/>
              <a:t>‹#›</a:t>
            </a:fld>
            <a:endParaRPr lang="en-BE"/>
          </a:p>
        </p:txBody>
      </p:sp>
    </p:spTree>
    <p:extLst>
      <p:ext uri="{BB962C8B-B14F-4D97-AF65-F5344CB8AC3E}">
        <p14:creationId xmlns:p14="http://schemas.microsoft.com/office/powerpoint/2010/main" val="275527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29370A86-051A-7C48-98C3-08CACFB9377A}" type="slidenum">
              <a:rPr lang="en-BE" smtClean="0"/>
              <a:t>1</a:t>
            </a:fld>
            <a:endParaRPr lang="en-BE"/>
          </a:p>
        </p:txBody>
      </p:sp>
    </p:spTree>
    <p:extLst>
      <p:ext uri="{BB962C8B-B14F-4D97-AF65-F5344CB8AC3E}">
        <p14:creationId xmlns:p14="http://schemas.microsoft.com/office/powerpoint/2010/main" val="364124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 know early stages can feel messy. That’s normal.</a:t>
            </a:r>
          </a:p>
          <a:p>
            <a:pPr marL="171450" indent="-171450">
              <a:buFont typeface="Arial" panose="020B0604020202020204" pitchFamily="34" charset="0"/>
              <a:buChar char="•"/>
            </a:pPr>
            <a:r>
              <a:rPr lang="en-GB" dirty="0"/>
              <a:t>What’s not normal is staying blocked.</a:t>
            </a:r>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2</a:t>
            </a:fld>
            <a:endParaRPr lang="en-BE"/>
          </a:p>
        </p:txBody>
      </p:sp>
    </p:spTree>
    <p:extLst>
      <p:ext uri="{BB962C8B-B14F-4D97-AF65-F5344CB8AC3E}">
        <p14:creationId xmlns:p14="http://schemas.microsoft.com/office/powerpoint/2010/main" val="1947868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t>I know early stages can feel messy. That’s normal.</a:t>
            </a:r>
          </a:p>
          <a:p>
            <a:pPr marL="171450" indent="-171450">
              <a:buFont typeface="Arial"/>
              <a:buChar char="•"/>
            </a:pPr>
            <a:r>
              <a:t>What’s not normal is staying blocked.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The real world is ambiguous. Software must bring structure to ambiguity.</a:t>
            </a:r>
          </a:p>
          <a:p>
            <a:pPr marL="171450" indent="-171450">
              <a:buFontTx/>
              <a:buChar char="-"/>
            </a:pPr>
            <a:r>
              <a:rPr lang="en-GB" dirty="0"/>
              <a:t>Domain </a:t>
            </a:r>
            <a:r>
              <a:rPr lang="en-GB" dirty="0" err="1"/>
              <a:t>modeling</a:t>
            </a:r>
            <a:r>
              <a:rPr lang="en-GB" dirty="0"/>
              <a:t> is about understanding the problem — not solving it yet. Core concepts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Identify core concepts (Book, User, Loan, Street, </a:t>
            </a:r>
            <a:r>
              <a:rPr lang="en-GB" dirty="0" err="1"/>
              <a:t>TrafficLight</a:t>
            </a:r>
            <a:r>
              <a:rPr lang="en-GB" dirty="0"/>
              <a:t>, etc.)</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Focus on </a:t>
            </a:r>
            <a:r>
              <a:rPr lang="en-GB" b="1" dirty="0"/>
              <a:t>what exists</a:t>
            </a:r>
            <a:endParaRPr lang="en-GB"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dirty="0"/>
              <a:t>No implementation details</a:t>
            </a:r>
          </a:p>
          <a:p>
            <a:pPr marL="171450" indent="-171450">
              <a:buFontTx/>
              <a:buChar char="-"/>
            </a:pPr>
            <a:r>
              <a:rPr lang="en-GB" dirty="0"/>
              <a:t>Now we move from understanding to engineering. This is the transition from </a:t>
            </a:r>
            <a:r>
              <a:rPr lang="en-GB" i="1" dirty="0"/>
              <a:t>conceptual clarity</a:t>
            </a:r>
            <a:r>
              <a:rPr lang="en-GB" dirty="0"/>
              <a:t> to </a:t>
            </a:r>
            <a:r>
              <a:rPr lang="en-GB" i="1" dirty="0"/>
              <a:t>structural clarity</a:t>
            </a:r>
            <a:r>
              <a:rPr lang="en-GB" dirty="0"/>
              <a:t>.</a:t>
            </a:r>
          </a:p>
          <a:p>
            <a:pPr marL="628650" lvl="1" indent="-171450">
              <a:buFontTx/>
              <a:buChar char="-"/>
            </a:pPr>
            <a:r>
              <a:rPr lang="en-GB" dirty="0"/>
              <a:t>Define concepts, responsibilities, and interfaces</a:t>
            </a:r>
          </a:p>
          <a:p>
            <a:pPr marL="171450" lvl="0" indent="-171450">
              <a:buFontTx/>
              <a:buChar char="-"/>
            </a:pPr>
            <a:r>
              <a:rPr lang="en-GB" dirty="0"/>
              <a:t>Implementation + PR + CI</a:t>
            </a:r>
          </a:p>
          <a:p>
            <a:pPr marL="171450" lvl="0" indent="-171450">
              <a:buFontTx/>
              <a:buChar char="-"/>
            </a:pPr>
            <a:r>
              <a:rPr lang="en-GB" dirty="0"/>
              <a:t>Code follows design</a:t>
            </a:r>
          </a:p>
          <a:p>
            <a:pPr marL="171450" lvl="0" indent="-171450">
              <a:buFontTx/>
              <a:buChar char="-"/>
            </a:pPr>
            <a:r>
              <a:rPr lang="en-GB" dirty="0"/>
              <a:t>Each PR implements a </a:t>
            </a:r>
            <a:r>
              <a:rPr lang="en-GB" b="1" dirty="0"/>
              <a:t>design slice</a:t>
            </a:r>
          </a:p>
          <a:p>
            <a:pPr marL="171450" lvl="0" indent="-171450">
              <a:buFontTx/>
              <a:buChar char="-"/>
            </a:pPr>
            <a:r>
              <a:rPr lang="en-GB" dirty="0"/>
              <a:t>CI validates design assumptions</a:t>
            </a:r>
          </a:p>
          <a:p>
            <a:pPr marL="171450" lvl="0" indent="-171450">
              <a:buFontTx/>
              <a:buChar char="-"/>
            </a:pPr>
            <a:r>
              <a:rPr lang="en-GB" dirty="0"/>
              <a:t>Review checks alignment with design</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5</a:t>
            </a:fld>
            <a:endParaRPr lang="en-BE"/>
          </a:p>
        </p:txBody>
      </p:sp>
    </p:spTree>
    <p:extLst>
      <p:ext uri="{BB962C8B-B14F-4D97-AF65-F5344CB8AC3E}">
        <p14:creationId xmlns:p14="http://schemas.microsoft.com/office/powerpoint/2010/main" val="3602548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columns. DP I establishes an architectural baseline rather than a finished design. DP II refines that baseline as features are implemented. Point out that diagrams should evolve when evidence from implementation reveals a better design.</a:t>
            </a:r>
          </a:p>
        </p:txBody>
      </p:sp>
      <p:sp>
        <p:nvSpPr>
          <p:cNvPr id="4" name="Slide Number Placeholder 3"/>
          <p:cNvSpPr>
            <a:spLocks noGrp="1"/>
          </p:cNvSpPr>
          <p:nvPr>
            <p:ph type="sldNum" sz="quarter" idx="5"/>
          </p:nvPr>
        </p:nvSpPr>
        <p:spPr/>
        <p:txBody>
          <a:bodyPr/>
          <a:lstStyle/>
          <a:p>
            <a:fld id="{29370A86-051A-7C48-98C3-08CACFB9377A}" type="slidenum">
              <a:rPr lang="en-BE" smtClean="0"/>
              <a:t>6</a:t>
            </a:fld>
            <a:endParaRPr lang="en-BE"/>
          </a:p>
        </p:txBody>
      </p:sp>
    </p:spTree>
    <p:extLst>
      <p:ext uri="{BB962C8B-B14F-4D97-AF65-F5344CB8AC3E}">
        <p14:creationId xmlns:p14="http://schemas.microsoft.com/office/powerpoint/2010/main" val="3698953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Now that we’ve seen how requirements turn into pull requests, the real question is:</a:t>
            </a:r>
            <a:br>
              <a:rPr lang="en-GB" dirty="0"/>
            </a:br>
            <a:r>
              <a:rPr lang="en-GB" b="1" dirty="0"/>
              <a:t>How do we design so that change doesn’t destroy our system?</a:t>
            </a:r>
            <a:endParaRPr lang="en-GB" i="1" dirty="0"/>
          </a:p>
          <a:p>
            <a:pPr marL="171450" indent="-171450">
              <a:buFont typeface="Arial" panose="020B0604020202020204" pitchFamily="34" charset="0"/>
              <a:buChar char="•"/>
            </a:pPr>
            <a:endParaRPr lang="en-GB" i="1" dirty="0"/>
          </a:p>
          <a:p>
            <a:pPr marL="171450" indent="-171450">
              <a:buFont typeface="Arial" panose="020B0604020202020204" pitchFamily="34" charset="0"/>
              <a:buChar char="•"/>
            </a:pPr>
            <a:r>
              <a:rPr lang="en-GB" i="1" dirty="0"/>
              <a:t>In bad design, responsibilities blur, so adding a feature touches everything.</a:t>
            </a:r>
            <a:endParaRPr lang="en-GB" dirty="0"/>
          </a:p>
          <a:p>
            <a:pPr marL="171450" indent="-171450">
              <a:buFont typeface="Arial" panose="020B0604020202020204" pitchFamily="34" charset="0"/>
              <a:buChar char="•"/>
            </a:pPr>
            <a:r>
              <a:rPr lang="en-GB" i="1" dirty="0"/>
              <a:t>In good design, a feature maps to 1–2 responsibilities, which maps to a small PR.</a:t>
            </a:r>
            <a:endParaRPr lang="en-GB" dirty="0"/>
          </a:p>
          <a:p>
            <a:endParaRPr lang="en-US" dirty="0"/>
          </a:p>
        </p:txBody>
      </p:sp>
      <p:sp>
        <p:nvSpPr>
          <p:cNvPr id="4" name="Slide Number Placeholder 3"/>
          <p:cNvSpPr>
            <a:spLocks noGrp="1"/>
          </p:cNvSpPr>
          <p:nvPr>
            <p:ph type="sldNum" sz="quarter" idx="5"/>
          </p:nvPr>
        </p:nvSpPr>
        <p:spPr/>
        <p:txBody>
          <a:bodyPr/>
          <a:lstStyle/>
          <a:p>
            <a:fld id="{29370A86-051A-7C48-98C3-08CACFB9377A}" type="slidenum">
              <a:rPr lang="en-BE" smtClean="0"/>
              <a:t>7</a:t>
            </a:fld>
            <a:endParaRPr lang="en-BE"/>
          </a:p>
        </p:txBody>
      </p:sp>
    </p:spTree>
    <p:extLst>
      <p:ext uri="{BB962C8B-B14F-4D97-AF65-F5344CB8AC3E}">
        <p14:creationId xmlns:p14="http://schemas.microsoft.com/office/powerpoint/2010/main" val="829400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E1FD6-734B-7048-B426-35E2F0D4D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9ABD3-5EE7-6E52-00D2-E5B8D9E097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A3A519-2FBE-616B-E7CD-6AED7CD79076}"/>
              </a:ext>
            </a:extLst>
          </p:cNvPr>
          <p:cNvSpPr>
            <a:spLocks noGrp="1"/>
          </p:cNvSpPr>
          <p:nvPr>
            <p:ph type="body" idx="1"/>
          </p:nvPr>
        </p:nvSpPr>
        <p:spPr/>
        <p:txBody>
          <a:bodyPr/>
          <a:lstStyle/>
          <a:p>
            <a:pPr marL="171450" indent="-171450">
              <a:buFont typeface="Arial" panose="020B0604020202020204" pitchFamily="34" charset="0"/>
              <a:buChar char="•"/>
            </a:pPr>
            <a:r>
              <a:rPr lang="en-GB" i="1" dirty="0"/>
              <a:t>In bad design, responsibilities blur, so adding a feature touches everything.</a:t>
            </a:r>
            <a:endParaRPr lang="en-GB" dirty="0"/>
          </a:p>
          <a:p>
            <a:pPr marL="171450" indent="-171450">
              <a:buFont typeface="Arial" panose="020B0604020202020204" pitchFamily="34" charset="0"/>
              <a:buChar char="•"/>
            </a:pPr>
            <a:r>
              <a:rPr lang="en-GB" i="1" dirty="0"/>
              <a:t>In good design, a feature maps to 1–2 responsibilities, which maps to a small PR.</a:t>
            </a:r>
            <a:endParaRPr lang="en-GB" dirty="0"/>
          </a:p>
          <a:p>
            <a:endParaRPr lang="en-US" dirty="0"/>
          </a:p>
        </p:txBody>
      </p:sp>
      <p:sp>
        <p:nvSpPr>
          <p:cNvPr id="4" name="Slide Number Placeholder 3">
            <a:extLst>
              <a:ext uri="{FF2B5EF4-FFF2-40B4-BE49-F238E27FC236}">
                <a16:creationId xmlns:a16="http://schemas.microsoft.com/office/drawing/2014/main" id="{BC50B79B-E7F5-84B5-74CA-2BC924007A23}"/>
              </a:ext>
            </a:extLst>
          </p:cNvPr>
          <p:cNvSpPr>
            <a:spLocks noGrp="1"/>
          </p:cNvSpPr>
          <p:nvPr>
            <p:ph type="sldNum" sz="quarter" idx="5"/>
          </p:nvPr>
        </p:nvSpPr>
        <p:spPr/>
        <p:txBody>
          <a:bodyPr/>
          <a:lstStyle/>
          <a:p>
            <a:fld id="{29370A86-051A-7C48-98C3-08CACFB9377A}" type="slidenum">
              <a:rPr lang="en-BE" smtClean="0"/>
              <a:t>9</a:t>
            </a:fld>
            <a:endParaRPr lang="en-BE"/>
          </a:p>
        </p:txBody>
      </p:sp>
    </p:spTree>
    <p:extLst>
      <p:ext uri="{BB962C8B-B14F-4D97-AF65-F5344CB8AC3E}">
        <p14:creationId xmlns:p14="http://schemas.microsoft.com/office/powerpoint/2010/main" val="193132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class diagram when the PR changes the static structure: classes, responsibilities, interfaces, or relationships.</a:t>
            </a:r>
          </a:p>
          <a:p>
            <a:endParaRPr/>
          </a:p>
          <a:p>
            <a:r>
              <a:t>Use the sequence diagram when the PR changes how objects collaborate or the order of messages in a workflow.</a:t>
            </a:r>
          </a:p>
          <a:p>
            <a:endParaRPr/>
          </a:p>
          <a:p>
            <a:r>
              <a:t>A change can affect both. In that case, update both diagrams, but do not require a diagram update when the design has not 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07C8-A2F5-078D-1AA9-54D85422F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04636-0D44-A0DD-D703-0FEDB48AD5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83004-927A-1FB7-2A5C-D4B4E7635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70A856-41E0-164F-8172-C1A4A64B0B5C}"/>
              </a:ext>
            </a:extLst>
          </p:cNvPr>
          <p:cNvSpPr>
            <a:spLocks noGrp="1"/>
          </p:cNvSpPr>
          <p:nvPr>
            <p:ph type="sldNum" sz="quarter" idx="5"/>
          </p:nvPr>
        </p:nvSpPr>
        <p:spPr/>
        <p:txBody>
          <a:bodyPr/>
          <a:lstStyle/>
          <a:p>
            <a:fld id="{29370A86-051A-7C48-98C3-08CACFB9377A}" type="slidenum">
              <a:rPr lang="en-BE" smtClean="0"/>
              <a:t>11</a:t>
            </a:fld>
            <a:endParaRPr lang="en-BE"/>
          </a:p>
        </p:txBody>
      </p:sp>
    </p:spTree>
    <p:extLst>
      <p:ext uri="{BB962C8B-B14F-4D97-AF65-F5344CB8AC3E}">
        <p14:creationId xmlns:p14="http://schemas.microsoft.com/office/powerpoint/2010/main" val="305408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7F30-3BA4-2D63-7DBE-288BC9109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E8A32-C74C-67A5-D5D8-FA6F36D8DC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58C97D-24B0-4141-55AF-21A4260E45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761487-557A-DA4E-B8D4-468AF9ED636F}"/>
              </a:ext>
            </a:extLst>
          </p:cNvPr>
          <p:cNvSpPr>
            <a:spLocks noGrp="1"/>
          </p:cNvSpPr>
          <p:nvPr>
            <p:ph type="sldNum" sz="quarter" idx="5"/>
          </p:nvPr>
        </p:nvSpPr>
        <p:spPr/>
        <p:txBody>
          <a:bodyPr/>
          <a:lstStyle/>
          <a:p>
            <a:fld id="{29370A86-051A-7C48-98C3-08CACFB9377A}" type="slidenum">
              <a:rPr lang="en-BE" smtClean="0"/>
              <a:t>12</a:t>
            </a:fld>
            <a:endParaRPr lang="en-BE"/>
          </a:p>
        </p:txBody>
      </p:sp>
    </p:spTree>
    <p:extLst>
      <p:ext uri="{BB962C8B-B14F-4D97-AF65-F5344CB8AC3E}">
        <p14:creationId xmlns:p14="http://schemas.microsoft.com/office/powerpoint/2010/main" val="2341835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10175-F557-E7F4-7A5D-E741239E9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303A9-35B7-8EE4-4449-C6A0760EE8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010E7F-9BC3-1C6D-647E-8C153284F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26949-FB92-F93A-876F-ADE0B37F09ED}"/>
              </a:ext>
            </a:extLst>
          </p:cNvPr>
          <p:cNvSpPr>
            <a:spLocks noGrp="1"/>
          </p:cNvSpPr>
          <p:nvPr>
            <p:ph type="sldNum" sz="quarter" idx="5"/>
          </p:nvPr>
        </p:nvSpPr>
        <p:spPr/>
        <p:txBody>
          <a:bodyPr/>
          <a:lstStyle/>
          <a:p>
            <a:fld id="{29370A86-051A-7C48-98C3-08CACFB9377A}" type="slidenum">
              <a:rPr lang="en-BE" smtClean="0"/>
              <a:t>13</a:t>
            </a:fld>
            <a:endParaRPr lang="en-BE"/>
          </a:p>
        </p:txBody>
      </p:sp>
    </p:spTree>
    <p:extLst>
      <p:ext uri="{BB962C8B-B14F-4D97-AF65-F5344CB8AC3E}">
        <p14:creationId xmlns:p14="http://schemas.microsoft.com/office/powerpoint/2010/main" val="1164167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06B1-1C9B-3FBE-9552-4CDC99012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7CBA3-CC1C-0C44-690B-A4392175CC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0C886F-66C0-BBF6-862C-48171374AEED}"/>
              </a:ext>
            </a:extLst>
          </p:cNvPr>
          <p:cNvSpPr>
            <a:spLocks noGrp="1"/>
          </p:cNvSpPr>
          <p:nvPr>
            <p:ph type="body" idx="1"/>
          </p:nvPr>
        </p:nvSpPr>
        <p:spPr/>
        <p:txBody>
          <a:bodyPr/>
          <a:lstStyle/>
          <a:p>
            <a:r>
              <a:rPr lang="en-GB" dirty="0"/>
              <a:t>The Controller starts the process. It tells the Street: update your traffic.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Inside </a:t>
            </a:r>
            <a:r>
              <a:rPr lang="en-GB" dirty="0" err="1"/>
              <a:t>updateTraffic</a:t>
            </a:r>
            <a:r>
              <a:rPr lang="en-GB" dirty="0"/>
              <a:t>(), the Street loops through each </a:t>
            </a:r>
            <a:r>
              <a:rPr lang="en-GB" dirty="0" err="1"/>
              <a:t>TrafficLight</a:t>
            </a:r>
            <a:r>
              <a:rPr lang="en-GB" dirty="0"/>
              <a:t> it contains.”</a:t>
            </a:r>
          </a:p>
          <a:p>
            <a:endParaRPr lang="en-US" dirty="0"/>
          </a:p>
        </p:txBody>
      </p:sp>
      <p:sp>
        <p:nvSpPr>
          <p:cNvPr id="4" name="Slide Number Placeholder 3">
            <a:extLst>
              <a:ext uri="{FF2B5EF4-FFF2-40B4-BE49-F238E27FC236}">
                <a16:creationId xmlns:a16="http://schemas.microsoft.com/office/drawing/2014/main" id="{E079332C-90D5-5D5E-8E7E-4D5C3310E463}"/>
              </a:ext>
            </a:extLst>
          </p:cNvPr>
          <p:cNvSpPr>
            <a:spLocks noGrp="1"/>
          </p:cNvSpPr>
          <p:nvPr>
            <p:ph type="sldNum" sz="quarter" idx="5"/>
          </p:nvPr>
        </p:nvSpPr>
        <p:spPr/>
        <p:txBody>
          <a:bodyPr/>
          <a:lstStyle/>
          <a:p>
            <a:fld id="{29370A86-051A-7C48-98C3-08CACFB9377A}" type="slidenum">
              <a:rPr lang="en-BE" smtClean="0"/>
              <a:t>14</a:t>
            </a:fld>
            <a:endParaRPr lang="en-BE"/>
          </a:p>
        </p:txBody>
      </p:sp>
    </p:spTree>
    <p:extLst>
      <p:ext uri="{BB962C8B-B14F-4D97-AF65-F5344CB8AC3E}">
        <p14:creationId xmlns:p14="http://schemas.microsoft.com/office/powerpoint/2010/main" val="3877363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Begin on the left. In the lab, students created the issue before opening a branch or writing code. The issue identifies the problem and states the acceptance criteria. It should describe what the completed change must accomplish without prescribing every implementation detail.</a:t>
            </a:r>
          </a:p>
          <a:p>
            <a:endParaRPr dirty="0"/>
          </a:p>
          <a:p>
            <a:r>
              <a:rPr dirty="0"/>
              <a:t>Use the traffic-light example to distinguish requirements from implementation. The issue requires a Street to support multiple traffic lights, permits the Controller to trigger an update, requires each light to advance its state, and protects existing behavior. These statements give the author and reviewers a shared definition of completion.</a:t>
            </a:r>
          </a:p>
          <a:p>
            <a:endParaRPr dirty="0"/>
          </a:p>
          <a:p>
            <a:r>
              <a:rPr dirty="0"/>
              <a:t>Move to the center. The student creates a focused branch linked to the issue. The branch contains the design work, implementation, and tests. If the change affects structure or interactions, the student updates the relevant class or sequence diagram before or while implementing the change.</a:t>
            </a:r>
          </a:p>
          <a:p>
            <a:endParaRPr dirty="0"/>
          </a:p>
          <a:p>
            <a:r>
              <a:rPr dirty="0"/>
              <a:t>Move to the right only after the change is ready for review. The pull request uses a title that corresponds to the issue and includes ‘Closes #42’ so GitHub maintains traceability and closes the issue when the team merges the PR.</a:t>
            </a:r>
          </a:p>
          <a:p>
            <a:endParaRPr dirty="0"/>
          </a:p>
          <a:p>
            <a:r>
              <a:rPr dirty="0"/>
              <a:t>The pull request explains what changed in the design and implementation. It also supplies verification evidence. In this example, the team updated the diagrams, tested the acceptance criteria, obtained two peer approvals, and passed the required CI checks.</a:t>
            </a:r>
          </a:p>
          <a:p>
            <a:endParaRPr dirty="0"/>
          </a:p>
          <a:p>
            <a:r>
              <a:rPr dirty="0"/>
              <a:t>Emphasize the review question at the bottom: does the evidence in the pull request demonstrate every acceptance criterion in the issue? Reviewers should not approve a PR merely because the code looks reasonable or CI passes.</a:t>
            </a:r>
          </a:p>
          <a:p>
            <a:endParaRPr dirty="0"/>
          </a:p>
          <a:p>
            <a:r>
              <a:rPr dirty="0"/>
              <a:t>The issue and pull request serve different purposes. The issue defines the expected outcome before implementation. The pull request documents the completed change and the evidence that it satisfies the issue.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traffic-light feature as the example. The issue asks the team to add traffic lights to a Street. The intended center of change is therefore the Street and the new TrafficLight responsibility.</a:t>
            </a:r>
          </a:p>
          <a:p>
            <a:endParaRPr dirty="0"/>
          </a:p>
          <a:p>
            <a:r>
              <a:rPr dirty="0"/>
              <a:t>The left side shows what can happen when the team begins coding without first deciding where the responsibility belongs. Logic can spread into the Controller, Neighborhood, </a:t>
            </a:r>
            <a:r>
              <a:rPr dirty="0" err="1"/>
              <a:t>TrafficSystem</a:t>
            </a:r>
            <a:r>
              <a:rPr dirty="0"/>
              <a:t>, or even broader system boundaries.</a:t>
            </a:r>
          </a:p>
          <a:p>
            <a:endParaRPr dirty="0"/>
          </a:p>
          <a:p>
            <a:r>
              <a:rPr dirty="0"/>
              <a:t>Changing several classes is not automatically wrong. The problem occurs when the team cannot explain why each affected class must change or how those changes follow from the design.</a:t>
            </a:r>
          </a:p>
          <a:p>
            <a:endParaRPr dirty="0"/>
          </a:p>
          <a:p>
            <a:r>
              <a:rPr dirty="0"/>
              <a:t>Connect this to the issue workflow from the Git and GitHub lab. The issue and its acceptance criteria establish the intended scope. Before implementation, the team should identify the responsible class and update the relevant class or sequence diagram when structure or interactions change.</a:t>
            </a:r>
          </a:p>
          <a:p>
            <a:endParaRPr dirty="0"/>
          </a:p>
          <a:p>
            <a:r>
              <a:rPr dirty="0"/>
              <a:t>On the right, explain the practical consequences. First, the pull request grows beyond the issue. Second, touching unrelated responsibilities increases the chance of regressions. Third, a larger change becomes harder to review and integrate. Merge conflicts may increase, and CI failures can become harder to diagnose because the PR changes several behaviors at once.</a:t>
            </a:r>
          </a:p>
          <a:p>
            <a:endParaRPr dirty="0"/>
          </a:p>
          <a:p>
            <a:r>
              <a:rPr dirty="0"/>
              <a:t>When reviewing a PR, ask whether every modified file is necessary to satisfy the linked issue. If the relationship is unclear, the author should refine the design, split the work, or explain the dependency.</a:t>
            </a:r>
          </a:p>
          <a:p>
            <a:endParaRPr dirty="0"/>
          </a:p>
          <a:p>
            <a:r>
              <a:rPr dirty="0"/>
              <a:t>Conclude with the statement at the bottom. The goal is not to force every change into one class. The goal is to identify the smallest coherent design boundary that satisfies the issue and keeps the PR reviewable.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5B8F3-3B15-96C5-1B51-6C9783A40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05423-7923-7899-7D66-C74FC6565E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874486-8749-2236-F66D-5B8AB36D44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41E36-7270-AF83-AE24-E6E7DB272740}"/>
              </a:ext>
            </a:extLst>
          </p:cNvPr>
          <p:cNvSpPr>
            <a:spLocks noGrp="1"/>
          </p:cNvSpPr>
          <p:nvPr>
            <p:ph type="sldNum" sz="quarter" idx="5"/>
          </p:nvPr>
        </p:nvSpPr>
        <p:spPr/>
        <p:txBody>
          <a:bodyPr/>
          <a:lstStyle/>
          <a:p>
            <a:fld id="{29370A86-051A-7C48-98C3-08CACFB9377A}" type="slidenum">
              <a:rPr lang="en-BE" smtClean="0"/>
              <a:t>17</a:t>
            </a:fld>
            <a:endParaRPr lang="en-BE"/>
          </a:p>
        </p:txBody>
      </p:sp>
    </p:spTree>
    <p:extLst>
      <p:ext uri="{BB962C8B-B14F-4D97-AF65-F5344CB8AC3E}">
        <p14:creationId xmlns:p14="http://schemas.microsoft.com/office/powerpoint/2010/main" val="410465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D470-E232-6DF4-E57B-B636C87D1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2593D-467D-29AF-9DE8-A82C942E99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229874-C0CE-0A1F-2B9F-A279892D90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A344F1-7FA0-215F-AD8F-DDD5F48A1541}"/>
              </a:ext>
            </a:extLst>
          </p:cNvPr>
          <p:cNvSpPr>
            <a:spLocks noGrp="1"/>
          </p:cNvSpPr>
          <p:nvPr>
            <p:ph type="sldNum" sz="quarter" idx="5"/>
          </p:nvPr>
        </p:nvSpPr>
        <p:spPr/>
        <p:txBody>
          <a:bodyPr/>
          <a:lstStyle/>
          <a:p>
            <a:fld id="{29370A86-051A-7C48-98C3-08CACFB9377A}" type="slidenum">
              <a:rPr lang="en-BE" smtClean="0"/>
              <a:t>18</a:t>
            </a:fld>
            <a:endParaRPr lang="en-BE"/>
          </a:p>
        </p:txBody>
      </p:sp>
    </p:spTree>
    <p:extLst>
      <p:ext uri="{BB962C8B-B14F-4D97-AF65-F5344CB8AC3E}">
        <p14:creationId xmlns:p14="http://schemas.microsoft.com/office/powerpoint/2010/main" val="2578322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Treat the PR as one coherent change. Link the issue and acceptance criteria, then explain what changes and why.</a:t>
            </a:r>
          </a:p>
          <a:p>
            <a:endParaRPr/>
          </a:p>
          <a:p>
            <a:r>
              <a:t>Assess structural and behavioral impact. Update a class or sequence diagram when the design changes. Keep the implementation focused and include tests tied to the acceptance criteria.</a:t>
            </a:r>
          </a:p>
          <a:p>
            <a:endParaRPr/>
          </a:p>
          <a:p>
            <a:r>
              <a:t>The PR supplies the evidence: passing CI, maintained coverage, and two peer approvals before merge.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these levels as a teaching framework. Reveal the steps in order, then emphasize Level 4 as the project focus.</a:t>
            </a:r>
          </a:p>
          <a:p>
            <a:endParaRPr dirty="0"/>
          </a:p>
          <a:p>
            <a:r>
              <a:rPr dirty="0"/>
              <a:t>Reactive means code first. Selective means design mainly for major changes. Intentional means considering design impact in each PR and updating diagrams when needed.</a:t>
            </a:r>
          </a:p>
          <a:p>
            <a:endParaRPr dirty="0"/>
          </a:p>
          <a:p>
            <a:r>
              <a:rPr dirty="0"/>
              <a:t>Architectural stewardship builds on that workflow by refactoring deliberately, protecting boundaries, and reducing coupling as the project evolves.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D338-D4BF-63C1-8361-560428BCABA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CBBDB33B-D24D-A607-D07F-FB6B6D398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D035DCB5-EF6D-9E80-03F4-2ED04EFB0A57}"/>
              </a:ext>
            </a:extLst>
          </p:cNvPr>
          <p:cNvSpPr>
            <a:spLocks noGrp="1"/>
          </p:cNvSpPr>
          <p:nvPr>
            <p:ph type="dt" sz="half" idx="10"/>
          </p:nvPr>
        </p:nvSpPr>
        <p:spPr/>
        <p:txBody>
          <a:bodyPr/>
          <a:lstStyle/>
          <a:p>
            <a:fld id="{96BA91C8-B2E3-704D-BB13-1CFAF93BF6B8}" type="datetime1">
              <a:rPr lang="en-US" smtClean="0"/>
              <a:t>9/15/26</a:t>
            </a:fld>
            <a:endParaRPr lang="en-BE"/>
          </a:p>
        </p:txBody>
      </p:sp>
      <p:sp>
        <p:nvSpPr>
          <p:cNvPr id="5" name="Footer Placeholder 4">
            <a:extLst>
              <a:ext uri="{FF2B5EF4-FFF2-40B4-BE49-F238E27FC236}">
                <a16:creationId xmlns:a16="http://schemas.microsoft.com/office/drawing/2014/main" id="{B32FDEDC-6B67-6CD9-4B0F-CF2F4F03767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9F159847-C5AC-85F3-9FD5-0A55F33DF5F9}"/>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4186809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2C583-176C-5FD6-7091-8D1865B25A0A}"/>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6263370-9955-AF6E-9D22-E0BFF730DB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AD4E8C37-DBDE-77E0-0D0D-319BCEE45C82}"/>
              </a:ext>
            </a:extLst>
          </p:cNvPr>
          <p:cNvSpPr>
            <a:spLocks noGrp="1"/>
          </p:cNvSpPr>
          <p:nvPr>
            <p:ph type="dt" sz="half" idx="10"/>
          </p:nvPr>
        </p:nvSpPr>
        <p:spPr/>
        <p:txBody>
          <a:bodyPr/>
          <a:lstStyle/>
          <a:p>
            <a:fld id="{171DC92E-A032-AA40-B206-4B8F85B33AD7}" type="datetime1">
              <a:rPr lang="en-US" smtClean="0"/>
              <a:t>9/15/26</a:t>
            </a:fld>
            <a:endParaRPr lang="en-BE"/>
          </a:p>
        </p:txBody>
      </p:sp>
      <p:sp>
        <p:nvSpPr>
          <p:cNvPr id="5" name="Footer Placeholder 4">
            <a:extLst>
              <a:ext uri="{FF2B5EF4-FFF2-40B4-BE49-F238E27FC236}">
                <a16:creationId xmlns:a16="http://schemas.microsoft.com/office/drawing/2014/main" id="{A4F6DEA8-5E41-EECC-2F72-7375BA4F4339}"/>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AFF8D68D-C953-D3F6-FA9A-A84CCE287477}"/>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868689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A76C-D5D1-F97D-C36A-261E42BC1A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01AE296C-03D6-3B41-6DBA-83C32D0CAD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19FAF7D-ACBA-95B4-93F1-CA843CE7B95D}"/>
              </a:ext>
            </a:extLst>
          </p:cNvPr>
          <p:cNvSpPr>
            <a:spLocks noGrp="1"/>
          </p:cNvSpPr>
          <p:nvPr>
            <p:ph type="dt" sz="half" idx="10"/>
          </p:nvPr>
        </p:nvSpPr>
        <p:spPr/>
        <p:txBody>
          <a:bodyPr/>
          <a:lstStyle/>
          <a:p>
            <a:fld id="{B9F83E1B-DD33-FA46-853E-AA4154D5BD7C}" type="datetime1">
              <a:rPr lang="en-US" smtClean="0"/>
              <a:t>9/15/26</a:t>
            </a:fld>
            <a:endParaRPr lang="en-BE"/>
          </a:p>
        </p:txBody>
      </p:sp>
      <p:sp>
        <p:nvSpPr>
          <p:cNvPr id="5" name="Footer Placeholder 4">
            <a:extLst>
              <a:ext uri="{FF2B5EF4-FFF2-40B4-BE49-F238E27FC236}">
                <a16:creationId xmlns:a16="http://schemas.microsoft.com/office/drawing/2014/main" id="{094BC8B6-032F-00A9-8020-2C016EB43A6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7759562-4C63-EC1E-8258-751A2DF96044}"/>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991449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E3DF-1951-80D7-7D8F-473A68BAC68C}"/>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0591DC6-E6D4-242D-FA12-A84AFED0ED0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B3814202-08A1-BFEF-9E45-D9C643945A4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0698F2AD-12EF-E04D-5BBC-6276C3EC0669}"/>
              </a:ext>
            </a:extLst>
          </p:cNvPr>
          <p:cNvSpPr>
            <a:spLocks noGrp="1"/>
          </p:cNvSpPr>
          <p:nvPr>
            <p:ph type="dt" sz="half" idx="10"/>
          </p:nvPr>
        </p:nvSpPr>
        <p:spPr/>
        <p:txBody>
          <a:bodyPr/>
          <a:lstStyle/>
          <a:p>
            <a:fld id="{9A39B6EE-912C-0F48-A922-B72D2E281D42}" type="datetime1">
              <a:rPr lang="en-US" smtClean="0"/>
              <a:t>9/15/26</a:t>
            </a:fld>
            <a:endParaRPr lang="en-BE"/>
          </a:p>
        </p:txBody>
      </p:sp>
      <p:sp>
        <p:nvSpPr>
          <p:cNvPr id="6" name="Footer Placeholder 5">
            <a:extLst>
              <a:ext uri="{FF2B5EF4-FFF2-40B4-BE49-F238E27FC236}">
                <a16:creationId xmlns:a16="http://schemas.microsoft.com/office/drawing/2014/main" id="{8E6CD995-ADC4-FEB4-DE0B-E7793207337E}"/>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247797B2-D6B3-D7C4-92D4-6202EF255B3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4188066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16CC-7CB6-A70E-8112-F7AF54E06FAC}"/>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0FE6133-46AE-CD7E-C1A7-9C3084EE7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8A7AE51-1139-839C-B51B-D97EFE0C183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7616CA53-85DD-06D2-5CF5-0E255DFD7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E5CEDDC-B200-AA31-37FF-0312D1027FA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F54C1210-18E0-E8D8-093C-FCA522258B24}"/>
              </a:ext>
            </a:extLst>
          </p:cNvPr>
          <p:cNvSpPr>
            <a:spLocks noGrp="1"/>
          </p:cNvSpPr>
          <p:nvPr>
            <p:ph type="dt" sz="half" idx="10"/>
          </p:nvPr>
        </p:nvSpPr>
        <p:spPr/>
        <p:txBody>
          <a:bodyPr/>
          <a:lstStyle/>
          <a:p>
            <a:fld id="{BD638D5E-832C-224C-AA9A-C31D638223D8}" type="datetime1">
              <a:rPr lang="en-US" smtClean="0"/>
              <a:t>9/15/26</a:t>
            </a:fld>
            <a:endParaRPr lang="en-BE"/>
          </a:p>
        </p:txBody>
      </p:sp>
      <p:sp>
        <p:nvSpPr>
          <p:cNvPr id="8" name="Footer Placeholder 7">
            <a:extLst>
              <a:ext uri="{FF2B5EF4-FFF2-40B4-BE49-F238E27FC236}">
                <a16:creationId xmlns:a16="http://schemas.microsoft.com/office/drawing/2014/main" id="{14EFED9E-EAAF-F2AB-2641-45BBF09D418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92B1FEBB-ABEE-1CBA-CB17-10E02E04A16F}"/>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831341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1585F-6FCF-9478-5060-53B7449775D3}"/>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9614A72-C4BA-1B4F-339A-1B654110503D}"/>
              </a:ext>
            </a:extLst>
          </p:cNvPr>
          <p:cNvSpPr>
            <a:spLocks noGrp="1"/>
          </p:cNvSpPr>
          <p:nvPr>
            <p:ph type="dt" sz="half" idx="10"/>
          </p:nvPr>
        </p:nvSpPr>
        <p:spPr/>
        <p:txBody>
          <a:bodyPr/>
          <a:lstStyle/>
          <a:p>
            <a:fld id="{C238A3B2-CE34-414B-B9C4-B8108E527B8D}" type="datetime1">
              <a:rPr lang="en-US" smtClean="0"/>
              <a:t>9/15/26</a:t>
            </a:fld>
            <a:endParaRPr lang="en-BE"/>
          </a:p>
        </p:txBody>
      </p:sp>
      <p:sp>
        <p:nvSpPr>
          <p:cNvPr id="4" name="Footer Placeholder 3">
            <a:extLst>
              <a:ext uri="{FF2B5EF4-FFF2-40B4-BE49-F238E27FC236}">
                <a16:creationId xmlns:a16="http://schemas.microsoft.com/office/drawing/2014/main" id="{ED6E89A0-5ECF-9578-F46C-BD06E5EE4857}"/>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1462BC91-EDCD-E011-B081-68BB1F117C75}"/>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2195708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36B45C-B701-6032-9C0F-C4DBA89BABBB}"/>
              </a:ext>
            </a:extLst>
          </p:cNvPr>
          <p:cNvSpPr>
            <a:spLocks noGrp="1"/>
          </p:cNvSpPr>
          <p:nvPr>
            <p:ph type="dt" sz="half" idx="10"/>
          </p:nvPr>
        </p:nvSpPr>
        <p:spPr/>
        <p:txBody>
          <a:bodyPr/>
          <a:lstStyle/>
          <a:p>
            <a:fld id="{40459100-F087-DD41-91E8-BF774AFE27DF}" type="datetime1">
              <a:rPr lang="en-US" smtClean="0"/>
              <a:t>9/15/26</a:t>
            </a:fld>
            <a:endParaRPr lang="en-BE"/>
          </a:p>
        </p:txBody>
      </p:sp>
      <p:sp>
        <p:nvSpPr>
          <p:cNvPr id="3" name="Footer Placeholder 2">
            <a:extLst>
              <a:ext uri="{FF2B5EF4-FFF2-40B4-BE49-F238E27FC236}">
                <a16:creationId xmlns:a16="http://schemas.microsoft.com/office/drawing/2014/main" id="{355A0ED5-AEED-B85D-AFD5-C8710FC6AE12}"/>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DB4A4D14-A2EB-9B44-C1BA-95B55F0FC0D8}"/>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615652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A4FD-71A8-BD24-A6FA-39A858DBF4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1613F4C1-0E29-75B4-B644-993C97124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18A73BE6-C986-70A6-FA1E-E5C9B6272F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2A41456-587E-967D-D465-AB3FBA99EAFE}"/>
              </a:ext>
            </a:extLst>
          </p:cNvPr>
          <p:cNvSpPr>
            <a:spLocks noGrp="1"/>
          </p:cNvSpPr>
          <p:nvPr>
            <p:ph type="dt" sz="half" idx="10"/>
          </p:nvPr>
        </p:nvSpPr>
        <p:spPr/>
        <p:txBody>
          <a:bodyPr/>
          <a:lstStyle/>
          <a:p>
            <a:fld id="{55D1B03A-66C4-9743-97A2-E6FEE3067D56}" type="datetime1">
              <a:rPr lang="en-US" smtClean="0"/>
              <a:t>9/15/26</a:t>
            </a:fld>
            <a:endParaRPr lang="en-BE"/>
          </a:p>
        </p:txBody>
      </p:sp>
      <p:sp>
        <p:nvSpPr>
          <p:cNvPr id="6" name="Footer Placeholder 5">
            <a:extLst>
              <a:ext uri="{FF2B5EF4-FFF2-40B4-BE49-F238E27FC236}">
                <a16:creationId xmlns:a16="http://schemas.microsoft.com/office/drawing/2014/main" id="{D396DB79-C222-57DF-342D-6FC47CCCC29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A4E92CB4-8900-C252-6051-0AAE06B0AD8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270987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2FBE-9EB0-B72F-2532-3D143A3D73E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7C17B5B4-6E12-35EE-F9C8-DF7BAF1E9E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ACB6719A-2871-BA0E-56DE-266357E6D2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30D149-493D-A359-6735-E099FC04FB8C}"/>
              </a:ext>
            </a:extLst>
          </p:cNvPr>
          <p:cNvSpPr>
            <a:spLocks noGrp="1"/>
          </p:cNvSpPr>
          <p:nvPr>
            <p:ph type="dt" sz="half" idx="10"/>
          </p:nvPr>
        </p:nvSpPr>
        <p:spPr/>
        <p:txBody>
          <a:bodyPr/>
          <a:lstStyle/>
          <a:p>
            <a:fld id="{9792535E-AB61-F24F-9714-D7F54FA51084}" type="datetime1">
              <a:rPr lang="en-US" smtClean="0"/>
              <a:t>9/15/26</a:t>
            </a:fld>
            <a:endParaRPr lang="en-BE"/>
          </a:p>
        </p:txBody>
      </p:sp>
      <p:sp>
        <p:nvSpPr>
          <p:cNvPr id="6" name="Footer Placeholder 5">
            <a:extLst>
              <a:ext uri="{FF2B5EF4-FFF2-40B4-BE49-F238E27FC236}">
                <a16:creationId xmlns:a16="http://schemas.microsoft.com/office/drawing/2014/main" id="{12DE256D-7BB1-18D9-E036-B386663068D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B851CC5E-20D3-5201-2202-71A288AB0A47}"/>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1963372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0255-B7BA-3704-346D-5453C2C3CA67}"/>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D22CC00C-44DB-1E4F-7DD1-3A66B04CB80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44553060-A9EA-490F-30B9-0130AE3BFA47}"/>
              </a:ext>
            </a:extLst>
          </p:cNvPr>
          <p:cNvSpPr>
            <a:spLocks noGrp="1"/>
          </p:cNvSpPr>
          <p:nvPr>
            <p:ph type="dt" sz="half" idx="10"/>
          </p:nvPr>
        </p:nvSpPr>
        <p:spPr/>
        <p:txBody>
          <a:bodyPr/>
          <a:lstStyle/>
          <a:p>
            <a:fld id="{0564D828-BADB-F043-A298-D5A55FD97470}" type="datetime1">
              <a:rPr lang="en-US" smtClean="0"/>
              <a:t>9/15/26</a:t>
            </a:fld>
            <a:endParaRPr lang="en-BE"/>
          </a:p>
        </p:txBody>
      </p:sp>
      <p:sp>
        <p:nvSpPr>
          <p:cNvPr id="5" name="Footer Placeholder 4">
            <a:extLst>
              <a:ext uri="{FF2B5EF4-FFF2-40B4-BE49-F238E27FC236}">
                <a16:creationId xmlns:a16="http://schemas.microsoft.com/office/drawing/2014/main" id="{29EA23EB-46A1-99A7-128F-0902840719F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4B246E6-B784-ED9B-F576-9F583B5FFDB3}"/>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320769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8F506F-2428-ACD9-E81C-5C34D7094EC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DC2330FD-8831-9BDD-3703-B03056DF2C1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D01D94D-E8FA-867E-243D-944A6B07865F}"/>
              </a:ext>
            </a:extLst>
          </p:cNvPr>
          <p:cNvSpPr>
            <a:spLocks noGrp="1"/>
          </p:cNvSpPr>
          <p:nvPr>
            <p:ph type="dt" sz="half" idx="10"/>
          </p:nvPr>
        </p:nvSpPr>
        <p:spPr/>
        <p:txBody>
          <a:bodyPr/>
          <a:lstStyle/>
          <a:p>
            <a:fld id="{A3332606-3532-984E-802A-9CE416040F6B}" type="datetime1">
              <a:rPr lang="en-US" smtClean="0"/>
              <a:t>9/15/26</a:t>
            </a:fld>
            <a:endParaRPr lang="en-BE"/>
          </a:p>
        </p:txBody>
      </p:sp>
      <p:sp>
        <p:nvSpPr>
          <p:cNvPr id="5" name="Footer Placeholder 4">
            <a:extLst>
              <a:ext uri="{FF2B5EF4-FFF2-40B4-BE49-F238E27FC236}">
                <a16:creationId xmlns:a16="http://schemas.microsoft.com/office/drawing/2014/main" id="{599DDFF6-9A45-BAC1-F0F6-669AA3621DE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11925EF-90C0-B247-CEB8-2BA3920E812B}"/>
              </a:ext>
            </a:extLst>
          </p:cNvPr>
          <p:cNvSpPr>
            <a:spLocks noGrp="1"/>
          </p:cNvSpPr>
          <p:nvPr>
            <p:ph type="sldNum" sz="quarter" idx="12"/>
          </p:nvPr>
        </p:nvSpPr>
        <p:spPr/>
        <p:txBody>
          <a:bodyPr/>
          <a:lstStyle/>
          <a:p>
            <a:fld id="{76FC44FA-978A-2F4D-B308-AF3FA2E1E6ED}" type="slidenum">
              <a:rPr lang="en-BE" smtClean="0"/>
              <a:t>‹#›</a:t>
            </a:fld>
            <a:endParaRPr lang="en-BE"/>
          </a:p>
        </p:txBody>
      </p:sp>
    </p:spTree>
    <p:extLst>
      <p:ext uri="{BB962C8B-B14F-4D97-AF65-F5344CB8AC3E}">
        <p14:creationId xmlns:p14="http://schemas.microsoft.com/office/powerpoint/2010/main" val="121931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7311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C901F-9BFC-DC7B-97F9-7148FD22D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5F746409-BB71-519B-DD09-E228630042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B3FEA3D3-F715-CFDC-3DED-C4B7FDAFE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A58D67-8AE7-5F40-AADF-BEF1719A9296}" type="datetime1">
              <a:rPr lang="en-US" smtClean="0"/>
              <a:t>9/15/26</a:t>
            </a:fld>
            <a:endParaRPr lang="en-BE"/>
          </a:p>
        </p:txBody>
      </p:sp>
      <p:sp>
        <p:nvSpPr>
          <p:cNvPr id="5" name="Footer Placeholder 4">
            <a:extLst>
              <a:ext uri="{FF2B5EF4-FFF2-40B4-BE49-F238E27FC236}">
                <a16:creationId xmlns:a16="http://schemas.microsoft.com/office/drawing/2014/main" id="{DCAC09C2-855B-B1BF-E91D-7B99D782D8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66DAAD7C-BFBE-9158-7E25-C2D4C06BD0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C44FA-978A-2F4D-B308-AF3FA2E1E6ED}" type="slidenum">
              <a:rPr lang="en-BE" smtClean="0"/>
              <a:t>‹#›</a:t>
            </a:fld>
            <a:endParaRPr lang="en-BE"/>
          </a:p>
        </p:txBody>
      </p:sp>
    </p:spTree>
    <p:extLst>
      <p:ext uri="{BB962C8B-B14F-4D97-AF65-F5344CB8AC3E}">
        <p14:creationId xmlns:p14="http://schemas.microsoft.com/office/powerpoint/2010/main" val="3176207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freepik.com/premium-vector/ecosystem-icon_211026208.htm" TargetMode="External"/><Relationship Id="rId4" Type="http://schemas.openxmlformats.org/officeDocument/2006/relationships/image" Target="../media/image1.jpeg"/><Relationship Id="rId5" Type="http://schemas.openxmlformats.org/officeDocument/2006/relationships/image" Target="../media/image2.jpg"/><Relationship Id="rId6" Type="http://schemas.openxmlformats.org/officeDocument/2006/relationships/image" Target="../media/image3.jpe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4DCB-4FA0-3888-F823-548AC27B807F}"/>
              </a:ext>
            </a:extLst>
          </p:cNvPr>
          <p:cNvSpPr>
            <a:spLocks noGrp="1"/>
          </p:cNvSpPr>
          <p:nvPr>
            <p:ph type="ctrTitle"/>
          </p:nvPr>
        </p:nvSpPr>
        <p:spPr/>
        <p:txBody>
          <a:bodyPr>
            <a:normAutofit fontScale="90000"/>
          </a:bodyPr>
          <a:lstStyle/>
          <a:p>
            <a:r>
              <a:rPr lang="en-GB" dirty="0"/>
              <a:t>Designing Software Systems for Collaborative Development</a:t>
            </a:r>
            <a:endParaRPr lang="en-BE" dirty="0"/>
          </a:p>
        </p:txBody>
      </p:sp>
      <p:sp>
        <p:nvSpPr>
          <p:cNvPr id="3" name="Subtitle 2">
            <a:extLst>
              <a:ext uri="{FF2B5EF4-FFF2-40B4-BE49-F238E27FC236}">
                <a16:creationId xmlns:a16="http://schemas.microsoft.com/office/drawing/2014/main" id="{B9C91069-3B92-5EB1-FC8F-EE09098BE0C5}"/>
              </a:ext>
            </a:extLst>
          </p:cNvPr>
          <p:cNvSpPr>
            <a:spLocks noGrp="1"/>
          </p:cNvSpPr>
          <p:nvPr>
            <p:ph type="subTitle" idx="1"/>
          </p:nvPr>
        </p:nvSpPr>
        <p:spPr/>
        <p:txBody>
          <a:bodyPr/>
          <a:lstStyle/>
          <a:p>
            <a:pPr marL="0" lvl="0" indent="0" algn="l" rtl="0">
              <a:lnSpc>
                <a:spcPct val="90000"/>
              </a:lnSpc>
              <a:spcBef>
                <a:spcPts val="1000"/>
              </a:spcBef>
              <a:spcAft>
                <a:spcPts val="0"/>
              </a:spcAft>
              <a:buClr>
                <a:srgbClr val="166623"/>
              </a:buClr>
              <a:buSzPts val="2400"/>
              <a:buNone/>
            </a:pPr>
            <a:r>
              <a:rPr lang="en-GB" dirty="0" err="1">
                <a:solidFill>
                  <a:schemeClr val="tx1"/>
                </a:solidFill>
              </a:rPr>
              <a:t>Dr.</a:t>
            </a:r>
            <a:r>
              <a:rPr lang="en-GB" dirty="0">
                <a:solidFill>
                  <a:schemeClr val="tx1"/>
                </a:solidFill>
              </a:rPr>
              <a:t> John Businge</a:t>
            </a:r>
          </a:p>
          <a:p>
            <a:pPr marL="0" lvl="0" indent="0" algn="l" rtl="0">
              <a:lnSpc>
                <a:spcPct val="90000"/>
              </a:lnSpc>
              <a:spcBef>
                <a:spcPts val="1000"/>
              </a:spcBef>
              <a:spcAft>
                <a:spcPts val="0"/>
              </a:spcAft>
              <a:buClr>
                <a:srgbClr val="166623"/>
              </a:buClr>
              <a:buSzPts val="2400"/>
              <a:buNone/>
            </a:pPr>
            <a:r>
              <a:rPr lang="en-GB" dirty="0" err="1"/>
              <a:t>j</a:t>
            </a:r>
            <a:r>
              <a:rPr lang="en-GB" dirty="0" err="1">
                <a:solidFill>
                  <a:schemeClr val="tx1"/>
                </a:solidFill>
              </a:rPr>
              <a:t>ohn.businge@unlv.edu</a:t>
            </a:r>
            <a:endParaRPr lang="en-GB" dirty="0">
              <a:solidFill>
                <a:schemeClr val="tx1"/>
              </a:solidFill>
            </a:endParaRPr>
          </a:p>
          <a:p>
            <a:endParaRPr lang="en-BE" dirty="0"/>
          </a:p>
        </p:txBody>
      </p:sp>
      <p:sp>
        <p:nvSpPr>
          <p:cNvPr id="4" name="Slide Number Placeholder 3">
            <a:extLst>
              <a:ext uri="{FF2B5EF4-FFF2-40B4-BE49-F238E27FC236}">
                <a16:creationId xmlns:a16="http://schemas.microsoft.com/office/drawing/2014/main" id="{ADCFB39F-1018-C5A7-2310-F0A4257BB7B9}"/>
              </a:ext>
            </a:extLst>
          </p:cNvPr>
          <p:cNvSpPr>
            <a:spLocks noGrp="1"/>
          </p:cNvSpPr>
          <p:nvPr>
            <p:ph type="sldNum" sz="quarter" idx="12"/>
          </p:nvPr>
        </p:nvSpPr>
        <p:spPr/>
        <p:txBody>
          <a:bodyPr/>
          <a:lstStyle/>
          <a:p>
            <a:fld id="{76FC44FA-978A-2F4D-B308-AF3FA2E1E6ED}" type="slidenum">
              <a:rPr lang="en-BE" smtClean="0"/>
              <a:t>1</a:t>
            </a:fld>
            <a:endParaRPr lang="en-BE"/>
          </a:p>
        </p:txBody>
      </p:sp>
    </p:spTree>
    <p:extLst>
      <p:ext uri="{BB962C8B-B14F-4D97-AF65-F5344CB8AC3E}">
        <p14:creationId xmlns:p14="http://schemas.microsoft.com/office/powerpoint/2010/main" val="3177385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B02A-6D2C-8593-D1D2-0F7F93D99A00}"/>
              </a:ext>
            </a:extLst>
          </p:cNvPr>
          <p:cNvSpPr>
            <a:spLocks noGrp="1"/>
          </p:cNvSpPr>
          <p:nvPr>
            <p:ph type="title"/>
          </p:nvPr>
        </p:nvSpPr>
        <p:spPr>
          <a:xfrm>
            <a:off x="685306" y="69699"/>
            <a:ext cx="10515600" cy="1325563"/>
          </a:xfrm>
        </p:spPr>
        <p:txBody>
          <a:bodyPr/>
          <a:lstStyle/>
          <a:p>
            <a:r>
              <a:rPr lang="en-BE" b="1" dirty="0"/>
              <a:t>Announcements</a:t>
            </a:r>
          </a:p>
        </p:txBody>
      </p:sp>
      <p:sp>
        <p:nvSpPr>
          <p:cNvPr id="3" name="Content Placeholder 2">
            <a:extLst>
              <a:ext uri="{FF2B5EF4-FFF2-40B4-BE49-F238E27FC236}">
                <a16:creationId xmlns:a16="http://schemas.microsoft.com/office/drawing/2014/main" id="{0ADB13C0-2F22-7B03-F87C-066C9440C4DF}"/>
              </a:ext>
            </a:extLst>
          </p:cNvPr>
          <p:cNvSpPr>
            <a:spLocks noGrp="1"/>
          </p:cNvSpPr>
          <p:nvPr>
            <p:ph idx="1"/>
          </p:nvPr>
        </p:nvSpPr>
        <p:spPr>
          <a:xfrm>
            <a:off x="838200" y="1087099"/>
            <a:ext cx="10515600" cy="4351338"/>
          </a:xfrm>
        </p:spPr>
        <p:txBody>
          <a:bodyPr/>
          <a:lstStyle/>
          <a:p>
            <a:r>
              <a:rPr lang="en-BE" dirty="0"/>
              <a:t>Today is our last in-person meeting</a:t>
            </a:r>
          </a:p>
          <a:p>
            <a:r>
              <a:rPr lang="en-BE" dirty="0"/>
              <a:t>We will meet again as a class during the trial presentation</a:t>
            </a:r>
          </a:p>
          <a:p>
            <a:r>
              <a:rPr lang="en-BE"/>
              <a:t>The Discord communication and meeting minutes are both assessed</a:t>
            </a:r>
            <a:endParaRPr lang="en-BE" dirty="0"/>
          </a:p>
          <a:p>
            <a:r>
              <a:rPr lang="en-BE" dirty="0"/>
              <a:t>Lab 2 is dues 9/18 </a:t>
            </a:r>
          </a:p>
          <a:p>
            <a:r>
              <a:rPr lang="en-BE" dirty="0"/>
              <a:t>Submit your DP I 09/25 on Canvas and pin the Google doc on Discord</a:t>
            </a:r>
          </a:p>
          <a:p>
            <a:r>
              <a:rPr lang="en-BE" dirty="0"/>
              <a:t>Focus on DP II and III – Its both team and individual</a:t>
            </a:r>
          </a:p>
          <a:p>
            <a:pPr lvl="1"/>
            <a:r>
              <a:rPr lang="en-BE" dirty="0"/>
              <a:t>Individual 60%</a:t>
            </a:r>
          </a:p>
          <a:p>
            <a:pPr lvl="1"/>
            <a:r>
              <a:rPr lang="en-BE" dirty="0"/>
              <a:t>Team 40%</a:t>
            </a:r>
          </a:p>
          <a:p>
            <a:pPr marL="0" indent="0">
              <a:buNone/>
            </a:pPr>
            <a:endParaRPr lang="en-BE" dirty="0"/>
          </a:p>
        </p:txBody>
      </p:sp>
      <p:sp>
        <p:nvSpPr>
          <p:cNvPr id="4" name="Slide Number Placeholder 3">
            <a:extLst>
              <a:ext uri="{FF2B5EF4-FFF2-40B4-BE49-F238E27FC236}">
                <a16:creationId xmlns:a16="http://schemas.microsoft.com/office/drawing/2014/main" id="{AF8C59AC-2B89-7EC9-1148-E29E8463B429}"/>
              </a:ext>
            </a:extLst>
          </p:cNvPr>
          <p:cNvSpPr>
            <a:spLocks noGrp="1"/>
          </p:cNvSpPr>
          <p:nvPr>
            <p:ph type="sldNum" sz="quarter" idx="12"/>
          </p:nvPr>
        </p:nvSpPr>
        <p:spPr/>
        <p:txBody>
          <a:bodyPr/>
          <a:lstStyle/>
          <a:p>
            <a:fld id="{76FC44FA-978A-2F4D-B308-AF3FA2E1E6ED}" type="slidenum">
              <a:rPr lang="en-BE" smtClean="0"/>
              <a:t>2</a:t>
            </a:fld>
            <a:endParaRPr lang="en-BE"/>
          </a:p>
        </p:txBody>
      </p:sp>
    </p:spTree>
    <p:extLst>
      <p:ext uri="{BB962C8B-B14F-4D97-AF65-F5344CB8AC3E}">
        <p14:creationId xmlns:p14="http://schemas.microsoft.com/office/powerpoint/2010/main" val="2495615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7E9F4ADC-BF4C-4DD4-A5D3-0110759A8AD9}"/>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Project expectations</a:t>
            </a:r>
          </a:p>
        </p:txBody>
      </p:sp>
      <p:sp>
        <p:nvSpPr>
          <p:cNvPr id="2" name="Slide Number">
            <a:extLst>
              <a:ext uri="{FF2B5EF4-FFF2-40B4-BE49-F238E27FC236}">
                <a16:creationId xmlns:a16="http://schemas.microsoft.com/office/drawing/2014/main" id="{477D505E-B700-4B78-B58F-546EA939899F}"/>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2</a:t>
            </a:r>
          </a:p>
        </p:txBody>
      </p:sp>
      <p:sp>
        <p:nvSpPr>
          <p:cNvPr id="3" name="Project Expectations">
            <a:extLst>
              <a:ext uri="{FF2B5EF4-FFF2-40B4-BE49-F238E27FC236}">
                <a16:creationId xmlns:a16="http://schemas.microsoft.com/office/drawing/2014/main" id="{5AC28139-CC25-42B1-9395-C79EC227F3E8}"/>
              </a:ext>
            </a:extLst>
          </p:cNvPr>
          <p:cNvSpPr>
            <a:spLocks noGrp="1"/>
          </p:cNvSpPr>
          <p:nvPr/>
        </p:nvSpPr>
        <p:spPr>
          <a:xfrm>
            <a:off x="914400" y="1285875"/>
            <a:ext cx="10363200" cy="4476750"/>
          </a:xfrm>
          <a:prstGeom prst="rect">
            <a:avLst/>
          </a:prstGeom>
          <a:noFill/>
          <a:ln w="0">
            <a:noFill/>
          </a:ln>
        </p:spPr>
        <p:txBody>
          <a:bodyPr>
            <a:noAutofit/>
          </a:bodyPr>
          <a:lstStyle/>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Individual contributions account for up to 60% of the project assessment. The team component accounts for 40%.</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Each student completes </a:t>
            </a:r>
            <a:r>
              <a:rPr sz="2025" b="1" dirty="0">
                <a:solidFill>
                  <a:srgbClr val="111111"/>
                </a:solidFill>
                <a:latin typeface="Calibri"/>
                <a:ea typeface="Calibri"/>
                <a:cs typeface="Calibri"/>
              </a:rPr>
              <a:t>at least six meaningful project pull requests </a:t>
            </a:r>
            <a:r>
              <a:rPr sz="2025" dirty="0">
                <a:solidFill>
                  <a:srgbClr val="111111"/>
                </a:solidFill>
                <a:latin typeface="Calibri"/>
                <a:ea typeface="Calibri"/>
                <a:cs typeface="Calibri"/>
              </a:rPr>
              <a:t>during the semester.</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Each project pull request requires at least two teammate approvals and passing CI checks before merge.</a:t>
            </a:r>
          </a:p>
          <a:p>
            <a:pPr marL="469900" indent="-342900">
              <a:spcAft>
                <a:spcPts val="1800"/>
              </a:spcAft>
              <a:buFont typeface="Arial" panose="020B0604020202020204" pitchFamily="34" charset="0"/>
              <a:buChar char="•"/>
              <a:defRPr sz="2025">
                <a:solidFill>
                  <a:srgbClr val="111111"/>
                </a:solidFill>
                <a:latin typeface="Calibri"/>
                <a:ea typeface="Calibri"/>
                <a:cs typeface="Calibri"/>
              </a:defRPr>
            </a:pPr>
            <a:r>
              <a:rPr sz="2025" dirty="0">
                <a:solidFill>
                  <a:srgbClr val="111111"/>
                </a:solidFill>
                <a:latin typeface="Calibri"/>
                <a:ea typeface="Calibri"/>
                <a:cs typeface="Calibri"/>
              </a:rPr>
              <a:t>DP II and DP III each require at least one individual pull request supported by a relevant design diagram.</a:t>
            </a:r>
          </a:p>
        </p:txBody>
      </p:sp>
      <p:sp>
        <p:nvSpPr>
          <p:cNvPr id="4" name="Evidence">
            <a:extLst>
              <a:ext uri="{FF2B5EF4-FFF2-40B4-BE49-F238E27FC236}">
                <a16:creationId xmlns:a16="http://schemas.microsoft.com/office/drawing/2014/main" id="{F14948B2-C868-48A1-9095-E86E2191FF0B}"/>
              </a:ext>
            </a:extLst>
          </p:cNvPr>
          <p:cNvSpPr>
            <a:spLocks noGrp="1"/>
          </p:cNvSpPr>
          <p:nvPr/>
        </p:nvSpPr>
        <p:spPr>
          <a:xfrm>
            <a:off x="914400" y="5715000"/>
            <a:ext cx="10363200" cy="590550"/>
          </a:xfrm>
          <a:prstGeom prst="rect">
            <a:avLst/>
          </a:prstGeom>
          <a:noFill/>
          <a:ln w="0">
            <a:noFill/>
          </a:ln>
        </p:spPr>
        <p:txBody>
          <a:bodyPr>
            <a:noAutofit/>
          </a:bodyPr>
          <a:lstStyle/>
          <a:p>
            <a:pPr>
              <a:defRPr sz="1575" i="1">
                <a:solidFill>
                  <a:srgbClr val="444444"/>
                </a:solidFill>
                <a:latin typeface="Calibri"/>
                <a:ea typeface="Calibri"/>
                <a:cs typeface="Calibri"/>
              </a:defRPr>
            </a:pPr>
            <a:r>
              <a:rPr sz="1575" i="1">
                <a:solidFill>
                  <a:srgbClr val="444444"/>
                </a:solidFill>
                <a:latin typeface="Calibri"/>
                <a:ea typeface="Calibri"/>
                <a:cs typeface="Calibri"/>
              </a:rPr>
              <a:t>Issues, pull requests, reviews, tests, diagrams, and repository activity provide evidence of individual work.</a:t>
            </a:r>
          </a:p>
        </p:txBody>
      </p:sp>
    </p:spTree>
    <p:extLst>
      <p:ext uri="{BB962C8B-B14F-4D97-AF65-F5344CB8AC3E}">
        <p14:creationId xmlns:p14="http://schemas.microsoft.com/office/powerpoint/2010/main" val="1683469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4B17517-CE93-4736-A57E-DC95ADA6B118}"/>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Today’s focus</a:t>
            </a:r>
          </a:p>
        </p:txBody>
      </p:sp>
      <p:sp>
        <p:nvSpPr>
          <p:cNvPr id="2" name="Slide Number">
            <a:extLst>
              <a:ext uri="{FF2B5EF4-FFF2-40B4-BE49-F238E27FC236}">
                <a16:creationId xmlns:a16="http://schemas.microsoft.com/office/drawing/2014/main" id="{ED1519B3-39C9-40E8-B632-DE5D28AD4F06}"/>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3</a:t>
            </a:r>
          </a:p>
        </p:txBody>
      </p:sp>
      <p:sp>
        <p:nvSpPr>
          <p:cNvPr id="3" name="Lesson Roadmap">
            <a:extLst>
              <a:ext uri="{FF2B5EF4-FFF2-40B4-BE49-F238E27FC236}">
                <a16:creationId xmlns:a16="http://schemas.microsoft.com/office/drawing/2014/main" id="{A958F996-7772-4D5D-AB9D-E43AEB43464B}"/>
              </a:ext>
            </a:extLst>
          </p:cNvPr>
          <p:cNvSpPr>
            <a:spLocks noGrp="1"/>
          </p:cNvSpPr>
          <p:nvPr/>
        </p:nvSpPr>
        <p:spPr>
          <a:xfrm>
            <a:off x="914400" y="1428750"/>
            <a:ext cx="10363200" cy="4095750"/>
          </a:xfrm>
          <a:prstGeom prst="rect">
            <a:avLst/>
          </a:prstGeom>
          <a:noFill/>
          <a:ln w="0">
            <a:noFill/>
          </a:ln>
        </p:spPr>
        <p:txBody>
          <a:bodyPr>
            <a:noAutofit/>
          </a:bodyPr>
          <a:lstStyle/>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Calibri"/>
                <a:ea typeface="Calibri"/>
                <a:cs typeface="Calibri"/>
              </a:rPr>
              <a:t>Connect requirements, design decisions, implementation, tests, and CI.</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Calibri"/>
                <a:ea typeface="Calibri"/>
                <a:cs typeface="Calibri"/>
              </a:rPr>
              <a:t>Choose a class diagram for structural changes and a sequence diagram for interaction changes.</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Calibri"/>
                <a:ea typeface="Calibri"/>
                <a:cs typeface="Calibri"/>
              </a:rPr>
              <a:t>Keep each pull request focused on one coherent design and implementation increment.</a:t>
            </a:r>
          </a:p>
          <a:p>
            <a:pPr marL="469900" indent="-342900">
              <a:spcAft>
                <a:spcPts val="2000"/>
              </a:spcAft>
              <a:buFont typeface="Arial" panose="020B0604020202020204" pitchFamily="34" charset="0"/>
              <a:buChar char="•"/>
              <a:defRPr sz="2100">
                <a:solidFill>
                  <a:srgbClr val="111111"/>
                </a:solidFill>
                <a:latin typeface="Calibri"/>
                <a:ea typeface="Calibri"/>
                <a:cs typeface="Calibri"/>
              </a:defRPr>
            </a:pPr>
            <a:r>
              <a:rPr sz="2100" dirty="0">
                <a:solidFill>
                  <a:srgbClr val="111111"/>
                </a:solidFill>
                <a:latin typeface="Calibri"/>
                <a:ea typeface="Calibri"/>
                <a:cs typeface="Calibri"/>
              </a:rPr>
              <a:t>Review whether the diagram, code, and tests describe the same system behavior.</a:t>
            </a:r>
          </a:p>
        </p:txBody>
      </p:sp>
      <p:sp>
        <p:nvSpPr>
          <p:cNvPr id="4" name="Lesson Goal">
            <a:extLst>
              <a:ext uri="{FF2B5EF4-FFF2-40B4-BE49-F238E27FC236}">
                <a16:creationId xmlns:a16="http://schemas.microsoft.com/office/drawing/2014/main" id="{65F80490-F898-49C8-BFF0-30070699066F}"/>
              </a:ext>
            </a:extLst>
          </p:cNvPr>
          <p:cNvSpPr>
            <a:spLocks noGrp="1"/>
          </p:cNvSpPr>
          <p:nvPr/>
        </p:nvSpPr>
        <p:spPr>
          <a:xfrm>
            <a:off x="914400" y="5572125"/>
            <a:ext cx="10363200" cy="666750"/>
          </a:xfrm>
          <a:prstGeom prst="rect">
            <a:avLst/>
          </a:prstGeom>
          <a:noFill/>
          <a:ln w="0">
            <a:noFill/>
          </a:ln>
        </p:spPr>
        <p:txBody>
          <a:bodyPr>
            <a:noAutofit/>
          </a:bodyPr>
          <a:lstStyle/>
          <a:p>
            <a:pPr>
              <a:defRPr sz="1875" b="1">
                <a:solidFill>
                  <a:srgbClr val="1F5B42"/>
                </a:solidFill>
                <a:latin typeface="Calibri"/>
                <a:ea typeface="Calibri"/>
                <a:cs typeface="Calibri"/>
              </a:defRPr>
            </a:pPr>
            <a:r>
              <a:rPr sz="1875" b="1">
                <a:solidFill>
                  <a:srgbClr val="1F5B42"/>
                </a:solidFill>
                <a:latin typeface="Calibri"/>
                <a:ea typeface="Calibri"/>
                <a:cs typeface="Calibri"/>
              </a:rPr>
              <a:t>Make design changes visible and reviewable before they reach the main branch.</a:t>
            </a:r>
          </a:p>
        </p:txBody>
      </p:sp>
    </p:spTree>
    <p:extLst>
      <p:ext uri="{BB962C8B-B14F-4D97-AF65-F5344CB8AC3E}">
        <p14:creationId xmlns:p14="http://schemas.microsoft.com/office/powerpoint/2010/main" val="251678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5D8EA2-1643-5046-F213-B991145F58EA}"/>
              </a:ext>
            </a:extLst>
          </p:cNvPr>
          <p:cNvSpPr>
            <a:spLocks noGrp="1"/>
          </p:cNvSpPr>
          <p:nvPr>
            <p:ph type="title"/>
          </p:nvPr>
        </p:nvSpPr>
        <p:spPr>
          <a:xfrm>
            <a:off x="838200" y="37676"/>
            <a:ext cx="10515600" cy="1325563"/>
          </a:xfrm>
        </p:spPr>
        <p:txBody>
          <a:bodyPr>
            <a:normAutofit/>
          </a:bodyPr>
          <a:lstStyle/>
          <a:p>
            <a:r>
              <a:rPr lang="en-BE" sz="3200" b="1" dirty="0"/>
              <a:t>Design is the bridge from messy reality to stable collaboration</a:t>
            </a:r>
            <a:endParaRPr lang="en-US" sz="3200" dirty="0"/>
          </a:p>
        </p:txBody>
      </p:sp>
      <p:grpSp>
        <p:nvGrpSpPr>
          <p:cNvPr id="12" name="Group 11">
            <a:extLst>
              <a:ext uri="{FF2B5EF4-FFF2-40B4-BE49-F238E27FC236}">
                <a16:creationId xmlns:a16="http://schemas.microsoft.com/office/drawing/2014/main" id="{AEC097A6-1181-DC81-C48D-4CFC46B2C8CD}"/>
              </a:ext>
            </a:extLst>
          </p:cNvPr>
          <p:cNvGrpSpPr/>
          <p:nvPr/>
        </p:nvGrpSpPr>
        <p:grpSpPr>
          <a:xfrm>
            <a:off x="53742" y="1935400"/>
            <a:ext cx="1818213" cy="2173055"/>
            <a:chOff x="527523" y="2494436"/>
            <a:chExt cx="1818213" cy="2173055"/>
          </a:xfrm>
        </p:grpSpPr>
        <p:pic>
          <p:nvPicPr>
            <p:cNvPr id="3076" name="Picture 4" descr="Ecosystem icon | Premium Vector">
              <a:hlinkClick r:id="rId3"/>
              <a:extLst>
                <a:ext uri="{FF2B5EF4-FFF2-40B4-BE49-F238E27FC236}">
                  <a16:creationId xmlns:a16="http://schemas.microsoft.com/office/drawing/2014/main" id="{C7263368-9A28-C5A8-7E5F-050D62780F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523" y="2494436"/>
              <a:ext cx="1818213" cy="18182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DF6226-EACF-2D9A-F48C-0202D1E54C8C}"/>
                </a:ext>
              </a:extLst>
            </p:cNvPr>
            <p:cNvSpPr txBox="1"/>
            <p:nvPr/>
          </p:nvSpPr>
          <p:spPr>
            <a:xfrm>
              <a:off x="748948" y="4267381"/>
              <a:ext cx="1596788" cy="400110"/>
            </a:xfrm>
            <a:prstGeom prst="rect">
              <a:avLst/>
            </a:prstGeom>
            <a:noFill/>
          </p:spPr>
          <p:txBody>
            <a:bodyPr wrap="square" rtlCol="0">
              <a:spAutoFit/>
            </a:bodyPr>
            <a:lstStyle/>
            <a:p>
              <a:r>
                <a:rPr lang="en-US" sz="2000" dirty="0"/>
                <a:t>Real World</a:t>
              </a:r>
            </a:p>
          </p:txBody>
        </p:sp>
      </p:grpSp>
      <p:sp>
        <p:nvSpPr>
          <p:cNvPr id="19" name="Slide Number Placeholder 18">
            <a:extLst>
              <a:ext uri="{FF2B5EF4-FFF2-40B4-BE49-F238E27FC236}">
                <a16:creationId xmlns:a16="http://schemas.microsoft.com/office/drawing/2014/main" id="{964C6481-2B05-7438-8D78-53426A493C78}"/>
              </a:ext>
            </a:extLst>
          </p:cNvPr>
          <p:cNvSpPr>
            <a:spLocks noGrp="1"/>
          </p:cNvSpPr>
          <p:nvPr>
            <p:ph type="sldNum" sz="quarter" idx="12"/>
          </p:nvPr>
        </p:nvSpPr>
        <p:spPr/>
        <p:txBody>
          <a:bodyPr/>
          <a:lstStyle/>
          <a:p>
            <a:fld id="{76FC44FA-978A-2F4D-B308-AF3FA2E1E6ED}" type="slidenum">
              <a:rPr lang="en-BE" smtClean="0"/>
              <a:t>5</a:t>
            </a:fld>
            <a:endParaRPr lang="en-BE"/>
          </a:p>
        </p:txBody>
      </p:sp>
      <p:sp>
        <p:nvSpPr>
          <p:cNvPr id="21" name="TextBox 20">
            <a:extLst>
              <a:ext uri="{FF2B5EF4-FFF2-40B4-BE49-F238E27FC236}">
                <a16:creationId xmlns:a16="http://schemas.microsoft.com/office/drawing/2014/main" id="{9014FC33-E40C-763B-7BCB-91BA31DA2B76}"/>
              </a:ext>
            </a:extLst>
          </p:cNvPr>
          <p:cNvSpPr txBox="1"/>
          <p:nvPr/>
        </p:nvSpPr>
        <p:spPr>
          <a:xfrm>
            <a:off x="1007210" y="5356075"/>
            <a:ext cx="9749949" cy="1200329"/>
          </a:xfrm>
          <a:prstGeom prst="rect">
            <a:avLst/>
          </a:prstGeom>
          <a:noFill/>
          <a:ln w="28575">
            <a:solidFill>
              <a:srgbClr val="0000EA"/>
            </a:solidFill>
          </a:ln>
        </p:spPr>
        <p:txBody>
          <a:bodyPr wrap="square">
            <a:spAutoFit/>
          </a:bodyPr>
          <a:lstStyle/>
          <a:p>
            <a:pPr marL="342900" indent="-342900">
              <a:buFont typeface="Arial" panose="020B0604020202020204" pitchFamily="34" charset="0"/>
              <a:buChar char="•"/>
            </a:pPr>
            <a:r>
              <a:rPr lang="en-GB" sz="2400" dirty="0"/>
              <a:t>The real world is ambiguous. Software must bring structure to ambiguity.</a:t>
            </a:r>
          </a:p>
          <a:p>
            <a:pPr marL="342900" indent="-342900">
              <a:buFont typeface="Arial" panose="020B0604020202020204" pitchFamily="34" charset="0"/>
              <a:buChar char="•"/>
            </a:pPr>
            <a:r>
              <a:rPr lang="en-GB" sz="2400" dirty="0"/>
              <a:t>Failure happens because you skip Domain clarity or Design clarity.</a:t>
            </a:r>
          </a:p>
          <a:p>
            <a:pPr marL="342900" indent="-342900">
              <a:buFont typeface="Arial" panose="020B0604020202020204" pitchFamily="34" charset="0"/>
              <a:buChar char="•"/>
            </a:pPr>
            <a:r>
              <a:rPr lang="en-GB" sz="2400" dirty="0"/>
              <a:t>Design is the bridge between messy reality and stable collaboration.</a:t>
            </a:r>
            <a:endParaRPr lang="en-US" sz="2400" dirty="0"/>
          </a:p>
        </p:txBody>
      </p:sp>
      <p:grpSp>
        <p:nvGrpSpPr>
          <p:cNvPr id="28" name="Group 27">
            <a:extLst>
              <a:ext uri="{FF2B5EF4-FFF2-40B4-BE49-F238E27FC236}">
                <a16:creationId xmlns:a16="http://schemas.microsoft.com/office/drawing/2014/main" id="{0D2A7C7E-80E6-4B17-31A9-48E2D3789668}"/>
              </a:ext>
            </a:extLst>
          </p:cNvPr>
          <p:cNvGrpSpPr/>
          <p:nvPr/>
        </p:nvGrpSpPr>
        <p:grpSpPr>
          <a:xfrm>
            <a:off x="1915569" y="1796478"/>
            <a:ext cx="3765861" cy="3134459"/>
            <a:chOff x="1915569" y="1796478"/>
            <a:chExt cx="3765861" cy="3134459"/>
          </a:xfrm>
        </p:grpSpPr>
        <p:grpSp>
          <p:nvGrpSpPr>
            <p:cNvPr id="16" name="Group 15">
              <a:extLst>
                <a:ext uri="{FF2B5EF4-FFF2-40B4-BE49-F238E27FC236}">
                  <a16:creationId xmlns:a16="http://schemas.microsoft.com/office/drawing/2014/main" id="{40EEF904-73C0-6776-DA9F-A2440456B1E5}"/>
                </a:ext>
              </a:extLst>
            </p:cNvPr>
            <p:cNvGrpSpPr/>
            <p:nvPr/>
          </p:nvGrpSpPr>
          <p:grpSpPr>
            <a:xfrm>
              <a:off x="1915569" y="1796478"/>
              <a:ext cx="3190696" cy="2725778"/>
              <a:chOff x="1915569" y="2356313"/>
              <a:chExt cx="3190696" cy="2725778"/>
            </a:xfrm>
          </p:grpSpPr>
          <p:pic>
            <p:nvPicPr>
              <p:cNvPr id="6" name="Google Shape;195;p9" descr="hand drawn architectural sketch of a modern fantastic city with high  futuristic buildings and people in the streets Stock Vector Image &amp; Art -  Alamy">
                <a:extLst>
                  <a:ext uri="{FF2B5EF4-FFF2-40B4-BE49-F238E27FC236}">
                    <a16:creationId xmlns:a16="http://schemas.microsoft.com/office/drawing/2014/main" id="{59107E59-3D34-189C-1583-D25E4E71F925}"/>
                  </a:ext>
                </a:extLst>
              </p:cNvPr>
              <p:cNvPicPr preferRelativeResize="0"/>
              <p:nvPr/>
            </p:nvPicPr>
            <p:blipFill rotWithShape="1">
              <a:blip r:embed="rId5">
                <a:alphaModFix/>
              </a:blip>
              <a:srcRect b="11422"/>
              <a:stretch/>
            </p:blipFill>
            <p:spPr>
              <a:xfrm>
                <a:off x="2648394" y="2356313"/>
                <a:ext cx="2457871" cy="2145373"/>
              </a:xfrm>
              <a:prstGeom prst="rect">
                <a:avLst/>
              </a:prstGeom>
              <a:noFill/>
              <a:ln>
                <a:noFill/>
              </a:ln>
            </p:spPr>
          </p:pic>
          <p:sp>
            <p:nvSpPr>
              <p:cNvPr id="9" name="TextBox 8">
                <a:extLst>
                  <a:ext uri="{FF2B5EF4-FFF2-40B4-BE49-F238E27FC236}">
                    <a16:creationId xmlns:a16="http://schemas.microsoft.com/office/drawing/2014/main" id="{43926F67-4614-E81D-CF2B-FFA14D5FEDC2}"/>
                  </a:ext>
                </a:extLst>
              </p:cNvPr>
              <p:cNvSpPr txBox="1"/>
              <p:nvPr/>
            </p:nvSpPr>
            <p:spPr>
              <a:xfrm>
                <a:off x="2648394" y="4681981"/>
                <a:ext cx="2303762" cy="400110"/>
              </a:xfrm>
              <a:prstGeom prst="rect">
                <a:avLst/>
              </a:prstGeom>
              <a:noFill/>
            </p:spPr>
            <p:txBody>
              <a:bodyPr wrap="square" rtlCol="0">
                <a:spAutoFit/>
              </a:bodyPr>
              <a:lstStyle/>
              <a:p>
                <a:r>
                  <a:rPr lang="en-US" sz="2000" dirty="0"/>
                  <a:t>Domain Model - DPI</a:t>
                </a:r>
              </a:p>
            </p:txBody>
          </p:sp>
          <p:sp>
            <p:nvSpPr>
              <p:cNvPr id="13" name="Right Arrow 12">
                <a:extLst>
                  <a:ext uri="{FF2B5EF4-FFF2-40B4-BE49-F238E27FC236}">
                    <a16:creationId xmlns:a16="http://schemas.microsoft.com/office/drawing/2014/main" id="{92DCB4C4-E71D-95A1-C221-E0CB05DE8078}"/>
                  </a:ext>
                </a:extLst>
              </p:cNvPr>
              <p:cNvSpPr/>
              <p:nvPr/>
            </p:nvSpPr>
            <p:spPr>
              <a:xfrm>
                <a:off x="1915569" y="3261426"/>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D1ED6F0-192B-EB3A-2F41-0A1A6D9BFF17}"/>
                </a:ext>
              </a:extLst>
            </p:cNvPr>
            <p:cNvSpPr txBox="1"/>
            <p:nvPr/>
          </p:nvSpPr>
          <p:spPr>
            <a:xfrm>
              <a:off x="2516799" y="4561605"/>
              <a:ext cx="3164631" cy="369332"/>
            </a:xfrm>
            <a:prstGeom prst="rect">
              <a:avLst/>
            </a:prstGeom>
            <a:noFill/>
          </p:spPr>
          <p:txBody>
            <a:bodyPr wrap="square">
              <a:spAutoFit/>
            </a:bodyPr>
            <a:lstStyle/>
            <a:p>
              <a:r>
                <a:rPr lang="en-GB" dirty="0"/>
                <a:t>Reduces </a:t>
              </a:r>
              <a:r>
                <a:rPr lang="en-GB" b="1" dirty="0"/>
                <a:t>conceptual conflict</a:t>
              </a:r>
              <a:endParaRPr lang="en-US" dirty="0"/>
            </a:p>
          </p:txBody>
        </p:sp>
      </p:grpSp>
      <p:grpSp>
        <p:nvGrpSpPr>
          <p:cNvPr id="29" name="Group 28">
            <a:extLst>
              <a:ext uri="{FF2B5EF4-FFF2-40B4-BE49-F238E27FC236}">
                <a16:creationId xmlns:a16="http://schemas.microsoft.com/office/drawing/2014/main" id="{39043593-64C2-323A-3A29-D3F7EEABDF0E}"/>
              </a:ext>
            </a:extLst>
          </p:cNvPr>
          <p:cNvGrpSpPr/>
          <p:nvPr/>
        </p:nvGrpSpPr>
        <p:grpSpPr>
          <a:xfrm>
            <a:off x="5280955" y="1461338"/>
            <a:ext cx="3295053" cy="3370477"/>
            <a:chOff x="5280955" y="1461338"/>
            <a:chExt cx="3295053" cy="3370477"/>
          </a:xfrm>
        </p:grpSpPr>
        <p:grpSp>
          <p:nvGrpSpPr>
            <p:cNvPr id="17" name="Group 16">
              <a:extLst>
                <a:ext uri="{FF2B5EF4-FFF2-40B4-BE49-F238E27FC236}">
                  <a16:creationId xmlns:a16="http://schemas.microsoft.com/office/drawing/2014/main" id="{03ABC0DF-5679-1ACA-4074-37CD6D23B14B}"/>
                </a:ext>
              </a:extLst>
            </p:cNvPr>
            <p:cNvGrpSpPr/>
            <p:nvPr/>
          </p:nvGrpSpPr>
          <p:grpSpPr>
            <a:xfrm>
              <a:off x="5280955" y="1461338"/>
              <a:ext cx="3018886" cy="2949410"/>
              <a:chOff x="5280955" y="2021173"/>
              <a:chExt cx="3018886" cy="2949410"/>
            </a:xfrm>
          </p:grpSpPr>
          <p:pic>
            <p:nvPicPr>
              <p:cNvPr id="3081" name="Picture 9" descr="it architecture analyst line icon vector illustration 33064252 Vector Art  at Vecteezy">
                <a:extLst>
                  <a:ext uri="{FF2B5EF4-FFF2-40B4-BE49-F238E27FC236}">
                    <a16:creationId xmlns:a16="http://schemas.microsoft.com/office/drawing/2014/main" id="{7A347320-CD02-E540-2335-FFBABE36D2F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853" t="12936" r="12521" b="12836"/>
              <a:stretch>
                <a:fillRect/>
              </a:stretch>
            </p:blipFill>
            <p:spPr bwMode="auto">
              <a:xfrm>
                <a:off x="5996079" y="2021173"/>
                <a:ext cx="2303762" cy="229147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F39F7CB-9092-4C7D-6694-A509B4E1868A}"/>
                  </a:ext>
                </a:extLst>
              </p:cNvPr>
              <p:cNvSpPr txBox="1"/>
              <p:nvPr/>
            </p:nvSpPr>
            <p:spPr>
              <a:xfrm>
                <a:off x="5973845" y="4570473"/>
                <a:ext cx="2303762" cy="400110"/>
              </a:xfrm>
              <a:prstGeom prst="rect">
                <a:avLst/>
              </a:prstGeom>
              <a:noFill/>
            </p:spPr>
            <p:txBody>
              <a:bodyPr wrap="square" rtlCol="0">
                <a:spAutoFit/>
              </a:bodyPr>
              <a:lstStyle/>
              <a:p>
                <a:r>
                  <a:rPr lang="en-US" sz="2000" dirty="0"/>
                  <a:t>Design Model - DPII</a:t>
                </a:r>
              </a:p>
            </p:txBody>
          </p:sp>
          <p:sp>
            <p:nvSpPr>
              <p:cNvPr id="14" name="Right Arrow 13">
                <a:extLst>
                  <a:ext uri="{FF2B5EF4-FFF2-40B4-BE49-F238E27FC236}">
                    <a16:creationId xmlns:a16="http://schemas.microsoft.com/office/drawing/2014/main" id="{07A6EF04-AA98-033D-E9B6-313975F54D2D}"/>
                  </a:ext>
                </a:extLst>
              </p:cNvPr>
              <p:cNvSpPr/>
              <p:nvPr/>
            </p:nvSpPr>
            <p:spPr>
              <a:xfrm>
                <a:off x="5280955" y="3261426"/>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0FD73732-1299-7694-D591-A696C666582A}"/>
                </a:ext>
              </a:extLst>
            </p:cNvPr>
            <p:cNvSpPr txBox="1"/>
            <p:nvPr/>
          </p:nvSpPr>
          <p:spPr>
            <a:xfrm>
              <a:off x="5828524" y="4462483"/>
              <a:ext cx="2747484" cy="369332"/>
            </a:xfrm>
            <a:prstGeom prst="rect">
              <a:avLst/>
            </a:prstGeom>
            <a:noFill/>
          </p:spPr>
          <p:txBody>
            <a:bodyPr wrap="square">
              <a:spAutoFit/>
            </a:bodyPr>
            <a:lstStyle/>
            <a:p>
              <a:r>
                <a:rPr lang="en-GB" dirty="0"/>
                <a:t>Reduces </a:t>
              </a:r>
              <a:r>
                <a:rPr lang="en-GB" b="1" dirty="0"/>
                <a:t>structural conflict</a:t>
              </a:r>
              <a:endParaRPr lang="en-US" dirty="0"/>
            </a:p>
          </p:txBody>
        </p:sp>
      </p:grpSp>
      <p:grpSp>
        <p:nvGrpSpPr>
          <p:cNvPr id="30" name="Group 29">
            <a:extLst>
              <a:ext uri="{FF2B5EF4-FFF2-40B4-BE49-F238E27FC236}">
                <a16:creationId xmlns:a16="http://schemas.microsoft.com/office/drawing/2014/main" id="{58E166D8-A7BF-A001-75A5-BE34A0CB933C}"/>
              </a:ext>
            </a:extLst>
          </p:cNvPr>
          <p:cNvGrpSpPr/>
          <p:nvPr/>
        </p:nvGrpSpPr>
        <p:grpSpPr>
          <a:xfrm>
            <a:off x="8576008" y="1634294"/>
            <a:ext cx="3447965" cy="2872573"/>
            <a:chOff x="8576008" y="1634294"/>
            <a:chExt cx="3447965" cy="2872573"/>
          </a:xfrm>
        </p:grpSpPr>
        <p:grpSp>
          <p:nvGrpSpPr>
            <p:cNvPr id="18" name="Group 17">
              <a:extLst>
                <a:ext uri="{FF2B5EF4-FFF2-40B4-BE49-F238E27FC236}">
                  <a16:creationId xmlns:a16="http://schemas.microsoft.com/office/drawing/2014/main" id="{CD82A67B-C371-3C20-782D-56281CBFD329}"/>
                </a:ext>
              </a:extLst>
            </p:cNvPr>
            <p:cNvGrpSpPr/>
            <p:nvPr/>
          </p:nvGrpSpPr>
          <p:grpSpPr>
            <a:xfrm>
              <a:off x="8576008" y="1634294"/>
              <a:ext cx="3158115" cy="2519429"/>
              <a:chOff x="8576008" y="2194129"/>
              <a:chExt cx="3158115" cy="2519429"/>
            </a:xfrm>
          </p:grpSpPr>
          <p:pic>
            <p:nvPicPr>
              <p:cNvPr id="3074" name="Picture 2" descr="Pull Request Icons - Free SVG &amp; PNG Pull Request Images - Noun Project">
                <a:extLst>
                  <a:ext uri="{FF2B5EF4-FFF2-40B4-BE49-F238E27FC236}">
                    <a16:creationId xmlns:a16="http://schemas.microsoft.com/office/drawing/2014/main" id="{77F94D26-A0AE-BE59-9311-3EA5BDC9BB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9184717" y="2085173"/>
                <a:ext cx="1925092" cy="214300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5B8A00F-85CD-0373-6208-77AB24E31BD7}"/>
                  </a:ext>
                </a:extLst>
              </p:cNvPr>
              <p:cNvSpPr txBox="1"/>
              <p:nvPr/>
            </p:nvSpPr>
            <p:spPr>
              <a:xfrm>
                <a:off x="8876623" y="4313448"/>
                <a:ext cx="2857500" cy="400110"/>
              </a:xfrm>
              <a:prstGeom prst="rect">
                <a:avLst/>
              </a:prstGeom>
              <a:noFill/>
            </p:spPr>
            <p:txBody>
              <a:bodyPr wrap="square" rtlCol="0">
                <a:spAutoFit/>
              </a:bodyPr>
              <a:lstStyle/>
              <a:p>
                <a:r>
                  <a:rPr lang="en-US" sz="2000" dirty="0"/>
                  <a:t>Implementation + PR + CI</a:t>
                </a:r>
              </a:p>
            </p:txBody>
          </p:sp>
          <p:sp>
            <p:nvSpPr>
              <p:cNvPr id="15" name="Right Arrow 14">
                <a:extLst>
                  <a:ext uri="{FF2B5EF4-FFF2-40B4-BE49-F238E27FC236}">
                    <a16:creationId xmlns:a16="http://schemas.microsoft.com/office/drawing/2014/main" id="{3251922D-FC0C-7809-F87F-C7087C1E5C10}"/>
                  </a:ext>
                </a:extLst>
              </p:cNvPr>
              <p:cNvSpPr/>
              <p:nvPr/>
            </p:nvSpPr>
            <p:spPr>
              <a:xfrm>
                <a:off x="8576008" y="3046473"/>
                <a:ext cx="601230" cy="33514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39EBA464-B239-E4B5-FA49-F3D3DFBB3F87}"/>
                </a:ext>
              </a:extLst>
            </p:cNvPr>
            <p:cNvSpPr txBox="1"/>
            <p:nvPr/>
          </p:nvSpPr>
          <p:spPr>
            <a:xfrm>
              <a:off x="8900450" y="4137535"/>
              <a:ext cx="3123523" cy="369332"/>
            </a:xfrm>
            <a:prstGeom prst="rect">
              <a:avLst/>
            </a:prstGeom>
            <a:noFill/>
          </p:spPr>
          <p:txBody>
            <a:bodyPr wrap="square">
              <a:spAutoFit/>
            </a:bodyPr>
            <a:lstStyle/>
            <a:p>
              <a:r>
                <a:rPr lang="en-GB" dirty="0"/>
                <a:t>CI reduces </a:t>
              </a:r>
              <a:r>
                <a:rPr lang="en-GB" b="1" dirty="0"/>
                <a:t>integration conflict</a:t>
              </a:r>
              <a:endParaRPr lang="en-US" dirty="0"/>
            </a:p>
          </p:txBody>
        </p:sp>
      </p:grpSp>
    </p:spTree>
    <p:extLst>
      <p:ext uri="{BB962C8B-B14F-4D97-AF65-F5344CB8AC3E}">
        <p14:creationId xmlns:p14="http://schemas.microsoft.com/office/powerpoint/2010/main" val="385420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FE56-3E3A-F966-C6E5-C6850AE9BB12}"/>
              </a:ext>
            </a:extLst>
          </p:cNvPr>
          <p:cNvSpPr>
            <a:spLocks noGrp="1"/>
          </p:cNvSpPr>
          <p:nvPr>
            <p:ph type="title"/>
          </p:nvPr>
        </p:nvSpPr>
        <p:spPr>
          <a:xfrm>
            <a:off x="647700" y="37676"/>
            <a:ext cx="10858500" cy="1325563"/>
          </a:xfrm>
        </p:spPr>
        <p:txBody>
          <a:bodyPr>
            <a:normAutofit/>
          </a:bodyPr>
          <a:lstStyle/>
          <a:p>
            <a:r>
              <a:rPr lang="en-BE" sz="2800" b="1" dirty="0"/>
              <a:t>Every feature travels the same path: requirements → design → PR → merge</a:t>
            </a:r>
            <a:endParaRPr lang="en-US" sz="2800" dirty="0"/>
          </a:p>
        </p:txBody>
      </p:sp>
      <p:grpSp>
        <p:nvGrpSpPr>
          <p:cNvPr id="37" name="Group 36">
            <a:extLst>
              <a:ext uri="{FF2B5EF4-FFF2-40B4-BE49-F238E27FC236}">
                <a16:creationId xmlns:a16="http://schemas.microsoft.com/office/drawing/2014/main" id="{81E4FC3E-C31E-6F4B-65F6-D703D1C01573}"/>
              </a:ext>
            </a:extLst>
          </p:cNvPr>
          <p:cNvGrpSpPr/>
          <p:nvPr/>
        </p:nvGrpSpPr>
        <p:grpSpPr>
          <a:xfrm>
            <a:off x="1765294" y="1333225"/>
            <a:ext cx="3930557" cy="5094991"/>
            <a:chOff x="477669" y="1283711"/>
            <a:chExt cx="3930557" cy="5094991"/>
          </a:xfrm>
        </p:grpSpPr>
        <p:sp>
          <p:nvSpPr>
            <p:cNvPr id="12" name="TextBox 11">
              <a:extLst>
                <a:ext uri="{FF2B5EF4-FFF2-40B4-BE49-F238E27FC236}">
                  <a16:creationId xmlns:a16="http://schemas.microsoft.com/office/drawing/2014/main" id="{452FC989-CDFF-A074-2D62-8292B470E86A}"/>
                </a:ext>
              </a:extLst>
            </p:cNvPr>
            <p:cNvSpPr txBox="1"/>
            <p:nvPr/>
          </p:nvSpPr>
          <p:spPr>
            <a:xfrm>
              <a:off x="818866" y="2647669"/>
              <a:ext cx="2893325" cy="461665"/>
            </a:xfrm>
            <a:prstGeom prst="rect">
              <a:avLst/>
            </a:prstGeom>
            <a:noFill/>
            <a:ln w="28575">
              <a:solidFill>
                <a:schemeClr val="tx1"/>
              </a:solidFill>
            </a:ln>
          </p:spPr>
          <p:txBody>
            <a:bodyPr wrap="square" rtlCol="0">
              <a:spAutoFit/>
            </a:bodyPr>
            <a:lstStyle/>
            <a:p>
              <a:pPr algn="ctr"/>
              <a:r>
                <a:rPr lang="en-US" sz="2400" dirty="0"/>
                <a:t>Requirements</a:t>
              </a:r>
            </a:p>
          </p:txBody>
        </p:sp>
        <p:sp>
          <p:nvSpPr>
            <p:cNvPr id="13" name="Right Arrow 12">
              <a:extLst>
                <a:ext uri="{FF2B5EF4-FFF2-40B4-BE49-F238E27FC236}">
                  <a16:creationId xmlns:a16="http://schemas.microsoft.com/office/drawing/2014/main" id="{D9547CB4-870D-96A3-1CFB-41ED8584CEF0}"/>
                </a:ext>
              </a:extLst>
            </p:cNvPr>
            <p:cNvSpPr/>
            <p:nvPr/>
          </p:nvSpPr>
          <p:spPr>
            <a:xfrm rot="5400000">
              <a:off x="1760562" y="3128626"/>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FA7356-7578-A2F6-2808-AE6E0390CB7D}"/>
                </a:ext>
              </a:extLst>
            </p:cNvPr>
            <p:cNvSpPr txBox="1"/>
            <p:nvPr/>
          </p:nvSpPr>
          <p:spPr>
            <a:xfrm>
              <a:off x="818866" y="3491471"/>
              <a:ext cx="2893325" cy="461665"/>
            </a:xfrm>
            <a:prstGeom prst="rect">
              <a:avLst/>
            </a:prstGeom>
            <a:noFill/>
            <a:ln w="28575">
              <a:solidFill>
                <a:schemeClr val="tx1"/>
              </a:solidFill>
            </a:ln>
          </p:spPr>
          <p:txBody>
            <a:bodyPr wrap="square" rtlCol="0">
              <a:spAutoFit/>
            </a:bodyPr>
            <a:lstStyle/>
            <a:p>
              <a:pPr algn="ctr"/>
              <a:r>
                <a:rPr lang="en-US" sz="2400" dirty="0"/>
                <a:t>Use Cases</a:t>
              </a:r>
            </a:p>
          </p:txBody>
        </p:sp>
        <p:sp>
          <p:nvSpPr>
            <p:cNvPr id="15" name="TextBox 14">
              <a:extLst>
                <a:ext uri="{FF2B5EF4-FFF2-40B4-BE49-F238E27FC236}">
                  <a16:creationId xmlns:a16="http://schemas.microsoft.com/office/drawing/2014/main" id="{5CBDBD85-66DC-903F-1663-80746EE79EAA}"/>
                </a:ext>
              </a:extLst>
            </p:cNvPr>
            <p:cNvSpPr txBox="1"/>
            <p:nvPr/>
          </p:nvSpPr>
          <p:spPr>
            <a:xfrm>
              <a:off x="818865" y="4297742"/>
              <a:ext cx="2893325" cy="461665"/>
            </a:xfrm>
            <a:prstGeom prst="rect">
              <a:avLst/>
            </a:prstGeom>
            <a:noFill/>
            <a:ln w="28575">
              <a:solidFill>
                <a:schemeClr val="tx1"/>
              </a:solidFill>
            </a:ln>
          </p:spPr>
          <p:txBody>
            <a:bodyPr wrap="square" rtlCol="0">
              <a:spAutoFit/>
            </a:bodyPr>
            <a:lstStyle/>
            <a:p>
              <a:pPr algn="ctr"/>
              <a:r>
                <a:rPr lang="en-US" sz="2400" dirty="0"/>
                <a:t>Domain Model</a:t>
              </a:r>
            </a:p>
          </p:txBody>
        </p:sp>
        <p:sp>
          <p:nvSpPr>
            <p:cNvPr id="16" name="Right Arrow 15">
              <a:extLst>
                <a:ext uri="{FF2B5EF4-FFF2-40B4-BE49-F238E27FC236}">
                  <a16:creationId xmlns:a16="http://schemas.microsoft.com/office/drawing/2014/main" id="{84C71E4F-2E9E-5054-0446-115E9C01A9FB}"/>
                </a:ext>
              </a:extLst>
            </p:cNvPr>
            <p:cNvSpPr/>
            <p:nvPr/>
          </p:nvSpPr>
          <p:spPr>
            <a:xfrm rot="5400000">
              <a:off x="1760561" y="3962194"/>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0778BCF-5BEB-A636-C74C-D760D11A5DDF}"/>
                </a:ext>
              </a:extLst>
            </p:cNvPr>
            <p:cNvSpPr txBox="1"/>
            <p:nvPr/>
          </p:nvSpPr>
          <p:spPr>
            <a:xfrm>
              <a:off x="477669" y="1283711"/>
              <a:ext cx="3930557" cy="461665"/>
            </a:xfrm>
            <a:prstGeom prst="rect">
              <a:avLst/>
            </a:prstGeom>
            <a:noFill/>
          </p:spPr>
          <p:txBody>
            <a:bodyPr wrap="square">
              <a:spAutoFit/>
            </a:bodyPr>
            <a:lstStyle/>
            <a:p>
              <a:r>
                <a:rPr lang="en-GB" sz="2400" b="1" dirty="0"/>
                <a:t>Architectural Baseline - DPI</a:t>
              </a:r>
              <a:endParaRPr lang="en-US" sz="2400" b="1" dirty="0"/>
            </a:p>
          </p:txBody>
        </p:sp>
        <p:sp>
          <p:nvSpPr>
            <p:cNvPr id="19" name="Right Arrow 18">
              <a:extLst>
                <a:ext uri="{FF2B5EF4-FFF2-40B4-BE49-F238E27FC236}">
                  <a16:creationId xmlns:a16="http://schemas.microsoft.com/office/drawing/2014/main" id="{B83722B1-6B19-00D6-92E8-1E5888CDE7AE}"/>
                </a:ext>
              </a:extLst>
            </p:cNvPr>
            <p:cNvSpPr/>
            <p:nvPr/>
          </p:nvSpPr>
          <p:spPr>
            <a:xfrm rot="5400000">
              <a:off x="1779897" y="4778699"/>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FF6F2F0-A165-7998-68C2-EDEB517B3CE8}"/>
                </a:ext>
              </a:extLst>
            </p:cNvPr>
            <p:cNvSpPr txBox="1"/>
            <p:nvPr/>
          </p:nvSpPr>
          <p:spPr>
            <a:xfrm>
              <a:off x="838201" y="5141544"/>
              <a:ext cx="2893325" cy="461665"/>
            </a:xfrm>
            <a:prstGeom prst="rect">
              <a:avLst/>
            </a:prstGeom>
            <a:noFill/>
            <a:ln w="28575">
              <a:solidFill>
                <a:schemeClr val="tx1"/>
              </a:solidFill>
            </a:ln>
          </p:spPr>
          <p:txBody>
            <a:bodyPr wrap="square" rtlCol="0">
              <a:spAutoFit/>
            </a:bodyPr>
            <a:lstStyle/>
            <a:p>
              <a:pPr algn="ctr"/>
              <a:r>
                <a:rPr lang="en-US" sz="2400" dirty="0"/>
                <a:t>Initial Class Diagrams</a:t>
              </a:r>
            </a:p>
          </p:txBody>
        </p:sp>
        <p:sp>
          <p:nvSpPr>
            <p:cNvPr id="21" name="TextBox 20">
              <a:extLst>
                <a:ext uri="{FF2B5EF4-FFF2-40B4-BE49-F238E27FC236}">
                  <a16:creationId xmlns:a16="http://schemas.microsoft.com/office/drawing/2014/main" id="{CB325002-4618-160D-E531-52105A94A514}"/>
                </a:ext>
              </a:extLst>
            </p:cNvPr>
            <p:cNvSpPr txBox="1"/>
            <p:nvPr/>
          </p:nvSpPr>
          <p:spPr>
            <a:xfrm>
              <a:off x="838200" y="5947815"/>
              <a:ext cx="2893325" cy="430887"/>
            </a:xfrm>
            <a:prstGeom prst="rect">
              <a:avLst/>
            </a:prstGeom>
            <a:noFill/>
            <a:ln w="28575">
              <a:solidFill>
                <a:schemeClr val="tx1"/>
              </a:solidFill>
            </a:ln>
          </p:spPr>
          <p:txBody>
            <a:bodyPr wrap="square" rtlCol="0">
              <a:spAutoFit/>
            </a:bodyPr>
            <a:lstStyle/>
            <a:p>
              <a:pPr algn="ctr"/>
              <a:r>
                <a:rPr lang="en-US" sz="2200" dirty="0"/>
                <a:t>High-level Architecture</a:t>
              </a:r>
            </a:p>
          </p:txBody>
        </p:sp>
        <p:sp>
          <p:nvSpPr>
            <p:cNvPr id="22" name="Right Arrow 21">
              <a:extLst>
                <a:ext uri="{FF2B5EF4-FFF2-40B4-BE49-F238E27FC236}">
                  <a16:creationId xmlns:a16="http://schemas.microsoft.com/office/drawing/2014/main" id="{A278F32E-CB81-CB9C-65AA-21B7CD087E15}"/>
                </a:ext>
              </a:extLst>
            </p:cNvPr>
            <p:cNvSpPr/>
            <p:nvPr/>
          </p:nvSpPr>
          <p:spPr>
            <a:xfrm rot="5400000">
              <a:off x="1779896" y="5612267"/>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BDB2533-1505-3BDF-2CBD-E7D3093AA736}"/>
                </a:ext>
              </a:extLst>
            </p:cNvPr>
            <p:cNvSpPr txBox="1"/>
            <p:nvPr/>
          </p:nvSpPr>
          <p:spPr>
            <a:xfrm>
              <a:off x="834789" y="1831071"/>
              <a:ext cx="2893325" cy="461665"/>
            </a:xfrm>
            <a:prstGeom prst="rect">
              <a:avLst/>
            </a:prstGeom>
            <a:noFill/>
            <a:ln w="28575">
              <a:solidFill>
                <a:schemeClr val="tx1"/>
              </a:solidFill>
            </a:ln>
          </p:spPr>
          <p:txBody>
            <a:bodyPr wrap="square" rtlCol="0">
              <a:spAutoFit/>
            </a:bodyPr>
            <a:lstStyle/>
            <a:p>
              <a:pPr algn="ctr"/>
              <a:r>
                <a:rPr lang="en-US" sz="2400" dirty="0"/>
                <a:t>Problem</a:t>
              </a:r>
            </a:p>
          </p:txBody>
        </p:sp>
        <p:sp>
          <p:nvSpPr>
            <p:cNvPr id="34" name="Right Arrow 33">
              <a:extLst>
                <a:ext uri="{FF2B5EF4-FFF2-40B4-BE49-F238E27FC236}">
                  <a16:creationId xmlns:a16="http://schemas.microsoft.com/office/drawing/2014/main" id="{8D2F2D21-5AA5-8ADE-FF5B-555277C3C891}"/>
                </a:ext>
              </a:extLst>
            </p:cNvPr>
            <p:cNvSpPr/>
            <p:nvPr/>
          </p:nvSpPr>
          <p:spPr>
            <a:xfrm rot="5400000">
              <a:off x="1776485" y="2312028"/>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52F6DF61-B717-75CE-D048-FFD71ED969E4}"/>
              </a:ext>
            </a:extLst>
          </p:cNvPr>
          <p:cNvGrpSpPr/>
          <p:nvPr/>
        </p:nvGrpSpPr>
        <p:grpSpPr>
          <a:xfrm>
            <a:off x="7007335" y="1259780"/>
            <a:ext cx="3930557" cy="5096570"/>
            <a:chOff x="7783775" y="1250730"/>
            <a:chExt cx="3930557" cy="5096570"/>
          </a:xfrm>
        </p:grpSpPr>
        <p:sp>
          <p:nvSpPr>
            <p:cNvPr id="23" name="TextBox 22">
              <a:extLst>
                <a:ext uri="{FF2B5EF4-FFF2-40B4-BE49-F238E27FC236}">
                  <a16:creationId xmlns:a16="http://schemas.microsoft.com/office/drawing/2014/main" id="{B843F92C-5D78-2A94-5EBD-5AD3100B84CD}"/>
                </a:ext>
              </a:extLst>
            </p:cNvPr>
            <p:cNvSpPr txBox="1"/>
            <p:nvPr/>
          </p:nvSpPr>
          <p:spPr>
            <a:xfrm>
              <a:off x="7783775" y="1250730"/>
              <a:ext cx="3930557" cy="461665"/>
            </a:xfrm>
            <a:prstGeom prst="rect">
              <a:avLst/>
            </a:prstGeom>
            <a:noFill/>
          </p:spPr>
          <p:txBody>
            <a:bodyPr wrap="square">
              <a:spAutoFit/>
            </a:bodyPr>
            <a:lstStyle/>
            <a:p>
              <a:r>
                <a:rPr lang="en-GB" sz="2400" b="1" dirty="0"/>
                <a:t>Controlled Evolution - DPII</a:t>
              </a:r>
              <a:endParaRPr lang="en-US" sz="2400" b="1" dirty="0"/>
            </a:p>
          </p:txBody>
        </p:sp>
        <p:sp>
          <p:nvSpPr>
            <p:cNvPr id="24" name="TextBox 23">
              <a:extLst>
                <a:ext uri="{FF2B5EF4-FFF2-40B4-BE49-F238E27FC236}">
                  <a16:creationId xmlns:a16="http://schemas.microsoft.com/office/drawing/2014/main" id="{58E6DFFC-EF77-FE04-2C9A-F7269FCFD1F4}"/>
                </a:ext>
              </a:extLst>
            </p:cNvPr>
            <p:cNvSpPr txBox="1"/>
            <p:nvPr/>
          </p:nvSpPr>
          <p:spPr>
            <a:xfrm>
              <a:off x="7972568" y="1815150"/>
              <a:ext cx="2893325" cy="430887"/>
            </a:xfrm>
            <a:prstGeom prst="rect">
              <a:avLst/>
            </a:prstGeom>
            <a:noFill/>
            <a:ln w="28575">
              <a:solidFill>
                <a:schemeClr val="tx1"/>
              </a:solidFill>
            </a:ln>
          </p:spPr>
          <p:txBody>
            <a:bodyPr wrap="square" rtlCol="0">
              <a:spAutoFit/>
            </a:bodyPr>
            <a:lstStyle/>
            <a:p>
              <a:pPr algn="ctr"/>
              <a:r>
                <a:rPr lang="en-US" sz="2200" dirty="0"/>
                <a:t>Refined Class Diagrams</a:t>
              </a:r>
            </a:p>
          </p:txBody>
        </p:sp>
        <p:sp>
          <p:nvSpPr>
            <p:cNvPr id="25" name="Right Arrow 24">
              <a:extLst>
                <a:ext uri="{FF2B5EF4-FFF2-40B4-BE49-F238E27FC236}">
                  <a16:creationId xmlns:a16="http://schemas.microsoft.com/office/drawing/2014/main" id="{A446AE9B-7C89-38B2-5BBD-CC89C827ED71}"/>
                </a:ext>
              </a:extLst>
            </p:cNvPr>
            <p:cNvSpPr/>
            <p:nvPr/>
          </p:nvSpPr>
          <p:spPr>
            <a:xfrm rot="5400000">
              <a:off x="8914264" y="2296107"/>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08E0AD0-4D89-CC67-0D85-C4349E8305DE}"/>
                </a:ext>
              </a:extLst>
            </p:cNvPr>
            <p:cNvSpPr txBox="1"/>
            <p:nvPr/>
          </p:nvSpPr>
          <p:spPr>
            <a:xfrm>
              <a:off x="7972568" y="2658952"/>
              <a:ext cx="2893325" cy="461665"/>
            </a:xfrm>
            <a:prstGeom prst="rect">
              <a:avLst/>
            </a:prstGeom>
            <a:noFill/>
            <a:ln w="28575">
              <a:solidFill>
                <a:schemeClr val="tx1"/>
              </a:solidFill>
            </a:ln>
          </p:spPr>
          <p:txBody>
            <a:bodyPr wrap="square" rtlCol="0">
              <a:spAutoFit/>
            </a:bodyPr>
            <a:lstStyle/>
            <a:p>
              <a:pPr algn="ctr"/>
              <a:r>
                <a:rPr lang="en-US" sz="2400" dirty="0"/>
                <a:t>Sequence Diagrams</a:t>
              </a:r>
            </a:p>
          </p:txBody>
        </p:sp>
        <p:sp>
          <p:nvSpPr>
            <p:cNvPr id="27" name="TextBox 26">
              <a:extLst>
                <a:ext uri="{FF2B5EF4-FFF2-40B4-BE49-F238E27FC236}">
                  <a16:creationId xmlns:a16="http://schemas.microsoft.com/office/drawing/2014/main" id="{D62535C2-8FF4-F634-975E-B5071F9A6680}"/>
                </a:ext>
              </a:extLst>
            </p:cNvPr>
            <p:cNvSpPr txBox="1"/>
            <p:nvPr/>
          </p:nvSpPr>
          <p:spPr>
            <a:xfrm>
              <a:off x="7972567" y="3465223"/>
              <a:ext cx="2893325" cy="415498"/>
            </a:xfrm>
            <a:prstGeom prst="rect">
              <a:avLst/>
            </a:prstGeom>
            <a:noFill/>
            <a:ln w="28575">
              <a:solidFill>
                <a:schemeClr val="tx1"/>
              </a:solidFill>
            </a:ln>
          </p:spPr>
          <p:txBody>
            <a:bodyPr wrap="square" rtlCol="0">
              <a:spAutoFit/>
            </a:bodyPr>
            <a:lstStyle/>
            <a:p>
              <a:pPr algn="ctr"/>
              <a:r>
                <a:rPr lang="en-US" sz="2100" dirty="0"/>
                <a:t>Feature Implementation</a:t>
              </a:r>
            </a:p>
          </p:txBody>
        </p:sp>
        <p:sp>
          <p:nvSpPr>
            <p:cNvPr id="28" name="Right Arrow 27">
              <a:extLst>
                <a:ext uri="{FF2B5EF4-FFF2-40B4-BE49-F238E27FC236}">
                  <a16:creationId xmlns:a16="http://schemas.microsoft.com/office/drawing/2014/main" id="{DD84C314-6D44-62E5-FEAA-D092BE064560}"/>
                </a:ext>
              </a:extLst>
            </p:cNvPr>
            <p:cNvSpPr/>
            <p:nvPr/>
          </p:nvSpPr>
          <p:spPr>
            <a:xfrm rot="5400000">
              <a:off x="8914263" y="3129675"/>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77EB5A4F-5A56-A4D1-9AC4-77E7794E46EE}"/>
                </a:ext>
              </a:extLst>
            </p:cNvPr>
            <p:cNvSpPr/>
            <p:nvPr/>
          </p:nvSpPr>
          <p:spPr>
            <a:xfrm rot="5400000">
              <a:off x="8933599" y="3946180"/>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72C604D-BE96-2AE9-FB56-7DF36ABE2CFC}"/>
                </a:ext>
              </a:extLst>
            </p:cNvPr>
            <p:cNvSpPr txBox="1"/>
            <p:nvPr/>
          </p:nvSpPr>
          <p:spPr>
            <a:xfrm>
              <a:off x="7991903" y="4309025"/>
              <a:ext cx="2893325" cy="461665"/>
            </a:xfrm>
            <a:prstGeom prst="rect">
              <a:avLst/>
            </a:prstGeom>
            <a:noFill/>
            <a:ln w="28575">
              <a:solidFill>
                <a:schemeClr val="tx1"/>
              </a:solidFill>
            </a:ln>
          </p:spPr>
          <p:txBody>
            <a:bodyPr wrap="square" rtlCol="0">
              <a:spAutoFit/>
            </a:bodyPr>
            <a:lstStyle/>
            <a:p>
              <a:pPr algn="ctr"/>
              <a:r>
                <a:rPr lang="en-US" sz="2400" dirty="0"/>
                <a:t>Pull Request</a:t>
              </a:r>
            </a:p>
          </p:txBody>
        </p:sp>
        <p:sp>
          <p:nvSpPr>
            <p:cNvPr id="31" name="TextBox 30">
              <a:extLst>
                <a:ext uri="{FF2B5EF4-FFF2-40B4-BE49-F238E27FC236}">
                  <a16:creationId xmlns:a16="http://schemas.microsoft.com/office/drawing/2014/main" id="{934D279A-6B7F-5D4F-DB8A-64638D20B449}"/>
                </a:ext>
              </a:extLst>
            </p:cNvPr>
            <p:cNvSpPr txBox="1"/>
            <p:nvPr/>
          </p:nvSpPr>
          <p:spPr>
            <a:xfrm>
              <a:off x="7991902" y="5115296"/>
              <a:ext cx="2893325" cy="430887"/>
            </a:xfrm>
            <a:prstGeom prst="rect">
              <a:avLst/>
            </a:prstGeom>
            <a:noFill/>
            <a:ln w="28575">
              <a:solidFill>
                <a:schemeClr val="tx1"/>
              </a:solidFill>
            </a:ln>
          </p:spPr>
          <p:txBody>
            <a:bodyPr wrap="square" rtlCol="0">
              <a:spAutoFit/>
            </a:bodyPr>
            <a:lstStyle/>
            <a:p>
              <a:pPr algn="ctr"/>
              <a:r>
                <a:rPr lang="en-US" sz="2200" dirty="0"/>
                <a:t>CI + Coverage</a:t>
              </a:r>
            </a:p>
          </p:txBody>
        </p:sp>
        <p:sp>
          <p:nvSpPr>
            <p:cNvPr id="32" name="Right Arrow 31">
              <a:extLst>
                <a:ext uri="{FF2B5EF4-FFF2-40B4-BE49-F238E27FC236}">
                  <a16:creationId xmlns:a16="http://schemas.microsoft.com/office/drawing/2014/main" id="{B2AD3583-4698-AB50-B12F-25301604D03D}"/>
                </a:ext>
              </a:extLst>
            </p:cNvPr>
            <p:cNvSpPr/>
            <p:nvPr/>
          </p:nvSpPr>
          <p:spPr>
            <a:xfrm rot="5400000">
              <a:off x="8933598" y="4779748"/>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DB7F37A-4DC6-3021-D813-33736489D025}"/>
                </a:ext>
              </a:extLst>
            </p:cNvPr>
            <p:cNvSpPr txBox="1"/>
            <p:nvPr/>
          </p:nvSpPr>
          <p:spPr>
            <a:xfrm>
              <a:off x="7991902" y="5916413"/>
              <a:ext cx="2893325" cy="430887"/>
            </a:xfrm>
            <a:prstGeom prst="rect">
              <a:avLst/>
            </a:prstGeom>
            <a:noFill/>
            <a:ln w="28575">
              <a:solidFill>
                <a:schemeClr val="tx1"/>
              </a:solidFill>
            </a:ln>
          </p:spPr>
          <p:txBody>
            <a:bodyPr wrap="square" rtlCol="0">
              <a:spAutoFit/>
            </a:bodyPr>
            <a:lstStyle/>
            <a:p>
              <a:pPr algn="ctr"/>
              <a:r>
                <a:rPr lang="en-US" sz="2200" dirty="0"/>
                <a:t>Merge</a:t>
              </a:r>
            </a:p>
          </p:txBody>
        </p:sp>
        <p:sp>
          <p:nvSpPr>
            <p:cNvPr id="36" name="Right Arrow 35">
              <a:extLst>
                <a:ext uri="{FF2B5EF4-FFF2-40B4-BE49-F238E27FC236}">
                  <a16:creationId xmlns:a16="http://schemas.microsoft.com/office/drawing/2014/main" id="{CAEA3049-B873-3933-E350-4877A7DFC226}"/>
                </a:ext>
              </a:extLst>
            </p:cNvPr>
            <p:cNvSpPr/>
            <p:nvPr/>
          </p:nvSpPr>
          <p:spPr>
            <a:xfrm rot="5400000">
              <a:off x="8933598" y="5580865"/>
              <a:ext cx="354840" cy="31625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Slide Number Placeholder 38">
            <a:extLst>
              <a:ext uri="{FF2B5EF4-FFF2-40B4-BE49-F238E27FC236}">
                <a16:creationId xmlns:a16="http://schemas.microsoft.com/office/drawing/2014/main" id="{7EB3F8CD-CA6B-8A0D-1B2E-9936EDF79980}"/>
              </a:ext>
            </a:extLst>
          </p:cNvPr>
          <p:cNvSpPr>
            <a:spLocks noGrp="1"/>
          </p:cNvSpPr>
          <p:nvPr>
            <p:ph type="sldNum" sz="quarter" idx="12"/>
          </p:nvPr>
        </p:nvSpPr>
        <p:spPr/>
        <p:txBody>
          <a:bodyPr/>
          <a:lstStyle/>
          <a:p>
            <a:fld id="{76FC44FA-978A-2F4D-B308-AF3FA2E1E6ED}" type="slidenum">
              <a:rPr lang="en-BE" smtClean="0"/>
              <a:t>6</a:t>
            </a:fld>
            <a:endParaRPr lang="en-BE"/>
          </a:p>
        </p:txBody>
      </p:sp>
    </p:spTree>
    <p:extLst>
      <p:ext uri="{BB962C8B-B14F-4D97-AF65-F5344CB8AC3E}">
        <p14:creationId xmlns:p14="http://schemas.microsoft.com/office/powerpoint/2010/main" val="74593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4FFCAC-EA38-1B9E-A257-9905C0AC1F57}"/>
              </a:ext>
            </a:extLst>
          </p:cNvPr>
          <p:cNvSpPr>
            <a:spLocks noGrp="1"/>
          </p:cNvSpPr>
          <p:nvPr>
            <p:ph type="title"/>
          </p:nvPr>
        </p:nvSpPr>
        <p:spPr>
          <a:xfrm>
            <a:off x="838200" y="37676"/>
            <a:ext cx="10515600" cy="1026849"/>
          </a:xfrm>
        </p:spPr>
        <p:txBody>
          <a:bodyPr/>
          <a:lstStyle/>
          <a:p>
            <a:r>
              <a:rPr lang="en-GB" b="1" dirty="0"/>
              <a:t>Design Is About Controlling Change</a:t>
            </a:r>
            <a:endParaRPr lang="en-GB" dirty="0"/>
          </a:p>
        </p:txBody>
      </p:sp>
      <p:sp>
        <p:nvSpPr>
          <p:cNvPr id="6" name="TextBox 5">
            <a:extLst>
              <a:ext uri="{FF2B5EF4-FFF2-40B4-BE49-F238E27FC236}">
                <a16:creationId xmlns:a16="http://schemas.microsoft.com/office/drawing/2014/main" id="{4DB1BA17-02BE-27D8-C2B0-05AFEA1FA398}"/>
              </a:ext>
            </a:extLst>
          </p:cNvPr>
          <p:cNvSpPr txBox="1"/>
          <p:nvPr/>
        </p:nvSpPr>
        <p:spPr>
          <a:xfrm>
            <a:off x="736980" y="1061227"/>
            <a:ext cx="9034818" cy="1569660"/>
          </a:xfrm>
          <a:prstGeom prst="rect">
            <a:avLst/>
          </a:prstGeom>
          <a:noFill/>
        </p:spPr>
        <p:txBody>
          <a:bodyPr wrap="square">
            <a:spAutoFit/>
          </a:bodyPr>
          <a:lstStyle/>
          <a:p>
            <a:pPr>
              <a:buFont typeface="+mj-lt"/>
              <a:buAutoNum type="arabicPeriod"/>
            </a:pPr>
            <a:r>
              <a:rPr lang="en-GB" sz="2400" dirty="0"/>
              <a:t>What will change most often in this system?</a:t>
            </a:r>
          </a:p>
          <a:p>
            <a:pPr>
              <a:buFont typeface="+mj-lt"/>
              <a:buAutoNum type="arabicPeriod"/>
            </a:pPr>
            <a:r>
              <a:rPr lang="en-GB" sz="2400" dirty="0"/>
              <a:t>If I add a new feature, how many classes must I modify?</a:t>
            </a:r>
          </a:p>
          <a:p>
            <a:pPr>
              <a:buFont typeface="+mj-lt"/>
              <a:buAutoNum type="arabicPeriod"/>
            </a:pPr>
            <a:r>
              <a:rPr lang="en-GB" sz="2400" dirty="0"/>
              <a:t>Does this design make testing easy?</a:t>
            </a:r>
          </a:p>
          <a:p>
            <a:pPr>
              <a:buFont typeface="+mj-lt"/>
              <a:buAutoNum type="arabicPeriod"/>
            </a:pPr>
            <a:r>
              <a:rPr lang="en-GB" sz="2400" dirty="0"/>
              <a:t>Can this system evolve through small pull requests?</a:t>
            </a:r>
          </a:p>
        </p:txBody>
      </p:sp>
      <p:grpSp>
        <p:nvGrpSpPr>
          <p:cNvPr id="25" name="Group 24">
            <a:extLst>
              <a:ext uri="{FF2B5EF4-FFF2-40B4-BE49-F238E27FC236}">
                <a16:creationId xmlns:a16="http://schemas.microsoft.com/office/drawing/2014/main" id="{3CC9A105-159C-1DAA-AD96-2E143E947D8A}"/>
              </a:ext>
            </a:extLst>
          </p:cNvPr>
          <p:cNvGrpSpPr/>
          <p:nvPr/>
        </p:nvGrpSpPr>
        <p:grpSpPr>
          <a:xfrm>
            <a:off x="375314" y="3010649"/>
            <a:ext cx="5815467" cy="1459732"/>
            <a:chOff x="375314" y="3010649"/>
            <a:chExt cx="5815467" cy="1459732"/>
          </a:xfrm>
        </p:grpSpPr>
        <p:pic>
          <p:nvPicPr>
            <p:cNvPr id="10" name="Picture 9" descr="A black background with white text&#10;&#10;AI-generated content may be incorrect.">
              <a:extLst>
                <a:ext uri="{FF2B5EF4-FFF2-40B4-BE49-F238E27FC236}">
                  <a16:creationId xmlns:a16="http://schemas.microsoft.com/office/drawing/2014/main" id="{39FF7F00-D08E-6AB5-6E39-C7FE5806655C}"/>
                </a:ext>
              </a:extLst>
            </p:cNvPr>
            <p:cNvPicPr>
              <a:picLocks noChangeAspect="1"/>
            </p:cNvPicPr>
            <p:nvPr/>
          </p:nvPicPr>
          <p:blipFill>
            <a:blip r:embed="rId3"/>
            <a:stretch>
              <a:fillRect/>
            </a:stretch>
          </p:blipFill>
          <p:spPr>
            <a:xfrm>
              <a:off x="375314" y="3379981"/>
              <a:ext cx="5815467" cy="1090400"/>
            </a:xfrm>
            <a:prstGeom prst="rect">
              <a:avLst/>
            </a:prstGeom>
          </p:spPr>
        </p:pic>
        <p:sp>
          <p:nvSpPr>
            <p:cNvPr id="14" name="TextBox 13">
              <a:extLst>
                <a:ext uri="{FF2B5EF4-FFF2-40B4-BE49-F238E27FC236}">
                  <a16:creationId xmlns:a16="http://schemas.microsoft.com/office/drawing/2014/main" id="{7D9D3DEE-493A-BB9C-42FA-ECDDFD05F7A6}"/>
                </a:ext>
              </a:extLst>
            </p:cNvPr>
            <p:cNvSpPr txBox="1"/>
            <p:nvPr/>
          </p:nvSpPr>
          <p:spPr>
            <a:xfrm>
              <a:off x="959893" y="3010649"/>
              <a:ext cx="2465695" cy="369332"/>
            </a:xfrm>
            <a:prstGeom prst="rect">
              <a:avLst/>
            </a:prstGeom>
            <a:noFill/>
          </p:spPr>
          <p:txBody>
            <a:bodyPr wrap="square">
              <a:spAutoFit/>
            </a:bodyPr>
            <a:lstStyle/>
            <a:p>
              <a:r>
                <a:rPr lang="en-GB" b="1" dirty="0"/>
                <a:t>BAD DESIGN (Tangled)</a:t>
              </a:r>
              <a:endParaRPr lang="en-US" b="1" dirty="0"/>
            </a:p>
          </p:txBody>
        </p:sp>
      </p:grpSp>
      <p:grpSp>
        <p:nvGrpSpPr>
          <p:cNvPr id="26" name="Group 25">
            <a:extLst>
              <a:ext uri="{FF2B5EF4-FFF2-40B4-BE49-F238E27FC236}">
                <a16:creationId xmlns:a16="http://schemas.microsoft.com/office/drawing/2014/main" id="{BC72F8D9-832F-2517-C381-C1925AC80A7A}"/>
              </a:ext>
            </a:extLst>
          </p:cNvPr>
          <p:cNvGrpSpPr/>
          <p:nvPr/>
        </p:nvGrpSpPr>
        <p:grpSpPr>
          <a:xfrm>
            <a:off x="7624927" y="2581651"/>
            <a:ext cx="3607180" cy="2699529"/>
            <a:chOff x="7624927" y="2581651"/>
            <a:chExt cx="3607180" cy="2699529"/>
          </a:xfrm>
        </p:grpSpPr>
        <p:pic>
          <p:nvPicPr>
            <p:cNvPr id="12" name="Picture 11" descr="A screenshot of a computer program&#10;&#10;AI-generated content may be incorrect.">
              <a:extLst>
                <a:ext uri="{FF2B5EF4-FFF2-40B4-BE49-F238E27FC236}">
                  <a16:creationId xmlns:a16="http://schemas.microsoft.com/office/drawing/2014/main" id="{CEB5E5E4-E427-0D98-EAD5-C714BD14F418}"/>
                </a:ext>
              </a:extLst>
            </p:cNvPr>
            <p:cNvPicPr>
              <a:picLocks noChangeAspect="1"/>
            </p:cNvPicPr>
            <p:nvPr/>
          </p:nvPicPr>
          <p:blipFill>
            <a:blip r:embed="rId4"/>
            <a:stretch>
              <a:fillRect/>
            </a:stretch>
          </p:blipFill>
          <p:spPr>
            <a:xfrm>
              <a:off x="7624927" y="2917855"/>
              <a:ext cx="3607180" cy="2363325"/>
            </a:xfrm>
            <a:prstGeom prst="rect">
              <a:avLst/>
            </a:prstGeom>
          </p:spPr>
        </p:pic>
        <p:sp>
          <p:nvSpPr>
            <p:cNvPr id="16" name="TextBox 15">
              <a:extLst>
                <a:ext uri="{FF2B5EF4-FFF2-40B4-BE49-F238E27FC236}">
                  <a16:creationId xmlns:a16="http://schemas.microsoft.com/office/drawing/2014/main" id="{003B8118-19B1-BE9F-0A6E-F42D3C463E6D}"/>
                </a:ext>
              </a:extLst>
            </p:cNvPr>
            <p:cNvSpPr txBox="1"/>
            <p:nvPr/>
          </p:nvSpPr>
          <p:spPr>
            <a:xfrm>
              <a:off x="8045355" y="2581651"/>
              <a:ext cx="3045725" cy="369332"/>
            </a:xfrm>
            <a:prstGeom prst="rect">
              <a:avLst/>
            </a:prstGeom>
            <a:noFill/>
          </p:spPr>
          <p:txBody>
            <a:bodyPr wrap="square">
              <a:spAutoFit/>
            </a:bodyPr>
            <a:lstStyle/>
            <a:p>
              <a:r>
                <a:rPr lang="en-GB" b="1" dirty="0"/>
                <a:t>GOOD DESIGN (Layered)</a:t>
              </a:r>
              <a:endParaRPr lang="en-US" b="1" dirty="0"/>
            </a:p>
          </p:txBody>
        </p:sp>
      </p:grpSp>
      <p:sp>
        <p:nvSpPr>
          <p:cNvPr id="18" name="TextBox 17">
            <a:extLst>
              <a:ext uri="{FF2B5EF4-FFF2-40B4-BE49-F238E27FC236}">
                <a16:creationId xmlns:a16="http://schemas.microsoft.com/office/drawing/2014/main" id="{52594BB5-AB55-7517-076E-FBF8ED7F30D4}"/>
              </a:ext>
            </a:extLst>
          </p:cNvPr>
          <p:cNvSpPr txBox="1"/>
          <p:nvPr/>
        </p:nvSpPr>
        <p:spPr>
          <a:xfrm>
            <a:off x="375314" y="4655047"/>
            <a:ext cx="4305868" cy="677108"/>
          </a:xfrm>
          <a:prstGeom prst="rect">
            <a:avLst/>
          </a:prstGeom>
          <a:noFill/>
        </p:spPr>
        <p:txBody>
          <a:bodyPr wrap="square">
            <a:spAutoFit/>
          </a:bodyPr>
          <a:lstStyle/>
          <a:p>
            <a:pPr marL="285750" indent="-285750">
              <a:buFont typeface="Arial" panose="020B0604020202020204" pitchFamily="34" charset="0"/>
              <a:buChar char="•"/>
            </a:pPr>
            <a:r>
              <a:rPr lang="en-GB" sz="2000" dirty="0"/>
              <a:t>One change spreads everywhere.</a:t>
            </a:r>
          </a:p>
          <a:p>
            <a:pPr marL="742950" lvl="1" indent="-285750">
              <a:buFont typeface="Arial" panose="020B0604020202020204" pitchFamily="34" charset="0"/>
              <a:buChar char="•"/>
            </a:pPr>
            <a:r>
              <a:rPr lang="en-US" dirty="0"/>
              <a:t>Overdue feature changes 6 classes</a:t>
            </a:r>
          </a:p>
        </p:txBody>
      </p:sp>
      <p:sp>
        <p:nvSpPr>
          <p:cNvPr id="19" name="TextBox 18">
            <a:extLst>
              <a:ext uri="{FF2B5EF4-FFF2-40B4-BE49-F238E27FC236}">
                <a16:creationId xmlns:a16="http://schemas.microsoft.com/office/drawing/2014/main" id="{3CE4A41F-65E6-E996-FDAD-385927EEE0F0}"/>
              </a:ext>
            </a:extLst>
          </p:cNvPr>
          <p:cNvSpPr txBox="1"/>
          <p:nvPr/>
        </p:nvSpPr>
        <p:spPr>
          <a:xfrm>
            <a:off x="7624927" y="5281180"/>
            <a:ext cx="3937379" cy="707886"/>
          </a:xfrm>
          <a:prstGeom prst="rect">
            <a:avLst/>
          </a:prstGeom>
          <a:noFill/>
        </p:spPr>
        <p:txBody>
          <a:bodyPr wrap="square">
            <a:spAutoFit/>
          </a:bodyPr>
          <a:lstStyle/>
          <a:p>
            <a:pPr marL="342900" indent="-342900">
              <a:buFont typeface="Arial" panose="020B0604020202020204" pitchFamily="34" charset="0"/>
              <a:buChar char="•"/>
            </a:pPr>
            <a:r>
              <a:rPr lang="en-GB" sz="2000" dirty="0"/>
              <a:t>One Change stays local</a:t>
            </a:r>
          </a:p>
          <a:p>
            <a:pPr marL="800100" lvl="1" indent="-342900">
              <a:buFont typeface="Arial" panose="020B0604020202020204" pitchFamily="34" charset="0"/>
              <a:buChar char="•"/>
            </a:pPr>
            <a:r>
              <a:rPr lang="en-GB" sz="2000" dirty="0"/>
              <a:t>Changes 1 or 2 classes</a:t>
            </a:r>
            <a:endParaRPr lang="en-US" sz="2000" dirty="0"/>
          </a:p>
        </p:txBody>
      </p:sp>
      <p:sp>
        <p:nvSpPr>
          <p:cNvPr id="20" name="TextBox 19">
            <a:extLst>
              <a:ext uri="{FF2B5EF4-FFF2-40B4-BE49-F238E27FC236}">
                <a16:creationId xmlns:a16="http://schemas.microsoft.com/office/drawing/2014/main" id="{BEA8DEA5-3276-08F7-B187-8B82B7F20309}"/>
              </a:ext>
            </a:extLst>
          </p:cNvPr>
          <p:cNvSpPr txBox="1"/>
          <p:nvPr/>
        </p:nvSpPr>
        <p:spPr>
          <a:xfrm>
            <a:off x="4922293" y="2803520"/>
            <a:ext cx="2461523" cy="369332"/>
          </a:xfrm>
          <a:prstGeom prst="rect">
            <a:avLst/>
          </a:prstGeom>
          <a:noFill/>
          <a:ln w="28575">
            <a:solidFill>
              <a:srgbClr val="C00000"/>
            </a:solidFill>
          </a:ln>
        </p:spPr>
        <p:txBody>
          <a:bodyPr wrap="square" rtlCol="0">
            <a:spAutoFit/>
          </a:bodyPr>
          <a:lstStyle/>
          <a:p>
            <a:r>
              <a:rPr lang="en-US" dirty="0"/>
              <a:t>Book overdue feature</a:t>
            </a:r>
          </a:p>
        </p:txBody>
      </p:sp>
      <p:sp>
        <p:nvSpPr>
          <p:cNvPr id="22" name="TextBox 21">
            <a:extLst>
              <a:ext uri="{FF2B5EF4-FFF2-40B4-BE49-F238E27FC236}">
                <a16:creationId xmlns:a16="http://schemas.microsoft.com/office/drawing/2014/main" id="{0D5E9FD2-FF1F-C3E6-0A1C-A55C551A12BA}"/>
              </a:ext>
            </a:extLst>
          </p:cNvPr>
          <p:cNvSpPr txBox="1"/>
          <p:nvPr/>
        </p:nvSpPr>
        <p:spPr>
          <a:xfrm>
            <a:off x="6520783" y="6096788"/>
            <a:ext cx="5295903" cy="461665"/>
          </a:xfrm>
          <a:prstGeom prst="rect">
            <a:avLst/>
          </a:prstGeom>
          <a:noFill/>
          <a:ln w="28575">
            <a:solidFill>
              <a:srgbClr val="006600"/>
            </a:solidFill>
          </a:ln>
        </p:spPr>
        <p:txBody>
          <a:bodyPr wrap="square">
            <a:spAutoFit/>
          </a:bodyPr>
          <a:lstStyle/>
          <a:p>
            <a:pPr>
              <a:buNone/>
            </a:pPr>
            <a:r>
              <a:rPr lang="en-GB" sz="2400" b="1" dirty="0"/>
              <a:t>Layered design → small PRs → stable CI</a:t>
            </a:r>
          </a:p>
        </p:txBody>
      </p:sp>
      <p:sp>
        <p:nvSpPr>
          <p:cNvPr id="24" name="TextBox 23">
            <a:extLst>
              <a:ext uri="{FF2B5EF4-FFF2-40B4-BE49-F238E27FC236}">
                <a16:creationId xmlns:a16="http://schemas.microsoft.com/office/drawing/2014/main" id="{4113C402-E884-97B0-657B-148F490B1DB9}"/>
              </a:ext>
            </a:extLst>
          </p:cNvPr>
          <p:cNvSpPr txBox="1"/>
          <p:nvPr/>
        </p:nvSpPr>
        <p:spPr>
          <a:xfrm>
            <a:off x="375314" y="5635123"/>
            <a:ext cx="5156957" cy="461665"/>
          </a:xfrm>
          <a:prstGeom prst="rect">
            <a:avLst/>
          </a:prstGeom>
          <a:noFill/>
          <a:ln w="28575">
            <a:solidFill>
              <a:srgbClr val="C00000"/>
            </a:solidFill>
          </a:ln>
        </p:spPr>
        <p:txBody>
          <a:bodyPr wrap="square">
            <a:spAutoFit/>
          </a:bodyPr>
          <a:lstStyle/>
          <a:p>
            <a:pPr>
              <a:buNone/>
            </a:pPr>
            <a:r>
              <a:rPr lang="en-GB" sz="2400" b="1" dirty="0"/>
              <a:t>Tangled design → large PRs → fragile CI</a:t>
            </a:r>
          </a:p>
        </p:txBody>
      </p:sp>
      <p:sp>
        <p:nvSpPr>
          <p:cNvPr id="27" name="Slide Number Placeholder 26">
            <a:extLst>
              <a:ext uri="{FF2B5EF4-FFF2-40B4-BE49-F238E27FC236}">
                <a16:creationId xmlns:a16="http://schemas.microsoft.com/office/drawing/2014/main" id="{E6F8046B-1E42-B271-7F5A-1EDDAF2BB45B}"/>
              </a:ext>
            </a:extLst>
          </p:cNvPr>
          <p:cNvSpPr>
            <a:spLocks noGrp="1"/>
          </p:cNvSpPr>
          <p:nvPr>
            <p:ph type="sldNum" sz="quarter" idx="12"/>
          </p:nvPr>
        </p:nvSpPr>
        <p:spPr/>
        <p:txBody>
          <a:bodyPr/>
          <a:lstStyle/>
          <a:p>
            <a:fld id="{76FC44FA-978A-2F4D-B308-AF3FA2E1E6ED}" type="slidenum">
              <a:rPr lang="en-BE" smtClean="0"/>
              <a:t>7</a:t>
            </a:fld>
            <a:endParaRPr lang="en-BE"/>
          </a:p>
        </p:txBody>
      </p:sp>
    </p:spTree>
    <p:extLst>
      <p:ext uri="{BB962C8B-B14F-4D97-AF65-F5344CB8AC3E}">
        <p14:creationId xmlns:p14="http://schemas.microsoft.com/office/powerpoint/2010/main" val="344560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animBg="1"/>
      <p:bldP spid="22"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678668-5C3C-410D-9F8E-0E6EDC14C0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DA96B6F-7A70-31FD-D3C8-4AB8C60C5F26}"/>
              </a:ext>
            </a:extLst>
          </p:cNvPr>
          <p:cNvSpPr>
            <a:spLocks noGrp="1"/>
          </p:cNvSpPr>
          <p:nvPr>
            <p:ph type="title"/>
          </p:nvPr>
        </p:nvSpPr>
        <p:spPr>
          <a:xfrm>
            <a:off x="838200" y="37676"/>
            <a:ext cx="10515600" cy="1026849"/>
          </a:xfrm>
        </p:spPr>
        <p:txBody>
          <a:bodyPr/>
          <a:lstStyle/>
          <a:p>
            <a:r>
              <a:rPr lang="en-GB" b="1" dirty="0"/>
              <a:t>The Vocabulary of Good Design</a:t>
            </a:r>
            <a:endParaRPr lang="en-GB" dirty="0"/>
          </a:p>
        </p:txBody>
      </p:sp>
      <p:sp>
        <p:nvSpPr>
          <p:cNvPr id="6" name="TextBox 5">
            <a:extLst>
              <a:ext uri="{FF2B5EF4-FFF2-40B4-BE49-F238E27FC236}">
                <a16:creationId xmlns:a16="http://schemas.microsoft.com/office/drawing/2014/main" id="{293CB110-AE9B-4A0E-BF40-5232D5BC6F44}"/>
              </a:ext>
            </a:extLst>
          </p:cNvPr>
          <p:cNvSpPr txBox="1"/>
          <p:nvPr/>
        </p:nvSpPr>
        <p:spPr>
          <a:xfrm>
            <a:off x="838200" y="1280160"/>
            <a:ext cx="9494520" cy="4278094"/>
          </a:xfrm>
          <a:prstGeom prst="rect">
            <a:avLst/>
          </a:prstGeom>
          <a:noFill/>
        </p:spPr>
        <p:txBody>
          <a:bodyPr wrap="square">
            <a:spAutoFit/>
          </a:bodyPr>
          <a:lstStyle/>
          <a:p>
            <a:r>
              <a:rPr lang="en-GB" sz="2800" b="1" dirty="0"/>
              <a:t>Four ideas the rest of this lecture uses:</a:t>
            </a:r>
          </a:p>
          <a:p>
            <a:pPr marL="457200" indent="-457200">
              <a:buFont typeface="+mj-lt"/>
              <a:buAutoNum type="arabicPeriod"/>
            </a:pPr>
            <a:r>
              <a:rPr lang="en-GB" sz="2400" b="1" dirty="0"/>
              <a:t>Coupling</a:t>
            </a:r>
            <a:r>
              <a:rPr lang="en-GB" sz="2400" dirty="0"/>
              <a:t> — how much one class depends on others. Low coupling keeps a change local.</a:t>
            </a:r>
          </a:p>
          <a:p>
            <a:pPr marL="457200" indent="-457200">
              <a:buFont typeface="+mj-lt"/>
              <a:buAutoNum type="arabicPeriod"/>
            </a:pPr>
            <a:r>
              <a:rPr lang="en-GB" sz="2400" b="1" dirty="0"/>
              <a:t>Cohesion</a:t>
            </a:r>
            <a:r>
              <a:rPr lang="en-GB" sz="2400" dirty="0"/>
              <a:t> — how focused a class is. High cohesion means the class has one clear job.</a:t>
            </a:r>
          </a:p>
          <a:p>
            <a:pPr marL="457200" indent="-457200">
              <a:buFont typeface="+mj-lt"/>
              <a:buAutoNum type="arabicPeriod"/>
            </a:pPr>
            <a:r>
              <a:rPr lang="en-GB" sz="2400" b="1" dirty="0"/>
              <a:t>Single Responsibility (SRP)</a:t>
            </a:r>
            <a:r>
              <a:rPr lang="en-GB" sz="2400" dirty="0"/>
              <a:t> — a class should have exactly one reason to change.</a:t>
            </a:r>
          </a:p>
          <a:p>
            <a:pPr marL="457200" indent="-457200">
              <a:buFont typeface="+mj-lt"/>
              <a:buAutoNum type="arabicPeriod"/>
            </a:pPr>
            <a:r>
              <a:rPr lang="en-GB" sz="2400" b="1" dirty="0"/>
              <a:t>Responsibility assignment</a:t>
            </a:r>
            <a:r>
              <a:rPr lang="en-GB" sz="2400" dirty="0"/>
              <a:t> — give each behavior to the class that owns the data (Street owns its traffic loop).</a:t>
            </a:r>
          </a:p>
        </p:txBody>
      </p:sp>
      <p:sp>
        <p:nvSpPr>
          <p:cNvPr id="27" name="Slide Number Placeholder 26">
            <a:extLst>
              <a:ext uri="{FF2B5EF4-FFF2-40B4-BE49-F238E27FC236}">
                <a16:creationId xmlns:a16="http://schemas.microsoft.com/office/drawing/2014/main" id="{0EB41D7C-17F6-E41C-B0FE-960ABDDF5BD1}"/>
              </a:ext>
            </a:extLst>
          </p:cNvPr>
          <p:cNvSpPr>
            <a:spLocks noGrp="1"/>
          </p:cNvSpPr>
          <p:nvPr>
            <p:ph type="sldNum" sz="quarter" idx="12"/>
          </p:nvPr>
        </p:nvSpPr>
        <p:spPr/>
        <p:txBody>
          <a:bodyPr/>
          <a:lstStyle/>
          <a:p>
            <a:fld id="{76FC44FA-978A-2F4D-B308-AF3FA2E1E6ED}" type="slidenum">
              <a:rPr lang="en-BE" smtClean="0"/>
              <a:t>8</a:t>
            </a:fld>
            <a:endParaRPr lang="en-BE"/>
          </a:p>
        </p:txBody>
      </p:sp>
      <p:sp>
        <p:nvSpPr>
          <p:cNvPr id="7" name="TextBox 6">
            <a:extLst>
              <a:ext uri="{FF2B5EF4-FFF2-40B4-BE49-F238E27FC236}">
                <a16:creationId xmlns:a16="http://schemas.microsoft.com/office/drawing/2014/main" id="{715C500C-DE12-5A6C-9A1D-941B550E7F3A}"/>
              </a:ext>
            </a:extLst>
          </p:cNvPr>
          <p:cNvSpPr txBox="1"/>
          <p:nvPr/>
        </p:nvSpPr>
        <p:spPr>
          <a:xfrm>
            <a:off x="1367028" y="5695692"/>
            <a:ext cx="8965692" cy="523220"/>
          </a:xfrm>
          <a:prstGeom prst="rect">
            <a:avLst/>
          </a:prstGeom>
          <a:noFill/>
          <a:ln w="38100">
            <a:solidFill>
              <a:srgbClr val="006600"/>
            </a:solidFill>
          </a:ln>
        </p:spPr>
        <p:txBody>
          <a:bodyPr wrap="square">
            <a:spAutoFit/>
          </a:bodyPr>
          <a:lstStyle/>
          <a:p>
            <a:pPr algn="ctr">
              <a:buNone/>
            </a:pPr>
            <a:r>
              <a:rPr lang="en-GB" sz="2800" b="1" dirty="0"/>
              <a:t>Name the principle, and every design review gets easier.</a:t>
            </a:r>
          </a:p>
        </p:txBody>
      </p:sp>
    </p:spTree>
    <p:extLst>
      <p:ext uri="{BB962C8B-B14F-4D97-AF65-F5344CB8AC3E}">
        <p14:creationId xmlns:p14="http://schemas.microsoft.com/office/powerpoint/2010/main" val="186497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charRg st="401" end="40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charRg st="401" end="40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charRg st="401" end="40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78668-5C3C-410D-9F8E-0E6EDC14C0D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DA96B6F-7A70-31FD-D3C8-4AB8C60C5F26}"/>
              </a:ext>
            </a:extLst>
          </p:cNvPr>
          <p:cNvSpPr>
            <a:spLocks noGrp="1"/>
          </p:cNvSpPr>
          <p:nvPr>
            <p:ph type="title"/>
          </p:nvPr>
        </p:nvSpPr>
        <p:spPr>
          <a:xfrm>
            <a:off x="838200" y="37676"/>
            <a:ext cx="10515600" cy="1026849"/>
          </a:xfrm>
        </p:spPr>
        <p:txBody>
          <a:bodyPr/>
          <a:lstStyle/>
          <a:p>
            <a:r>
              <a:rPr lang="en-GB" b="1" dirty="0"/>
              <a:t>Design before You Code</a:t>
            </a:r>
            <a:endParaRPr lang="en-GB" dirty="0"/>
          </a:p>
        </p:txBody>
      </p:sp>
      <p:sp>
        <p:nvSpPr>
          <p:cNvPr id="6" name="TextBox 5">
            <a:extLst>
              <a:ext uri="{FF2B5EF4-FFF2-40B4-BE49-F238E27FC236}">
                <a16:creationId xmlns:a16="http://schemas.microsoft.com/office/drawing/2014/main" id="{293CB110-AE9B-4A0E-BF40-5232D5BC6F44}"/>
              </a:ext>
            </a:extLst>
          </p:cNvPr>
          <p:cNvSpPr txBox="1"/>
          <p:nvPr/>
        </p:nvSpPr>
        <p:spPr>
          <a:xfrm>
            <a:off x="838200" y="1280160"/>
            <a:ext cx="9494520" cy="4278094"/>
          </a:xfrm>
          <a:prstGeom prst="rect">
            <a:avLst/>
          </a:prstGeom>
          <a:noFill/>
        </p:spPr>
        <p:txBody>
          <a:bodyPr wrap="square">
            <a:spAutoFit/>
          </a:bodyPr>
          <a:lstStyle/>
          <a:p>
            <a:r>
              <a:rPr lang="en-GB" sz="2800" b="1" dirty="0"/>
              <a:t>Before Opening a Pull Request, Ask:</a:t>
            </a:r>
          </a:p>
          <a:p>
            <a:pPr marL="457200" indent="-457200">
              <a:buFont typeface="+mj-lt"/>
              <a:buAutoNum type="arabicPeriod"/>
            </a:pPr>
            <a:r>
              <a:rPr lang="en-GB" sz="2400" dirty="0"/>
              <a:t>What requirement / issue does this PR address?</a:t>
            </a:r>
          </a:p>
          <a:p>
            <a:pPr marL="457200" indent="-457200">
              <a:buFont typeface="+mj-lt"/>
              <a:buAutoNum type="arabicPeriod"/>
            </a:pPr>
            <a:r>
              <a:rPr lang="en-GB" sz="2400" dirty="0"/>
              <a:t>What type of PR is this?</a:t>
            </a:r>
          </a:p>
          <a:p>
            <a:pPr marL="914400" lvl="1" indent="-457200">
              <a:buFont typeface="Arial" panose="020B0604020202020204" pitchFamily="34" charset="0"/>
              <a:buChar char="•"/>
            </a:pPr>
            <a:r>
              <a:rPr lang="en-GB" sz="2000" dirty="0"/>
              <a:t>Feature</a:t>
            </a:r>
          </a:p>
          <a:p>
            <a:pPr marL="914400" lvl="1" indent="-457200">
              <a:buFont typeface="Arial" panose="020B0604020202020204" pitchFamily="34" charset="0"/>
              <a:buChar char="•"/>
            </a:pPr>
            <a:r>
              <a:rPr lang="en-GB" sz="2000" dirty="0"/>
              <a:t>Refactor</a:t>
            </a:r>
          </a:p>
          <a:p>
            <a:pPr marL="914400" lvl="1" indent="-457200">
              <a:buFont typeface="Arial" panose="020B0604020202020204" pitchFamily="34" charset="0"/>
              <a:buChar char="•"/>
            </a:pPr>
            <a:r>
              <a:rPr lang="en-GB" sz="2000" dirty="0"/>
              <a:t>Test-only</a:t>
            </a:r>
          </a:p>
          <a:p>
            <a:pPr marL="914400" lvl="1" indent="-457200">
              <a:buFont typeface="Arial" panose="020B0604020202020204" pitchFamily="34" charset="0"/>
              <a:buChar char="•"/>
            </a:pPr>
            <a:r>
              <a:rPr lang="en-GB" sz="2000" dirty="0"/>
              <a:t>CI / Config</a:t>
            </a:r>
          </a:p>
          <a:p>
            <a:pPr marL="914400" lvl="1" indent="-457200">
              <a:buFont typeface="Arial" panose="020B0604020202020204" pitchFamily="34" charset="0"/>
              <a:buChar char="•"/>
            </a:pPr>
            <a:r>
              <a:rPr lang="en-GB" sz="2000" dirty="0"/>
              <a:t>Documentation</a:t>
            </a:r>
          </a:p>
          <a:p>
            <a:pPr marL="457200" indent="-457200">
              <a:buFont typeface="+mj-lt"/>
              <a:buAutoNum type="arabicPeriod"/>
            </a:pPr>
            <a:r>
              <a:rPr lang="en-GB" sz="2400" dirty="0"/>
              <a:t>Am I changing structure (classes, responsibilities)?</a:t>
            </a:r>
          </a:p>
          <a:p>
            <a:pPr marL="457200" indent="-457200">
              <a:buFont typeface="+mj-lt"/>
              <a:buAutoNum type="arabicPeriod"/>
            </a:pPr>
            <a:r>
              <a:rPr lang="en-GB" sz="2400" dirty="0"/>
              <a:t>Am I changing </a:t>
            </a:r>
            <a:r>
              <a:rPr lang="en-GB" sz="2400" dirty="0" err="1"/>
              <a:t>behavior</a:t>
            </a:r>
            <a:r>
              <a:rPr lang="en-GB" sz="2400" dirty="0"/>
              <a:t> (interactions between objects)?</a:t>
            </a:r>
          </a:p>
          <a:p>
            <a:pPr marL="457200" indent="-457200">
              <a:buFont typeface="+mj-lt"/>
              <a:buAutoNum type="arabicPeriod"/>
            </a:pPr>
            <a:r>
              <a:rPr lang="en-GB" sz="2400" dirty="0"/>
              <a:t>Is this change localized to a coherent part of the system?</a:t>
            </a:r>
          </a:p>
          <a:p>
            <a:pPr marL="457200" indent="-457200">
              <a:buFont typeface="+mj-lt"/>
              <a:buAutoNum type="arabicPeriod"/>
            </a:pPr>
            <a:r>
              <a:rPr lang="en-GB" sz="2400" dirty="0"/>
              <a:t>Do I need to update a diagram or design artifact?</a:t>
            </a:r>
          </a:p>
        </p:txBody>
      </p:sp>
      <p:sp>
        <p:nvSpPr>
          <p:cNvPr id="27" name="Slide Number Placeholder 26">
            <a:extLst>
              <a:ext uri="{FF2B5EF4-FFF2-40B4-BE49-F238E27FC236}">
                <a16:creationId xmlns:a16="http://schemas.microsoft.com/office/drawing/2014/main" id="{0EB41D7C-17F6-E41C-B0FE-960ABDDF5BD1}"/>
              </a:ext>
            </a:extLst>
          </p:cNvPr>
          <p:cNvSpPr>
            <a:spLocks noGrp="1"/>
          </p:cNvSpPr>
          <p:nvPr>
            <p:ph type="sldNum" sz="quarter" idx="12"/>
          </p:nvPr>
        </p:nvSpPr>
        <p:spPr/>
        <p:txBody>
          <a:bodyPr/>
          <a:lstStyle/>
          <a:p>
            <a:fld id="{76FC44FA-978A-2F4D-B308-AF3FA2E1E6ED}" type="slidenum">
              <a:rPr lang="en-BE" smtClean="0"/>
              <a:t>9</a:t>
            </a:fld>
            <a:endParaRPr lang="en-BE"/>
          </a:p>
        </p:txBody>
      </p:sp>
      <p:sp>
        <p:nvSpPr>
          <p:cNvPr id="7" name="TextBox 6">
            <a:extLst>
              <a:ext uri="{FF2B5EF4-FFF2-40B4-BE49-F238E27FC236}">
                <a16:creationId xmlns:a16="http://schemas.microsoft.com/office/drawing/2014/main" id="{715C500C-DE12-5A6C-9A1D-941B550E7F3A}"/>
              </a:ext>
            </a:extLst>
          </p:cNvPr>
          <p:cNvSpPr txBox="1"/>
          <p:nvPr/>
        </p:nvSpPr>
        <p:spPr>
          <a:xfrm>
            <a:off x="1367028" y="5954137"/>
            <a:ext cx="8965692" cy="584775"/>
          </a:xfrm>
          <a:prstGeom prst="rect">
            <a:avLst/>
          </a:prstGeom>
          <a:noFill/>
          <a:ln w="38100">
            <a:solidFill>
              <a:srgbClr val="006600"/>
            </a:solidFill>
          </a:ln>
        </p:spPr>
        <p:txBody>
          <a:bodyPr wrap="square">
            <a:spAutoFit/>
          </a:bodyPr>
          <a:lstStyle/>
          <a:p>
            <a:pPr algn="ctr">
              <a:buNone/>
            </a:pPr>
            <a:r>
              <a:rPr lang="en-GB" sz="3200" b="1" dirty="0"/>
              <a:t>If architecture changes, the design must reflect it.</a:t>
            </a:r>
          </a:p>
        </p:txBody>
      </p:sp>
    </p:spTree>
    <p:extLst>
      <p:ext uri="{BB962C8B-B14F-4D97-AF65-F5344CB8AC3E}">
        <p14:creationId xmlns:p14="http://schemas.microsoft.com/office/powerpoint/2010/main" val="4372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a:extLst>
              <a:ext uri="{FF2B5EF4-FFF2-40B4-BE49-F238E27FC236}">
                <a16:creationId xmlns:a16="http://schemas.microsoft.com/office/drawing/2014/main" id="{F65CF1F3-7AB2-4DC7-88FA-BD1528CEBDAE}"/>
              </a:ext>
            </a:extLst>
          </p:cNvPr>
          <p:cNvSpPr>
            <a:spLocks noGrp="1"/>
          </p:cNvSpPr>
          <p:nvPr/>
        </p:nvSpPr>
        <p:spPr>
          <a:xfrm>
            <a:off x="666750" y="285750"/>
            <a:ext cx="10858500" cy="590550"/>
          </a:xfrm>
          <a:prstGeom prst="rect">
            <a:avLst/>
          </a:prstGeom>
          <a:noFill/>
          <a:ln w="0">
            <a:noFill/>
          </a:ln>
        </p:spPr>
        <p:txBody>
          <a:bodyPr anchor="t">
            <a:noAutofit/>
          </a:bodyPr>
          <a:lstStyle/>
          <a:p>
            <a:pPr>
              <a:defRPr sz="3000">
                <a:solidFill>
                  <a:srgbClr val="151515"/>
                </a:solidFill>
                <a:latin typeface="Calibri"/>
                <a:ea typeface="Calibri"/>
                <a:cs typeface="Calibri"/>
              </a:defRPr>
            </a:pPr>
            <a:r>
              <a:rPr sz="3000" dirty="0">
                <a:solidFill>
                  <a:srgbClr val="151515"/>
                </a:solidFill>
                <a:latin typeface="Calibri"/>
                <a:ea typeface="Calibri"/>
                <a:cs typeface="Calibri"/>
              </a:rPr>
              <a:t>Choose the Diagram That Matches the</a:t>
            </a:r>
            <a:r>
              <a:rPr lang="en-BE" sz="3000" dirty="0">
                <a:solidFill>
                  <a:srgbClr val="151515"/>
                </a:solidFill>
                <a:latin typeface="Calibri"/>
                <a:ea typeface="Calibri"/>
                <a:cs typeface="Calibri"/>
              </a:rPr>
              <a:t> </a:t>
            </a:r>
            <a:r>
              <a:rPr sz="3000" dirty="0">
                <a:solidFill>
                  <a:srgbClr val="151515"/>
                </a:solidFill>
                <a:latin typeface="Calibri"/>
                <a:ea typeface="Calibri"/>
                <a:cs typeface="Calibri"/>
              </a:rPr>
              <a:t>Change</a:t>
            </a:r>
          </a:p>
        </p:txBody>
      </p:sp>
      <p:sp>
        <p:nvSpPr>
          <p:cNvPr id="2" name="Subtitle">
            <a:extLst>
              <a:ext uri="{FF2B5EF4-FFF2-40B4-BE49-F238E27FC236}">
                <a16:creationId xmlns:a16="http://schemas.microsoft.com/office/drawing/2014/main" id="{DD7AF5C4-141B-4FFD-BD26-A8BDF580A3C9}"/>
              </a:ext>
            </a:extLst>
          </p:cNvPr>
          <p:cNvSpPr>
            <a:spLocks noGrp="1"/>
          </p:cNvSpPr>
          <p:nvPr/>
        </p:nvSpPr>
        <p:spPr>
          <a:xfrm>
            <a:off x="704850" y="914400"/>
            <a:ext cx="10668000" cy="400050"/>
          </a:xfrm>
          <a:prstGeom prst="rect">
            <a:avLst/>
          </a:prstGeom>
          <a:noFill/>
          <a:ln w="0">
            <a:noFill/>
          </a:ln>
        </p:spPr>
        <p:txBody>
          <a:bodyPr anchor="t">
            <a:noAutofit/>
          </a:bodyPr>
          <a:lstStyle/>
          <a:p>
            <a:pPr>
              <a:defRPr sz="1725">
                <a:solidFill>
                  <a:srgbClr val="5B6874"/>
                </a:solidFill>
                <a:latin typeface="Calibri"/>
                <a:ea typeface="Calibri"/>
                <a:cs typeface="Calibri"/>
              </a:defRPr>
            </a:pPr>
            <a:r>
              <a:rPr sz="1725" dirty="0">
                <a:solidFill>
                  <a:srgbClr val="5B6874"/>
                </a:solidFill>
                <a:latin typeface="Calibri"/>
                <a:ea typeface="Calibri"/>
                <a:cs typeface="Calibri"/>
              </a:rPr>
              <a:t>Update the design artifact affected by the </a:t>
            </a:r>
            <a:r>
              <a:rPr lang="en-US" sz="1725" b="1" dirty="0">
                <a:solidFill>
                  <a:srgbClr val="5B6874"/>
                </a:solidFill>
                <a:latin typeface="Calibri"/>
                <a:ea typeface="Calibri"/>
                <a:cs typeface="Calibri"/>
              </a:rPr>
              <a:t>Pull Request</a:t>
            </a:r>
            <a:r>
              <a:rPr sz="1725" dirty="0">
                <a:solidFill>
                  <a:srgbClr val="5B6874"/>
                </a:solidFill>
                <a:latin typeface="Calibri"/>
                <a:ea typeface="Calibri"/>
                <a:cs typeface="Calibri"/>
              </a:rPr>
              <a:t>.</a:t>
            </a:r>
          </a:p>
        </p:txBody>
      </p:sp>
      <p:sp>
        <p:nvSpPr>
          <p:cNvPr id="3" name="Structure heading">
            <a:extLst>
              <a:ext uri="{FF2B5EF4-FFF2-40B4-BE49-F238E27FC236}">
                <a16:creationId xmlns:a16="http://schemas.microsoft.com/office/drawing/2014/main" id="{EE4D0BAD-1DDD-4F65-9493-E83EBC70BDD3}"/>
              </a:ext>
            </a:extLst>
          </p:cNvPr>
          <p:cNvSpPr>
            <a:spLocks noGrp="1"/>
          </p:cNvSpPr>
          <p:nvPr/>
        </p:nvSpPr>
        <p:spPr>
          <a:xfrm>
            <a:off x="704850" y="1495425"/>
            <a:ext cx="4905375" cy="381000"/>
          </a:xfrm>
          <a:prstGeom prst="rect">
            <a:avLst/>
          </a:prstGeom>
          <a:noFill/>
          <a:ln w="0">
            <a:noFill/>
          </a:ln>
        </p:spPr>
        <p:txBody>
          <a:bodyPr anchor="t">
            <a:noAutofit/>
          </a:bodyPr>
          <a:lstStyle/>
          <a:p>
            <a:pPr algn="ctr">
              <a:defRPr sz="1875" b="1">
                <a:solidFill>
                  <a:srgbClr val="2F75B5"/>
                </a:solidFill>
                <a:latin typeface="Calibri"/>
                <a:ea typeface="Calibri"/>
                <a:cs typeface="Calibri"/>
              </a:defRPr>
            </a:pPr>
            <a:r>
              <a:rPr sz="1875" b="1" dirty="0">
                <a:solidFill>
                  <a:srgbClr val="2F75B5"/>
                </a:solidFill>
                <a:latin typeface="Calibri"/>
                <a:ea typeface="Calibri"/>
                <a:cs typeface="Calibri"/>
              </a:rPr>
              <a:t>STRUCTURAL CHANGE</a:t>
            </a:r>
          </a:p>
        </p:txBody>
      </p:sp>
      <p:sp>
        <p:nvSpPr>
          <p:cNvPr id="4" name="Behavior heading">
            <a:extLst>
              <a:ext uri="{FF2B5EF4-FFF2-40B4-BE49-F238E27FC236}">
                <a16:creationId xmlns:a16="http://schemas.microsoft.com/office/drawing/2014/main" id="{E2DFD0FC-6CE3-4AAD-86A7-97B937B44CDE}"/>
              </a:ext>
            </a:extLst>
          </p:cNvPr>
          <p:cNvSpPr>
            <a:spLocks noGrp="1"/>
          </p:cNvSpPr>
          <p:nvPr/>
        </p:nvSpPr>
        <p:spPr>
          <a:xfrm>
            <a:off x="6581775" y="1495425"/>
            <a:ext cx="4905375" cy="381000"/>
          </a:xfrm>
          <a:prstGeom prst="rect">
            <a:avLst/>
          </a:prstGeom>
          <a:noFill/>
          <a:ln w="0">
            <a:noFill/>
          </a:ln>
        </p:spPr>
        <p:txBody>
          <a:bodyPr anchor="t">
            <a:noAutofit/>
          </a:bodyPr>
          <a:lstStyle/>
          <a:p>
            <a:pPr algn="ctr">
              <a:defRPr sz="1875" b="1">
                <a:solidFill>
                  <a:srgbClr val="C62828"/>
                </a:solidFill>
                <a:latin typeface="Calibri"/>
                <a:ea typeface="Calibri"/>
                <a:cs typeface="Calibri"/>
              </a:defRPr>
            </a:pPr>
            <a:r>
              <a:rPr sz="1875" b="1" dirty="0">
                <a:solidFill>
                  <a:srgbClr val="C62828"/>
                </a:solidFill>
                <a:latin typeface="Calibri"/>
                <a:ea typeface="Calibri"/>
                <a:cs typeface="Calibri"/>
              </a:rPr>
              <a:t>BEHAVIORAL CHANGE</a:t>
            </a:r>
          </a:p>
        </p:txBody>
      </p:sp>
      <p:sp>
        <p:nvSpPr>
          <p:cNvPr id="5" name="Column divider">
            <a:extLst>
              <a:ext uri="{FF2B5EF4-FFF2-40B4-BE49-F238E27FC236}">
                <a16:creationId xmlns:a16="http://schemas.microsoft.com/office/drawing/2014/main" id="{EA4EE827-3400-4AE1-AC4C-D4B9BA22CDFA}"/>
              </a:ext>
            </a:extLst>
          </p:cNvPr>
          <p:cNvSpPr>
            <a:spLocks noGrp="1"/>
          </p:cNvSpPr>
          <p:nvPr/>
        </p:nvSpPr>
        <p:spPr>
          <a:xfrm>
            <a:off x="6096000" y="1495425"/>
            <a:ext cx="0" cy="4219575"/>
          </a:xfrm>
          <a:prstGeom prst="line">
            <a:avLst/>
          </a:prstGeom>
          <a:noFill/>
          <a:ln w="19050">
            <a:solidFill>
              <a:srgbClr val="D1D7DD"/>
            </a:solidFill>
          </a:ln>
        </p:spPr>
        <p:txBody>
          <a:bodyPr/>
          <a:lstStyle/>
          <a:p>
            <a:endParaRPr lang="en-US"/>
          </a:p>
        </p:txBody>
      </p:sp>
      <p:sp>
        <p:nvSpPr>
          <p:cNvPr id="6" name="Class diagram canvas">
            <a:extLst>
              <a:ext uri="{FF2B5EF4-FFF2-40B4-BE49-F238E27FC236}">
                <a16:creationId xmlns:a16="http://schemas.microsoft.com/office/drawing/2014/main" id="{BD25BA6A-DA4D-4601-962C-56B351B27306}"/>
              </a:ext>
            </a:extLst>
          </p:cNvPr>
          <p:cNvSpPr>
            <a:spLocks noGrp="1"/>
          </p:cNvSpPr>
          <p:nvPr/>
        </p:nvSpPr>
        <p:spPr>
          <a:xfrm>
            <a:off x="904875" y="1971675"/>
            <a:ext cx="4514850" cy="2400300"/>
          </a:xfrm>
          <a:prstGeom prst="roundRect">
            <a:avLst>
              <a:gd name="adj" fmla="val 3175"/>
            </a:avLst>
          </a:prstGeom>
          <a:solidFill>
            <a:srgbClr val="F5F9FD"/>
          </a:solidFill>
          <a:ln w="14288">
            <a:solidFill>
              <a:srgbClr val="B7CDE2"/>
            </a:solidFill>
          </a:ln>
        </p:spPr>
        <p:txBody>
          <a:bodyPr/>
          <a:lstStyle/>
          <a:p>
            <a:endParaRPr lang="en-US"/>
          </a:p>
        </p:txBody>
      </p:sp>
      <p:sp>
        <p:nvSpPr>
          <p:cNvPr id="7" name="Class diagram label">
            <a:extLst>
              <a:ext uri="{FF2B5EF4-FFF2-40B4-BE49-F238E27FC236}">
                <a16:creationId xmlns:a16="http://schemas.microsoft.com/office/drawing/2014/main" id="{26C4B84A-01B9-4E97-B957-5E04286BFBFA}"/>
              </a:ext>
            </a:extLst>
          </p:cNvPr>
          <p:cNvSpPr>
            <a:spLocks noGrp="1"/>
          </p:cNvSpPr>
          <p:nvPr/>
        </p:nvSpPr>
        <p:spPr>
          <a:xfrm>
            <a:off x="1076325" y="2095500"/>
            <a:ext cx="4171950" cy="266700"/>
          </a:xfrm>
          <a:prstGeom prst="rect">
            <a:avLst/>
          </a:prstGeom>
          <a:noFill/>
          <a:ln w="0">
            <a:noFill/>
          </a:ln>
        </p:spPr>
        <p:txBody>
          <a:bodyPr anchor="t">
            <a:noAutofit/>
          </a:bodyPr>
          <a:lstStyle/>
          <a:p>
            <a:pPr algn="ctr">
              <a:defRPr sz="1275" b="1">
                <a:solidFill>
                  <a:srgbClr val="2F75B5"/>
                </a:solidFill>
                <a:latin typeface="Calibri"/>
                <a:ea typeface="Calibri"/>
                <a:cs typeface="Calibri"/>
              </a:defRPr>
            </a:pPr>
            <a:r>
              <a:rPr sz="1275" b="1">
                <a:solidFill>
                  <a:srgbClr val="2F75B5"/>
                </a:solidFill>
                <a:latin typeface="Calibri"/>
                <a:ea typeface="Calibri"/>
                <a:cs typeface="Calibri"/>
              </a:rPr>
              <a:t>CLASS DIAGRAM</a:t>
            </a:r>
          </a:p>
        </p:txBody>
      </p:sp>
      <p:sp>
        <p:nvSpPr>
          <p:cNvPr id="8" name="LibraryService box">
            <a:extLst>
              <a:ext uri="{FF2B5EF4-FFF2-40B4-BE49-F238E27FC236}">
                <a16:creationId xmlns:a16="http://schemas.microsoft.com/office/drawing/2014/main" id="{20869A3B-8CAC-4BD4-A99D-71B55BDC44F0}"/>
              </a:ext>
            </a:extLst>
          </p:cNvPr>
          <p:cNvSpPr>
            <a:spLocks noGrp="1"/>
          </p:cNvSpPr>
          <p:nvPr/>
        </p:nvSpPr>
        <p:spPr>
          <a:xfrm>
            <a:off x="1219200" y="2562225"/>
            <a:ext cx="1695450" cy="1152525"/>
          </a:xfrm>
          <a:prstGeom prst="rect">
            <a:avLst/>
          </a:prstGeom>
          <a:solidFill>
            <a:srgbClr val="FFFFFF"/>
          </a:solidFill>
          <a:ln w="19050">
            <a:solidFill>
              <a:srgbClr val="315E8C"/>
            </a:solidFill>
          </a:ln>
        </p:spPr>
        <p:txBody>
          <a:bodyPr/>
          <a:lstStyle/>
          <a:p>
            <a:endParaRPr lang="en-US"/>
          </a:p>
        </p:txBody>
      </p:sp>
      <p:sp>
        <p:nvSpPr>
          <p:cNvPr id="9" name="LibraryService header">
            <a:extLst>
              <a:ext uri="{FF2B5EF4-FFF2-40B4-BE49-F238E27FC236}">
                <a16:creationId xmlns:a16="http://schemas.microsoft.com/office/drawing/2014/main" id="{AE27FB24-C9AC-4629-8CB8-A6DA2FAC7FFD}"/>
              </a:ext>
            </a:extLst>
          </p:cNvPr>
          <p:cNvSpPr>
            <a:spLocks noGrp="1"/>
          </p:cNvSpPr>
          <p:nvPr/>
        </p:nvSpPr>
        <p:spPr>
          <a:xfrm>
            <a:off x="1219200" y="2562225"/>
            <a:ext cx="1695450" cy="381000"/>
          </a:xfrm>
          <a:prstGeom prst="rect">
            <a:avLst/>
          </a:prstGeom>
          <a:solidFill>
            <a:srgbClr val="DCEAF7"/>
          </a:solidFill>
          <a:ln w="19050">
            <a:solidFill>
              <a:srgbClr val="315E8C"/>
            </a:solidFill>
          </a:ln>
        </p:spPr>
        <p:txBody>
          <a:bodyPr/>
          <a:lstStyle/>
          <a:p>
            <a:endParaRPr lang="en-US"/>
          </a:p>
        </p:txBody>
      </p:sp>
      <p:sp>
        <p:nvSpPr>
          <p:cNvPr id="10" name="LibraryService title">
            <a:extLst>
              <a:ext uri="{FF2B5EF4-FFF2-40B4-BE49-F238E27FC236}">
                <a16:creationId xmlns:a16="http://schemas.microsoft.com/office/drawing/2014/main" id="{88CA6D53-162E-4F20-825F-F1322008B21C}"/>
              </a:ext>
            </a:extLst>
          </p:cNvPr>
          <p:cNvSpPr>
            <a:spLocks noGrp="1"/>
          </p:cNvSpPr>
          <p:nvPr/>
        </p:nvSpPr>
        <p:spPr>
          <a:xfrm>
            <a:off x="1314450" y="2638425"/>
            <a:ext cx="1504950" cy="257175"/>
          </a:xfrm>
          <a:prstGeom prst="rect">
            <a:avLst/>
          </a:prstGeom>
          <a:noFill/>
          <a:ln w="0">
            <a:noFill/>
          </a:ln>
        </p:spPr>
        <p:txBody>
          <a:bodyPr anchor="t">
            <a:no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LibraryService</a:t>
            </a:r>
          </a:p>
        </p:txBody>
      </p:sp>
      <p:sp>
        <p:nvSpPr>
          <p:cNvPr id="11" name="LibraryService methods">
            <a:extLst>
              <a:ext uri="{FF2B5EF4-FFF2-40B4-BE49-F238E27FC236}">
                <a16:creationId xmlns:a16="http://schemas.microsoft.com/office/drawing/2014/main" id="{AD7F7738-5094-4719-864D-C690E3665FB9}"/>
              </a:ext>
            </a:extLst>
          </p:cNvPr>
          <p:cNvSpPr>
            <a:spLocks noGrp="1"/>
          </p:cNvSpPr>
          <p:nvPr/>
        </p:nvSpPr>
        <p:spPr>
          <a:xfrm>
            <a:off x="1343025" y="3057525"/>
            <a:ext cx="1438275" cy="552450"/>
          </a:xfrm>
          <a:prstGeom prst="rect">
            <a:avLst/>
          </a:prstGeom>
          <a:noFill/>
          <a:ln w="0">
            <a:noFill/>
          </a:ln>
        </p:spPr>
        <p:txBody>
          <a:bodyPr anchor="t">
            <a:noAutofit/>
          </a:bodyPr>
          <a:lstStyle/>
          <a:p>
            <a:pPr>
              <a:defRPr sz="1275">
                <a:solidFill>
                  <a:srgbClr val="27313A"/>
                </a:solidFill>
                <a:latin typeface="Calibri"/>
                <a:ea typeface="Calibri"/>
                <a:cs typeface="Calibri"/>
              </a:defRPr>
            </a:pPr>
            <a:r>
              <a:rPr sz="1275">
                <a:solidFill>
                  <a:srgbClr val="27313A"/>
                </a:solidFill>
                <a:latin typeface="Calibri"/>
                <a:ea typeface="Calibri"/>
                <a:cs typeface="Calibri"/>
              </a:rPr>
              <a:t>+ borrowBook()</a:t>
            </a:r>
          </a:p>
          <a:p>
            <a:pPr>
              <a:defRPr sz="1275">
                <a:solidFill>
                  <a:srgbClr val="27313A"/>
                </a:solidFill>
                <a:latin typeface="Calibri"/>
                <a:ea typeface="Calibri"/>
                <a:cs typeface="Calibri"/>
              </a:defRPr>
            </a:pPr>
            <a:r>
              <a:rPr sz="1275">
                <a:solidFill>
                  <a:srgbClr val="27313A"/>
                </a:solidFill>
                <a:latin typeface="Calibri"/>
                <a:ea typeface="Calibri"/>
                <a:cs typeface="Calibri"/>
              </a:rPr>
              <a:t>+ returnBook()</a:t>
            </a:r>
          </a:p>
        </p:txBody>
      </p:sp>
      <p:sp>
        <p:nvSpPr>
          <p:cNvPr id="12" name="FinePolicy box">
            <a:extLst>
              <a:ext uri="{FF2B5EF4-FFF2-40B4-BE49-F238E27FC236}">
                <a16:creationId xmlns:a16="http://schemas.microsoft.com/office/drawing/2014/main" id="{45C43216-7ABB-4646-BACC-95A659B4BCEA}"/>
              </a:ext>
            </a:extLst>
          </p:cNvPr>
          <p:cNvSpPr>
            <a:spLocks noGrp="1"/>
          </p:cNvSpPr>
          <p:nvPr/>
        </p:nvSpPr>
        <p:spPr>
          <a:xfrm>
            <a:off x="3409950" y="2562225"/>
            <a:ext cx="1695450" cy="1152525"/>
          </a:xfrm>
          <a:prstGeom prst="rect">
            <a:avLst/>
          </a:prstGeom>
          <a:solidFill>
            <a:srgbClr val="FFFFFF"/>
          </a:solidFill>
          <a:ln w="19050">
            <a:solidFill>
              <a:srgbClr val="2E7D32"/>
            </a:solidFill>
          </a:ln>
        </p:spPr>
        <p:txBody>
          <a:bodyPr/>
          <a:lstStyle/>
          <a:p>
            <a:endParaRPr lang="en-US"/>
          </a:p>
        </p:txBody>
      </p:sp>
      <p:sp>
        <p:nvSpPr>
          <p:cNvPr id="13" name="FinePolicy header">
            <a:extLst>
              <a:ext uri="{FF2B5EF4-FFF2-40B4-BE49-F238E27FC236}">
                <a16:creationId xmlns:a16="http://schemas.microsoft.com/office/drawing/2014/main" id="{5AF67536-2D0A-437E-B853-F656AFA94B2C}"/>
              </a:ext>
            </a:extLst>
          </p:cNvPr>
          <p:cNvSpPr>
            <a:spLocks noGrp="1"/>
          </p:cNvSpPr>
          <p:nvPr/>
        </p:nvSpPr>
        <p:spPr>
          <a:xfrm>
            <a:off x="3409950" y="2562225"/>
            <a:ext cx="1695450" cy="381000"/>
          </a:xfrm>
          <a:prstGeom prst="rect">
            <a:avLst/>
          </a:prstGeom>
          <a:solidFill>
            <a:srgbClr val="E4F2E6"/>
          </a:solidFill>
          <a:ln w="19050">
            <a:solidFill>
              <a:srgbClr val="2E7D32"/>
            </a:solidFill>
          </a:ln>
        </p:spPr>
        <p:txBody>
          <a:bodyPr/>
          <a:lstStyle/>
          <a:p>
            <a:endParaRPr lang="en-US"/>
          </a:p>
        </p:txBody>
      </p:sp>
      <p:sp>
        <p:nvSpPr>
          <p:cNvPr id="14" name="FinePolicy title">
            <a:extLst>
              <a:ext uri="{FF2B5EF4-FFF2-40B4-BE49-F238E27FC236}">
                <a16:creationId xmlns:a16="http://schemas.microsoft.com/office/drawing/2014/main" id="{FFC8CB0A-FA37-4249-BB5C-DA287B214FA3}"/>
              </a:ext>
            </a:extLst>
          </p:cNvPr>
          <p:cNvSpPr>
            <a:spLocks noGrp="1"/>
          </p:cNvSpPr>
          <p:nvPr/>
        </p:nvSpPr>
        <p:spPr>
          <a:xfrm>
            <a:off x="3514725" y="2638425"/>
            <a:ext cx="1485900" cy="257175"/>
          </a:xfrm>
          <a:prstGeom prst="rect">
            <a:avLst/>
          </a:prstGeom>
          <a:noFill/>
          <a:ln w="0">
            <a:noFill/>
          </a:ln>
        </p:spPr>
        <p:txBody>
          <a:bodyPr anchor="t">
            <a:noAutofit/>
          </a:bodyPr>
          <a:lstStyle/>
          <a:p>
            <a:pPr algn="ctr">
              <a:defRPr sz="1425" b="1">
                <a:solidFill>
                  <a:srgbClr val="235F27"/>
                </a:solidFill>
                <a:latin typeface="Calibri"/>
                <a:ea typeface="Calibri"/>
                <a:cs typeface="Calibri"/>
              </a:defRPr>
            </a:pPr>
            <a:r>
              <a:rPr sz="1425" b="1">
                <a:solidFill>
                  <a:srgbClr val="235F27"/>
                </a:solidFill>
                <a:latin typeface="Calibri"/>
                <a:ea typeface="Calibri"/>
                <a:cs typeface="Calibri"/>
              </a:rPr>
              <a:t>FinePolicy</a:t>
            </a:r>
          </a:p>
        </p:txBody>
      </p:sp>
      <p:sp>
        <p:nvSpPr>
          <p:cNvPr id="15" name="FinePolicy methods">
            <a:extLst>
              <a:ext uri="{FF2B5EF4-FFF2-40B4-BE49-F238E27FC236}">
                <a16:creationId xmlns:a16="http://schemas.microsoft.com/office/drawing/2014/main" id="{8060F6C2-41ED-48F3-96C7-579E664D948B}"/>
              </a:ext>
            </a:extLst>
          </p:cNvPr>
          <p:cNvSpPr>
            <a:spLocks noGrp="1"/>
          </p:cNvSpPr>
          <p:nvPr/>
        </p:nvSpPr>
        <p:spPr>
          <a:xfrm>
            <a:off x="3524250" y="3057525"/>
            <a:ext cx="1438275" cy="552450"/>
          </a:xfrm>
          <a:prstGeom prst="rect">
            <a:avLst/>
          </a:prstGeom>
          <a:noFill/>
          <a:ln w="0">
            <a:noFill/>
          </a:ln>
        </p:spPr>
        <p:txBody>
          <a:bodyPr anchor="t">
            <a:noAutofit/>
          </a:bodyPr>
          <a:lstStyle/>
          <a:p>
            <a:pPr>
              <a:defRPr sz="1275">
                <a:solidFill>
                  <a:srgbClr val="27313A"/>
                </a:solidFill>
                <a:latin typeface="Calibri"/>
                <a:ea typeface="Calibri"/>
                <a:cs typeface="Calibri"/>
              </a:defRPr>
            </a:pPr>
            <a:r>
              <a:rPr sz="1275">
                <a:solidFill>
                  <a:srgbClr val="27313A"/>
                </a:solidFill>
                <a:latin typeface="Calibri"/>
                <a:ea typeface="Calibri"/>
                <a:cs typeface="Calibri"/>
              </a:rPr>
              <a:t>+ calculateFine()</a:t>
            </a:r>
          </a:p>
          <a:p>
            <a:pPr>
              <a:defRPr sz="1275">
                <a:solidFill>
                  <a:srgbClr val="27313A"/>
                </a:solidFill>
                <a:latin typeface="Calibri"/>
                <a:ea typeface="Calibri"/>
                <a:cs typeface="Calibri"/>
              </a:defRPr>
            </a:pPr>
            <a:r>
              <a:rPr sz="1275">
                <a:solidFill>
                  <a:srgbClr val="27313A"/>
                </a:solidFill>
                <a:latin typeface="Calibri"/>
                <a:ea typeface="Calibri"/>
                <a:cs typeface="Calibri"/>
              </a:rPr>
              <a:t>+ isOverdue()</a:t>
            </a:r>
          </a:p>
        </p:txBody>
      </p:sp>
      <p:sp>
        <p:nvSpPr>
          <p:cNvPr id="16" name="Class association">
            <a:extLst>
              <a:ext uri="{FF2B5EF4-FFF2-40B4-BE49-F238E27FC236}">
                <a16:creationId xmlns:a16="http://schemas.microsoft.com/office/drawing/2014/main" id="{3409F9DB-B314-4342-89C6-EC0CC9DBC0FD}"/>
              </a:ext>
            </a:extLst>
          </p:cNvPr>
          <p:cNvSpPr>
            <a:spLocks noGrp="1"/>
          </p:cNvSpPr>
          <p:nvPr/>
        </p:nvSpPr>
        <p:spPr>
          <a:xfrm>
            <a:off x="2914650" y="3133725"/>
            <a:ext cx="495300" cy="0"/>
          </a:xfrm>
          <a:prstGeom prst="line">
            <a:avLst/>
          </a:prstGeom>
          <a:noFill/>
          <a:ln w="19050">
            <a:solidFill>
              <a:srgbClr val="596875"/>
            </a:solidFill>
          </a:ln>
        </p:spPr>
        <p:txBody>
          <a:bodyPr/>
          <a:lstStyle/>
          <a:p>
            <a:endParaRPr lang="en-US"/>
          </a:p>
        </p:txBody>
      </p:sp>
      <p:sp>
        <p:nvSpPr>
          <p:cNvPr id="17" name="Association label">
            <a:extLst>
              <a:ext uri="{FF2B5EF4-FFF2-40B4-BE49-F238E27FC236}">
                <a16:creationId xmlns:a16="http://schemas.microsoft.com/office/drawing/2014/main" id="{49819EA2-B90A-457F-B505-C4BB813A6F62}"/>
              </a:ext>
            </a:extLst>
          </p:cNvPr>
          <p:cNvSpPr>
            <a:spLocks noGrp="1"/>
          </p:cNvSpPr>
          <p:nvPr/>
        </p:nvSpPr>
        <p:spPr>
          <a:xfrm>
            <a:off x="2914650" y="2895600"/>
            <a:ext cx="495300" cy="228600"/>
          </a:xfrm>
          <a:prstGeom prst="rect">
            <a:avLst/>
          </a:prstGeom>
          <a:noFill/>
          <a:ln w="0">
            <a:noFill/>
          </a:ln>
        </p:spPr>
        <p:txBody>
          <a:bodyPr anchor="t">
            <a:noAutofit/>
          </a:bodyPr>
          <a:lstStyle/>
          <a:p>
            <a:pPr algn="ctr">
              <a:defRPr sz="1050">
                <a:solidFill>
                  <a:srgbClr val="596875"/>
                </a:solidFill>
                <a:latin typeface="Calibri"/>
                <a:ea typeface="Calibri"/>
                <a:cs typeface="Calibri"/>
              </a:defRPr>
            </a:pPr>
            <a:r>
              <a:rPr sz="1050">
                <a:solidFill>
                  <a:srgbClr val="596875"/>
                </a:solidFill>
                <a:latin typeface="Calibri"/>
                <a:ea typeface="Calibri"/>
                <a:cs typeface="Calibri"/>
              </a:rPr>
              <a:t>uses</a:t>
            </a:r>
          </a:p>
        </p:txBody>
      </p:sp>
      <p:sp>
        <p:nvSpPr>
          <p:cNvPr id="18" name="Class diagram cue">
            <a:extLst>
              <a:ext uri="{FF2B5EF4-FFF2-40B4-BE49-F238E27FC236}">
                <a16:creationId xmlns:a16="http://schemas.microsoft.com/office/drawing/2014/main" id="{C82DA704-6EB9-4220-97F5-8F4751113B91}"/>
              </a:ext>
            </a:extLst>
          </p:cNvPr>
          <p:cNvSpPr>
            <a:spLocks noGrp="1"/>
          </p:cNvSpPr>
          <p:nvPr/>
        </p:nvSpPr>
        <p:spPr>
          <a:xfrm>
            <a:off x="1123950" y="3905250"/>
            <a:ext cx="4057650" cy="266700"/>
          </a:xfrm>
          <a:prstGeom prst="rect">
            <a:avLst/>
          </a:prstGeom>
          <a:noFill/>
          <a:ln w="0">
            <a:noFill/>
          </a:ln>
        </p:spPr>
        <p:txBody>
          <a:bodyPr anchor="t">
            <a:noAutofit/>
          </a:bodyPr>
          <a:lstStyle/>
          <a:p>
            <a:pPr algn="ctr">
              <a:defRPr sz="1350">
                <a:solidFill>
                  <a:srgbClr val="41515F"/>
                </a:solidFill>
                <a:latin typeface="Calibri"/>
                <a:ea typeface="Calibri"/>
                <a:cs typeface="Calibri"/>
              </a:defRPr>
            </a:pPr>
            <a:r>
              <a:rPr sz="1350">
                <a:solidFill>
                  <a:srgbClr val="41515F"/>
                </a:solidFill>
                <a:latin typeface="Calibri"/>
                <a:ea typeface="Calibri"/>
                <a:cs typeface="Calibri"/>
              </a:rPr>
              <a:t>Classes • responsibilities • relationships</a:t>
            </a:r>
          </a:p>
        </p:txBody>
      </p:sp>
      <p:sp>
        <p:nvSpPr>
          <p:cNvPr id="19" name="Sequence diagram canvas">
            <a:extLst>
              <a:ext uri="{FF2B5EF4-FFF2-40B4-BE49-F238E27FC236}">
                <a16:creationId xmlns:a16="http://schemas.microsoft.com/office/drawing/2014/main" id="{87667EBE-239B-496D-B777-5731D39E9B4A}"/>
              </a:ext>
            </a:extLst>
          </p:cNvPr>
          <p:cNvSpPr>
            <a:spLocks noGrp="1"/>
          </p:cNvSpPr>
          <p:nvPr/>
        </p:nvSpPr>
        <p:spPr>
          <a:xfrm>
            <a:off x="6781800" y="1971675"/>
            <a:ext cx="4514850" cy="2400300"/>
          </a:xfrm>
          <a:prstGeom prst="roundRect">
            <a:avLst>
              <a:gd name="adj" fmla="val 3175"/>
            </a:avLst>
          </a:prstGeom>
          <a:solidFill>
            <a:srgbClr val="FDEEEE"/>
          </a:solidFill>
          <a:ln w="14288">
            <a:solidFill>
              <a:srgbClr val="E1A7A7"/>
            </a:solidFill>
          </a:ln>
        </p:spPr>
        <p:txBody>
          <a:bodyPr/>
          <a:lstStyle/>
          <a:p>
            <a:endParaRPr lang="en-US"/>
          </a:p>
        </p:txBody>
      </p:sp>
      <p:sp>
        <p:nvSpPr>
          <p:cNvPr id="20" name="Sequence diagram label">
            <a:extLst>
              <a:ext uri="{FF2B5EF4-FFF2-40B4-BE49-F238E27FC236}">
                <a16:creationId xmlns:a16="http://schemas.microsoft.com/office/drawing/2014/main" id="{6F1B3FAD-1179-4993-9671-9C474D3134C4}"/>
              </a:ext>
            </a:extLst>
          </p:cNvPr>
          <p:cNvSpPr>
            <a:spLocks noGrp="1"/>
          </p:cNvSpPr>
          <p:nvPr/>
        </p:nvSpPr>
        <p:spPr>
          <a:xfrm>
            <a:off x="6953250" y="2095500"/>
            <a:ext cx="4171950" cy="26670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SEQUENCE DIAGRAM</a:t>
            </a:r>
          </a:p>
        </p:txBody>
      </p:sp>
      <p:sp>
        <p:nvSpPr>
          <p:cNvPr id="21" name="Member participant">
            <a:extLst>
              <a:ext uri="{FF2B5EF4-FFF2-40B4-BE49-F238E27FC236}">
                <a16:creationId xmlns:a16="http://schemas.microsoft.com/office/drawing/2014/main" id="{8D91A37C-3A6D-4989-B5D8-7CF7928BB435}"/>
              </a:ext>
            </a:extLst>
          </p:cNvPr>
          <p:cNvSpPr>
            <a:spLocks noGrp="1"/>
          </p:cNvSpPr>
          <p:nvPr/>
        </p:nvSpPr>
        <p:spPr>
          <a:xfrm>
            <a:off x="7086600" y="2495550"/>
            <a:ext cx="990600" cy="361950"/>
          </a:xfrm>
          <a:prstGeom prst="rect">
            <a:avLst/>
          </a:prstGeom>
          <a:solidFill>
            <a:srgbClr val="FFFFFF"/>
          </a:solidFill>
          <a:ln w="14288">
            <a:solidFill>
              <a:srgbClr val="B73A3A"/>
            </a:solidFill>
          </a:ln>
        </p:spPr>
        <p:txBody>
          <a:bodyPr/>
          <a:lstStyle/>
          <a:p>
            <a:endParaRPr lang="en-US"/>
          </a:p>
        </p:txBody>
      </p:sp>
      <p:sp>
        <p:nvSpPr>
          <p:cNvPr id="22" name="Member participant text">
            <a:extLst>
              <a:ext uri="{FF2B5EF4-FFF2-40B4-BE49-F238E27FC236}">
                <a16:creationId xmlns:a16="http://schemas.microsoft.com/office/drawing/2014/main" id="{4C0F87F5-8C75-4182-9EF8-330D8DC95812}"/>
              </a:ext>
            </a:extLst>
          </p:cNvPr>
          <p:cNvSpPr>
            <a:spLocks noGrp="1"/>
          </p:cNvSpPr>
          <p:nvPr/>
        </p:nvSpPr>
        <p:spPr>
          <a:xfrm>
            <a:off x="7124700" y="2581275"/>
            <a:ext cx="914400"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Member</a:t>
            </a:r>
          </a:p>
        </p:txBody>
      </p:sp>
      <p:sp>
        <p:nvSpPr>
          <p:cNvPr id="23" name="Member lifeline">
            <a:extLst>
              <a:ext uri="{FF2B5EF4-FFF2-40B4-BE49-F238E27FC236}">
                <a16:creationId xmlns:a16="http://schemas.microsoft.com/office/drawing/2014/main" id="{DD21606C-48FF-4F19-BE41-4D2D67864C5F}"/>
              </a:ext>
            </a:extLst>
          </p:cNvPr>
          <p:cNvSpPr>
            <a:spLocks noGrp="1"/>
          </p:cNvSpPr>
          <p:nvPr/>
        </p:nvSpPr>
        <p:spPr>
          <a:xfrm>
            <a:off x="7581900" y="2857500"/>
            <a:ext cx="0" cy="1190625"/>
          </a:xfrm>
          <a:prstGeom prst="line">
            <a:avLst/>
          </a:prstGeom>
          <a:noFill/>
          <a:ln w="14288">
            <a:solidFill>
              <a:srgbClr val="9AA3AA"/>
            </a:solidFill>
          </a:ln>
        </p:spPr>
        <p:txBody>
          <a:bodyPr/>
          <a:lstStyle/>
          <a:p>
            <a:endParaRPr lang="en-US"/>
          </a:p>
        </p:txBody>
      </p:sp>
      <p:sp>
        <p:nvSpPr>
          <p:cNvPr id="24" name="LibraryService participant">
            <a:extLst>
              <a:ext uri="{FF2B5EF4-FFF2-40B4-BE49-F238E27FC236}">
                <a16:creationId xmlns:a16="http://schemas.microsoft.com/office/drawing/2014/main" id="{7A86304A-564D-46ED-89ED-71878B37947D}"/>
              </a:ext>
            </a:extLst>
          </p:cNvPr>
          <p:cNvSpPr>
            <a:spLocks noGrp="1"/>
          </p:cNvSpPr>
          <p:nvPr/>
        </p:nvSpPr>
        <p:spPr>
          <a:xfrm>
            <a:off x="8362950" y="2495550"/>
            <a:ext cx="1390650" cy="361950"/>
          </a:xfrm>
          <a:prstGeom prst="rect">
            <a:avLst/>
          </a:prstGeom>
          <a:solidFill>
            <a:srgbClr val="FFFFFF"/>
          </a:solidFill>
          <a:ln w="14288">
            <a:solidFill>
              <a:srgbClr val="B73A3A"/>
            </a:solidFill>
          </a:ln>
        </p:spPr>
        <p:txBody>
          <a:bodyPr/>
          <a:lstStyle/>
          <a:p>
            <a:endParaRPr lang="en-US"/>
          </a:p>
        </p:txBody>
      </p:sp>
      <p:sp>
        <p:nvSpPr>
          <p:cNvPr id="25" name="LibraryService participant text">
            <a:extLst>
              <a:ext uri="{FF2B5EF4-FFF2-40B4-BE49-F238E27FC236}">
                <a16:creationId xmlns:a16="http://schemas.microsoft.com/office/drawing/2014/main" id="{C2C79232-64A7-4944-8841-4ADFFCE8FDD0}"/>
              </a:ext>
            </a:extLst>
          </p:cNvPr>
          <p:cNvSpPr>
            <a:spLocks noGrp="1"/>
          </p:cNvSpPr>
          <p:nvPr/>
        </p:nvSpPr>
        <p:spPr>
          <a:xfrm>
            <a:off x="8401050" y="2581275"/>
            <a:ext cx="1314450"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LibraryService</a:t>
            </a:r>
          </a:p>
        </p:txBody>
      </p:sp>
      <p:sp>
        <p:nvSpPr>
          <p:cNvPr id="26" name="LibraryService lifeline">
            <a:extLst>
              <a:ext uri="{FF2B5EF4-FFF2-40B4-BE49-F238E27FC236}">
                <a16:creationId xmlns:a16="http://schemas.microsoft.com/office/drawing/2014/main" id="{53A72DD9-AE36-4D70-856A-EA46E763E808}"/>
              </a:ext>
            </a:extLst>
          </p:cNvPr>
          <p:cNvSpPr>
            <a:spLocks noGrp="1"/>
          </p:cNvSpPr>
          <p:nvPr/>
        </p:nvSpPr>
        <p:spPr>
          <a:xfrm>
            <a:off x="9058275" y="2857500"/>
            <a:ext cx="0" cy="1190625"/>
          </a:xfrm>
          <a:prstGeom prst="line">
            <a:avLst/>
          </a:prstGeom>
          <a:noFill/>
          <a:ln w="14288">
            <a:solidFill>
              <a:srgbClr val="9AA3AA"/>
            </a:solidFill>
          </a:ln>
        </p:spPr>
        <p:txBody>
          <a:bodyPr/>
          <a:lstStyle/>
          <a:p>
            <a:endParaRPr lang="en-US"/>
          </a:p>
        </p:txBody>
      </p:sp>
      <p:sp>
        <p:nvSpPr>
          <p:cNvPr id="27" name="FinePolicy participant">
            <a:extLst>
              <a:ext uri="{FF2B5EF4-FFF2-40B4-BE49-F238E27FC236}">
                <a16:creationId xmlns:a16="http://schemas.microsoft.com/office/drawing/2014/main" id="{14F296E4-94D4-490E-9D8D-F92CF5CD9E26}"/>
              </a:ext>
            </a:extLst>
          </p:cNvPr>
          <p:cNvSpPr>
            <a:spLocks noGrp="1"/>
          </p:cNvSpPr>
          <p:nvPr/>
        </p:nvSpPr>
        <p:spPr>
          <a:xfrm>
            <a:off x="9944100" y="2495550"/>
            <a:ext cx="1190625" cy="361950"/>
          </a:xfrm>
          <a:prstGeom prst="rect">
            <a:avLst/>
          </a:prstGeom>
          <a:solidFill>
            <a:srgbClr val="FFFFFF"/>
          </a:solidFill>
          <a:ln w="14288">
            <a:solidFill>
              <a:srgbClr val="B73A3A"/>
            </a:solidFill>
          </a:ln>
        </p:spPr>
        <p:txBody>
          <a:bodyPr/>
          <a:lstStyle/>
          <a:p>
            <a:endParaRPr lang="en-US"/>
          </a:p>
        </p:txBody>
      </p:sp>
      <p:sp>
        <p:nvSpPr>
          <p:cNvPr id="28" name="FinePolicy participant text">
            <a:extLst>
              <a:ext uri="{FF2B5EF4-FFF2-40B4-BE49-F238E27FC236}">
                <a16:creationId xmlns:a16="http://schemas.microsoft.com/office/drawing/2014/main" id="{A043E8E5-DF56-46D9-A4A5-7D826191556B}"/>
              </a:ext>
            </a:extLst>
          </p:cNvPr>
          <p:cNvSpPr>
            <a:spLocks noGrp="1"/>
          </p:cNvSpPr>
          <p:nvPr/>
        </p:nvSpPr>
        <p:spPr>
          <a:xfrm>
            <a:off x="9982200" y="2581275"/>
            <a:ext cx="1114425" cy="228600"/>
          </a:xfrm>
          <a:prstGeom prst="rect">
            <a:avLst/>
          </a:prstGeom>
          <a:noFill/>
          <a:ln w="0">
            <a:noFill/>
          </a:ln>
        </p:spPr>
        <p:txBody>
          <a:bodyPr anchor="t">
            <a:noAutofit/>
          </a:bodyPr>
          <a:lstStyle/>
          <a:p>
            <a:pPr algn="ctr">
              <a:defRPr sz="1200" b="1">
                <a:solidFill>
                  <a:srgbClr val="8D2020"/>
                </a:solidFill>
                <a:latin typeface="Calibri"/>
                <a:ea typeface="Calibri"/>
                <a:cs typeface="Calibri"/>
              </a:defRPr>
            </a:pPr>
            <a:r>
              <a:rPr sz="1200" b="1">
                <a:solidFill>
                  <a:srgbClr val="8D2020"/>
                </a:solidFill>
                <a:latin typeface="Calibri"/>
                <a:ea typeface="Calibri"/>
                <a:cs typeface="Calibri"/>
              </a:rPr>
              <a:t>FinePolicy</a:t>
            </a:r>
          </a:p>
        </p:txBody>
      </p:sp>
      <p:sp>
        <p:nvSpPr>
          <p:cNvPr id="29" name="FinePolicy lifeline">
            <a:extLst>
              <a:ext uri="{FF2B5EF4-FFF2-40B4-BE49-F238E27FC236}">
                <a16:creationId xmlns:a16="http://schemas.microsoft.com/office/drawing/2014/main" id="{EF431BA4-FF42-4D34-BD46-877D715A0FB9}"/>
              </a:ext>
            </a:extLst>
          </p:cNvPr>
          <p:cNvSpPr>
            <a:spLocks noGrp="1"/>
          </p:cNvSpPr>
          <p:nvPr/>
        </p:nvSpPr>
        <p:spPr>
          <a:xfrm>
            <a:off x="10539413" y="2857500"/>
            <a:ext cx="0" cy="1190625"/>
          </a:xfrm>
          <a:prstGeom prst="line">
            <a:avLst/>
          </a:prstGeom>
          <a:noFill/>
          <a:ln w="14288">
            <a:solidFill>
              <a:srgbClr val="9AA3AA"/>
            </a:solidFill>
          </a:ln>
        </p:spPr>
        <p:txBody>
          <a:bodyPr/>
          <a:lstStyle/>
          <a:p>
            <a:endParaRPr lang="en-US"/>
          </a:p>
        </p:txBody>
      </p:sp>
      <p:sp>
        <p:nvSpPr>
          <p:cNvPr id="30" name="returnBook message">
            <a:extLst>
              <a:ext uri="{FF2B5EF4-FFF2-40B4-BE49-F238E27FC236}">
                <a16:creationId xmlns:a16="http://schemas.microsoft.com/office/drawing/2014/main" id="{7E911440-51FE-42D8-B02A-920386534D21}"/>
              </a:ext>
            </a:extLst>
          </p:cNvPr>
          <p:cNvSpPr>
            <a:spLocks noGrp="1"/>
          </p:cNvSpPr>
          <p:nvPr/>
        </p:nvSpPr>
        <p:spPr>
          <a:xfrm>
            <a:off x="7581900" y="3105150"/>
            <a:ext cx="1476375" cy="0"/>
          </a:xfrm>
          <a:prstGeom prst="line">
            <a:avLst/>
          </a:prstGeom>
          <a:noFill/>
          <a:ln w="19050">
            <a:solidFill>
              <a:srgbClr val="3D4B57"/>
            </a:solidFill>
          </a:ln>
        </p:spPr>
        <p:txBody>
          <a:bodyPr/>
          <a:lstStyle/>
          <a:p>
            <a:endParaRPr lang="en-US"/>
          </a:p>
        </p:txBody>
      </p:sp>
      <p:sp>
        <p:nvSpPr>
          <p:cNvPr id="31" name="returnBook arrow">
            <a:extLst>
              <a:ext uri="{FF2B5EF4-FFF2-40B4-BE49-F238E27FC236}">
                <a16:creationId xmlns:a16="http://schemas.microsoft.com/office/drawing/2014/main" id="{8FE618C1-A427-4317-8435-B13C93791E55}"/>
              </a:ext>
            </a:extLst>
          </p:cNvPr>
          <p:cNvSpPr>
            <a:spLocks noGrp="1"/>
          </p:cNvSpPr>
          <p:nvPr/>
        </p:nvSpPr>
        <p:spPr>
          <a:xfrm>
            <a:off x="8943975" y="2981325"/>
            <a:ext cx="190500" cy="228600"/>
          </a:xfrm>
          <a:prstGeom prst="rect">
            <a:avLst/>
          </a:prstGeom>
          <a:noFill/>
          <a:ln w="0">
            <a:noFill/>
          </a:ln>
        </p:spPr>
        <p:txBody>
          <a:bodyPr anchor="t">
            <a:noAutofit/>
          </a:bodyPr>
          <a:lstStyle/>
          <a:p>
            <a:pPr algn="ctr">
              <a:defRPr sz="1125">
                <a:solidFill>
                  <a:srgbClr val="3D4B57"/>
                </a:solidFill>
                <a:latin typeface="Calibri"/>
                <a:ea typeface="Calibri"/>
                <a:cs typeface="Calibri"/>
              </a:defRPr>
            </a:pPr>
            <a:r>
              <a:rPr sz="1125">
                <a:solidFill>
                  <a:srgbClr val="3D4B57"/>
                </a:solidFill>
                <a:latin typeface="Calibri"/>
                <a:ea typeface="Calibri"/>
                <a:cs typeface="Calibri"/>
              </a:rPr>
              <a:t>▶</a:t>
            </a:r>
          </a:p>
        </p:txBody>
      </p:sp>
      <p:sp>
        <p:nvSpPr>
          <p:cNvPr id="32" name="returnBook label">
            <a:extLst>
              <a:ext uri="{FF2B5EF4-FFF2-40B4-BE49-F238E27FC236}">
                <a16:creationId xmlns:a16="http://schemas.microsoft.com/office/drawing/2014/main" id="{5D00563C-0421-4BE1-9488-A436540CE2DC}"/>
              </a:ext>
            </a:extLst>
          </p:cNvPr>
          <p:cNvSpPr>
            <a:spLocks noGrp="1"/>
          </p:cNvSpPr>
          <p:nvPr/>
        </p:nvSpPr>
        <p:spPr>
          <a:xfrm>
            <a:off x="7781925" y="2886075"/>
            <a:ext cx="1104900" cy="228600"/>
          </a:xfrm>
          <a:prstGeom prst="rect">
            <a:avLst/>
          </a:prstGeom>
          <a:noFill/>
          <a:ln w="0">
            <a:noFill/>
          </a:ln>
        </p:spPr>
        <p:txBody>
          <a:bodyPr anchor="t">
            <a:noAutofit/>
          </a:bodyPr>
          <a:lstStyle/>
          <a:p>
            <a:pPr algn="ctr">
              <a:defRPr sz="1200">
                <a:solidFill>
                  <a:srgbClr val="27313A"/>
                </a:solidFill>
                <a:latin typeface="Calibri"/>
                <a:ea typeface="Calibri"/>
                <a:cs typeface="Calibri"/>
              </a:defRPr>
            </a:pPr>
            <a:r>
              <a:rPr sz="1200">
                <a:solidFill>
                  <a:srgbClr val="27313A"/>
                </a:solidFill>
                <a:latin typeface="Calibri"/>
                <a:ea typeface="Calibri"/>
                <a:cs typeface="Calibri"/>
              </a:rPr>
              <a:t>returnBook()</a:t>
            </a:r>
          </a:p>
        </p:txBody>
      </p:sp>
      <p:sp>
        <p:nvSpPr>
          <p:cNvPr id="33" name="calculateFine message">
            <a:extLst>
              <a:ext uri="{FF2B5EF4-FFF2-40B4-BE49-F238E27FC236}">
                <a16:creationId xmlns:a16="http://schemas.microsoft.com/office/drawing/2014/main" id="{FAF8CEF8-2928-4FAB-B8BE-5E6EAA3628D4}"/>
              </a:ext>
            </a:extLst>
          </p:cNvPr>
          <p:cNvSpPr>
            <a:spLocks noGrp="1"/>
          </p:cNvSpPr>
          <p:nvPr/>
        </p:nvSpPr>
        <p:spPr>
          <a:xfrm>
            <a:off x="9058275" y="3476625"/>
            <a:ext cx="1485900" cy="0"/>
          </a:xfrm>
          <a:prstGeom prst="line">
            <a:avLst/>
          </a:prstGeom>
          <a:noFill/>
          <a:ln w="19050">
            <a:solidFill>
              <a:srgbClr val="3D4B57"/>
            </a:solidFill>
          </a:ln>
        </p:spPr>
        <p:txBody>
          <a:bodyPr/>
          <a:lstStyle/>
          <a:p>
            <a:endParaRPr lang="en-US"/>
          </a:p>
        </p:txBody>
      </p:sp>
      <p:sp>
        <p:nvSpPr>
          <p:cNvPr id="34" name="calculateFine arrow">
            <a:extLst>
              <a:ext uri="{FF2B5EF4-FFF2-40B4-BE49-F238E27FC236}">
                <a16:creationId xmlns:a16="http://schemas.microsoft.com/office/drawing/2014/main" id="{CFCB9434-EE43-49DC-AABE-C95A6CA9CB23}"/>
              </a:ext>
            </a:extLst>
          </p:cNvPr>
          <p:cNvSpPr>
            <a:spLocks noGrp="1"/>
          </p:cNvSpPr>
          <p:nvPr/>
        </p:nvSpPr>
        <p:spPr>
          <a:xfrm>
            <a:off x="10429875" y="3352800"/>
            <a:ext cx="190500" cy="228600"/>
          </a:xfrm>
          <a:prstGeom prst="rect">
            <a:avLst/>
          </a:prstGeom>
          <a:noFill/>
          <a:ln w="0">
            <a:noFill/>
          </a:ln>
        </p:spPr>
        <p:txBody>
          <a:bodyPr anchor="t">
            <a:noAutofit/>
          </a:bodyPr>
          <a:lstStyle/>
          <a:p>
            <a:pPr algn="ctr">
              <a:defRPr sz="1125">
                <a:solidFill>
                  <a:srgbClr val="3D4B57"/>
                </a:solidFill>
                <a:latin typeface="Calibri"/>
                <a:ea typeface="Calibri"/>
                <a:cs typeface="Calibri"/>
              </a:defRPr>
            </a:pPr>
            <a:r>
              <a:rPr sz="1125">
                <a:solidFill>
                  <a:srgbClr val="3D4B57"/>
                </a:solidFill>
                <a:latin typeface="Calibri"/>
                <a:ea typeface="Calibri"/>
                <a:cs typeface="Calibri"/>
              </a:rPr>
              <a:t>▶</a:t>
            </a:r>
          </a:p>
        </p:txBody>
      </p:sp>
      <p:sp>
        <p:nvSpPr>
          <p:cNvPr id="35" name="calculateFine label">
            <a:extLst>
              <a:ext uri="{FF2B5EF4-FFF2-40B4-BE49-F238E27FC236}">
                <a16:creationId xmlns:a16="http://schemas.microsoft.com/office/drawing/2014/main" id="{4942AA40-8A36-4B24-A194-81CA604F1B7A}"/>
              </a:ext>
            </a:extLst>
          </p:cNvPr>
          <p:cNvSpPr>
            <a:spLocks noGrp="1"/>
          </p:cNvSpPr>
          <p:nvPr/>
        </p:nvSpPr>
        <p:spPr>
          <a:xfrm>
            <a:off x="9220200" y="3257550"/>
            <a:ext cx="1162050" cy="228600"/>
          </a:xfrm>
          <a:prstGeom prst="rect">
            <a:avLst/>
          </a:prstGeom>
          <a:noFill/>
          <a:ln w="0">
            <a:noFill/>
          </a:ln>
        </p:spPr>
        <p:txBody>
          <a:bodyPr anchor="t">
            <a:noAutofit/>
          </a:bodyPr>
          <a:lstStyle/>
          <a:p>
            <a:pPr algn="ctr">
              <a:defRPr sz="1200">
                <a:solidFill>
                  <a:srgbClr val="27313A"/>
                </a:solidFill>
                <a:latin typeface="Calibri"/>
                <a:ea typeface="Calibri"/>
                <a:cs typeface="Calibri"/>
              </a:defRPr>
            </a:pPr>
            <a:r>
              <a:rPr sz="1200">
                <a:solidFill>
                  <a:srgbClr val="27313A"/>
                </a:solidFill>
                <a:latin typeface="Calibri"/>
                <a:ea typeface="Calibri"/>
                <a:cs typeface="Calibri"/>
              </a:rPr>
              <a:t>calculateFine()</a:t>
            </a:r>
          </a:p>
        </p:txBody>
      </p:sp>
      <p:sp>
        <p:nvSpPr>
          <p:cNvPr id="36" name="fineAmount return">
            <a:extLst>
              <a:ext uri="{FF2B5EF4-FFF2-40B4-BE49-F238E27FC236}">
                <a16:creationId xmlns:a16="http://schemas.microsoft.com/office/drawing/2014/main" id="{0D12D83E-A4FC-466F-B801-D188EC446896}"/>
              </a:ext>
            </a:extLst>
          </p:cNvPr>
          <p:cNvSpPr>
            <a:spLocks noGrp="1"/>
          </p:cNvSpPr>
          <p:nvPr/>
        </p:nvSpPr>
        <p:spPr>
          <a:xfrm>
            <a:off x="9058275" y="3848100"/>
            <a:ext cx="1485900" cy="0"/>
          </a:xfrm>
          <a:prstGeom prst="line">
            <a:avLst/>
          </a:prstGeom>
          <a:noFill/>
          <a:ln w="14288">
            <a:solidFill>
              <a:srgbClr val="7D8790"/>
            </a:solidFill>
          </a:ln>
        </p:spPr>
        <p:txBody>
          <a:bodyPr/>
          <a:lstStyle/>
          <a:p>
            <a:endParaRPr lang="en-US"/>
          </a:p>
        </p:txBody>
      </p:sp>
      <p:sp>
        <p:nvSpPr>
          <p:cNvPr id="37" name="fineAmount arrow">
            <a:extLst>
              <a:ext uri="{FF2B5EF4-FFF2-40B4-BE49-F238E27FC236}">
                <a16:creationId xmlns:a16="http://schemas.microsoft.com/office/drawing/2014/main" id="{8CF96F26-DC4B-4167-9F66-2D4209898A34}"/>
              </a:ext>
            </a:extLst>
          </p:cNvPr>
          <p:cNvSpPr>
            <a:spLocks noGrp="1"/>
          </p:cNvSpPr>
          <p:nvPr/>
        </p:nvSpPr>
        <p:spPr>
          <a:xfrm>
            <a:off x="8972550" y="3724275"/>
            <a:ext cx="190500" cy="228600"/>
          </a:xfrm>
          <a:prstGeom prst="rect">
            <a:avLst/>
          </a:prstGeom>
          <a:noFill/>
          <a:ln w="0">
            <a:noFill/>
          </a:ln>
        </p:spPr>
        <p:txBody>
          <a:bodyPr anchor="t">
            <a:noAutofit/>
          </a:bodyPr>
          <a:lstStyle/>
          <a:p>
            <a:pPr algn="ctr">
              <a:defRPr sz="1125">
                <a:solidFill>
                  <a:srgbClr val="7D8790"/>
                </a:solidFill>
                <a:latin typeface="Calibri"/>
                <a:ea typeface="Calibri"/>
                <a:cs typeface="Calibri"/>
              </a:defRPr>
            </a:pPr>
            <a:r>
              <a:rPr sz="1125">
                <a:solidFill>
                  <a:srgbClr val="7D8790"/>
                </a:solidFill>
                <a:latin typeface="Calibri"/>
                <a:ea typeface="Calibri"/>
                <a:cs typeface="Calibri"/>
              </a:rPr>
              <a:t>◀</a:t>
            </a:r>
          </a:p>
        </p:txBody>
      </p:sp>
      <p:sp>
        <p:nvSpPr>
          <p:cNvPr id="38" name="fineAmount label">
            <a:extLst>
              <a:ext uri="{FF2B5EF4-FFF2-40B4-BE49-F238E27FC236}">
                <a16:creationId xmlns:a16="http://schemas.microsoft.com/office/drawing/2014/main" id="{6AB4066A-6E68-4567-A39D-5CCE0443F6F8}"/>
              </a:ext>
            </a:extLst>
          </p:cNvPr>
          <p:cNvSpPr>
            <a:spLocks noGrp="1"/>
          </p:cNvSpPr>
          <p:nvPr/>
        </p:nvSpPr>
        <p:spPr>
          <a:xfrm>
            <a:off x="9315450" y="3629025"/>
            <a:ext cx="1019175" cy="228600"/>
          </a:xfrm>
          <a:prstGeom prst="rect">
            <a:avLst/>
          </a:prstGeom>
          <a:noFill/>
          <a:ln w="0">
            <a:noFill/>
          </a:ln>
        </p:spPr>
        <p:txBody>
          <a:bodyPr anchor="t">
            <a:noAutofit/>
          </a:bodyPr>
          <a:lstStyle/>
          <a:p>
            <a:pPr algn="ctr">
              <a:defRPr sz="1200">
                <a:solidFill>
                  <a:srgbClr val="4B5863"/>
                </a:solidFill>
                <a:latin typeface="Calibri"/>
                <a:ea typeface="Calibri"/>
                <a:cs typeface="Calibri"/>
              </a:defRPr>
            </a:pPr>
            <a:r>
              <a:rPr sz="1200">
                <a:solidFill>
                  <a:srgbClr val="4B5863"/>
                </a:solidFill>
                <a:latin typeface="Calibri"/>
                <a:ea typeface="Calibri"/>
                <a:cs typeface="Calibri"/>
              </a:rPr>
              <a:t>fineAmount</a:t>
            </a:r>
          </a:p>
        </p:txBody>
      </p:sp>
      <p:sp>
        <p:nvSpPr>
          <p:cNvPr id="39" name="Sequence diagram cue">
            <a:extLst>
              <a:ext uri="{FF2B5EF4-FFF2-40B4-BE49-F238E27FC236}">
                <a16:creationId xmlns:a16="http://schemas.microsoft.com/office/drawing/2014/main" id="{572C7D78-2993-46CA-9048-A76A2234FA06}"/>
              </a:ext>
            </a:extLst>
          </p:cNvPr>
          <p:cNvSpPr>
            <a:spLocks noGrp="1"/>
          </p:cNvSpPr>
          <p:nvPr/>
        </p:nvSpPr>
        <p:spPr>
          <a:xfrm>
            <a:off x="7038975" y="4095750"/>
            <a:ext cx="4000500" cy="266700"/>
          </a:xfrm>
          <a:prstGeom prst="rect">
            <a:avLst/>
          </a:prstGeom>
          <a:noFill/>
          <a:ln w="0">
            <a:noFill/>
          </a:ln>
        </p:spPr>
        <p:txBody>
          <a:bodyPr anchor="t">
            <a:noAutofit/>
          </a:bodyPr>
          <a:lstStyle/>
          <a:p>
            <a:pPr algn="ctr">
              <a:defRPr sz="1350">
                <a:solidFill>
                  <a:srgbClr val="41515F"/>
                </a:solidFill>
                <a:latin typeface="Calibri"/>
                <a:ea typeface="Calibri"/>
                <a:cs typeface="Calibri"/>
              </a:defRPr>
            </a:pPr>
            <a:r>
              <a:rPr sz="1350">
                <a:solidFill>
                  <a:srgbClr val="41515F"/>
                </a:solidFill>
                <a:latin typeface="Calibri"/>
                <a:ea typeface="Calibri"/>
                <a:cs typeface="Calibri"/>
              </a:rPr>
              <a:t>Interactions • message order</a:t>
            </a:r>
          </a:p>
        </p:txBody>
      </p:sp>
      <p:sp>
        <p:nvSpPr>
          <p:cNvPr id="40" name="Structure question">
            <a:extLst>
              <a:ext uri="{FF2B5EF4-FFF2-40B4-BE49-F238E27FC236}">
                <a16:creationId xmlns:a16="http://schemas.microsoft.com/office/drawing/2014/main" id="{C4B6ABEC-692A-4057-B39F-1B6326A247B6}"/>
              </a:ext>
            </a:extLst>
          </p:cNvPr>
          <p:cNvSpPr>
            <a:spLocks noGrp="1"/>
          </p:cNvSpPr>
          <p:nvPr/>
        </p:nvSpPr>
        <p:spPr>
          <a:xfrm>
            <a:off x="866775" y="4591050"/>
            <a:ext cx="4591050" cy="552450"/>
          </a:xfrm>
          <a:prstGeom prst="rect">
            <a:avLst/>
          </a:prstGeom>
          <a:noFill/>
          <a:ln w="0">
            <a:noFill/>
          </a:ln>
        </p:spPr>
        <p:txBody>
          <a:bodyPr anchor="t">
            <a:noAutofit/>
          </a:bodyPr>
          <a:lstStyle/>
          <a:p>
            <a:pPr algn="ctr">
              <a:defRPr sz="1575" b="1">
                <a:solidFill>
                  <a:srgbClr val="27313A"/>
                </a:solidFill>
                <a:latin typeface="Calibri"/>
                <a:ea typeface="Calibri"/>
                <a:cs typeface="Calibri"/>
              </a:defRPr>
            </a:pPr>
            <a:r>
              <a:rPr sz="1575" b="1" dirty="0">
                <a:solidFill>
                  <a:srgbClr val="27313A"/>
                </a:solidFill>
                <a:latin typeface="Calibri"/>
                <a:ea typeface="Calibri"/>
                <a:cs typeface="Calibri"/>
              </a:rPr>
              <a:t>Did classes, responsibilities, or relationships change?</a:t>
            </a:r>
          </a:p>
        </p:txBody>
      </p:sp>
      <p:sp>
        <p:nvSpPr>
          <p:cNvPr id="41" name="Structure action">
            <a:extLst>
              <a:ext uri="{FF2B5EF4-FFF2-40B4-BE49-F238E27FC236}">
                <a16:creationId xmlns:a16="http://schemas.microsoft.com/office/drawing/2014/main" id="{C483463F-36BC-4AB2-8D8A-8E37D23D1CE7}"/>
              </a:ext>
            </a:extLst>
          </p:cNvPr>
          <p:cNvSpPr>
            <a:spLocks noGrp="1"/>
          </p:cNvSpPr>
          <p:nvPr/>
        </p:nvSpPr>
        <p:spPr>
          <a:xfrm>
            <a:off x="1504950" y="5219700"/>
            <a:ext cx="3314700" cy="476250"/>
          </a:xfrm>
          <a:prstGeom prst="roundRect">
            <a:avLst>
              <a:gd name="adj" fmla="val 16000"/>
            </a:avLst>
          </a:prstGeom>
          <a:solidFill>
            <a:srgbClr val="2F75B5"/>
          </a:solidFill>
          <a:ln w="9525">
            <a:solidFill>
              <a:srgbClr val="2F75B5"/>
            </a:solidFill>
          </a:ln>
        </p:spPr>
        <p:txBody>
          <a:bodyPr/>
          <a:lstStyle/>
          <a:p>
            <a:endParaRPr lang="en-US"/>
          </a:p>
        </p:txBody>
      </p:sp>
      <p:sp>
        <p:nvSpPr>
          <p:cNvPr id="42" name="Structure action text">
            <a:extLst>
              <a:ext uri="{FF2B5EF4-FFF2-40B4-BE49-F238E27FC236}">
                <a16:creationId xmlns:a16="http://schemas.microsoft.com/office/drawing/2014/main" id="{2656DBC6-D700-4FEC-9B57-03F598BA2DA6}"/>
              </a:ext>
            </a:extLst>
          </p:cNvPr>
          <p:cNvSpPr>
            <a:spLocks noGrp="1"/>
          </p:cNvSpPr>
          <p:nvPr/>
        </p:nvSpPr>
        <p:spPr>
          <a:xfrm>
            <a:off x="1619250" y="5324475"/>
            <a:ext cx="3086100" cy="276225"/>
          </a:xfrm>
          <a:prstGeom prst="rect">
            <a:avLst/>
          </a:prstGeom>
          <a:noFill/>
          <a:ln w="0">
            <a:noFill/>
          </a:ln>
        </p:spPr>
        <p:txBody>
          <a:bodyPr anchor="t">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Update the class diagram</a:t>
            </a:r>
          </a:p>
        </p:txBody>
      </p:sp>
      <p:sp>
        <p:nvSpPr>
          <p:cNvPr id="43" name="Behavior question">
            <a:extLst>
              <a:ext uri="{FF2B5EF4-FFF2-40B4-BE49-F238E27FC236}">
                <a16:creationId xmlns:a16="http://schemas.microsoft.com/office/drawing/2014/main" id="{1ED12D46-3CBA-4B8F-BEF5-0F9DDC38C1D2}"/>
              </a:ext>
            </a:extLst>
          </p:cNvPr>
          <p:cNvSpPr>
            <a:spLocks noGrp="1"/>
          </p:cNvSpPr>
          <p:nvPr/>
        </p:nvSpPr>
        <p:spPr>
          <a:xfrm>
            <a:off x="6753225" y="4591050"/>
            <a:ext cx="4572000" cy="552450"/>
          </a:xfrm>
          <a:prstGeom prst="rect">
            <a:avLst/>
          </a:prstGeom>
          <a:noFill/>
          <a:ln w="0">
            <a:noFill/>
          </a:ln>
        </p:spPr>
        <p:txBody>
          <a:bodyPr anchor="t">
            <a:noAutofit/>
          </a:bodyPr>
          <a:lstStyle/>
          <a:p>
            <a:pPr algn="ctr">
              <a:defRPr sz="1575" b="1">
                <a:solidFill>
                  <a:srgbClr val="27313A"/>
                </a:solidFill>
                <a:latin typeface="Calibri"/>
                <a:ea typeface="Calibri"/>
                <a:cs typeface="Calibri"/>
              </a:defRPr>
            </a:pPr>
            <a:r>
              <a:rPr sz="1575" b="1">
                <a:solidFill>
                  <a:srgbClr val="27313A"/>
                </a:solidFill>
                <a:latin typeface="Calibri"/>
                <a:ea typeface="Calibri"/>
                <a:cs typeface="Calibri"/>
              </a:rPr>
              <a:t>Did object interactions or message order change?</a:t>
            </a:r>
          </a:p>
        </p:txBody>
      </p:sp>
      <p:sp>
        <p:nvSpPr>
          <p:cNvPr id="44" name="Behavior action">
            <a:extLst>
              <a:ext uri="{FF2B5EF4-FFF2-40B4-BE49-F238E27FC236}">
                <a16:creationId xmlns:a16="http://schemas.microsoft.com/office/drawing/2014/main" id="{7443E2F0-7D19-4D28-BC7A-869C63900380}"/>
              </a:ext>
            </a:extLst>
          </p:cNvPr>
          <p:cNvSpPr>
            <a:spLocks noGrp="1"/>
          </p:cNvSpPr>
          <p:nvPr/>
        </p:nvSpPr>
        <p:spPr>
          <a:xfrm>
            <a:off x="7391400" y="5219700"/>
            <a:ext cx="3314700" cy="476250"/>
          </a:xfrm>
          <a:prstGeom prst="roundRect">
            <a:avLst>
              <a:gd name="adj" fmla="val 16000"/>
            </a:avLst>
          </a:prstGeom>
          <a:solidFill>
            <a:srgbClr val="C62828"/>
          </a:solidFill>
          <a:ln w="9525">
            <a:solidFill>
              <a:srgbClr val="C62828"/>
            </a:solidFill>
          </a:ln>
        </p:spPr>
        <p:txBody>
          <a:bodyPr/>
          <a:lstStyle/>
          <a:p>
            <a:endParaRPr lang="en-US"/>
          </a:p>
        </p:txBody>
      </p:sp>
      <p:sp>
        <p:nvSpPr>
          <p:cNvPr id="45" name="Behavior action text">
            <a:extLst>
              <a:ext uri="{FF2B5EF4-FFF2-40B4-BE49-F238E27FC236}">
                <a16:creationId xmlns:a16="http://schemas.microsoft.com/office/drawing/2014/main" id="{300EDFCF-C594-46FE-B9D7-9A1147D6DCE8}"/>
              </a:ext>
            </a:extLst>
          </p:cNvPr>
          <p:cNvSpPr>
            <a:spLocks noGrp="1"/>
          </p:cNvSpPr>
          <p:nvPr/>
        </p:nvSpPr>
        <p:spPr>
          <a:xfrm>
            <a:off x="7486650" y="5324475"/>
            <a:ext cx="3124200" cy="276225"/>
          </a:xfrm>
          <a:prstGeom prst="rect">
            <a:avLst/>
          </a:prstGeom>
          <a:noFill/>
          <a:ln w="0">
            <a:noFill/>
          </a:ln>
        </p:spPr>
        <p:txBody>
          <a:bodyPr anchor="t">
            <a:noAutofit/>
          </a:bodyPr>
          <a:lstStyle/>
          <a:p>
            <a:pPr algn="ctr">
              <a:defRPr sz="1500" b="1">
                <a:solidFill>
                  <a:srgbClr val="FFFFFF"/>
                </a:solidFill>
                <a:latin typeface="Calibri"/>
                <a:ea typeface="Calibri"/>
                <a:cs typeface="Calibri"/>
              </a:defRPr>
            </a:pPr>
            <a:r>
              <a:rPr sz="1500" b="1">
                <a:solidFill>
                  <a:srgbClr val="FFFFFF"/>
                </a:solidFill>
                <a:latin typeface="Calibri"/>
                <a:ea typeface="Calibri"/>
                <a:cs typeface="Calibri"/>
              </a:rPr>
              <a:t>Update the sequence diagram</a:t>
            </a:r>
          </a:p>
        </p:txBody>
      </p:sp>
      <p:sp>
        <p:nvSpPr>
          <p:cNvPr id="46" name="Bottom rule">
            <a:extLst>
              <a:ext uri="{FF2B5EF4-FFF2-40B4-BE49-F238E27FC236}">
                <a16:creationId xmlns:a16="http://schemas.microsoft.com/office/drawing/2014/main" id="{139AA43F-4FB1-402E-8D58-4747FF21CCC4}"/>
              </a:ext>
            </a:extLst>
          </p:cNvPr>
          <p:cNvSpPr>
            <a:spLocks noGrp="1"/>
          </p:cNvSpPr>
          <p:nvPr/>
        </p:nvSpPr>
        <p:spPr>
          <a:xfrm>
            <a:off x="1352550" y="6010275"/>
            <a:ext cx="9486900" cy="0"/>
          </a:xfrm>
          <a:prstGeom prst="line">
            <a:avLst/>
          </a:prstGeom>
          <a:noFill/>
          <a:ln w="19050">
            <a:solidFill>
              <a:srgbClr val="C62828"/>
            </a:solidFill>
          </a:ln>
        </p:spPr>
        <p:txBody>
          <a:bodyPr/>
          <a:lstStyle/>
          <a:p>
            <a:endParaRPr lang="en-US"/>
          </a:p>
        </p:txBody>
      </p:sp>
      <p:sp>
        <p:nvSpPr>
          <p:cNvPr id="47" name="Both diagrams takeaway">
            <a:extLst>
              <a:ext uri="{FF2B5EF4-FFF2-40B4-BE49-F238E27FC236}">
                <a16:creationId xmlns:a16="http://schemas.microsoft.com/office/drawing/2014/main" id="{4784A011-8C0E-4623-AA54-713570C093AD}"/>
              </a:ext>
            </a:extLst>
          </p:cNvPr>
          <p:cNvSpPr>
            <a:spLocks noGrp="1"/>
          </p:cNvSpPr>
          <p:nvPr/>
        </p:nvSpPr>
        <p:spPr>
          <a:xfrm>
            <a:off x="1581150" y="6153150"/>
            <a:ext cx="9029700" cy="381000"/>
          </a:xfrm>
          <a:prstGeom prst="rect">
            <a:avLst/>
          </a:prstGeom>
          <a:noFill/>
          <a:ln w="0">
            <a:noFill/>
          </a:ln>
        </p:spPr>
        <p:txBody>
          <a:bodyPr anchor="t">
            <a:noAutofit/>
          </a:bodyPr>
          <a:lstStyle/>
          <a:p>
            <a:pPr algn="ctr">
              <a:defRPr sz="1800" b="1">
                <a:solidFill>
                  <a:srgbClr val="8D2020"/>
                </a:solidFill>
                <a:latin typeface="Calibri"/>
                <a:ea typeface="Calibri"/>
                <a:cs typeface="Calibri"/>
              </a:defRPr>
            </a:pPr>
            <a:r>
              <a:rPr sz="1800" b="1">
                <a:solidFill>
                  <a:srgbClr val="8D2020"/>
                </a:solidFill>
                <a:latin typeface="Calibri"/>
                <a:ea typeface="Calibri"/>
                <a:cs typeface="Calibri"/>
              </a:rPr>
              <a:t>If both structure and behavior change, update both diagrams.</a:t>
            </a:r>
          </a:p>
        </p:txBody>
      </p:sp>
    </p:spTree>
    <p:extLst>
      <p:ext uri="{BB962C8B-B14F-4D97-AF65-F5344CB8AC3E}">
        <p14:creationId xmlns:p14="http://schemas.microsoft.com/office/powerpoint/2010/main" val="211421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500"/>
                                        <p:tgtEl>
                                          <p:spTgt spid="3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fade">
                                      <p:cBhvr>
                                        <p:cTn id="122" dur="500"/>
                                        <p:tgtEl>
                                          <p:spTgt spid="3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
                                        </p:tgtEl>
                                        <p:attrNameLst>
                                          <p:attrName>style.visibility</p:attrName>
                                        </p:attrNameLst>
                                      </p:cBhvr>
                                      <p:to>
                                        <p:strVal val="visible"/>
                                      </p:to>
                                    </p:set>
                                    <p:animEffect transition="in" filter="fade">
                                      <p:cBhvr>
                                        <p:cTn id="125" dur="500"/>
                                        <p:tgtEl>
                                          <p:spTgt spid="5"/>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500"/>
                                        <p:tgtEl>
                                          <p:spTgt spid="4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500"/>
                                        <p:tgtEl>
                                          <p:spTgt spid="45"/>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500"/>
                                        <p:tgtEl>
                                          <p:spTgt spid="4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Effect transition="in" filter="fade">
                                      <p:cBhvr>
                                        <p:cTn id="14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p:bldP spid="8" grpId="0" animBg="1"/>
      <p:bldP spid="9" grpId="0" animBg="1"/>
      <p:bldP spid="10" grpId="0"/>
      <p:bldP spid="11" grpId="0"/>
      <p:bldP spid="12" grpId="0" animBg="1"/>
      <p:bldP spid="13" grpId="0" animBg="1"/>
      <p:bldP spid="14" grpId="0"/>
      <p:bldP spid="15" grpId="0"/>
      <p:bldP spid="16" grpId="0" animBg="1"/>
      <p:bldP spid="17" grpId="0"/>
      <p:bldP spid="18" grpId="0"/>
      <p:bldP spid="19" grpId="0" animBg="1"/>
      <p:bldP spid="20" grpId="0"/>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p:bldP spid="33" grpId="0" animBg="1"/>
      <p:bldP spid="34" grpId="0"/>
      <p:bldP spid="35" grpId="0"/>
      <p:bldP spid="36" grpId="0" animBg="1"/>
      <p:bldP spid="37" grpId="0"/>
      <p:bldP spid="38" grpId="0"/>
      <p:bldP spid="39" grpId="0"/>
      <p:bldP spid="41" grpId="0" animBg="1"/>
      <p:bldP spid="42" grpId="0"/>
      <p:bldP spid="44" grpId="0" animBg="1"/>
      <p:bldP spid="45" grpId="0"/>
      <p:bldP spid="46"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6C33A-C7CB-C25F-DB78-B6B098F2307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8132782-3A35-AB57-0DD7-F1A997333879}"/>
              </a:ext>
            </a:extLst>
          </p:cNvPr>
          <p:cNvSpPr>
            <a:spLocks noGrp="1"/>
          </p:cNvSpPr>
          <p:nvPr>
            <p:ph type="title"/>
          </p:nvPr>
        </p:nvSpPr>
        <p:spPr>
          <a:xfrm>
            <a:off x="838200" y="37676"/>
            <a:ext cx="10515600" cy="1026849"/>
          </a:xfrm>
        </p:spPr>
        <p:txBody>
          <a:bodyPr>
            <a:normAutofit/>
          </a:bodyPr>
          <a:lstStyle/>
          <a:p>
            <a:r>
              <a:rPr lang="en-BE" sz="3200" b="1" dirty="0"/>
              <a:t>Make the design change visible before the code change</a:t>
            </a:r>
            <a:endParaRPr lang="en-GB" sz="3200" dirty="0"/>
          </a:p>
        </p:txBody>
      </p:sp>
      <p:pic>
        <p:nvPicPr>
          <p:cNvPr id="6" name="Picture 5" descr="A screen shot of a computer program&#10;&#10;AI-generated content may be incorrect.">
            <a:extLst>
              <a:ext uri="{FF2B5EF4-FFF2-40B4-BE49-F238E27FC236}">
                <a16:creationId xmlns:a16="http://schemas.microsoft.com/office/drawing/2014/main" id="{FAA755C5-5F5F-203C-A2ED-8558233ECB3E}"/>
              </a:ext>
            </a:extLst>
          </p:cNvPr>
          <p:cNvPicPr>
            <a:picLocks noChangeAspect="1"/>
          </p:cNvPicPr>
          <p:nvPr/>
        </p:nvPicPr>
        <p:blipFill>
          <a:blip r:embed="rId3"/>
          <a:stretch>
            <a:fillRect/>
          </a:stretch>
        </p:blipFill>
        <p:spPr>
          <a:xfrm>
            <a:off x="5121511" y="1064524"/>
            <a:ext cx="6093885" cy="4847409"/>
          </a:xfrm>
          <a:prstGeom prst="rect">
            <a:avLst/>
          </a:prstGeom>
        </p:spPr>
      </p:pic>
      <p:pic>
        <p:nvPicPr>
          <p:cNvPr id="7170" name="Picture 2">
            <a:extLst>
              <a:ext uri="{FF2B5EF4-FFF2-40B4-BE49-F238E27FC236}">
                <a16:creationId xmlns:a16="http://schemas.microsoft.com/office/drawing/2014/main" id="{2096AF5A-2021-706D-6D02-74CE855D70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806" y="1064525"/>
            <a:ext cx="3176016" cy="578488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7C27DE0-0DE0-7FA5-D742-E2F686F2ED28}"/>
              </a:ext>
            </a:extLst>
          </p:cNvPr>
          <p:cNvSpPr txBox="1"/>
          <p:nvPr/>
        </p:nvSpPr>
        <p:spPr>
          <a:xfrm>
            <a:off x="4519625" y="6085504"/>
            <a:ext cx="6834175" cy="461665"/>
          </a:xfrm>
          <a:prstGeom prst="rect">
            <a:avLst/>
          </a:prstGeom>
          <a:noFill/>
          <a:ln w="28575">
            <a:solidFill>
              <a:srgbClr val="C00000"/>
            </a:solidFill>
          </a:ln>
        </p:spPr>
        <p:txBody>
          <a:bodyPr wrap="square">
            <a:spAutoFit/>
          </a:bodyPr>
          <a:lstStyle/>
          <a:p>
            <a:r>
              <a:rPr lang="en-GB" sz="2400" dirty="0"/>
              <a:t>Design changes must be visible before code changes</a:t>
            </a:r>
            <a:endParaRPr lang="en-US" sz="2400" dirty="0"/>
          </a:p>
        </p:txBody>
      </p:sp>
    </p:spTree>
    <p:extLst>
      <p:ext uri="{BB962C8B-B14F-4D97-AF65-F5344CB8AC3E}">
        <p14:creationId xmlns:p14="http://schemas.microsoft.com/office/powerpoint/2010/main" val="145196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AA2D-010E-DD16-BB32-786E16F71A5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51741D5-4469-65B4-E6AB-1840E0AA0463}"/>
              </a:ext>
            </a:extLst>
          </p:cNvPr>
          <p:cNvSpPr>
            <a:spLocks noGrp="1"/>
          </p:cNvSpPr>
          <p:nvPr>
            <p:ph type="title"/>
          </p:nvPr>
        </p:nvSpPr>
        <p:spPr>
          <a:xfrm>
            <a:off x="838200" y="37676"/>
            <a:ext cx="10515600" cy="1026849"/>
          </a:xfrm>
        </p:spPr>
        <p:txBody>
          <a:bodyPr>
            <a:normAutofit/>
          </a:bodyPr>
          <a:lstStyle/>
          <a:p>
            <a:r>
              <a:rPr lang="en-BE" sz="3200" b="1" dirty="0"/>
              <a:t>Your PR changes one street, not the whole city</a:t>
            </a:r>
            <a:endParaRPr lang="en-GB" sz="3200" dirty="0"/>
          </a:p>
        </p:txBody>
      </p:sp>
      <p:pic>
        <p:nvPicPr>
          <p:cNvPr id="7" name="Picture 6" descr="A map of a city and street&#10;&#10;AI-generated content may be incorrect.">
            <a:extLst>
              <a:ext uri="{FF2B5EF4-FFF2-40B4-BE49-F238E27FC236}">
                <a16:creationId xmlns:a16="http://schemas.microsoft.com/office/drawing/2014/main" id="{BB495570-ECF0-F1D3-E4D8-558505EE8239}"/>
              </a:ext>
            </a:extLst>
          </p:cNvPr>
          <p:cNvPicPr>
            <a:picLocks noChangeAspect="1"/>
          </p:cNvPicPr>
          <p:nvPr/>
        </p:nvPicPr>
        <p:blipFill>
          <a:blip r:embed="rId3"/>
          <a:srcRect l="49166" t="28381" b="3405"/>
          <a:stretch>
            <a:fillRect/>
          </a:stretch>
        </p:blipFill>
        <p:spPr>
          <a:xfrm>
            <a:off x="5635689" y="1951856"/>
            <a:ext cx="4133712" cy="3698004"/>
          </a:xfrm>
          <a:prstGeom prst="rect">
            <a:avLst/>
          </a:prstGeom>
          <a:ln>
            <a:solidFill>
              <a:schemeClr val="tx1"/>
            </a:solidFill>
          </a:ln>
        </p:spPr>
      </p:pic>
      <p:sp>
        <p:nvSpPr>
          <p:cNvPr id="8" name="TextBox 7">
            <a:extLst>
              <a:ext uri="{FF2B5EF4-FFF2-40B4-BE49-F238E27FC236}">
                <a16:creationId xmlns:a16="http://schemas.microsoft.com/office/drawing/2014/main" id="{9EEEB512-E9D4-4662-0E45-AC86FAE99E4F}"/>
              </a:ext>
            </a:extLst>
          </p:cNvPr>
          <p:cNvSpPr txBox="1"/>
          <p:nvPr/>
        </p:nvSpPr>
        <p:spPr>
          <a:xfrm>
            <a:off x="3792376" y="967322"/>
            <a:ext cx="3074956" cy="830997"/>
          </a:xfrm>
          <a:prstGeom prst="rect">
            <a:avLst/>
          </a:prstGeom>
          <a:noFill/>
          <a:ln w="28575">
            <a:solidFill>
              <a:srgbClr val="C00000"/>
            </a:solidFill>
          </a:ln>
        </p:spPr>
        <p:txBody>
          <a:bodyPr wrap="square" rtlCol="0">
            <a:spAutoFit/>
          </a:bodyPr>
          <a:lstStyle/>
          <a:p>
            <a:r>
              <a:rPr lang="en-US" sz="2400" dirty="0"/>
              <a:t>System = City</a:t>
            </a:r>
          </a:p>
          <a:p>
            <a:r>
              <a:rPr lang="en-US" sz="2400" dirty="0"/>
              <a:t>Your PR = One Street</a:t>
            </a:r>
          </a:p>
        </p:txBody>
      </p:sp>
      <p:sp>
        <p:nvSpPr>
          <p:cNvPr id="10" name="TextBox 9">
            <a:extLst>
              <a:ext uri="{FF2B5EF4-FFF2-40B4-BE49-F238E27FC236}">
                <a16:creationId xmlns:a16="http://schemas.microsoft.com/office/drawing/2014/main" id="{4E19D6EC-BC12-6351-7B35-9DC3801647C6}"/>
              </a:ext>
            </a:extLst>
          </p:cNvPr>
          <p:cNvSpPr txBox="1"/>
          <p:nvPr/>
        </p:nvSpPr>
        <p:spPr>
          <a:xfrm>
            <a:off x="838200" y="5793475"/>
            <a:ext cx="10731759" cy="830997"/>
          </a:xfrm>
          <a:prstGeom prst="rect">
            <a:avLst/>
          </a:prstGeom>
          <a:noFill/>
          <a:ln w="28575">
            <a:solidFill>
              <a:srgbClr val="C00000"/>
            </a:solidFill>
          </a:ln>
        </p:spPr>
        <p:txBody>
          <a:bodyPr wrap="square">
            <a:spAutoFit/>
          </a:bodyPr>
          <a:lstStyle/>
          <a:p>
            <a:r>
              <a:rPr lang="en-GB" sz="2400" dirty="0"/>
              <a:t>You do </a:t>
            </a:r>
            <a:r>
              <a:rPr lang="en-GB" sz="2400" b="1" dirty="0"/>
              <a:t>NOT</a:t>
            </a:r>
            <a:r>
              <a:rPr lang="en-GB" sz="2400" dirty="0"/>
              <a:t> redraw the entire system</a:t>
            </a:r>
            <a:br>
              <a:rPr lang="en-GB" sz="2400" dirty="0"/>
            </a:br>
            <a:r>
              <a:rPr lang="en-GB" sz="2400" dirty="0"/>
              <a:t>. You show only the </a:t>
            </a:r>
            <a:r>
              <a:rPr lang="en-GB" sz="2400" b="1" dirty="0"/>
              <a:t>part your PR changes</a:t>
            </a:r>
            <a:r>
              <a:rPr lang="en-GB" sz="2400" dirty="0"/>
              <a:t> - but it must clearly fit back into the whole.</a:t>
            </a:r>
            <a:endParaRPr lang="en-US" sz="2400" dirty="0"/>
          </a:p>
        </p:txBody>
      </p:sp>
      <p:pic>
        <p:nvPicPr>
          <p:cNvPr id="11" name="Picture 10" descr="A map of a city and street&#10;&#10;AI-generated content may be incorrect.">
            <a:extLst>
              <a:ext uri="{FF2B5EF4-FFF2-40B4-BE49-F238E27FC236}">
                <a16:creationId xmlns:a16="http://schemas.microsoft.com/office/drawing/2014/main" id="{91217AFC-7669-0E56-7A89-5484A96E17BE}"/>
              </a:ext>
            </a:extLst>
          </p:cNvPr>
          <p:cNvPicPr>
            <a:picLocks noChangeAspect="1"/>
          </p:cNvPicPr>
          <p:nvPr/>
        </p:nvPicPr>
        <p:blipFill>
          <a:blip r:embed="rId3"/>
          <a:srcRect t="28381" r="53275" b="3405"/>
          <a:stretch>
            <a:fillRect/>
          </a:stretch>
        </p:blipFill>
        <p:spPr>
          <a:xfrm>
            <a:off x="1257560" y="1951856"/>
            <a:ext cx="3799632" cy="3698004"/>
          </a:xfrm>
          <a:prstGeom prst="rect">
            <a:avLst/>
          </a:prstGeom>
          <a:ln>
            <a:solidFill>
              <a:schemeClr val="tx1"/>
            </a:solidFill>
          </a:ln>
        </p:spPr>
      </p:pic>
    </p:spTree>
    <p:extLst>
      <p:ext uri="{BB962C8B-B14F-4D97-AF65-F5344CB8AC3E}">
        <p14:creationId xmlns:p14="http://schemas.microsoft.com/office/powerpoint/2010/main" val="32143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25D1A0-AF78-3BC3-121E-BBAC0DF327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34D2277-EA92-FF04-847B-85958D92BFF9}"/>
              </a:ext>
            </a:extLst>
          </p:cNvPr>
          <p:cNvSpPr>
            <a:spLocks noGrp="1"/>
          </p:cNvSpPr>
          <p:nvPr>
            <p:ph type="title"/>
          </p:nvPr>
        </p:nvSpPr>
        <p:spPr>
          <a:xfrm>
            <a:off x="838200" y="37676"/>
            <a:ext cx="10515600" cy="1026849"/>
          </a:xfrm>
        </p:spPr>
        <p:txBody>
          <a:bodyPr/>
          <a:lstStyle/>
          <a:p>
            <a:r>
              <a:rPr lang="en-GB" b="1" dirty="0"/>
              <a:t>Example PR: Add Traffic Light Support</a:t>
            </a:r>
            <a:endParaRPr lang="en-GB" dirty="0"/>
          </a:p>
        </p:txBody>
      </p:sp>
      <p:sp>
        <p:nvSpPr>
          <p:cNvPr id="3" name="TextBox 2">
            <a:extLst>
              <a:ext uri="{FF2B5EF4-FFF2-40B4-BE49-F238E27FC236}">
                <a16:creationId xmlns:a16="http://schemas.microsoft.com/office/drawing/2014/main" id="{EE69B124-BA37-6C74-A320-5761DB98F15B}"/>
              </a:ext>
            </a:extLst>
          </p:cNvPr>
          <p:cNvSpPr txBox="1"/>
          <p:nvPr/>
        </p:nvSpPr>
        <p:spPr>
          <a:xfrm>
            <a:off x="269034" y="2707505"/>
            <a:ext cx="6704821" cy="3016210"/>
          </a:xfrm>
          <a:prstGeom prst="rect">
            <a:avLst/>
          </a:prstGeom>
          <a:noFill/>
        </p:spPr>
        <p:txBody>
          <a:bodyPr wrap="square">
            <a:spAutoFit/>
          </a:bodyPr>
          <a:lstStyle/>
          <a:p>
            <a:pPr>
              <a:buNone/>
            </a:pPr>
            <a:r>
              <a:rPr lang="en-GB" sz="2300" b="1" dirty="0"/>
              <a:t>Requirement </a:t>
            </a:r>
            <a:r>
              <a:rPr lang="en-GB" sz="2400" dirty="0"/>
              <a:t>(What Must Be True After Merge)</a:t>
            </a:r>
            <a:r>
              <a:rPr lang="en-GB" sz="2300" b="1" dirty="0"/>
              <a:t>:</a:t>
            </a:r>
          </a:p>
          <a:p>
            <a:pPr marL="457200" indent="-457200">
              <a:buFont typeface="+mj-lt"/>
              <a:buAutoNum type="arabicPeriod"/>
            </a:pPr>
            <a:r>
              <a:rPr lang="en-GB" sz="2300" dirty="0"/>
              <a:t>The system must support traffic lights on streets.</a:t>
            </a:r>
          </a:p>
          <a:p>
            <a:pPr marL="457200" indent="-457200">
              <a:buFont typeface="+mj-lt"/>
              <a:buAutoNum type="arabicPeriod"/>
            </a:pPr>
            <a:r>
              <a:rPr lang="en-GB" sz="2300" dirty="0"/>
              <a:t>Each Street can have multiple Traffic Lights.</a:t>
            </a:r>
          </a:p>
          <a:p>
            <a:pPr marL="457200" indent="-457200">
              <a:buFont typeface="+mj-lt"/>
              <a:buAutoNum type="arabicPeriod"/>
            </a:pPr>
            <a:r>
              <a:rPr lang="en-GB" sz="2300" dirty="0"/>
              <a:t>Traffic Lights must:</a:t>
            </a:r>
          </a:p>
          <a:p>
            <a:pPr marL="914400" lvl="1" indent="-457200">
              <a:buFont typeface="Arial" panose="020B0604020202020204" pitchFamily="34" charset="0"/>
              <a:buChar char="•"/>
            </a:pPr>
            <a:r>
              <a:rPr lang="en-GB" dirty="0"/>
              <a:t>Have a location (latitude, longitude)</a:t>
            </a:r>
          </a:p>
          <a:p>
            <a:pPr marL="914400" lvl="1" indent="-457200">
              <a:buFont typeface="Arial" panose="020B0604020202020204" pitchFamily="34" charset="0"/>
              <a:buChar char="•"/>
            </a:pPr>
            <a:r>
              <a:rPr lang="en-GB" dirty="0"/>
              <a:t>Have a status (RED, YELLOW, GREEN)</a:t>
            </a:r>
          </a:p>
          <a:p>
            <a:pPr marL="914400" lvl="1" indent="-457200">
              <a:buFont typeface="Arial" panose="020B0604020202020204" pitchFamily="34" charset="0"/>
              <a:buChar char="•"/>
            </a:pPr>
            <a:r>
              <a:rPr lang="en-GB" dirty="0"/>
              <a:t>Be changeable dynamically</a:t>
            </a:r>
          </a:p>
          <a:p>
            <a:endParaRPr lang="en-GB" sz="2400" dirty="0"/>
          </a:p>
          <a:p>
            <a:endParaRPr lang="en-GB" sz="2000" b="1" dirty="0"/>
          </a:p>
        </p:txBody>
      </p:sp>
      <p:cxnSp>
        <p:nvCxnSpPr>
          <p:cNvPr id="6" name="Straight Connector 5">
            <a:extLst>
              <a:ext uri="{FF2B5EF4-FFF2-40B4-BE49-F238E27FC236}">
                <a16:creationId xmlns:a16="http://schemas.microsoft.com/office/drawing/2014/main" id="{16CBBAF4-D3B3-3333-2A2C-550332748EC4}"/>
              </a:ext>
            </a:extLst>
          </p:cNvPr>
          <p:cNvCxnSpPr>
            <a:cxnSpLocks/>
          </p:cNvCxnSpPr>
          <p:nvPr/>
        </p:nvCxnSpPr>
        <p:spPr>
          <a:xfrm>
            <a:off x="6731260" y="2434132"/>
            <a:ext cx="0" cy="36867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39367D0-76E5-D027-5450-3FDDD82F9DA1}"/>
              </a:ext>
            </a:extLst>
          </p:cNvPr>
          <p:cNvSpPr txBox="1"/>
          <p:nvPr/>
        </p:nvSpPr>
        <p:spPr>
          <a:xfrm>
            <a:off x="6800461" y="2375317"/>
            <a:ext cx="4969328" cy="3847207"/>
          </a:xfrm>
          <a:prstGeom prst="rect">
            <a:avLst/>
          </a:prstGeom>
          <a:noFill/>
        </p:spPr>
        <p:txBody>
          <a:bodyPr wrap="square">
            <a:spAutoFit/>
          </a:bodyPr>
          <a:lstStyle/>
          <a:p>
            <a:r>
              <a:rPr lang="en-GB" sz="2200" b="1" dirty="0"/>
              <a:t>Design evidence (</a:t>
            </a:r>
            <a:r>
              <a:rPr lang="en-GB" b="1" dirty="0"/>
              <a:t>What Changes in the System</a:t>
            </a:r>
            <a:r>
              <a:rPr lang="en-GB" sz="2200" b="1" dirty="0"/>
              <a:t>):</a:t>
            </a:r>
          </a:p>
          <a:p>
            <a:endParaRPr lang="en-GB" sz="2200" b="1" dirty="0"/>
          </a:p>
          <a:p>
            <a:r>
              <a:rPr lang="en-GB" sz="2200" b="1" dirty="0"/>
              <a:t>Structural Change → Class Diagram</a:t>
            </a:r>
            <a:endParaRPr lang="en-GB" sz="2200" dirty="0"/>
          </a:p>
          <a:p>
            <a:pPr marL="342900" indent="-342900">
              <a:buFont typeface="Arial" panose="020B0604020202020204" pitchFamily="34" charset="0"/>
              <a:buChar char="•"/>
            </a:pPr>
            <a:r>
              <a:rPr lang="en-GB" sz="2400" dirty="0"/>
              <a:t>New class: </a:t>
            </a:r>
            <a:r>
              <a:rPr lang="en-GB" dirty="0" err="1"/>
              <a:t>TrafficLight</a:t>
            </a:r>
            <a:endParaRPr lang="en-GB" sz="2400" dirty="0"/>
          </a:p>
          <a:p>
            <a:pPr marL="342900" indent="-342900">
              <a:buFont typeface="Arial" panose="020B0604020202020204" pitchFamily="34" charset="0"/>
              <a:buChar char="•"/>
            </a:pPr>
            <a:r>
              <a:rPr lang="en-GB" sz="2400" dirty="0"/>
              <a:t>New relationship: </a:t>
            </a:r>
            <a:r>
              <a:rPr lang="en-GB" dirty="0"/>
              <a:t>Street 1 → * </a:t>
            </a:r>
            <a:r>
              <a:rPr lang="en-GB" dirty="0" err="1"/>
              <a:t>TrafficLight</a:t>
            </a:r>
            <a:endParaRPr lang="en-GB" sz="2400" dirty="0"/>
          </a:p>
          <a:p>
            <a:r>
              <a:rPr lang="en-GB" sz="2400" b="1" dirty="0" err="1"/>
              <a:t>Behavioral</a:t>
            </a:r>
            <a:r>
              <a:rPr lang="en-GB" sz="2400" b="1" dirty="0"/>
              <a:t> Change → Sequence Diagram</a:t>
            </a:r>
            <a:endParaRPr lang="en-GB" sz="2400" dirty="0"/>
          </a:p>
          <a:p>
            <a:pPr marL="285750" indent="-285750">
              <a:buFont typeface="Arial" panose="020B0604020202020204" pitchFamily="34" charset="0"/>
              <a:buChar char="•"/>
            </a:pPr>
            <a:r>
              <a:rPr lang="en-GB" dirty="0"/>
              <a:t>Controller → Street → </a:t>
            </a:r>
            <a:r>
              <a:rPr lang="en-GB" dirty="0" err="1"/>
              <a:t>TrafficLight</a:t>
            </a:r>
            <a:endParaRPr lang="en-GB" sz="2400" dirty="0"/>
          </a:p>
          <a:p>
            <a:pPr marL="342900" indent="-342900">
              <a:buFont typeface="Arial" panose="020B0604020202020204" pitchFamily="34" charset="0"/>
              <a:buChar char="•"/>
            </a:pPr>
            <a:r>
              <a:rPr lang="en-GB" sz="2400" dirty="0"/>
              <a:t>New interaction: </a:t>
            </a:r>
            <a:r>
              <a:rPr lang="en-GB" dirty="0" err="1"/>
              <a:t>advanceState</a:t>
            </a:r>
            <a:r>
              <a:rPr lang="en-GB" dirty="0"/>
              <a:t>()</a:t>
            </a:r>
            <a:endParaRPr lang="en-GB" sz="2400" dirty="0"/>
          </a:p>
        </p:txBody>
      </p:sp>
      <p:sp>
        <p:nvSpPr>
          <p:cNvPr id="17" name="TextBox 16">
            <a:extLst>
              <a:ext uri="{FF2B5EF4-FFF2-40B4-BE49-F238E27FC236}">
                <a16:creationId xmlns:a16="http://schemas.microsoft.com/office/drawing/2014/main" id="{46277036-3BA2-3CA7-D31B-62310BA4EC28}"/>
              </a:ext>
            </a:extLst>
          </p:cNvPr>
          <p:cNvSpPr txBox="1"/>
          <p:nvPr/>
        </p:nvSpPr>
        <p:spPr>
          <a:xfrm>
            <a:off x="562172" y="987582"/>
            <a:ext cx="10791628" cy="1446550"/>
          </a:xfrm>
          <a:prstGeom prst="rect">
            <a:avLst/>
          </a:prstGeom>
          <a:noFill/>
        </p:spPr>
        <p:txBody>
          <a:bodyPr wrap="square">
            <a:spAutoFit/>
          </a:bodyPr>
          <a:lstStyle/>
          <a:p>
            <a:pPr>
              <a:buNone/>
            </a:pPr>
            <a:r>
              <a:rPr lang="en-GB" sz="2200" b="1" dirty="0"/>
              <a:t>Linked Issue: </a:t>
            </a:r>
            <a:r>
              <a:rPr lang="en-GB" sz="2200" dirty="0"/>
              <a:t>Issue #42 – Add Traffic Light Support to Streets</a:t>
            </a:r>
          </a:p>
          <a:p>
            <a:pPr>
              <a:buNone/>
            </a:pPr>
            <a:r>
              <a:rPr lang="en-GB" sz="2200" b="1" dirty="0"/>
              <a:t>PR Title</a:t>
            </a:r>
            <a:r>
              <a:rPr lang="en-GB" sz="2200" dirty="0"/>
              <a:t>: Add </a:t>
            </a:r>
            <a:r>
              <a:rPr lang="en-GB" sz="2200" dirty="0" err="1"/>
              <a:t>TrafficLight</a:t>
            </a:r>
            <a:r>
              <a:rPr lang="en-GB" sz="2200" dirty="0"/>
              <a:t> support to Street model</a:t>
            </a:r>
          </a:p>
          <a:p>
            <a:pPr>
              <a:buNone/>
            </a:pPr>
            <a:r>
              <a:rPr lang="en-GB" sz="2200" b="1" dirty="0"/>
              <a:t>PR Description: </a:t>
            </a:r>
            <a:r>
              <a:rPr lang="en-GB" sz="2200" dirty="0"/>
              <a:t>This PR introduces traffic light functionality to streets to support dynamic traffic control and future traffic system features.</a:t>
            </a:r>
          </a:p>
        </p:txBody>
      </p:sp>
      <p:sp>
        <p:nvSpPr>
          <p:cNvPr id="23" name="TextBox 22">
            <a:extLst>
              <a:ext uri="{FF2B5EF4-FFF2-40B4-BE49-F238E27FC236}">
                <a16:creationId xmlns:a16="http://schemas.microsoft.com/office/drawing/2014/main" id="{E0053702-37EE-835E-E76A-BEADEF324651}"/>
              </a:ext>
            </a:extLst>
          </p:cNvPr>
          <p:cNvSpPr txBox="1"/>
          <p:nvPr/>
        </p:nvSpPr>
        <p:spPr>
          <a:xfrm>
            <a:off x="1717221" y="6228890"/>
            <a:ext cx="7473820" cy="461665"/>
          </a:xfrm>
          <a:prstGeom prst="rect">
            <a:avLst/>
          </a:prstGeom>
          <a:noFill/>
          <a:ln w="28575">
            <a:solidFill>
              <a:srgbClr val="0000EA"/>
            </a:solidFill>
          </a:ln>
        </p:spPr>
        <p:txBody>
          <a:bodyPr wrap="square">
            <a:spAutoFit/>
          </a:bodyPr>
          <a:lstStyle/>
          <a:p>
            <a:pPr>
              <a:buNone/>
            </a:pPr>
            <a:r>
              <a:rPr lang="en-GB" sz="2400" b="1" dirty="0"/>
              <a:t>Before writing code, we make the design change visible.</a:t>
            </a:r>
            <a:endParaRPr lang="en-GB" sz="2400" dirty="0"/>
          </a:p>
        </p:txBody>
      </p:sp>
    </p:spTree>
    <p:extLst>
      <p:ext uri="{BB962C8B-B14F-4D97-AF65-F5344CB8AC3E}">
        <p14:creationId xmlns:p14="http://schemas.microsoft.com/office/powerpoint/2010/main" val="16386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7" grpId="0"/>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9EED-32A4-BB62-3F8D-5BEABEBEEB4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B7B791-307F-2F59-74E0-8F0ECAB11F31}"/>
              </a:ext>
            </a:extLst>
          </p:cNvPr>
          <p:cNvSpPr>
            <a:spLocks noGrp="1"/>
          </p:cNvSpPr>
          <p:nvPr>
            <p:ph type="sldNum" sz="quarter" idx="12"/>
          </p:nvPr>
        </p:nvSpPr>
        <p:spPr/>
        <p:txBody>
          <a:bodyPr/>
          <a:lstStyle/>
          <a:p>
            <a:fld id="{76FC44FA-978A-2F4D-B308-AF3FA2E1E6ED}" type="slidenum">
              <a:rPr lang="en-BE" smtClean="0"/>
              <a:t>14</a:t>
            </a:fld>
            <a:endParaRPr lang="en-BE"/>
          </a:p>
        </p:txBody>
      </p:sp>
      <p:sp>
        <p:nvSpPr>
          <p:cNvPr id="13" name="TextBox 12">
            <a:extLst>
              <a:ext uri="{FF2B5EF4-FFF2-40B4-BE49-F238E27FC236}">
                <a16:creationId xmlns:a16="http://schemas.microsoft.com/office/drawing/2014/main" id="{CF5DD6C8-92F3-285E-2A78-6F31A26F463E}"/>
              </a:ext>
            </a:extLst>
          </p:cNvPr>
          <p:cNvSpPr txBox="1"/>
          <p:nvPr/>
        </p:nvSpPr>
        <p:spPr>
          <a:xfrm>
            <a:off x="4435380" y="4784586"/>
            <a:ext cx="7756620" cy="1754326"/>
          </a:xfrm>
          <a:prstGeom prst="rect">
            <a:avLst/>
          </a:prstGeom>
          <a:noFill/>
        </p:spPr>
        <p:txBody>
          <a:bodyPr wrap="square">
            <a:spAutoFit/>
          </a:bodyPr>
          <a:lstStyle/>
          <a:p>
            <a:r>
              <a:rPr lang="en-GB" b="1" dirty="0">
                <a:latin typeface="Courier New" panose="02070309020205020404" pitchFamily="49" charset="0"/>
                <a:cs typeface="Courier New" panose="02070309020205020404" pitchFamily="49" charset="0"/>
              </a:rPr>
              <a:t>Controller → Street : </a:t>
            </a:r>
            <a:r>
              <a:rPr lang="en-GB" b="1" dirty="0" err="1">
                <a:latin typeface="Courier New" panose="02070309020205020404" pitchFamily="49" charset="0"/>
                <a:cs typeface="Courier New" panose="02070309020205020404" pitchFamily="49" charset="0"/>
              </a:rPr>
              <a:t>updateTraffic</a:t>
            </a:r>
            <a:r>
              <a:rPr lang="en-GB" b="1"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The Controller starts the process. It tells the Street: update your traffic.</a:t>
            </a:r>
          </a:p>
          <a:p>
            <a:r>
              <a:rPr lang="en-GB" dirty="0">
                <a:latin typeface="Courier New" panose="02070309020205020404" pitchFamily="49" charset="0"/>
                <a:cs typeface="Courier New" panose="02070309020205020404" pitchFamily="49" charset="0"/>
              </a:rPr>
              <a:t>Street → </a:t>
            </a:r>
            <a:r>
              <a:rPr lang="en-GB" dirty="0" err="1">
                <a:latin typeface="Courier New" panose="02070309020205020404" pitchFamily="49" charset="0"/>
                <a:cs typeface="Courier New" panose="02070309020205020404" pitchFamily="49" charset="0"/>
              </a:rPr>
              <a:t>TrafficLight</a:t>
            </a:r>
            <a:r>
              <a:rPr lang="en-GB" dirty="0">
                <a:latin typeface="Courier New" panose="02070309020205020404" pitchFamily="49" charset="0"/>
                <a:cs typeface="Courier New" panose="02070309020205020404" pitchFamily="49" charset="0"/>
              </a:rPr>
              <a:t> : </a:t>
            </a:r>
            <a:r>
              <a:rPr lang="en-GB" dirty="0" err="1">
                <a:latin typeface="Courier New" panose="02070309020205020404" pitchFamily="49" charset="0"/>
                <a:cs typeface="Courier New" panose="02070309020205020404" pitchFamily="49" charset="0"/>
              </a:rPr>
              <a:t>advanceState</a:t>
            </a:r>
            <a:r>
              <a:rPr lang="en-GB"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Inside </a:t>
            </a:r>
            <a:r>
              <a:rPr lang="en-GB" dirty="0" err="1"/>
              <a:t>updateTraffic</a:t>
            </a:r>
            <a:r>
              <a:rPr lang="en-GB" dirty="0"/>
              <a:t>(), the Street loops through each </a:t>
            </a:r>
            <a:r>
              <a:rPr lang="en-GB" dirty="0" err="1"/>
              <a:t>TrafficLight</a:t>
            </a:r>
            <a:r>
              <a:rPr lang="en-GB" dirty="0"/>
              <a:t> it contains.</a:t>
            </a:r>
          </a:p>
          <a:p>
            <a:r>
              <a:rPr lang="en-GB" b="1" dirty="0" err="1">
                <a:latin typeface="Courier New" panose="02070309020205020404" pitchFamily="49" charset="0"/>
                <a:cs typeface="Courier New" panose="02070309020205020404" pitchFamily="49" charset="0"/>
              </a:rPr>
              <a:t>TrafficLight</a:t>
            </a:r>
            <a:r>
              <a:rPr lang="en-GB" b="1" dirty="0"/>
              <a:t> receives </a:t>
            </a:r>
            <a:r>
              <a:rPr lang="en-GB" b="1" dirty="0" err="1">
                <a:latin typeface="Courier New" panose="02070309020205020404" pitchFamily="49" charset="0"/>
                <a:cs typeface="Courier New" panose="02070309020205020404" pitchFamily="49" charset="0"/>
              </a:rPr>
              <a:t>advanceState</a:t>
            </a:r>
            <a:r>
              <a:rPr lang="en-GB" b="1" dirty="0">
                <a:latin typeface="Courier New" panose="02070309020205020404" pitchFamily="49" charset="0"/>
                <a:cs typeface="Courier New" panose="02070309020205020404" pitchFamily="49" charset="0"/>
              </a:rPr>
              <a:t>().</a:t>
            </a:r>
          </a:p>
          <a:p>
            <a:pPr marL="285750" indent="-285750">
              <a:buFont typeface="Arial" panose="020B0604020202020204" pitchFamily="34" charset="0"/>
              <a:buChar char="•"/>
            </a:pPr>
            <a:r>
              <a:rPr lang="en-GB" dirty="0"/>
              <a:t>RED → GREEN → YELLOW → RED</a:t>
            </a:r>
          </a:p>
        </p:txBody>
      </p:sp>
      <p:sp>
        <p:nvSpPr>
          <p:cNvPr id="14" name="Title 1">
            <a:extLst>
              <a:ext uri="{FF2B5EF4-FFF2-40B4-BE49-F238E27FC236}">
                <a16:creationId xmlns:a16="http://schemas.microsoft.com/office/drawing/2014/main" id="{F7E12C37-5B2C-89F9-79D5-06CD94A27D75}"/>
              </a:ext>
            </a:extLst>
          </p:cNvPr>
          <p:cNvSpPr>
            <a:spLocks noGrp="1"/>
          </p:cNvSpPr>
          <p:nvPr>
            <p:ph type="title"/>
          </p:nvPr>
        </p:nvSpPr>
        <p:spPr>
          <a:xfrm>
            <a:off x="838200" y="37676"/>
            <a:ext cx="10515600" cy="1026849"/>
          </a:xfrm>
        </p:spPr>
        <p:txBody>
          <a:bodyPr>
            <a:normAutofit/>
          </a:bodyPr>
          <a:lstStyle/>
          <a:p>
            <a:r>
              <a:rPr lang="en-BE" sz="3200" b="1" dirty="0"/>
              <a:t>Traffic-light PR: the structural and behavioral changes</a:t>
            </a:r>
            <a:endParaRPr lang="en-GB" sz="3200" dirty="0"/>
          </a:p>
        </p:txBody>
      </p:sp>
      <p:sp>
        <p:nvSpPr>
          <p:cNvPr id="15" name="TextBox 14">
            <a:extLst>
              <a:ext uri="{FF2B5EF4-FFF2-40B4-BE49-F238E27FC236}">
                <a16:creationId xmlns:a16="http://schemas.microsoft.com/office/drawing/2014/main" id="{0230642E-682D-65FC-BBE6-5DB6FDF20831}"/>
              </a:ext>
            </a:extLst>
          </p:cNvPr>
          <p:cNvSpPr txBox="1"/>
          <p:nvPr/>
        </p:nvSpPr>
        <p:spPr>
          <a:xfrm>
            <a:off x="223934" y="4784586"/>
            <a:ext cx="3806890" cy="1508105"/>
          </a:xfrm>
          <a:prstGeom prst="rect">
            <a:avLst/>
          </a:prstGeom>
          <a:noFill/>
        </p:spPr>
        <p:txBody>
          <a:bodyPr wrap="square" rtlCol="0">
            <a:spAutoFit/>
          </a:bodyPr>
          <a:lstStyle/>
          <a:p>
            <a:r>
              <a:rPr lang="en-US" sz="2000" b="1" dirty="0"/>
              <a:t>Structural Changes:</a:t>
            </a:r>
          </a:p>
          <a:p>
            <a:pPr marL="285750" indent="-285750">
              <a:buFont typeface="Arial" panose="020B0604020202020204" pitchFamily="34" charset="0"/>
              <a:buChar char="•"/>
            </a:pPr>
            <a:r>
              <a:rPr lang="en-US" dirty="0"/>
              <a:t>Added class </a:t>
            </a:r>
            <a:r>
              <a:rPr lang="en-US" dirty="0">
                <a:latin typeface="Courier New" panose="02070309020205020404" pitchFamily="49" charset="0"/>
                <a:cs typeface="Courier New" panose="02070309020205020404" pitchFamily="49" charset="0"/>
              </a:rPr>
              <a:t>TrafficLight</a:t>
            </a:r>
          </a:p>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Street</a:t>
            </a:r>
            <a:r>
              <a:rPr lang="en-US" dirty="0"/>
              <a:t> now contains </a:t>
            </a:r>
            <a:r>
              <a:rPr lang="en-US" dirty="0">
                <a:latin typeface="Courier New" panose="02070309020205020404" pitchFamily="49" charset="0"/>
                <a:cs typeface="Courier New" panose="02070309020205020404" pitchFamily="49" charset="0"/>
              </a:rPr>
              <a:t>0..* TrafficLight</a:t>
            </a:r>
          </a:p>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Controller</a:t>
            </a:r>
            <a:r>
              <a:rPr lang="en-US" dirty="0"/>
              <a:t> unchanged</a:t>
            </a:r>
          </a:p>
        </p:txBody>
      </p:sp>
      <p:sp>
        <p:nvSpPr>
          <p:cNvPr id="2" name="TextBox 1">
            <a:extLst>
              <a:ext uri="{FF2B5EF4-FFF2-40B4-BE49-F238E27FC236}">
                <a16:creationId xmlns:a16="http://schemas.microsoft.com/office/drawing/2014/main" id="{833BF81A-1C9F-93F8-E301-A06BFB75B04A}"/>
              </a:ext>
            </a:extLst>
          </p:cNvPr>
          <p:cNvSpPr txBox="1"/>
          <p:nvPr/>
        </p:nvSpPr>
        <p:spPr>
          <a:xfrm>
            <a:off x="771296" y="1317762"/>
            <a:ext cx="2043980" cy="461665"/>
          </a:xfrm>
          <a:prstGeom prst="rect">
            <a:avLst/>
          </a:prstGeom>
          <a:noFill/>
        </p:spPr>
        <p:txBody>
          <a:bodyPr wrap="square" rtlCol="0">
            <a:spAutoFit/>
          </a:bodyPr>
          <a:lstStyle/>
          <a:p>
            <a:r>
              <a:rPr lang="en-US" sz="2400" dirty="0"/>
              <a:t>Class Diagram</a:t>
            </a:r>
          </a:p>
        </p:txBody>
      </p:sp>
      <p:sp>
        <p:nvSpPr>
          <p:cNvPr id="3" name="TextBox 2">
            <a:extLst>
              <a:ext uri="{FF2B5EF4-FFF2-40B4-BE49-F238E27FC236}">
                <a16:creationId xmlns:a16="http://schemas.microsoft.com/office/drawing/2014/main" id="{CD4C3BB3-A861-0603-5854-1A3321684268}"/>
              </a:ext>
            </a:extLst>
          </p:cNvPr>
          <p:cNvSpPr txBox="1"/>
          <p:nvPr/>
        </p:nvSpPr>
        <p:spPr>
          <a:xfrm>
            <a:off x="5868137" y="998469"/>
            <a:ext cx="2865074" cy="461665"/>
          </a:xfrm>
          <a:prstGeom prst="rect">
            <a:avLst/>
          </a:prstGeom>
          <a:noFill/>
        </p:spPr>
        <p:txBody>
          <a:bodyPr wrap="square" rtlCol="0">
            <a:spAutoFit/>
          </a:bodyPr>
          <a:lstStyle/>
          <a:p>
            <a:r>
              <a:rPr lang="en-US" sz="2400" dirty="0"/>
              <a:t>Sequence Diagram</a:t>
            </a:r>
          </a:p>
        </p:txBody>
      </p:sp>
      <p:pic>
        <p:nvPicPr>
          <p:cNvPr id="11266" name="Picture 2">
            <a:extLst>
              <a:ext uri="{FF2B5EF4-FFF2-40B4-BE49-F238E27FC236}">
                <a16:creationId xmlns:a16="http://schemas.microsoft.com/office/drawing/2014/main" id="{6A3B694D-6DD5-BCAA-A0AD-8989A3DE0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296" y="1662595"/>
            <a:ext cx="2043979" cy="2963770"/>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F3AB9450-593D-F8C0-443F-E0ABD07CB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6773"/>
          <a:stretch>
            <a:fillRect/>
          </a:stretch>
        </p:blipFill>
        <p:spPr bwMode="auto">
          <a:xfrm>
            <a:off x="5308915" y="1460134"/>
            <a:ext cx="4189649" cy="3411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65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a:extLst>
              <a:ext uri="{FF2B5EF4-FFF2-40B4-BE49-F238E27FC236}">
                <a16:creationId xmlns:a16="http://schemas.microsoft.com/office/drawing/2014/main" id="{7F68F78F-656F-44B6-8826-86944B15D608}"/>
              </a:ext>
            </a:extLst>
          </p:cNvPr>
          <p:cNvSpPr>
            <a:spLocks noGrp="1"/>
          </p:cNvSpPr>
          <p:nvPr/>
        </p:nvSpPr>
        <p:spPr>
          <a:xfrm>
            <a:off x="666750" y="266700"/>
            <a:ext cx="10858500" cy="571500"/>
          </a:xfrm>
          <a:prstGeom prst="rect">
            <a:avLst/>
          </a:prstGeom>
          <a:noFill/>
          <a:ln w="0">
            <a:noFill/>
          </a:ln>
        </p:spPr>
        <p:txBody>
          <a:bodyPr>
            <a:noAutofit/>
          </a:bodyPr>
          <a:lstStyle/>
          <a:p>
            <a:pPr>
              <a:defRPr sz="2775" b="1">
                <a:solidFill>
                  <a:srgbClr val="111111"/>
                </a:solidFill>
                <a:latin typeface="Calibri"/>
                <a:ea typeface="Calibri"/>
                <a:cs typeface="Calibri"/>
              </a:defRPr>
            </a:pPr>
            <a:r>
              <a:rPr sz="2775" b="1">
                <a:solidFill>
                  <a:srgbClr val="111111"/>
                </a:solidFill>
                <a:latin typeface="Calibri"/>
                <a:ea typeface="Calibri"/>
                <a:cs typeface="Calibri"/>
              </a:rPr>
              <a:t>Issue and pull request traceability</a:t>
            </a:r>
          </a:p>
        </p:txBody>
      </p:sp>
      <p:sp>
        <p:nvSpPr>
          <p:cNvPr id="2" name="Subtitle">
            <a:extLst>
              <a:ext uri="{FF2B5EF4-FFF2-40B4-BE49-F238E27FC236}">
                <a16:creationId xmlns:a16="http://schemas.microsoft.com/office/drawing/2014/main" id="{BA55A84D-9245-44D1-9C5A-C6FE6648CC8C}"/>
              </a:ext>
            </a:extLst>
          </p:cNvPr>
          <p:cNvSpPr>
            <a:spLocks noGrp="1"/>
          </p:cNvSpPr>
          <p:nvPr/>
        </p:nvSpPr>
        <p:spPr>
          <a:xfrm>
            <a:off x="685800" y="838200"/>
            <a:ext cx="10810875" cy="323850"/>
          </a:xfrm>
          <a:prstGeom prst="rect">
            <a:avLst/>
          </a:prstGeom>
          <a:noFill/>
          <a:ln w="0">
            <a:noFill/>
          </a:ln>
        </p:spPr>
        <p:txBody>
          <a:bodyPr>
            <a:noAutofit/>
          </a:bodyPr>
          <a:lstStyle/>
          <a:p>
            <a:pPr>
              <a:defRPr sz="1725">
                <a:solidFill>
                  <a:srgbClr val="555555"/>
                </a:solidFill>
                <a:latin typeface="Calibri"/>
                <a:ea typeface="Calibri"/>
                <a:cs typeface="Calibri"/>
              </a:defRPr>
            </a:pPr>
            <a:r>
              <a:rPr sz="1725" dirty="0">
                <a:solidFill>
                  <a:srgbClr val="555555"/>
                </a:solidFill>
                <a:latin typeface="Calibri"/>
                <a:ea typeface="Calibri"/>
                <a:cs typeface="Calibri"/>
              </a:rPr>
              <a:t>Example: add traffic lights to a street</a:t>
            </a:r>
          </a:p>
        </p:txBody>
      </p:sp>
      <p:sp>
        <p:nvSpPr>
          <p:cNvPr id="3" name="Issue Panel">
            <a:extLst>
              <a:ext uri="{FF2B5EF4-FFF2-40B4-BE49-F238E27FC236}">
                <a16:creationId xmlns:a16="http://schemas.microsoft.com/office/drawing/2014/main" id="{B9C51A12-2C9F-4A34-816C-877152734E9C}"/>
              </a:ext>
            </a:extLst>
          </p:cNvPr>
          <p:cNvSpPr>
            <a:spLocks noGrp="1"/>
          </p:cNvSpPr>
          <p:nvPr/>
        </p:nvSpPr>
        <p:spPr>
          <a:xfrm>
            <a:off x="666750" y="1381125"/>
            <a:ext cx="4476750" cy="4191000"/>
          </a:xfrm>
          <a:prstGeom prst="roundRect">
            <a:avLst>
              <a:gd name="adj" fmla="val 1818"/>
            </a:avLst>
          </a:prstGeom>
          <a:solidFill>
            <a:srgbClr val="17191C"/>
          </a:solidFill>
          <a:ln w="19050">
            <a:solidFill>
              <a:srgbClr val="2D78C4"/>
            </a:solidFill>
          </a:ln>
        </p:spPr>
        <p:txBody>
          <a:bodyPr/>
          <a:lstStyle/>
          <a:p>
            <a:endParaRPr lang="en-US"/>
          </a:p>
        </p:txBody>
      </p:sp>
      <p:sp>
        <p:nvSpPr>
          <p:cNvPr id="4" name="Issue Label">
            <a:extLst>
              <a:ext uri="{FF2B5EF4-FFF2-40B4-BE49-F238E27FC236}">
                <a16:creationId xmlns:a16="http://schemas.microsoft.com/office/drawing/2014/main" id="{CD452A2A-221D-4169-A32F-E822C4B3CE28}"/>
              </a:ext>
            </a:extLst>
          </p:cNvPr>
          <p:cNvSpPr>
            <a:spLocks noGrp="1"/>
          </p:cNvSpPr>
          <p:nvPr/>
        </p:nvSpPr>
        <p:spPr>
          <a:xfrm>
            <a:off x="904875" y="1571625"/>
            <a:ext cx="1619250" cy="285750"/>
          </a:xfrm>
          <a:prstGeom prst="rect">
            <a:avLst/>
          </a:prstGeom>
          <a:noFill/>
          <a:ln w="0">
            <a:noFill/>
          </a:ln>
        </p:spPr>
        <p:txBody>
          <a:bodyPr>
            <a:noAutofit/>
          </a:bodyPr>
          <a:lstStyle/>
          <a:p>
            <a:pPr>
              <a:defRPr sz="1350" b="1">
                <a:solidFill>
                  <a:srgbClr val="58A6FF"/>
                </a:solidFill>
                <a:latin typeface="Courier New"/>
                <a:ea typeface="Courier New"/>
                <a:cs typeface="Courier New"/>
              </a:defRPr>
            </a:pPr>
            <a:r>
              <a:rPr sz="1350" b="1">
                <a:solidFill>
                  <a:srgbClr val="58A6FF"/>
                </a:solidFill>
                <a:latin typeface="Courier New"/>
                <a:ea typeface="Courier New"/>
                <a:cs typeface="Courier New"/>
              </a:rPr>
              <a:t>ISSUE #42</a:t>
            </a:r>
          </a:p>
        </p:txBody>
      </p:sp>
      <p:sp>
        <p:nvSpPr>
          <p:cNvPr id="5" name="Issue Title">
            <a:extLst>
              <a:ext uri="{FF2B5EF4-FFF2-40B4-BE49-F238E27FC236}">
                <a16:creationId xmlns:a16="http://schemas.microsoft.com/office/drawing/2014/main" id="{369DDB17-C6A9-4439-8045-E8D2E75343FE}"/>
              </a:ext>
            </a:extLst>
          </p:cNvPr>
          <p:cNvSpPr>
            <a:spLocks noGrp="1"/>
          </p:cNvSpPr>
          <p:nvPr/>
        </p:nvSpPr>
        <p:spPr>
          <a:xfrm>
            <a:off x="904875" y="1924050"/>
            <a:ext cx="4000500" cy="523875"/>
          </a:xfrm>
          <a:prstGeom prst="rect">
            <a:avLst/>
          </a:prstGeom>
          <a:noFill/>
          <a:ln w="0">
            <a:noFill/>
          </a:ln>
        </p:spPr>
        <p:txBody>
          <a:bodyPr>
            <a:noAutofit/>
          </a:bodyPr>
          <a:lstStyle/>
          <a:p>
            <a:pPr>
              <a:defRPr sz="1725" b="1">
                <a:solidFill>
                  <a:srgbClr val="F0F3F6"/>
                </a:solidFill>
                <a:latin typeface="Courier New"/>
                <a:ea typeface="Courier New"/>
                <a:cs typeface="Courier New"/>
              </a:defRPr>
            </a:pPr>
            <a:r>
              <a:rPr sz="1725" b="1">
                <a:solidFill>
                  <a:srgbClr val="F0F3F6"/>
                </a:solidFill>
                <a:latin typeface="Courier New"/>
                <a:ea typeface="Courier New"/>
                <a:cs typeface="Courier New"/>
              </a:rPr>
              <a:t>Add traffic-light support to Street</a:t>
            </a:r>
          </a:p>
        </p:txBody>
      </p:sp>
      <p:sp>
        <p:nvSpPr>
          <p:cNvPr id="6" name="Issue Problem Heading">
            <a:extLst>
              <a:ext uri="{FF2B5EF4-FFF2-40B4-BE49-F238E27FC236}">
                <a16:creationId xmlns:a16="http://schemas.microsoft.com/office/drawing/2014/main" id="{5A355933-3A21-458E-9068-22C19E856294}"/>
              </a:ext>
            </a:extLst>
          </p:cNvPr>
          <p:cNvSpPr>
            <a:spLocks noGrp="1"/>
          </p:cNvSpPr>
          <p:nvPr/>
        </p:nvSpPr>
        <p:spPr>
          <a:xfrm>
            <a:off x="904875" y="2524125"/>
            <a:ext cx="1619250" cy="24765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Problem</a:t>
            </a:r>
          </a:p>
        </p:txBody>
      </p:sp>
      <p:sp>
        <p:nvSpPr>
          <p:cNvPr id="7" name="Issue Problem">
            <a:extLst>
              <a:ext uri="{FF2B5EF4-FFF2-40B4-BE49-F238E27FC236}">
                <a16:creationId xmlns:a16="http://schemas.microsoft.com/office/drawing/2014/main" id="{F1FCF6AF-F285-4D57-B3D4-FEBF177FD303}"/>
              </a:ext>
            </a:extLst>
          </p:cNvPr>
          <p:cNvSpPr>
            <a:spLocks noGrp="1"/>
          </p:cNvSpPr>
          <p:nvPr/>
        </p:nvSpPr>
        <p:spPr>
          <a:xfrm>
            <a:off x="904875" y="2809875"/>
            <a:ext cx="3905250" cy="590550"/>
          </a:xfrm>
          <a:prstGeom prst="rect">
            <a:avLst/>
          </a:prstGeom>
          <a:noFill/>
          <a:ln w="0">
            <a:noFill/>
          </a:ln>
        </p:spPr>
        <p:txBody>
          <a:bodyPr>
            <a:noAutofit/>
          </a:bodyPr>
          <a:lstStyle/>
          <a:p>
            <a:pPr>
              <a:defRPr sz="1275">
                <a:solidFill>
                  <a:srgbClr val="E6EDF3"/>
                </a:solidFill>
                <a:latin typeface="Courier New"/>
                <a:ea typeface="Courier New"/>
                <a:cs typeface="Courier New"/>
              </a:defRPr>
            </a:pPr>
            <a:r>
              <a:rPr sz="1275" dirty="0">
                <a:solidFill>
                  <a:srgbClr val="E6EDF3"/>
                </a:solidFill>
                <a:latin typeface="Courier New"/>
                <a:ea typeface="Courier New"/>
                <a:cs typeface="Courier New"/>
              </a:rPr>
              <a:t>A Street has no model for its traffic lights or their state changes.</a:t>
            </a:r>
          </a:p>
        </p:txBody>
      </p:sp>
      <p:sp>
        <p:nvSpPr>
          <p:cNvPr id="8" name="Acceptance Heading">
            <a:extLst>
              <a:ext uri="{FF2B5EF4-FFF2-40B4-BE49-F238E27FC236}">
                <a16:creationId xmlns:a16="http://schemas.microsoft.com/office/drawing/2014/main" id="{92E399FE-418D-4511-9AA9-E9E69FA8D18F}"/>
              </a:ext>
            </a:extLst>
          </p:cNvPr>
          <p:cNvSpPr>
            <a:spLocks noGrp="1"/>
          </p:cNvSpPr>
          <p:nvPr/>
        </p:nvSpPr>
        <p:spPr>
          <a:xfrm>
            <a:off x="904875" y="3476625"/>
            <a:ext cx="247650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Acceptance criteria</a:t>
            </a:r>
          </a:p>
        </p:txBody>
      </p:sp>
      <p:sp>
        <p:nvSpPr>
          <p:cNvPr id="9" name="Acceptance Criteria">
            <a:extLst>
              <a:ext uri="{FF2B5EF4-FFF2-40B4-BE49-F238E27FC236}">
                <a16:creationId xmlns:a16="http://schemas.microsoft.com/office/drawing/2014/main" id="{280E6D1D-2EA5-4B11-9DC5-E564729B7D7A}"/>
              </a:ext>
            </a:extLst>
          </p:cNvPr>
          <p:cNvSpPr>
            <a:spLocks noGrp="1"/>
          </p:cNvSpPr>
          <p:nvPr/>
        </p:nvSpPr>
        <p:spPr>
          <a:xfrm>
            <a:off x="904875" y="3829050"/>
            <a:ext cx="3905250" cy="142875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1. Street supports multiple TrafficLight objects.</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2. Controller can trigger a traffic update.</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3. Each light advances state when updated.</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4. Existing behavior remains unchanged.</a:t>
            </a:r>
          </a:p>
        </p:txBody>
      </p:sp>
      <p:sp>
        <p:nvSpPr>
          <p:cNvPr id="10" name="Issue to Work">
            <a:extLst>
              <a:ext uri="{FF2B5EF4-FFF2-40B4-BE49-F238E27FC236}">
                <a16:creationId xmlns:a16="http://schemas.microsoft.com/office/drawing/2014/main" id="{5C13C259-2FB7-4823-8BF9-5D4B5D5CF652}"/>
              </a:ext>
            </a:extLst>
          </p:cNvPr>
          <p:cNvSpPr>
            <a:spLocks noGrp="1"/>
          </p:cNvSpPr>
          <p:nvPr/>
        </p:nvSpPr>
        <p:spPr>
          <a:xfrm>
            <a:off x="5143500" y="2781300"/>
            <a:ext cx="523875" cy="323850"/>
          </a:xfrm>
          <a:prstGeom prst="rightArrow">
            <a:avLst/>
          </a:prstGeom>
          <a:solidFill>
            <a:srgbClr val="A9B8C6"/>
          </a:solidFill>
          <a:ln w="9525">
            <a:solidFill>
              <a:srgbClr val="A9B8C6"/>
            </a:solidFill>
          </a:ln>
        </p:spPr>
        <p:txBody>
          <a:bodyPr/>
          <a:lstStyle/>
          <a:p>
            <a:endParaRPr lang="en-US"/>
          </a:p>
        </p:txBody>
      </p:sp>
      <p:sp>
        <p:nvSpPr>
          <p:cNvPr id="11" name="Focused Branch">
            <a:extLst>
              <a:ext uri="{FF2B5EF4-FFF2-40B4-BE49-F238E27FC236}">
                <a16:creationId xmlns:a16="http://schemas.microsoft.com/office/drawing/2014/main" id="{5F84BE1C-3F70-411D-9FA4-C17B7E7D2994}"/>
              </a:ext>
            </a:extLst>
          </p:cNvPr>
          <p:cNvSpPr>
            <a:spLocks noGrp="1"/>
          </p:cNvSpPr>
          <p:nvPr/>
        </p:nvSpPr>
        <p:spPr>
          <a:xfrm>
            <a:off x="5476875" y="2190750"/>
            <a:ext cx="1428750" cy="1428750"/>
          </a:xfrm>
          <a:prstGeom prst="ellipse">
            <a:avLst/>
          </a:prstGeom>
          <a:solidFill>
            <a:srgbClr val="F3F7FA"/>
          </a:solidFill>
          <a:ln w="19050">
            <a:solidFill>
              <a:srgbClr val="1F5B85"/>
            </a:solidFill>
          </a:ln>
        </p:spPr>
        <p:txBody>
          <a:bodyPr anchor="ctr">
            <a:noAutofit/>
          </a:bodyPr>
          <a:lstStyle/>
          <a:p>
            <a:pPr algn="ctr">
              <a:defRPr sz="1575" b="1">
                <a:solidFill>
                  <a:srgbClr val="1F5B85"/>
                </a:solidFill>
                <a:latin typeface="Calibri"/>
                <a:ea typeface="Calibri"/>
                <a:cs typeface="Calibri"/>
              </a:defRPr>
            </a:pPr>
            <a:r>
              <a:rPr b="1" dirty="0">
                <a:solidFill>
                  <a:srgbClr val="1F5B85"/>
                </a:solidFill>
                <a:latin typeface="Calibri"/>
                <a:ea typeface="Calibri"/>
                <a:cs typeface="Calibri"/>
              </a:rPr>
              <a:t>Focused</a:t>
            </a:r>
          </a:p>
          <a:p>
            <a:pPr algn="ctr">
              <a:defRPr sz="1575" b="1">
                <a:solidFill>
                  <a:srgbClr val="1F5B85"/>
                </a:solidFill>
                <a:latin typeface="Calibri"/>
                <a:ea typeface="Calibri"/>
                <a:cs typeface="Calibri"/>
              </a:defRPr>
            </a:pPr>
            <a:r>
              <a:rPr b="1" dirty="0">
                <a:solidFill>
                  <a:srgbClr val="1F5B85"/>
                </a:solidFill>
                <a:latin typeface="Calibri"/>
                <a:ea typeface="Calibri"/>
                <a:cs typeface="Calibri"/>
              </a:rPr>
              <a:t>branch</a:t>
            </a:r>
          </a:p>
        </p:txBody>
      </p:sp>
      <p:sp>
        <p:nvSpPr>
          <p:cNvPr id="12" name="Branch Work">
            <a:extLst>
              <a:ext uri="{FF2B5EF4-FFF2-40B4-BE49-F238E27FC236}">
                <a16:creationId xmlns:a16="http://schemas.microsoft.com/office/drawing/2014/main" id="{225A36ED-1A5A-4596-BABD-D2B28D55EB15}"/>
              </a:ext>
            </a:extLst>
          </p:cNvPr>
          <p:cNvSpPr>
            <a:spLocks noGrp="1"/>
          </p:cNvSpPr>
          <p:nvPr/>
        </p:nvSpPr>
        <p:spPr>
          <a:xfrm>
            <a:off x="5524499" y="3762375"/>
            <a:ext cx="1524003" cy="1047750"/>
          </a:xfrm>
          <a:prstGeom prst="rect">
            <a:avLst/>
          </a:prstGeom>
          <a:noFill/>
          <a:ln w="0">
            <a:noFill/>
          </a:ln>
        </p:spPr>
        <p:txBody>
          <a:bodyPr>
            <a:noAutofit/>
          </a:bodyPr>
          <a:lstStyle/>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Design</a:t>
            </a:r>
          </a:p>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Code</a:t>
            </a:r>
          </a:p>
          <a:p>
            <a:pPr algn="ctr">
              <a:defRPr sz="1425" b="1">
                <a:solidFill>
                  <a:srgbClr val="1F5B85"/>
                </a:solidFill>
                <a:latin typeface="Calibri"/>
                <a:ea typeface="Calibri"/>
                <a:cs typeface="Calibri"/>
              </a:defRPr>
            </a:pPr>
            <a:r>
              <a:rPr sz="2000" b="1" dirty="0">
                <a:solidFill>
                  <a:srgbClr val="1F5B85"/>
                </a:solidFill>
                <a:latin typeface="Calibri"/>
                <a:ea typeface="Calibri"/>
                <a:cs typeface="Calibri"/>
              </a:rPr>
              <a:t>Tests</a:t>
            </a:r>
          </a:p>
        </p:txBody>
      </p:sp>
      <p:sp>
        <p:nvSpPr>
          <p:cNvPr id="13" name="Work to PR">
            <a:extLst>
              <a:ext uri="{FF2B5EF4-FFF2-40B4-BE49-F238E27FC236}">
                <a16:creationId xmlns:a16="http://schemas.microsoft.com/office/drawing/2014/main" id="{9DF83E46-684A-4793-9B69-E4A107694CBA}"/>
              </a:ext>
            </a:extLst>
          </p:cNvPr>
          <p:cNvSpPr>
            <a:spLocks noGrp="1"/>
          </p:cNvSpPr>
          <p:nvPr/>
        </p:nvSpPr>
        <p:spPr>
          <a:xfrm>
            <a:off x="6905625" y="2781300"/>
            <a:ext cx="714375" cy="323850"/>
          </a:xfrm>
          <a:prstGeom prst="rightArrow">
            <a:avLst/>
          </a:prstGeom>
          <a:solidFill>
            <a:srgbClr val="A9B8C6"/>
          </a:solidFill>
          <a:ln w="9525">
            <a:solidFill>
              <a:srgbClr val="A9B8C6"/>
            </a:solidFill>
          </a:ln>
        </p:spPr>
        <p:txBody>
          <a:bodyPr/>
          <a:lstStyle/>
          <a:p>
            <a:endParaRPr lang="en-US"/>
          </a:p>
        </p:txBody>
      </p:sp>
      <p:sp>
        <p:nvSpPr>
          <p:cNvPr id="14" name="PR Panel">
            <a:extLst>
              <a:ext uri="{FF2B5EF4-FFF2-40B4-BE49-F238E27FC236}">
                <a16:creationId xmlns:a16="http://schemas.microsoft.com/office/drawing/2014/main" id="{307123B7-CBA6-4698-9FC2-3DF48636F633}"/>
              </a:ext>
            </a:extLst>
          </p:cNvPr>
          <p:cNvSpPr>
            <a:spLocks noGrp="1"/>
          </p:cNvSpPr>
          <p:nvPr/>
        </p:nvSpPr>
        <p:spPr>
          <a:xfrm>
            <a:off x="7619999" y="1381125"/>
            <a:ext cx="4235303" cy="4191000"/>
          </a:xfrm>
          <a:prstGeom prst="roundRect">
            <a:avLst>
              <a:gd name="adj" fmla="val 1951"/>
            </a:avLst>
          </a:prstGeom>
          <a:solidFill>
            <a:srgbClr val="17191C"/>
          </a:solidFill>
          <a:ln w="19050">
            <a:solidFill>
              <a:srgbClr val="2EA043"/>
            </a:solidFill>
          </a:ln>
        </p:spPr>
        <p:txBody>
          <a:bodyPr/>
          <a:lstStyle/>
          <a:p>
            <a:endParaRPr lang="en-US"/>
          </a:p>
        </p:txBody>
      </p:sp>
      <p:sp>
        <p:nvSpPr>
          <p:cNvPr id="15" name="PR Label">
            <a:extLst>
              <a:ext uri="{FF2B5EF4-FFF2-40B4-BE49-F238E27FC236}">
                <a16:creationId xmlns:a16="http://schemas.microsoft.com/office/drawing/2014/main" id="{9168E9F6-D3AD-4E7F-9E5F-A85265C749A1}"/>
              </a:ext>
            </a:extLst>
          </p:cNvPr>
          <p:cNvSpPr>
            <a:spLocks noGrp="1"/>
          </p:cNvSpPr>
          <p:nvPr/>
        </p:nvSpPr>
        <p:spPr>
          <a:xfrm>
            <a:off x="7858125" y="1571625"/>
            <a:ext cx="2286000" cy="285750"/>
          </a:xfrm>
          <a:prstGeom prst="rect">
            <a:avLst/>
          </a:prstGeom>
          <a:noFill/>
          <a:ln w="0">
            <a:noFill/>
          </a:ln>
        </p:spPr>
        <p:txBody>
          <a:bodyPr>
            <a:noAutofit/>
          </a:bodyPr>
          <a:lstStyle/>
          <a:p>
            <a:pPr>
              <a:defRPr sz="1350" b="1">
                <a:solidFill>
                  <a:srgbClr val="56D364"/>
                </a:solidFill>
                <a:latin typeface="Courier New"/>
                <a:ea typeface="Courier New"/>
                <a:cs typeface="Courier New"/>
              </a:defRPr>
            </a:pPr>
            <a:r>
              <a:rPr sz="1350" b="1">
                <a:solidFill>
                  <a:srgbClr val="56D364"/>
                </a:solidFill>
                <a:latin typeface="Courier New"/>
                <a:ea typeface="Courier New"/>
                <a:cs typeface="Courier New"/>
              </a:rPr>
              <a:t>PULL REQUEST #58</a:t>
            </a:r>
          </a:p>
        </p:txBody>
      </p:sp>
      <p:sp>
        <p:nvSpPr>
          <p:cNvPr id="16" name="PR Title">
            <a:extLst>
              <a:ext uri="{FF2B5EF4-FFF2-40B4-BE49-F238E27FC236}">
                <a16:creationId xmlns:a16="http://schemas.microsoft.com/office/drawing/2014/main" id="{146F2E2B-31AC-4C37-841A-02A26812828E}"/>
              </a:ext>
            </a:extLst>
          </p:cNvPr>
          <p:cNvSpPr>
            <a:spLocks noGrp="1"/>
          </p:cNvSpPr>
          <p:nvPr/>
        </p:nvSpPr>
        <p:spPr>
          <a:xfrm>
            <a:off x="7858125" y="1924050"/>
            <a:ext cx="3429000" cy="523875"/>
          </a:xfrm>
          <a:prstGeom prst="rect">
            <a:avLst/>
          </a:prstGeom>
          <a:noFill/>
          <a:ln w="0">
            <a:noFill/>
          </a:ln>
        </p:spPr>
        <p:txBody>
          <a:bodyPr>
            <a:noAutofit/>
          </a:bodyPr>
          <a:lstStyle/>
          <a:p>
            <a:pPr>
              <a:defRPr sz="1650" b="1">
                <a:solidFill>
                  <a:srgbClr val="F0F3F6"/>
                </a:solidFill>
                <a:latin typeface="Courier New"/>
                <a:ea typeface="Courier New"/>
                <a:cs typeface="Courier New"/>
              </a:defRPr>
            </a:pPr>
            <a:r>
              <a:rPr sz="1650" b="1" dirty="0">
                <a:solidFill>
                  <a:srgbClr val="F0F3F6"/>
                </a:solidFill>
                <a:latin typeface="Courier New"/>
                <a:ea typeface="Courier New"/>
                <a:cs typeface="Courier New"/>
              </a:rPr>
              <a:t>Add TrafficLight support to Street</a:t>
            </a:r>
          </a:p>
        </p:txBody>
      </p:sp>
      <p:sp>
        <p:nvSpPr>
          <p:cNvPr id="17" name="PR Link">
            <a:extLst>
              <a:ext uri="{FF2B5EF4-FFF2-40B4-BE49-F238E27FC236}">
                <a16:creationId xmlns:a16="http://schemas.microsoft.com/office/drawing/2014/main" id="{72A35655-1CEE-4BC8-8CEE-4A499F167F8F}"/>
              </a:ext>
            </a:extLst>
          </p:cNvPr>
          <p:cNvSpPr>
            <a:spLocks noGrp="1"/>
          </p:cNvSpPr>
          <p:nvPr/>
        </p:nvSpPr>
        <p:spPr>
          <a:xfrm>
            <a:off x="7858125" y="2495550"/>
            <a:ext cx="1714500" cy="266700"/>
          </a:xfrm>
          <a:prstGeom prst="rect">
            <a:avLst/>
          </a:prstGeom>
          <a:noFill/>
          <a:ln w="0">
            <a:noFill/>
          </a:ln>
        </p:spPr>
        <p:txBody>
          <a:bodyPr>
            <a:noAutofit/>
          </a:bodyPr>
          <a:lstStyle/>
          <a:p>
            <a:pPr>
              <a:defRPr sz="1350" b="1">
                <a:solidFill>
                  <a:srgbClr val="58A6FF"/>
                </a:solidFill>
                <a:latin typeface="Courier New"/>
                <a:ea typeface="Courier New"/>
                <a:cs typeface="Courier New"/>
              </a:defRPr>
            </a:pPr>
            <a:r>
              <a:rPr sz="1350" b="1">
                <a:solidFill>
                  <a:srgbClr val="58A6FF"/>
                </a:solidFill>
                <a:latin typeface="Courier New"/>
                <a:ea typeface="Courier New"/>
                <a:cs typeface="Courier New"/>
              </a:rPr>
              <a:t>Closes #42</a:t>
            </a:r>
          </a:p>
        </p:txBody>
      </p:sp>
      <p:sp>
        <p:nvSpPr>
          <p:cNvPr id="18" name="Changes Heading">
            <a:extLst>
              <a:ext uri="{FF2B5EF4-FFF2-40B4-BE49-F238E27FC236}">
                <a16:creationId xmlns:a16="http://schemas.microsoft.com/office/drawing/2014/main" id="{84967253-1D28-4B92-B7AF-AF9F2AC0CCA0}"/>
              </a:ext>
            </a:extLst>
          </p:cNvPr>
          <p:cNvSpPr>
            <a:spLocks noGrp="1"/>
          </p:cNvSpPr>
          <p:nvPr/>
        </p:nvSpPr>
        <p:spPr>
          <a:xfrm>
            <a:off x="7858125" y="2905125"/>
            <a:ext cx="180975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What changed</a:t>
            </a:r>
          </a:p>
        </p:txBody>
      </p:sp>
      <p:sp>
        <p:nvSpPr>
          <p:cNvPr id="19" name="Changes">
            <a:extLst>
              <a:ext uri="{FF2B5EF4-FFF2-40B4-BE49-F238E27FC236}">
                <a16:creationId xmlns:a16="http://schemas.microsoft.com/office/drawing/2014/main" id="{72558FB7-7C53-4ECF-BF46-BC219BE0A9F2}"/>
              </a:ext>
            </a:extLst>
          </p:cNvPr>
          <p:cNvSpPr>
            <a:spLocks noGrp="1"/>
          </p:cNvSpPr>
          <p:nvPr/>
        </p:nvSpPr>
        <p:spPr>
          <a:xfrm>
            <a:off x="7858125" y="3238500"/>
            <a:ext cx="3381375" cy="95250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Added TrafficLight.</a:t>
            </a:r>
          </a:p>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Street owns 0..* lights.</a:t>
            </a:r>
          </a:p>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Controller calls Street.updateTraffic().</a:t>
            </a:r>
          </a:p>
        </p:txBody>
      </p:sp>
      <p:sp>
        <p:nvSpPr>
          <p:cNvPr id="20" name="Evidence Heading">
            <a:extLst>
              <a:ext uri="{FF2B5EF4-FFF2-40B4-BE49-F238E27FC236}">
                <a16:creationId xmlns:a16="http://schemas.microsoft.com/office/drawing/2014/main" id="{F1664F22-2AF7-4970-9B35-96ACEC1DC84C}"/>
              </a:ext>
            </a:extLst>
          </p:cNvPr>
          <p:cNvSpPr>
            <a:spLocks noGrp="1"/>
          </p:cNvSpPr>
          <p:nvPr/>
        </p:nvSpPr>
        <p:spPr>
          <a:xfrm>
            <a:off x="7858125" y="4267200"/>
            <a:ext cx="2381250" cy="266700"/>
          </a:xfrm>
          <a:prstGeom prst="rect">
            <a:avLst/>
          </a:prstGeom>
          <a:noFill/>
          <a:ln w="0">
            <a:noFill/>
          </a:ln>
        </p:spPr>
        <p:txBody>
          <a:bodyPr>
            <a:noAutofit/>
          </a:bodyPr>
          <a:lstStyle/>
          <a:p>
            <a:pPr>
              <a:defRPr sz="1350" b="1">
                <a:solidFill>
                  <a:srgbClr val="D2A8FF"/>
                </a:solidFill>
                <a:latin typeface="Courier New"/>
                <a:ea typeface="Courier New"/>
                <a:cs typeface="Courier New"/>
              </a:defRPr>
            </a:pPr>
            <a:r>
              <a:rPr sz="1350" b="1">
                <a:solidFill>
                  <a:srgbClr val="D2A8FF"/>
                </a:solidFill>
                <a:latin typeface="Courier New"/>
                <a:ea typeface="Courier New"/>
                <a:cs typeface="Courier New"/>
              </a:rPr>
              <a:t>Verification evidence</a:t>
            </a:r>
          </a:p>
        </p:txBody>
      </p:sp>
      <p:sp>
        <p:nvSpPr>
          <p:cNvPr id="21" name="Evidence">
            <a:extLst>
              <a:ext uri="{FF2B5EF4-FFF2-40B4-BE49-F238E27FC236}">
                <a16:creationId xmlns:a16="http://schemas.microsoft.com/office/drawing/2014/main" id="{2797DC1C-C8BC-4CC1-A3EB-C2EC36CE1D4B}"/>
              </a:ext>
            </a:extLst>
          </p:cNvPr>
          <p:cNvSpPr>
            <a:spLocks noGrp="1"/>
          </p:cNvSpPr>
          <p:nvPr/>
        </p:nvSpPr>
        <p:spPr>
          <a:xfrm>
            <a:off x="7858125" y="4600575"/>
            <a:ext cx="3571875" cy="800100"/>
          </a:xfrm>
          <a:prstGeom prst="rect">
            <a:avLst/>
          </a:prstGeom>
          <a:noFill/>
          <a:ln w="0">
            <a:noFill/>
          </a:ln>
        </p:spPr>
        <p:txBody>
          <a:bodyPr>
            <a:noAutofit/>
          </a:bodyPr>
          <a:lstStyle/>
          <a:p>
            <a:pPr>
              <a:defRPr sz="1200">
                <a:solidFill>
                  <a:srgbClr val="E6EDF3"/>
                </a:solidFill>
                <a:latin typeface="Courier New"/>
                <a:ea typeface="Courier New"/>
                <a:cs typeface="Courier New"/>
              </a:defRPr>
            </a:pPr>
            <a:r>
              <a:rPr sz="1200" dirty="0">
                <a:solidFill>
                  <a:srgbClr val="E6EDF3"/>
                </a:solidFill>
                <a:latin typeface="Courier New"/>
                <a:ea typeface="Courier New"/>
                <a:cs typeface="Courier New"/>
              </a:rPr>
              <a:t>• </a:t>
            </a:r>
            <a:r>
              <a:rPr sz="1100" dirty="0">
                <a:solidFill>
                  <a:srgbClr val="E6EDF3"/>
                </a:solidFill>
                <a:latin typeface="Courier New"/>
                <a:ea typeface="Courier New"/>
                <a:cs typeface="Courier New"/>
              </a:rPr>
              <a:t>Design diagrams updated.</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 Acceptance criteria covered by tests.</a:t>
            </a:r>
          </a:p>
          <a:p>
            <a:pPr>
              <a:defRPr sz="1200">
                <a:solidFill>
                  <a:srgbClr val="E6EDF3"/>
                </a:solidFill>
                <a:latin typeface="Courier New"/>
                <a:ea typeface="Courier New"/>
                <a:cs typeface="Courier New"/>
              </a:defRPr>
            </a:pPr>
            <a:r>
              <a:rPr sz="1100" dirty="0">
                <a:solidFill>
                  <a:srgbClr val="E6EDF3"/>
                </a:solidFill>
                <a:latin typeface="Courier New"/>
                <a:ea typeface="Courier New"/>
                <a:cs typeface="Courier New"/>
              </a:rPr>
              <a:t>• Two peer approvals and passing CI.</a:t>
            </a:r>
            <a:endParaRPr lang="en-US" sz="1100" dirty="0">
              <a:solidFill>
                <a:srgbClr val="E6EDF3"/>
              </a:solidFill>
              <a:latin typeface="Courier New"/>
              <a:ea typeface="Courier New"/>
              <a:cs typeface="Courier New"/>
            </a:endParaRPr>
          </a:p>
          <a:p>
            <a:pPr marL="171450" indent="-171450">
              <a:buFont typeface="Arial" panose="020B0604020202020204" pitchFamily="34" charset="0"/>
              <a:buChar char="•"/>
              <a:defRPr sz="1200">
                <a:solidFill>
                  <a:srgbClr val="E6EDF3"/>
                </a:solidFill>
                <a:latin typeface="Courier New"/>
                <a:ea typeface="Courier New"/>
                <a:cs typeface="Courier New"/>
              </a:defRPr>
            </a:pPr>
            <a:r>
              <a:rPr lang="en-BE" sz="1100" dirty="0">
                <a:solidFill>
                  <a:srgbClr val="E6EDF3"/>
                </a:solidFill>
                <a:latin typeface="Courier New"/>
                <a:ea typeface="Courier New"/>
                <a:cs typeface="Courier New"/>
              </a:rPr>
              <a:t>No coverage drop</a:t>
            </a:r>
            <a:endParaRPr sz="1100" dirty="0">
              <a:solidFill>
                <a:srgbClr val="E6EDF3"/>
              </a:solidFill>
              <a:latin typeface="Courier New"/>
              <a:ea typeface="Courier New"/>
              <a:cs typeface="Courier New"/>
            </a:endParaRPr>
          </a:p>
        </p:txBody>
      </p:sp>
      <p:sp>
        <p:nvSpPr>
          <p:cNvPr id="22" name="Issue Meaning">
            <a:extLst>
              <a:ext uri="{FF2B5EF4-FFF2-40B4-BE49-F238E27FC236}">
                <a16:creationId xmlns:a16="http://schemas.microsoft.com/office/drawing/2014/main" id="{5AC4EF06-5769-45FE-BEC9-12A001889CAB}"/>
              </a:ext>
            </a:extLst>
          </p:cNvPr>
          <p:cNvSpPr>
            <a:spLocks noGrp="1"/>
          </p:cNvSpPr>
          <p:nvPr/>
        </p:nvSpPr>
        <p:spPr>
          <a:xfrm>
            <a:off x="250086" y="5810250"/>
            <a:ext cx="5274413" cy="361950"/>
          </a:xfrm>
          <a:prstGeom prst="rect">
            <a:avLst/>
          </a:prstGeom>
          <a:noFill/>
          <a:ln w="0">
            <a:noFill/>
          </a:ln>
        </p:spPr>
        <p:txBody>
          <a:bodyPr>
            <a:noAutofit/>
          </a:bodyPr>
          <a:lstStyle/>
          <a:p>
            <a:pPr algn="ctr">
              <a:defRPr sz="1500" b="1">
                <a:solidFill>
                  <a:srgbClr val="1F5B85"/>
                </a:solidFill>
                <a:latin typeface="Calibri"/>
                <a:ea typeface="Calibri"/>
                <a:cs typeface="Calibri"/>
              </a:defRPr>
            </a:pPr>
            <a:r>
              <a:rPr sz="1500" b="1" dirty="0">
                <a:solidFill>
                  <a:srgbClr val="1F5B85"/>
                </a:solidFill>
                <a:latin typeface="Calibri"/>
                <a:ea typeface="Calibri"/>
                <a:cs typeface="Calibri"/>
              </a:rPr>
              <a:t>ISSUE: defines what must be true before implementation begins</a:t>
            </a:r>
          </a:p>
        </p:txBody>
      </p:sp>
      <p:sp>
        <p:nvSpPr>
          <p:cNvPr id="23" name="PR Meaning">
            <a:extLst>
              <a:ext uri="{FF2B5EF4-FFF2-40B4-BE49-F238E27FC236}">
                <a16:creationId xmlns:a16="http://schemas.microsoft.com/office/drawing/2014/main" id="{1F616C33-A034-47F2-B4AB-898EEF5176B0}"/>
              </a:ext>
            </a:extLst>
          </p:cNvPr>
          <p:cNvSpPr>
            <a:spLocks noGrp="1"/>
          </p:cNvSpPr>
          <p:nvPr/>
        </p:nvSpPr>
        <p:spPr>
          <a:xfrm>
            <a:off x="7262812" y="5810250"/>
            <a:ext cx="4762500" cy="361950"/>
          </a:xfrm>
          <a:prstGeom prst="rect">
            <a:avLst/>
          </a:prstGeom>
          <a:noFill/>
          <a:ln w="0">
            <a:noFill/>
          </a:ln>
        </p:spPr>
        <p:txBody>
          <a:bodyPr>
            <a:noAutofit/>
          </a:bodyPr>
          <a:lstStyle/>
          <a:p>
            <a:pPr algn="ctr">
              <a:defRPr sz="1500" b="1">
                <a:solidFill>
                  <a:srgbClr val="1F6D4A"/>
                </a:solidFill>
                <a:latin typeface="Calibri"/>
                <a:ea typeface="Calibri"/>
                <a:cs typeface="Calibri"/>
              </a:defRPr>
            </a:pPr>
            <a:r>
              <a:rPr sz="1500" b="1" dirty="0">
                <a:solidFill>
                  <a:srgbClr val="1F6D4A"/>
                </a:solidFill>
                <a:latin typeface="Calibri"/>
                <a:ea typeface="Calibri"/>
                <a:cs typeface="Calibri"/>
              </a:rPr>
              <a:t>PR: explains what changed and how the team verified it</a:t>
            </a:r>
          </a:p>
        </p:txBody>
      </p:sp>
      <p:sp>
        <p:nvSpPr>
          <p:cNvPr id="24" name="Traceability">
            <a:extLst>
              <a:ext uri="{FF2B5EF4-FFF2-40B4-BE49-F238E27FC236}">
                <a16:creationId xmlns:a16="http://schemas.microsoft.com/office/drawing/2014/main" id="{ED62847B-2131-4384-88E3-D01CC170105A}"/>
              </a:ext>
            </a:extLst>
          </p:cNvPr>
          <p:cNvSpPr>
            <a:spLocks noGrp="1"/>
          </p:cNvSpPr>
          <p:nvPr/>
        </p:nvSpPr>
        <p:spPr>
          <a:xfrm>
            <a:off x="1350335" y="6334125"/>
            <a:ext cx="9174790" cy="285750"/>
          </a:xfrm>
          <a:prstGeom prst="rect">
            <a:avLst/>
          </a:prstGeom>
          <a:noFill/>
          <a:ln w="0">
            <a:noFill/>
          </a:ln>
        </p:spPr>
        <p:txBody>
          <a:bodyPr>
            <a:noAutofit/>
          </a:bodyPr>
          <a:lstStyle/>
          <a:p>
            <a:pPr algn="ctr">
              <a:defRPr sz="1500" b="1">
                <a:solidFill>
                  <a:srgbClr val="111111"/>
                </a:solidFill>
                <a:latin typeface="Calibri"/>
                <a:ea typeface="Calibri"/>
                <a:cs typeface="Calibri"/>
              </a:defRPr>
            </a:pPr>
            <a:r>
              <a:rPr sz="2000" b="1" dirty="0">
                <a:solidFill>
                  <a:srgbClr val="111111"/>
                </a:solidFill>
                <a:latin typeface="Calibri"/>
                <a:ea typeface="Calibri"/>
                <a:cs typeface="Calibri"/>
              </a:rPr>
              <a:t>Reviewers compare the PR evidence with the acceptance criteria in the linked issue.</a:t>
            </a:r>
          </a:p>
        </p:txBody>
      </p:sp>
    </p:spTree>
    <p:extLst>
      <p:ext uri="{BB962C8B-B14F-4D97-AF65-F5344CB8AC3E}">
        <p14:creationId xmlns:p14="http://schemas.microsoft.com/office/powerpoint/2010/main" val="205792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p:bldP spid="8" grpId="0"/>
      <p:bldP spid="9" grpId="0"/>
      <p:bldP spid="10" grpId="0" animBg="1"/>
      <p:bldP spid="11" grpId="0" animBg="1"/>
      <p:bldP spid="12" grpId="0"/>
      <p:bldP spid="13" grpId="0" animBg="1"/>
      <p:bldP spid="14" grpId="0" animBg="1"/>
      <p:bldP spid="15" grpId="0"/>
      <p:bldP spid="16" grpId="0"/>
      <p:bldP spid="17" grpId="0"/>
      <p:bldP spid="18" grpId="0"/>
      <p:bldP spid="19" grpId="0"/>
      <p:bldP spid="20" grpId="0"/>
      <p:bldP spid="21" grpId="0"/>
      <p:bldP spid="22" grpId="0"/>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61B29C6C-2298-4A3A-B8D0-FCB79592EEE0}"/>
              </a:ext>
            </a:extLst>
          </p:cNvPr>
          <p:cNvSpPr>
            <a:spLocks noGrp="1"/>
          </p:cNvSpPr>
          <p:nvPr/>
        </p:nvSpPr>
        <p:spPr>
          <a:xfrm>
            <a:off x="666750" y="285750"/>
            <a:ext cx="10858500" cy="590550"/>
          </a:xfrm>
          <a:prstGeom prst="rect">
            <a:avLst/>
          </a:prstGeom>
          <a:noFill/>
          <a:ln w="0">
            <a:noFill/>
          </a:ln>
        </p:spPr>
        <p:txBody>
          <a:bodyPr>
            <a:noAutofit/>
          </a:bodyPr>
          <a:lstStyle/>
          <a:p>
            <a:pPr>
              <a:defRPr sz="2850" b="1">
                <a:solidFill>
                  <a:srgbClr val="111111"/>
                </a:solidFill>
                <a:latin typeface="Calibri"/>
                <a:ea typeface="Calibri"/>
                <a:cs typeface="Calibri"/>
              </a:defRPr>
            </a:pPr>
            <a:r>
              <a:rPr sz="3200" b="1" dirty="0">
                <a:solidFill>
                  <a:srgbClr val="111111"/>
                </a:solidFill>
                <a:latin typeface="Calibri"/>
                <a:ea typeface="Calibri"/>
                <a:cs typeface="Calibri"/>
              </a:rPr>
              <a:t>Consequences of skipping design</a:t>
            </a:r>
          </a:p>
        </p:txBody>
      </p:sp>
      <p:sp>
        <p:nvSpPr>
          <p:cNvPr id="2" name="Subtitle">
            <a:extLst>
              <a:ext uri="{FF2B5EF4-FFF2-40B4-BE49-F238E27FC236}">
                <a16:creationId xmlns:a16="http://schemas.microsoft.com/office/drawing/2014/main" id="{AC248266-D509-4F18-A6DC-68D629F05539}"/>
              </a:ext>
            </a:extLst>
          </p:cNvPr>
          <p:cNvSpPr>
            <a:spLocks noGrp="1"/>
          </p:cNvSpPr>
          <p:nvPr/>
        </p:nvSpPr>
        <p:spPr>
          <a:xfrm>
            <a:off x="685800" y="876300"/>
            <a:ext cx="10810875" cy="361950"/>
          </a:xfrm>
          <a:prstGeom prst="rect">
            <a:avLst/>
          </a:prstGeom>
          <a:noFill/>
          <a:ln w="0">
            <a:noFill/>
          </a:ln>
        </p:spPr>
        <p:txBody>
          <a:bodyPr>
            <a:noAutofit/>
          </a:bodyPr>
          <a:lstStyle/>
          <a:p>
            <a:pPr>
              <a:defRPr sz="1725">
                <a:solidFill>
                  <a:srgbClr val="555555"/>
                </a:solidFill>
                <a:latin typeface="Calibri"/>
                <a:ea typeface="Calibri"/>
                <a:cs typeface="Calibri"/>
              </a:defRPr>
            </a:pPr>
            <a:r>
              <a:rPr sz="1725" dirty="0">
                <a:solidFill>
                  <a:srgbClr val="555555"/>
                </a:solidFill>
                <a:latin typeface="Calibri"/>
                <a:ea typeface="Calibri"/>
                <a:cs typeface="Calibri"/>
              </a:rPr>
              <a:t>A change intended for one class can spread when responsibilities and boundaries remain unclear.</a:t>
            </a:r>
          </a:p>
        </p:txBody>
      </p:sp>
      <p:sp>
        <p:nvSpPr>
          <p:cNvPr id="3" name="Diagram Heading">
            <a:extLst>
              <a:ext uri="{FF2B5EF4-FFF2-40B4-BE49-F238E27FC236}">
                <a16:creationId xmlns:a16="http://schemas.microsoft.com/office/drawing/2014/main" id="{BA3046A4-63FC-4B29-9178-08A5945427D9}"/>
              </a:ext>
            </a:extLst>
          </p:cNvPr>
          <p:cNvSpPr>
            <a:spLocks noGrp="1"/>
          </p:cNvSpPr>
          <p:nvPr/>
        </p:nvSpPr>
        <p:spPr>
          <a:xfrm>
            <a:off x="1143000" y="1533525"/>
            <a:ext cx="5000625" cy="361950"/>
          </a:xfrm>
          <a:prstGeom prst="rect">
            <a:avLst/>
          </a:prstGeom>
          <a:noFill/>
          <a:ln w="0">
            <a:noFill/>
          </a:ln>
        </p:spPr>
        <p:txBody>
          <a:bodyPr>
            <a:noAutofit/>
          </a:bodyPr>
          <a:lstStyle/>
          <a:p>
            <a:pPr algn="ctr">
              <a:defRPr sz="2025" b="1">
                <a:solidFill>
                  <a:srgbClr val="8B3A13"/>
                </a:solidFill>
                <a:latin typeface="Calibri"/>
                <a:ea typeface="Calibri"/>
                <a:cs typeface="Calibri"/>
              </a:defRPr>
            </a:pPr>
            <a:r>
              <a:rPr sz="2025" b="1" dirty="0">
                <a:solidFill>
                  <a:srgbClr val="8B3A13"/>
                </a:solidFill>
                <a:latin typeface="Calibri"/>
                <a:ea typeface="Calibri"/>
                <a:cs typeface="Calibri"/>
              </a:rPr>
              <a:t>Without a clear design boundary</a:t>
            </a:r>
          </a:p>
        </p:txBody>
      </p:sp>
      <p:sp>
        <p:nvSpPr>
          <p:cNvPr id="4" name="Controller">
            <a:extLst>
              <a:ext uri="{FF2B5EF4-FFF2-40B4-BE49-F238E27FC236}">
                <a16:creationId xmlns:a16="http://schemas.microsoft.com/office/drawing/2014/main" id="{F983A3AB-3029-422A-91E5-5550301C5E53}"/>
              </a:ext>
            </a:extLst>
          </p:cNvPr>
          <p:cNvSpPr>
            <a:spLocks noGrp="1"/>
          </p:cNvSpPr>
          <p:nvPr/>
        </p:nvSpPr>
        <p:spPr>
          <a:xfrm>
            <a:off x="2694688" y="2047875"/>
            <a:ext cx="1714500" cy="590550"/>
          </a:xfrm>
          <a:prstGeom prst="roundRect">
            <a:avLst>
              <a:gd name="adj" fmla="val 12903"/>
            </a:avLst>
          </a:prstGeom>
          <a:solidFill>
            <a:srgbClr val="EAF2F8"/>
          </a:solidFill>
          <a:ln w="19050">
            <a:solidFill>
              <a:srgbClr val="2D78C4"/>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Controller</a:t>
            </a:r>
          </a:p>
        </p:txBody>
      </p:sp>
      <p:sp>
        <p:nvSpPr>
          <p:cNvPr id="5" name="Neighborhood">
            <a:extLst>
              <a:ext uri="{FF2B5EF4-FFF2-40B4-BE49-F238E27FC236}">
                <a16:creationId xmlns:a16="http://schemas.microsoft.com/office/drawing/2014/main" id="{39F289FA-99DE-4C64-9E50-DA59BC76E4DE}"/>
              </a:ext>
            </a:extLst>
          </p:cNvPr>
          <p:cNvSpPr>
            <a:spLocks noGrp="1"/>
          </p:cNvSpPr>
          <p:nvPr/>
        </p:nvSpPr>
        <p:spPr>
          <a:xfrm>
            <a:off x="586780" y="3333750"/>
            <a:ext cx="1543050" cy="590550"/>
          </a:xfrm>
          <a:prstGeom prst="roundRect">
            <a:avLst>
              <a:gd name="adj" fmla="val 12903"/>
            </a:avLst>
          </a:prstGeom>
          <a:solidFill>
            <a:srgbClr val="EEF5E8"/>
          </a:solidFill>
          <a:ln w="19050">
            <a:solidFill>
              <a:srgbClr val="5F8C3A"/>
            </a:solidFill>
          </a:ln>
        </p:spPr>
        <p:txBody>
          <a:bodyPr anchor="ctr">
            <a:noAutofit/>
          </a:bodyPr>
          <a:lstStyle/>
          <a:p>
            <a:pPr algn="ctr">
              <a:defRPr sz="1575" b="1">
                <a:solidFill>
                  <a:srgbClr val="111111"/>
                </a:solidFill>
                <a:latin typeface="Calibri"/>
                <a:ea typeface="Calibri"/>
                <a:cs typeface="Calibri"/>
              </a:defRPr>
            </a:pPr>
            <a:r>
              <a:rPr sz="1575" b="1" dirty="0">
                <a:solidFill>
                  <a:srgbClr val="111111"/>
                </a:solidFill>
                <a:latin typeface="Calibri"/>
                <a:ea typeface="Calibri"/>
                <a:cs typeface="Calibri"/>
              </a:rPr>
              <a:t>Neighborhood</a:t>
            </a:r>
          </a:p>
        </p:txBody>
      </p:sp>
      <p:sp>
        <p:nvSpPr>
          <p:cNvPr id="6" name="Street">
            <a:extLst>
              <a:ext uri="{FF2B5EF4-FFF2-40B4-BE49-F238E27FC236}">
                <a16:creationId xmlns:a16="http://schemas.microsoft.com/office/drawing/2014/main" id="{83BC8ABA-8542-4B43-BB7C-C199C2E98126}"/>
              </a:ext>
            </a:extLst>
          </p:cNvPr>
          <p:cNvSpPr>
            <a:spLocks noGrp="1"/>
          </p:cNvSpPr>
          <p:nvPr/>
        </p:nvSpPr>
        <p:spPr>
          <a:xfrm>
            <a:off x="2647950" y="3190875"/>
            <a:ext cx="1762125" cy="876300"/>
          </a:xfrm>
          <a:prstGeom prst="roundRect">
            <a:avLst>
              <a:gd name="adj" fmla="val 8696"/>
            </a:avLst>
          </a:prstGeom>
          <a:solidFill>
            <a:srgbClr val="FFF1E6"/>
          </a:solidFill>
          <a:ln w="19050">
            <a:solidFill>
              <a:srgbClr val="D47A32"/>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Intended change</a:t>
            </a:r>
          </a:p>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Street</a:t>
            </a:r>
          </a:p>
        </p:txBody>
      </p:sp>
      <p:sp>
        <p:nvSpPr>
          <p:cNvPr id="7" name="Traffic System">
            <a:extLst>
              <a:ext uri="{FF2B5EF4-FFF2-40B4-BE49-F238E27FC236}">
                <a16:creationId xmlns:a16="http://schemas.microsoft.com/office/drawing/2014/main" id="{026EA19B-0AAD-487F-85AC-DF96915EA18B}"/>
              </a:ext>
            </a:extLst>
          </p:cNvPr>
          <p:cNvSpPr>
            <a:spLocks noGrp="1"/>
          </p:cNvSpPr>
          <p:nvPr/>
        </p:nvSpPr>
        <p:spPr>
          <a:xfrm>
            <a:off x="4924210" y="3333750"/>
            <a:ext cx="1590674" cy="590550"/>
          </a:xfrm>
          <a:prstGeom prst="roundRect">
            <a:avLst>
              <a:gd name="adj" fmla="val 12903"/>
            </a:avLst>
          </a:prstGeom>
          <a:solidFill>
            <a:srgbClr val="FFF6D8"/>
          </a:solidFill>
          <a:ln w="19050">
            <a:solidFill>
              <a:srgbClr val="C69B20"/>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Traffic system</a:t>
            </a:r>
          </a:p>
        </p:txBody>
      </p:sp>
      <p:sp>
        <p:nvSpPr>
          <p:cNvPr id="8" name="City Boundary">
            <a:extLst>
              <a:ext uri="{FF2B5EF4-FFF2-40B4-BE49-F238E27FC236}">
                <a16:creationId xmlns:a16="http://schemas.microsoft.com/office/drawing/2014/main" id="{76BF8030-E867-444D-BF57-F47AD65CCE9F}"/>
              </a:ext>
            </a:extLst>
          </p:cNvPr>
          <p:cNvSpPr>
            <a:spLocks noGrp="1"/>
          </p:cNvSpPr>
          <p:nvPr/>
        </p:nvSpPr>
        <p:spPr>
          <a:xfrm>
            <a:off x="2647950" y="4683423"/>
            <a:ext cx="1762125" cy="590550"/>
          </a:xfrm>
          <a:prstGeom prst="roundRect">
            <a:avLst>
              <a:gd name="adj" fmla="val 12903"/>
            </a:avLst>
          </a:prstGeom>
          <a:solidFill>
            <a:srgbClr val="F2ECF8"/>
          </a:solidFill>
          <a:ln w="19050">
            <a:solidFill>
              <a:srgbClr val="7C55A6"/>
            </a:solidFill>
          </a:ln>
        </p:spPr>
        <p:txBody>
          <a:bodyPr anchor="ctr">
            <a:noAutofit/>
          </a:bodyPr>
          <a:lstStyle/>
          <a:p>
            <a:pPr algn="ctr">
              <a:defRPr sz="1575" b="1">
                <a:solidFill>
                  <a:srgbClr val="111111"/>
                </a:solidFill>
                <a:latin typeface="Calibri"/>
                <a:ea typeface="Calibri"/>
                <a:cs typeface="Calibri"/>
              </a:defRPr>
            </a:pPr>
            <a:r>
              <a:rPr sz="1575" b="1">
                <a:solidFill>
                  <a:srgbClr val="111111"/>
                </a:solidFill>
                <a:latin typeface="Calibri"/>
                <a:ea typeface="Calibri"/>
                <a:cs typeface="Calibri"/>
              </a:rPr>
              <a:t>City boundary</a:t>
            </a:r>
          </a:p>
        </p:txBody>
      </p:sp>
      <p:sp>
        <p:nvSpPr>
          <p:cNvPr id="9" name="To Controller">
            <a:extLst>
              <a:ext uri="{FF2B5EF4-FFF2-40B4-BE49-F238E27FC236}">
                <a16:creationId xmlns:a16="http://schemas.microsoft.com/office/drawing/2014/main" id="{CCF0C193-AA70-4241-ADB3-0818F5199E89}"/>
              </a:ext>
            </a:extLst>
          </p:cNvPr>
          <p:cNvSpPr>
            <a:spLocks noGrp="1"/>
          </p:cNvSpPr>
          <p:nvPr/>
        </p:nvSpPr>
        <p:spPr>
          <a:xfrm>
            <a:off x="3333750" y="2667000"/>
            <a:ext cx="381000" cy="495300"/>
          </a:xfrm>
          <a:prstGeom prst="upArrow">
            <a:avLst/>
          </a:prstGeom>
          <a:solidFill>
            <a:srgbClr val="D47A32"/>
          </a:solidFill>
          <a:ln w="9525">
            <a:solidFill>
              <a:srgbClr val="D47A32"/>
            </a:solidFill>
          </a:ln>
        </p:spPr>
        <p:txBody>
          <a:bodyPr/>
          <a:lstStyle/>
          <a:p>
            <a:endParaRPr lang="en-US"/>
          </a:p>
        </p:txBody>
      </p:sp>
      <p:sp>
        <p:nvSpPr>
          <p:cNvPr id="10" name="To Neighborhood">
            <a:extLst>
              <a:ext uri="{FF2B5EF4-FFF2-40B4-BE49-F238E27FC236}">
                <a16:creationId xmlns:a16="http://schemas.microsoft.com/office/drawing/2014/main" id="{FCF22AA5-4DA6-4C83-AC34-4374C604FB50}"/>
              </a:ext>
            </a:extLst>
          </p:cNvPr>
          <p:cNvSpPr>
            <a:spLocks noGrp="1"/>
          </p:cNvSpPr>
          <p:nvPr/>
        </p:nvSpPr>
        <p:spPr>
          <a:xfrm>
            <a:off x="2164829" y="3448050"/>
            <a:ext cx="476250" cy="323850"/>
          </a:xfrm>
          <a:prstGeom prst="leftArrow">
            <a:avLst/>
          </a:prstGeom>
          <a:solidFill>
            <a:srgbClr val="D47A32"/>
          </a:solidFill>
          <a:ln w="9525">
            <a:solidFill>
              <a:srgbClr val="D47A32"/>
            </a:solidFill>
          </a:ln>
        </p:spPr>
        <p:txBody>
          <a:bodyPr/>
          <a:lstStyle/>
          <a:p>
            <a:endParaRPr lang="en-US"/>
          </a:p>
        </p:txBody>
      </p:sp>
      <p:sp>
        <p:nvSpPr>
          <p:cNvPr id="11" name="To Traffic System">
            <a:extLst>
              <a:ext uri="{FF2B5EF4-FFF2-40B4-BE49-F238E27FC236}">
                <a16:creationId xmlns:a16="http://schemas.microsoft.com/office/drawing/2014/main" id="{A8EC9174-AB2C-4D8C-B7DB-1D6D072D2FCD}"/>
              </a:ext>
            </a:extLst>
          </p:cNvPr>
          <p:cNvSpPr>
            <a:spLocks noGrp="1"/>
          </p:cNvSpPr>
          <p:nvPr/>
        </p:nvSpPr>
        <p:spPr>
          <a:xfrm>
            <a:off x="4435994" y="3448050"/>
            <a:ext cx="476250" cy="323850"/>
          </a:xfrm>
          <a:prstGeom prst="rightArrow">
            <a:avLst/>
          </a:prstGeom>
          <a:solidFill>
            <a:srgbClr val="D47A32"/>
          </a:solidFill>
          <a:ln w="9525">
            <a:solidFill>
              <a:srgbClr val="D47A32"/>
            </a:solidFill>
          </a:ln>
        </p:spPr>
        <p:txBody>
          <a:bodyPr/>
          <a:lstStyle/>
          <a:p>
            <a:endParaRPr lang="en-US"/>
          </a:p>
        </p:txBody>
      </p:sp>
      <p:sp>
        <p:nvSpPr>
          <p:cNvPr id="12" name="To City Boundary">
            <a:extLst>
              <a:ext uri="{FF2B5EF4-FFF2-40B4-BE49-F238E27FC236}">
                <a16:creationId xmlns:a16="http://schemas.microsoft.com/office/drawing/2014/main" id="{EEFC66E7-FAED-4EC3-AC74-8817BCAE6CD4}"/>
              </a:ext>
            </a:extLst>
          </p:cNvPr>
          <p:cNvSpPr>
            <a:spLocks noGrp="1"/>
          </p:cNvSpPr>
          <p:nvPr/>
        </p:nvSpPr>
        <p:spPr>
          <a:xfrm>
            <a:off x="3333750" y="4080024"/>
            <a:ext cx="381000" cy="552450"/>
          </a:xfrm>
          <a:prstGeom prst="downArrow">
            <a:avLst/>
          </a:prstGeom>
          <a:solidFill>
            <a:srgbClr val="D47A32"/>
          </a:solidFill>
          <a:ln w="9525">
            <a:solidFill>
              <a:srgbClr val="D47A32"/>
            </a:solidFill>
          </a:ln>
        </p:spPr>
        <p:txBody>
          <a:bodyPr/>
          <a:lstStyle/>
          <a:p>
            <a:endParaRPr lang="en-US"/>
          </a:p>
        </p:txBody>
      </p:sp>
      <p:sp>
        <p:nvSpPr>
          <p:cNvPr id="13" name="Diagram Caption">
            <a:extLst>
              <a:ext uri="{FF2B5EF4-FFF2-40B4-BE49-F238E27FC236}">
                <a16:creationId xmlns:a16="http://schemas.microsoft.com/office/drawing/2014/main" id="{F3BBD1C9-E284-4ACF-8897-5993405170C0}"/>
              </a:ext>
            </a:extLst>
          </p:cNvPr>
          <p:cNvSpPr>
            <a:spLocks noGrp="1"/>
          </p:cNvSpPr>
          <p:nvPr/>
        </p:nvSpPr>
        <p:spPr>
          <a:xfrm>
            <a:off x="1000125" y="5429250"/>
            <a:ext cx="5095875" cy="523875"/>
          </a:xfrm>
          <a:prstGeom prst="rect">
            <a:avLst/>
          </a:prstGeom>
          <a:noFill/>
          <a:ln w="0">
            <a:noFill/>
          </a:ln>
        </p:spPr>
        <p:txBody>
          <a:bodyPr>
            <a:noAutofit/>
          </a:bodyPr>
          <a:lstStyle/>
          <a:p>
            <a:pPr algn="ctr">
              <a:defRPr sz="1650" b="1">
                <a:solidFill>
                  <a:srgbClr val="8B3A13"/>
                </a:solidFill>
                <a:latin typeface="Calibri"/>
                <a:ea typeface="Calibri"/>
                <a:cs typeface="Calibri"/>
              </a:defRPr>
            </a:pPr>
            <a:r>
              <a:rPr sz="1650" b="1" dirty="0">
                <a:solidFill>
                  <a:srgbClr val="8B3A13"/>
                </a:solidFill>
                <a:latin typeface="Calibri"/>
                <a:ea typeface="Calibri"/>
                <a:cs typeface="Calibri"/>
              </a:rPr>
              <a:t>The implementation now reaches beyond the scope implied by the issue.</a:t>
            </a:r>
          </a:p>
        </p:txBody>
      </p:sp>
      <p:sp>
        <p:nvSpPr>
          <p:cNvPr id="14" name="Divider">
            <a:extLst>
              <a:ext uri="{FF2B5EF4-FFF2-40B4-BE49-F238E27FC236}">
                <a16:creationId xmlns:a16="http://schemas.microsoft.com/office/drawing/2014/main" id="{D427CA38-61BF-4341-B996-A8CC5F106269}"/>
              </a:ext>
            </a:extLst>
          </p:cNvPr>
          <p:cNvSpPr>
            <a:spLocks noGrp="1"/>
          </p:cNvSpPr>
          <p:nvPr/>
        </p:nvSpPr>
        <p:spPr>
          <a:xfrm>
            <a:off x="6572250" y="1571625"/>
            <a:ext cx="19050" cy="4333875"/>
          </a:xfrm>
          <a:prstGeom prst="rect">
            <a:avLst/>
          </a:prstGeom>
          <a:solidFill>
            <a:srgbClr val="D0D0D0"/>
          </a:solidFill>
          <a:ln w="0">
            <a:noFill/>
          </a:ln>
        </p:spPr>
        <p:txBody>
          <a:bodyPr/>
          <a:lstStyle/>
          <a:p>
            <a:endParaRPr lang="en-US"/>
          </a:p>
        </p:txBody>
      </p:sp>
      <p:sp>
        <p:nvSpPr>
          <p:cNvPr id="15" name="Consequences Heading">
            <a:extLst>
              <a:ext uri="{FF2B5EF4-FFF2-40B4-BE49-F238E27FC236}">
                <a16:creationId xmlns:a16="http://schemas.microsoft.com/office/drawing/2014/main" id="{3634309C-5EC5-4C4C-A1C5-9B4EBFD276D4}"/>
              </a:ext>
            </a:extLst>
          </p:cNvPr>
          <p:cNvSpPr>
            <a:spLocks noGrp="1"/>
          </p:cNvSpPr>
          <p:nvPr/>
        </p:nvSpPr>
        <p:spPr>
          <a:xfrm>
            <a:off x="6648666" y="1571625"/>
            <a:ext cx="5304544" cy="70485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dirty="0">
                <a:solidFill>
                  <a:srgbClr val="111111"/>
                </a:solidFill>
                <a:latin typeface="Calibri"/>
                <a:ea typeface="Calibri"/>
                <a:cs typeface="Calibri"/>
              </a:rPr>
              <a:t>The pull request becomes harder to control</a:t>
            </a:r>
          </a:p>
        </p:txBody>
      </p:sp>
      <p:sp>
        <p:nvSpPr>
          <p:cNvPr id="16" name="Consequence 1">
            <a:extLst>
              <a:ext uri="{FF2B5EF4-FFF2-40B4-BE49-F238E27FC236}">
                <a16:creationId xmlns:a16="http://schemas.microsoft.com/office/drawing/2014/main" id="{D814A483-59BE-4343-9EE0-16D8CDD845D0}"/>
              </a:ext>
            </a:extLst>
          </p:cNvPr>
          <p:cNvSpPr>
            <a:spLocks noGrp="1"/>
          </p:cNvSpPr>
          <p:nvPr/>
        </p:nvSpPr>
        <p:spPr>
          <a:xfrm>
            <a:off x="7143750" y="2619375"/>
            <a:ext cx="514350" cy="514350"/>
          </a:xfrm>
          <a:prstGeom prst="ellipse">
            <a:avLst/>
          </a:prstGeom>
          <a:solidFill>
            <a:srgbClr val="A94A2A"/>
          </a:solidFill>
          <a:ln w="9525">
            <a:solidFill>
              <a:srgbClr val="A94A2A"/>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1</a:t>
            </a:r>
          </a:p>
        </p:txBody>
      </p:sp>
      <p:sp>
        <p:nvSpPr>
          <p:cNvPr id="17" name="Heading 1">
            <a:extLst>
              <a:ext uri="{FF2B5EF4-FFF2-40B4-BE49-F238E27FC236}">
                <a16:creationId xmlns:a16="http://schemas.microsoft.com/office/drawing/2014/main" id="{23D1A30A-C5BF-45F1-A6C9-E464C1FEDC5F}"/>
              </a:ext>
            </a:extLst>
          </p:cNvPr>
          <p:cNvSpPr>
            <a:spLocks noGrp="1"/>
          </p:cNvSpPr>
          <p:nvPr/>
        </p:nvSpPr>
        <p:spPr>
          <a:xfrm>
            <a:off x="7905750" y="2590800"/>
            <a:ext cx="3381375" cy="323850"/>
          </a:xfrm>
          <a:prstGeom prst="rect">
            <a:avLst/>
          </a:prstGeom>
          <a:noFill/>
          <a:ln w="0">
            <a:noFill/>
          </a:ln>
        </p:spPr>
        <p:txBody>
          <a:bodyPr>
            <a:noAutofit/>
          </a:bodyPr>
          <a:lstStyle/>
          <a:p>
            <a:pPr>
              <a:defRPr sz="1875" b="1">
                <a:solidFill>
                  <a:srgbClr val="A94A2A"/>
                </a:solidFill>
                <a:latin typeface="Calibri"/>
                <a:ea typeface="Calibri"/>
                <a:cs typeface="Calibri"/>
              </a:defRPr>
            </a:pPr>
            <a:r>
              <a:rPr sz="1875" b="1">
                <a:solidFill>
                  <a:srgbClr val="A94A2A"/>
                </a:solidFill>
                <a:latin typeface="Calibri"/>
                <a:ea typeface="Calibri"/>
                <a:cs typeface="Calibri"/>
              </a:rPr>
              <a:t>Scope expands</a:t>
            </a:r>
          </a:p>
        </p:txBody>
      </p:sp>
      <p:sp>
        <p:nvSpPr>
          <p:cNvPr id="18" name="Detail 1">
            <a:extLst>
              <a:ext uri="{FF2B5EF4-FFF2-40B4-BE49-F238E27FC236}">
                <a16:creationId xmlns:a16="http://schemas.microsoft.com/office/drawing/2014/main" id="{E2A31A28-38DF-478A-8CE8-1B64B40744BB}"/>
              </a:ext>
            </a:extLst>
          </p:cNvPr>
          <p:cNvSpPr>
            <a:spLocks noGrp="1"/>
          </p:cNvSpPr>
          <p:nvPr/>
        </p:nvSpPr>
        <p:spPr>
          <a:xfrm>
            <a:off x="7905750" y="2971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The PR touches classes that the issue did not clearly require.</a:t>
            </a:r>
          </a:p>
        </p:txBody>
      </p:sp>
      <p:sp>
        <p:nvSpPr>
          <p:cNvPr id="19" name="Consequence 2">
            <a:extLst>
              <a:ext uri="{FF2B5EF4-FFF2-40B4-BE49-F238E27FC236}">
                <a16:creationId xmlns:a16="http://schemas.microsoft.com/office/drawing/2014/main" id="{4D3567EA-AFDC-4541-B470-32BC958E74B1}"/>
              </a:ext>
            </a:extLst>
          </p:cNvPr>
          <p:cNvSpPr>
            <a:spLocks noGrp="1"/>
          </p:cNvSpPr>
          <p:nvPr/>
        </p:nvSpPr>
        <p:spPr>
          <a:xfrm>
            <a:off x="7143750" y="3762375"/>
            <a:ext cx="514350" cy="514350"/>
          </a:xfrm>
          <a:prstGeom prst="ellipse">
            <a:avLst/>
          </a:prstGeom>
          <a:solidFill>
            <a:srgbClr val="A66B00"/>
          </a:solidFill>
          <a:ln w="9525">
            <a:solidFill>
              <a:srgbClr val="A66B00"/>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2</a:t>
            </a:r>
          </a:p>
        </p:txBody>
      </p:sp>
      <p:sp>
        <p:nvSpPr>
          <p:cNvPr id="20" name="Heading 2">
            <a:extLst>
              <a:ext uri="{FF2B5EF4-FFF2-40B4-BE49-F238E27FC236}">
                <a16:creationId xmlns:a16="http://schemas.microsoft.com/office/drawing/2014/main" id="{3D727C23-B736-4FC0-8B68-DF11484ACFC0}"/>
              </a:ext>
            </a:extLst>
          </p:cNvPr>
          <p:cNvSpPr>
            <a:spLocks noGrp="1"/>
          </p:cNvSpPr>
          <p:nvPr/>
        </p:nvSpPr>
        <p:spPr>
          <a:xfrm>
            <a:off x="7905750" y="3733800"/>
            <a:ext cx="3381375" cy="323850"/>
          </a:xfrm>
          <a:prstGeom prst="rect">
            <a:avLst/>
          </a:prstGeom>
          <a:noFill/>
          <a:ln w="0">
            <a:noFill/>
          </a:ln>
        </p:spPr>
        <p:txBody>
          <a:bodyPr>
            <a:noAutofit/>
          </a:bodyPr>
          <a:lstStyle/>
          <a:p>
            <a:pPr>
              <a:defRPr sz="1875" b="1">
                <a:solidFill>
                  <a:srgbClr val="A66B00"/>
                </a:solidFill>
                <a:latin typeface="Calibri"/>
                <a:ea typeface="Calibri"/>
                <a:cs typeface="Calibri"/>
              </a:defRPr>
            </a:pPr>
            <a:r>
              <a:rPr sz="1875" b="1">
                <a:solidFill>
                  <a:srgbClr val="A66B00"/>
                </a:solidFill>
                <a:latin typeface="Calibri"/>
                <a:ea typeface="Calibri"/>
                <a:cs typeface="Calibri"/>
              </a:rPr>
              <a:t>Regression risk increases</a:t>
            </a:r>
          </a:p>
        </p:txBody>
      </p:sp>
      <p:sp>
        <p:nvSpPr>
          <p:cNvPr id="21" name="Detail 2">
            <a:extLst>
              <a:ext uri="{FF2B5EF4-FFF2-40B4-BE49-F238E27FC236}">
                <a16:creationId xmlns:a16="http://schemas.microsoft.com/office/drawing/2014/main" id="{ACB417B5-2F63-4B77-B827-4990C12B086E}"/>
              </a:ext>
            </a:extLst>
          </p:cNvPr>
          <p:cNvSpPr>
            <a:spLocks noGrp="1"/>
          </p:cNvSpPr>
          <p:nvPr/>
        </p:nvSpPr>
        <p:spPr>
          <a:xfrm>
            <a:off x="7905750" y="4114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Changes outside the intended boundary can break existing behavior.</a:t>
            </a:r>
          </a:p>
        </p:txBody>
      </p:sp>
      <p:sp>
        <p:nvSpPr>
          <p:cNvPr id="22" name="Consequence 3">
            <a:extLst>
              <a:ext uri="{FF2B5EF4-FFF2-40B4-BE49-F238E27FC236}">
                <a16:creationId xmlns:a16="http://schemas.microsoft.com/office/drawing/2014/main" id="{7E510776-4DDF-4B23-BF99-264787095124}"/>
              </a:ext>
            </a:extLst>
          </p:cNvPr>
          <p:cNvSpPr>
            <a:spLocks noGrp="1"/>
          </p:cNvSpPr>
          <p:nvPr/>
        </p:nvSpPr>
        <p:spPr>
          <a:xfrm>
            <a:off x="7143750" y="4905375"/>
            <a:ext cx="514350" cy="514350"/>
          </a:xfrm>
          <a:prstGeom prst="ellipse">
            <a:avLst/>
          </a:prstGeom>
          <a:solidFill>
            <a:srgbClr val="7B3F75"/>
          </a:solidFill>
          <a:ln w="9525">
            <a:solidFill>
              <a:srgbClr val="7B3F75"/>
            </a:solidFill>
          </a:ln>
        </p:spPr>
        <p:txBody>
          <a:bodyPr anchor="ctr">
            <a:noAutofit/>
          </a:bodyPr>
          <a:lstStyle/>
          <a:p>
            <a:pPr algn="ctr">
              <a:defRPr sz="1800" b="1">
                <a:solidFill>
                  <a:srgbClr val="FFFFFF"/>
                </a:solidFill>
                <a:latin typeface="Calibri"/>
                <a:ea typeface="Calibri"/>
                <a:cs typeface="Calibri"/>
              </a:defRPr>
            </a:pPr>
            <a:r>
              <a:rPr sz="1800" b="1">
                <a:solidFill>
                  <a:srgbClr val="FFFFFF"/>
                </a:solidFill>
                <a:latin typeface="Calibri"/>
                <a:ea typeface="Calibri"/>
                <a:cs typeface="Calibri"/>
              </a:rPr>
              <a:t>3</a:t>
            </a:r>
          </a:p>
        </p:txBody>
      </p:sp>
      <p:sp>
        <p:nvSpPr>
          <p:cNvPr id="23" name="Heading 3">
            <a:extLst>
              <a:ext uri="{FF2B5EF4-FFF2-40B4-BE49-F238E27FC236}">
                <a16:creationId xmlns:a16="http://schemas.microsoft.com/office/drawing/2014/main" id="{570C8B91-5B12-4D93-9E7A-2FBA2EFDB496}"/>
              </a:ext>
            </a:extLst>
          </p:cNvPr>
          <p:cNvSpPr>
            <a:spLocks noGrp="1"/>
          </p:cNvSpPr>
          <p:nvPr/>
        </p:nvSpPr>
        <p:spPr>
          <a:xfrm>
            <a:off x="7905750" y="4876800"/>
            <a:ext cx="3381375" cy="323850"/>
          </a:xfrm>
          <a:prstGeom prst="rect">
            <a:avLst/>
          </a:prstGeom>
          <a:noFill/>
          <a:ln w="0">
            <a:noFill/>
          </a:ln>
        </p:spPr>
        <p:txBody>
          <a:bodyPr>
            <a:noAutofit/>
          </a:bodyPr>
          <a:lstStyle/>
          <a:p>
            <a:pPr>
              <a:defRPr sz="1875" b="1">
                <a:solidFill>
                  <a:srgbClr val="7B3F75"/>
                </a:solidFill>
                <a:latin typeface="Calibri"/>
                <a:ea typeface="Calibri"/>
                <a:cs typeface="Calibri"/>
              </a:defRPr>
            </a:pPr>
            <a:r>
              <a:rPr sz="1875" b="1">
                <a:solidFill>
                  <a:srgbClr val="7B3F75"/>
                </a:solidFill>
                <a:latin typeface="Calibri"/>
                <a:ea typeface="Calibri"/>
                <a:cs typeface="Calibri"/>
              </a:rPr>
              <a:t>Integration becomes harder</a:t>
            </a:r>
          </a:p>
        </p:txBody>
      </p:sp>
      <p:sp>
        <p:nvSpPr>
          <p:cNvPr id="24" name="Detail 3">
            <a:extLst>
              <a:ext uri="{FF2B5EF4-FFF2-40B4-BE49-F238E27FC236}">
                <a16:creationId xmlns:a16="http://schemas.microsoft.com/office/drawing/2014/main" id="{1A92F0D9-C3E9-4DDE-B7FA-17FF329D6D94}"/>
              </a:ext>
            </a:extLst>
          </p:cNvPr>
          <p:cNvSpPr>
            <a:spLocks noGrp="1"/>
          </p:cNvSpPr>
          <p:nvPr/>
        </p:nvSpPr>
        <p:spPr>
          <a:xfrm>
            <a:off x="7905750" y="5257800"/>
            <a:ext cx="3381375" cy="666750"/>
          </a:xfrm>
          <a:prstGeom prst="rect">
            <a:avLst/>
          </a:prstGeom>
          <a:noFill/>
          <a:ln w="0">
            <a:noFill/>
          </a:ln>
        </p:spPr>
        <p:txBody>
          <a:bodyPr>
            <a:noAutofit/>
          </a:bodyPr>
          <a:lstStyle/>
          <a:p>
            <a:pPr>
              <a:defRPr sz="1500">
                <a:solidFill>
                  <a:srgbClr val="333333"/>
                </a:solidFill>
                <a:latin typeface="Calibri"/>
                <a:ea typeface="Calibri"/>
                <a:cs typeface="Calibri"/>
              </a:defRPr>
            </a:pPr>
            <a:r>
              <a:rPr sz="1500">
                <a:solidFill>
                  <a:srgbClr val="333333"/>
                </a:solidFill>
                <a:latin typeface="Calibri"/>
                <a:ea typeface="Calibri"/>
                <a:cs typeface="Calibri"/>
              </a:rPr>
              <a:t>Review takes longer, conflicts increase, and CI failures become harder to diagnose.</a:t>
            </a:r>
          </a:p>
        </p:txBody>
      </p:sp>
      <p:sp>
        <p:nvSpPr>
          <p:cNvPr id="25" name="Footer Line">
            <a:extLst>
              <a:ext uri="{FF2B5EF4-FFF2-40B4-BE49-F238E27FC236}">
                <a16:creationId xmlns:a16="http://schemas.microsoft.com/office/drawing/2014/main" id="{3A237A34-0055-4A46-9C47-2C01784208C4}"/>
              </a:ext>
            </a:extLst>
          </p:cNvPr>
          <p:cNvSpPr>
            <a:spLocks noGrp="1"/>
          </p:cNvSpPr>
          <p:nvPr/>
        </p:nvSpPr>
        <p:spPr>
          <a:xfrm>
            <a:off x="1143000" y="6143625"/>
            <a:ext cx="9906000" cy="28575"/>
          </a:xfrm>
          <a:prstGeom prst="rect">
            <a:avLst/>
          </a:prstGeom>
          <a:solidFill>
            <a:srgbClr val="1F6D4A"/>
          </a:solidFill>
          <a:ln w="0">
            <a:noFill/>
          </a:ln>
        </p:spPr>
        <p:txBody>
          <a:bodyPr/>
          <a:lstStyle/>
          <a:p>
            <a:endParaRPr lang="en-US"/>
          </a:p>
        </p:txBody>
      </p:sp>
      <p:sp>
        <p:nvSpPr>
          <p:cNvPr id="26" name="Footer">
            <a:extLst>
              <a:ext uri="{FF2B5EF4-FFF2-40B4-BE49-F238E27FC236}">
                <a16:creationId xmlns:a16="http://schemas.microsoft.com/office/drawing/2014/main" id="{EC042C94-E1D8-4941-97F0-916C2BF9C78F}"/>
              </a:ext>
            </a:extLst>
          </p:cNvPr>
          <p:cNvSpPr>
            <a:spLocks noGrp="1"/>
          </p:cNvSpPr>
          <p:nvPr/>
        </p:nvSpPr>
        <p:spPr>
          <a:xfrm>
            <a:off x="1285875" y="6286500"/>
            <a:ext cx="9620250" cy="323850"/>
          </a:xfrm>
          <a:prstGeom prst="rect">
            <a:avLst/>
          </a:prstGeom>
          <a:noFill/>
          <a:ln w="0">
            <a:noFill/>
          </a:ln>
        </p:spPr>
        <p:txBody>
          <a:bodyPr>
            <a:noAutofit/>
          </a:bodyPr>
          <a:lstStyle/>
          <a:p>
            <a:pPr algn="ctr">
              <a:defRPr sz="1725" b="1">
                <a:solidFill>
                  <a:srgbClr val="1F4E3D"/>
                </a:solidFill>
                <a:latin typeface="Calibri"/>
                <a:ea typeface="Calibri"/>
                <a:cs typeface="Calibri"/>
              </a:defRPr>
            </a:pPr>
            <a:r>
              <a:rPr sz="1725" b="1">
                <a:solidFill>
                  <a:srgbClr val="1F4E3D"/>
                </a:solidFill>
                <a:latin typeface="Calibri"/>
                <a:ea typeface="Calibri"/>
                <a:cs typeface="Calibri"/>
              </a:rPr>
              <a:t>Before coding, define the smallest design boundary that can satisfy the issue.</a:t>
            </a:r>
          </a:p>
        </p:txBody>
      </p:sp>
    </p:spTree>
    <p:extLst>
      <p:ext uri="{BB962C8B-B14F-4D97-AF65-F5344CB8AC3E}">
        <p14:creationId xmlns:p14="http://schemas.microsoft.com/office/powerpoint/2010/main" val="116118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animBg="1"/>
      <p:bldP spid="15" grpId="0"/>
      <p:bldP spid="16" grpId="0" animBg="1"/>
      <p:bldP spid="17" grpId="0"/>
      <p:bldP spid="18" grpId="0"/>
      <p:bldP spid="19" grpId="0" animBg="1"/>
      <p:bldP spid="20" grpId="0"/>
      <p:bldP spid="21" grpId="0"/>
      <p:bldP spid="22" grpId="0" animBg="1"/>
      <p:bldP spid="23" grpId="0"/>
      <p:bldP spid="24" grpId="0"/>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052F8-CD4F-2A70-3BEA-ECECD0B9B9E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AB4F0DC-65D4-AC10-56D2-F9E09390009C}"/>
              </a:ext>
            </a:extLst>
          </p:cNvPr>
          <p:cNvSpPr>
            <a:spLocks noGrp="1"/>
          </p:cNvSpPr>
          <p:nvPr>
            <p:ph type="title"/>
          </p:nvPr>
        </p:nvSpPr>
        <p:spPr>
          <a:xfrm>
            <a:off x="838200" y="37676"/>
            <a:ext cx="10515600" cy="1026849"/>
          </a:xfrm>
        </p:spPr>
        <p:txBody>
          <a:bodyPr/>
          <a:lstStyle/>
          <a:p>
            <a:r>
              <a:rPr lang="en-GB" b="1" dirty="0"/>
              <a:t>From Diagram to Java: Files &amp; Methods</a:t>
            </a:r>
          </a:p>
        </p:txBody>
      </p:sp>
      <p:sp>
        <p:nvSpPr>
          <p:cNvPr id="12" name="Rectangle 11">
            <a:extLst>
              <a:ext uri="{FF2B5EF4-FFF2-40B4-BE49-F238E27FC236}">
                <a16:creationId xmlns:a16="http://schemas.microsoft.com/office/drawing/2014/main" id="{5D11D663-67F1-DF24-A477-7220DCE60808}"/>
              </a:ext>
            </a:extLst>
          </p:cNvPr>
          <p:cNvSpPr/>
          <p:nvPr/>
        </p:nvSpPr>
        <p:spPr>
          <a:xfrm>
            <a:off x="838200" y="1586204"/>
            <a:ext cx="3657600"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Street</a:t>
            </a:r>
          </a:p>
        </p:txBody>
      </p:sp>
      <p:sp>
        <p:nvSpPr>
          <p:cNvPr id="13" name="Rectangle 12">
            <a:extLst>
              <a:ext uri="{FF2B5EF4-FFF2-40B4-BE49-F238E27FC236}">
                <a16:creationId xmlns:a16="http://schemas.microsoft.com/office/drawing/2014/main" id="{B41CBE1A-6F49-90F5-8401-03039CE1768B}"/>
              </a:ext>
            </a:extLst>
          </p:cNvPr>
          <p:cNvSpPr/>
          <p:nvPr/>
        </p:nvSpPr>
        <p:spPr>
          <a:xfrm>
            <a:off x="838199" y="2501242"/>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TrafficLight</a:t>
            </a:r>
          </a:p>
        </p:txBody>
      </p:sp>
      <p:sp>
        <p:nvSpPr>
          <p:cNvPr id="15" name="Rectangle 14">
            <a:extLst>
              <a:ext uri="{FF2B5EF4-FFF2-40B4-BE49-F238E27FC236}">
                <a16:creationId xmlns:a16="http://schemas.microsoft.com/office/drawing/2014/main" id="{7F669E0E-AF73-36EA-F1AC-ECCB3291CE41}"/>
              </a:ext>
            </a:extLst>
          </p:cNvPr>
          <p:cNvSpPr/>
          <p:nvPr/>
        </p:nvSpPr>
        <p:spPr>
          <a:xfrm>
            <a:off x="838199" y="3890867"/>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ysClr val="windowText" lastClr="000000"/>
                </a:solidFill>
                <a:latin typeface="Courier New" panose="02070309020205020404" pitchFamily="49" charset="0"/>
                <a:cs typeface="Courier New" panose="02070309020205020404" pitchFamily="49" charset="0"/>
              </a:rPr>
              <a:t>Street.java</a:t>
            </a:r>
            <a:r>
              <a:rPr lang="en-US" sz="1400" dirty="0">
                <a:solidFill>
                  <a:sysClr val="windowText" lastClr="000000"/>
                </a:solidFill>
                <a:latin typeface="Courier New" panose="02070309020205020404" pitchFamily="49" charset="0"/>
                <a:cs typeface="Courier New" panose="02070309020205020404" pitchFamily="49" charset="0"/>
              </a:rPr>
              <a:t> (class Street)</a:t>
            </a:r>
          </a:p>
        </p:txBody>
      </p:sp>
      <p:sp>
        <p:nvSpPr>
          <p:cNvPr id="16" name="Rectangle 15">
            <a:extLst>
              <a:ext uri="{FF2B5EF4-FFF2-40B4-BE49-F238E27FC236}">
                <a16:creationId xmlns:a16="http://schemas.microsoft.com/office/drawing/2014/main" id="{556AD96C-D933-B5A1-5D35-205DF953A2E0}"/>
              </a:ext>
            </a:extLst>
          </p:cNvPr>
          <p:cNvSpPr/>
          <p:nvPr/>
        </p:nvSpPr>
        <p:spPr>
          <a:xfrm>
            <a:off x="838199" y="4926563"/>
            <a:ext cx="3657593"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ysClr val="windowText" lastClr="000000"/>
                </a:solidFill>
                <a:latin typeface="Courier New" panose="02070309020205020404" pitchFamily="49" charset="0"/>
                <a:cs typeface="Courier New" panose="02070309020205020404" pitchFamily="49" charset="0"/>
              </a:rPr>
              <a:t>TrafficLight.java</a:t>
            </a:r>
            <a:r>
              <a:rPr lang="en-US" sz="1400" dirty="0">
                <a:solidFill>
                  <a:sysClr val="windowText" lastClr="000000"/>
                </a:solidFill>
                <a:latin typeface="Courier New" panose="02070309020205020404" pitchFamily="49" charset="0"/>
                <a:cs typeface="Courier New" panose="02070309020205020404" pitchFamily="49" charset="0"/>
              </a:rPr>
              <a:t> (class TrafficLight)</a:t>
            </a:r>
          </a:p>
        </p:txBody>
      </p:sp>
      <p:sp>
        <p:nvSpPr>
          <p:cNvPr id="18" name="Right Arrow 17">
            <a:extLst>
              <a:ext uri="{FF2B5EF4-FFF2-40B4-BE49-F238E27FC236}">
                <a16:creationId xmlns:a16="http://schemas.microsoft.com/office/drawing/2014/main" id="{8702203F-FB6A-8AD2-3E16-EEE2A7C6E533}"/>
              </a:ext>
            </a:extLst>
          </p:cNvPr>
          <p:cNvSpPr/>
          <p:nvPr/>
        </p:nvSpPr>
        <p:spPr>
          <a:xfrm rot="5400000">
            <a:off x="1166486" y="3434464"/>
            <a:ext cx="634482" cy="20495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4EB32686-DD39-6131-F94B-5F18A36E309B}"/>
              </a:ext>
            </a:extLst>
          </p:cNvPr>
          <p:cNvSpPr/>
          <p:nvPr/>
        </p:nvSpPr>
        <p:spPr>
          <a:xfrm rot="5400000">
            <a:off x="3310091" y="3434146"/>
            <a:ext cx="634482" cy="20495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AA33E20-9E61-39F2-CA3C-37AE43455627}"/>
              </a:ext>
            </a:extLst>
          </p:cNvPr>
          <p:cNvSpPr txBox="1"/>
          <p:nvPr/>
        </p:nvSpPr>
        <p:spPr>
          <a:xfrm>
            <a:off x="2061864" y="3356986"/>
            <a:ext cx="1382961" cy="400110"/>
          </a:xfrm>
          <a:prstGeom prst="rect">
            <a:avLst/>
          </a:prstGeom>
          <a:noFill/>
        </p:spPr>
        <p:txBody>
          <a:bodyPr wrap="square" rtlCol="0">
            <a:spAutoFit/>
          </a:bodyPr>
          <a:lstStyle/>
          <a:p>
            <a:r>
              <a:rPr lang="en-US" sz="2000" dirty="0"/>
              <a:t>becomes</a:t>
            </a:r>
          </a:p>
        </p:txBody>
      </p:sp>
      <p:sp>
        <p:nvSpPr>
          <p:cNvPr id="24" name="TextBox 23">
            <a:extLst>
              <a:ext uri="{FF2B5EF4-FFF2-40B4-BE49-F238E27FC236}">
                <a16:creationId xmlns:a16="http://schemas.microsoft.com/office/drawing/2014/main" id="{CFC255B8-C59B-5CD2-8B82-4A5FEF305062}"/>
              </a:ext>
            </a:extLst>
          </p:cNvPr>
          <p:cNvSpPr txBox="1"/>
          <p:nvPr/>
        </p:nvSpPr>
        <p:spPr>
          <a:xfrm>
            <a:off x="587210" y="5727202"/>
            <a:ext cx="3939074" cy="861774"/>
          </a:xfrm>
          <a:prstGeom prst="rect">
            <a:avLst/>
          </a:prstGeom>
          <a:noFill/>
        </p:spPr>
        <p:txBody>
          <a:bodyPr wrap="square" rtlCol="0">
            <a:spAutoFit/>
          </a:bodyPr>
          <a:lstStyle/>
          <a:p>
            <a:pPr algn="ctr"/>
            <a:r>
              <a:rPr lang="en-US" dirty="0"/>
              <a:t>Methods defined:</a:t>
            </a:r>
          </a:p>
          <a:p>
            <a:pPr algn="ctr"/>
            <a:r>
              <a:rPr lang="en-US" sz="1600" dirty="0" err="1">
                <a:latin typeface="Courier New" panose="02070309020205020404" pitchFamily="49" charset="0"/>
                <a:cs typeface="Courier New" panose="02070309020205020404" pitchFamily="49" charset="0"/>
              </a:rPr>
              <a:t>Street.updateTraffic</a:t>
            </a:r>
            <a:r>
              <a:rPr lang="en-US" sz="1600" dirty="0">
                <a:latin typeface="Courier New" panose="02070309020205020404" pitchFamily="49" charset="0"/>
                <a:cs typeface="Courier New" panose="02070309020205020404" pitchFamily="49" charset="0"/>
              </a:rPr>
              <a:t>()</a:t>
            </a:r>
          </a:p>
          <a:p>
            <a:pPr algn="ctr"/>
            <a:r>
              <a:rPr lang="en-US" sz="1600" dirty="0" err="1">
                <a:latin typeface="Courier New" panose="02070309020205020404" pitchFamily="49" charset="0"/>
                <a:cs typeface="Courier New" panose="02070309020205020404" pitchFamily="49" charset="0"/>
              </a:rPr>
              <a:t>TrafficLight.advanceState</a:t>
            </a:r>
            <a:r>
              <a:rPr lang="en-US" sz="1600" dirty="0">
                <a:latin typeface="Courier New" panose="02070309020205020404" pitchFamily="49" charset="0"/>
                <a:cs typeface="Courier New" panose="02070309020205020404" pitchFamily="49" charset="0"/>
              </a:rPr>
              <a:t>()</a:t>
            </a:r>
          </a:p>
        </p:txBody>
      </p:sp>
      <p:sp>
        <p:nvSpPr>
          <p:cNvPr id="25" name="TextBox 24">
            <a:extLst>
              <a:ext uri="{FF2B5EF4-FFF2-40B4-BE49-F238E27FC236}">
                <a16:creationId xmlns:a16="http://schemas.microsoft.com/office/drawing/2014/main" id="{B25C4211-C198-BD0F-D4E4-643FB915DE68}"/>
              </a:ext>
            </a:extLst>
          </p:cNvPr>
          <p:cNvSpPr txBox="1"/>
          <p:nvPr/>
        </p:nvSpPr>
        <p:spPr>
          <a:xfrm>
            <a:off x="1381250" y="1130798"/>
            <a:ext cx="2350995" cy="461665"/>
          </a:xfrm>
          <a:prstGeom prst="rect">
            <a:avLst/>
          </a:prstGeom>
          <a:noFill/>
        </p:spPr>
        <p:txBody>
          <a:bodyPr wrap="square" rtlCol="0">
            <a:spAutoFit/>
          </a:bodyPr>
          <a:lstStyle/>
          <a:p>
            <a:r>
              <a:rPr lang="en-US" sz="2400" b="1" dirty="0"/>
              <a:t>Class Diagram</a:t>
            </a:r>
          </a:p>
        </p:txBody>
      </p:sp>
      <p:sp>
        <p:nvSpPr>
          <p:cNvPr id="27" name="Rectangle 26">
            <a:extLst>
              <a:ext uri="{FF2B5EF4-FFF2-40B4-BE49-F238E27FC236}">
                <a16:creationId xmlns:a16="http://schemas.microsoft.com/office/drawing/2014/main" id="{A6233022-3023-486E-7362-D43897920427}"/>
              </a:ext>
            </a:extLst>
          </p:cNvPr>
          <p:cNvSpPr/>
          <p:nvPr/>
        </p:nvSpPr>
        <p:spPr>
          <a:xfrm>
            <a:off x="6587412" y="1559527"/>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ysClr val="windowText" lastClr="000000"/>
                </a:solidFill>
              </a:rPr>
              <a:t>Controller       Street      TrafficLight </a:t>
            </a:r>
          </a:p>
        </p:txBody>
      </p:sp>
      <p:sp>
        <p:nvSpPr>
          <p:cNvPr id="28" name="TextBox 27">
            <a:extLst>
              <a:ext uri="{FF2B5EF4-FFF2-40B4-BE49-F238E27FC236}">
                <a16:creationId xmlns:a16="http://schemas.microsoft.com/office/drawing/2014/main" id="{D03C6EBF-0E84-6D6A-6533-9250F0EA74C1}"/>
              </a:ext>
            </a:extLst>
          </p:cNvPr>
          <p:cNvSpPr txBox="1"/>
          <p:nvPr/>
        </p:nvSpPr>
        <p:spPr>
          <a:xfrm>
            <a:off x="7300628" y="1104121"/>
            <a:ext cx="3546314" cy="461665"/>
          </a:xfrm>
          <a:prstGeom prst="rect">
            <a:avLst/>
          </a:prstGeom>
          <a:noFill/>
        </p:spPr>
        <p:txBody>
          <a:bodyPr wrap="square" rtlCol="0">
            <a:spAutoFit/>
          </a:bodyPr>
          <a:lstStyle/>
          <a:p>
            <a:r>
              <a:rPr lang="en-US" sz="2400" b="1" dirty="0"/>
              <a:t>Sequence Diagram</a:t>
            </a:r>
          </a:p>
        </p:txBody>
      </p:sp>
      <p:cxnSp>
        <p:nvCxnSpPr>
          <p:cNvPr id="30" name="Straight Arrow Connector 29">
            <a:extLst>
              <a:ext uri="{FF2B5EF4-FFF2-40B4-BE49-F238E27FC236}">
                <a16:creationId xmlns:a16="http://schemas.microsoft.com/office/drawing/2014/main" id="{AF8EEFB4-AB69-F306-11FE-AEAADEE3DBF2}"/>
              </a:ext>
            </a:extLst>
          </p:cNvPr>
          <p:cNvCxnSpPr>
            <a:cxnSpLocks/>
          </p:cNvCxnSpPr>
          <p:nvPr/>
        </p:nvCxnSpPr>
        <p:spPr>
          <a:xfrm>
            <a:off x="8266921" y="1932771"/>
            <a:ext cx="33590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2907836-DF5D-F8CF-4A54-E93363A78980}"/>
              </a:ext>
            </a:extLst>
          </p:cNvPr>
          <p:cNvCxnSpPr>
            <a:cxnSpLocks/>
          </p:cNvCxnSpPr>
          <p:nvPr/>
        </p:nvCxnSpPr>
        <p:spPr>
          <a:xfrm>
            <a:off x="9296398" y="1935883"/>
            <a:ext cx="33590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40EA5E9-EC68-A74D-7C2E-14446AB068E5}"/>
              </a:ext>
            </a:extLst>
          </p:cNvPr>
          <p:cNvSpPr txBox="1"/>
          <p:nvPr/>
        </p:nvSpPr>
        <p:spPr>
          <a:xfrm>
            <a:off x="8210704" y="2811637"/>
            <a:ext cx="1726161" cy="523220"/>
          </a:xfrm>
          <a:prstGeom prst="rect">
            <a:avLst/>
          </a:prstGeom>
          <a:noFill/>
        </p:spPr>
        <p:txBody>
          <a:bodyPr wrap="square" rtlCol="0">
            <a:spAutoFit/>
          </a:bodyPr>
          <a:lstStyle/>
          <a:p>
            <a:r>
              <a:rPr lang="en-US" sz="2800" dirty="0"/>
              <a:t>becomes</a:t>
            </a:r>
          </a:p>
        </p:txBody>
      </p:sp>
      <p:sp>
        <p:nvSpPr>
          <p:cNvPr id="38" name="Rectangle 37">
            <a:extLst>
              <a:ext uri="{FF2B5EF4-FFF2-40B4-BE49-F238E27FC236}">
                <a16:creationId xmlns:a16="http://schemas.microsoft.com/office/drawing/2014/main" id="{AEAF62A1-E298-4A2B-BFF4-032CBCC582F5}"/>
              </a:ext>
            </a:extLst>
          </p:cNvPr>
          <p:cNvSpPr/>
          <p:nvPr/>
        </p:nvSpPr>
        <p:spPr>
          <a:xfrm>
            <a:off x="6587412" y="3713903"/>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controller.updateTraffic</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39" name="Rectangle 38">
            <a:extLst>
              <a:ext uri="{FF2B5EF4-FFF2-40B4-BE49-F238E27FC236}">
                <a16:creationId xmlns:a16="http://schemas.microsoft.com/office/drawing/2014/main" id="{B687974E-EB07-8420-8A44-3CB5B038DA68}"/>
              </a:ext>
            </a:extLst>
          </p:cNvPr>
          <p:cNvSpPr/>
          <p:nvPr/>
        </p:nvSpPr>
        <p:spPr>
          <a:xfrm>
            <a:off x="6587412" y="4664988"/>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street.updateTraffic</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40" name="Rectangle 39">
            <a:extLst>
              <a:ext uri="{FF2B5EF4-FFF2-40B4-BE49-F238E27FC236}">
                <a16:creationId xmlns:a16="http://schemas.microsoft.com/office/drawing/2014/main" id="{956A684C-FC1C-9187-0F72-3B8756445E55}"/>
              </a:ext>
            </a:extLst>
          </p:cNvPr>
          <p:cNvSpPr/>
          <p:nvPr/>
        </p:nvSpPr>
        <p:spPr>
          <a:xfrm>
            <a:off x="6587412" y="5616073"/>
            <a:ext cx="4766388" cy="690465"/>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ysClr val="windowText" lastClr="000000"/>
                </a:solidFill>
                <a:latin typeface="Courier New" panose="02070309020205020404" pitchFamily="49" charset="0"/>
                <a:cs typeface="Courier New" panose="02070309020205020404" pitchFamily="49" charset="0"/>
              </a:rPr>
              <a:t>trafficLight.advanceState</a:t>
            </a:r>
            <a:r>
              <a:rPr lang="en-US" sz="1600" dirty="0">
                <a:solidFill>
                  <a:sysClr val="windowText" lastClr="000000"/>
                </a:solidFill>
                <a:latin typeface="Courier New" panose="02070309020205020404" pitchFamily="49" charset="0"/>
                <a:cs typeface="Courier New" panose="02070309020205020404" pitchFamily="49" charset="0"/>
              </a:rPr>
              <a:t>()</a:t>
            </a:r>
          </a:p>
        </p:txBody>
      </p:sp>
      <p:sp>
        <p:nvSpPr>
          <p:cNvPr id="2" name="Down Arrow 1">
            <a:extLst>
              <a:ext uri="{FF2B5EF4-FFF2-40B4-BE49-F238E27FC236}">
                <a16:creationId xmlns:a16="http://schemas.microsoft.com/office/drawing/2014/main" id="{69D58FE9-4A16-C21C-A467-3D80AA29F3F2}"/>
              </a:ext>
            </a:extLst>
          </p:cNvPr>
          <p:cNvSpPr/>
          <p:nvPr/>
        </p:nvSpPr>
        <p:spPr>
          <a:xfrm>
            <a:off x="7300628" y="2654300"/>
            <a:ext cx="293972" cy="88232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a:extLst>
              <a:ext uri="{FF2B5EF4-FFF2-40B4-BE49-F238E27FC236}">
                <a16:creationId xmlns:a16="http://schemas.microsoft.com/office/drawing/2014/main" id="{717381B6-49FB-7805-4DFC-48AE04E23625}"/>
              </a:ext>
            </a:extLst>
          </p:cNvPr>
          <p:cNvSpPr/>
          <p:nvPr/>
        </p:nvSpPr>
        <p:spPr>
          <a:xfrm>
            <a:off x="10157293" y="2654299"/>
            <a:ext cx="293972" cy="88232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41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20" grpId="0" animBg="1"/>
      <p:bldP spid="21" grpId="0"/>
      <p:bldP spid="24" grpId="0"/>
      <p:bldP spid="37" grpId="0"/>
      <p:bldP spid="38" grpId="0" animBg="1"/>
      <p:bldP spid="39" grpId="0" animBg="1"/>
      <p:bldP spid="40" grpId="0" animBg="1"/>
      <p:bldP spid="2"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1CFE2-DD22-544B-7F8B-D4B163506764}"/>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4628930-F454-2EF1-BD89-CC2D47C1533E}"/>
              </a:ext>
            </a:extLst>
          </p:cNvPr>
          <p:cNvSpPr>
            <a:spLocks noGrp="1"/>
          </p:cNvSpPr>
          <p:nvPr>
            <p:ph type="title"/>
          </p:nvPr>
        </p:nvSpPr>
        <p:spPr>
          <a:xfrm>
            <a:off x="838200" y="37676"/>
            <a:ext cx="10515600" cy="1026849"/>
          </a:xfrm>
        </p:spPr>
        <p:txBody>
          <a:bodyPr/>
          <a:lstStyle/>
          <a:p>
            <a:r>
              <a:rPr lang="en-GB" b="1" dirty="0"/>
              <a:t>From Diagram to Code: Three Classes in Order</a:t>
            </a:r>
          </a:p>
        </p:txBody>
      </p:sp>
      <p:pic>
        <p:nvPicPr>
          <p:cNvPr id="2" name="Picture 6">
            <a:extLst>
              <a:ext uri="{FF2B5EF4-FFF2-40B4-BE49-F238E27FC236}">
                <a16:creationId xmlns:a16="http://schemas.microsoft.com/office/drawing/2014/main" id="{1B6BEF9F-6CC6-14A8-9A3E-DBCD533447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773"/>
          <a:stretch>
            <a:fillRect/>
          </a:stretch>
        </p:blipFill>
        <p:spPr bwMode="auto">
          <a:xfrm>
            <a:off x="456996" y="1478794"/>
            <a:ext cx="6186400" cy="5038069"/>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63E98611-1D3A-8DA8-7D59-2F0FA76D60E4}"/>
              </a:ext>
            </a:extLst>
          </p:cNvPr>
          <p:cNvGrpSpPr/>
          <p:nvPr/>
        </p:nvGrpSpPr>
        <p:grpSpPr>
          <a:xfrm>
            <a:off x="6997960" y="1064525"/>
            <a:ext cx="4355840" cy="1567964"/>
            <a:chOff x="6997960" y="1064525"/>
            <a:chExt cx="4355840" cy="1567964"/>
          </a:xfrm>
        </p:grpSpPr>
        <p:sp>
          <p:nvSpPr>
            <p:cNvPr id="3" name="TextBox 2">
              <a:extLst>
                <a:ext uri="{FF2B5EF4-FFF2-40B4-BE49-F238E27FC236}">
                  <a16:creationId xmlns:a16="http://schemas.microsoft.com/office/drawing/2014/main" id="{8689482B-53D6-3A2A-1672-E72DC4341F58}"/>
                </a:ext>
              </a:extLst>
            </p:cNvPr>
            <p:cNvSpPr txBox="1"/>
            <p:nvPr/>
          </p:nvSpPr>
          <p:spPr>
            <a:xfrm>
              <a:off x="6997960" y="1064525"/>
              <a:ext cx="1940768" cy="400110"/>
            </a:xfrm>
            <a:prstGeom prst="rect">
              <a:avLst/>
            </a:prstGeom>
            <a:noFill/>
          </p:spPr>
          <p:txBody>
            <a:bodyPr wrap="square" rtlCol="0">
              <a:spAutoFit/>
            </a:bodyPr>
            <a:lstStyle/>
            <a:p>
              <a:r>
                <a:rPr lang="en-US" sz="2000" dirty="0"/>
                <a:t>class Controller</a:t>
              </a:r>
            </a:p>
          </p:txBody>
        </p:sp>
        <p:pic>
          <p:nvPicPr>
            <p:cNvPr id="5" name="Picture 4" descr="A black screen with white text&#10;&#10;AI-generated content may be incorrect.">
              <a:extLst>
                <a:ext uri="{FF2B5EF4-FFF2-40B4-BE49-F238E27FC236}">
                  <a16:creationId xmlns:a16="http://schemas.microsoft.com/office/drawing/2014/main" id="{6FDCBA7F-7D65-233B-A073-051FA5F413B9}"/>
                </a:ext>
              </a:extLst>
            </p:cNvPr>
            <p:cNvPicPr>
              <a:picLocks noChangeAspect="1"/>
            </p:cNvPicPr>
            <p:nvPr/>
          </p:nvPicPr>
          <p:blipFill>
            <a:blip r:embed="rId4"/>
            <a:stretch>
              <a:fillRect/>
            </a:stretch>
          </p:blipFill>
          <p:spPr>
            <a:xfrm>
              <a:off x="7021028" y="1427347"/>
              <a:ext cx="4332772" cy="1205142"/>
            </a:xfrm>
            <a:prstGeom prst="rect">
              <a:avLst/>
            </a:prstGeom>
          </p:spPr>
        </p:pic>
      </p:grpSp>
      <p:grpSp>
        <p:nvGrpSpPr>
          <p:cNvPr id="19" name="Group 18">
            <a:extLst>
              <a:ext uri="{FF2B5EF4-FFF2-40B4-BE49-F238E27FC236}">
                <a16:creationId xmlns:a16="http://schemas.microsoft.com/office/drawing/2014/main" id="{FC9BAF5C-FC32-AAAE-6148-DAD8D4239721}"/>
              </a:ext>
            </a:extLst>
          </p:cNvPr>
          <p:cNvGrpSpPr/>
          <p:nvPr/>
        </p:nvGrpSpPr>
        <p:grpSpPr>
          <a:xfrm>
            <a:off x="7021028" y="2627307"/>
            <a:ext cx="4332772" cy="2086145"/>
            <a:chOff x="7021028" y="2627307"/>
            <a:chExt cx="4332772" cy="2086145"/>
          </a:xfrm>
        </p:grpSpPr>
        <p:sp>
          <p:nvSpPr>
            <p:cNvPr id="6" name="TextBox 5">
              <a:extLst>
                <a:ext uri="{FF2B5EF4-FFF2-40B4-BE49-F238E27FC236}">
                  <a16:creationId xmlns:a16="http://schemas.microsoft.com/office/drawing/2014/main" id="{59F1680D-9345-6A49-299A-7DD80239258D}"/>
                </a:ext>
              </a:extLst>
            </p:cNvPr>
            <p:cNvSpPr txBox="1"/>
            <p:nvPr/>
          </p:nvSpPr>
          <p:spPr>
            <a:xfrm>
              <a:off x="7021028" y="2627307"/>
              <a:ext cx="1940768" cy="400110"/>
            </a:xfrm>
            <a:prstGeom prst="rect">
              <a:avLst/>
            </a:prstGeom>
            <a:noFill/>
          </p:spPr>
          <p:txBody>
            <a:bodyPr wrap="square" rtlCol="0">
              <a:spAutoFit/>
            </a:bodyPr>
            <a:lstStyle/>
            <a:p>
              <a:r>
                <a:rPr lang="en-US" sz="2000" dirty="0"/>
                <a:t>class Street</a:t>
              </a:r>
            </a:p>
          </p:txBody>
        </p:sp>
        <p:pic>
          <p:nvPicPr>
            <p:cNvPr id="8" name="Picture 7" descr="A screen shot of a computer code&#10;&#10;AI-generated content may be incorrect.">
              <a:extLst>
                <a:ext uri="{FF2B5EF4-FFF2-40B4-BE49-F238E27FC236}">
                  <a16:creationId xmlns:a16="http://schemas.microsoft.com/office/drawing/2014/main" id="{38A60C70-E9AA-054C-8CC3-A126BFDAFD99}"/>
                </a:ext>
              </a:extLst>
            </p:cNvPr>
            <p:cNvPicPr>
              <a:picLocks noChangeAspect="1"/>
            </p:cNvPicPr>
            <p:nvPr/>
          </p:nvPicPr>
          <p:blipFill>
            <a:blip r:embed="rId5"/>
            <a:stretch>
              <a:fillRect/>
            </a:stretch>
          </p:blipFill>
          <p:spPr>
            <a:xfrm>
              <a:off x="7021028" y="3008755"/>
              <a:ext cx="4332772" cy="1704697"/>
            </a:xfrm>
            <a:prstGeom prst="rect">
              <a:avLst/>
            </a:prstGeom>
          </p:spPr>
        </p:pic>
      </p:grpSp>
      <p:sp>
        <p:nvSpPr>
          <p:cNvPr id="23" name="Oval 22">
            <a:extLst>
              <a:ext uri="{FF2B5EF4-FFF2-40B4-BE49-F238E27FC236}">
                <a16:creationId xmlns:a16="http://schemas.microsoft.com/office/drawing/2014/main" id="{86AEB19F-27CD-FE0E-9B6C-70C77BA11454}"/>
              </a:ext>
            </a:extLst>
          </p:cNvPr>
          <p:cNvSpPr/>
          <p:nvPr/>
        </p:nvSpPr>
        <p:spPr>
          <a:xfrm>
            <a:off x="1884784" y="2808514"/>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26" name="Oval 25">
            <a:extLst>
              <a:ext uri="{FF2B5EF4-FFF2-40B4-BE49-F238E27FC236}">
                <a16:creationId xmlns:a16="http://schemas.microsoft.com/office/drawing/2014/main" id="{28720274-5099-0C4E-99EA-4834E3005719}"/>
              </a:ext>
            </a:extLst>
          </p:cNvPr>
          <p:cNvSpPr/>
          <p:nvPr/>
        </p:nvSpPr>
        <p:spPr>
          <a:xfrm>
            <a:off x="4519126" y="3247053"/>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29" name="Oval 28">
            <a:extLst>
              <a:ext uri="{FF2B5EF4-FFF2-40B4-BE49-F238E27FC236}">
                <a16:creationId xmlns:a16="http://schemas.microsoft.com/office/drawing/2014/main" id="{76498DBA-722B-C4FB-7C74-1D02BE28035E}"/>
              </a:ext>
            </a:extLst>
          </p:cNvPr>
          <p:cNvSpPr/>
          <p:nvPr/>
        </p:nvSpPr>
        <p:spPr>
          <a:xfrm>
            <a:off x="4371396" y="4588044"/>
            <a:ext cx="447869" cy="438539"/>
          </a:xfrm>
          <a:prstGeom prst="ellipse">
            <a:avLst/>
          </a:prstGeom>
          <a:solidFill>
            <a:srgbClr val="0090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grpSp>
        <p:nvGrpSpPr>
          <p:cNvPr id="35" name="Group 34">
            <a:extLst>
              <a:ext uri="{FF2B5EF4-FFF2-40B4-BE49-F238E27FC236}">
                <a16:creationId xmlns:a16="http://schemas.microsoft.com/office/drawing/2014/main" id="{2ECF4610-4132-9215-56AC-67F4EB30183A}"/>
              </a:ext>
            </a:extLst>
          </p:cNvPr>
          <p:cNvGrpSpPr/>
          <p:nvPr/>
        </p:nvGrpSpPr>
        <p:grpSpPr>
          <a:xfrm>
            <a:off x="6892214" y="4713452"/>
            <a:ext cx="4438172" cy="1803410"/>
            <a:chOff x="6892214" y="4713452"/>
            <a:chExt cx="4438172" cy="1803410"/>
          </a:xfrm>
        </p:grpSpPr>
        <p:sp>
          <p:nvSpPr>
            <p:cNvPr id="9" name="TextBox 8">
              <a:extLst>
                <a:ext uri="{FF2B5EF4-FFF2-40B4-BE49-F238E27FC236}">
                  <a16:creationId xmlns:a16="http://schemas.microsoft.com/office/drawing/2014/main" id="{16A03CD4-4CA2-C104-B395-98DC0A967178}"/>
                </a:ext>
              </a:extLst>
            </p:cNvPr>
            <p:cNvSpPr txBox="1"/>
            <p:nvPr/>
          </p:nvSpPr>
          <p:spPr>
            <a:xfrm>
              <a:off x="6892214" y="4713452"/>
              <a:ext cx="1940768" cy="400110"/>
            </a:xfrm>
            <a:prstGeom prst="rect">
              <a:avLst/>
            </a:prstGeom>
            <a:noFill/>
          </p:spPr>
          <p:txBody>
            <a:bodyPr wrap="square" rtlCol="0">
              <a:spAutoFit/>
            </a:bodyPr>
            <a:lstStyle/>
            <a:p>
              <a:r>
                <a:rPr lang="en-US" sz="2000" dirty="0"/>
                <a:t>class TrafficLight</a:t>
              </a:r>
            </a:p>
          </p:txBody>
        </p:sp>
        <p:pic>
          <p:nvPicPr>
            <p:cNvPr id="34" name="Picture 33" descr="A computer screen with text&#10;&#10;AI-generated content may be incorrect.">
              <a:extLst>
                <a:ext uri="{FF2B5EF4-FFF2-40B4-BE49-F238E27FC236}">
                  <a16:creationId xmlns:a16="http://schemas.microsoft.com/office/drawing/2014/main" id="{D38B89D4-7AEE-E827-B523-8E6A4D1805E1}"/>
                </a:ext>
              </a:extLst>
            </p:cNvPr>
            <p:cNvPicPr>
              <a:picLocks noChangeAspect="1"/>
            </p:cNvPicPr>
            <p:nvPr/>
          </p:nvPicPr>
          <p:blipFill>
            <a:blip r:embed="rId6"/>
            <a:stretch>
              <a:fillRect/>
            </a:stretch>
          </p:blipFill>
          <p:spPr>
            <a:xfrm>
              <a:off x="6997959" y="5119305"/>
              <a:ext cx="4332427" cy="1397557"/>
            </a:xfrm>
            <a:prstGeom prst="rect">
              <a:avLst/>
            </a:prstGeom>
          </p:spPr>
        </p:pic>
      </p:grpSp>
    </p:spTree>
    <p:extLst>
      <p:ext uri="{BB962C8B-B14F-4D97-AF65-F5344CB8AC3E}">
        <p14:creationId xmlns:p14="http://schemas.microsoft.com/office/powerpoint/2010/main" val="265422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a:extLst>
              <a:ext uri="{FF2B5EF4-FFF2-40B4-BE49-F238E27FC236}">
                <a16:creationId xmlns:a16="http://schemas.microsoft.com/office/drawing/2014/main" id="{5BDB21C5-D651-4C51-A1AE-57E48647A241}"/>
              </a:ext>
            </a:extLst>
          </p:cNvPr>
          <p:cNvSpPr>
            <a:spLocks noGrp="1"/>
          </p:cNvSpPr>
          <p:nvPr/>
        </p:nvSpPr>
        <p:spPr>
          <a:xfrm>
            <a:off x="666750" y="323850"/>
            <a:ext cx="10858500" cy="628650"/>
          </a:xfrm>
          <a:prstGeom prst="rect">
            <a:avLst/>
          </a:prstGeom>
          <a:noFill/>
          <a:ln w="0">
            <a:noFill/>
          </a:ln>
        </p:spPr>
        <p:txBody>
          <a:bodyPr anchor="t">
            <a:noAutofit/>
          </a:bodyPr>
          <a:lstStyle/>
          <a:p>
            <a:pPr>
              <a:defRPr sz="3225">
                <a:solidFill>
                  <a:srgbClr val="151515"/>
                </a:solidFill>
                <a:latin typeface="Calibri"/>
                <a:ea typeface="Calibri"/>
                <a:cs typeface="Calibri"/>
              </a:defRPr>
            </a:pPr>
            <a:r>
              <a:rPr sz="3225">
                <a:solidFill>
                  <a:srgbClr val="151515"/>
                </a:solidFill>
                <a:latin typeface="Calibri"/>
                <a:ea typeface="Calibri"/>
                <a:cs typeface="Calibri"/>
              </a:rPr>
              <a:t>A Pull Request Is a Design Increment</a:t>
            </a:r>
          </a:p>
        </p:txBody>
      </p:sp>
      <p:sp>
        <p:nvSpPr>
          <p:cNvPr id="2" name="PR summary">
            <a:extLst>
              <a:ext uri="{FF2B5EF4-FFF2-40B4-BE49-F238E27FC236}">
                <a16:creationId xmlns:a16="http://schemas.microsoft.com/office/drawing/2014/main" id="{919B0A8C-15E2-441C-B6C6-37258CB0A07C}"/>
              </a:ext>
            </a:extLst>
          </p:cNvPr>
          <p:cNvSpPr>
            <a:spLocks noGrp="1"/>
          </p:cNvSpPr>
          <p:nvPr/>
        </p:nvSpPr>
        <p:spPr>
          <a:xfrm>
            <a:off x="704850" y="1057275"/>
            <a:ext cx="10744200" cy="438150"/>
          </a:xfrm>
          <a:prstGeom prst="rect">
            <a:avLst/>
          </a:prstGeom>
          <a:noFill/>
          <a:ln w="0">
            <a:noFill/>
          </a:ln>
        </p:spPr>
        <p:txBody>
          <a:bodyPr anchor="t">
            <a:noAutofit/>
          </a:bodyPr>
          <a:lstStyle/>
          <a:p>
            <a:pPr>
              <a:defRPr sz="1800">
                <a:solidFill>
                  <a:srgbClr val="52606B"/>
                </a:solidFill>
                <a:latin typeface="Calibri"/>
                <a:ea typeface="Calibri"/>
                <a:cs typeface="Calibri"/>
              </a:defRPr>
            </a:pPr>
            <a:r>
              <a:rPr sz="1800">
                <a:solidFill>
                  <a:srgbClr val="52606B"/>
                </a:solidFill>
                <a:latin typeface="Calibri"/>
                <a:ea typeface="Calibri"/>
                <a:cs typeface="Calibri"/>
              </a:rPr>
              <a:t>One PR should carry one change from intent to evidence.</a:t>
            </a:r>
          </a:p>
        </p:txBody>
      </p:sp>
      <p:sp>
        <p:nvSpPr>
          <p:cNvPr id="3" name="Workflow label">
            <a:extLst>
              <a:ext uri="{FF2B5EF4-FFF2-40B4-BE49-F238E27FC236}">
                <a16:creationId xmlns:a16="http://schemas.microsoft.com/office/drawing/2014/main" id="{7C88CD92-B1F5-4A6B-A44F-A69ADA06D614}"/>
              </a:ext>
            </a:extLst>
          </p:cNvPr>
          <p:cNvSpPr>
            <a:spLocks noGrp="1"/>
          </p:cNvSpPr>
          <p:nvPr/>
        </p:nvSpPr>
        <p:spPr>
          <a:xfrm>
            <a:off x="704850" y="1714500"/>
            <a:ext cx="10782300" cy="285750"/>
          </a:xfrm>
          <a:prstGeom prst="rect">
            <a:avLst/>
          </a:prstGeom>
          <a:noFill/>
          <a:ln w="0">
            <a:noFill/>
          </a:ln>
        </p:spPr>
        <p:txBody>
          <a:bodyPr anchor="t">
            <a:noAutofit/>
          </a:bodyPr>
          <a:lstStyle/>
          <a:p>
            <a:pPr algn="ctr">
              <a:defRPr sz="1350" b="1" spc="1">
                <a:solidFill>
                  <a:srgbClr val="6B7785"/>
                </a:solidFill>
                <a:latin typeface="Calibri"/>
                <a:ea typeface="Calibri"/>
                <a:cs typeface="Calibri"/>
              </a:defRPr>
            </a:pPr>
            <a:r>
              <a:rPr sz="1350" b="1" spc="1">
                <a:solidFill>
                  <a:srgbClr val="6B7785"/>
                </a:solidFill>
                <a:latin typeface="Calibri"/>
                <a:ea typeface="Calibri"/>
                <a:cs typeface="Calibri"/>
              </a:rPr>
              <a:t>ONE TRACEABLE CHANGE</a:t>
            </a:r>
          </a:p>
        </p:txBody>
      </p:sp>
      <p:sp>
        <p:nvSpPr>
          <p:cNvPr id="4" name="ISSUE card">
            <a:extLst>
              <a:ext uri="{FF2B5EF4-FFF2-40B4-BE49-F238E27FC236}">
                <a16:creationId xmlns:a16="http://schemas.microsoft.com/office/drawing/2014/main" id="{B22F27E7-1990-4A30-9429-D5BC1480029E}"/>
              </a:ext>
            </a:extLst>
          </p:cNvPr>
          <p:cNvSpPr>
            <a:spLocks noGrp="1"/>
          </p:cNvSpPr>
          <p:nvPr/>
        </p:nvSpPr>
        <p:spPr>
          <a:xfrm>
            <a:off x="685800" y="2152650"/>
            <a:ext cx="2400300" cy="1390650"/>
          </a:xfrm>
          <a:prstGeom prst="roundRect">
            <a:avLst>
              <a:gd name="adj" fmla="val 5479"/>
            </a:avLst>
          </a:prstGeom>
          <a:solidFill>
            <a:srgbClr val="EAF3FB"/>
          </a:solidFill>
          <a:ln w="19050">
            <a:solidFill>
              <a:srgbClr val="2F75B5"/>
            </a:solidFill>
          </a:ln>
        </p:spPr>
        <p:txBody>
          <a:bodyPr/>
          <a:lstStyle/>
          <a:p>
            <a:endParaRPr lang="en-US"/>
          </a:p>
        </p:txBody>
      </p:sp>
      <p:sp>
        <p:nvSpPr>
          <p:cNvPr id="5" name="ISSUE number">
            <a:extLst>
              <a:ext uri="{FF2B5EF4-FFF2-40B4-BE49-F238E27FC236}">
                <a16:creationId xmlns:a16="http://schemas.microsoft.com/office/drawing/2014/main" id="{7C2E8CBC-15C9-4F58-A966-E45247FEDC98}"/>
              </a:ext>
            </a:extLst>
          </p:cNvPr>
          <p:cNvSpPr>
            <a:spLocks noGrp="1"/>
          </p:cNvSpPr>
          <p:nvPr/>
        </p:nvSpPr>
        <p:spPr>
          <a:xfrm>
            <a:off x="857250" y="2324100"/>
            <a:ext cx="400050" cy="400050"/>
          </a:xfrm>
          <a:prstGeom prst="roundRect">
            <a:avLst>
              <a:gd name="adj" fmla="val 19048"/>
            </a:avLst>
          </a:prstGeom>
          <a:solidFill>
            <a:srgbClr val="2F75B5"/>
          </a:solidFill>
          <a:ln w="9525">
            <a:solidFill>
              <a:srgbClr val="2F75B5"/>
            </a:solidFill>
          </a:ln>
        </p:spPr>
        <p:txBody>
          <a:bodyPr/>
          <a:lstStyle/>
          <a:p>
            <a:endParaRPr lang="en-US"/>
          </a:p>
        </p:txBody>
      </p:sp>
      <p:sp>
        <p:nvSpPr>
          <p:cNvPr id="6" name="ISSUE number text">
            <a:extLst>
              <a:ext uri="{FF2B5EF4-FFF2-40B4-BE49-F238E27FC236}">
                <a16:creationId xmlns:a16="http://schemas.microsoft.com/office/drawing/2014/main" id="{BE7AEAB2-C1ED-48E5-8A49-3FE3D462FD78}"/>
              </a:ext>
            </a:extLst>
          </p:cNvPr>
          <p:cNvSpPr>
            <a:spLocks noGrp="1"/>
          </p:cNvSpPr>
          <p:nvPr/>
        </p:nvSpPr>
        <p:spPr>
          <a:xfrm>
            <a:off x="857250"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1</a:t>
            </a:r>
          </a:p>
        </p:txBody>
      </p:sp>
      <p:sp>
        <p:nvSpPr>
          <p:cNvPr id="7" name="ISSUE heading">
            <a:extLst>
              <a:ext uri="{FF2B5EF4-FFF2-40B4-BE49-F238E27FC236}">
                <a16:creationId xmlns:a16="http://schemas.microsoft.com/office/drawing/2014/main" id="{9B811879-97F1-4FF5-9E31-8124F4D3D914}"/>
              </a:ext>
            </a:extLst>
          </p:cNvPr>
          <p:cNvSpPr>
            <a:spLocks noGrp="1"/>
          </p:cNvSpPr>
          <p:nvPr/>
        </p:nvSpPr>
        <p:spPr>
          <a:xfrm>
            <a:off x="1371600" y="2295525"/>
            <a:ext cx="1600200" cy="390525"/>
          </a:xfrm>
          <a:prstGeom prst="rect">
            <a:avLst/>
          </a:prstGeom>
          <a:noFill/>
          <a:ln w="0">
            <a:noFill/>
          </a:ln>
        </p:spPr>
        <p:txBody>
          <a:bodyPr anchor="t">
            <a:noAutofit/>
          </a:bodyPr>
          <a:lstStyle/>
          <a:p>
            <a:pPr>
              <a:defRPr sz="1875" b="1">
                <a:solidFill>
                  <a:srgbClr val="2F75B5"/>
                </a:solidFill>
                <a:latin typeface="Calibri"/>
                <a:ea typeface="Calibri"/>
                <a:cs typeface="Calibri"/>
              </a:defRPr>
            </a:pPr>
            <a:r>
              <a:rPr sz="1875" b="1" dirty="0">
                <a:solidFill>
                  <a:srgbClr val="2F75B5"/>
                </a:solidFill>
                <a:latin typeface="Calibri"/>
                <a:ea typeface="Calibri"/>
                <a:cs typeface="Calibri"/>
              </a:rPr>
              <a:t>ISSUE</a:t>
            </a:r>
          </a:p>
        </p:txBody>
      </p:sp>
      <p:sp>
        <p:nvSpPr>
          <p:cNvPr id="8" name="ISSUE rule">
            <a:extLst>
              <a:ext uri="{FF2B5EF4-FFF2-40B4-BE49-F238E27FC236}">
                <a16:creationId xmlns:a16="http://schemas.microsoft.com/office/drawing/2014/main" id="{58D8D5AC-F4C2-40F7-9796-825FC37DC06C}"/>
              </a:ext>
            </a:extLst>
          </p:cNvPr>
          <p:cNvSpPr>
            <a:spLocks noGrp="1"/>
          </p:cNvSpPr>
          <p:nvPr/>
        </p:nvSpPr>
        <p:spPr>
          <a:xfrm>
            <a:off x="857250" y="2876550"/>
            <a:ext cx="2057400" cy="0"/>
          </a:xfrm>
          <a:prstGeom prst="line">
            <a:avLst/>
          </a:prstGeom>
          <a:noFill/>
          <a:ln w="19050">
            <a:solidFill>
              <a:srgbClr val="2F75B5"/>
            </a:solidFill>
          </a:ln>
        </p:spPr>
        <p:txBody>
          <a:bodyPr/>
          <a:lstStyle/>
          <a:p>
            <a:endParaRPr lang="en-US"/>
          </a:p>
        </p:txBody>
      </p:sp>
      <p:sp>
        <p:nvSpPr>
          <p:cNvPr id="9" name="ISSUE detail">
            <a:extLst>
              <a:ext uri="{FF2B5EF4-FFF2-40B4-BE49-F238E27FC236}">
                <a16:creationId xmlns:a16="http://schemas.microsoft.com/office/drawing/2014/main" id="{46D3E686-FBF5-47D2-8691-78F01199CB13}"/>
              </a:ext>
            </a:extLst>
          </p:cNvPr>
          <p:cNvSpPr>
            <a:spLocks noGrp="1"/>
          </p:cNvSpPr>
          <p:nvPr/>
        </p:nvSpPr>
        <p:spPr>
          <a:xfrm>
            <a:off x="857250"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Acceptance criteria</a:t>
            </a:r>
          </a:p>
        </p:txBody>
      </p:sp>
      <p:sp>
        <p:nvSpPr>
          <p:cNvPr id="10" name="DESIGN card">
            <a:extLst>
              <a:ext uri="{FF2B5EF4-FFF2-40B4-BE49-F238E27FC236}">
                <a16:creationId xmlns:a16="http://schemas.microsoft.com/office/drawing/2014/main" id="{B58402FC-E800-46E4-AE7E-BF7DF5ADB20F}"/>
              </a:ext>
            </a:extLst>
          </p:cNvPr>
          <p:cNvSpPr>
            <a:spLocks noGrp="1"/>
          </p:cNvSpPr>
          <p:nvPr/>
        </p:nvSpPr>
        <p:spPr>
          <a:xfrm>
            <a:off x="3400425" y="2152650"/>
            <a:ext cx="2400300" cy="1390650"/>
          </a:xfrm>
          <a:prstGeom prst="roundRect">
            <a:avLst>
              <a:gd name="adj" fmla="val 5479"/>
            </a:avLst>
          </a:prstGeom>
          <a:solidFill>
            <a:srgbClr val="FFF5DB"/>
          </a:solidFill>
          <a:ln w="19050">
            <a:solidFill>
              <a:srgbClr val="A77308"/>
            </a:solidFill>
          </a:ln>
        </p:spPr>
        <p:txBody>
          <a:bodyPr/>
          <a:lstStyle/>
          <a:p>
            <a:endParaRPr lang="en-US"/>
          </a:p>
        </p:txBody>
      </p:sp>
      <p:sp>
        <p:nvSpPr>
          <p:cNvPr id="11" name="DESIGN number">
            <a:extLst>
              <a:ext uri="{FF2B5EF4-FFF2-40B4-BE49-F238E27FC236}">
                <a16:creationId xmlns:a16="http://schemas.microsoft.com/office/drawing/2014/main" id="{5FF15059-A7DD-44F8-9AC6-5C41289EC191}"/>
              </a:ext>
            </a:extLst>
          </p:cNvPr>
          <p:cNvSpPr>
            <a:spLocks noGrp="1"/>
          </p:cNvSpPr>
          <p:nvPr/>
        </p:nvSpPr>
        <p:spPr>
          <a:xfrm>
            <a:off x="3571875" y="2324100"/>
            <a:ext cx="400050" cy="400050"/>
          </a:xfrm>
          <a:prstGeom prst="roundRect">
            <a:avLst>
              <a:gd name="adj" fmla="val 19048"/>
            </a:avLst>
          </a:prstGeom>
          <a:solidFill>
            <a:srgbClr val="A77308"/>
          </a:solidFill>
          <a:ln w="9525">
            <a:solidFill>
              <a:srgbClr val="A77308"/>
            </a:solidFill>
          </a:ln>
        </p:spPr>
        <p:txBody>
          <a:bodyPr/>
          <a:lstStyle/>
          <a:p>
            <a:endParaRPr lang="en-US"/>
          </a:p>
        </p:txBody>
      </p:sp>
      <p:sp>
        <p:nvSpPr>
          <p:cNvPr id="12" name="DESIGN number text">
            <a:extLst>
              <a:ext uri="{FF2B5EF4-FFF2-40B4-BE49-F238E27FC236}">
                <a16:creationId xmlns:a16="http://schemas.microsoft.com/office/drawing/2014/main" id="{12851CCA-4DD8-41A3-9C36-5DF19B4CC40E}"/>
              </a:ext>
            </a:extLst>
          </p:cNvPr>
          <p:cNvSpPr>
            <a:spLocks noGrp="1"/>
          </p:cNvSpPr>
          <p:nvPr/>
        </p:nvSpPr>
        <p:spPr>
          <a:xfrm>
            <a:off x="3571875"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2</a:t>
            </a:r>
          </a:p>
        </p:txBody>
      </p:sp>
      <p:sp>
        <p:nvSpPr>
          <p:cNvPr id="13" name="DESIGN heading">
            <a:extLst>
              <a:ext uri="{FF2B5EF4-FFF2-40B4-BE49-F238E27FC236}">
                <a16:creationId xmlns:a16="http://schemas.microsoft.com/office/drawing/2014/main" id="{D52CC197-6939-451A-911D-277758524C95}"/>
              </a:ext>
            </a:extLst>
          </p:cNvPr>
          <p:cNvSpPr>
            <a:spLocks noGrp="1"/>
          </p:cNvSpPr>
          <p:nvPr/>
        </p:nvSpPr>
        <p:spPr>
          <a:xfrm>
            <a:off x="4086225" y="2295525"/>
            <a:ext cx="1600200" cy="390525"/>
          </a:xfrm>
          <a:prstGeom prst="rect">
            <a:avLst/>
          </a:prstGeom>
          <a:noFill/>
          <a:ln w="0">
            <a:noFill/>
          </a:ln>
        </p:spPr>
        <p:txBody>
          <a:bodyPr anchor="t">
            <a:noAutofit/>
          </a:bodyPr>
          <a:lstStyle/>
          <a:p>
            <a:pPr>
              <a:defRPr sz="1875" b="1">
                <a:solidFill>
                  <a:srgbClr val="A77308"/>
                </a:solidFill>
                <a:latin typeface="Calibri"/>
                <a:ea typeface="Calibri"/>
                <a:cs typeface="Calibri"/>
              </a:defRPr>
            </a:pPr>
            <a:r>
              <a:rPr sz="1875" b="1">
                <a:solidFill>
                  <a:srgbClr val="A77308"/>
                </a:solidFill>
                <a:latin typeface="Calibri"/>
                <a:ea typeface="Calibri"/>
                <a:cs typeface="Calibri"/>
              </a:rPr>
              <a:t>DESIGN</a:t>
            </a:r>
          </a:p>
        </p:txBody>
      </p:sp>
      <p:sp>
        <p:nvSpPr>
          <p:cNvPr id="14" name="DESIGN rule">
            <a:extLst>
              <a:ext uri="{FF2B5EF4-FFF2-40B4-BE49-F238E27FC236}">
                <a16:creationId xmlns:a16="http://schemas.microsoft.com/office/drawing/2014/main" id="{38A3447B-1B8B-4311-9175-07762B108040}"/>
              </a:ext>
            </a:extLst>
          </p:cNvPr>
          <p:cNvSpPr>
            <a:spLocks noGrp="1"/>
          </p:cNvSpPr>
          <p:nvPr/>
        </p:nvSpPr>
        <p:spPr>
          <a:xfrm>
            <a:off x="3571875" y="2876550"/>
            <a:ext cx="2057400" cy="0"/>
          </a:xfrm>
          <a:prstGeom prst="line">
            <a:avLst/>
          </a:prstGeom>
          <a:noFill/>
          <a:ln w="19050">
            <a:solidFill>
              <a:srgbClr val="A77308"/>
            </a:solidFill>
          </a:ln>
        </p:spPr>
        <p:txBody>
          <a:bodyPr/>
          <a:lstStyle/>
          <a:p>
            <a:endParaRPr lang="en-US"/>
          </a:p>
        </p:txBody>
      </p:sp>
      <p:sp>
        <p:nvSpPr>
          <p:cNvPr id="15" name="DESIGN detail">
            <a:extLst>
              <a:ext uri="{FF2B5EF4-FFF2-40B4-BE49-F238E27FC236}">
                <a16:creationId xmlns:a16="http://schemas.microsoft.com/office/drawing/2014/main" id="{65A467E8-6ED8-42E2-B09F-657A40967027}"/>
              </a:ext>
            </a:extLst>
          </p:cNvPr>
          <p:cNvSpPr>
            <a:spLocks noGrp="1"/>
          </p:cNvSpPr>
          <p:nvPr/>
        </p:nvSpPr>
        <p:spPr>
          <a:xfrm>
            <a:off x="3571875"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Impact + diagrams</a:t>
            </a:r>
          </a:p>
        </p:txBody>
      </p:sp>
      <p:sp>
        <p:nvSpPr>
          <p:cNvPr id="16" name="CHANGE card">
            <a:extLst>
              <a:ext uri="{FF2B5EF4-FFF2-40B4-BE49-F238E27FC236}">
                <a16:creationId xmlns:a16="http://schemas.microsoft.com/office/drawing/2014/main" id="{4270644F-1E02-46BF-9A7E-96CAC4A2F75A}"/>
              </a:ext>
            </a:extLst>
          </p:cNvPr>
          <p:cNvSpPr>
            <a:spLocks noGrp="1"/>
          </p:cNvSpPr>
          <p:nvPr/>
        </p:nvSpPr>
        <p:spPr>
          <a:xfrm>
            <a:off x="6115050" y="2152650"/>
            <a:ext cx="2400300" cy="1390650"/>
          </a:xfrm>
          <a:prstGeom prst="roundRect">
            <a:avLst>
              <a:gd name="adj" fmla="val 5479"/>
            </a:avLst>
          </a:prstGeom>
          <a:solidFill>
            <a:srgbClr val="EAF0F7"/>
          </a:solidFill>
          <a:ln w="19050">
            <a:solidFill>
              <a:srgbClr val="315E8C"/>
            </a:solidFill>
          </a:ln>
        </p:spPr>
        <p:txBody>
          <a:bodyPr/>
          <a:lstStyle/>
          <a:p>
            <a:endParaRPr lang="en-US"/>
          </a:p>
        </p:txBody>
      </p:sp>
      <p:sp>
        <p:nvSpPr>
          <p:cNvPr id="17" name="CHANGE number">
            <a:extLst>
              <a:ext uri="{FF2B5EF4-FFF2-40B4-BE49-F238E27FC236}">
                <a16:creationId xmlns:a16="http://schemas.microsoft.com/office/drawing/2014/main" id="{3D820BE2-D0E3-457A-9E33-3C3BC69F26B7}"/>
              </a:ext>
            </a:extLst>
          </p:cNvPr>
          <p:cNvSpPr>
            <a:spLocks noGrp="1"/>
          </p:cNvSpPr>
          <p:nvPr/>
        </p:nvSpPr>
        <p:spPr>
          <a:xfrm>
            <a:off x="6286500" y="2324100"/>
            <a:ext cx="400050" cy="400050"/>
          </a:xfrm>
          <a:prstGeom prst="roundRect">
            <a:avLst>
              <a:gd name="adj" fmla="val 19048"/>
            </a:avLst>
          </a:prstGeom>
          <a:solidFill>
            <a:srgbClr val="315E8C"/>
          </a:solidFill>
          <a:ln w="9525">
            <a:solidFill>
              <a:srgbClr val="315E8C"/>
            </a:solidFill>
          </a:ln>
        </p:spPr>
        <p:txBody>
          <a:bodyPr/>
          <a:lstStyle/>
          <a:p>
            <a:endParaRPr lang="en-US"/>
          </a:p>
        </p:txBody>
      </p:sp>
      <p:sp>
        <p:nvSpPr>
          <p:cNvPr id="18" name="CHANGE number text">
            <a:extLst>
              <a:ext uri="{FF2B5EF4-FFF2-40B4-BE49-F238E27FC236}">
                <a16:creationId xmlns:a16="http://schemas.microsoft.com/office/drawing/2014/main" id="{16BB2F0D-E171-467F-9B1D-123987E0511A}"/>
              </a:ext>
            </a:extLst>
          </p:cNvPr>
          <p:cNvSpPr>
            <a:spLocks noGrp="1"/>
          </p:cNvSpPr>
          <p:nvPr/>
        </p:nvSpPr>
        <p:spPr>
          <a:xfrm>
            <a:off x="6286500"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3</a:t>
            </a:r>
          </a:p>
        </p:txBody>
      </p:sp>
      <p:sp>
        <p:nvSpPr>
          <p:cNvPr id="19" name="CHANGE heading">
            <a:extLst>
              <a:ext uri="{FF2B5EF4-FFF2-40B4-BE49-F238E27FC236}">
                <a16:creationId xmlns:a16="http://schemas.microsoft.com/office/drawing/2014/main" id="{CE2592B1-9198-4451-A01D-4F7CE80E62BA}"/>
              </a:ext>
            </a:extLst>
          </p:cNvPr>
          <p:cNvSpPr>
            <a:spLocks noGrp="1"/>
          </p:cNvSpPr>
          <p:nvPr/>
        </p:nvSpPr>
        <p:spPr>
          <a:xfrm>
            <a:off x="6800850" y="2295525"/>
            <a:ext cx="1600200" cy="390525"/>
          </a:xfrm>
          <a:prstGeom prst="rect">
            <a:avLst/>
          </a:prstGeom>
          <a:noFill/>
          <a:ln w="0">
            <a:noFill/>
          </a:ln>
        </p:spPr>
        <p:txBody>
          <a:bodyPr anchor="t">
            <a:noAutofit/>
          </a:bodyPr>
          <a:lstStyle/>
          <a:p>
            <a:pPr>
              <a:defRPr sz="1875" b="1">
                <a:solidFill>
                  <a:srgbClr val="315E8C"/>
                </a:solidFill>
                <a:latin typeface="Calibri"/>
                <a:ea typeface="Calibri"/>
                <a:cs typeface="Calibri"/>
              </a:defRPr>
            </a:pPr>
            <a:r>
              <a:rPr sz="1875" b="1">
                <a:solidFill>
                  <a:srgbClr val="315E8C"/>
                </a:solidFill>
                <a:latin typeface="Calibri"/>
                <a:ea typeface="Calibri"/>
                <a:cs typeface="Calibri"/>
              </a:rPr>
              <a:t>CHANGE</a:t>
            </a:r>
          </a:p>
        </p:txBody>
      </p:sp>
      <p:sp>
        <p:nvSpPr>
          <p:cNvPr id="20" name="CHANGE rule">
            <a:extLst>
              <a:ext uri="{FF2B5EF4-FFF2-40B4-BE49-F238E27FC236}">
                <a16:creationId xmlns:a16="http://schemas.microsoft.com/office/drawing/2014/main" id="{732F1518-E66D-4905-AA8C-7631949BD547}"/>
              </a:ext>
            </a:extLst>
          </p:cNvPr>
          <p:cNvSpPr>
            <a:spLocks noGrp="1"/>
          </p:cNvSpPr>
          <p:nvPr/>
        </p:nvSpPr>
        <p:spPr>
          <a:xfrm>
            <a:off x="6286500" y="2876550"/>
            <a:ext cx="2057400" cy="0"/>
          </a:xfrm>
          <a:prstGeom prst="line">
            <a:avLst/>
          </a:prstGeom>
          <a:noFill/>
          <a:ln w="19050">
            <a:solidFill>
              <a:srgbClr val="315E8C"/>
            </a:solidFill>
          </a:ln>
        </p:spPr>
        <p:txBody>
          <a:bodyPr/>
          <a:lstStyle/>
          <a:p>
            <a:endParaRPr lang="en-US"/>
          </a:p>
        </p:txBody>
      </p:sp>
      <p:sp>
        <p:nvSpPr>
          <p:cNvPr id="21" name="CHANGE detail">
            <a:extLst>
              <a:ext uri="{FF2B5EF4-FFF2-40B4-BE49-F238E27FC236}">
                <a16:creationId xmlns:a16="http://schemas.microsoft.com/office/drawing/2014/main" id="{1FD07336-99EE-477A-9904-160733A352EA}"/>
              </a:ext>
            </a:extLst>
          </p:cNvPr>
          <p:cNvSpPr>
            <a:spLocks noGrp="1"/>
          </p:cNvSpPr>
          <p:nvPr/>
        </p:nvSpPr>
        <p:spPr>
          <a:xfrm>
            <a:off x="6286500"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Focused code + tests</a:t>
            </a:r>
          </a:p>
        </p:txBody>
      </p:sp>
      <p:sp>
        <p:nvSpPr>
          <p:cNvPr id="22" name="EVIDENCE card">
            <a:extLst>
              <a:ext uri="{FF2B5EF4-FFF2-40B4-BE49-F238E27FC236}">
                <a16:creationId xmlns:a16="http://schemas.microsoft.com/office/drawing/2014/main" id="{9118035E-59A1-49F5-8ADB-286DCC48D0A0}"/>
              </a:ext>
            </a:extLst>
          </p:cNvPr>
          <p:cNvSpPr>
            <a:spLocks noGrp="1"/>
          </p:cNvSpPr>
          <p:nvPr/>
        </p:nvSpPr>
        <p:spPr>
          <a:xfrm>
            <a:off x="8829675" y="2152650"/>
            <a:ext cx="2400300" cy="1390650"/>
          </a:xfrm>
          <a:prstGeom prst="roundRect">
            <a:avLst>
              <a:gd name="adj" fmla="val 5479"/>
            </a:avLst>
          </a:prstGeom>
          <a:solidFill>
            <a:srgbClr val="EAF5EC"/>
          </a:solidFill>
          <a:ln w="19050">
            <a:solidFill>
              <a:srgbClr val="2E7D32"/>
            </a:solidFill>
          </a:ln>
        </p:spPr>
        <p:txBody>
          <a:bodyPr/>
          <a:lstStyle/>
          <a:p>
            <a:endParaRPr lang="en-US"/>
          </a:p>
        </p:txBody>
      </p:sp>
      <p:sp>
        <p:nvSpPr>
          <p:cNvPr id="23" name="EVIDENCE number">
            <a:extLst>
              <a:ext uri="{FF2B5EF4-FFF2-40B4-BE49-F238E27FC236}">
                <a16:creationId xmlns:a16="http://schemas.microsoft.com/office/drawing/2014/main" id="{4C6BF0AC-D4C4-4B04-8346-AC0F3978083A}"/>
              </a:ext>
            </a:extLst>
          </p:cNvPr>
          <p:cNvSpPr>
            <a:spLocks noGrp="1"/>
          </p:cNvSpPr>
          <p:nvPr/>
        </p:nvSpPr>
        <p:spPr>
          <a:xfrm>
            <a:off x="9001125" y="2324100"/>
            <a:ext cx="400050" cy="400050"/>
          </a:xfrm>
          <a:prstGeom prst="roundRect">
            <a:avLst>
              <a:gd name="adj" fmla="val 19048"/>
            </a:avLst>
          </a:prstGeom>
          <a:solidFill>
            <a:srgbClr val="2E7D32"/>
          </a:solidFill>
          <a:ln w="9525">
            <a:solidFill>
              <a:srgbClr val="2E7D32"/>
            </a:solidFill>
          </a:ln>
        </p:spPr>
        <p:txBody>
          <a:bodyPr/>
          <a:lstStyle/>
          <a:p>
            <a:endParaRPr lang="en-US"/>
          </a:p>
        </p:txBody>
      </p:sp>
      <p:sp>
        <p:nvSpPr>
          <p:cNvPr id="24" name="EVIDENCE number text">
            <a:extLst>
              <a:ext uri="{FF2B5EF4-FFF2-40B4-BE49-F238E27FC236}">
                <a16:creationId xmlns:a16="http://schemas.microsoft.com/office/drawing/2014/main" id="{45DDE722-44B6-4CB8-9226-EDA6922D7608}"/>
              </a:ext>
            </a:extLst>
          </p:cNvPr>
          <p:cNvSpPr>
            <a:spLocks noGrp="1"/>
          </p:cNvSpPr>
          <p:nvPr/>
        </p:nvSpPr>
        <p:spPr>
          <a:xfrm>
            <a:off x="9001125" y="2362200"/>
            <a:ext cx="400050" cy="323850"/>
          </a:xfrm>
          <a:prstGeom prst="rect">
            <a:avLst/>
          </a:prstGeom>
          <a:noFill/>
          <a:ln w="0">
            <a:noFill/>
          </a:ln>
        </p:spPr>
        <p:txBody>
          <a:bodyPr anchor="t">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4</a:t>
            </a:r>
          </a:p>
        </p:txBody>
      </p:sp>
      <p:sp>
        <p:nvSpPr>
          <p:cNvPr id="25" name="EVIDENCE heading">
            <a:extLst>
              <a:ext uri="{FF2B5EF4-FFF2-40B4-BE49-F238E27FC236}">
                <a16:creationId xmlns:a16="http://schemas.microsoft.com/office/drawing/2014/main" id="{3C319157-53A6-4B61-83B6-4C16ED9A1BE2}"/>
              </a:ext>
            </a:extLst>
          </p:cNvPr>
          <p:cNvSpPr>
            <a:spLocks noGrp="1"/>
          </p:cNvSpPr>
          <p:nvPr/>
        </p:nvSpPr>
        <p:spPr>
          <a:xfrm>
            <a:off x="9515475" y="2295525"/>
            <a:ext cx="1600200" cy="390525"/>
          </a:xfrm>
          <a:prstGeom prst="rect">
            <a:avLst/>
          </a:prstGeom>
          <a:noFill/>
          <a:ln w="0">
            <a:noFill/>
          </a:ln>
        </p:spPr>
        <p:txBody>
          <a:bodyPr anchor="t">
            <a:noAutofit/>
          </a:bodyPr>
          <a:lstStyle/>
          <a:p>
            <a:pPr>
              <a:defRPr sz="1650" b="1">
                <a:solidFill>
                  <a:srgbClr val="2E7D32"/>
                </a:solidFill>
                <a:latin typeface="Calibri"/>
                <a:ea typeface="Calibri"/>
                <a:cs typeface="Calibri"/>
              </a:defRPr>
            </a:pPr>
            <a:r>
              <a:rPr sz="1650" b="1">
                <a:solidFill>
                  <a:srgbClr val="2E7D32"/>
                </a:solidFill>
                <a:latin typeface="Calibri"/>
                <a:ea typeface="Calibri"/>
                <a:cs typeface="Calibri"/>
              </a:rPr>
              <a:t>EVIDENCE</a:t>
            </a:r>
          </a:p>
        </p:txBody>
      </p:sp>
      <p:sp>
        <p:nvSpPr>
          <p:cNvPr id="26" name="EVIDENCE rule">
            <a:extLst>
              <a:ext uri="{FF2B5EF4-FFF2-40B4-BE49-F238E27FC236}">
                <a16:creationId xmlns:a16="http://schemas.microsoft.com/office/drawing/2014/main" id="{D34419F3-6E37-43C4-A151-6BABA3E3E67A}"/>
              </a:ext>
            </a:extLst>
          </p:cNvPr>
          <p:cNvSpPr>
            <a:spLocks noGrp="1"/>
          </p:cNvSpPr>
          <p:nvPr/>
        </p:nvSpPr>
        <p:spPr>
          <a:xfrm>
            <a:off x="9001125" y="2876550"/>
            <a:ext cx="2057400" cy="0"/>
          </a:xfrm>
          <a:prstGeom prst="line">
            <a:avLst/>
          </a:prstGeom>
          <a:noFill/>
          <a:ln w="19050">
            <a:solidFill>
              <a:srgbClr val="2E7D32"/>
            </a:solidFill>
          </a:ln>
        </p:spPr>
        <p:txBody>
          <a:bodyPr/>
          <a:lstStyle/>
          <a:p>
            <a:endParaRPr lang="en-US"/>
          </a:p>
        </p:txBody>
      </p:sp>
      <p:sp>
        <p:nvSpPr>
          <p:cNvPr id="27" name="EVIDENCE detail">
            <a:extLst>
              <a:ext uri="{FF2B5EF4-FFF2-40B4-BE49-F238E27FC236}">
                <a16:creationId xmlns:a16="http://schemas.microsoft.com/office/drawing/2014/main" id="{143E6457-CC9E-4C88-89A9-0987090F3CA5}"/>
              </a:ext>
            </a:extLst>
          </p:cNvPr>
          <p:cNvSpPr>
            <a:spLocks noGrp="1"/>
          </p:cNvSpPr>
          <p:nvPr/>
        </p:nvSpPr>
        <p:spPr>
          <a:xfrm>
            <a:off x="9001125" y="3028950"/>
            <a:ext cx="2057400" cy="457200"/>
          </a:xfrm>
          <a:prstGeom prst="rect">
            <a:avLst/>
          </a:prstGeom>
          <a:noFill/>
          <a:ln w="0">
            <a:noFill/>
          </a:ln>
        </p:spPr>
        <p:txBody>
          <a:bodyPr anchor="t">
            <a:noAutofit/>
          </a:bodyPr>
          <a:lstStyle/>
          <a:p>
            <a:pPr algn="ctr">
              <a:defRPr sz="1500">
                <a:solidFill>
                  <a:srgbClr val="222222"/>
                </a:solidFill>
                <a:latin typeface="Calibri"/>
                <a:ea typeface="Calibri"/>
                <a:cs typeface="Calibri"/>
              </a:defRPr>
            </a:pPr>
            <a:r>
              <a:rPr sz="1500">
                <a:solidFill>
                  <a:srgbClr val="222222"/>
                </a:solidFill>
                <a:latin typeface="Calibri"/>
                <a:ea typeface="Calibri"/>
                <a:cs typeface="Calibri"/>
              </a:rPr>
              <a:t>CI + peer review</a:t>
            </a:r>
          </a:p>
        </p:txBody>
      </p:sp>
      <p:sp>
        <p:nvSpPr>
          <p:cNvPr id="28" name="Arrow 0">
            <a:extLst>
              <a:ext uri="{FF2B5EF4-FFF2-40B4-BE49-F238E27FC236}">
                <a16:creationId xmlns:a16="http://schemas.microsoft.com/office/drawing/2014/main" id="{055592A2-00B8-456E-92A0-96059C1224E9}"/>
              </a:ext>
            </a:extLst>
          </p:cNvPr>
          <p:cNvSpPr>
            <a:spLocks noGrp="1"/>
          </p:cNvSpPr>
          <p:nvPr/>
        </p:nvSpPr>
        <p:spPr>
          <a:xfrm>
            <a:off x="3038475"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29" name="Arrow 1">
            <a:extLst>
              <a:ext uri="{FF2B5EF4-FFF2-40B4-BE49-F238E27FC236}">
                <a16:creationId xmlns:a16="http://schemas.microsoft.com/office/drawing/2014/main" id="{7AB93A41-A1D1-4D76-BAA8-721CD9FFAC19}"/>
              </a:ext>
            </a:extLst>
          </p:cNvPr>
          <p:cNvSpPr>
            <a:spLocks noGrp="1"/>
          </p:cNvSpPr>
          <p:nvPr/>
        </p:nvSpPr>
        <p:spPr>
          <a:xfrm>
            <a:off x="5753100"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30" name="Arrow 2">
            <a:extLst>
              <a:ext uri="{FF2B5EF4-FFF2-40B4-BE49-F238E27FC236}">
                <a16:creationId xmlns:a16="http://schemas.microsoft.com/office/drawing/2014/main" id="{F91D8034-2BA8-4358-900E-9E0BD5AE2554}"/>
              </a:ext>
            </a:extLst>
          </p:cNvPr>
          <p:cNvSpPr>
            <a:spLocks noGrp="1"/>
          </p:cNvSpPr>
          <p:nvPr/>
        </p:nvSpPr>
        <p:spPr>
          <a:xfrm>
            <a:off x="8467725" y="2562225"/>
            <a:ext cx="419100" cy="447675"/>
          </a:xfrm>
          <a:prstGeom prst="rect">
            <a:avLst/>
          </a:prstGeom>
          <a:noFill/>
          <a:ln w="0">
            <a:noFill/>
          </a:ln>
        </p:spPr>
        <p:txBody>
          <a:bodyPr anchor="t">
            <a:noAutofit/>
          </a:bodyPr>
          <a:lstStyle/>
          <a:p>
            <a:pPr algn="ctr">
              <a:defRPr sz="2550" b="1">
                <a:solidFill>
                  <a:srgbClr val="AAB4BD"/>
                </a:solidFill>
                <a:latin typeface="Calibri"/>
                <a:ea typeface="Calibri"/>
                <a:cs typeface="Calibri"/>
              </a:defRPr>
            </a:pPr>
            <a:r>
              <a:rPr sz="2550" b="1">
                <a:solidFill>
                  <a:srgbClr val="AAB4BD"/>
                </a:solidFill>
                <a:latin typeface="Calibri"/>
                <a:ea typeface="Calibri"/>
                <a:cs typeface="Calibri"/>
              </a:rPr>
              <a:t>→</a:t>
            </a:r>
          </a:p>
        </p:txBody>
      </p:sp>
      <p:sp>
        <p:nvSpPr>
          <p:cNvPr id="31" name="PR explanation">
            <a:extLst>
              <a:ext uri="{FF2B5EF4-FFF2-40B4-BE49-F238E27FC236}">
                <a16:creationId xmlns:a16="http://schemas.microsoft.com/office/drawing/2014/main" id="{AF61F2EF-60F7-4CE3-8373-AF325DDF03CE}"/>
              </a:ext>
            </a:extLst>
          </p:cNvPr>
          <p:cNvSpPr>
            <a:spLocks noGrp="1"/>
          </p:cNvSpPr>
          <p:nvPr/>
        </p:nvSpPr>
        <p:spPr>
          <a:xfrm>
            <a:off x="1447800" y="3981450"/>
            <a:ext cx="9296400" cy="819150"/>
          </a:xfrm>
          <a:prstGeom prst="roundRect">
            <a:avLst>
              <a:gd name="adj" fmla="val 9302"/>
            </a:avLst>
          </a:prstGeom>
          <a:solidFill>
            <a:srgbClr val="F6F8FA"/>
          </a:solidFill>
          <a:ln w="19050">
            <a:solidFill>
              <a:srgbClr val="17365D"/>
            </a:solidFill>
          </a:ln>
        </p:spPr>
        <p:txBody>
          <a:bodyPr/>
          <a:lstStyle/>
          <a:p>
            <a:endParaRPr lang="en-US"/>
          </a:p>
        </p:txBody>
      </p:sp>
      <p:sp>
        <p:nvSpPr>
          <p:cNvPr id="32" name="PR explanation text">
            <a:extLst>
              <a:ext uri="{FF2B5EF4-FFF2-40B4-BE49-F238E27FC236}">
                <a16:creationId xmlns:a16="http://schemas.microsoft.com/office/drawing/2014/main" id="{81EC8890-E2A6-4134-B377-4A2068B4D46C}"/>
              </a:ext>
            </a:extLst>
          </p:cNvPr>
          <p:cNvSpPr>
            <a:spLocks noGrp="1"/>
          </p:cNvSpPr>
          <p:nvPr/>
        </p:nvSpPr>
        <p:spPr>
          <a:xfrm>
            <a:off x="1733550" y="4210050"/>
            <a:ext cx="8724900" cy="419100"/>
          </a:xfrm>
          <a:prstGeom prst="rect">
            <a:avLst/>
          </a:prstGeom>
          <a:noFill/>
          <a:ln w="0">
            <a:noFill/>
          </a:ln>
        </p:spPr>
        <p:txBody>
          <a:bodyPr anchor="t">
            <a:noAutofit/>
          </a:bodyPr>
          <a:lstStyle/>
          <a:p>
            <a:pPr algn="ctr">
              <a:defRPr sz="2025" b="1">
                <a:solidFill>
                  <a:srgbClr val="17365D"/>
                </a:solidFill>
                <a:latin typeface="Calibri"/>
                <a:ea typeface="Calibri"/>
                <a:cs typeface="Calibri"/>
              </a:defRPr>
            </a:pPr>
            <a:r>
              <a:rPr sz="2025" b="1">
                <a:solidFill>
                  <a:srgbClr val="17365D"/>
                </a:solidFill>
                <a:latin typeface="Calibri"/>
                <a:ea typeface="Calibri"/>
                <a:cs typeface="Calibri"/>
              </a:rPr>
              <a:t>PR title + description:  WHAT changed?  WHY is it needed?</a:t>
            </a:r>
          </a:p>
        </p:txBody>
      </p:sp>
      <p:sp>
        <p:nvSpPr>
          <p:cNvPr id="33" name="Merge gate rule">
            <a:extLst>
              <a:ext uri="{FF2B5EF4-FFF2-40B4-BE49-F238E27FC236}">
                <a16:creationId xmlns:a16="http://schemas.microsoft.com/office/drawing/2014/main" id="{74CD3E14-FF61-48BA-8AF5-B6901B6A15EC}"/>
              </a:ext>
            </a:extLst>
          </p:cNvPr>
          <p:cNvSpPr>
            <a:spLocks noGrp="1"/>
          </p:cNvSpPr>
          <p:nvPr/>
        </p:nvSpPr>
        <p:spPr>
          <a:xfrm>
            <a:off x="1371600" y="5219700"/>
            <a:ext cx="9448800" cy="0"/>
          </a:xfrm>
          <a:prstGeom prst="line">
            <a:avLst/>
          </a:prstGeom>
          <a:noFill/>
          <a:ln w="19050">
            <a:solidFill>
              <a:srgbClr val="B6BEC6"/>
            </a:solidFill>
          </a:ln>
        </p:spPr>
        <p:txBody>
          <a:bodyPr/>
          <a:lstStyle/>
          <a:p>
            <a:endParaRPr lang="en-US"/>
          </a:p>
        </p:txBody>
      </p:sp>
      <p:sp>
        <p:nvSpPr>
          <p:cNvPr id="34" name="Merge gate">
            <a:extLst>
              <a:ext uri="{FF2B5EF4-FFF2-40B4-BE49-F238E27FC236}">
                <a16:creationId xmlns:a16="http://schemas.microsoft.com/office/drawing/2014/main" id="{FD8252E4-9CB8-498B-8C2A-A596CCFE3429}"/>
              </a:ext>
            </a:extLst>
          </p:cNvPr>
          <p:cNvSpPr>
            <a:spLocks noGrp="1"/>
          </p:cNvSpPr>
          <p:nvPr/>
        </p:nvSpPr>
        <p:spPr>
          <a:xfrm>
            <a:off x="742950" y="5486400"/>
            <a:ext cx="1952625" cy="333375"/>
          </a:xfrm>
          <a:prstGeom prst="rect">
            <a:avLst/>
          </a:prstGeom>
          <a:noFill/>
          <a:ln w="0">
            <a:noFill/>
          </a:ln>
        </p:spPr>
        <p:txBody>
          <a:bodyPr anchor="t">
            <a:noAutofit/>
          </a:bodyPr>
          <a:lstStyle/>
          <a:p>
            <a:pPr algn="r">
              <a:defRPr sz="1425" b="1">
                <a:solidFill>
                  <a:srgbClr val="6B7785"/>
                </a:solidFill>
                <a:latin typeface="Calibri"/>
                <a:ea typeface="Calibri"/>
                <a:cs typeface="Calibri"/>
              </a:defRPr>
            </a:pPr>
            <a:r>
              <a:rPr sz="1425" b="1">
                <a:solidFill>
                  <a:srgbClr val="6B7785"/>
                </a:solidFill>
                <a:latin typeface="Calibri"/>
                <a:ea typeface="Calibri"/>
                <a:cs typeface="Calibri"/>
              </a:rPr>
              <a:t>MERGE GATE</a:t>
            </a:r>
          </a:p>
        </p:txBody>
      </p:sp>
      <p:sp>
        <p:nvSpPr>
          <p:cNvPr id="35" name="Merge gate evidence">
            <a:extLst>
              <a:ext uri="{FF2B5EF4-FFF2-40B4-BE49-F238E27FC236}">
                <a16:creationId xmlns:a16="http://schemas.microsoft.com/office/drawing/2014/main" id="{473FDB48-8F47-441F-A0AD-201C72B72609}"/>
              </a:ext>
            </a:extLst>
          </p:cNvPr>
          <p:cNvSpPr>
            <a:spLocks noGrp="1"/>
          </p:cNvSpPr>
          <p:nvPr/>
        </p:nvSpPr>
        <p:spPr>
          <a:xfrm>
            <a:off x="2914650" y="5410200"/>
            <a:ext cx="8496300" cy="495300"/>
          </a:xfrm>
          <a:prstGeom prst="rect">
            <a:avLst/>
          </a:prstGeom>
          <a:noFill/>
          <a:ln w="0">
            <a:noFill/>
          </a:ln>
        </p:spPr>
        <p:txBody>
          <a:bodyPr anchor="t">
            <a:noAutofit/>
          </a:bodyPr>
          <a:lstStyle/>
          <a:p>
            <a:pPr>
              <a:defRPr sz="1800" b="1">
                <a:solidFill>
                  <a:srgbClr val="17365D"/>
                </a:solidFill>
                <a:latin typeface="Calibri"/>
                <a:ea typeface="Calibri"/>
                <a:cs typeface="Calibri"/>
              </a:defRPr>
            </a:pPr>
            <a:r>
              <a:rPr sz="1800" b="1">
                <a:solidFill>
                  <a:srgbClr val="17365D"/>
                </a:solidFill>
                <a:latin typeface="Calibri"/>
                <a:ea typeface="Calibri"/>
                <a:cs typeface="Calibri"/>
              </a:rPr>
              <a:t>Two approvals  •  required checks pass  •  no coverage regression</a:t>
            </a:r>
          </a:p>
        </p:txBody>
      </p:sp>
    </p:spTree>
    <p:extLst>
      <p:ext uri="{BB962C8B-B14F-4D97-AF65-F5344CB8AC3E}">
        <p14:creationId xmlns:p14="http://schemas.microsoft.com/office/powerpoint/2010/main" val="165614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500"/>
                                        <p:tgtEl>
                                          <p:spTgt spid="3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animBg="1"/>
      <p:bldP spid="11" grpId="0" animBg="1"/>
      <p:bldP spid="12" grpId="0"/>
      <p:bldP spid="13" grpId="0"/>
      <p:bldP spid="14" grpId="0" animBg="1"/>
      <p:bldP spid="15" grpId="0"/>
      <p:bldP spid="16" grpId="0" animBg="1"/>
      <p:bldP spid="17" grpId="0" animBg="1"/>
      <p:bldP spid="18" grpId="0"/>
      <p:bldP spid="19" grpId="0"/>
      <p:bldP spid="20" grpId="0" animBg="1"/>
      <p:bldP spid="21" grpId="0"/>
      <p:bldP spid="22" grpId="0" animBg="1"/>
      <p:bldP spid="23" grpId="0" animBg="1"/>
      <p:bldP spid="24" grpId="0"/>
      <p:bldP spid="25" grpId="0"/>
      <p:bldP spid="26" grpId="0" animBg="1"/>
      <p:bldP spid="27" grpId="0"/>
      <p:bldP spid="28" grpId="0"/>
      <p:bldP spid="29" grpId="0"/>
      <p:bldP spid="30" grpId="0"/>
      <p:bldP spid="31" grpId="0" animBg="1"/>
      <p:bldP spid="32" grpId="0"/>
      <p:bldP spid="33" grpId="0" animBg="1"/>
      <p:bldP spid="34"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8549E882-02DC-4A71-8D77-8B5C6684C9A4}"/>
              </a:ext>
            </a:extLst>
          </p:cNvPr>
          <p:cNvSpPr>
            <a:spLocks noGrp="1"/>
          </p:cNvSpPr>
          <p:nvPr/>
        </p:nvSpPr>
        <p:spPr>
          <a:xfrm>
            <a:off x="666750" y="276225"/>
            <a:ext cx="10953750" cy="609600"/>
          </a:xfrm>
          <a:prstGeom prst="rect">
            <a:avLst/>
          </a:prstGeom>
          <a:noFill/>
          <a:ln w="0">
            <a:noFill/>
          </a:ln>
        </p:spPr>
        <p:txBody>
          <a:bodyPr anchor="t">
            <a:noAutofit/>
          </a:bodyPr>
          <a:lstStyle/>
          <a:p>
            <a:pPr>
              <a:defRPr sz="3000" b="1">
                <a:solidFill>
                  <a:srgbClr val="151515"/>
                </a:solidFill>
                <a:latin typeface="Calibri"/>
                <a:ea typeface="Calibri"/>
                <a:cs typeface="Calibri"/>
              </a:defRPr>
            </a:pPr>
            <a:r>
              <a:rPr sz="3000" b="1">
                <a:solidFill>
                  <a:srgbClr val="151515"/>
                </a:solidFill>
                <a:latin typeface="Calibri"/>
                <a:ea typeface="Calibri"/>
                <a:cs typeface="Calibri"/>
              </a:rPr>
              <a:t>Design maturity in senior projects</a:t>
            </a:r>
          </a:p>
        </p:txBody>
      </p:sp>
      <p:sp>
        <p:nvSpPr>
          <p:cNvPr id="2" name="Subtitle">
            <a:extLst>
              <a:ext uri="{FF2B5EF4-FFF2-40B4-BE49-F238E27FC236}">
                <a16:creationId xmlns:a16="http://schemas.microsoft.com/office/drawing/2014/main" id="{2FBCDF45-2A6E-4C6D-A7BE-CD9E2E733B72}"/>
              </a:ext>
            </a:extLst>
          </p:cNvPr>
          <p:cNvSpPr>
            <a:spLocks noGrp="1"/>
          </p:cNvSpPr>
          <p:nvPr/>
        </p:nvSpPr>
        <p:spPr>
          <a:xfrm>
            <a:off x="685800" y="914400"/>
            <a:ext cx="10858500" cy="381000"/>
          </a:xfrm>
          <a:prstGeom prst="rect">
            <a:avLst/>
          </a:prstGeom>
          <a:noFill/>
          <a:ln w="0">
            <a:noFill/>
          </a:ln>
        </p:spPr>
        <p:txBody>
          <a:bodyPr anchor="t">
            <a:noAutofit/>
          </a:bodyPr>
          <a:lstStyle/>
          <a:p>
            <a:pPr>
              <a:defRPr sz="1725">
                <a:solidFill>
                  <a:srgbClr val="555555"/>
                </a:solidFill>
                <a:latin typeface="Calibri"/>
                <a:ea typeface="Calibri"/>
                <a:cs typeface="Calibri"/>
              </a:defRPr>
            </a:pPr>
            <a:r>
              <a:rPr sz="2000" dirty="0">
                <a:solidFill>
                  <a:srgbClr val="555555"/>
                </a:solidFill>
                <a:latin typeface="Calibri"/>
                <a:ea typeface="Calibri"/>
                <a:cs typeface="Calibri"/>
              </a:rPr>
              <a:t>Four levels of practice, from writing code first to improving the architecture.</a:t>
            </a:r>
          </a:p>
        </p:txBody>
      </p:sp>
      <p:sp>
        <p:nvSpPr>
          <p:cNvPr id="3" name="Level 1 step">
            <a:extLst>
              <a:ext uri="{FF2B5EF4-FFF2-40B4-BE49-F238E27FC236}">
                <a16:creationId xmlns:a16="http://schemas.microsoft.com/office/drawing/2014/main" id="{23661090-C8D1-4E5E-B56B-77F0D53659F5}"/>
              </a:ext>
            </a:extLst>
          </p:cNvPr>
          <p:cNvSpPr>
            <a:spLocks noGrp="1"/>
          </p:cNvSpPr>
          <p:nvPr/>
        </p:nvSpPr>
        <p:spPr>
          <a:xfrm>
            <a:off x="666750" y="3981450"/>
            <a:ext cx="2333625" cy="1809750"/>
          </a:xfrm>
          <a:prstGeom prst="rect">
            <a:avLst/>
          </a:prstGeom>
          <a:solidFill>
            <a:srgbClr val="FCECE9"/>
          </a:solidFill>
          <a:ln w="17145">
            <a:solidFill>
              <a:srgbClr val="B54A35"/>
            </a:solidFill>
          </a:ln>
        </p:spPr>
        <p:txBody>
          <a:bodyPr/>
          <a:lstStyle/>
          <a:p>
            <a:endParaRPr lang="en-US"/>
          </a:p>
        </p:txBody>
      </p:sp>
      <p:sp>
        <p:nvSpPr>
          <p:cNvPr id="4" name="Level 1 number">
            <a:extLst>
              <a:ext uri="{FF2B5EF4-FFF2-40B4-BE49-F238E27FC236}">
                <a16:creationId xmlns:a16="http://schemas.microsoft.com/office/drawing/2014/main" id="{08AA7753-52AB-4EB1-A1AC-82C0961DADF9}"/>
              </a:ext>
            </a:extLst>
          </p:cNvPr>
          <p:cNvSpPr>
            <a:spLocks noGrp="1"/>
          </p:cNvSpPr>
          <p:nvPr/>
        </p:nvSpPr>
        <p:spPr>
          <a:xfrm>
            <a:off x="885825" y="4210050"/>
            <a:ext cx="438150" cy="438150"/>
          </a:xfrm>
          <a:prstGeom prst="ellipse">
            <a:avLst/>
          </a:prstGeom>
          <a:solidFill>
            <a:srgbClr val="B54A35"/>
          </a:solidFill>
          <a:ln w="0">
            <a:solidFill>
              <a:srgbClr val="B54A35"/>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1</a:t>
            </a:r>
          </a:p>
        </p:txBody>
      </p:sp>
      <p:sp>
        <p:nvSpPr>
          <p:cNvPr id="5" name="Level 1 heading">
            <a:extLst>
              <a:ext uri="{FF2B5EF4-FFF2-40B4-BE49-F238E27FC236}">
                <a16:creationId xmlns:a16="http://schemas.microsoft.com/office/drawing/2014/main" id="{8015CFDD-972A-4E5F-9520-9910372B7A03}"/>
              </a:ext>
            </a:extLst>
          </p:cNvPr>
          <p:cNvSpPr>
            <a:spLocks noGrp="1"/>
          </p:cNvSpPr>
          <p:nvPr/>
        </p:nvSpPr>
        <p:spPr>
          <a:xfrm>
            <a:off x="1466850" y="4191000"/>
            <a:ext cx="1390650" cy="466725"/>
          </a:xfrm>
          <a:prstGeom prst="rect">
            <a:avLst/>
          </a:prstGeom>
          <a:noFill/>
          <a:ln w="0">
            <a:noFill/>
          </a:ln>
        </p:spPr>
        <p:txBody>
          <a:bodyPr anchor="t">
            <a:noAutofit/>
          </a:bodyPr>
          <a:lstStyle/>
          <a:p>
            <a:pPr>
              <a:defRPr sz="2100" b="1">
                <a:solidFill>
                  <a:srgbClr val="8F3423"/>
                </a:solidFill>
                <a:latin typeface="Calibri"/>
                <a:ea typeface="Calibri"/>
                <a:cs typeface="Calibri"/>
              </a:defRPr>
            </a:pPr>
            <a:r>
              <a:rPr sz="2100" b="1">
                <a:solidFill>
                  <a:srgbClr val="8F3423"/>
                </a:solidFill>
                <a:latin typeface="Calibri"/>
                <a:ea typeface="Calibri"/>
                <a:cs typeface="Calibri"/>
              </a:rPr>
              <a:t>Reactive</a:t>
            </a:r>
          </a:p>
        </p:txBody>
      </p:sp>
      <p:sp>
        <p:nvSpPr>
          <p:cNvPr id="6" name="Level 2 step">
            <a:extLst>
              <a:ext uri="{FF2B5EF4-FFF2-40B4-BE49-F238E27FC236}">
                <a16:creationId xmlns:a16="http://schemas.microsoft.com/office/drawing/2014/main" id="{89251F88-BC59-4C93-9C38-948BBADCEE52}"/>
              </a:ext>
            </a:extLst>
          </p:cNvPr>
          <p:cNvSpPr>
            <a:spLocks noGrp="1"/>
          </p:cNvSpPr>
          <p:nvPr/>
        </p:nvSpPr>
        <p:spPr>
          <a:xfrm>
            <a:off x="3000375" y="3124200"/>
            <a:ext cx="2381250" cy="2667000"/>
          </a:xfrm>
          <a:prstGeom prst="rect">
            <a:avLst/>
          </a:prstGeom>
          <a:solidFill>
            <a:srgbClr val="FFF5DB"/>
          </a:solidFill>
          <a:ln w="17145">
            <a:solidFill>
              <a:srgbClr val="B87B00"/>
            </a:solidFill>
          </a:ln>
        </p:spPr>
        <p:txBody>
          <a:bodyPr/>
          <a:lstStyle/>
          <a:p>
            <a:endParaRPr lang="en-US"/>
          </a:p>
        </p:txBody>
      </p:sp>
      <p:sp>
        <p:nvSpPr>
          <p:cNvPr id="7" name="Level 2 number">
            <a:extLst>
              <a:ext uri="{FF2B5EF4-FFF2-40B4-BE49-F238E27FC236}">
                <a16:creationId xmlns:a16="http://schemas.microsoft.com/office/drawing/2014/main" id="{E496656F-171B-4A35-ACB7-84C2FD344C55}"/>
              </a:ext>
            </a:extLst>
          </p:cNvPr>
          <p:cNvSpPr>
            <a:spLocks noGrp="1"/>
          </p:cNvSpPr>
          <p:nvPr/>
        </p:nvSpPr>
        <p:spPr>
          <a:xfrm>
            <a:off x="3219450" y="3352800"/>
            <a:ext cx="438150" cy="438150"/>
          </a:xfrm>
          <a:prstGeom prst="ellipse">
            <a:avLst/>
          </a:prstGeom>
          <a:solidFill>
            <a:srgbClr val="B87B00"/>
          </a:solidFill>
          <a:ln w="0">
            <a:solidFill>
              <a:srgbClr val="B87B00"/>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2</a:t>
            </a:r>
          </a:p>
        </p:txBody>
      </p:sp>
      <p:sp>
        <p:nvSpPr>
          <p:cNvPr id="8" name="Level 2 heading">
            <a:extLst>
              <a:ext uri="{FF2B5EF4-FFF2-40B4-BE49-F238E27FC236}">
                <a16:creationId xmlns:a16="http://schemas.microsoft.com/office/drawing/2014/main" id="{41EC0029-2EAE-4F28-AF13-ED392AD60841}"/>
              </a:ext>
            </a:extLst>
          </p:cNvPr>
          <p:cNvSpPr>
            <a:spLocks noGrp="1"/>
          </p:cNvSpPr>
          <p:nvPr/>
        </p:nvSpPr>
        <p:spPr>
          <a:xfrm>
            <a:off x="3800475" y="3333750"/>
            <a:ext cx="1438275" cy="466725"/>
          </a:xfrm>
          <a:prstGeom prst="rect">
            <a:avLst/>
          </a:prstGeom>
          <a:noFill/>
          <a:ln w="0">
            <a:noFill/>
          </a:ln>
        </p:spPr>
        <p:txBody>
          <a:bodyPr anchor="t">
            <a:noAutofit/>
          </a:bodyPr>
          <a:lstStyle/>
          <a:p>
            <a:pPr>
              <a:defRPr sz="2100" b="1">
                <a:solidFill>
                  <a:srgbClr val="946300"/>
                </a:solidFill>
                <a:latin typeface="Calibri"/>
                <a:ea typeface="Calibri"/>
                <a:cs typeface="Calibri"/>
              </a:defRPr>
            </a:pPr>
            <a:r>
              <a:rPr sz="2100" b="1">
                <a:solidFill>
                  <a:srgbClr val="946300"/>
                </a:solidFill>
                <a:latin typeface="Calibri"/>
                <a:ea typeface="Calibri"/>
                <a:cs typeface="Calibri"/>
              </a:rPr>
              <a:t>Selective</a:t>
            </a:r>
          </a:p>
        </p:txBody>
      </p:sp>
      <p:sp>
        <p:nvSpPr>
          <p:cNvPr id="9" name="Level 3 step">
            <a:extLst>
              <a:ext uri="{FF2B5EF4-FFF2-40B4-BE49-F238E27FC236}">
                <a16:creationId xmlns:a16="http://schemas.microsoft.com/office/drawing/2014/main" id="{C5FFD205-C7A9-4066-B119-93C4F1420AEE}"/>
              </a:ext>
            </a:extLst>
          </p:cNvPr>
          <p:cNvSpPr>
            <a:spLocks noGrp="1"/>
          </p:cNvSpPr>
          <p:nvPr/>
        </p:nvSpPr>
        <p:spPr>
          <a:xfrm>
            <a:off x="5381625" y="2266950"/>
            <a:ext cx="2905125" cy="3524250"/>
          </a:xfrm>
          <a:prstGeom prst="rect">
            <a:avLst/>
          </a:prstGeom>
          <a:solidFill>
            <a:srgbClr val="EBF2FA"/>
          </a:solidFill>
          <a:ln w="17145">
            <a:solidFill>
              <a:srgbClr val="315E8C"/>
            </a:solidFill>
          </a:ln>
        </p:spPr>
        <p:txBody>
          <a:bodyPr/>
          <a:lstStyle/>
          <a:p>
            <a:endParaRPr lang="en-US"/>
          </a:p>
        </p:txBody>
      </p:sp>
      <p:sp>
        <p:nvSpPr>
          <p:cNvPr id="10" name="Level 3 number">
            <a:extLst>
              <a:ext uri="{FF2B5EF4-FFF2-40B4-BE49-F238E27FC236}">
                <a16:creationId xmlns:a16="http://schemas.microsoft.com/office/drawing/2014/main" id="{4ABFD0D2-0C62-461B-82FC-623BC0F06439}"/>
              </a:ext>
            </a:extLst>
          </p:cNvPr>
          <p:cNvSpPr>
            <a:spLocks noGrp="1"/>
          </p:cNvSpPr>
          <p:nvPr/>
        </p:nvSpPr>
        <p:spPr>
          <a:xfrm>
            <a:off x="5600700" y="2637790"/>
            <a:ext cx="438150" cy="438150"/>
          </a:xfrm>
          <a:prstGeom prst="ellipse">
            <a:avLst/>
          </a:prstGeom>
          <a:solidFill>
            <a:srgbClr val="315E8C"/>
          </a:solidFill>
          <a:ln w="0">
            <a:solidFill>
              <a:srgbClr val="315E8C"/>
            </a:solidFill>
          </a:ln>
        </p:spPr>
        <p:txBody>
          <a:bodyPr anchor="ctr">
            <a:noAutofit/>
          </a:bodyPr>
          <a:lstStyle/>
          <a:p>
            <a:pPr algn="ctr">
              <a:defRPr sz="1875" b="1">
                <a:solidFill>
                  <a:srgbClr val="FFFFFF"/>
                </a:solidFill>
                <a:latin typeface="Calibri"/>
                <a:ea typeface="Calibri"/>
                <a:cs typeface="Calibri"/>
              </a:defRPr>
            </a:pPr>
            <a:r>
              <a:rPr sz="1875" b="1" dirty="0">
                <a:solidFill>
                  <a:srgbClr val="FFFFFF"/>
                </a:solidFill>
                <a:latin typeface="Calibri"/>
                <a:ea typeface="Calibri"/>
                <a:cs typeface="Calibri"/>
              </a:rPr>
              <a:t>3</a:t>
            </a:r>
          </a:p>
        </p:txBody>
      </p:sp>
      <p:sp>
        <p:nvSpPr>
          <p:cNvPr id="11" name="Level 3 heading">
            <a:extLst>
              <a:ext uri="{FF2B5EF4-FFF2-40B4-BE49-F238E27FC236}">
                <a16:creationId xmlns:a16="http://schemas.microsoft.com/office/drawing/2014/main" id="{D06D85B6-FEE5-4376-9048-D255C31F3E9F}"/>
              </a:ext>
            </a:extLst>
          </p:cNvPr>
          <p:cNvSpPr>
            <a:spLocks noGrp="1"/>
          </p:cNvSpPr>
          <p:nvPr/>
        </p:nvSpPr>
        <p:spPr>
          <a:xfrm>
            <a:off x="6038850" y="2607945"/>
            <a:ext cx="1962150" cy="466725"/>
          </a:xfrm>
          <a:prstGeom prst="rect">
            <a:avLst/>
          </a:prstGeom>
          <a:noFill/>
          <a:ln w="0">
            <a:noFill/>
          </a:ln>
        </p:spPr>
        <p:txBody>
          <a:bodyPr anchor="t">
            <a:noAutofit/>
          </a:bodyPr>
          <a:lstStyle/>
          <a:p>
            <a:pPr>
              <a:defRPr sz="2100" b="1">
                <a:solidFill>
                  <a:srgbClr val="244A70"/>
                </a:solidFill>
                <a:latin typeface="Calibri"/>
                <a:ea typeface="Calibri"/>
                <a:cs typeface="Calibri"/>
              </a:defRPr>
            </a:pPr>
            <a:r>
              <a:rPr sz="2100" b="1" dirty="0">
                <a:solidFill>
                  <a:srgbClr val="244A70"/>
                </a:solidFill>
                <a:latin typeface="Calibri"/>
                <a:ea typeface="Calibri"/>
                <a:cs typeface="Calibri"/>
              </a:rPr>
              <a:t>Intentional</a:t>
            </a:r>
          </a:p>
        </p:txBody>
      </p:sp>
      <p:sp>
        <p:nvSpPr>
          <p:cNvPr id="12" name="Level 4 step">
            <a:extLst>
              <a:ext uri="{FF2B5EF4-FFF2-40B4-BE49-F238E27FC236}">
                <a16:creationId xmlns:a16="http://schemas.microsoft.com/office/drawing/2014/main" id="{A035DF69-A58F-406A-9CFB-4997A2413A5F}"/>
              </a:ext>
            </a:extLst>
          </p:cNvPr>
          <p:cNvSpPr>
            <a:spLocks noGrp="1"/>
          </p:cNvSpPr>
          <p:nvPr/>
        </p:nvSpPr>
        <p:spPr>
          <a:xfrm>
            <a:off x="8286750" y="1409700"/>
            <a:ext cx="3333750" cy="4381500"/>
          </a:xfrm>
          <a:prstGeom prst="rect">
            <a:avLst/>
          </a:prstGeom>
          <a:solidFill>
            <a:srgbClr val="E9F5EE"/>
          </a:solidFill>
          <a:ln w="17145">
            <a:solidFill>
              <a:srgbClr val="1F7A4D"/>
            </a:solidFill>
          </a:ln>
        </p:spPr>
        <p:txBody>
          <a:bodyPr/>
          <a:lstStyle/>
          <a:p>
            <a:endParaRPr lang="en-US"/>
          </a:p>
        </p:txBody>
      </p:sp>
      <p:sp>
        <p:nvSpPr>
          <p:cNvPr id="13" name="Level 4 number">
            <a:extLst>
              <a:ext uri="{FF2B5EF4-FFF2-40B4-BE49-F238E27FC236}">
                <a16:creationId xmlns:a16="http://schemas.microsoft.com/office/drawing/2014/main" id="{AC70F39E-F9BC-428A-9CCC-5A420AE50709}"/>
              </a:ext>
            </a:extLst>
          </p:cNvPr>
          <p:cNvSpPr>
            <a:spLocks noGrp="1"/>
          </p:cNvSpPr>
          <p:nvPr/>
        </p:nvSpPr>
        <p:spPr>
          <a:xfrm>
            <a:off x="8505825" y="1638300"/>
            <a:ext cx="438150" cy="438150"/>
          </a:xfrm>
          <a:prstGeom prst="ellipse">
            <a:avLst/>
          </a:prstGeom>
          <a:solidFill>
            <a:srgbClr val="1F7A4D"/>
          </a:solidFill>
          <a:ln w="0">
            <a:solidFill>
              <a:srgbClr val="1F7A4D"/>
            </a:solidFill>
          </a:ln>
        </p:spPr>
        <p:txBody>
          <a:bodyPr anchor="ctr">
            <a:noAutofit/>
          </a:bodyPr>
          <a:lstStyle/>
          <a:p>
            <a:pPr algn="ctr">
              <a:defRPr sz="1875" b="1">
                <a:solidFill>
                  <a:srgbClr val="FFFFFF"/>
                </a:solidFill>
                <a:latin typeface="Calibri"/>
                <a:ea typeface="Calibri"/>
                <a:cs typeface="Calibri"/>
              </a:defRPr>
            </a:pPr>
            <a:r>
              <a:rPr sz="1875" b="1">
                <a:solidFill>
                  <a:srgbClr val="FFFFFF"/>
                </a:solidFill>
                <a:latin typeface="Calibri"/>
                <a:ea typeface="Calibri"/>
                <a:cs typeface="Calibri"/>
              </a:rPr>
              <a:t>4</a:t>
            </a:r>
          </a:p>
        </p:txBody>
      </p:sp>
      <p:sp>
        <p:nvSpPr>
          <p:cNvPr id="14" name="Level 4 heading">
            <a:extLst>
              <a:ext uri="{FF2B5EF4-FFF2-40B4-BE49-F238E27FC236}">
                <a16:creationId xmlns:a16="http://schemas.microsoft.com/office/drawing/2014/main" id="{9EAB38E5-8C8F-4EA3-AC76-01AF9AB6130E}"/>
              </a:ext>
            </a:extLst>
          </p:cNvPr>
          <p:cNvSpPr>
            <a:spLocks noGrp="1"/>
          </p:cNvSpPr>
          <p:nvPr/>
        </p:nvSpPr>
        <p:spPr>
          <a:xfrm>
            <a:off x="9086850" y="1619250"/>
            <a:ext cx="2390775" cy="762000"/>
          </a:xfrm>
          <a:prstGeom prst="rect">
            <a:avLst/>
          </a:prstGeom>
          <a:noFill/>
          <a:ln w="0">
            <a:noFill/>
          </a:ln>
        </p:spPr>
        <p:txBody>
          <a:bodyPr anchor="t">
            <a:noAutofit/>
          </a:bodyPr>
          <a:lstStyle/>
          <a:p>
            <a:pPr>
              <a:defRPr sz="2175" b="1">
                <a:solidFill>
                  <a:srgbClr val="175D3B"/>
                </a:solidFill>
                <a:latin typeface="Calibri"/>
                <a:ea typeface="Calibri"/>
                <a:cs typeface="Calibri"/>
              </a:defRPr>
            </a:pPr>
            <a:r>
              <a:rPr sz="2175" b="1">
                <a:solidFill>
                  <a:srgbClr val="175D3B"/>
                </a:solidFill>
                <a:latin typeface="Calibri"/>
                <a:ea typeface="Calibri"/>
                <a:cs typeface="Calibri"/>
              </a:rPr>
              <a:t>Architectural</a:t>
            </a:r>
          </a:p>
          <a:p>
            <a:pPr>
              <a:defRPr sz="2175" b="1">
                <a:solidFill>
                  <a:srgbClr val="175D3B"/>
                </a:solidFill>
                <a:latin typeface="Calibri"/>
                <a:ea typeface="Calibri"/>
                <a:cs typeface="Calibri"/>
              </a:defRPr>
            </a:pPr>
            <a:r>
              <a:rPr sz="2175" b="1">
                <a:solidFill>
                  <a:srgbClr val="175D3B"/>
                </a:solidFill>
                <a:latin typeface="Calibri"/>
                <a:ea typeface="Calibri"/>
                <a:cs typeface="Calibri"/>
              </a:rPr>
              <a:t>stewardship</a:t>
            </a:r>
          </a:p>
        </p:txBody>
      </p:sp>
      <p:sp>
        <p:nvSpPr>
          <p:cNvPr id="18" name="Level 1 code">
            <a:extLst>
              <a:ext uri="{FF2B5EF4-FFF2-40B4-BE49-F238E27FC236}">
                <a16:creationId xmlns:a16="http://schemas.microsoft.com/office/drawing/2014/main" id="{C311BD1A-E9AE-4C21-AC68-B72F8479F356}"/>
              </a:ext>
            </a:extLst>
          </p:cNvPr>
          <p:cNvSpPr>
            <a:spLocks noGrp="1"/>
          </p:cNvSpPr>
          <p:nvPr/>
        </p:nvSpPr>
        <p:spPr>
          <a:xfrm>
            <a:off x="866775" y="4724400"/>
            <a:ext cx="1933575" cy="29527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650" dirty="0">
                <a:solidFill>
                  <a:srgbClr val="263238"/>
                </a:solidFill>
                <a:latin typeface="Calibri"/>
                <a:ea typeface="Calibri"/>
                <a:cs typeface="Calibri"/>
              </a:rPr>
              <a:t>Code first.</a:t>
            </a:r>
          </a:p>
        </p:txBody>
      </p:sp>
      <p:sp>
        <p:nvSpPr>
          <p:cNvPr id="19" name="Level 1 design">
            <a:extLst>
              <a:ext uri="{FF2B5EF4-FFF2-40B4-BE49-F238E27FC236}">
                <a16:creationId xmlns:a16="http://schemas.microsoft.com/office/drawing/2014/main" id="{B5C90179-AE0C-422C-B12F-F73EE7EB4F3F}"/>
              </a:ext>
            </a:extLst>
          </p:cNvPr>
          <p:cNvSpPr>
            <a:spLocks noGrp="1"/>
          </p:cNvSpPr>
          <p:nvPr/>
        </p:nvSpPr>
        <p:spPr>
          <a:xfrm>
            <a:off x="866775" y="5153025"/>
            <a:ext cx="1933575" cy="56197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650">
                <a:solidFill>
                  <a:srgbClr val="263238"/>
                </a:solidFill>
                <a:latin typeface="Calibri"/>
                <a:ea typeface="Calibri"/>
                <a:cs typeface="Calibri"/>
              </a:rPr>
              <a:t>Design later,</a:t>
            </a:r>
          </a:p>
          <a:p>
            <a:pPr>
              <a:defRPr sz="1650">
                <a:solidFill>
                  <a:srgbClr val="263238"/>
                </a:solidFill>
                <a:latin typeface="Calibri"/>
                <a:ea typeface="Calibri"/>
                <a:cs typeface="Calibri"/>
              </a:defRPr>
            </a:pPr>
            <a:r>
              <a:rPr sz="1650">
                <a:solidFill>
                  <a:srgbClr val="263238"/>
                </a:solidFill>
                <a:latin typeface="Calibri"/>
                <a:ea typeface="Calibri"/>
                <a:cs typeface="Calibri"/>
              </a:rPr>
              <a:t>if at all.</a:t>
            </a:r>
          </a:p>
        </p:txBody>
      </p:sp>
      <p:sp>
        <p:nvSpPr>
          <p:cNvPr id="20" name="Level 2 major changes">
            <a:extLst>
              <a:ext uri="{FF2B5EF4-FFF2-40B4-BE49-F238E27FC236}">
                <a16:creationId xmlns:a16="http://schemas.microsoft.com/office/drawing/2014/main" id="{448551D7-DE45-4648-B967-2E20A840628F}"/>
              </a:ext>
            </a:extLst>
          </p:cNvPr>
          <p:cNvSpPr>
            <a:spLocks noGrp="1"/>
          </p:cNvSpPr>
          <p:nvPr/>
        </p:nvSpPr>
        <p:spPr>
          <a:xfrm>
            <a:off x="3200400" y="3895725"/>
            <a:ext cx="1990725" cy="590550"/>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Design for</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major features.</a:t>
            </a:r>
          </a:p>
        </p:txBody>
      </p:sp>
      <p:sp>
        <p:nvSpPr>
          <p:cNvPr id="21" name="Level 2 small changes">
            <a:extLst>
              <a:ext uri="{FF2B5EF4-FFF2-40B4-BE49-F238E27FC236}">
                <a16:creationId xmlns:a16="http://schemas.microsoft.com/office/drawing/2014/main" id="{D26A0C86-28E4-439F-B801-307D269CAE58}"/>
              </a:ext>
            </a:extLst>
          </p:cNvPr>
          <p:cNvSpPr>
            <a:spLocks noGrp="1"/>
          </p:cNvSpPr>
          <p:nvPr/>
        </p:nvSpPr>
        <p:spPr>
          <a:xfrm>
            <a:off x="3200400" y="4724400"/>
            <a:ext cx="1990725" cy="6191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Small changes</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often skip design.</a:t>
            </a:r>
          </a:p>
        </p:txBody>
      </p:sp>
      <p:sp>
        <p:nvSpPr>
          <p:cNvPr id="22" name="Level 3 PR scope">
            <a:extLst>
              <a:ext uri="{FF2B5EF4-FFF2-40B4-BE49-F238E27FC236}">
                <a16:creationId xmlns:a16="http://schemas.microsoft.com/office/drawing/2014/main" id="{FED24C02-ABEF-4AC4-91A5-075D35BFB1C7}"/>
              </a:ext>
            </a:extLst>
          </p:cNvPr>
          <p:cNvSpPr>
            <a:spLocks noGrp="1"/>
          </p:cNvSpPr>
          <p:nvPr/>
        </p:nvSpPr>
        <p:spPr>
          <a:xfrm>
            <a:off x="5581650" y="3038475"/>
            <a:ext cx="2495550" cy="314325"/>
          </a:xfrm>
          <a:prstGeom prst="rect">
            <a:avLst/>
          </a:prstGeom>
          <a:noFill/>
          <a:ln w="0">
            <a:noFill/>
          </a:ln>
        </p:spPr>
        <p:txBody>
          <a:bodyPr anchor="t">
            <a:noAutofit/>
          </a:bodyPr>
          <a:lstStyle/>
          <a:p>
            <a:pPr>
              <a:defRPr sz="1650" b="1">
                <a:solidFill>
                  <a:srgbClr val="244A70"/>
                </a:solidFill>
                <a:latin typeface="Calibri"/>
                <a:ea typeface="Calibri"/>
                <a:cs typeface="Calibri"/>
              </a:defRPr>
            </a:pPr>
            <a:r>
              <a:rPr sz="1650" b="1">
                <a:solidFill>
                  <a:srgbClr val="244A70"/>
                </a:solidFill>
                <a:latin typeface="Calibri"/>
                <a:ea typeface="Calibri"/>
                <a:cs typeface="Calibri"/>
              </a:rPr>
              <a:t>Each meaningful PR:</a:t>
            </a:r>
          </a:p>
        </p:txBody>
      </p:sp>
      <p:sp>
        <p:nvSpPr>
          <p:cNvPr id="23" name="Level 3 practice 1">
            <a:extLst>
              <a:ext uri="{FF2B5EF4-FFF2-40B4-BE49-F238E27FC236}">
                <a16:creationId xmlns:a16="http://schemas.microsoft.com/office/drawing/2014/main" id="{823072A5-7A67-4EDA-8252-AAF86B46A1DA}"/>
              </a:ext>
            </a:extLst>
          </p:cNvPr>
          <p:cNvSpPr>
            <a:spLocks noGrp="1"/>
          </p:cNvSpPr>
          <p:nvPr/>
        </p:nvSpPr>
        <p:spPr>
          <a:xfrm>
            <a:off x="5619750" y="3448050"/>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Issue and acceptance</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criteria</a:t>
            </a:r>
          </a:p>
        </p:txBody>
      </p:sp>
      <p:sp>
        <p:nvSpPr>
          <p:cNvPr id="24" name="Level 3 practice 2">
            <a:extLst>
              <a:ext uri="{FF2B5EF4-FFF2-40B4-BE49-F238E27FC236}">
                <a16:creationId xmlns:a16="http://schemas.microsoft.com/office/drawing/2014/main" id="{D7A35F9F-BD03-4FD9-AC27-18986E28AB99}"/>
              </a:ext>
            </a:extLst>
          </p:cNvPr>
          <p:cNvSpPr>
            <a:spLocks noGrp="1"/>
          </p:cNvSpPr>
          <p:nvPr/>
        </p:nvSpPr>
        <p:spPr>
          <a:xfrm>
            <a:off x="5619750" y="4010025"/>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Structural and</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behavioral impact</a:t>
            </a:r>
          </a:p>
        </p:txBody>
      </p:sp>
      <p:sp>
        <p:nvSpPr>
          <p:cNvPr id="25" name="Level 3 practice 3">
            <a:extLst>
              <a:ext uri="{FF2B5EF4-FFF2-40B4-BE49-F238E27FC236}">
                <a16:creationId xmlns:a16="http://schemas.microsoft.com/office/drawing/2014/main" id="{8DDF6316-62C2-4DF0-858A-1CE14AFBCDD4}"/>
              </a:ext>
            </a:extLst>
          </p:cNvPr>
          <p:cNvSpPr>
            <a:spLocks noGrp="1"/>
          </p:cNvSpPr>
          <p:nvPr/>
        </p:nvSpPr>
        <p:spPr>
          <a:xfrm>
            <a:off x="5619750" y="4572000"/>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Diagram update when</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the design changes</a:t>
            </a:r>
          </a:p>
        </p:txBody>
      </p:sp>
      <p:sp>
        <p:nvSpPr>
          <p:cNvPr id="26" name="Level 3 practice 4">
            <a:extLst>
              <a:ext uri="{FF2B5EF4-FFF2-40B4-BE49-F238E27FC236}">
                <a16:creationId xmlns:a16="http://schemas.microsoft.com/office/drawing/2014/main" id="{9AA5A0AA-47DD-4D79-AE2B-D288547B9C73}"/>
              </a:ext>
            </a:extLst>
          </p:cNvPr>
          <p:cNvSpPr>
            <a:spLocks noGrp="1"/>
          </p:cNvSpPr>
          <p:nvPr/>
        </p:nvSpPr>
        <p:spPr>
          <a:xfrm>
            <a:off x="5619750" y="5133975"/>
            <a:ext cx="2447925" cy="542925"/>
          </a:xfrm>
          <a:prstGeom prst="rect">
            <a:avLst/>
          </a:prstGeom>
          <a:noFill/>
          <a:ln w="0">
            <a:noFill/>
          </a:ln>
        </p:spPr>
        <p:txBody>
          <a:bodyPr anchor="t">
            <a:noAutofit/>
          </a:bodyPr>
          <a:lstStyle/>
          <a:p>
            <a:pPr>
              <a:defRPr sz="1650">
                <a:solidFill>
                  <a:srgbClr val="263238"/>
                </a:solidFill>
                <a:latin typeface="Calibri"/>
                <a:ea typeface="Calibri"/>
                <a:cs typeface="Calibri"/>
              </a:defRPr>
            </a:pPr>
            <a:r>
              <a:rPr sz="1400" dirty="0">
                <a:solidFill>
                  <a:srgbClr val="263238"/>
                </a:solidFill>
                <a:latin typeface="Calibri"/>
                <a:ea typeface="Calibri"/>
                <a:cs typeface="Calibri"/>
              </a:rPr>
              <a:t>Tests, approvals,</a:t>
            </a:r>
          </a:p>
          <a:p>
            <a:pPr>
              <a:defRPr sz="1650">
                <a:solidFill>
                  <a:srgbClr val="263238"/>
                </a:solidFill>
                <a:latin typeface="Calibri"/>
                <a:ea typeface="Calibri"/>
                <a:cs typeface="Calibri"/>
              </a:defRPr>
            </a:pPr>
            <a:r>
              <a:rPr sz="1400" dirty="0">
                <a:solidFill>
                  <a:srgbClr val="263238"/>
                </a:solidFill>
                <a:latin typeface="Calibri"/>
                <a:ea typeface="Calibri"/>
                <a:cs typeface="Calibri"/>
              </a:rPr>
              <a:t>and passing CI</a:t>
            </a:r>
          </a:p>
        </p:txBody>
      </p:sp>
      <p:sp>
        <p:nvSpPr>
          <p:cNvPr id="27" name="Level 4 project focus">
            <a:extLst>
              <a:ext uri="{FF2B5EF4-FFF2-40B4-BE49-F238E27FC236}">
                <a16:creationId xmlns:a16="http://schemas.microsoft.com/office/drawing/2014/main" id="{21EA6B2E-7875-4AA0-90FB-8BDD4AD1238B}"/>
              </a:ext>
            </a:extLst>
          </p:cNvPr>
          <p:cNvSpPr>
            <a:spLocks noGrp="1"/>
          </p:cNvSpPr>
          <p:nvPr/>
        </p:nvSpPr>
        <p:spPr>
          <a:xfrm>
            <a:off x="8534400" y="2419350"/>
            <a:ext cx="2800350" cy="295275"/>
          </a:xfrm>
          <a:prstGeom prst="rect">
            <a:avLst/>
          </a:prstGeom>
          <a:noFill/>
          <a:ln w="0">
            <a:noFill/>
          </a:ln>
        </p:spPr>
        <p:txBody>
          <a:bodyPr anchor="t">
            <a:noAutofit/>
          </a:bodyPr>
          <a:lstStyle/>
          <a:p>
            <a:pPr>
              <a:defRPr sz="1350" b="1">
                <a:solidFill>
                  <a:srgbClr val="1F7A4D"/>
                </a:solidFill>
                <a:latin typeface="Calibri"/>
                <a:ea typeface="Calibri"/>
                <a:cs typeface="Calibri"/>
              </a:defRPr>
            </a:pPr>
            <a:r>
              <a:rPr sz="1350" b="1">
                <a:solidFill>
                  <a:srgbClr val="1F7A4D"/>
                </a:solidFill>
                <a:latin typeface="Calibri"/>
                <a:ea typeface="Calibri"/>
                <a:cs typeface="Calibri"/>
              </a:rPr>
              <a:t>PROJECT FOCUS</a:t>
            </a:r>
          </a:p>
        </p:txBody>
      </p:sp>
      <p:sp>
        <p:nvSpPr>
          <p:cNvPr id="28" name="Level 4 foundation">
            <a:extLst>
              <a:ext uri="{FF2B5EF4-FFF2-40B4-BE49-F238E27FC236}">
                <a16:creationId xmlns:a16="http://schemas.microsoft.com/office/drawing/2014/main" id="{18C64122-5432-4BA9-8CAE-0F3A9EA5BF26}"/>
              </a:ext>
            </a:extLst>
          </p:cNvPr>
          <p:cNvSpPr>
            <a:spLocks noGrp="1"/>
          </p:cNvSpPr>
          <p:nvPr/>
        </p:nvSpPr>
        <p:spPr>
          <a:xfrm>
            <a:off x="8534400" y="2857500"/>
            <a:ext cx="2800350" cy="361950"/>
          </a:xfrm>
          <a:prstGeom prst="rect">
            <a:avLst/>
          </a:prstGeom>
          <a:noFill/>
          <a:ln w="0">
            <a:noFill/>
          </a:ln>
        </p:spPr>
        <p:txBody>
          <a:bodyPr anchor="t">
            <a:noAutofit/>
          </a:bodyPr>
          <a:lstStyle/>
          <a:p>
            <a:pPr>
              <a:defRPr sz="1800" b="1">
                <a:solidFill>
                  <a:srgbClr val="175D3B"/>
                </a:solidFill>
                <a:latin typeface="Calibri"/>
                <a:ea typeface="Calibri"/>
                <a:cs typeface="Calibri"/>
              </a:defRPr>
            </a:pPr>
            <a:r>
              <a:rPr sz="1800" b="1">
                <a:solidFill>
                  <a:srgbClr val="175D3B"/>
                </a:solidFill>
                <a:latin typeface="Calibri"/>
                <a:ea typeface="Calibri"/>
                <a:cs typeface="Calibri"/>
              </a:rPr>
              <a:t>Builds on Level 3:</a:t>
            </a:r>
          </a:p>
        </p:txBody>
      </p:sp>
      <p:sp>
        <p:nvSpPr>
          <p:cNvPr id="29" name="Level 4 refactoring">
            <a:extLst>
              <a:ext uri="{FF2B5EF4-FFF2-40B4-BE49-F238E27FC236}">
                <a16:creationId xmlns:a16="http://schemas.microsoft.com/office/drawing/2014/main" id="{E7ED08C1-E297-4191-A7F9-38ED353AEB5B}"/>
              </a:ext>
            </a:extLst>
          </p:cNvPr>
          <p:cNvSpPr>
            <a:spLocks noGrp="1"/>
          </p:cNvSpPr>
          <p:nvPr/>
        </p:nvSpPr>
        <p:spPr>
          <a:xfrm>
            <a:off x="8534400" y="3371850"/>
            <a:ext cx="2800350" cy="3524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Refactor proactively.</a:t>
            </a:r>
          </a:p>
        </p:txBody>
      </p:sp>
      <p:sp>
        <p:nvSpPr>
          <p:cNvPr id="30" name="Level 4 boundaries">
            <a:extLst>
              <a:ext uri="{FF2B5EF4-FFF2-40B4-BE49-F238E27FC236}">
                <a16:creationId xmlns:a16="http://schemas.microsoft.com/office/drawing/2014/main" id="{889DE0B3-7670-4811-823A-2BB1E00AC552}"/>
              </a:ext>
            </a:extLst>
          </p:cNvPr>
          <p:cNvSpPr>
            <a:spLocks noGrp="1"/>
          </p:cNvSpPr>
          <p:nvPr/>
        </p:nvSpPr>
        <p:spPr>
          <a:xfrm>
            <a:off x="8534400" y="3876675"/>
            <a:ext cx="2800350" cy="381000"/>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Protect boundaries.</a:t>
            </a:r>
          </a:p>
        </p:txBody>
      </p:sp>
      <p:sp>
        <p:nvSpPr>
          <p:cNvPr id="31" name="Level 4 coupling">
            <a:extLst>
              <a:ext uri="{FF2B5EF4-FFF2-40B4-BE49-F238E27FC236}">
                <a16:creationId xmlns:a16="http://schemas.microsoft.com/office/drawing/2014/main" id="{A1FA853B-4B8D-4ABF-A3D9-A3D76BB0E958}"/>
              </a:ext>
            </a:extLst>
          </p:cNvPr>
          <p:cNvSpPr>
            <a:spLocks noGrp="1"/>
          </p:cNvSpPr>
          <p:nvPr/>
        </p:nvSpPr>
        <p:spPr>
          <a:xfrm>
            <a:off x="8534400" y="4381500"/>
            <a:ext cx="2800350" cy="3524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Reduce coupling.</a:t>
            </a:r>
          </a:p>
        </p:txBody>
      </p:sp>
      <p:sp>
        <p:nvSpPr>
          <p:cNvPr id="32" name="Level 4 evolution">
            <a:extLst>
              <a:ext uri="{FF2B5EF4-FFF2-40B4-BE49-F238E27FC236}">
                <a16:creationId xmlns:a16="http://schemas.microsoft.com/office/drawing/2014/main" id="{590D5E63-EBBE-4357-A0BA-1554943C6B3C}"/>
              </a:ext>
            </a:extLst>
          </p:cNvPr>
          <p:cNvSpPr>
            <a:spLocks noGrp="1"/>
          </p:cNvSpPr>
          <p:nvPr/>
        </p:nvSpPr>
        <p:spPr>
          <a:xfrm>
            <a:off x="8534400" y="4886325"/>
            <a:ext cx="2800350" cy="657225"/>
          </a:xfrm>
          <a:prstGeom prst="rect">
            <a:avLst/>
          </a:prstGeom>
          <a:noFill/>
          <a:ln w="0">
            <a:noFill/>
          </a:ln>
        </p:spPr>
        <p:txBody>
          <a:bodyPr anchor="t">
            <a:noAutofit/>
          </a:bodyPr>
          <a:lstStyle/>
          <a:p>
            <a:pPr>
              <a:defRPr sz="1800">
                <a:solidFill>
                  <a:srgbClr val="263238"/>
                </a:solidFill>
                <a:latin typeface="Calibri"/>
                <a:ea typeface="Calibri"/>
                <a:cs typeface="Calibri"/>
              </a:defRPr>
            </a:pPr>
            <a:r>
              <a:rPr sz="1400" dirty="0">
                <a:solidFill>
                  <a:srgbClr val="263238"/>
                </a:solidFill>
                <a:latin typeface="Calibri"/>
                <a:ea typeface="Calibri"/>
                <a:cs typeface="Calibri"/>
              </a:rPr>
              <a:t>Improve the design</a:t>
            </a:r>
          </a:p>
          <a:p>
            <a:pPr>
              <a:defRPr sz="1800">
                <a:solidFill>
                  <a:srgbClr val="263238"/>
                </a:solidFill>
                <a:latin typeface="Calibri"/>
                <a:ea typeface="Calibri"/>
                <a:cs typeface="Calibri"/>
              </a:defRPr>
            </a:pPr>
            <a:r>
              <a:rPr sz="1400" dirty="0">
                <a:solidFill>
                  <a:srgbClr val="263238"/>
                </a:solidFill>
                <a:latin typeface="Calibri"/>
                <a:ea typeface="Calibri"/>
                <a:cs typeface="Calibri"/>
              </a:rPr>
              <a:t>as the system evolves.</a:t>
            </a:r>
          </a:p>
        </p:txBody>
      </p:sp>
      <p:sp>
        <p:nvSpPr>
          <p:cNvPr id="33" name="Takeaway line">
            <a:extLst>
              <a:ext uri="{FF2B5EF4-FFF2-40B4-BE49-F238E27FC236}">
                <a16:creationId xmlns:a16="http://schemas.microsoft.com/office/drawing/2014/main" id="{137CC615-F62E-4A7F-9ECD-5E840C7CE6D7}"/>
              </a:ext>
            </a:extLst>
          </p:cNvPr>
          <p:cNvSpPr>
            <a:spLocks noGrp="1"/>
          </p:cNvSpPr>
          <p:nvPr/>
        </p:nvSpPr>
        <p:spPr>
          <a:xfrm>
            <a:off x="1200150" y="6115050"/>
            <a:ext cx="9906000" cy="19050"/>
          </a:xfrm>
          <a:prstGeom prst="rect">
            <a:avLst/>
          </a:prstGeom>
          <a:solidFill>
            <a:srgbClr val="1F6D4A"/>
          </a:solidFill>
          <a:ln w="0">
            <a:solidFill>
              <a:srgbClr val="1F6D4A"/>
            </a:solidFill>
          </a:ln>
        </p:spPr>
        <p:txBody>
          <a:bodyPr/>
          <a:lstStyle/>
          <a:p>
            <a:endParaRPr lang="en-US"/>
          </a:p>
        </p:txBody>
      </p:sp>
      <p:sp>
        <p:nvSpPr>
          <p:cNvPr id="34" name="Takeaway">
            <a:extLst>
              <a:ext uri="{FF2B5EF4-FFF2-40B4-BE49-F238E27FC236}">
                <a16:creationId xmlns:a16="http://schemas.microsoft.com/office/drawing/2014/main" id="{2ADC3AAD-1FCF-43BE-8173-5FC54433B674}"/>
              </a:ext>
            </a:extLst>
          </p:cNvPr>
          <p:cNvSpPr>
            <a:spLocks noGrp="1"/>
          </p:cNvSpPr>
          <p:nvPr/>
        </p:nvSpPr>
        <p:spPr>
          <a:xfrm>
            <a:off x="1266825" y="6248400"/>
            <a:ext cx="9772650" cy="400050"/>
          </a:xfrm>
          <a:prstGeom prst="rect">
            <a:avLst/>
          </a:prstGeom>
          <a:noFill/>
          <a:ln w="0">
            <a:noFill/>
          </a:ln>
        </p:spPr>
        <p:txBody>
          <a:bodyPr anchor="t">
            <a:noAutofit/>
          </a:bodyPr>
          <a:lstStyle/>
          <a:p>
            <a:pPr algn="ctr">
              <a:defRPr sz="1725" b="1">
                <a:solidFill>
                  <a:srgbClr val="1F4E3D"/>
                </a:solidFill>
                <a:latin typeface="Calibri"/>
                <a:ea typeface="Calibri"/>
                <a:cs typeface="Calibri"/>
              </a:defRPr>
            </a:pPr>
            <a:r>
              <a:rPr sz="1725" b="1" dirty="0">
                <a:solidFill>
                  <a:srgbClr val="1F4E3D"/>
                </a:solidFill>
                <a:latin typeface="Calibri"/>
                <a:ea typeface="Calibri"/>
                <a:cs typeface="Calibri"/>
              </a:rPr>
              <a:t>Architectural stewardship means deliberately improving the design over time.</a:t>
            </a:r>
          </a:p>
        </p:txBody>
      </p:sp>
      <p:sp>
        <p:nvSpPr>
          <p:cNvPr id="36" name="Level 3 step">
            <a:extLst>
              <a:ext uri="{FF2B5EF4-FFF2-40B4-BE49-F238E27FC236}">
                <a16:creationId xmlns:a16="http://schemas.microsoft.com/office/drawing/2014/main" id="{4ABD2046-CC3F-0259-DE3D-212F4990BCDE}"/>
              </a:ext>
            </a:extLst>
          </p:cNvPr>
          <p:cNvSpPr>
            <a:spLocks noGrp="1"/>
          </p:cNvSpPr>
          <p:nvPr/>
        </p:nvSpPr>
        <p:spPr>
          <a:xfrm>
            <a:off x="5376862" y="2266950"/>
            <a:ext cx="2905125" cy="3524250"/>
          </a:xfrm>
          <a:prstGeom prst="rect">
            <a:avLst/>
          </a:prstGeom>
          <a:noFill/>
          <a:ln w="38100">
            <a:solidFill>
              <a:srgbClr val="C00000"/>
            </a:solidFill>
          </a:ln>
        </p:spPr>
        <p:txBody>
          <a:bodyPr/>
          <a:lstStyle/>
          <a:p>
            <a:endParaRPr lang="en-US"/>
          </a:p>
        </p:txBody>
      </p:sp>
      <p:sp>
        <p:nvSpPr>
          <p:cNvPr id="38" name="TextBox 37">
            <a:extLst>
              <a:ext uri="{FF2B5EF4-FFF2-40B4-BE49-F238E27FC236}">
                <a16:creationId xmlns:a16="http://schemas.microsoft.com/office/drawing/2014/main" id="{BAB75E12-9A43-46E2-28B2-AAAA34AA49C5}"/>
              </a:ext>
            </a:extLst>
          </p:cNvPr>
          <p:cNvSpPr txBox="1"/>
          <p:nvPr/>
        </p:nvSpPr>
        <p:spPr>
          <a:xfrm>
            <a:off x="5391150" y="1738610"/>
            <a:ext cx="2890837" cy="461665"/>
          </a:xfrm>
          <a:prstGeom prst="rect">
            <a:avLst/>
          </a:prstGeom>
          <a:noFill/>
        </p:spPr>
        <p:txBody>
          <a:bodyPr wrap="square">
            <a:spAutoFit/>
          </a:bodyPr>
          <a:lstStyle/>
          <a:p>
            <a:pPr>
              <a:buNone/>
            </a:pPr>
            <a:r>
              <a:rPr lang="en-GB" sz="2400" b="1" dirty="0">
                <a:solidFill>
                  <a:srgbClr val="C00000"/>
                </a:solidFill>
              </a:rPr>
              <a:t>Senior Design Target</a:t>
            </a:r>
            <a:endParaRPr lang="en-GB" sz="2400" dirty="0">
              <a:solidFill>
                <a:srgbClr val="C00000"/>
              </a:solidFill>
            </a:endParaRPr>
          </a:p>
        </p:txBody>
      </p:sp>
    </p:spTree>
    <p:extLst>
      <p:ext uri="{BB962C8B-B14F-4D97-AF65-F5344CB8AC3E}">
        <p14:creationId xmlns:p14="http://schemas.microsoft.com/office/powerpoint/2010/main" val="78155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p:bldP spid="12" grpId="0" animBg="1"/>
      <p:bldP spid="13" grpId="0" animBg="1"/>
      <p:bldP spid="14"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animBg="1"/>
      <p:bldP spid="34" grpId="0"/>
      <p:bldP spid="36" grpId="0" animBg="1"/>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EE9D5C79-31BE-4DCA-BCE4-6167FD4418D2}"/>
              </a:ext>
            </a:extLst>
          </p:cNvPr>
          <p:cNvSpPr>
            <a:spLocks noGrp="1"/>
          </p:cNvSpPr>
          <p:nvPr/>
        </p:nvSpPr>
        <p:spPr>
          <a:xfrm>
            <a:off x="685800" y="266700"/>
            <a:ext cx="10820400" cy="666750"/>
          </a:xfrm>
          <a:prstGeom prst="rect">
            <a:avLst/>
          </a:prstGeom>
          <a:noFill/>
          <a:ln w="0">
            <a:noFill/>
          </a:ln>
        </p:spPr>
        <p:txBody>
          <a:bodyPr>
            <a:noAutofit/>
          </a:bodyPr>
          <a:lstStyle/>
          <a:p>
            <a:pPr>
              <a:defRPr sz="2700" b="1">
                <a:solidFill>
                  <a:srgbClr val="111111"/>
                </a:solidFill>
                <a:latin typeface="Calibri"/>
                <a:ea typeface="Calibri"/>
                <a:cs typeface="Calibri"/>
              </a:defRPr>
            </a:pPr>
            <a:r>
              <a:rPr sz="2700" b="1">
                <a:solidFill>
                  <a:srgbClr val="111111"/>
                </a:solidFill>
                <a:latin typeface="Calibri"/>
                <a:ea typeface="Calibri"/>
                <a:cs typeface="Calibri"/>
              </a:rPr>
              <a:t>Design-supported pull requests in DP II and DP III</a:t>
            </a:r>
          </a:p>
        </p:txBody>
      </p:sp>
      <p:sp>
        <p:nvSpPr>
          <p:cNvPr id="2" name="Slide Number">
            <a:extLst>
              <a:ext uri="{FF2B5EF4-FFF2-40B4-BE49-F238E27FC236}">
                <a16:creationId xmlns:a16="http://schemas.microsoft.com/office/drawing/2014/main" id="{BC6FD716-312B-46F6-AF2D-D6545192897C}"/>
              </a:ext>
            </a:extLst>
          </p:cNvPr>
          <p:cNvSpPr>
            <a:spLocks noGrp="1"/>
          </p:cNvSpPr>
          <p:nvPr/>
        </p:nvSpPr>
        <p:spPr>
          <a:xfrm>
            <a:off x="11334750" y="6438900"/>
            <a:ext cx="428625" cy="228600"/>
          </a:xfrm>
          <a:prstGeom prst="rect">
            <a:avLst/>
          </a:prstGeom>
          <a:noFill/>
          <a:ln w="0">
            <a:noFill/>
          </a:ln>
        </p:spPr>
        <p:txBody>
          <a:bodyPr>
            <a:noAutofit/>
          </a:bodyPr>
          <a:lstStyle/>
          <a:p>
            <a:pPr algn="r">
              <a:defRPr sz="1050">
                <a:solidFill>
                  <a:srgbClr val="777777"/>
                </a:solidFill>
                <a:latin typeface="Calibri"/>
                <a:ea typeface="Calibri"/>
                <a:cs typeface="Calibri"/>
              </a:defRPr>
            </a:pPr>
            <a:r>
              <a:rPr sz="1050">
                <a:solidFill>
                  <a:srgbClr val="777777"/>
                </a:solidFill>
                <a:latin typeface="Calibri"/>
                <a:ea typeface="Calibri"/>
                <a:cs typeface="Calibri"/>
              </a:rPr>
              <a:t>23</a:t>
            </a:r>
          </a:p>
        </p:txBody>
      </p:sp>
      <p:sp>
        <p:nvSpPr>
          <p:cNvPr id="3" name="Individual minimum">
            <a:extLst>
              <a:ext uri="{FF2B5EF4-FFF2-40B4-BE49-F238E27FC236}">
                <a16:creationId xmlns:a16="http://schemas.microsoft.com/office/drawing/2014/main" id="{B34BDC74-AE1F-4E46-ADE5-4EA66FAD70A6}"/>
              </a:ext>
            </a:extLst>
          </p:cNvPr>
          <p:cNvSpPr>
            <a:spLocks noGrp="1"/>
          </p:cNvSpPr>
          <p:nvPr/>
        </p:nvSpPr>
        <p:spPr>
          <a:xfrm>
            <a:off x="781050" y="990600"/>
            <a:ext cx="10629900" cy="666750"/>
          </a:xfrm>
          <a:prstGeom prst="rect">
            <a:avLst/>
          </a:prstGeom>
          <a:noFill/>
          <a:ln w="0">
            <a:noFill/>
          </a:ln>
        </p:spPr>
        <p:txBody>
          <a:bodyPr>
            <a:noAutofit/>
          </a:bodyPr>
          <a:lstStyle/>
          <a:p>
            <a:pPr>
              <a:defRPr sz="1800" b="1">
                <a:solidFill>
                  <a:srgbClr val="1F5B42"/>
                </a:solidFill>
                <a:latin typeface="Calibri"/>
                <a:ea typeface="Calibri"/>
                <a:cs typeface="Calibri"/>
              </a:defRPr>
            </a:pPr>
            <a:r>
              <a:rPr sz="1800" b="1">
                <a:solidFill>
                  <a:srgbClr val="1F5B42"/>
                </a:solidFill>
                <a:latin typeface="Calibri"/>
                <a:ea typeface="Calibri"/>
                <a:cs typeface="Calibri"/>
              </a:rPr>
              <a:t>Each student completes at least one qualifying pull request in DP II and one additional qualifying pull request in DP III.</a:t>
            </a:r>
          </a:p>
        </p:txBody>
      </p:sp>
      <p:sp>
        <p:nvSpPr>
          <p:cNvPr id="4" name="DP II Heading">
            <a:extLst>
              <a:ext uri="{FF2B5EF4-FFF2-40B4-BE49-F238E27FC236}">
                <a16:creationId xmlns:a16="http://schemas.microsoft.com/office/drawing/2014/main" id="{F9AC7C2A-D5B9-4665-B8A9-25B66F75DE13}"/>
              </a:ext>
            </a:extLst>
          </p:cNvPr>
          <p:cNvSpPr>
            <a:spLocks noGrp="1"/>
          </p:cNvSpPr>
          <p:nvPr/>
        </p:nvSpPr>
        <p:spPr>
          <a:xfrm>
            <a:off x="876300" y="1952625"/>
            <a:ext cx="4762500" cy="45720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a:solidFill>
                  <a:srgbClr val="111111"/>
                </a:solidFill>
                <a:latin typeface="Calibri"/>
                <a:ea typeface="Calibri"/>
                <a:cs typeface="Calibri"/>
              </a:rPr>
              <a:t>DP II</a:t>
            </a:r>
          </a:p>
        </p:txBody>
      </p:sp>
      <p:sp>
        <p:nvSpPr>
          <p:cNvPr id="5" name="DP II Requirements">
            <a:extLst>
              <a:ext uri="{FF2B5EF4-FFF2-40B4-BE49-F238E27FC236}">
                <a16:creationId xmlns:a16="http://schemas.microsoft.com/office/drawing/2014/main" id="{1557B534-106B-4B6B-A8D7-C471D2777A51}"/>
              </a:ext>
            </a:extLst>
          </p:cNvPr>
          <p:cNvSpPr>
            <a:spLocks noGrp="1"/>
          </p:cNvSpPr>
          <p:nvPr/>
        </p:nvSpPr>
        <p:spPr>
          <a:xfrm>
            <a:off x="876300" y="2476500"/>
            <a:ext cx="4762500" cy="2714625"/>
          </a:xfrm>
          <a:prstGeom prst="rect">
            <a:avLst/>
          </a:prstGeom>
          <a:noFill/>
          <a:ln w="0">
            <a:noFill/>
          </a:ln>
        </p:spPr>
        <p:txBody>
          <a:bodyPr>
            <a:noAutofit/>
          </a:bodyPr>
          <a:lstStyle/>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At least one meaningful individual PR.</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 linked issue with clear acceptance criteria.</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 relevant class, sequence, or architecture diagram created or updated.</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Implementation or tests that realize the documented design.</a:t>
            </a:r>
            <a:endParaRPr lang="en-US" sz="1725" dirty="0">
              <a:solidFill>
                <a:srgbClr val="111111"/>
              </a:solidFill>
              <a:latin typeface="Calibri"/>
              <a:ea typeface="Calibri"/>
              <a:cs typeface="Calibri"/>
            </a:endParaRP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lang="en-GB" sz="1725" dirty="0">
                <a:solidFill>
                  <a:srgbClr val="111111"/>
                </a:solidFill>
                <a:latin typeface="Calibri"/>
                <a:ea typeface="Calibri"/>
                <a:cs typeface="Calibri"/>
              </a:rPr>
              <a:t>The author addresses feedback from the assigned reviewers.</a:t>
            </a:r>
          </a:p>
        </p:txBody>
      </p:sp>
      <p:sp>
        <p:nvSpPr>
          <p:cNvPr id="6" name="Column Divider">
            <a:extLst>
              <a:ext uri="{FF2B5EF4-FFF2-40B4-BE49-F238E27FC236}">
                <a16:creationId xmlns:a16="http://schemas.microsoft.com/office/drawing/2014/main" id="{F35A6F46-713B-495E-8781-FCC7310A7D8D}"/>
              </a:ext>
            </a:extLst>
          </p:cNvPr>
          <p:cNvSpPr>
            <a:spLocks noGrp="1"/>
          </p:cNvSpPr>
          <p:nvPr/>
        </p:nvSpPr>
        <p:spPr>
          <a:xfrm>
            <a:off x="6038850" y="1952625"/>
            <a:ext cx="19050" cy="3333750"/>
          </a:xfrm>
          <a:prstGeom prst="rect">
            <a:avLst/>
          </a:prstGeom>
          <a:solidFill>
            <a:srgbClr val="C9C9C9"/>
          </a:solidFill>
          <a:ln w="0">
            <a:noFill/>
          </a:ln>
        </p:spPr>
        <p:txBody>
          <a:bodyPr/>
          <a:lstStyle/>
          <a:p>
            <a:endParaRPr lang="en-US"/>
          </a:p>
        </p:txBody>
      </p:sp>
      <p:sp>
        <p:nvSpPr>
          <p:cNvPr id="7" name="DP III Heading">
            <a:extLst>
              <a:ext uri="{FF2B5EF4-FFF2-40B4-BE49-F238E27FC236}">
                <a16:creationId xmlns:a16="http://schemas.microsoft.com/office/drawing/2014/main" id="{C6703CFF-79C5-480F-89F9-2CE53C404052}"/>
              </a:ext>
            </a:extLst>
          </p:cNvPr>
          <p:cNvSpPr>
            <a:spLocks noGrp="1"/>
          </p:cNvSpPr>
          <p:nvPr/>
        </p:nvSpPr>
        <p:spPr>
          <a:xfrm>
            <a:off x="6524625" y="1952625"/>
            <a:ext cx="4762500" cy="457200"/>
          </a:xfrm>
          <a:prstGeom prst="rect">
            <a:avLst/>
          </a:prstGeom>
          <a:noFill/>
          <a:ln w="0">
            <a:noFill/>
          </a:ln>
        </p:spPr>
        <p:txBody>
          <a:bodyPr>
            <a:noAutofit/>
          </a:bodyPr>
          <a:lstStyle/>
          <a:p>
            <a:pPr>
              <a:defRPr sz="2250" b="1">
                <a:solidFill>
                  <a:srgbClr val="111111"/>
                </a:solidFill>
                <a:latin typeface="Calibri"/>
                <a:ea typeface="Calibri"/>
                <a:cs typeface="Calibri"/>
              </a:defRPr>
            </a:pPr>
            <a:r>
              <a:rPr sz="2250" b="1">
                <a:solidFill>
                  <a:srgbClr val="111111"/>
                </a:solidFill>
                <a:latin typeface="Calibri"/>
                <a:ea typeface="Calibri"/>
                <a:cs typeface="Calibri"/>
              </a:rPr>
              <a:t>DP III</a:t>
            </a:r>
          </a:p>
        </p:txBody>
      </p:sp>
      <p:sp>
        <p:nvSpPr>
          <p:cNvPr id="8" name="DP III Requirements">
            <a:extLst>
              <a:ext uri="{FF2B5EF4-FFF2-40B4-BE49-F238E27FC236}">
                <a16:creationId xmlns:a16="http://schemas.microsoft.com/office/drawing/2014/main" id="{A7CB9FC1-E64B-495B-8A53-D3D550CD7E59}"/>
              </a:ext>
            </a:extLst>
          </p:cNvPr>
          <p:cNvSpPr>
            <a:spLocks noGrp="1"/>
          </p:cNvSpPr>
          <p:nvPr/>
        </p:nvSpPr>
        <p:spPr>
          <a:xfrm>
            <a:off x="6524625" y="2476500"/>
            <a:ext cx="4762500" cy="2714625"/>
          </a:xfrm>
          <a:prstGeom prst="rect">
            <a:avLst/>
          </a:prstGeom>
          <a:noFill/>
          <a:ln w="0">
            <a:noFill/>
          </a:ln>
        </p:spPr>
        <p:txBody>
          <a:bodyPr>
            <a:noAutofit/>
          </a:bodyPr>
          <a:lstStyle/>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At least one additional meaningful individual PR.</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The diagram reflects the implementation after the change.</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Tests cover the affected behavior and all required CI checks pass.</a:t>
            </a:r>
          </a:p>
          <a:p>
            <a:pPr marL="412750" indent="-285750">
              <a:spcAft>
                <a:spcPts val="1100"/>
              </a:spcAft>
              <a:buFont typeface="Arial" panose="020B0604020202020204" pitchFamily="34" charset="0"/>
              <a:buChar char="•"/>
              <a:defRPr sz="1725">
                <a:solidFill>
                  <a:srgbClr val="111111"/>
                </a:solidFill>
                <a:latin typeface="Calibri"/>
                <a:ea typeface="Calibri"/>
                <a:cs typeface="Calibri"/>
              </a:defRPr>
            </a:pPr>
            <a:r>
              <a:rPr sz="1725" dirty="0">
                <a:solidFill>
                  <a:srgbClr val="111111"/>
                </a:solidFill>
                <a:latin typeface="Calibri"/>
                <a:ea typeface="Calibri"/>
                <a:cs typeface="Calibri"/>
              </a:rPr>
              <a:t>The author addresses feedback from the assigned reviewers.</a:t>
            </a:r>
          </a:p>
        </p:txBody>
      </p:sp>
      <p:sp>
        <p:nvSpPr>
          <p:cNvPr id="9" name="Approval Requirement">
            <a:extLst>
              <a:ext uri="{FF2B5EF4-FFF2-40B4-BE49-F238E27FC236}">
                <a16:creationId xmlns:a16="http://schemas.microsoft.com/office/drawing/2014/main" id="{13C947ED-AE26-4A09-A6AF-F7359ABDA779}"/>
              </a:ext>
            </a:extLst>
          </p:cNvPr>
          <p:cNvSpPr>
            <a:spLocks noGrp="1"/>
          </p:cNvSpPr>
          <p:nvPr/>
        </p:nvSpPr>
        <p:spPr>
          <a:xfrm>
            <a:off x="781050" y="5572125"/>
            <a:ext cx="10629900" cy="666750"/>
          </a:xfrm>
          <a:prstGeom prst="rect">
            <a:avLst/>
          </a:prstGeom>
          <a:noFill/>
          <a:ln w="0">
            <a:noFill/>
          </a:ln>
        </p:spPr>
        <p:txBody>
          <a:bodyPr>
            <a:noAutofit/>
          </a:bodyPr>
          <a:lstStyle/>
          <a:p>
            <a:pPr>
              <a:defRPr sz="1725" b="1">
                <a:solidFill>
                  <a:srgbClr val="111111"/>
                </a:solidFill>
                <a:latin typeface="Calibri"/>
                <a:ea typeface="Calibri"/>
                <a:cs typeface="Calibri"/>
              </a:defRPr>
            </a:pPr>
            <a:r>
              <a:rPr sz="1725" b="1" dirty="0">
                <a:solidFill>
                  <a:srgbClr val="111111"/>
                </a:solidFill>
                <a:latin typeface="Calibri"/>
                <a:ea typeface="Calibri"/>
                <a:cs typeface="Calibri"/>
              </a:rPr>
              <a:t>Both PRs require at least two teammate approvals before merge and count toward the semester minimum of six meaningful project PRs.</a:t>
            </a:r>
          </a:p>
        </p:txBody>
      </p:sp>
    </p:spTree>
    <p:extLst>
      <p:ext uri="{BB962C8B-B14F-4D97-AF65-F5344CB8AC3E}">
        <p14:creationId xmlns:p14="http://schemas.microsoft.com/office/powerpoint/2010/main" val="3480992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973F-4AAC-6BBA-9B38-696F6C368619}"/>
              </a:ext>
            </a:extLst>
          </p:cNvPr>
          <p:cNvSpPr>
            <a:spLocks noGrp="1"/>
          </p:cNvSpPr>
          <p:nvPr>
            <p:ph type="title"/>
          </p:nvPr>
        </p:nvSpPr>
        <p:spPr>
          <a:xfrm>
            <a:off x="838200" y="0"/>
            <a:ext cx="10515600" cy="1325563"/>
          </a:xfrm>
        </p:spPr>
        <p:txBody>
          <a:bodyPr/>
          <a:lstStyle/>
          <a:p>
            <a:r>
              <a:rPr lang="en-BE" dirty="0"/>
              <a:t>How Your Design Discipline Is Graded</a:t>
            </a:r>
          </a:p>
        </p:txBody>
      </p:sp>
      <p:sp>
        <p:nvSpPr>
          <p:cNvPr id="3" name="Content Placeholder 2">
            <a:extLst>
              <a:ext uri="{FF2B5EF4-FFF2-40B4-BE49-F238E27FC236}">
                <a16:creationId xmlns:a16="http://schemas.microsoft.com/office/drawing/2014/main" id="{CDA2F6D2-1C9C-329F-0736-4BD87688D870}"/>
              </a:ext>
            </a:extLst>
          </p:cNvPr>
          <p:cNvSpPr>
            <a:spLocks noGrp="1"/>
          </p:cNvSpPr>
          <p:nvPr>
            <p:ph idx="1"/>
          </p:nvPr>
        </p:nvSpPr>
        <p:spPr>
          <a:xfrm>
            <a:off x="838200" y="1325563"/>
            <a:ext cx="10515600" cy="4351338"/>
          </a:xfrm>
        </p:spPr>
        <p:txBody>
          <a:bodyPr/>
          <a:lstStyle/>
          <a:p>
            <a:r>
              <a:rPr lang="en-BE" dirty="0"/>
              <a:t>Design Portfolios II &amp; III — every major feature needs diagrams linked to its PR.</a:t>
            </a:r>
            <a:br>
              <a:rPr lang="en-GB" dirty="0"/>
            </a:br>
            <a:endParaRPr lang="en-BE" dirty="0"/>
          </a:p>
        </p:txBody>
      </p:sp>
      <p:sp>
        <p:nvSpPr>
          <p:cNvPr id="4" name="Slide Number Placeholder 3">
            <a:extLst>
              <a:ext uri="{FF2B5EF4-FFF2-40B4-BE49-F238E27FC236}">
                <a16:creationId xmlns:a16="http://schemas.microsoft.com/office/drawing/2014/main" id="{F8BABE01-23A1-652A-CBB6-5FAA459AED6F}"/>
              </a:ext>
            </a:extLst>
          </p:cNvPr>
          <p:cNvSpPr>
            <a:spLocks noGrp="1"/>
          </p:cNvSpPr>
          <p:nvPr>
            <p:ph type="sldNum" sz="quarter" idx="12"/>
          </p:nvPr>
        </p:nvSpPr>
        <p:spPr/>
        <p:txBody>
          <a:bodyPr/>
          <a:lstStyle/>
          <a:p>
            <a:fld id="{76FC44FA-978A-2F4D-B308-AF3FA2E1E6ED}" type="slidenum">
              <a:rPr lang="en-BE" smtClean="0"/>
              <a:t>22</a:t>
            </a:fld>
            <a:endParaRPr lang="en-BE"/>
          </a:p>
        </p:txBody>
      </p:sp>
      <p:pic>
        <p:nvPicPr>
          <p:cNvPr id="7" name="Picture 6">
            <a:extLst>
              <a:ext uri="{FF2B5EF4-FFF2-40B4-BE49-F238E27FC236}">
                <a16:creationId xmlns:a16="http://schemas.microsoft.com/office/drawing/2014/main" id="{2A424249-D43B-3514-6F17-5A7675C21A56}"/>
              </a:ext>
            </a:extLst>
          </p:cNvPr>
          <p:cNvPicPr>
            <a:picLocks noChangeAspect="1"/>
          </p:cNvPicPr>
          <p:nvPr/>
        </p:nvPicPr>
        <p:blipFill>
          <a:blip r:embed="rId2"/>
          <a:stretch>
            <a:fillRect/>
          </a:stretch>
        </p:blipFill>
        <p:spPr>
          <a:xfrm>
            <a:off x="715541" y="2005012"/>
            <a:ext cx="10897899" cy="2884229"/>
          </a:xfrm>
          <a:prstGeom prst="rect">
            <a:avLst/>
          </a:prstGeom>
        </p:spPr>
      </p:pic>
    </p:spTree>
    <p:extLst>
      <p:ext uri="{BB962C8B-B14F-4D97-AF65-F5344CB8AC3E}">
        <p14:creationId xmlns:p14="http://schemas.microsoft.com/office/powerpoint/2010/main" val="2764392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14320</TotalTime>
  <Words>2850</Words>
  <Application>Microsoft Macintosh PowerPoint</Application>
  <PresentationFormat>Widescreen</PresentationFormat>
  <Paragraphs>391</Paragraphs>
  <Slides>22</Slides>
  <Notes>20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Courier New</vt:lpstr>
      <vt:lpstr>Office Theme</vt:lpstr>
      <vt:lpstr>Designing Software Systems for Collaborative Development</vt:lpstr>
      <vt:lpstr>Announcements</vt:lpstr>
      <vt:lpstr>PowerPoint Presentation</vt:lpstr>
      <vt:lpstr>PowerPoint Presentation</vt:lpstr>
      <vt:lpstr>Design is the bridge from messy reality to stable collaboration</vt:lpstr>
      <vt:lpstr>Every feature travels the same path: requirements → design → PR → merge</vt:lpstr>
      <vt:lpstr>Design Is About Controlling Change</vt:lpstr>
      <vt:lpstr>The Vocabulary of Good Design</vt:lpstr>
      <vt:lpstr>Design before You Code</vt:lpstr>
      <vt:lpstr>PowerPoint Presentation</vt:lpstr>
      <vt:lpstr>Make the design change visible before the code change</vt:lpstr>
      <vt:lpstr>Your PR changes one street, not the whole city</vt:lpstr>
      <vt:lpstr>Example PR: Add Traffic Light Support</vt:lpstr>
      <vt:lpstr>Traffic-light PR: the structural and behavioral changes</vt:lpstr>
      <vt:lpstr>PowerPoint Presentation</vt:lpstr>
      <vt:lpstr>PowerPoint Presentation</vt:lpstr>
      <vt:lpstr>From Diagram to Implementation</vt:lpstr>
      <vt:lpstr>From Diagram to Implementation</vt:lpstr>
      <vt:lpstr>PowerPoint Presentation</vt:lpstr>
      <vt:lpstr>PowerPoint Presentation</vt:lpstr>
      <vt:lpstr>PowerPoint Presentation</vt:lpstr>
      <vt:lpstr>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with Unified Modeling Language</dc:title>
  <dc:creator>John Businge</dc:creator>
  <cp:lastModifiedBy>John Businge</cp:lastModifiedBy>
  <cp:revision>69</cp:revision>
  <dcterms:created xsi:type="dcterms:W3CDTF">2023-10-02T17:24:10Z</dcterms:created>
  <dcterms:modified xsi:type="dcterms:W3CDTF">2026-09-16T18:15:38Z</dcterms:modified>
</cp:coreProperties>
</file>