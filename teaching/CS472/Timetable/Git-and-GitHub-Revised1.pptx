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95" r:id="rId5"/>
    <p:sldId id="260" r:id="rId6"/>
    <p:sldId id="296" r:id="rId7"/>
    <p:sldId id="262" r:id="rId8"/>
    <p:sldId id="261" r:id="rId9"/>
    <p:sldId id="263" r:id="rId10"/>
    <p:sldId id="264" r:id="rId11"/>
    <p:sldId id="297" r:id="rId12"/>
    <p:sldId id="270" r:id="rId13"/>
    <p:sldId id="271" r:id="rId14"/>
    <p:sldId id="298" r:id="rId15"/>
    <p:sldId id="299" r:id="rId16"/>
    <p:sldId id="300" r:id="rId17"/>
    <p:sldId id="272" r:id="rId18"/>
    <p:sldId id="301" r:id="rId19"/>
    <p:sldId id="302"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59987"/>
  </p:normalViewPr>
  <p:slideViewPr>
    <p:cSldViewPr snapToGrid="0">
      <p:cViewPr varScale="1">
        <p:scale>
          <a:sx n="78" d="100"/>
          <a:sy n="78" d="100"/>
        </p:scale>
        <p:origin x="204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dear all! Welcome to the second lesson of this class.</a:t>
            </a:r>
          </a:p>
          <a:p>
            <a:r>
              <a:t>In this class we shall be looking at Git and GitHub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 us dive in and learn about Git and GitHub.</a:t>
            </a:r>
          </a:p>
          <a:p>
            <a:endParaRPr lang="en-BE" dirty="0"/>
          </a:p>
          <a:p>
            <a:pPr marL="228600" indent="-228600">
              <a:buFont typeface="+mj-lt"/>
              <a:buAutoNum type="arabicPeriod"/>
            </a:pPr>
            <a:r>
              <a:rPr lang="en-BE" dirty="0"/>
              <a:t>When you are developing a software project, you manage a tone of files. These files include documentation, code, configurations</a:t>
            </a:r>
          </a:p>
          <a:p>
            <a:pPr marL="228600" indent="-228600">
              <a:buFont typeface="+mj-lt"/>
              <a:buAutoNum type="arabicPeriod"/>
            </a:pPr>
            <a:r>
              <a:rPr lang="en-BE" dirty="0"/>
              <a:t>Imagine you are involved in maintaining a software project deployed on a network. You introduce a new feature in the project, test it and roll it out. After that, you realize that half of the clients are broken. This implies that the feature was not properly tested. You may be tempted to provide a a quick fix, but in most cases the quick fix will not provide the solution to the problem.</a:t>
            </a:r>
          </a:p>
          <a:p>
            <a:pPr marL="228600" indent="-228600">
              <a:buFont typeface="+mj-lt"/>
              <a:buAutoNum type="arabicPeriod"/>
            </a:pPr>
            <a:r>
              <a:rPr lang="en-GB" dirty="0"/>
              <a:t>To avoid these headaches, you can use a version control system to easily roll back your code to the previous version. Since you know that this version was working correctly before the change was made, it would be safe to go back to that one until you had time to fix the code, run some tests, and make sure everything works correctly for all machine models. By releasing code only after properly testing, you avoid having to push quick-fix after quick-fix.</a:t>
            </a:r>
          </a:p>
          <a:p>
            <a:pPr marL="228600" indent="-228600">
              <a:buFont typeface="+mj-lt"/>
              <a:buAutoNum type="arabicPeriod"/>
            </a:pPr>
            <a:r>
              <a:rPr lang="en-BE" dirty="0"/>
              <a:t>In this class we shall look one of the popular VCS called git.</a:t>
            </a:r>
          </a:p>
        </p:txBody>
      </p:sp>
      <p:sp>
        <p:nvSpPr>
          <p:cNvPr id="4" name="Slide Number Placeholder 3"/>
          <p:cNvSpPr>
            <a:spLocks noGrp="1"/>
          </p:cNvSpPr>
          <p:nvPr>
            <p:ph type="sldNum" sz="quarter" idx="5"/>
          </p:nvPr>
        </p:nvSpPr>
        <p:spPr/>
        <p:txBody>
          <a:bodyPr/>
          <a:lstStyle/>
          <a:p>
            <a:fld id="{60BA473E-7E22-714F-AE41-F8C01DB2EE9C}" type="slidenum">
              <a:rPr lang="en-BE" smtClean="0"/>
              <a:t>4</a:t>
            </a:fld>
            <a:endParaRPr lang="en-BE"/>
          </a:p>
        </p:txBody>
      </p:sp>
    </p:spTree>
    <p:extLst>
      <p:ext uri="{BB962C8B-B14F-4D97-AF65-F5344CB8AC3E}">
        <p14:creationId xmlns:p14="http://schemas.microsoft.com/office/powerpoint/2010/main" val="3165112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t>So, </a:t>
            </a:r>
            <a:r>
              <a:rPr b="0" i="0">
                <a:solidFill>
                  <a:srgbClr val="1F1F1F"/>
                </a:solidFill>
                <a:latin typeface="Source Sans Pro"/>
                <a:ea typeface="Source Sans Pro"/>
                <a:cs typeface="Source Sans Pro"/>
              </a:rPr>
              <a:t>What is version control system Git?</a:t>
            </a: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r>
              <a:rPr b="0" i="0">
                <a:solidFill>
                  <a:srgbClr val="1F1F1F"/>
                </a:solidFill>
                <a:latin typeface="Source Sans Pro"/>
                <a:ea typeface="Source Sans Pro"/>
                <a:cs typeface="Source Sans Pro"/>
              </a:rPr>
              <a:t>Git is now one of the most popular version control systems out there and is used in millions of projects.</a:t>
            </a: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now look at how we can work with Git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now let us start with ‘git </a:t>
            </a:r>
            <a:r>
              <a:rPr lang="en-GB" dirty="0" err="1"/>
              <a:t>init</a:t>
            </a:r>
            <a:r>
              <a:rPr lang="en-GB" dirty="0"/>
              <a:t>’ and look at git clone later.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Git </a:t>
            </a:r>
            <a:r>
              <a:rPr lang="en-GB" dirty="0" err="1"/>
              <a:t>init</a:t>
            </a:r>
            <a:r>
              <a:rPr lang="en-GB" dirty="0"/>
              <a:t> – When we run git </a:t>
            </a:r>
            <a:r>
              <a:rPr lang="en-GB" dirty="0" err="1"/>
              <a:t>init</a:t>
            </a:r>
            <a:r>
              <a:rPr lang="en-GB" dirty="0"/>
              <a:t>, an empty working directory returned.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We will also have a “.git directory”, which we see as a database for your Git project that stores the changes and the change history.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6</a:t>
            </a:fld>
            <a:endParaRPr lang="en-BE"/>
          </a:p>
        </p:txBody>
      </p:sp>
    </p:spTree>
    <p:extLst>
      <p:ext uri="{BB962C8B-B14F-4D97-AF65-F5344CB8AC3E}">
        <p14:creationId xmlns:p14="http://schemas.microsoft.com/office/powerpoint/2010/main" val="3728018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1. Let us  copy the file menu1.txt into our previously created empty working directory. After adding it, this file will be in the working tree, but untracked by git since it has not been added to the .git 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2. To track it, we should run the command git add &lt;filename&gt;. We see that our new file is marked to be committed, this means that our change is currently in the staging area.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3. To get it committed into the .git directory, we run the git commit command. When we run this command, we tell Git that we want to save our changes. It opens a text editor where we can enter a commit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We'll dive deep into writing good commit messages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4. This is called the “Git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7</a:t>
            </a:fld>
            <a:endParaRPr lang="en-BE"/>
          </a:p>
        </p:txBody>
      </p:sp>
    </p:spTree>
    <p:extLst>
      <p:ext uri="{BB962C8B-B14F-4D97-AF65-F5344CB8AC3E}">
        <p14:creationId xmlns:p14="http://schemas.microsoft.com/office/powerpoint/2010/main" val="3984970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is a good commit message?</a:t>
            </a:r>
          </a:p>
          <a:p>
            <a:endParaRPr lang="en-GB" dirty="0"/>
          </a:p>
          <a:p>
            <a:pPr marL="228600" indent="-228600">
              <a:buAutoNum type="arabicPeriod"/>
            </a:pPr>
            <a:r>
              <a:rPr lang="en-GB" dirty="0"/>
              <a:t>Sometimes it can be tempting to just write something short like update, change or fix as the description of our commit messages. Don't do it. It's super frustrating to go back to repositories history and discover that there's not enough context to understand what was changed and why.</a:t>
            </a:r>
          </a:p>
          <a:p>
            <a:pPr marL="228600" indent="-228600">
              <a:buAutoNum type="arabicPeriod"/>
            </a:pPr>
            <a:r>
              <a:rPr lang="en-GB" dirty="0"/>
              <a:t>It takes only a few more seconds to write a better description. This can be invaluable down the line. </a:t>
            </a:r>
          </a:p>
          <a:p>
            <a:pPr marL="685800" lvl="1" indent="-228600">
              <a:buFont typeface="Arial" panose="020B0604020202020204" pitchFamily="34" charset="0"/>
              <a:buChar char="•"/>
            </a:pPr>
            <a:r>
              <a:rPr lang="en-GB" dirty="0"/>
              <a:t>Following these guidelines can help make your commit message really useful, and the investment of work now will really pay off later. Writing a clear, informative commit message is important when using a VCS and working in a team.</a:t>
            </a:r>
          </a:p>
          <a:p>
            <a:pPr marL="685800" lvl="1" indent="-228600">
              <a:buFont typeface="Arial" panose="020B0604020202020204" pitchFamily="34" charset="0"/>
              <a:buChar char="•"/>
            </a:pPr>
            <a:r>
              <a:rPr lang="en-GB" dirty="0"/>
              <a:t>Future, you or others who might read the commit message, later on, will really appreciate the contextual information as they try and figure out some of the parts of the code or configuration</a:t>
            </a:r>
          </a:p>
          <a:p>
            <a:endParaRPr lang="en-GB" dirty="0"/>
          </a:p>
          <a:p>
            <a:r>
              <a:rPr lang="en-GB" dirty="0"/>
              <a:t>2. Short commit message</a:t>
            </a:r>
          </a:p>
          <a:p>
            <a:endParaRPr lang="en-GB" dirty="0"/>
          </a:p>
          <a:p>
            <a:r>
              <a:rPr lang="en-GB" dirty="0"/>
              <a:t>3. Detailed commit message.</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8</a:t>
            </a:fld>
            <a:endParaRPr lang="en-BE"/>
          </a:p>
        </p:txBody>
      </p:sp>
    </p:spTree>
    <p:extLst>
      <p:ext uri="{BB962C8B-B14F-4D97-AF65-F5344CB8AC3E}">
        <p14:creationId xmlns:p14="http://schemas.microsoft.com/office/powerpoint/2010/main" val="26712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Source Sans Pro" panose="020B0503030403020204" pitchFamily="34" charset="0"/>
              </a:rPr>
              <a:t>Now, let us look at </a:t>
            </a:r>
            <a:r>
              <a:rPr lang="en-GB" sz="1200" b="0" i="0" dirty="0">
                <a:solidFill>
                  <a:srgbClr val="1F1F1F"/>
                </a:solidFill>
                <a:effectLst/>
                <a:latin typeface="Source Sans Pro" panose="020B0503030403020204" pitchFamily="34" charset="0"/>
              </a:rPr>
              <a:t>Getting More Information About Our Changes</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These commands are very useful to track changes of your commits: git log, –p, --stat, and git show.</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1. Recall that we have one commit in our git repository having one file &lt;Menu1.text&gt;</a:t>
            </a:r>
          </a:p>
          <a:p>
            <a:r>
              <a:rPr lang="en-GB" b="0" i="0" dirty="0">
                <a:solidFill>
                  <a:srgbClr val="1F1F1F"/>
                </a:solidFill>
                <a:effectLst/>
                <a:latin typeface="Source Sans Pro" panose="020B0503030403020204" pitchFamily="34" charset="0"/>
              </a:rPr>
              <a:t>2. When we run git log will list all the commits and their details</a:t>
            </a:r>
          </a:p>
          <a:p>
            <a:r>
              <a:rPr lang="en-GB" b="0" i="0" dirty="0">
                <a:solidFill>
                  <a:srgbClr val="1F1F1F"/>
                </a:solidFill>
                <a:effectLst/>
                <a:latin typeface="Source Sans Pro" panose="020B0503030403020204" pitchFamily="34" charset="0"/>
              </a:rPr>
              <a:t>3. Git log –p will show you the commits and details of their patches</a:t>
            </a:r>
          </a:p>
          <a:p>
            <a:r>
              <a:rPr lang="en-GB" b="0" i="0" dirty="0">
                <a:solidFill>
                  <a:srgbClr val="1F1F1F"/>
                </a:solidFill>
                <a:effectLst/>
                <a:latin typeface="Source Sans Pro" panose="020B0503030403020204" pitchFamily="34" charset="0"/>
              </a:rPr>
              <a:t>4. Git –stat will return the statistics</a:t>
            </a:r>
          </a:p>
          <a:p>
            <a:r>
              <a:rPr lang="en-GB" b="0" i="0" dirty="0">
                <a:solidFill>
                  <a:srgbClr val="1F1F1F"/>
                </a:solidFill>
                <a:effectLst/>
                <a:latin typeface="Source Sans Pro" panose="020B0503030403020204" pitchFamily="34" charset="0"/>
              </a:rPr>
              <a:t>5. </a:t>
            </a:r>
            <a:r>
              <a:rPr lang="en-GB" dirty="0"/>
              <a:t>Git show  - shows details of a commit and its patch</a:t>
            </a: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9</a:t>
            </a:fld>
            <a:endParaRPr lang="en-BE"/>
          </a:p>
        </p:txBody>
      </p:sp>
    </p:spTree>
    <p:extLst>
      <p:ext uri="{BB962C8B-B14F-4D97-AF65-F5344CB8AC3E}">
        <p14:creationId xmlns:p14="http://schemas.microsoft.com/office/powerpoint/2010/main" val="1951555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0" i="0" dirty="0">
                <a:solidFill>
                  <a:srgbClr val="1F1F1F"/>
                </a:solidFill>
                <a:effectLst/>
                <a:latin typeface="Source Sans Pro" panose="020B0503030403020204" pitchFamily="34" charset="0"/>
              </a:rPr>
              <a:t>These commands we have looked at work on changes that have either been staged or committed</a:t>
            </a:r>
          </a:p>
          <a:p>
            <a:pPr marL="228600" indent="-228600">
              <a:buAutoNum type="arabicPeriod"/>
            </a:pPr>
            <a:endParaRPr lang="en-GB" b="0" i="0" dirty="0">
              <a:solidFill>
                <a:srgbClr val="1F1F1F"/>
              </a:solidFill>
              <a:effectLst/>
              <a:latin typeface="Source Sans Pro" panose="020B0503030403020204" pitchFamily="34" charset="0"/>
            </a:endParaRPr>
          </a:p>
          <a:p>
            <a:pPr marL="228600" indent="-228600">
              <a:buAutoNum type="arabicPeriod"/>
            </a:pPr>
            <a:r>
              <a:rPr lang="en-GB" b="0" i="0" dirty="0">
                <a:solidFill>
                  <a:srgbClr val="1F1F1F"/>
                </a:solidFill>
                <a:effectLst/>
                <a:latin typeface="Source Sans Pro" panose="020B0503030403020204" pitchFamily="34" charset="0"/>
              </a:rPr>
              <a:t>Sometimes it can take a while before you can commit your changes, especially when you are working on an involving use case. Before committing it, you need to make sure that it works correctly. Check that all the test cases are covered and so on and so on. So while doing this you find bugs in your code that you need to fix. It's only natural that by the time you get to the commit step you don't really remember everything you changed.</a:t>
            </a:r>
          </a:p>
          <a:p>
            <a:pPr marL="228600" indent="-228600">
              <a:buAutoNum type="arabicPeriod"/>
            </a:pPr>
            <a:r>
              <a:rPr lang="en-GB" b="0" i="0" dirty="0">
                <a:solidFill>
                  <a:srgbClr val="1F1F1F"/>
                </a:solidFill>
                <a:effectLst/>
                <a:latin typeface="Source Sans Pro" panose="020B0503030403020204" pitchFamily="34" charset="0"/>
              </a:rPr>
              <a:t>To help us keep track git gives us the “git diff” command.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b="0" i="0" dirty="0">
                <a:solidFill>
                  <a:srgbClr val="1F1F1F"/>
                </a:solidFill>
                <a:effectLst/>
                <a:latin typeface="Source Sans Pro" panose="020B0503030403020204" pitchFamily="34" charset="0"/>
              </a:rPr>
              <a:t>Let's make a new change to our script and then try this command out. </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10</a:t>
            </a:fld>
            <a:endParaRPr lang="en-BE"/>
          </a:p>
        </p:txBody>
      </p:sp>
    </p:spTree>
    <p:extLst>
      <p:ext uri="{BB962C8B-B14F-4D97-AF65-F5344CB8AC3E}">
        <p14:creationId xmlns:p14="http://schemas.microsoft.com/office/powerpoint/2010/main" val="4290257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mj-lt"/>
              <a:buNone/>
            </a:pPr>
            <a:r>
              <a:rPr lang="en-GB" dirty="0"/>
              <a:t>Now let us look at another aspect of git – undoing changes</a:t>
            </a:r>
          </a:p>
          <a:p>
            <a:pPr marL="0" lvl="0" indent="0">
              <a:buFont typeface="+mj-lt"/>
              <a:buNone/>
            </a:pPr>
            <a:endParaRPr lang="en-GB" dirty="0"/>
          </a:p>
          <a:p>
            <a:pPr marL="228600" indent="-228600">
              <a:buFont typeface="+mj-lt"/>
              <a:buAutoNum type="arabicPeriod"/>
            </a:pPr>
            <a:r>
              <a:rPr lang="en-GB" dirty="0"/>
              <a:t>At the beginning of this class we discussed about the possibility of rolling back changes to an earlier version so that we can fix a stubborn bug. There's a bunch of different techniques available depending on which changes we need to undo. </a:t>
            </a:r>
          </a:p>
          <a:p>
            <a:pPr marL="228600" indent="-228600">
              <a:buFont typeface="+mj-lt"/>
              <a:buAutoNum type="arabicPeriod"/>
            </a:pPr>
            <a:r>
              <a:rPr lang="en-GB" dirty="0"/>
              <a:t>One of these commands is git checkout/restore (it is used to undo untracked changes). Back to our running example—menu2.txt, assuming we delete banana and we realise that it was done out of error. Of course this is a trivial example, but in practice you might make many changes spanning many files.</a:t>
            </a:r>
          </a:p>
          <a:p>
            <a:pPr marL="228600" indent="-228600">
              <a:buFont typeface="+mj-lt"/>
              <a:buAutoNum type="arabicPeriod"/>
            </a:pPr>
            <a:r>
              <a:rPr lang="en-BE" dirty="0"/>
              <a:t>Reverting untracked changes: </a:t>
            </a:r>
            <a:r>
              <a:rPr lang="en-GB" dirty="0"/>
              <a:t>git checkout/restore</a:t>
            </a:r>
            <a:endParaRPr lang="en-BE" dirty="0"/>
          </a:p>
          <a:p>
            <a:pPr marL="685800" lvl="1" indent="-228600">
              <a:buFont typeface="+mj-lt"/>
              <a:buAutoNum type="arabicPeriod"/>
            </a:pPr>
            <a:r>
              <a:rPr lang="en-GB" dirty="0"/>
              <a:t>T</a:t>
            </a:r>
            <a:r>
              <a:rPr lang="en-BE" dirty="0"/>
              <a:t>hen run git status. We can see that menu.txt is untracked and also git gives us suggestions on what to do</a:t>
            </a:r>
          </a:p>
          <a:p>
            <a:pPr marL="685800" lvl="1" indent="-228600">
              <a:buFont typeface="+mj-lt"/>
              <a:buAutoNum type="arabicPeriod"/>
            </a:pPr>
            <a:r>
              <a:rPr lang="en-BE" dirty="0"/>
              <a:t>We then run git checkout followed by git status. We can see that working tree is not clean</a:t>
            </a:r>
          </a:p>
          <a:p>
            <a:pPr marL="228600" lvl="0" indent="-228600">
              <a:buFont typeface="+mj-lt"/>
              <a:buAutoNum type="arabicPeriod"/>
            </a:pPr>
            <a:r>
              <a:rPr lang="en-BE" dirty="0"/>
              <a:t>The next command is </a:t>
            </a:r>
            <a:r>
              <a:rPr lang="en-BE" dirty="0">
                <a:solidFill>
                  <a:srgbClr val="18827F"/>
                </a:solidFill>
              </a:rPr>
              <a:t>git reset/restore (</a:t>
            </a:r>
            <a:r>
              <a:rPr lang="en-BE" dirty="0"/>
              <a:t>Reverting staged changes</a:t>
            </a:r>
            <a:r>
              <a:rPr lang="en-BE" dirty="0">
                <a:sym typeface="Wingdings" pitchFamily="2" charset="2"/>
              </a:rPr>
              <a:t>. </a:t>
            </a:r>
            <a:r>
              <a:rPr lang="en-BE" dirty="0"/>
              <a:t>Let us asume that we created a new file called temp.txt that is meant not to be tracked. </a:t>
            </a:r>
          </a:p>
          <a:p>
            <a:pPr marL="685800" lvl="1" indent="-228600">
              <a:buFont typeface="+mj-lt"/>
              <a:buAutoNum type="arabicPeriod"/>
            </a:pPr>
            <a:r>
              <a:rPr lang="en-BE" dirty="0"/>
              <a:t>We accidentally add it to the staging area</a:t>
            </a:r>
          </a:p>
          <a:p>
            <a:pPr marL="685800" lvl="1" indent="-228600">
              <a:buFont typeface="+mj-lt"/>
              <a:buAutoNum type="arabicPeriod"/>
            </a:pPr>
            <a:r>
              <a:rPr lang="en-GB" dirty="0"/>
              <a:t>G</a:t>
            </a:r>
            <a:r>
              <a:rPr lang="en-BE" dirty="0"/>
              <a:t>it gives us a suggestion on what we can do with the tracked file</a:t>
            </a:r>
          </a:p>
          <a:p>
            <a:pPr marL="685800" lvl="1" indent="-228600">
              <a:buFont typeface="+mj-lt"/>
              <a:buAutoNum type="arabicPeriod"/>
            </a:pPr>
            <a:r>
              <a:rPr lang="en-GB" dirty="0"/>
              <a:t>W</a:t>
            </a:r>
            <a:r>
              <a:rPr lang="en-BE" dirty="0"/>
              <a:t>e run git restore to untrack the temp.txt</a:t>
            </a:r>
          </a:p>
          <a:p>
            <a:endParaRPr lang="en-GB" dirty="0"/>
          </a:p>
          <a:p>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11</a:t>
            </a:fld>
            <a:endParaRPr lang="en-BE"/>
          </a:p>
        </p:txBody>
      </p:sp>
    </p:spTree>
    <p:extLst>
      <p:ext uri="{BB962C8B-B14F-4D97-AF65-F5344CB8AC3E}">
        <p14:creationId xmlns:p14="http://schemas.microsoft.com/office/powerpoint/2010/main" val="1637058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BE" dirty="0">
                <a:solidFill>
                  <a:srgbClr val="1D15C5"/>
                </a:solidFill>
              </a:rPr>
              <a:t>The next command is: git revert commit (undoing committed changes). The output of the command is the </a:t>
            </a:r>
            <a:r>
              <a:rPr lang="en-GB" dirty="0">
                <a:solidFill>
                  <a:srgbClr val="1D15C5"/>
                </a:solidFill>
              </a:rPr>
              <a:t>“i</a:t>
            </a:r>
            <a:r>
              <a:rPr lang="en-BE" dirty="0">
                <a:solidFill>
                  <a:srgbClr val="1D15C5"/>
                </a:solidFill>
              </a:rPr>
              <a:t>nverse of the committed commit”</a:t>
            </a:r>
            <a:endParaRPr lang="en-GB" dirty="0"/>
          </a:p>
          <a:p>
            <a:pPr marL="228600" indent="-228600">
              <a:buFont typeface="+mj-lt"/>
              <a:buAutoNum type="arabicPeriod"/>
            </a:pPr>
            <a:r>
              <a:rPr lang="en-GB" dirty="0"/>
              <a:t>Fixing your work before you commit is good. But what happens if it's already been snapshotted by Git (already committed)? </a:t>
            </a:r>
          </a:p>
          <a:p>
            <a:pPr marL="228600" indent="-228600">
              <a:buFont typeface="+mj-lt"/>
              <a:buAutoNum type="arabicPeriod"/>
            </a:pPr>
            <a:r>
              <a:rPr lang="en-GB" dirty="0"/>
              <a:t>Git revert HEAD will help us produce the inverse of the committed changes</a:t>
            </a:r>
          </a:p>
          <a:p>
            <a:pPr marL="228600" indent="-228600">
              <a:buFont typeface="+mj-lt"/>
              <a:buAutoNum type="arabicPeriod"/>
            </a:pPr>
            <a:endParaRPr lang="en-GB" dirty="0"/>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12</a:t>
            </a:fld>
            <a:endParaRPr lang="en-BE"/>
          </a:p>
        </p:txBody>
      </p:sp>
    </p:spTree>
    <p:extLst>
      <p:ext uri="{BB962C8B-B14F-4D97-AF65-F5344CB8AC3E}">
        <p14:creationId xmlns:p14="http://schemas.microsoft.com/office/powerpoint/2010/main" val="2108591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b="0" i="0" dirty="0">
                <a:solidFill>
                  <a:srgbClr val="1F1F1F"/>
                </a:solidFill>
                <a:effectLst/>
                <a:latin typeface="Source Sans Pro" panose="020B0503030403020204" pitchFamily="34" charset="0"/>
              </a:rPr>
              <a:t>Branches are an important part of the Git workflow. What is a branch? A branch represents an independent line of development in a project. Branching is a common practice in software development. </a:t>
            </a:r>
          </a:p>
          <a:p>
            <a:pPr marL="228600" indent="-228600">
              <a:buFont typeface="+mj-lt"/>
              <a:buAutoNum type="arabicPeriod"/>
            </a:pPr>
            <a:r>
              <a:rPr lang="en-GB" b="0" i="0" dirty="0">
                <a:solidFill>
                  <a:srgbClr val="1F1F1F"/>
                </a:solidFill>
                <a:effectLst/>
                <a:latin typeface="Source Sans Pro" panose="020B0503030403020204" pitchFamily="34" charset="0"/>
              </a:rPr>
              <a:t>Developers create branches to develop features or create patches and merge the changes back into the main branch when they are fully developed.</a:t>
            </a:r>
          </a:p>
          <a:p>
            <a:pPr marL="228600" indent="-228600">
              <a:buFont typeface="+mj-lt"/>
              <a:buAutoNum type="arabicPeriod"/>
            </a:pPr>
            <a:r>
              <a:rPr lang="en-GB" b="0" i="0" dirty="0">
                <a:solidFill>
                  <a:srgbClr val="333333"/>
                </a:solidFill>
                <a:effectLst/>
                <a:latin typeface="OpenSans"/>
              </a:rPr>
              <a:t>Creating a branch and switching to it immediately is a pretty common task. So common that git gives us a useful shortcut to create a new branch and to switch to it in a single command. We can use the &lt;git checkout -b new branch&gt; to do this.</a:t>
            </a:r>
          </a:p>
          <a:p>
            <a:pPr marL="228600" indent="-228600">
              <a:buFont typeface="+mj-lt"/>
              <a:buAutoNum type="arabicPeriod"/>
            </a:pPr>
            <a:r>
              <a:rPr lang="en-GB" b="0" i="0" dirty="0">
                <a:solidFill>
                  <a:srgbClr val="333333"/>
                </a:solidFill>
                <a:effectLst/>
                <a:latin typeface="OpenSans"/>
              </a:rPr>
              <a:t>Let us add a file in the new-feature called </a:t>
            </a:r>
            <a:r>
              <a:rPr lang="en-GB" b="0" i="0" dirty="0" err="1">
                <a:solidFill>
                  <a:srgbClr val="333333"/>
                </a:solidFill>
                <a:effectLst/>
                <a:latin typeface="OpenSans"/>
              </a:rPr>
              <a:t>memory.py</a:t>
            </a:r>
            <a:r>
              <a:rPr lang="en-GB" b="0" i="0" dirty="0">
                <a:solidFill>
                  <a:srgbClr val="333333"/>
                </a:solidFill>
                <a:effectLst/>
                <a:latin typeface="OpenSans"/>
              </a:rPr>
              <a:t> and commit it. When we call git log -2 we see that the new-feature is at the HEAD. While master and bug-fixing branches are pointing </a:t>
            </a:r>
            <a:r>
              <a:rPr lang="en-BE" dirty="0"/>
              <a:t>to an earlier snapshot of the project</a:t>
            </a:r>
          </a:p>
        </p:txBody>
      </p:sp>
      <p:sp>
        <p:nvSpPr>
          <p:cNvPr id="4" name="Slide Number Placeholder 3"/>
          <p:cNvSpPr>
            <a:spLocks noGrp="1"/>
          </p:cNvSpPr>
          <p:nvPr>
            <p:ph type="sldNum" sz="quarter" idx="5"/>
          </p:nvPr>
        </p:nvSpPr>
        <p:spPr/>
        <p:txBody>
          <a:bodyPr/>
          <a:lstStyle/>
          <a:p>
            <a:fld id="{60BA473E-7E22-714F-AE41-F8C01DB2EE9C}" type="slidenum">
              <a:rPr lang="en-BE" smtClean="0"/>
              <a:t>13</a:t>
            </a:fld>
            <a:endParaRPr lang="en-BE"/>
          </a:p>
        </p:txBody>
      </p:sp>
    </p:spTree>
    <p:extLst>
      <p:ext uri="{BB962C8B-B14F-4D97-AF65-F5344CB8AC3E}">
        <p14:creationId xmlns:p14="http://schemas.microsoft.com/office/powerpoint/2010/main" val="1363821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BE" dirty="0"/>
              <a:t>We have looked at how we can create branches and also commit changes to those branches. Remember that the branch is meant to experiment a feature/bug fix and when fully developed we integrate the feature or bugfix into the main/master branch</a:t>
            </a:r>
          </a:p>
          <a:p>
            <a:pPr marL="228600" indent="-228600">
              <a:buFont typeface="+mj-lt"/>
              <a:buAutoNum type="arabicPeriod"/>
            </a:pPr>
            <a:r>
              <a:rPr lang="en-BE" dirty="0"/>
              <a:t>Now let us see how we can integrate/merge the developed feature into the main branch.</a:t>
            </a:r>
          </a:p>
          <a:p>
            <a:pPr marL="228600" indent="-228600">
              <a:buFont typeface="+mj-lt"/>
              <a:buAutoNum type="arabicPeriod"/>
            </a:pPr>
            <a:r>
              <a:rPr lang="en-BE" dirty="0"/>
              <a:t>First we checkout master and then merge new-branch</a:t>
            </a:r>
          </a:p>
          <a:p>
            <a:pPr marL="228600" indent="-228600">
              <a:buFont typeface="+mj-lt"/>
              <a:buAutoNum type="arabicPeriod"/>
            </a:pPr>
            <a:r>
              <a:rPr lang="en-BE" dirty="0"/>
              <a:t>There are two types of merge algorithms:</a:t>
            </a:r>
          </a:p>
          <a:p>
            <a:pPr marL="685800" lvl="1" indent="-228600">
              <a:buFont typeface="+mj-lt"/>
              <a:buAutoNum type="arabicPeriod"/>
            </a:pPr>
            <a:r>
              <a:rPr lang="en-BE" dirty="0"/>
              <a:t>Let us first look at the fast-forward – </a:t>
            </a:r>
            <a:r>
              <a:rPr lang="en-GB" dirty="0"/>
              <a:t>The merge we just performed is an example of a fast-forward merge. This kind of merge occurs when all the commits in the checked out branch are also in the branch that's being merged.</a:t>
            </a:r>
          </a:p>
          <a:p>
            <a:pPr marL="685800" lvl="1" indent="-228600">
              <a:buFont typeface="+mj-lt"/>
              <a:buAutoNum type="arabicPeriod"/>
            </a:pPr>
            <a:r>
              <a:rPr lang="en-GB" dirty="0"/>
              <a:t>If this is the case, we can say that the commit history of both branches doesn't diverge. In these cases, all Git has to do is update the pointers of the branches to the same commit, and no actual merging needs to take place.</a:t>
            </a:r>
            <a:endParaRPr lang="en-BE" dirty="0"/>
          </a:p>
          <a:p>
            <a:pPr marL="228600" indent="-228600">
              <a:buFont typeface="+mj-lt"/>
              <a:buAutoNum type="arabicPeriod"/>
            </a:pPr>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14</a:t>
            </a:fld>
            <a:endParaRPr lang="en-BE"/>
          </a:p>
        </p:txBody>
      </p:sp>
    </p:spTree>
    <p:extLst>
      <p:ext uri="{BB962C8B-B14F-4D97-AF65-F5344CB8AC3E}">
        <p14:creationId xmlns:p14="http://schemas.microsoft.com/office/powerpoint/2010/main" val="178503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lvl="1" indent="-228600">
              <a:buFont typeface="+mj-lt"/>
              <a:buAutoNum type="arabicPeriod"/>
            </a:pPr>
            <a:r>
              <a:rPr lang="en-GB" dirty="0"/>
              <a:t>On the other hand, a three-way merge is performed when the history of the merging branches has diverged in some way, and there isn't a nice linear path to combine them via fast-forwarding. This happens when a commit is made on one branch after the point when both branches split.</a:t>
            </a:r>
          </a:p>
          <a:p>
            <a:pPr marL="685800" lvl="1" indent="-228600">
              <a:buFont typeface="+mj-lt"/>
              <a:buAutoNum type="arabicPeriod"/>
            </a:pPr>
            <a:r>
              <a:rPr lang="en-GB" dirty="0"/>
              <a:t>In our case, this could have happened if we made a commit on the master branch after creating the other branches.</a:t>
            </a:r>
          </a:p>
          <a:p>
            <a:pPr marL="685800" lvl="1" indent="-228600">
              <a:buFont typeface="+mj-lt"/>
              <a:buAutoNum type="arabicPeriod"/>
            </a:pPr>
            <a:r>
              <a:rPr lang="en-GB" dirty="0"/>
              <a:t>Git will tie the branch histories together when this occurs with a new commit. And merge the snapshots at the two branch tips with the most recent common ancestor, the commit before the divergence.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The problem with three way merges is that because of the split history, it's hard for one to debug when an issue is found in our code, and we need to understand where the problem was introduced. </a:t>
            </a:r>
          </a:p>
          <a:p>
            <a:pPr marL="685800" lvl="1" indent="-228600">
              <a:buFont typeface="+mj-lt"/>
              <a:buAutoNum type="arabicPeriod"/>
            </a:pPr>
            <a:r>
              <a:rPr lang="en-GB" dirty="0"/>
              <a:t>If instead the changes are made on the same part of the same file, Git won't know how to merge those changes, and the attempt will result in a merge conflict.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Git rebase - by changing the base where our commits split from the branch history, we can replay the new commits on top of the new base. This allows Git to do a fast forward merge and keep history linear.</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We run the command git rebase, followed by the branch that we want to set as the new base. When we do this, Git will try to replay our commits after the latest commit in that branch.</a:t>
            </a:r>
          </a:p>
          <a:p>
            <a:pPr marL="685800" lvl="1" indent="-228600">
              <a:buFont typeface="+mj-lt"/>
              <a:buAutoNum type="arabicPeriod"/>
            </a:pPr>
            <a:endParaRPr lang="en-BE" dirty="0"/>
          </a:p>
          <a:p>
            <a:pPr marL="228600" indent="-228600">
              <a:buFont typeface="+mj-lt"/>
              <a:buAutoNum type="arabicPeriod"/>
            </a:pPr>
            <a:endParaRPr lang="en-BE" dirty="0"/>
          </a:p>
          <a:p>
            <a:pPr marL="228600" indent="-228600">
              <a:buFont typeface="+mj-lt"/>
              <a:buAutoNum type="arabicPeriod"/>
            </a:pPr>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15</a:t>
            </a:fld>
            <a:endParaRPr lang="en-BE"/>
          </a:p>
        </p:txBody>
      </p:sp>
    </p:spTree>
    <p:extLst>
      <p:ext uri="{BB962C8B-B14F-4D97-AF65-F5344CB8AC3E}">
        <p14:creationId xmlns:p14="http://schemas.microsoft.com/office/powerpoint/2010/main" val="4018623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When we make edits to the same part of the same file, a merge will result in a merge conflict. Normally, Git can automatically merge files for us. But when we have a merge conflict, it will need a little help to figure out what to do.</a:t>
            </a:r>
          </a:p>
          <a:p>
            <a:pPr marL="228600" indent="-228600">
              <a:buFont typeface="+mj-lt"/>
              <a:buAutoNum type="arabicPeriod"/>
            </a:pPr>
            <a:r>
              <a:rPr lang="en-GB" dirty="0"/>
              <a:t>I edited the "</a:t>
            </a:r>
            <a:r>
              <a:rPr lang="en-GB" dirty="0" err="1"/>
              <a:t>memory.py</a:t>
            </a:r>
            <a:r>
              <a:rPr lang="en-GB" dirty="0"/>
              <a:t>" file in the master branch and replaced the "pass" statement with a comment about what the main function should do.</a:t>
            </a:r>
          </a:p>
          <a:p>
            <a:pPr marL="228600" indent="-228600">
              <a:buFont typeface="+mj-lt"/>
              <a:buAutoNum type="arabicPeriod"/>
            </a:pPr>
            <a:r>
              <a:rPr lang="en-GB" dirty="0"/>
              <a:t>Let us checkout new-feature and edit </a:t>
            </a:r>
            <a:r>
              <a:rPr lang="en-GB" dirty="0" err="1"/>
              <a:t>memory.py</a:t>
            </a:r>
            <a:endParaRPr lang="en-GB" dirty="0"/>
          </a:p>
          <a:p>
            <a:pPr marL="228600" indent="-228600">
              <a:buFont typeface="+mj-lt"/>
              <a:buAutoNum type="arabicPeriod"/>
            </a:pPr>
            <a:r>
              <a:rPr lang="en-GB" dirty="0"/>
              <a:t>When we call git merge, we can see that our changes are untracked</a:t>
            </a:r>
          </a:p>
          <a:p>
            <a:pPr marL="228600" indent="-228600">
              <a:buFont typeface="+mj-lt"/>
              <a:buAutoNum type="arabicPeriod"/>
            </a:pPr>
            <a:r>
              <a:rPr lang="en-GB" dirty="0"/>
              <a:t>The unmerged content of the file in the new-feature branch is the call to the print function. It's up to us to decide which one to keep or if we should change the file's contents altogether. </a:t>
            </a:r>
          </a:p>
          <a:p>
            <a:pPr marL="228600" indent="-228600">
              <a:buFont typeface="+mj-lt"/>
              <a:buAutoNum type="arabicPeriod"/>
            </a:pPr>
            <a:r>
              <a:rPr lang="en-GB" dirty="0"/>
              <a:t>We’ll keep both statements in this case and delete the merger markers.</a:t>
            </a:r>
          </a:p>
          <a:p>
            <a:pPr marL="228600" indent="-228600">
              <a:buFont typeface="+mj-lt"/>
              <a:buAutoNum type="arabicPeriod"/>
            </a:pPr>
            <a:r>
              <a:rPr lang="en-GB" dirty="0"/>
              <a:t>To see what the commit history looks like now, we'll use a couple of handy options to the git log command; --graph for seeing the commits as a graph, and --</a:t>
            </a:r>
            <a:r>
              <a:rPr lang="en-GB" dirty="0" err="1"/>
              <a:t>oneline</a:t>
            </a:r>
            <a:r>
              <a:rPr lang="en-GB" dirty="0"/>
              <a:t> to only see one line per commit. This format helps us better understand the history of our commits and how merges have occurred. We can see the new commit that was added and also the two separate commits that we merged. One coming from the main branch and the other two coming from the "new-feature" branch. We can also see that master is pointing to the merge commit but new-feature is still pointing to the previous one.</a:t>
            </a: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16</a:t>
            </a:fld>
            <a:endParaRPr lang="en-BE"/>
          </a:p>
        </p:txBody>
      </p:sp>
    </p:spTree>
    <p:extLst>
      <p:ext uri="{BB962C8B-B14F-4D97-AF65-F5344CB8AC3E}">
        <p14:creationId xmlns:p14="http://schemas.microsoft.com/office/powerpoint/2010/main" val="3375682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dirty="0"/>
              <a:t>In earlier slides, we called out that Git is a distributed version control system. Distributed means that each developer has a copy of the whole repository on their local machine.</a:t>
            </a:r>
          </a:p>
          <a:p>
            <a:pPr marL="228600" indent="-228600">
              <a:buFont typeface="+mj-lt"/>
              <a:buAutoNum type="arabicPeriod"/>
            </a:pPr>
            <a:r>
              <a:rPr dirty="0"/>
              <a:t>GitHub is a remote repository hosting service for Git. </a:t>
            </a:r>
          </a:p>
          <a:p>
            <a:pPr marL="228600" indent="-228600">
              <a:buFont typeface="+mj-lt"/>
              <a:buAutoNum type="arabicPeriod"/>
            </a:pPr>
            <a:r>
              <a:rPr dirty="0"/>
              <a:t>GitHub is a web-based Git repository hosting service. On top of the version control functionality of Git, GitHub includes extra features like bug tracking, wikis, and task management. GitHub lets us share and access repositories on the web and copy or clone them to our local computers so we can work on them. GitHub is a popular choice with a robust feature set, but there are others. Other services that provide similar functionality are </a:t>
            </a:r>
            <a:r>
              <a:rPr dirty="0" err="1"/>
              <a:t>BitBucket</a:t>
            </a:r>
            <a:r>
              <a:rPr dirty="0"/>
              <a:t> and GitLab.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BE" dirty="0"/>
              <a:t>Recall that we stated that there are two ways of creating a local git repository</a:t>
            </a:r>
          </a:p>
          <a:p>
            <a:pPr marL="228600" indent="-228600">
              <a:buAutoNum type="arabicPeriod"/>
            </a:pPr>
            <a:r>
              <a:rPr lang="en-BE" dirty="0"/>
              <a:t>First, let us create a remote repository on GitHub</a:t>
            </a:r>
          </a:p>
          <a:p>
            <a:pPr marL="228600" indent="-228600">
              <a:buAutoNum type="arabicPeriod"/>
            </a:pPr>
            <a:r>
              <a:rPr lang="en-BE" dirty="0"/>
              <a:t>Next, let us clone the remote repository onto our local computer</a:t>
            </a:r>
          </a:p>
          <a:p>
            <a:pPr marL="228600" indent="-228600">
              <a:buAutoNum type="arabicPeriod"/>
            </a:pPr>
            <a:r>
              <a:rPr lang="en-BE" dirty="0"/>
              <a:t>Then let us modify the README.md to make it more descriptive</a:t>
            </a:r>
          </a:p>
          <a:p>
            <a:pPr marL="228600" indent="-228600">
              <a:buAutoNum type="arabicPeriod"/>
            </a:pPr>
            <a:r>
              <a:rPr lang="en-BE" dirty="0"/>
              <a:t>Commit and push the remote repository</a:t>
            </a:r>
          </a:p>
          <a:p>
            <a:pPr marL="228600" indent="-228600">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18</a:t>
            </a:fld>
            <a:endParaRPr lang="en-BE"/>
          </a:p>
        </p:txBody>
      </p:sp>
    </p:spTree>
    <p:extLst>
      <p:ext uri="{BB962C8B-B14F-4D97-AF65-F5344CB8AC3E}">
        <p14:creationId xmlns:p14="http://schemas.microsoft.com/office/powerpoint/2010/main" val="2960351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19</a:t>
            </a:fld>
            <a:endParaRPr lang="en-BE"/>
          </a:p>
        </p:txBody>
      </p:sp>
    </p:spTree>
    <p:extLst>
      <p:ext uri="{BB962C8B-B14F-4D97-AF65-F5344CB8AC3E}">
        <p14:creationId xmlns:p14="http://schemas.microsoft.com/office/powerpoint/2010/main" val="1075075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dirty="0"/>
              <a:t>We got a comment saying that our README was too short and they'd like us to add an example. To address this comment, will add more details to our file. We'll start by explaining that the function rearranges LastName, FirstName into FirstName LastName and then we'll add an example. We'll say that calling rearrange name with Turing, Alan as a parameter, will return Alan Turing.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dirty="0"/>
              <a:t>Now that we've pushed our change back to the repo, let's check our pull request in GitHub. In the Commit's tab, we can see our two commits.</a:t>
            </a:r>
          </a:p>
          <a:p>
            <a:pPr marL="171450" indent="-171450">
              <a:buFont typeface="Arial"/>
              <a:buChar char="•"/>
            </a:pPr>
            <a:r>
              <a:rPr dirty="0"/>
              <a:t>Our commit now shows up as a part of the same pull request. It's important to notice here that we just pushed our commit to the same branch as before and GitHub automatically added it to the pull request. If we wanted to create a separate pull request, we would need to create a new branch instead. If we go to the Files Change tab, we can see all files affected by the pull request, no matter which commit they were changed in. Whenever we look at the diff generated by a commit or a chain of commits, GitHub will show a color diff for the changes that we've made.</a:t>
            </a:r>
          </a:p>
          <a:p>
            <a:pPr marL="171450" indent="-171450">
              <a:buFont typeface="Arial"/>
              <a:buChar char="•"/>
            </a:pPr>
            <a:r>
              <a:rPr dirty="0"/>
              <a:t>It will use green for new lines and red for lines that were deleted. If only a part of the line changed, it will highlight that specific part of the line. In this case, it's a new file, so all the lines are additions. Check out how we see only one file even when there are two separate commits.</a:t>
            </a:r>
          </a:p>
          <a:p>
            <a:pPr marL="171450" indent="-171450">
              <a:buFont typeface="Arial"/>
              <a:buChar char="•"/>
            </a:pPr>
            <a:r>
              <a:rPr dirty="0"/>
              <a:t>Some projects may ask you to have only one commit in your pull requests, other projects may ask you to rebase against the latest master branch when your pull request is ready to be merged back into the main tree.</a:t>
            </a:r>
          </a:p>
          <a:p>
            <a:pPr marL="171450" indent="-171450">
              <a:buFont typeface="Arial"/>
              <a:buChar char="•"/>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Last week we looked at a range of concepts about Git commands and how we can use them. We also looked at GitHub and collaboration</a:t>
            </a:r>
          </a:p>
          <a:p>
            <a:r>
              <a:rPr dirty="0"/>
              <a:t>Today we are going to look at more concepts on </a:t>
            </a:r>
            <a:r>
              <a:rPr dirty="0" err="1"/>
              <a:t>Github</a:t>
            </a:r>
            <a:r>
              <a:rPr dirty="0"/>
              <a:t> and collaboration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Why do we need to perform code reviews?</a:t>
            </a:r>
          </a:p>
          <a:p>
            <a:endParaRPr dirty="0"/>
          </a:p>
          <a:p>
            <a:pPr algn="l">
              <a:buNone/>
            </a:pPr>
            <a:r>
              <a:rPr b="0" i="0" dirty="0">
                <a:solidFill>
                  <a:srgbClr val="333333"/>
                </a:solidFill>
                <a:latin typeface="OpenSans"/>
                <a:ea typeface="OpenSans"/>
                <a:cs typeface="OpenSans"/>
              </a:rPr>
              <a:t>Common code issues are unclear names that makes the code hard to understand. Forgetting to add a test or forgetting to handle a specific condition. </a:t>
            </a:r>
          </a:p>
          <a:p>
            <a:pPr algn="l">
              <a:buNone/>
            </a:pPr>
            <a:endParaRPr b="0" i="0" dirty="0">
              <a:solidFill>
                <a:srgbClr val="333333"/>
              </a:solidFill>
              <a:latin typeface="OpenSans"/>
              <a:ea typeface="OpenSans"/>
              <a:cs typeface="OpenSans"/>
            </a:endParaRPr>
          </a:p>
          <a:p>
            <a:pPr algn="l">
              <a:buNone/>
            </a:pPr>
            <a:r>
              <a:rPr b="0" i="0" dirty="0">
                <a:solidFill>
                  <a:srgbClr val="333333"/>
                </a:solidFill>
                <a:latin typeface="OpenSans"/>
                <a:ea typeface="OpenSans"/>
                <a:cs typeface="OpenSans"/>
              </a:rPr>
              <a:t>Today, some open-source projects and lots of companies require code reviews for everybody. This isn't because they don't trust them, but because they want the highest quality code. And code reviews are how they get there. One thing to always remember, code reviews are not about us being good or bad coders, they're about making our code better. And not only that specific review, but in general.</a:t>
            </a:r>
          </a:p>
          <a:p>
            <a:pPr algn="l">
              <a:buNone/>
            </a:pPr>
            <a:endParaRPr b="0" i="0" dirty="0">
              <a:solidFill>
                <a:srgbClr val="333333"/>
              </a:solidFill>
              <a:latin typeface="OpenSans"/>
              <a:ea typeface="OpenSans"/>
              <a:cs typeface="OpenSan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Ignore the outdated. It simply means that we have added a new comment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is important to set checks to avoid merging garbage into the main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project you will be working in groups of 10 students. You decide to start coding without careful planning</a:t>
            </a:r>
          </a:p>
          <a:p>
            <a:endParaRPr/>
          </a:p>
          <a:p>
            <a:r>
              <a:t>Instead of dividing the task into smaller pieces and assigning them to different people, you just randomly started working on some part of the infrastructure. </a:t>
            </a:r>
          </a:p>
          <a:p>
            <a:r>
              <a:t>The result would probably be total chaos, with different pieces of software that won't work well together, and lots of gaps that nobody worked 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when a tool like an issue tracker or bug tracker can help us coordinate our work better. An issue tracker tells us the tasks that need to be done, the state they're in and who's working on them.</a:t>
            </a:r>
          </a:p>
          <a:p>
            <a:endParaRPr/>
          </a:p>
          <a:p>
            <a:r>
              <a:t>The system also let's us add comments to the issue, these comments can be super helpful. They can give us more details about the problem, explain a way to solve it, or detail how to test if it's been solved. Issue trackers aren't just useful for people actively working on projects.</a:t>
            </a:r>
          </a:p>
          <a:p>
            <a:endParaRPr/>
          </a:p>
          <a:p>
            <a:r>
              <a:t>Having a clear visible list of the pending work, lets new contributors figure out how to help and where to jump in.</a:t>
            </a:r>
          </a:p>
          <a:p>
            <a:endParaRPr/>
          </a:p>
          <a:p>
            <a:r>
              <a:t>So, if you're hosting your project there, it can be very handy to track work on your project. Like the problems to solve, the features to add and the use cases to include it, let's check it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issues should have a title</a:t>
            </a:r>
          </a:p>
          <a:p>
            <a:endParaRPr/>
          </a:p>
          <a:p>
            <a:r>
              <a:t>Description: When writing in issues description, it's a good idea to include all the information that we have about the problem or missing feature and any ideas on how to solve it. And if new information comes up later on, it can be added as additional comments on the same issue. Great, we're now ready to submit the new issue.</a:t>
            </a:r>
          </a:p>
          <a:p>
            <a:endParaRPr/>
          </a:p>
          <a:p>
            <a:r>
              <a:t>The issue was assigned to a developer who fixed it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B7AB2-7BE5-461A-ACBB-3002F8A9D13E}"/>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D496A510-E8C8-1023-28AC-D232AE6ED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11A5BD07-689A-E04F-8349-B274D3984399}"/>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E3B950A7-FC21-4172-9E47-5DB37D43BFB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DBACB8B-F838-291C-F348-CEC5FF61F5F4}"/>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E43D-282E-653C-4F1B-15B3266A148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5420C0F-8F1F-4D07-2826-50A4AFDE76C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B923D5-F22A-7236-25F5-FEDD15DE57B4}"/>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1EA80F8E-4C8F-715F-1C93-300E02522E6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20AC12-85D0-4771-ACE9-24B16AF0370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76E7-9780-2E79-68E5-167181B5513E}"/>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14401C3C-A94B-CC42-3AA5-F136666E7D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D75D626-DF65-B022-D57E-30DBBA13F130}"/>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50929E85-EDBF-94B8-1362-C94406E62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7FE3E1A-139E-F2F2-DFCF-F9B9F1FFE337}"/>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A398-F4AE-8E62-79C9-A7E695029EA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981FBF5-7997-C008-8FFB-63C0ECACCC13}"/>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2A82165-9A37-95B2-A5CE-9A1C6EC1DA1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5AE3AEF-BE74-9960-A79C-5D5D0816B673}"/>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CCFF3623-506E-8480-2710-9F6AED51E5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8486E4D-E744-DF56-F125-9906CC485D89}"/>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86AC-075A-6E30-F3F1-D82E562F9AB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BD83863C-7B0D-B840-3058-6D7221465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27BFCCA-2E5D-A4D3-3B52-B5B4F9F540C1}"/>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399016B-FAB7-C0A4-A470-E91F0249D4B0}"/>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A47E64FF-8F3E-E832-086C-A6F817C54648}"/>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D30E84A-8045-0998-AC3B-9082E9B14FE1}"/>
              </a:ext>
            </a:extLst>
          </p:cNvPr>
          <p:cNvSpPr>
            <a:spLocks noGrp="1"/>
          </p:cNvSpPr>
          <p:nvPr>
            <p:ph type="dt" idx="10"/>
          </p:nvPr>
        </p:nvSpPr>
        <p:spPr/>
        <p:txBody>
          <a:bodyPr/>
          <a:lstStyle/>
          <a:p>
            <a:fld id="{73F170DA-D398-ED41-8FCC-0FC0D75F2FCE}" type="datetimeFigureOut">
              <a:t>16/08/2026</a:t>
            </a:fld>
            <a:endParaRPr/>
          </a:p>
        </p:txBody>
      </p:sp>
      <p:sp>
        <p:nvSpPr>
          <p:cNvPr id="8" name="Footer Placeholder 7">
            <a:extLst>
              <a:ext uri="{FF2B5EF4-FFF2-40B4-BE49-F238E27FC236}">
                <a16:creationId xmlns:a16="http://schemas.microsoft.com/office/drawing/2014/main" id="{F7D4FE65-7FCD-B56B-336C-FCF35A736B2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9E35666-47B5-C76A-0CF0-061A971CC268}"/>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FF4-303B-2000-AE2F-8BD24B1EA7E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295A43-6B1E-7840-A992-88663519247F}"/>
              </a:ext>
            </a:extLst>
          </p:cNvPr>
          <p:cNvSpPr>
            <a:spLocks noGrp="1"/>
          </p:cNvSpPr>
          <p:nvPr>
            <p:ph type="dt" idx="10"/>
          </p:nvPr>
        </p:nvSpPr>
        <p:spPr/>
        <p:txBody>
          <a:bodyPr/>
          <a:lstStyle/>
          <a:p>
            <a:fld id="{73F170DA-D398-ED41-8FCC-0FC0D75F2FCE}" type="datetimeFigureOut">
              <a:t>16/08/2026</a:t>
            </a:fld>
            <a:endParaRPr/>
          </a:p>
        </p:txBody>
      </p:sp>
      <p:sp>
        <p:nvSpPr>
          <p:cNvPr id="4" name="Footer Placeholder 3">
            <a:extLst>
              <a:ext uri="{FF2B5EF4-FFF2-40B4-BE49-F238E27FC236}">
                <a16:creationId xmlns:a16="http://schemas.microsoft.com/office/drawing/2014/main" id="{FDB2135B-8DA3-3540-D409-191A3346970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CB7BFFE-DB93-35E1-716F-E628924441F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1BE0E-23D2-0E9C-6C33-7EF4F39053FD}"/>
              </a:ext>
            </a:extLst>
          </p:cNvPr>
          <p:cNvSpPr>
            <a:spLocks noGrp="1"/>
          </p:cNvSpPr>
          <p:nvPr>
            <p:ph type="dt" idx="10"/>
          </p:nvPr>
        </p:nvSpPr>
        <p:spPr/>
        <p:txBody>
          <a:bodyPr/>
          <a:lstStyle/>
          <a:p>
            <a:fld id="{73F170DA-D398-ED41-8FCC-0FC0D75F2FCE}" type="datetimeFigureOut">
              <a:t>16/08/2026</a:t>
            </a:fld>
            <a:endParaRPr/>
          </a:p>
        </p:txBody>
      </p:sp>
      <p:sp>
        <p:nvSpPr>
          <p:cNvPr id="3" name="Footer Placeholder 2">
            <a:extLst>
              <a:ext uri="{FF2B5EF4-FFF2-40B4-BE49-F238E27FC236}">
                <a16:creationId xmlns:a16="http://schemas.microsoft.com/office/drawing/2014/main" id="{2E0F9506-3CF6-5924-5E22-90F810E072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DA2C414-9FFF-3F5B-1346-CA4C1CB9885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4944-4138-87AB-09C6-9F1544766F2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FC1DA077-431A-9318-AFC2-1CFF87F6B4DC}"/>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F6A1B6D-C866-A5BA-AA94-A4D7D0A8FE0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CA61559-69C7-88A7-E80A-B83E1B879312}"/>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726C8E79-ACAB-0964-359E-F9AF7697775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3C5530A-C9A4-970A-4B95-BD02D79D0696}"/>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9DC3-9DBF-3EF0-06AF-0CB255B40A0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68A5586B-870B-5B14-B201-2D6BEA67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66325C9C-91A4-AB83-261A-0FCB9D42A8F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470558F9-AA8F-B4F0-0129-1FD5E331A148}"/>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4EA3CAB9-E9DB-F6F4-18E2-E901B0A427E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E1ACDA7-14C9-73EC-2A37-75602729684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6677-C897-64CD-2768-E300AD73E09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9F19F92-0C3B-9724-85DD-873C70193BD2}"/>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FC3ECB-5A92-E059-0FF7-E5415B04E25B}"/>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56AFBBE4-76BB-63AB-5069-55846BCAE52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F6C21E-166D-CEB9-CE1E-5F0A2D187EA3}"/>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1F0C33-6906-B95A-B894-0A5F983B7031}"/>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F17E20D-8B1B-93C9-1995-EEF55D0A193E}"/>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A9FD963-F063-EF9D-BC3D-7025570E332E}"/>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17411A7D-357C-CB9C-ECD1-B1CF73C3A2B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E3F7BDF-B3E7-08CA-2E70-6934A355D65A}"/>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38D635-B1D7-9884-6A0F-492DAB7D699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9C94CBF-C91D-403B-73FF-095B626AFE3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99D54B5-6061-8122-BAEC-4F089394EC8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7168B43A-9708-B41B-517A-60387B50B3DC}"/>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466C5EF-B3B2-4941-011C-608E6881C93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E89DB8DA-7D85-BB4C-8E66-FF321787BBA9}"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07/relationships/hdphoto" Target="../media/hdphoto6.wdp"/><Relationship Id="rId18" Type="http://schemas.microsoft.com/office/2007/relationships/hdphoto" Target="../media/hdphoto11.wdp"/><Relationship Id="rId3" Type="http://schemas.openxmlformats.org/officeDocument/2006/relationships/image" Target="../media/image1.png"/><Relationship Id="rId21" Type="http://schemas.openxmlformats.org/officeDocument/2006/relationships/image" Target="../media/image7.tiff"/><Relationship Id="rId7" Type="http://schemas.microsoft.com/office/2007/relationships/hdphoto" Target="../media/hdphoto1.wdp"/><Relationship Id="rId12" Type="http://schemas.microsoft.com/office/2007/relationships/hdphoto" Target="../media/hdphoto5.wdp"/><Relationship Id="rId17" Type="http://schemas.microsoft.com/office/2007/relationships/hdphoto" Target="../media/hdphoto10.wdp"/><Relationship Id="rId25" Type="http://schemas.openxmlformats.org/officeDocument/2006/relationships/image" Target="../media/image10.png"/><Relationship Id="rId2" Type="http://schemas.openxmlformats.org/officeDocument/2006/relationships/notesSlide" Target="../notesSlides/notesSlide4.xml"/><Relationship Id="rId16" Type="http://schemas.microsoft.com/office/2007/relationships/hdphoto" Target="../media/hdphoto9.wdp"/><Relationship Id="rId20"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07/relationships/hdphoto" Target="../media/hdphoto4.wdp"/><Relationship Id="rId24" Type="http://schemas.microsoft.com/office/2007/relationships/hdphoto" Target="../media/hdphoto13.wdp"/><Relationship Id="rId5" Type="http://schemas.openxmlformats.org/officeDocument/2006/relationships/image" Target="../media/image3.png"/><Relationship Id="rId15" Type="http://schemas.microsoft.com/office/2007/relationships/hdphoto" Target="../media/hdphoto8.wdp"/><Relationship Id="rId23" Type="http://schemas.openxmlformats.org/officeDocument/2006/relationships/image" Target="../media/image9.png"/><Relationship Id="rId10" Type="http://schemas.microsoft.com/office/2007/relationships/hdphoto" Target="../media/hdphoto3.wdp"/><Relationship Id="rId19" Type="http://schemas.microsoft.com/office/2007/relationships/hdphoto" Target="../media/hdphoto12.wdp"/><Relationship Id="rId4" Type="http://schemas.openxmlformats.org/officeDocument/2006/relationships/image" Target="../media/image2.png"/><Relationship Id="rId9" Type="http://schemas.microsoft.com/office/2007/relationships/hdphoto" Target="../media/hdphoto2.wdp"/><Relationship Id="rId14" Type="http://schemas.microsoft.com/office/2007/relationships/hdphoto" Target="../media/hdphoto7.wdp"/><Relationship Id="rId22"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git-scm.com/documentation" TargetMode="External"/><Relationship Id="rId4" Type="http://schemas.openxmlformats.org/officeDocument/2006/relationships/hyperlink" Target="http://git-scm.com/book/en/v2"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4.png"/><Relationship Id="rId4" Type="http://schemas.openxmlformats.org/officeDocument/2006/relationships/image" Target="../media/image17.png"/><Relationship Id="rId9"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5.png"/><Relationship Id="rId7" Type="http://schemas.openxmlformats.org/officeDocument/2006/relationships/image" Target="../media/image58.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49.jpeg"/><Relationship Id="rId9"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hyperlink" Target="https://help.github.com/en/github/collaborating-with-issues-and-pull-requests/about-merge-conflict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git-scm.com/book/en/v2/Git-Tools-Rewriting-History" TargetMode="External"/><Relationship Id="rId4" Type="http://schemas.openxmlformats.org/officeDocument/2006/relationships/hyperlink" Target="https://help.github.com/en/github/collaborating-with-issues-and-pull-requests/resolving-a-merge-conflict-using-the-command-line"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hyperlink" Target="https://help.github.com/en/github/collaborating-with-issues-and-pull-requests/about-merge-conflict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help.github.com/en/github/collaborating-with-issues-and-pull-requests/resolving-a-merge-conflict-using-the-command-line"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72.png"/><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3.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5.png"/><Relationship Id="rId7" Type="http://schemas.openxmlformats.org/officeDocument/2006/relationships/image" Target="../media/image58.jpeg"/><Relationship Id="rId12" Type="http://schemas.openxmlformats.org/officeDocument/2006/relationships/image" Target="../media/image7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7.jpeg"/><Relationship Id="rId11" Type="http://schemas.openxmlformats.org/officeDocument/2006/relationships/image" Target="../media/image75.png"/><Relationship Id="rId5" Type="http://schemas.openxmlformats.org/officeDocument/2006/relationships/image" Target="../media/image56.jpeg"/><Relationship Id="rId10" Type="http://schemas.openxmlformats.org/officeDocument/2006/relationships/image" Target="../media/image74.png"/><Relationship Id="rId4" Type="http://schemas.openxmlformats.org/officeDocument/2006/relationships/image" Target="../media/image49.jpe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hubtype/botonic/tree/master-lts/.github/ISSUE_TEMPLATE"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3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FECD-9BC1-4B17-D771-E97BEB303043}"/>
              </a:ext>
            </a:extLst>
          </p:cNvPr>
          <p:cNvSpPr>
            <a:spLocks noGrp="1"/>
          </p:cNvSpPr>
          <p:nvPr>
            <p:ph type="ctrTitle"/>
          </p:nvPr>
        </p:nvSpPr>
        <p:spPr/>
        <p:txBody>
          <a:bodyPr/>
          <a:lstStyle/>
          <a:p>
            <a:r>
              <a:t>Git and GitHub</a:t>
            </a:r>
          </a:p>
        </p:txBody>
      </p:sp>
      <p:sp>
        <p:nvSpPr>
          <p:cNvPr id="3" name="Subtitle 2">
            <a:extLst>
              <a:ext uri="{FF2B5EF4-FFF2-40B4-BE49-F238E27FC236}">
                <a16:creationId xmlns:a16="http://schemas.microsoft.com/office/drawing/2014/main" id="{CD89727E-EBF3-3225-8C87-5274A75C350A}"/>
              </a:ext>
            </a:extLst>
          </p:cNvPr>
          <p:cNvSpPr>
            <a:spLocks noGrp="1"/>
          </p:cNvSpPr>
          <p:nvPr>
            <p:ph type="subTitle" idx="1"/>
          </p:nvPr>
        </p:nvSpPr>
        <p:spPr/>
        <p:txBody>
          <a:bodyPr/>
          <a:lstStyle/>
          <a:p>
            <a:pPr algn="l">
              <a:buNone/>
            </a:pPr>
            <a:r>
              <a:t>Dr. John Businge</a:t>
            </a:r>
          </a:p>
          <a:p>
            <a:pPr algn="l">
              <a:buNone/>
            </a:pPr>
            <a:r>
              <a:t>john.businge@unlv.edu</a:t>
            </a:r>
          </a:p>
        </p:txBody>
      </p:sp>
    </p:spTree>
    <p:extLst>
      <p:ext uri="{BB962C8B-B14F-4D97-AF65-F5344CB8AC3E}">
        <p14:creationId xmlns:p14="http://schemas.microsoft.com/office/powerpoint/2010/main" val="2140911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Learning Objectives</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fontScale="98353"/>
          </a:bodyPr>
          <a:lstStyle/>
          <a:p>
            <a:pPr marL="0" indent="0">
              <a:buNone/>
            </a:pPr>
            <a:r>
              <a:rPr dirty="0"/>
              <a:t>By the end of this lecture, you should be able to:</a:t>
            </a:r>
          </a:p>
          <a:p>
            <a:r>
              <a:rPr dirty="0"/>
              <a:t>Explain why teams use version control.</a:t>
            </a:r>
          </a:p>
          <a:p>
            <a:r>
              <a:rPr dirty="0"/>
              <a:t>Describe the Git workflow from local changes to a remote branch.</a:t>
            </a:r>
          </a:p>
          <a:p>
            <a:r>
              <a:rPr dirty="0"/>
              <a:t>Explain how branches support parallel development.</a:t>
            </a:r>
          </a:p>
          <a:p>
            <a:r>
              <a:rPr dirty="0"/>
              <a:t>Describe how issues, pull requests, and reviews coordinate team contributions.</a:t>
            </a:r>
          </a:p>
          <a:p>
            <a:r>
              <a:rPr dirty="0"/>
              <a:t>Explain how teams protect main and control the integration of changes.</a:t>
            </a:r>
          </a:p>
          <a:p>
            <a:r>
              <a:rPr dirty="0"/>
              <a:t>Apply this workflow in the Git and GitHub lab.</a:t>
            </a:r>
          </a:p>
        </p:txBody>
      </p:sp>
    </p:spTree>
    <p:extLst>
      <p:ext uri="{BB962C8B-B14F-4D97-AF65-F5344CB8AC3E}">
        <p14:creationId xmlns:p14="http://schemas.microsoft.com/office/powerpoint/2010/main" val="990315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Why Git and GitHub Matter to a Team</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Git records how a project changes over time.</a:t>
            </a:r>
          </a:p>
          <a:p>
            <a:r>
              <a:t>Developers can work in parallel without placing unfinished work on main.</a:t>
            </a:r>
          </a:p>
          <a:p>
            <a:r>
              <a:t>Branches isolate work; pull requests make proposed changes visible.</a:t>
            </a:r>
          </a:p>
          <a:p>
            <a:r>
              <a:t>Issues, reviews, and commit history create a shared record of responsibilities and decisions.</a:t>
            </a:r>
          </a:p>
        </p:txBody>
      </p:sp>
    </p:spTree>
    <p:extLst>
      <p:ext uri="{BB962C8B-B14F-4D97-AF65-F5344CB8AC3E}">
        <p14:creationId xmlns:p14="http://schemas.microsoft.com/office/powerpoint/2010/main" val="99031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4BEF34B8-0848-95E3-DC02-D56A60AAD0E8}"/>
              </a:ext>
            </a:extLst>
          </p:cNvPr>
          <p:cNvGrpSpPr/>
          <p:nvPr/>
        </p:nvGrpSpPr>
        <p:grpSpPr>
          <a:xfrm>
            <a:off x="6917533" y="1135134"/>
            <a:ext cx="4814888" cy="3344834"/>
            <a:chOff x="6917533" y="1135134"/>
            <a:chExt cx="4814888" cy="3344834"/>
          </a:xfrm>
        </p:grpSpPr>
        <p:grpSp>
          <p:nvGrpSpPr>
            <p:cNvPr id="17" name="Group 16">
              <a:extLst>
                <a:ext uri="{FF2B5EF4-FFF2-40B4-BE49-F238E27FC236}">
                  <a16:creationId xmlns:a16="http://schemas.microsoft.com/office/drawing/2014/main" id="{2B00AD8F-6155-1633-DF1F-E9AE4A166C61}"/>
                </a:ext>
              </a:extLst>
            </p:cNvPr>
            <p:cNvGrpSpPr/>
            <p:nvPr/>
          </p:nvGrpSpPr>
          <p:grpSpPr>
            <a:xfrm>
              <a:off x="6917533" y="1320371"/>
              <a:ext cx="4814888" cy="3159597"/>
              <a:chOff x="485775" y="1188510"/>
              <a:chExt cx="4814888" cy="3159597"/>
            </a:xfrm>
          </p:grpSpPr>
          <p:pic>
            <p:nvPicPr>
              <p:cNvPr id="18" name="Content Placeholder 4" descr="Diagram&#10;&#10;Description automatically generated">
                <a:extLst>
                  <a:ext uri="{FF2B5EF4-FFF2-40B4-BE49-F238E27FC236}">
                    <a16:creationId xmlns:a16="http://schemas.microsoft.com/office/drawing/2014/main" id="{74831536-B708-0680-0889-85E5D0536C94}"/>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19" name="Picture 2" descr="software development Icon - Free PNG &amp; SVG 581062 - Noun Project">
                <a:extLst>
                  <a:ext uri="{FF2B5EF4-FFF2-40B4-BE49-F238E27FC236}">
                    <a16:creationId xmlns:a16="http://schemas.microsoft.com/office/drawing/2014/main" id="{541E07B8-EE5A-2C80-EB1B-341CC12703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5DE5A465-D3A0-FC12-DBEF-97CD049795FF}"/>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4FFD5DE6-A7B5-170F-1A22-8316F31D008B}"/>
                </a:ext>
              </a:extLst>
            </p:cNvPr>
            <p:cNvSpPr txBox="1"/>
            <p:nvPr/>
          </p:nvSpPr>
          <p:spPr>
            <a:xfrm>
              <a:off x="8977188" y="1135134"/>
              <a:ext cx="548832" cy="400110"/>
            </a:xfrm>
            <a:prstGeom prst="rect">
              <a:avLst/>
            </a:prstGeom>
            <a:noFill/>
          </p:spPr>
          <p:txBody>
            <a:bodyPr wrap="square" rtlCol="0">
              <a:spAutoFit/>
            </a:bodyPr>
            <a:lstStyle/>
            <a:p>
              <a:r>
                <a:rPr lang="en-BE" sz="2000" b="1" dirty="0"/>
                <a:t>V2</a:t>
              </a:r>
            </a:p>
          </p:txBody>
        </p:sp>
      </p:grpSp>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r>
              <a:rPr lang="en-GB" b="0" i="0" dirty="0">
                <a:solidFill>
                  <a:srgbClr val="1F1F1F"/>
                </a:solidFill>
                <a:effectLst/>
                <a:latin typeface="Source Sans Pro" panose="020B0503030403020204" pitchFamily="34" charset="0"/>
              </a:rPr>
              <a:t>Git &amp; GitHub - version Control</a:t>
            </a:r>
            <a:endParaRPr lang="en-BE" dirty="0"/>
          </a:p>
        </p:txBody>
      </p:sp>
      <p:pic>
        <p:nvPicPr>
          <p:cNvPr id="15" name="Google Shape;125;p4" descr="Content management, features, order management, software application,  survey icon - Download on Iconfinder">
            <a:extLst>
              <a:ext uri="{FF2B5EF4-FFF2-40B4-BE49-F238E27FC236}">
                <a16:creationId xmlns:a16="http://schemas.microsoft.com/office/drawing/2014/main" id="{C8309F9A-2BF4-F5CD-C909-79D2CD8396BD}"/>
              </a:ext>
            </a:extLst>
          </p:cNvPr>
          <p:cNvPicPr preferRelativeResize="0"/>
          <p:nvPr/>
        </p:nvPicPr>
        <p:blipFill rotWithShape="1">
          <a:blip r:embed="rId5">
            <a:alphaModFix/>
          </a:blip>
          <a:srcRect/>
          <a:stretch/>
        </p:blipFill>
        <p:spPr>
          <a:xfrm>
            <a:off x="9807225" y="1391202"/>
            <a:ext cx="548831" cy="548831"/>
          </a:xfrm>
          <a:prstGeom prst="rect">
            <a:avLst/>
          </a:prstGeom>
          <a:noFill/>
          <a:ln>
            <a:noFill/>
          </a:ln>
        </p:spPr>
      </p:pic>
      <p:pic>
        <p:nvPicPr>
          <p:cNvPr id="21" name="Google Shape;125;p4" descr="Content management, features, order management, software application,  survey icon - Download on Iconfinder">
            <a:extLst>
              <a:ext uri="{FF2B5EF4-FFF2-40B4-BE49-F238E27FC236}">
                <a16:creationId xmlns:a16="http://schemas.microsoft.com/office/drawing/2014/main" id="{E18FD26F-8837-1CFB-46DC-C19CE10F553A}"/>
              </a:ext>
            </a:extLst>
          </p:cNvPr>
          <p:cNvPicPr preferRelativeResize="0"/>
          <p:nvPr/>
        </p:nvPicPr>
        <p:blipFill rotWithShape="1">
          <a:blip r:embed="rId5">
            <a:alphaModFix/>
          </a:blip>
          <a:srcRect/>
          <a:stretch/>
        </p:blipFill>
        <p:spPr>
          <a:xfrm>
            <a:off x="7305101" y="2629880"/>
            <a:ext cx="376810" cy="355673"/>
          </a:xfrm>
          <a:prstGeom prst="rect">
            <a:avLst/>
          </a:prstGeom>
          <a:noFill/>
          <a:ln>
            <a:noFill/>
          </a:ln>
        </p:spPr>
      </p:pic>
      <p:pic>
        <p:nvPicPr>
          <p:cNvPr id="22" name="Google Shape;125;p4" descr="Content management, features, order management, software application,  survey icon - Download on Iconfinder">
            <a:extLst>
              <a:ext uri="{FF2B5EF4-FFF2-40B4-BE49-F238E27FC236}">
                <a16:creationId xmlns:a16="http://schemas.microsoft.com/office/drawing/2014/main" id="{2B5EA89A-0520-782E-B437-EAD4FE27237F}"/>
              </a:ext>
            </a:extLst>
          </p:cNvPr>
          <p:cNvPicPr preferRelativeResize="0"/>
          <p:nvPr/>
        </p:nvPicPr>
        <p:blipFill rotWithShape="1">
          <a:blip r:embed="rId5">
            <a:alphaModFix/>
          </a:blip>
          <a:srcRect/>
          <a:stretch/>
        </p:blipFill>
        <p:spPr>
          <a:xfrm>
            <a:off x="8241506" y="2753584"/>
            <a:ext cx="376810" cy="355673"/>
          </a:xfrm>
          <a:prstGeom prst="rect">
            <a:avLst/>
          </a:prstGeom>
          <a:noFill/>
          <a:ln>
            <a:noFill/>
          </a:ln>
        </p:spPr>
      </p:pic>
      <p:pic>
        <p:nvPicPr>
          <p:cNvPr id="23" name="Google Shape;125;p4" descr="Content management, features, order management, software application,  survey icon - Download on Iconfinder">
            <a:extLst>
              <a:ext uri="{FF2B5EF4-FFF2-40B4-BE49-F238E27FC236}">
                <a16:creationId xmlns:a16="http://schemas.microsoft.com/office/drawing/2014/main" id="{5E50C63E-D11B-DE96-DA72-B0059A6A9B95}"/>
              </a:ext>
            </a:extLst>
          </p:cNvPr>
          <p:cNvPicPr preferRelativeResize="0"/>
          <p:nvPr/>
        </p:nvPicPr>
        <p:blipFill rotWithShape="1">
          <a:blip r:embed="rId5">
            <a:alphaModFix/>
          </a:blip>
          <a:srcRect/>
          <a:stretch/>
        </p:blipFill>
        <p:spPr>
          <a:xfrm>
            <a:off x="10046781" y="2664690"/>
            <a:ext cx="376810" cy="355673"/>
          </a:xfrm>
          <a:prstGeom prst="rect">
            <a:avLst/>
          </a:prstGeom>
          <a:noFill/>
          <a:ln>
            <a:noFill/>
          </a:ln>
        </p:spPr>
      </p:pic>
      <p:pic>
        <p:nvPicPr>
          <p:cNvPr id="24" name="Google Shape;125;p4" descr="Content management, features, order management, software application,  survey icon - Download on Iconfinder">
            <a:extLst>
              <a:ext uri="{FF2B5EF4-FFF2-40B4-BE49-F238E27FC236}">
                <a16:creationId xmlns:a16="http://schemas.microsoft.com/office/drawing/2014/main" id="{163F17DB-959E-7664-7935-799BEE6DFF99}"/>
              </a:ext>
            </a:extLst>
          </p:cNvPr>
          <p:cNvPicPr preferRelativeResize="0"/>
          <p:nvPr/>
        </p:nvPicPr>
        <p:blipFill rotWithShape="1">
          <a:blip r:embed="rId5">
            <a:alphaModFix/>
          </a:blip>
          <a:srcRect/>
          <a:stretch/>
        </p:blipFill>
        <p:spPr>
          <a:xfrm>
            <a:off x="10999281" y="2753584"/>
            <a:ext cx="376810" cy="355673"/>
          </a:xfrm>
          <a:prstGeom prst="rect">
            <a:avLst/>
          </a:prstGeom>
          <a:noFill/>
          <a:ln>
            <a:noFill/>
          </a:ln>
        </p:spPr>
      </p:pic>
      <p:pic>
        <p:nvPicPr>
          <p:cNvPr id="25" name="Google Shape;125;p4" descr="Content management, features, order management, software application,  survey icon - Download on Iconfinder">
            <a:extLst>
              <a:ext uri="{FF2B5EF4-FFF2-40B4-BE49-F238E27FC236}">
                <a16:creationId xmlns:a16="http://schemas.microsoft.com/office/drawing/2014/main" id="{CC2441BF-0347-3800-760C-4B80513B14C0}"/>
              </a:ext>
            </a:extLst>
          </p:cNvPr>
          <p:cNvPicPr preferRelativeResize="0"/>
          <p:nvPr/>
        </p:nvPicPr>
        <p:blipFill rotWithShape="1">
          <a:blip r:embed="rId5">
            <a:alphaModFix/>
          </a:blip>
          <a:srcRect/>
          <a:stretch/>
        </p:blipFill>
        <p:spPr>
          <a:xfrm>
            <a:off x="6940197" y="3728142"/>
            <a:ext cx="376810" cy="355673"/>
          </a:xfrm>
          <a:prstGeom prst="rect">
            <a:avLst/>
          </a:prstGeom>
          <a:noFill/>
          <a:ln>
            <a:noFill/>
          </a:ln>
        </p:spPr>
      </p:pic>
      <p:pic>
        <p:nvPicPr>
          <p:cNvPr id="26" name="Google Shape;125;p4" descr="Content management, features, order management, software application,  survey icon - Download on Iconfinder">
            <a:extLst>
              <a:ext uri="{FF2B5EF4-FFF2-40B4-BE49-F238E27FC236}">
                <a16:creationId xmlns:a16="http://schemas.microsoft.com/office/drawing/2014/main" id="{AF6A0DE7-268D-71CE-8A48-31D3C97039F4}"/>
              </a:ext>
            </a:extLst>
          </p:cNvPr>
          <p:cNvPicPr preferRelativeResize="0"/>
          <p:nvPr/>
        </p:nvPicPr>
        <p:blipFill rotWithShape="1">
          <a:blip r:embed="rId5">
            <a:alphaModFix/>
          </a:blip>
          <a:srcRect/>
          <a:stretch/>
        </p:blipFill>
        <p:spPr>
          <a:xfrm>
            <a:off x="7864696" y="3754444"/>
            <a:ext cx="376810" cy="355673"/>
          </a:xfrm>
          <a:prstGeom prst="rect">
            <a:avLst/>
          </a:prstGeom>
          <a:noFill/>
          <a:ln>
            <a:noFill/>
          </a:ln>
        </p:spPr>
      </p:pic>
      <p:pic>
        <p:nvPicPr>
          <p:cNvPr id="27" name="Google Shape;125;p4" descr="Content management, features, order management, software application,  survey icon - Download on Iconfinder">
            <a:extLst>
              <a:ext uri="{FF2B5EF4-FFF2-40B4-BE49-F238E27FC236}">
                <a16:creationId xmlns:a16="http://schemas.microsoft.com/office/drawing/2014/main" id="{2A076AE2-B0D4-11AB-7100-BE3D8F2FB378}"/>
              </a:ext>
            </a:extLst>
          </p:cNvPr>
          <p:cNvPicPr preferRelativeResize="0"/>
          <p:nvPr/>
        </p:nvPicPr>
        <p:blipFill rotWithShape="1">
          <a:blip r:embed="rId5">
            <a:alphaModFix/>
          </a:blip>
          <a:srcRect/>
          <a:stretch/>
        </p:blipFill>
        <p:spPr>
          <a:xfrm>
            <a:off x="9667589" y="3727012"/>
            <a:ext cx="376810" cy="355673"/>
          </a:xfrm>
          <a:prstGeom prst="rect">
            <a:avLst/>
          </a:prstGeom>
          <a:noFill/>
          <a:ln>
            <a:noFill/>
          </a:ln>
        </p:spPr>
      </p:pic>
      <p:pic>
        <p:nvPicPr>
          <p:cNvPr id="28" name="Google Shape;125;p4" descr="Content management, features, order management, software application,  survey icon - Download on Iconfinder">
            <a:extLst>
              <a:ext uri="{FF2B5EF4-FFF2-40B4-BE49-F238E27FC236}">
                <a16:creationId xmlns:a16="http://schemas.microsoft.com/office/drawing/2014/main" id="{7F0B5A23-DA44-1C1A-042B-23A156CFBDFD}"/>
              </a:ext>
            </a:extLst>
          </p:cNvPr>
          <p:cNvPicPr preferRelativeResize="0"/>
          <p:nvPr/>
        </p:nvPicPr>
        <p:blipFill rotWithShape="1">
          <a:blip r:embed="rId5">
            <a:alphaModFix/>
          </a:blip>
          <a:srcRect/>
          <a:stretch/>
        </p:blipFill>
        <p:spPr>
          <a:xfrm>
            <a:off x="10700291" y="3785050"/>
            <a:ext cx="376810" cy="355673"/>
          </a:xfrm>
          <a:prstGeom prst="rect">
            <a:avLst/>
          </a:prstGeom>
          <a:noFill/>
          <a:ln>
            <a:noFill/>
          </a:ln>
        </p:spPr>
      </p:pic>
      <p:grpSp>
        <p:nvGrpSpPr>
          <p:cNvPr id="45" name="Group 44">
            <a:extLst>
              <a:ext uri="{FF2B5EF4-FFF2-40B4-BE49-F238E27FC236}">
                <a16:creationId xmlns:a16="http://schemas.microsoft.com/office/drawing/2014/main" id="{4629C493-AC5F-C3AD-D1C8-AA16BF1D4ECF}"/>
              </a:ext>
            </a:extLst>
          </p:cNvPr>
          <p:cNvGrpSpPr/>
          <p:nvPr/>
        </p:nvGrpSpPr>
        <p:grpSpPr>
          <a:xfrm>
            <a:off x="6966148" y="3042101"/>
            <a:ext cx="4431016" cy="1454595"/>
            <a:chOff x="6966148" y="3042101"/>
            <a:chExt cx="4431016" cy="1454595"/>
          </a:xfrm>
        </p:grpSpPr>
        <p:pic>
          <p:nvPicPr>
            <p:cNvPr id="10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A3BBFC8-2BFC-C826-E4C9-AD9306CC6EE4}"/>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67837" y="3188868"/>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EAF0DC8-A53A-DADA-8D5F-98042A095C4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6966148" y="304210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5E40567-8458-2342-0602-24F80C129A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0">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116287" y="389359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E22E47B-1C67-A893-63CA-A7821D9F32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1">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084638" y="304513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E9B42058-53BA-A2A0-E391-C91C87CCFC8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2">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9363" y="416367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50F1239-387A-41C1-3057-1029F335A33C}"/>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8221455" y="3181885"/>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4ED3C2B-FA89-AA9B-8AAE-F8C0296F771E}"/>
                </a:ext>
              </a:extLst>
            </p:cNvPr>
            <p:cNvPicPr>
              <a:picLocks noChangeAspect="1" noChangeArrowheads="1"/>
            </p:cNvPicPr>
            <p:nvPr/>
          </p:nvPicPr>
          <p:blipFill rotWithShape="1">
            <a:blip r:embed="rId6">
              <a:extLst>
                <a:ext uri="{BEBA8EAE-BF5A-486C-A8C5-ECC9F3942E4B}">
                  <a14:imgProps xmlns:a14="http://schemas.microsoft.com/office/drawing/2010/main">
                    <a14:imgLayer r:embed="rId14">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7290318" y="4099341"/>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30FC9EB-4EAC-597C-5967-341256E15C65}"/>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24473" y="4167369"/>
              <a:ext cx="329327" cy="3293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7" name="Group 1026">
            <a:extLst>
              <a:ext uri="{FF2B5EF4-FFF2-40B4-BE49-F238E27FC236}">
                <a16:creationId xmlns:a16="http://schemas.microsoft.com/office/drawing/2014/main" id="{BCE7D078-26CA-A55C-9198-819B9AAD3BEE}"/>
              </a:ext>
            </a:extLst>
          </p:cNvPr>
          <p:cNvGrpSpPr/>
          <p:nvPr/>
        </p:nvGrpSpPr>
        <p:grpSpPr>
          <a:xfrm>
            <a:off x="483107" y="991886"/>
            <a:ext cx="6244302" cy="3341496"/>
            <a:chOff x="483107" y="991886"/>
            <a:chExt cx="6244302" cy="3341496"/>
          </a:xfrm>
        </p:grpSpPr>
        <p:sp>
          <p:nvSpPr>
            <p:cNvPr id="48" name="TextBox 47">
              <a:extLst>
                <a:ext uri="{FF2B5EF4-FFF2-40B4-BE49-F238E27FC236}">
                  <a16:creationId xmlns:a16="http://schemas.microsoft.com/office/drawing/2014/main" id="{806C384B-AA09-8F87-3DA2-0A53BAB9D4DF}"/>
                </a:ext>
              </a:extLst>
            </p:cNvPr>
            <p:cNvSpPr txBox="1"/>
            <p:nvPr/>
          </p:nvSpPr>
          <p:spPr>
            <a:xfrm>
              <a:off x="2589939" y="991886"/>
              <a:ext cx="548832" cy="400110"/>
            </a:xfrm>
            <a:prstGeom prst="rect">
              <a:avLst/>
            </a:prstGeom>
            <a:noFill/>
          </p:spPr>
          <p:txBody>
            <a:bodyPr wrap="square" rtlCol="0">
              <a:spAutoFit/>
            </a:bodyPr>
            <a:lstStyle/>
            <a:p>
              <a:r>
                <a:rPr lang="en-BE" sz="2000" b="1" dirty="0"/>
                <a:t>V1</a:t>
              </a:r>
            </a:p>
          </p:txBody>
        </p:sp>
        <p:grpSp>
          <p:nvGrpSpPr>
            <p:cNvPr id="1025" name="Group 1024">
              <a:extLst>
                <a:ext uri="{FF2B5EF4-FFF2-40B4-BE49-F238E27FC236}">
                  <a16:creationId xmlns:a16="http://schemas.microsoft.com/office/drawing/2014/main" id="{4A80FF62-5087-F80A-245D-69564E354E88}"/>
                </a:ext>
              </a:extLst>
            </p:cNvPr>
            <p:cNvGrpSpPr/>
            <p:nvPr/>
          </p:nvGrpSpPr>
          <p:grpSpPr>
            <a:xfrm>
              <a:off x="483107" y="1173785"/>
              <a:ext cx="6244302" cy="3159597"/>
              <a:chOff x="483107" y="1173785"/>
              <a:chExt cx="6244302" cy="3159597"/>
            </a:xfrm>
          </p:grpSpPr>
          <p:grpSp>
            <p:nvGrpSpPr>
              <p:cNvPr id="46" name="Group 45">
                <a:extLst>
                  <a:ext uri="{FF2B5EF4-FFF2-40B4-BE49-F238E27FC236}">
                    <a16:creationId xmlns:a16="http://schemas.microsoft.com/office/drawing/2014/main" id="{BB79124F-9FBB-A172-C08B-BEFF7ACC09EC}"/>
                  </a:ext>
                </a:extLst>
              </p:cNvPr>
              <p:cNvGrpSpPr/>
              <p:nvPr/>
            </p:nvGrpSpPr>
            <p:grpSpPr>
              <a:xfrm>
                <a:off x="483107" y="1173785"/>
                <a:ext cx="4814888" cy="3159597"/>
                <a:chOff x="485775" y="1188510"/>
                <a:chExt cx="4814888" cy="3159597"/>
              </a:xfrm>
            </p:grpSpPr>
            <p:grpSp>
              <p:nvGrpSpPr>
                <p:cNvPr id="16" name="Group 15">
                  <a:extLst>
                    <a:ext uri="{FF2B5EF4-FFF2-40B4-BE49-F238E27FC236}">
                      <a16:creationId xmlns:a16="http://schemas.microsoft.com/office/drawing/2014/main" id="{C1BD5A6B-5E14-D3D8-DDD0-DF41B7F215DF}"/>
                    </a:ext>
                  </a:extLst>
                </p:cNvPr>
                <p:cNvGrpSpPr/>
                <p:nvPr/>
              </p:nvGrpSpPr>
              <p:grpSpPr>
                <a:xfrm>
                  <a:off x="485775" y="1188510"/>
                  <a:ext cx="4814888" cy="3159597"/>
                  <a:chOff x="485775" y="1188510"/>
                  <a:chExt cx="4814888" cy="3159597"/>
                </a:xfrm>
              </p:grpSpPr>
              <p:pic>
                <p:nvPicPr>
                  <p:cNvPr id="6" name="Content Placeholder 4" descr="Diagram&#10;&#10;Description automatically generated">
                    <a:extLst>
                      <a:ext uri="{FF2B5EF4-FFF2-40B4-BE49-F238E27FC236}">
                        <a16:creationId xmlns:a16="http://schemas.microsoft.com/office/drawing/2014/main" id="{E28CB3E5-BCBF-95A8-BFCD-FA86D39C7B46}"/>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8" name="Picture 2" descr="software development Icon - Free PNG &amp; SVG 581062 - Noun Project">
                    <a:extLst>
                      <a:ext uri="{FF2B5EF4-FFF2-40B4-BE49-F238E27FC236}">
                        <a16:creationId xmlns:a16="http://schemas.microsoft.com/office/drawing/2014/main" id="{7F04A6EA-CB18-5C4F-45FF-DB4A26086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C1EA07C4-ADD0-4FF1-F783-749B6A900742}"/>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37"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6BCCB81-2375-F8FC-8267-76AF5DD0463F}"/>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624199"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83AEA21-06E6-910E-FF4D-170546B7630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6">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29354" y="379489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9CA4A0E-28BC-74E3-D691-BAB71AC367FC}"/>
                    </a:ext>
                  </a:extLst>
                </p:cNvPr>
                <p:cNvPicPr>
                  <a:picLocks noChangeAspect="1" noChangeArrowheads="1"/>
                </p:cNvPicPr>
                <p:nvPr/>
              </p:nvPicPr>
              <p:blipFill rotWithShape="1">
                <a:blip r:embed="rId8">
                  <a:extLst>
                    <a:ext uri="{BEBA8EAE-BF5A-486C-A8C5-ECC9F3942E4B}">
                      <a14:imgProps xmlns:a14="http://schemas.microsoft.com/office/drawing/2010/main">
                        <a14:imgLayer r:embed="rId17">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584900" y="2877437"/>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77ECAF3-151A-F01A-DC36-B37AD773146A}"/>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81053"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4C6EC9B-3F28-7811-B59F-1ECB7104A1D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8">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10196" y="2804809"/>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1B48F62-0994-5C7D-3FFC-824E80BE27D2}"/>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90169" y="2910240"/>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2BC7D2F-8B8E-4DA3-8202-4EAB12C1B0D4}"/>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778501" y="374626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1FADB600-69C5-802D-9470-23BABC23A2C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571" y="2779196"/>
                  <a:ext cx="338953" cy="30444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6" name="Picture 12" descr="Flashback Icons - Free SVG &amp; PNG Flashback Images - Noun Project">
                <a:extLst>
                  <a:ext uri="{FF2B5EF4-FFF2-40B4-BE49-F238E27FC236}">
                    <a16:creationId xmlns:a16="http://schemas.microsoft.com/office/drawing/2014/main" id="{C5E7F4A8-F15D-9FC3-E9DF-9A239EBF623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57409" y="2931420"/>
                <a:ext cx="1270000" cy="127000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60" name="Picture 59">
            <a:extLst>
              <a:ext uri="{FF2B5EF4-FFF2-40B4-BE49-F238E27FC236}">
                <a16:creationId xmlns:a16="http://schemas.microsoft.com/office/drawing/2014/main" id="{5CAE8E95-075C-B90B-64E0-D2D1AF2488EF}"/>
              </a:ext>
            </a:extLst>
          </p:cNvPr>
          <p:cNvPicPr>
            <a:picLocks noChangeAspect="1"/>
          </p:cNvPicPr>
          <p:nvPr/>
        </p:nvPicPr>
        <p:blipFill>
          <a:blip r:embed="rId21"/>
          <a:stretch>
            <a:fillRect/>
          </a:stretch>
        </p:blipFill>
        <p:spPr>
          <a:xfrm>
            <a:off x="10053457" y="1659390"/>
            <a:ext cx="417518" cy="393193"/>
          </a:xfrm>
          <a:prstGeom prst="rect">
            <a:avLst/>
          </a:prstGeom>
        </p:spPr>
      </p:pic>
      <p:grpSp>
        <p:nvGrpSpPr>
          <p:cNvPr id="1024" name="Group 1023">
            <a:extLst>
              <a:ext uri="{FF2B5EF4-FFF2-40B4-BE49-F238E27FC236}">
                <a16:creationId xmlns:a16="http://schemas.microsoft.com/office/drawing/2014/main" id="{7E701A53-B3DB-BA24-78FD-A256AD03F3E6}"/>
              </a:ext>
            </a:extLst>
          </p:cNvPr>
          <p:cNvGrpSpPr/>
          <p:nvPr/>
        </p:nvGrpSpPr>
        <p:grpSpPr>
          <a:xfrm>
            <a:off x="5504086" y="1035187"/>
            <a:ext cx="1384872" cy="1594693"/>
            <a:chOff x="5504086" y="1035187"/>
            <a:chExt cx="1384872" cy="1594693"/>
          </a:xfrm>
        </p:grpSpPr>
        <p:pic>
          <p:nvPicPr>
            <p:cNvPr id="1034" name="Picture 10" descr="Source-control Icons - Free SVG &amp; PNG Source-control Images - Noun Project">
              <a:extLst>
                <a:ext uri="{FF2B5EF4-FFF2-40B4-BE49-F238E27FC236}">
                  <a16:creationId xmlns:a16="http://schemas.microsoft.com/office/drawing/2014/main" id="{4FB0C5E3-3A7E-53BA-674C-98A145F04CF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04086" y="1245008"/>
              <a:ext cx="1384872" cy="138487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95D242EB-70DC-EB9A-3D2F-86390952F550}"/>
                </a:ext>
              </a:extLst>
            </p:cNvPr>
            <p:cNvSpPr txBox="1"/>
            <p:nvPr/>
          </p:nvSpPr>
          <p:spPr>
            <a:xfrm>
              <a:off x="5944365" y="1035187"/>
              <a:ext cx="682229" cy="461665"/>
            </a:xfrm>
            <a:prstGeom prst="rect">
              <a:avLst/>
            </a:prstGeom>
            <a:noFill/>
          </p:spPr>
          <p:txBody>
            <a:bodyPr wrap="square" rtlCol="0">
              <a:spAutoFit/>
            </a:bodyPr>
            <a:lstStyle/>
            <a:p>
              <a:r>
                <a:rPr lang="en-BE" sz="2400" b="1" dirty="0"/>
                <a:t>VCS</a:t>
              </a:r>
            </a:p>
          </p:txBody>
        </p:sp>
      </p:grpSp>
      <p:pic>
        <p:nvPicPr>
          <p:cNvPr id="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63D3C2A9-9F05-1BCD-20DC-3BBCD03919D8}"/>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9904492" y="1073579"/>
            <a:ext cx="338953" cy="30444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5DEDAB2F-7087-7547-8354-4B7443EB389F}"/>
              </a:ext>
            </a:extLst>
          </p:cNvPr>
          <p:cNvGrpSpPr/>
          <p:nvPr/>
        </p:nvGrpSpPr>
        <p:grpSpPr>
          <a:xfrm>
            <a:off x="5742778" y="4979752"/>
            <a:ext cx="1969262" cy="1603967"/>
            <a:chOff x="5608437" y="5095399"/>
            <a:chExt cx="1969262" cy="1603967"/>
          </a:xfrm>
        </p:grpSpPr>
        <p:pic>
          <p:nvPicPr>
            <p:cNvPr id="1026" name="Picture 2" descr="Software-development Icons - Free SVG &amp; PNG Software ...">
              <a:extLst>
                <a:ext uri="{FF2B5EF4-FFF2-40B4-BE49-F238E27FC236}">
                  <a16:creationId xmlns:a16="http://schemas.microsoft.com/office/drawing/2014/main" id="{1F78CA99-E8C8-A582-CDBD-6A485980F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161" y="5095399"/>
              <a:ext cx="1213815" cy="12138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03FBD5-2932-7DAB-012B-66A13E23362E}"/>
                </a:ext>
              </a:extLst>
            </p:cNvPr>
            <p:cNvSpPr txBox="1"/>
            <p:nvPr/>
          </p:nvSpPr>
          <p:spPr>
            <a:xfrm>
              <a:off x="5608437" y="6053035"/>
              <a:ext cx="1969262" cy="646331"/>
            </a:xfrm>
            <a:prstGeom prst="rect">
              <a:avLst/>
            </a:prstGeom>
            <a:noFill/>
          </p:spPr>
          <p:txBody>
            <a:bodyPr wrap="square" rtlCol="0">
              <a:spAutoFit/>
            </a:bodyPr>
            <a:lstStyle/>
            <a:p>
              <a:pPr algn="ctr"/>
              <a:r>
                <a:rPr lang="en-BE" dirty="0"/>
                <a:t>Software project development</a:t>
              </a:r>
            </a:p>
          </p:txBody>
        </p:sp>
      </p:grpSp>
      <p:grpSp>
        <p:nvGrpSpPr>
          <p:cNvPr id="12" name="Group 11">
            <a:extLst>
              <a:ext uri="{FF2B5EF4-FFF2-40B4-BE49-F238E27FC236}">
                <a16:creationId xmlns:a16="http://schemas.microsoft.com/office/drawing/2014/main" id="{9539D66E-EDCC-C260-584B-8E8CD91C5AAB}"/>
              </a:ext>
            </a:extLst>
          </p:cNvPr>
          <p:cNvGrpSpPr/>
          <p:nvPr/>
        </p:nvGrpSpPr>
        <p:grpSpPr>
          <a:xfrm>
            <a:off x="7334317" y="4657568"/>
            <a:ext cx="3664964" cy="1631216"/>
            <a:chOff x="7334317" y="4657568"/>
            <a:chExt cx="3664964" cy="1631216"/>
          </a:xfrm>
        </p:grpSpPr>
        <p:sp>
          <p:nvSpPr>
            <p:cNvPr id="7" name="TextBox 6">
              <a:extLst>
                <a:ext uri="{FF2B5EF4-FFF2-40B4-BE49-F238E27FC236}">
                  <a16:creationId xmlns:a16="http://schemas.microsoft.com/office/drawing/2014/main" id="{2C4054C3-8676-D9E5-B5C3-2DC78D7BEEBD}"/>
                </a:ext>
              </a:extLst>
            </p:cNvPr>
            <p:cNvSpPr txBox="1"/>
            <p:nvPr/>
          </p:nvSpPr>
          <p:spPr>
            <a:xfrm>
              <a:off x="8327519" y="4657568"/>
              <a:ext cx="2671762" cy="1631216"/>
            </a:xfrm>
            <a:prstGeom prst="rect">
              <a:avLst/>
            </a:prstGeom>
            <a:noFill/>
            <a:ln w="38100">
              <a:solidFill>
                <a:srgbClr val="166623"/>
              </a:solidFill>
            </a:ln>
          </p:spPr>
          <p:txBody>
            <a:bodyPr wrap="square" rtlCol="0">
              <a:spAutoFit/>
            </a:bodyPr>
            <a:lstStyle/>
            <a:p>
              <a:pPr algn="ctr"/>
              <a:r>
                <a:rPr lang="en-BE" sz="2000" b="1" u="sng" dirty="0"/>
                <a:t>Project Files</a:t>
              </a:r>
            </a:p>
            <a:p>
              <a:pPr marL="342900" indent="-342900">
                <a:buFont typeface="Arial" panose="020B0604020202020204" pitchFamily="34" charset="0"/>
                <a:buChar char="•"/>
              </a:pPr>
              <a:r>
                <a:rPr lang="en-BE" sz="2000" dirty="0"/>
                <a:t>Code</a:t>
              </a:r>
            </a:p>
            <a:p>
              <a:pPr marL="342900" indent="-342900">
                <a:buFont typeface="Arial" panose="020B0604020202020204" pitchFamily="34" charset="0"/>
                <a:buChar char="•"/>
              </a:pPr>
              <a:r>
                <a:rPr lang="en-BE" sz="2000" dirty="0"/>
                <a:t>Tests</a:t>
              </a:r>
            </a:p>
            <a:p>
              <a:pPr marL="342900" indent="-342900">
                <a:buFont typeface="Arial" panose="020B0604020202020204" pitchFamily="34" charset="0"/>
                <a:buChar char="•"/>
              </a:pPr>
              <a:r>
                <a:rPr lang="en-BE" sz="2000" dirty="0"/>
                <a:t>Documentation</a:t>
              </a:r>
            </a:p>
            <a:p>
              <a:pPr marL="342900" indent="-342900">
                <a:buFont typeface="Arial" panose="020B0604020202020204" pitchFamily="34" charset="0"/>
                <a:buChar char="•"/>
              </a:pPr>
              <a:r>
                <a:rPr lang="en-BE" sz="2000" dirty="0"/>
                <a:t>Configuration</a:t>
              </a:r>
            </a:p>
          </p:txBody>
        </p:sp>
        <p:sp>
          <p:nvSpPr>
            <p:cNvPr id="9" name="Right Arrow 8">
              <a:extLst>
                <a:ext uri="{FF2B5EF4-FFF2-40B4-BE49-F238E27FC236}">
                  <a16:creationId xmlns:a16="http://schemas.microsoft.com/office/drawing/2014/main" id="{3DBA8C48-355F-BF1F-B580-8E05A8A8F06C}"/>
                </a:ext>
              </a:extLst>
            </p:cNvPr>
            <p:cNvSpPr/>
            <p:nvPr/>
          </p:nvSpPr>
          <p:spPr>
            <a:xfrm>
              <a:off x="7334317" y="5322860"/>
              <a:ext cx="786525" cy="46469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1" name="TextBox 10">
            <a:extLst>
              <a:ext uri="{FF2B5EF4-FFF2-40B4-BE49-F238E27FC236}">
                <a16:creationId xmlns:a16="http://schemas.microsoft.com/office/drawing/2014/main" id="{43495FF8-7E0B-15F5-88DD-948D8264167D}"/>
              </a:ext>
            </a:extLst>
          </p:cNvPr>
          <p:cNvSpPr txBox="1"/>
          <p:nvPr/>
        </p:nvSpPr>
        <p:spPr>
          <a:xfrm>
            <a:off x="5517967" y="3929972"/>
            <a:ext cx="1223323" cy="400110"/>
          </a:xfrm>
          <a:prstGeom prst="rect">
            <a:avLst/>
          </a:prstGeom>
          <a:noFill/>
        </p:spPr>
        <p:txBody>
          <a:bodyPr wrap="square" rtlCol="0">
            <a:spAutoFit/>
          </a:bodyPr>
          <a:lstStyle/>
          <a:p>
            <a:r>
              <a:rPr lang="en-BE" sz="2000" dirty="0"/>
              <a:t>rollback</a:t>
            </a:r>
          </a:p>
        </p:txBody>
      </p:sp>
      <p:pic>
        <p:nvPicPr>
          <p:cNvPr id="13" name="Picture 12">
            <a:extLst>
              <a:ext uri="{FF2B5EF4-FFF2-40B4-BE49-F238E27FC236}">
                <a16:creationId xmlns:a16="http://schemas.microsoft.com/office/drawing/2014/main" id="{D273604B-776A-F0D5-7F4C-C58334F04CF5}"/>
              </a:ext>
            </a:extLst>
          </p:cNvPr>
          <p:cNvPicPr>
            <a:picLocks noChangeAspect="1"/>
          </p:cNvPicPr>
          <p:nvPr/>
        </p:nvPicPr>
        <p:blipFill rotWithShape="1">
          <a:blip r:embed="rId23">
            <a:extLst>
              <a:ext uri="{BEBA8EAE-BF5A-486C-A8C5-ECC9F3942E4B}">
                <a14:imgProps xmlns:a14="http://schemas.microsoft.com/office/drawing/2010/main">
                  <a14:imgLayer r:embed="rId24">
                    <a14:imgEffect>
                      <a14:backgroundRemoval t="10000" b="90000" l="10000" r="90000"/>
                    </a14:imgEffect>
                  </a14:imgLayer>
                </a14:imgProps>
              </a:ext>
            </a:extLst>
          </a:blip>
          <a:srcRect l="5953" t="10534" r="2533" b="6922"/>
          <a:stretch/>
        </p:blipFill>
        <p:spPr>
          <a:xfrm>
            <a:off x="10063744" y="1469323"/>
            <a:ext cx="455230" cy="403306"/>
          </a:xfrm>
          <a:prstGeom prst="rect">
            <a:avLst/>
          </a:prstGeom>
        </p:spPr>
      </p:pic>
      <p:pic>
        <p:nvPicPr>
          <p:cNvPr id="1040" name="Picture 16" descr="Git Logo PNG Transparent &amp; SVG Vector - Freebie Supply">
            <a:extLst>
              <a:ext uri="{FF2B5EF4-FFF2-40B4-BE49-F238E27FC236}">
                <a16:creationId xmlns:a16="http://schemas.microsoft.com/office/drawing/2014/main" id="{D262EA68-EF86-9534-6DB8-16090243D2AA}"/>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0505" t="26224" r="10619" b="25997"/>
          <a:stretch/>
        </p:blipFill>
        <p:spPr bwMode="auto">
          <a:xfrm>
            <a:off x="2046892" y="4989256"/>
            <a:ext cx="2671762" cy="121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63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dissolve">
                                      <p:cBhvr>
                                        <p:cTn id="15" dur="5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par>
                                <p:cTn id="31" presetID="9"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dissolve">
                                      <p:cBhvr>
                                        <p:cTn id="33" dur="500"/>
                                        <p:tgtEl>
                                          <p:spTgt spid="22"/>
                                        </p:tgtEl>
                                      </p:cBhvr>
                                    </p:animEffect>
                                  </p:childTnLst>
                                </p:cTn>
                              </p:par>
                              <p:par>
                                <p:cTn id="34" presetID="9"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dissolve">
                                      <p:cBhvr>
                                        <p:cTn id="36" dur="500"/>
                                        <p:tgtEl>
                                          <p:spTgt spid="25"/>
                                        </p:tgtEl>
                                      </p:cBhvr>
                                    </p:animEffect>
                                  </p:childTnLst>
                                </p:cTn>
                              </p:par>
                              <p:par>
                                <p:cTn id="37" presetID="9"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dissolve">
                                      <p:cBhvr>
                                        <p:cTn id="39" dur="500"/>
                                        <p:tgtEl>
                                          <p:spTgt spid="26"/>
                                        </p:tgtEl>
                                      </p:cBhvr>
                                    </p:animEffect>
                                  </p:childTnLst>
                                </p:cTn>
                              </p:par>
                              <p:par>
                                <p:cTn id="40" presetID="9"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par>
                                <p:cTn id="43" presetID="9"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par>
                                <p:cTn id="46" presetID="9"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par>
                                <p:cTn id="49" presetID="9"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ssolve">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dissolve">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dissolve">
                                      <p:cBhvr>
                                        <p:cTn id="61" dur="500"/>
                                        <p:tgtEl>
                                          <p:spTgt spid="6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ssolve">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024"/>
                                        </p:tgtEl>
                                        <p:attrNameLst>
                                          <p:attrName>style.visibility</p:attrName>
                                        </p:attrNameLst>
                                      </p:cBhvr>
                                      <p:to>
                                        <p:strVal val="visible"/>
                                      </p:to>
                                    </p:set>
                                    <p:animEffect transition="in" filter="dissolve">
                                      <p:cBhvr>
                                        <p:cTn id="71" dur="500"/>
                                        <p:tgtEl>
                                          <p:spTgt spid="102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027"/>
                                        </p:tgtEl>
                                        <p:attrNameLst>
                                          <p:attrName>style.visibility</p:attrName>
                                        </p:attrNameLst>
                                      </p:cBhvr>
                                      <p:to>
                                        <p:strVal val="visible"/>
                                      </p:to>
                                    </p:set>
                                    <p:animEffect transition="in" filter="dissolve">
                                      <p:cBhvr>
                                        <p:cTn id="76" dur="500"/>
                                        <p:tgtEl>
                                          <p:spTgt spid="102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dissolve">
                                      <p:cBhvr>
                                        <p:cTn id="7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What is Git?</a:t>
            </a:r>
          </a:p>
        </p:txBody>
      </p:sp>
      <p:pic>
        <p:nvPicPr>
          <p:cNvPr id="8" name="Picture 16"/>
          <p:cNvPicPr>
            <a:picLocks noChangeAspect="1"/>
          </p:cNvPicPr>
          <p:nvPr/>
        </p:nvPicPr>
        <p:blipFill rotWithShape="1">
          <a:blip r:embed="rId3"/>
          <a:srcRect l="10505" t="26224" r="10619" b="25997"/>
          <a:stretch/>
        </p:blipFill>
        <p:spPr>
          <a:xfrm>
            <a:off x="2046892" y="4989256"/>
            <a:ext cx="2671762" cy="1213815"/>
          </a:xfrm>
          <a:prstGeom prst="rect">
            <a:avLst/>
          </a:prstGeom>
        </p:spPr>
      </p:pic>
      <p:sp>
        <p:nvSpPr>
          <p:cNvPr id="5" name="TextBox 4">
            <a:extLst>
              <a:ext uri="{FF2B5EF4-FFF2-40B4-BE49-F238E27FC236}">
                <a16:creationId xmlns:a16="http://schemas.microsoft.com/office/drawing/2014/main" id="{2FF92FF4-2F9F-D2E4-10B6-D9F73D459501}"/>
              </a:ext>
            </a:extLst>
          </p:cNvPr>
          <p:cNvSpPr>
            <a:spLocks noGrp="1"/>
          </p:cNvSpPr>
          <p:nvPr/>
        </p:nvSpPr>
        <p:spPr>
          <a:xfrm>
            <a:off x="838200" y="1128370"/>
            <a:ext cx="10794166" cy="3493264"/>
          </a:xfrm>
          <a:prstGeom prst="rect">
            <a:avLst/>
          </a:prstGeom>
          <a:noFill/>
        </p:spPr>
        <p:txBody>
          <a:bodyPr wrap="square">
            <a:spAutoFit/>
          </a:bodyPr>
          <a:lstStyle/>
          <a:p>
            <a:pPr marL="285750" indent="-285750" algn="l">
              <a:buFont typeface="Arial"/>
              <a:buChar char="•"/>
            </a:pPr>
            <a:r>
              <a:rPr sz="2400" b="0" i="0">
                <a:solidFill>
                  <a:srgbClr val="1F1F1F"/>
                </a:solidFill>
                <a:latin typeface="Arial"/>
                <a:ea typeface="Arial"/>
                <a:cs typeface="Arial"/>
              </a:rPr>
              <a:t>Git is a free open-source system available for Installation on Unix-based platforms, Windows, and macOS.</a:t>
            </a:r>
          </a:p>
          <a:p>
            <a:pPr marL="285750" indent="-285750">
              <a:spcBef>
                <a:spcPts val="600"/>
              </a:spcBef>
              <a:spcAft>
                <a:spcPts val="0"/>
              </a:spcAft>
              <a:buFont typeface="Arial"/>
              <a:buChar char="•"/>
            </a:pPr>
            <a:r>
              <a:rPr sz="2400" b="0" i="0" u="none">
                <a:solidFill>
                  <a:srgbClr val="000000"/>
                </a:solidFill>
                <a:latin typeface="Arial"/>
                <a:ea typeface="Arial"/>
                <a:cs typeface="Arial"/>
              </a:rPr>
              <a:t>One resource I like, and I recommend digging through is this free book: </a:t>
            </a:r>
            <a:r>
              <a:rPr sz="2400" b="0" i="0" u="sng">
                <a:solidFill>
                  <a:srgbClr val="511E3E"/>
                </a:solidFill>
                <a:latin typeface="Arial"/>
                <a:ea typeface="Arial"/>
                <a:cs typeface="Arial"/>
                <a:hlinkClick r:id="rId4"/>
              </a:rPr>
              <a:t>http://git-scm.com/book/en/v2</a:t>
            </a:r>
            <a:endParaRPr sz="2400" b="0" i="0" u="none">
              <a:solidFill>
                <a:srgbClr val="000000"/>
              </a:solidFill>
              <a:latin typeface="Arial"/>
              <a:ea typeface="Arial"/>
              <a:cs typeface="Arial"/>
            </a:endParaRPr>
          </a:p>
          <a:p>
            <a:pPr marL="285750" indent="-285750">
              <a:spcBef>
                <a:spcPts val="0"/>
              </a:spcBef>
              <a:spcAft>
                <a:spcPts val="0"/>
              </a:spcAft>
              <a:buFont typeface="Arial"/>
              <a:buChar char="•"/>
            </a:pPr>
            <a:r>
              <a:rPr sz="2400" b="0" i="0" u="none">
                <a:solidFill>
                  <a:srgbClr val="000000"/>
                </a:solidFill>
                <a:latin typeface="Arial"/>
                <a:ea typeface="Arial"/>
                <a:cs typeface="Arial"/>
              </a:rPr>
              <a:t>Another is Stack Overflow</a:t>
            </a:r>
          </a:p>
          <a:p>
            <a:pPr marL="285750" indent="-285750">
              <a:spcBef>
                <a:spcPts val="0"/>
              </a:spcBef>
              <a:spcAft>
                <a:spcPts val="0"/>
              </a:spcAft>
              <a:buFont typeface="Arial"/>
              <a:buChar char="•"/>
            </a:pPr>
            <a:r>
              <a:rPr sz="2400" b="0" i="0" u="none">
                <a:solidFill>
                  <a:srgbClr val="000000"/>
                </a:solidFill>
                <a:latin typeface="Arial"/>
                <a:ea typeface="Arial"/>
                <a:cs typeface="Arial"/>
              </a:rPr>
              <a:t>And if you are really, really stuck, the formal documentation: </a:t>
            </a:r>
            <a:r>
              <a:rPr sz="2400" b="0" i="0" u="sng">
                <a:solidFill>
                  <a:srgbClr val="511E3E"/>
                </a:solidFill>
                <a:latin typeface="Arial"/>
                <a:ea typeface="Arial"/>
                <a:cs typeface="Arial"/>
                <a:hlinkClick r:id="rId5"/>
              </a:rPr>
              <a:t>http://git-scm.com/documentation</a:t>
            </a:r>
            <a:endParaRPr sz="2400" b="0" i="0" u="none">
              <a:solidFill>
                <a:srgbClr val="000000"/>
              </a:solidFill>
              <a:latin typeface="Arial"/>
              <a:ea typeface="Arial"/>
              <a:cs typeface="Arial"/>
            </a:endParaRPr>
          </a:p>
          <a:p>
            <a:pPr marL="0" marR="0" lvl="0" indent="0" algn="l" defTabSz="914400">
              <a:lnSpc>
                <a:spcPct val="100000"/>
              </a:lnSpc>
              <a:spcBef>
                <a:spcPts val="0"/>
              </a:spcBef>
              <a:spcAft>
                <a:spcPts val="0"/>
              </a:spcAft>
              <a:buClrTx/>
              <a:buSzTx/>
              <a:buFontTx/>
              <a:buNone/>
            </a:pPr>
            <a:endParaRPr sz="2400" b="0" i="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endParaRPr sz="2400" b="0" i="0">
              <a:solidFill>
                <a:srgbClr val="1F1F1F"/>
              </a:solidFill>
              <a:latin typeface="Source Sans Pro"/>
              <a:ea typeface="Source Sans Pro"/>
              <a:cs typeface="Source Sans Pro"/>
            </a:endParaRPr>
          </a:p>
        </p:txBody>
      </p:sp>
    </p:spTree>
    <p:extLst>
      <p:ext uri="{BB962C8B-B14F-4D97-AF65-F5344CB8AC3E}">
        <p14:creationId xmlns:p14="http://schemas.microsoft.com/office/powerpoint/2010/main" val="2758679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18531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sp>
        <p:nvSpPr>
          <p:cNvPr id="4" name="TextBox 3">
            <a:extLst>
              <a:ext uri="{FF2B5EF4-FFF2-40B4-BE49-F238E27FC236}">
                <a16:creationId xmlns:a16="http://schemas.microsoft.com/office/drawing/2014/main" id="{8EA29CC4-94C2-C56A-1203-362AF232AAA2}"/>
              </a:ext>
            </a:extLst>
          </p:cNvPr>
          <p:cNvSpPr txBox="1"/>
          <p:nvPr/>
        </p:nvSpPr>
        <p:spPr>
          <a:xfrm>
            <a:off x="270696" y="1032512"/>
            <a:ext cx="8026858" cy="1323439"/>
          </a:xfrm>
          <a:prstGeom prst="rect">
            <a:avLst/>
          </a:prstGeom>
          <a:noFill/>
        </p:spPr>
        <p:txBody>
          <a:bodyPr wrap="square" rtlCol="0">
            <a:spAutoFit/>
          </a:bodyPr>
          <a:lstStyle/>
          <a:p>
            <a:r>
              <a:rPr lang="en-GB" sz="2400" dirty="0"/>
              <a:t>There are two ways to start working with a git repository:</a:t>
            </a:r>
            <a:endParaRPr lang="en-BE" sz="2400" dirty="0"/>
          </a:p>
          <a:p>
            <a:pPr marL="457200" indent="-457200">
              <a:buFont typeface="Arial" panose="020B0604020202020204" pitchFamily="34" charset="0"/>
              <a:buChar char="•"/>
            </a:pPr>
            <a:r>
              <a:rPr lang="en-BE" sz="2400" dirty="0"/>
              <a:t>git init </a:t>
            </a:r>
            <a:r>
              <a:rPr lang="en-BE" sz="2800" dirty="0"/>
              <a:t>- </a:t>
            </a:r>
            <a:r>
              <a:rPr lang="en-GB" sz="1800" dirty="0"/>
              <a:t>creating a repository from scratch</a:t>
            </a:r>
            <a:r>
              <a:rPr lang="en-BE" sz="2800" dirty="0"/>
              <a:t> </a:t>
            </a:r>
          </a:p>
          <a:p>
            <a:pPr marL="457200" indent="-457200">
              <a:buFont typeface="Arial" panose="020B0604020202020204" pitchFamily="34" charset="0"/>
              <a:buChar char="•"/>
            </a:pPr>
            <a:r>
              <a:rPr lang="en-GB" sz="2400" dirty="0"/>
              <a:t>g</a:t>
            </a:r>
            <a:r>
              <a:rPr lang="en-BE" sz="2400" dirty="0"/>
              <a:t>it clone </a:t>
            </a:r>
            <a:r>
              <a:rPr lang="en-BE" sz="2800" dirty="0"/>
              <a:t>- </a:t>
            </a:r>
            <a:r>
              <a:rPr lang="en-GB" sz="1800" dirty="0"/>
              <a:t>a repository already exists somewhere else on a remote site</a:t>
            </a:r>
            <a:endParaRPr lang="en-BE" sz="2800" dirty="0"/>
          </a:p>
        </p:txBody>
      </p:sp>
      <p:pic>
        <p:nvPicPr>
          <p:cNvPr id="7" name="Picture 6" descr="Text&#10;&#10;Description automatically generated">
            <a:extLst>
              <a:ext uri="{FF2B5EF4-FFF2-40B4-BE49-F238E27FC236}">
                <a16:creationId xmlns:a16="http://schemas.microsoft.com/office/drawing/2014/main" id="{E6B96B3A-B0B0-A790-112E-C56BE28E1FF6}"/>
              </a:ext>
            </a:extLst>
          </p:cNvPr>
          <p:cNvPicPr>
            <a:picLocks noChangeAspect="1"/>
          </p:cNvPicPr>
          <p:nvPr/>
        </p:nvPicPr>
        <p:blipFill>
          <a:blip r:embed="rId3"/>
          <a:stretch>
            <a:fillRect/>
          </a:stretch>
        </p:blipFill>
        <p:spPr>
          <a:xfrm>
            <a:off x="2526302" y="2365749"/>
            <a:ext cx="5715000" cy="4203700"/>
          </a:xfrm>
          <a:prstGeom prst="rect">
            <a:avLst/>
          </a:prstGeom>
        </p:spPr>
      </p:pic>
      <p:sp>
        <p:nvSpPr>
          <p:cNvPr id="8" name="Rounded Rectangle 7">
            <a:extLst>
              <a:ext uri="{FF2B5EF4-FFF2-40B4-BE49-F238E27FC236}">
                <a16:creationId xmlns:a16="http://schemas.microsoft.com/office/drawing/2014/main" id="{390381F2-90B7-9917-0499-F602001283B4}"/>
              </a:ext>
            </a:extLst>
          </p:cNvPr>
          <p:cNvSpPr/>
          <p:nvPr/>
        </p:nvSpPr>
        <p:spPr>
          <a:xfrm>
            <a:off x="660425" y="1525099"/>
            <a:ext cx="1144930"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39" name="Group 38">
            <a:extLst>
              <a:ext uri="{FF2B5EF4-FFF2-40B4-BE49-F238E27FC236}">
                <a16:creationId xmlns:a16="http://schemas.microsoft.com/office/drawing/2014/main" id="{B2353493-91EB-408B-3E6F-22C36B6A88A8}"/>
              </a:ext>
            </a:extLst>
          </p:cNvPr>
          <p:cNvGrpSpPr/>
          <p:nvPr/>
        </p:nvGrpSpPr>
        <p:grpSpPr>
          <a:xfrm>
            <a:off x="6769455" y="2372982"/>
            <a:ext cx="2600326" cy="553998"/>
            <a:chOff x="7200900" y="1341358"/>
            <a:chExt cx="2600326" cy="553998"/>
          </a:xfrm>
        </p:grpSpPr>
        <p:sp>
          <p:nvSpPr>
            <p:cNvPr id="9" name="TextBox 8">
              <a:extLst>
                <a:ext uri="{FF2B5EF4-FFF2-40B4-BE49-F238E27FC236}">
                  <a16:creationId xmlns:a16="http://schemas.microsoft.com/office/drawing/2014/main" id="{1BAC817F-FDE2-C25E-A068-FC54483921C0}"/>
                </a:ext>
              </a:extLst>
            </p:cNvPr>
            <p:cNvSpPr txBox="1"/>
            <p:nvPr/>
          </p:nvSpPr>
          <p:spPr>
            <a:xfrm>
              <a:off x="9234254" y="1341358"/>
              <a:ext cx="566972" cy="369332"/>
            </a:xfrm>
            <a:prstGeom prst="rect">
              <a:avLst/>
            </a:prstGeom>
            <a:noFill/>
            <a:ln w="28575">
              <a:solidFill>
                <a:srgbClr val="166623"/>
              </a:solidFill>
            </a:ln>
          </p:spPr>
          <p:txBody>
            <a:bodyPr wrap="square" rtlCol="0">
              <a:spAutoFit/>
            </a:bodyPr>
            <a:lstStyle/>
            <a:p>
              <a:r>
                <a:rPr lang="en-GB" dirty="0"/>
                <a:t>R</a:t>
              </a:r>
              <a:r>
                <a:rPr lang="en-BE" dirty="0"/>
                <a:t>un</a:t>
              </a:r>
            </a:p>
          </p:txBody>
        </p:sp>
        <p:cxnSp>
          <p:nvCxnSpPr>
            <p:cNvPr id="11" name="Straight Arrow Connector 10">
              <a:extLst>
                <a:ext uri="{FF2B5EF4-FFF2-40B4-BE49-F238E27FC236}">
                  <a16:creationId xmlns:a16="http://schemas.microsoft.com/office/drawing/2014/main" id="{9A4685C6-72C5-FA10-14A1-FFC56975E2DA}"/>
                </a:ext>
              </a:extLst>
            </p:cNvPr>
            <p:cNvCxnSpPr>
              <a:cxnSpLocks/>
              <a:stCxn id="9" idx="1"/>
            </p:cNvCxnSpPr>
            <p:nvPr/>
          </p:nvCxnSpPr>
          <p:spPr>
            <a:xfrm flipH="1">
              <a:off x="7200900" y="1526024"/>
              <a:ext cx="2033354" cy="3693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FDF9F182-253D-31E8-171D-964B9455380C}"/>
              </a:ext>
            </a:extLst>
          </p:cNvPr>
          <p:cNvGrpSpPr/>
          <p:nvPr/>
        </p:nvGrpSpPr>
        <p:grpSpPr>
          <a:xfrm>
            <a:off x="3554768" y="3319856"/>
            <a:ext cx="8328981" cy="369332"/>
            <a:chOff x="3986213" y="2288232"/>
            <a:chExt cx="8328981" cy="369332"/>
          </a:xfrm>
        </p:grpSpPr>
        <p:sp>
          <p:nvSpPr>
            <p:cNvPr id="15" name="TextBox 14">
              <a:extLst>
                <a:ext uri="{FF2B5EF4-FFF2-40B4-BE49-F238E27FC236}">
                  <a16:creationId xmlns:a16="http://schemas.microsoft.com/office/drawing/2014/main" id="{CB2E3920-0A4A-F7C6-8404-0A54703AB983}"/>
                </a:ext>
              </a:extLst>
            </p:cNvPr>
            <p:cNvSpPr txBox="1"/>
            <p:nvPr/>
          </p:nvSpPr>
          <p:spPr>
            <a:xfrm>
              <a:off x="9164960" y="2288232"/>
              <a:ext cx="3150234" cy="369332"/>
            </a:xfrm>
            <a:prstGeom prst="rect">
              <a:avLst/>
            </a:prstGeom>
            <a:noFill/>
            <a:ln w="28575">
              <a:solidFill>
                <a:srgbClr val="166623"/>
              </a:solidFill>
            </a:ln>
          </p:spPr>
          <p:txBody>
            <a:bodyPr wrap="square" rtlCol="0">
              <a:spAutoFit/>
            </a:bodyPr>
            <a:lstStyle/>
            <a:p>
              <a:r>
                <a:rPr lang="en-US" dirty="0"/>
                <a:t>Empty working tree/directory</a:t>
              </a:r>
              <a:endParaRPr lang="en-BE" dirty="0"/>
            </a:p>
          </p:txBody>
        </p:sp>
        <p:cxnSp>
          <p:nvCxnSpPr>
            <p:cNvPr id="16" name="Straight Arrow Connector 15">
              <a:extLst>
                <a:ext uri="{FF2B5EF4-FFF2-40B4-BE49-F238E27FC236}">
                  <a16:creationId xmlns:a16="http://schemas.microsoft.com/office/drawing/2014/main" id="{2CA42125-CCE8-8A56-A8FE-A74C7CFE578A}"/>
                </a:ext>
              </a:extLst>
            </p:cNvPr>
            <p:cNvCxnSpPr>
              <a:cxnSpLocks/>
              <a:stCxn id="15" idx="1"/>
            </p:cNvCxnSpPr>
            <p:nvPr/>
          </p:nvCxnSpPr>
          <p:spPr>
            <a:xfrm flipH="1">
              <a:off x="3986213" y="2472898"/>
              <a:ext cx="5178747" cy="3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FA1D25E3-D16B-05E6-5155-060E0959C308}"/>
              </a:ext>
            </a:extLst>
          </p:cNvPr>
          <p:cNvGrpSpPr/>
          <p:nvPr/>
        </p:nvGrpSpPr>
        <p:grpSpPr>
          <a:xfrm>
            <a:off x="7426680" y="3995359"/>
            <a:ext cx="2800351" cy="369332"/>
            <a:chOff x="7858125" y="2963735"/>
            <a:chExt cx="2800351" cy="369332"/>
          </a:xfrm>
        </p:grpSpPr>
        <p:sp>
          <p:nvSpPr>
            <p:cNvPr id="19" name="TextBox 18">
              <a:extLst>
                <a:ext uri="{FF2B5EF4-FFF2-40B4-BE49-F238E27FC236}">
                  <a16:creationId xmlns:a16="http://schemas.microsoft.com/office/drawing/2014/main" id="{E0348839-E536-36AE-2E1E-1A4EFC178275}"/>
                </a:ext>
              </a:extLst>
            </p:cNvPr>
            <p:cNvSpPr txBox="1"/>
            <p:nvPr/>
          </p:nvSpPr>
          <p:spPr>
            <a:xfrm>
              <a:off x="9191392" y="2963735"/>
              <a:ext cx="1467084" cy="369332"/>
            </a:xfrm>
            <a:prstGeom prst="rect">
              <a:avLst/>
            </a:prstGeom>
            <a:noFill/>
            <a:ln w="28575">
              <a:solidFill>
                <a:srgbClr val="166623"/>
              </a:solidFill>
            </a:ln>
          </p:spPr>
          <p:txBody>
            <a:bodyPr wrap="square" rtlCol="0">
              <a:spAutoFit/>
            </a:bodyPr>
            <a:lstStyle/>
            <a:p>
              <a:r>
                <a:rPr lang="en-US" dirty="0"/>
                <a:t>Git directory</a:t>
              </a:r>
              <a:endParaRPr lang="en-BE" dirty="0"/>
            </a:p>
          </p:txBody>
        </p:sp>
        <p:cxnSp>
          <p:nvCxnSpPr>
            <p:cNvPr id="20" name="Straight Arrow Connector 19">
              <a:extLst>
                <a:ext uri="{FF2B5EF4-FFF2-40B4-BE49-F238E27FC236}">
                  <a16:creationId xmlns:a16="http://schemas.microsoft.com/office/drawing/2014/main" id="{84B65259-0BA5-DE8E-15FA-32E24FE7906A}"/>
                </a:ext>
              </a:extLst>
            </p:cNvPr>
            <p:cNvCxnSpPr>
              <a:cxnSpLocks/>
            </p:cNvCxnSpPr>
            <p:nvPr/>
          </p:nvCxnSpPr>
          <p:spPr>
            <a:xfrm flipH="1">
              <a:off x="7858125" y="3131001"/>
              <a:ext cx="1318978" cy="10410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105AC90-6B9E-4EC6-C57C-2AC8359643FA}"/>
              </a:ext>
            </a:extLst>
          </p:cNvPr>
          <p:cNvGrpSpPr/>
          <p:nvPr/>
        </p:nvGrpSpPr>
        <p:grpSpPr>
          <a:xfrm>
            <a:off x="7912455" y="4364691"/>
            <a:ext cx="3009899" cy="1996171"/>
            <a:chOff x="8343900" y="3333067"/>
            <a:chExt cx="3009899" cy="1996171"/>
          </a:xfrm>
        </p:grpSpPr>
        <p:sp>
          <p:nvSpPr>
            <p:cNvPr id="22" name="Right Brace 21">
              <a:extLst>
                <a:ext uri="{FF2B5EF4-FFF2-40B4-BE49-F238E27FC236}">
                  <a16:creationId xmlns:a16="http://schemas.microsoft.com/office/drawing/2014/main" id="{404CB07A-1607-AA88-43F3-DB0E6A550324}"/>
                </a:ext>
              </a:extLst>
            </p:cNvPr>
            <p:cNvSpPr/>
            <p:nvPr/>
          </p:nvSpPr>
          <p:spPr>
            <a:xfrm>
              <a:off x="8343900" y="3643313"/>
              <a:ext cx="85725" cy="1685925"/>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3" name="TextBox 22">
              <a:extLst>
                <a:ext uri="{FF2B5EF4-FFF2-40B4-BE49-F238E27FC236}">
                  <a16:creationId xmlns:a16="http://schemas.microsoft.com/office/drawing/2014/main" id="{FEB714D2-8C3F-A44B-9117-D507FD34790A}"/>
                </a:ext>
              </a:extLst>
            </p:cNvPr>
            <p:cNvSpPr txBox="1"/>
            <p:nvPr/>
          </p:nvSpPr>
          <p:spPr>
            <a:xfrm>
              <a:off x="9058744" y="4674776"/>
              <a:ext cx="1467084" cy="369332"/>
            </a:xfrm>
            <a:prstGeom prst="rect">
              <a:avLst/>
            </a:prstGeom>
            <a:noFill/>
            <a:ln w="28575">
              <a:solidFill>
                <a:srgbClr val="166623"/>
              </a:solidFill>
            </a:ln>
          </p:spPr>
          <p:txBody>
            <a:bodyPr wrap="square" rtlCol="0">
              <a:spAutoFit/>
            </a:bodyPr>
            <a:lstStyle/>
            <a:p>
              <a:r>
                <a:rPr lang="en-US" dirty="0"/>
                <a:t>Bunch of files</a:t>
              </a:r>
              <a:endParaRPr lang="en-BE" dirty="0"/>
            </a:p>
          </p:txBody>
        </p:sp>
        <p:cxnSp>
          <p:nvCxnSpPr>
            <p:cNvPr id="24" name="Straight Arrow Connector 23">
              <a:extLst>
                <a:ext uri="{FF2B5EF4-FFF2-40B4-BE49-F238E27FC236}">
                  <a16:creationId xmlns:a16="http://schemas.microsoft.com/office/drawing/2014/main" id="{F118536E-C011-504B-4A1E-1DF04FCDE7A8}"/>
                </a:ext>
              </a:extLst>
            </p:cNvPr>
            <p:cNvCxnSpPr>
              <a:cxnSpLocks/>
              <a:stCxn id="23" idx="1"/>
            </p:cNvCxnSpPr>
            <p:nvPr/>
          </p:nvCxnSpPr>
          <p:spPr>
            <a:xfrm flipH="1" flipV="1">
              <a:off x="8399255" y="4715513"/>
              <a:ext cx="659489" cy="14392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560A859-D23B-CD67-3C0D-27A21A232A19}"/>
                </a:ext>
              </a:extLst>
            </p:cNvPr>
            <p:cNvSpPr txBox="1"/>
            <p:nvPr/>
          </p:nvSpPr>
          <p:spPr>
            <a:xfrm>
              <a:off x="9164960" y="3742583"/>
              <a:ext cx="2188839" cy="369332"/>
            </a:xfrm>
            <a:prstGeom prst="rect">
              <a:avLst/>
            </a:prstGeom>
            <a:noFill/>
            <a:ln w="28575">
              <a:solidFill>
                <a:srgbClr val="166623"/>
              </a:solidFill>
            </a:ln>
          </p:spPr>
          <p:txBody>
            <a:bodyPr wrap="square" rtlCol="0">
              <a:spAutoFit/>
            </a:bodyPr>
            <a:lstStyle/>
            <a:p>
              <a:r>
                <a:rPr lang="en-US" dirty="0"/>
                <a:t>Git history/changes</a:t>
              </a:r>
              <a:endParaRPr lang="en-BE" dirty="0"/>
            </a:p>
          </p:txBody>
        </p:sp>
        <p:cxnSp>
          <p:nvCxnSpPr>
            <p:cNvPr id="28" name="Straight Arrow Connector 27">
              <a:extLst>
                <a:ext uri="{FF2B5EF4-FFF2-40B4-BE49-F238E27FC236}">
                  <a16:creationId xmlns:a16="http://schemas.microsoft.com/office/drawing/2014/main" id="{0615596B-BFED-3B48-FF22-83C0C1DE13ED}"/>
                </a:ext>
              </a:extLst>
            </p:cNvPr>
            <p:cNvCxnSpPr>
              <a:cxnSpLocks/>
              <a:stCxn id="23" idx="0"/>
              <a:endCxn id="26" idx="2"/>
            </p:cNvCxnSpPr>
            <p:nvPr/>
          </p:nvCxnSpPr>
          <p:spPr>
            <a:xfrm flipV="1">
              <a:off x="9792286" y="4111915"/>
              <a:ext cx="467094" cy="5628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3867633-FF9B-B183-2B81-C3E178AF6CC9}"/>
                </a:ext>
              </a:extLst>
            </p:cNvPr>
            <p:cNvCxnSpPr>
              <a:cxnSpLocks/>
              <a:stCxn id="19" idx="2"/>
              <a:endCxn id="26" idx="0"/>
            </p:cNvCxnSpPr>
            <p:nvPr/>
          </p:nvCxnSpPr>
          <p:spPr>
            <a:xfrm>
              <a:off x="9913211" y="3333067"/>
              <a:ext cx="346169" cy="40951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052" name="Picture 4" descr="Repository Icons - Free SVG &amp; PNG Repository Images - Noun Project">
            <a:extLst>
              <a:ext uri="{FF2B5EF4-FFF2-40B4-BE49-F238E27FC236}">
                <a16:creationId xmlns:a16="http://schemas.microsoft.com/office/drawing/2014/main" id="{DB7990B8-EE93-200D-E21A-295BD8BE10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6670" y="4479773"/>
            <a:ext cx="958200" cy="95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60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dissolve">
                                      <p:cBhvr>
                                        <p:cTn id="32" dur="500"/>
                                        <p:tgtEl>
                                          <p:spTgt spid="43"/>
                                        </p:tgtEl>
                                      </p:cBhvr>
                                    </p:animEffect>
                                  </p:childTnLst>
                                </p:cTn>
                              </p:par>
                              <p:par>
                                <p:cTn id="33" presetID="9" presetClass="entr" presetSubtype="0" fill="hold" nodeType="withEffect">
                                  <p:stCondLst>
                                    <p:cond delay="0"/>
                                  </p:stCondLst>
                                  <p:childTnLst>
                                    <p:set>
                                      <p:cBhvr>
                                        <p:cTn id="34" dur="1" fill="hold">
                                          <p:stCondLst>
                                            <p:cond delay="0"/>
                                          </p:stCondLst>
                                        </p:cTn>
                                        <p:tgtEl>
                                          <p:spTgt spid="2052"/>
                                        </p:tgtEl>
                                        <p:attrNameLst>
                                          <p:attrName>style.visibility</p:attrName>
                                        </p:attrNameLst>
                                      </p:cBhvr>
                                      <p:to>
                                        <p:strVal val="visible"/>
                                      </p:to>
                                    </p:set>
                                    <p:animEffect transition="in" filter="dissolve">
                                      <p:cBhvr>
                                        <p:cTn id="35"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pic>
        <p:nvPicPr>
          <p:cNvPr id="5" name="Picture 4" descr="Text&#10;&#10;Description automatically generated">
            <a:extLst>
              <a:ext uri="{FF2B5EF4-FFF2-40B4-BE49-F238E27FC236}">
                <a16:creationId xmlns:a16="http://schemas.microsoft.com/office/drawing/2014/main" id="{121CF2EB-6216-0749-40B4-AB3A5C2E864D}"/>
              </a:ext>
            </a:extLst>
          </p:cNvPr>
          <p:cNvPicPr>
            <a:picLocks noChangeAspect="1"/>
          </p:cNvPicPr>
          <p:nvPr/>
        </p:nvPicPr>
        <p:blipFill>
          <a:blip r:embed="rId3"/>
          <a:stretch>
            <a:fillRect/>
          </a:stretch>
        </p:blipFill>
        <p:spPr>
          <a:xfrm>
            <a:off x="608206" y="1166812"/>
            <a:ext cx="5029200" cy="3009900"/>
          </a:xfrm>
          <a:prstGeom prst="rect">
            <a:avLst/>
          </a:prstGeom>
        </p:spPr>
      </p:pic>
      <p:pic>
        <p:nvPicPr>
          <p:cNvPr id="10" name="Picture 9" descr="Text&#10;&#10;Description automatically generated">
            <a:extLst>
              <a:ext uri="{FF2B5EF4-FFF2-40B4-BE49-F238E27FC236}">
                <a16:creationId xmlns:a16="http://schemas.microsoft.com/office/drawing/2014/main" id="{3FC6A049-42BC-47DE-B19B-0D89448F7DDD}"/>
              </a:ext>
            </a:extLst>
          </p:cNvPr>
          <p:cNvPicPr>
            <a:picLocks noChangeAspect="1"/>
          </p:cNvPicPr>
          <p:nvPr/>
        </p:nvPicPr>
        <p:blipFill rotWithShape="1">
          <a:blip r:embed="rId4"/>
          <a:srcRect b="19981"/>
          <a:stretch/>
        </p:blipFill>
        <p:spPr>
          <a:xfrm>
            <a:off x="608206" y="4308338"/>
            <a:ext cx="4797232" cy="1823382"/>
          </a:xfrm>
          <a:prstGeom prst="rect">
            <a:avLst/>
          </a:prstGeom>
        </p:spPr>
      </p:pic>
      <p:grpSp>
        <p:nvGrpSpPr>
          <p:cNvPr id="48" name="Group 47">
            <a:extLst>
              <a:ext uri="{FF2B5EF4-FFF2-40B4-BE49-F238E27FC236}">
                <a16:creationId xmlns:a16="http://schemas.microsoft.com/office/drawing/2014/main" id="{565F2415-95EB-B0D2-D838-FFECB3550BB3}"/>
              </a:ext>
            </a:extLst>
          </p:cNvPr>
          <p:cNvGrpSpPr/>
          <p:nvPr/>
        </p:nvGrpSpPr>
        <p:grpSpPr>
          <a:xfrm>
            <a:off x="3257550" y="1714500"/>
            <a:ext cx="6478394" cy="3105983"/>
            <a:chOff x="3257550" y="1714500"/>
            <a:chExt cx="6478394" cy="3105983"/>
          </a:xfrm>
        </p:grpSpPr>
        <p:grpSp>
          <p:nvGrpSpPr>
            <p:cNvPr id="47" name="Group 46">
              <a:extLst>
                <a:ext uri="{FF2B5EF4-FFF2-40B4-BE49-F238E27FC236}">
                  <a16:creationId xmlns:a16="http://schemas.microsoft.com/office/drawing/2014/main" id="{D5BBFE24-0799-DD4E-3FAA-422604B1EF4F}"/>
                </a:ext>
              </a:extLst>
            </p:cNvPr>
            <p:cNvGrpSpPr/>
            <p:nvPr/>
          </p:nvGrpSpPr>
          <p:grpSpPr>
            <a:xfrm>
              <a:off x="6891337" y="1714500"/>
              <a:ext cx="2844607" cy="3105983"/>
              <a:chOff x="6891337" y="1714500"/>
              <a:chExt cx="2844607" cy="3105983"/>
            </a:xfrm>
          </p:grpSpPr>
          <p:sp>
            <p:nvSpPr>
              <p:cNvPr id="13" name="Rectangle 12">
                <a:extLst>
                  <a:ext uri="{FF2B5EF4-FFF2-40B4-BE49-F238E27FC236}">
                    <a16:creationId xmlns:a16="http://schemas.microsoft.com/office/drawing/2014/main" id="{6E2C2356-923E-BD45-4BA8-4A96467D008A}"/>
                  </a:ext>
                </a:extLst>
              </p:cNvPr>
              <p:cNvSpPr/>
              <p:nvPr/>
            </p:nvSpPr>
            <p:spPr>
              <a:xfrm>
                <a:off x="8145269" y="1714500"/>
                <a:ext cx="1590675" cy="557213"/>
              </a:xfrm>
              <a:prstGeom prst="rect">
                <a:avLst/>
              </a:prstGeom>
              <a:solidFill>
                <a:srgbClr val="18827F"/>
              </a:solidFill>
              <a:ln>
                <a:solidFill>
                  <a:srgbClr val="1882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Staging Area</a:t>
                </a:r>
              </a:p>
            </p:txBody>
          </p:sp>
          <p:cxnSp>
            <p:nvCxnSpPr>
              <p:cNvPr id="21" name="Straight Connector 20">
                <a:extLst>
                  <a:ext uri="{FF2B5EF4-FFF2-40B4-BE49-F238E27FC236}">
                    <a16:creationId xmlns:a16="http://schemas.microsoft.com/office/drawing/2014/main" id="{76449CE9-5DCC-9D02-0F12-E0C4AE7CC230}"/>
                  </a:ext>
                </a:extLst>
              </p:cNvPr>
              <p:cNvCxnSpPr/>
              <p:nvPr/>
            </p:nvCxnSpPr>
            <p:spPr>
              <a:xfrm flipH="1">
                <a:off x="8935566" y="2277308"/>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ight Arrow 26">
                <a:extLst>
                  <a:ext uri="{FF2B5EF4-FFF2-40B4-BE49-F238E27FC236}">
                    <a16:creationId xmlns:a16="http://schemas.microsoft.com/office/drawing/2014/main" id="{FD0D288F-075A-2324-F710-B401ADBCAF8E}"/>
                  </a:ext>
                </a:extLst>
              </p:cNvPr>
              <p:cNvSpPr/>
              <p:nvPr/>
            </p:nvSpPr>
            <p:spPr>
              <a:xfrm>
                <a:off x="6891337" y="2814638"/>
                <a:ext cx="2044229"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add menu1.txt</a:t>
                </a:r>
              </a:p>
            </p:txBody>
          </p:sp>
        </p:grpSp>
        <p:cxnSp>
          <p:nvCxnSpPr>
            <p:cNvPr id="32" name="Straight Arrow Connector 31">
              <a:extLst>
                <a:ext uri="{FF2B5EF4-FFF2-40B4-BE49-F238E27FC236}">
                  <a16:creationId xmlns:a16="http://schemas.microsoft.com/office/drawing/2014/main" id="{679FC764-9662-AA4D-7814-D6AAEBFD92AA}"/>
                </a:ext>
              </a:extLst>
            </p:cNvPr>
            <p:cNvCxnSpPr>
              <a:cxnSpLocks/>
              <a:stCxn id="27" idx="1"/>
            </p:cNvCxnSpPr>
            <p:nvPr/>
          </p:nvCxnSpPr>
          <p:spPr>
            <a:xfrm flipH="1">
              <a:off x="3257550" y="3121819"/>
              <a:ext cx="3633787" cy="3071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921AF501-8CBF-13A6-E50A-BAB95F8DC7EA}"/>
              </a:ext>
            </a:extLst>
          </p:cNvPr>
          <p:cNvGrpSpPr/>
          <p:nvPr/>
        </p:nvGrpSpPr>
        <p:grpSpPr>
          <a:xfrm>
            <a:off x="5353609" y="1714500"/>
            <a:ext cx="6394928" cy="3105984"/>
            <a:chOff x="5353609" y="1714500"/>
            <a:chExt cx="6394928" cy="3105984"/>
          </a:xfrm>
        </p:grpSpPr>
        <p:grpSp>
          <p:nvGrpSpPr>
            <p:cNvPr id="49" name="Group 48">
              <a:extLst>
                <a:ext uri="{FF2B5EF4-FFF2-40B4-BE49-F238E27FC236}">
                  <a16:creationId xmlns:a16="http://schemas.microsoft.com/office/drawing/2014/main" id="{60760F19-D1F0-AA47-F09F-3B2E33CB71B3}"/>
                </a:ext>
              </a:extLst>
            </p:cNvPr>
            <p:cNvGrpSpPr/>
            <p:nvPr/>
          </p:nvGrpSpPr>
          <p:grpSpPr>
            <a:xfrm>
              <a:off x="8935566" y="1714500"/>
              <a:ext cx="2812971" cy="3105984"/>
              <a:chOff x="8935566" y="1714500"/>
              <a:chExt cx="2812971" cy="3105984"/>
            </a:xfrm>
          </p:grpSpPr>
          <p:sp>
            <p:nvSpPr>
              <p:cNvPr id="14" name="Rectangle 13">
                <a:extLst>
                  <a:ext uri="{FF2B5EF4-FFF2-40B4-BE49-F238E27FC236}">
                    <a16:creationId xmlns:a16="http://schemas.microsoft.com/office/drawing/2014/main" id="{468388D3-9FA2-3A3A-A767-5800FF485FFC}"/>
                  </a:ext>
                </a:extLst>
              </p:cNvPr>
              <p:cNvSpPr/>
              <p:nvPr/>
            </p:nvSpPr>
            <p:spPr>
              <a:xfrm>
                <a:off x="10157862" y="1714500"/>
                <a:ext cx="1590675" cy="557213"/>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directory</a:t>
                </a:r>
              </a:p>
            </p:txBody>
          </p:sp>
          <p:cxnSp>
            <p:nvCxnSpPr>
              <p:cNvPr id="25" name="Straight Connector 24">
                <a:extLst>
                  <a:ext uri="{FF2B5EF4-FFF2-40B4-BE49-F238E27FC236}">
                    <a16:creationId xmlns:a16="http://schemas.microsoft.com/office/drawing/2014/main" id="{51A01C34-9688-C1BB-4E2C-7F181C431059}"/>
                  </a:ext>
                </a:extLst>
              </p:cNvPr>
              <p:cNvCxnSpPr/>
              <p:nvPr/>
            </p:nvCxnSpPr>
            <p:spPr>
              <a:xfrm flipH="1">
                <a:off x="10953199" y="2277309"/>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ight Arrow 28">
                <a:extLst>
                  <a:ext uri="{FF2B5EF4-FFF2-40B4-BE49-F238E27FC236}">
                    <a16:creationId xmlns:a16="http://schemas.microsoft.com/office/drawing/2014/main" id="{DFE4D725-B8B1-2ACA-9A2E-DC60BEC28E65}"/>
                  </a:ext>
                </a:extLst>
              </p:cNvPr>
              <p:cNvSpPr/>
              <p:nvPr/>
            </p:nvSpPr>
            <p:spPr>
              <a:xfrm>
                <a:off x="8935566" y="3543300"/>
                <a:ext cx="1988780"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commit</a:t>
                </a:r>
              </a:p>
            </p:txBody>
          </p:sp>
        </p:grpSp>
        <p:cxnSp>
          <p:nvCxnSpPr>
            <p:cNvPr id="34" name="Straight Arrow Connector 33">
              <a:extLst>
                <a:ext uri="{FF2B5EF4-FFF2-40B4-BE49-F238E27FC236}">
                  <a16:creationId xmlns:a16="http://schemas.microsoft.com/office/drawing/2014/main" id="{F937453D-E4D5-1C93-E4C4-DA68FED669EF}"/>
                </a:ext>
              </a:extLst>
            </p:cNvPr>
            <p:cNvCxnSpPr>
              <a:cxnSpLocks/>
            </p:cNvCxnSpPr>
            <p:nvPr/>
          </p:nvCxnSpPr>
          <p:spPr>
            <a:xfrm flipH="1">
              <a:off x="5353609" y="3893343"/>
              <a:ext cx="3580842" cy="7655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81C0748-0CA2-4BA2-1421-15326E5CD886}"/>
              </a:ext>
            </a:extLst>
          </p:cNvPr>
          <p:cNvGrpSpPr/>
          <p:nvPr/>
        </p:nvGrpSpPr>
        <p:grpSpPr>
          <a:xfrm>
            <a:off x="5353609" y="270978"/>
            <a:ext cx="5019116" cy="1015240"/>
            <a:chOff x="5353609" y="270978"/>
            <a:chExt cx="5019116" cy="1015240"/>
          </a:xfrm>
        </p:grpSpPr>
        <p:sp>
          <p:nvSpPr>
            <p:cNvPr id="38" name="TextBox 37">
              <a:extLst>
                <a:ext uri="{FF2B5EF4-FFF2-40B4-BE49-F238E27FC236}">
                  <a16:creationId xmlns:a16="http://schemas.microsoft.com/office/drawing/2014/main" id="{D0FB48F9-6DA8-9EBC-52B9-2546595602FD}"/>
                </a:ext>
              </a:extLst>
            </p:cNvPr>
            <p:cNvSpPr txBox="1"/>
            <p:nvPr/>
          </p:nvSpPr>
          <p:spPr>
            <a:xfrm>
              <a:off x="6543675" y="270978"/>
              <a:ext cx="3829050" cy="400110"/>
            </a:xfrm>
            <a:prstGeom prst="rect">
              <a:avLst/>
            </a:prstGeom>
            <a:noFill/>
            <a:ln w="28575">
              <a:solidFill>
                <a:srgbClr val="C00000"/>
              </a:solidFill>
            </a:ln>
          </p:spPr>
          <p:txBody>
            <a:bodyPr wrap="square" rtlCol="0">
              <a:spAutoFit/>
            </a:bodyPr>
            <a:lstStyle/>
            <a:p>
              <a:r>
                <a:rPr lang="en-BE" sz="2000" dirty="0"/>
                <a:t>Working directory – add menu1.txt</a:t>
              </a:r>
            </a:p>
          </p:txBody>
        </p:sp>
        <p:cxnSp>
          <p:nvCxnSpPr>
            <p:cNvPr id="39" name="Straight Arrow Connector 38">
              <a:extLst>
                <a:ext uri="{FF2B5EF4-FFF2-40B4-BE49-F238E27FC236}">
                  <a16:creationId xmlns:a16="http://schemas.microsoft.com/office/drawing/2014/main" id="{0550009B-CCEE-1E48-EB2C-DEA516BBF35B}"/>
                </a:ext>
              </a:extLst>
            </p:cNvPr>
            <p:cNvCxnSpPr>
              <a:cxnSpLocks/>
              <a:stCxn id="38" idx="2"/>
            </p:cNvCxnSpPr>
            <p:nvPr/>
          </p:nvCxnSpPr>
          <p:spPr>
            <a:xfrm flipH="1">
              <a:off x="5353609" y="671088"/>
              <a:ext cx="3104591" cy="6151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AE3A82B4-A075-D361-594B-2E68E89312B2}"/>
              </a:ext>
            </a:extLst>
          </p:cNvPr>
          <p:cNvGrpSpPr/>
          <p:nvPr/>
        </p:nvGrpSpPr>
        <p:grpSpPr>
          <a:xfrm>
            <a:off x="5715412" y="1714500"/>
            <a:ext cx="1971263" cy="3100388"/>
            <a:chOff x="5715412" y="1714500"/>
            <a:chExt cx="1971263" cy="3100388"/>
          </a:xfrm>
        </p:grpSpPr>
        <p:grpSp>
          <p:nvGrpSpPr>
            <p:cNvPr id="45" name="Group 44">
              <a:extLst>
                <a:ext uri="{FF2B5EF4-FFF2-40B4-BE49-F238E27FC236}">
                  <a16:creationId xmlns:a16="http://schemas.microsoft.com/office/drawing/2014/main" id="{B8183A08-895D-DDB6-A825-04A6849459A2}"/>
                </a:ext>
              </a:extLst>
            </p:cNvPr>
            <p:cNvGrpSpPr/>
            <p:nvPr/>
          </p:nvGrpSpPr>
          <p:grpSpPr>
            <a:xfrm>
              <a:off x="6096000" y="1714500"/>
              <a:ext cx="1590675" cy="3100388"/>
              <a:chOff x="6096000" y="1714500"/>
              <a:chExt cx="1590675" cy="3100388"/>
            </a:xfrm>
          </p:grpSpPr>
          <p:sp>
            <p:nvSpPr>
              <p:cNvPr id="12" name="Rectangle 11">
                <a:extLst>
                  <a:ext uri="{FF2B5EF4-FFF2-40B4-BE49-F238E27FC236}">
                    <a16:creationId xmlns:a16="http://schemas.microsoft.com/office/drawing/2014/main" id="{2FA9C52A-CEE7-6195-13F8-155026AF1300}"/>
                  </a:ext>
                </a:extLst>
              </p:cNvPr>
              <p:cNvSpPr/>
              <p:nvPr/>
            </p:nvSpPr>
            <p:spPr>
              <a:xfrm>
                <a:off x="6096000" y="1714500"/>
                <a:ext cx="1590675" cy="557213"/>
              </a:xfrm>
              <a:prstGeom prst="rect">
                <a:avLst/>
              </a:prstGeom>
              <a:solidFill>
                <a:srgbClr val="F73D0D"/>
              </a:solidFill>
              <a:ln>
                <a:solidFill>
                  <a:srgbClr val="F73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Working Directory</a:t>
                </a:r>
              </a:p>
            </p:txBody>
          </p:sp>
          <p:cxnSp>
            <p:nvCxnSpPr>
              <p:cNvPr id="18" name="Straight Connector 17">
                <a:extLst>
                  <a:ext uri="{FF2B5EF4-FFF2-40B4-BE49-F238E27FC236}">
                    <a16:creationId xmlns:a16="http://schemas.microsoft.com/office/drawing/2014/main" id="{1A2807B8-1B9A-3253-462D-7D6F804F375D}"/>
                  </a:ext>
                </a:extLst>
              </p:cNvPr>
              <p:cNvCxnSpPr>
                <a:stCxn id="12" idx="2"/>
              </p:cNvCxnSpPr>
              <p:nvPr/>
            </p:nvCxnSpPr>
            <p:spPr>
              <a:xfrm flipH="1">
                <a:off x="6891337" y="2271713"/>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ight Arrow 43">
              <a:extLst>
                <a:ext uri="{FF2B5EF4-FFF2-40B4-BE49-F238E27FC236}">
                  <a16:creationId xmlns:a16="http://schemas.microsoft.com/office/drawing/2014/main" id="{B2AFFE60-D3D7-8A75-B34B-60FEB7EB558F}"/>
                </a:ext>
              </a:extLst>
            </p:cNvPr>
            <p:cNvSpPr/>
            <p:nvPr/>
          </p:nvSpPr>
          <p:spPr>
            <a:xfrm>
              <a:off x="5715412" y="2375832"/>
              <a:ext cx="1188402"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1400" dirty="0"/>
                <a:t>Modify WD</a:t>
              </a:r>
            </a:p>
          </p:txBody>
        </p:sp>
      </p:grpSp>
      <p:sp>
        <p:nvSpPr>
          <p:cNvPr id="4" name="TextBox 3">
            <a:extLst>
              <a:ext uri="{FF2B5EF4-FFF2-40B4-BE49-F238E27FC236}">
                <a16:creationId xmlns:a16="http://schemas.microsoft.com/office/drawing/2014/main" id="{96646E52-26CD-AAF4-A4AE-40C1B1D679F8}"/>
              </a:ext>
            </a:extLst>
          </p:cNvPr>
          <p:cNvSpPr txBox="1"/>
          <p:nvPr/>
        </p:nvSpPr>
        <p:spPr>
          <a:xfrm>
            <a:off x="7572375" y="1079092"/>
            <a:ext cx="2996171" cy="523220"/>
          </a:xfrm>
          <a:prstGeom prst="rect">
            <a:avLst/>
          </a:prstGeom>
          <a:noFill/>
        </p:spPr>
        <p:txBody>
          <a:bodyPr wrap="square" rtlCol="0">
            <a:spAutoFit/>
          </a:bodyPr>
          <a:lstStyle/>
          <a:p>
            <a:r>
              <a:rPr lang="en-BE" sz="2800" b="1" u="sng" dirty="0"/>
              <a:t>The Git WorkFlow</a:t>
            </a:r>
          </a:p>
        </p:txBody>
      </p:sp>
      <p:sp>
        <p:nvSpPr>
          <p:cNvPr id="6" name="Left Arrow 5">
            <a:extLst>
              <a:ext uri="{FF2B5EF4-FFF2-40B4-BE49-F238E27FC236}">
                <a16:creationId xmlns:a16="http://schemas.microsoft.com/office/drawing/2014/main" id="{F4D2B60F-5BAB-0053-4DA0-2E41D9AF51E6}"/>
              </a:ext>
            </a:extLst>
          </p:cNvPr>
          <p:cNvSpPr/>
          <p:nvPr/>
        </p:nvSpPr>
        <p:spPr>
          <a:xfrm>
            <a:off x="5632324" y="2145207"/>
            <a:ext cx="242694" cy="138113"/>
          </a:xfrm>
          <a:prstGeom prst="lef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619C034C-3DD7-A9AB-40AB-58A15A25C3FA}"/>
              </a:ext>
            </a:extLst>
          </p:cNvPr>
          <p:cNvGrpSpPr/>
          <p:nvPr/>
        </p:nvGrpSpPr>
        <p:grpSpPr>
          <a:xfrm>
            <a:off x="9378099" y="4140454"/>
            <a:ext cx="1081237" cy="703127"/>
            <a:chOff x="9378099" y="4140454"/>
            <a:chExt cx="1081237" cy="703127"/>
          </a:xfrm>
        </p:grpSpPr>
        <p:pic>
          <p:nvPicPr>
            <p:cNvPr id="1026" name="Picture 2" descr="The floppy disk Save icon: Visual language of an era long-gone | by Scott  Oliveri | UX Collective">
              <a:extLst>
                <a:ext uri="{FF2B5EF4-FFF2-40B4-BE49-F238E27FC236}">
                  <a16:creationId xmlns:a16="http://schemas.microsoft.com/office/drawing/2014/main" id="{DC5EA7DA-5742-C583-67AB-A9C5BEEBEB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1534" t="20574" r="4982" b="16720"/>
            <a:stretch/>
          </p:blipFill>
          <p:spPr bwMode="auto">
            <a:xfrm>
              <a:off x="9644959" y="4140454"/>
              <a:ext cx="455548" cy="4119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ED65CE-4427-6361-D924-364A4B159264}"/>
                </a:ext>
              </a:extLst>
            </p:cNvPr>
            <p:cNvSpPr txBox="1"/>
            <p:nvPr/>
          </p:nvSpPr>
          <p:spPr>
            <a:xfrm>
              <a:off x="9378099" y="4474249"/>
              <a:ext cx="1081237" cy="369332"/>
            </a:xfrm>
            <a:prstGeom prst="rect">
              <a:avLst/>
            </a:prstGeom>
            <a:noFill/>
          </p:spPr>
          <p:txBody>
            <a:bodyPr wrap="square" rtlCol="0">
              <a:spAutoFit/>
            </a:bodyPr>
            <a:lstStyle/>
            <a:p>
              <a:r>
                <a:rPr lang="en-US" dirty="0"/>
                <a:t>changes</a:t>
              </a:r>
            </a:p>
          </p:txBody>
        </p:sp>
      </p:grpSp>
    </p:spTree>
    <p:extLst>
      <p:ext uri="{BB962C8B-B14F-4D97-AF65-F5344CB8AC3E}">
        <p14:creationId xmlns:p14="http://schemas.microsoft.com/office/powerpoint/2010/main" val="307830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dissolv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dissolve">
                                      <p:cBhvr>
                                        <p:cTn id="15" dur="500"/>
                                        <p:tgtEl>
                                          <p:spTgt spid="48"/>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What makes a good commit message?</a:t>
            </a:r>
          </a:p>
        </p:txBody>
      </p:sp>
      <p:grpSp>
        <p:nvGrpSpPr>
          <p:cNvPr id="2" name="Group 1">
            <a:extLst>
              <a:ext uri="{FF2B5EF4-FFF2-40B4-BE49-F238E27FC236}">
                <a16:creationId xmlns:a16="http://schemas.microsoft.com/office/drawing/2014/main" id="{E7E09B04-7474-EB65-F761-1212C237DE7F}"/>
              </a:ext>
            </a:extLst>
          </p:cNvPr>
          <p:cNvGrpSpPr/>
          <p:nvPr/>
        </p:nvGrpSpPr>
        <p:grpSpPr>
          <a:xfrm>
            <a:off x="5078145" y="3257615"/>
            <a:ext cx="5894655" cy="3582432"/>
            <a:chOff x="4776204" y="1482725"/>
            <a:chExt cx="5894655" cy="3582432"/>
          </a:xfrm>
        </p:grpSpPr>
        <p:pic>
          <p:nvPicPr>
            <p:cNvPr id="5" name="Picture 4" descr="Text&#10;&#10;Description automatically generated">
              <a:extLst>
                <a:ext uri="{FF2B5EF4-FFF2-40B4-BE49-F238E27FC236}">
                  <a16:creationId xmlns:a16="http://schemas.microsoft.com/office/drawing/2014/main" id="{051E0185-CEDC-3049-557F-5B3CFCA71199}"/>
                </a:ext>
              </a:extLst>
            </p:cNvPr>
            <p:cNvPicPr>
              <a:picLocks noChangeAspect="1"/>
            </p:cNvPicPr>
            <p:nvPr/>
          </p:nvPicPr>
          <p:blipFill>
            <a:blip r:embed="rId3"/>
            <a:stretch>
              <a:fillRect/>
            </a:stretch>
          </p:blipFill>
          <p:spPr>
            <a:xfrm>
              <a:off x="4776204" y="1482725"/>
              <a:ext cx="5894655" cy="3336211"/>
            </a:xfrm>
            <a:prstGeom prst="rect">
              <a:avLst/>
            </a:prstGeom>
          </p:spPr>
        </p:pic>
        <p:sp>
          <p:nvSpPr>
            <p:cNvPr id="8" name="TextBox 7">
              <a:extLst>
                <a:ext uri="{FF2B5EF4-FFF2-40B4-BE49-F238E27FC236}">
                  <a16:creationId xmlns:a16="http://schemas.microsoft.com/office/drawing/2014/main" id="{9CC6AE3F-790C-BF08-F899-63647C1EA072}"/>
                </a:ext>
              </a:extLst>
            </p:cNvPr>
            <p:cNvSpPr txBox="1"/>
            <p:nvPr/>
          </p:nvSpPr>
          <p:spPr>
            <a:xfrm>
              <a:off x="6005917" y="4818936"/>
              <a:ext cx="3886567" cy="246221"/>
            </a:xfrm>
            <a:prstGeom prst="rect">
              <a:avLst/>
            </a:prstGeom>
            <a:noFill/>
          </p:spPr>
          <p:txBody>
            <a:bodyPr wrap="square">
              <a:spAutoFit/>
            </a:bodyPr>
            <a:lstStyle/>
            <a:p>
              <a:r>
                <a:rPr lang="en-BE" sz="1000" dirty="0"/>
                <a:t>https://initialcommit.com/blog/git-commit-messages-best-practices</a:t>
              </a:r>
            </a:p>
          </p:txBody>
        </p:sp>
      </p:grpSp>
      <p:grpSp>
        <p:nvGrpSpPr>
          <p:cNvPr id="25" name="Group 24">
            <a:extLst>
              <a:ext uri="{FF2B5EF4-FFF2-40B4-BE49-F238E27FC236}">
                <a16:creationId xmlns:a16="http://schemas.microsoft.com/office/drawing/2014/main" id="{D6746B2E-2D87-2142-2544-2F0C63A27914}"/>
              </a:ext>
            </a:extLst>
          </p:cNvPr>
          <p:cNvGrpSpPr/>
          <p:nvPr/>
        </p:nvGrpSpPr>
        <p:grpSpPr>
          <a:xfrm>
            <a:off x="235271" y="3528644"/>
            <a:ext cx="4758760" cy="855632"/>
            <a:chOff x="223548" y="1242646"/>
            <a:chExt cx="4758760" cy="855632"/>
          </a:xfrm>
        </p:grpSpPr>
        <p:sp>
          <p:nvSpPr>
            <p:cNvPr id="12" name="TextBox 11">
              <a:extLst>
                <a:ext uri="{FF2B5EF4-FFF2-40B4-BE49-F238E27FC236}">
                  <a16:creationId xmlns:a16="http://schemas.microsoft.com/office/drawing/2014/main" id="{F0CEA326-801F-7FDD-1CDD-5BE230A839D0}"/>
                </a:ext>
              </a:extLst>
            </p:cNvPr>
            <p:cNvSpPr txBox="1"/>
            <p:nvPr/>
          </p:nvSpPr>
          <p:spPr>
            <a:xfrm>
              <a:off x="223548" y="1482725"/>
              <a:ext cx="2514600" cy="615553"/>
            </a:xfrm>
            <a:prstGeom prst="rect">
              <a:avLst/>
            </a:prstGeom>
            <a:noFill/>
            <a:ln w="28575">
              <a:solidFill>
                <a:srgbClr val="C00000"/>
              </a:solidFill>
            </a:ln>
          </p:spPr>
          <p:txBody>
            <a:bodyPr wrap="square" rtlCol="0">
              <a:spAutoFit/>
            </a:bodyPr>
            <a:lstStyle/>
            <a:p>
              <a:r>
                <a:rPr lang="en-BE" dirty="0"/>
                <a:t>Short Commit Message</a:t>
              </a:r>
            </a:p>
            <a:p>
              <a:pPr marL="285750" indent="-285750">
                <a:buFont typeface="Arial" panose="020B0604020202020204" pitchFamily="34" charset="0"/>
                <a:buChar char="•"/>
              </a:pPr>
              <a:r>
                <a:rPr lang="en-GB" sz="1600" dirty="0"/>
                <a:t>U</a:t>
              </a:r>
              <a:r>
                <a:rPr lang="en-BE" sz="1600" dirty="0"/>
                <a:t>nder 50 characters</a:t>
              </a:r>
            </a:p>
          </p:txBody>
        </p:sp>
        <p:cxnSp>
          <p:nvCxnSpPr>
            <p:cNvPr id="14" name="Straight Arrow Connector 13">
              <a:extLst>
                <a:ext uri="{FF2B5EF4-FFF2-40B4-BE49-F238E27FC236}">
                  <a16:creationId xmlns:a16="http://schemas.microsoft.com/office/drawing/2014/main" id="{0B6B3F94-EE5D-C8D0-42AC-63881DDAF28C}"/>
                </a:ext>
              </a:extLst>
            </p:cNvPr>
            <p:cNvCxnSpPr>
              <a:cxnSpLocks/>
            </p:cNvCxnSpPr>
            <p:nvPr/>
          </p:nvCxnSpPr>
          <p:spPr>
            <a:xfrm flipV="1">
              <a:off x="2717152" y="1242646"/>
              <a:ext cx="2265156" cy="54785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5F7CB4E-6EC2-E688-D901-B8393F534D94}"/>
              </a:ext>
            </a:extLst>
          </p:cNvPr>
          <p:cNvGrpSpPr/>
          <p:nvPr/>
        </p:nvGrpSpPr>
        <p:grpSpPr>
          <a:xfrm>
            <a:off x="235271" y="3749145"/>
            <a:ext cx="4842873" cy="1897768"/>
            <a:chOff x="223548" y="1463147"/>
            <a:chExt cx="4842873" cy="1897768"/>
          </a:xfrm>
        </p:grpSpPr>
        <p:sp>
          <p:nvSpPr>
            <p:cNvPr id="16" name="TextBox 15">
              <a:extLst>
                <a:ext uri="{FF2B5EF4-FFF2-40B4-BE49-F238E27FC236}">
                  <a16:creationId xmlns:a16="http://schemas.microsoft.com/office/drawing/2014/main" id="{8A87B2C0-C9DF-A514-F65B-53D3A1DB4E89}"/>
                </a:ext>
              </a:extLst>
            </p:cNvPr>
            <p:cNvSpPr txBox="1"/>
            <p:nvPr/>
          </p:nvSpPr>
          <p:spPr>
            <a:xfrm>
              <a:off x="223548" y="2499141"/>
              <a:ext cx="3729035" cy="861774"/>
            </a:xfrm>
            <a:prstGeom prst="rect">
              <a:avLst/>
            </a:prstGeom>
            <a:noFill/>
            <a:ln w="28575">
              <a:solidFill>
                <a:srgbClr val="C00000"/>
              </a:solidFill>
            </a:ln>
          </p:spPr>
          <p:txBody>
            <a:bodyPr wrap="square" rtlCol="0">
              <a:spAutoFit/>
            </a:bodyPr>
            <a:lstStyle/>
            <a:p>
              <a:r>
                <a:rPr lang="en-BE" dirty="0"/>
                <a:t>Detailed Commit Message</a:t>
              </a:r>
            </a:p>
            <a:p>
              <a:pPr marL="285750" indent="-285750">
                <a:buFont typeface="Arial" panose="020B0604020202020204" pitchFamily="34" charset="0"/>
                <a:buChar char="•"/>
              </a:pPr>
              <a:r>
                <a:rPr lang="en-BE" sz="1600" dirty="0"/>
                <a:t>One or more paragraphs, if needed</a:t>
              </a:r>
            </a:p>
            <a:p>
              <a:pPr marL="285750" indent="-285750">
                <a:buFont typeface="Arial" panose="020B0604020202020204" pitchFamily="34" charset="0"/>
                <a:buChar char="•"/>
              </a:pPr>
              <a:r>
                <a:rPr lang="en-BE" sz="1600" dirty="0"/>
                <a:t>Lines kept under 72 characters</a:t>
              </a:r>
            </a:p>
          </p:txBody>
        </p:sp>
        <p:sp>
          <p:nvSpPr>
            <p:cNvPr id="21" name="Left Brace 20">
              <a:extLst>
                <a:ext uri="{FF2B5EF4-FFF2-40B4-BE49-F238E27FC236}">
                  <a16:creationId xmlns:a16="http://schemas.microsoft.com/office/drawing/2014/main" id="{FDA5ED08-BFBA-C64D-DD46-2C893CA9C510}"/>
                </a:ext>
              </a:extLst>
            </p:cNvPr>
            <p:cNvSpPr/>
            <p:nvPr/>
          </p:nvSpPr>
          <p:spPr>
            <a:xfrm>
              <a:off x="4834448" y="1463147"/>
              <a:ext cx="231973" cy="1256608"/>
            </a:xfrm>
            <a:prstGeom prst="lef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cxnSp>
          <p:nvCxnSpPr>
            <p:cNvPr id="22" name="Straight Arrow Connector 21">
              <a:extLst>
                <a:ext uri="{FF2B5EF4-FFF2-40B4-BE49-F238E27FC236}">
                  <a16:creationId xmlns:a16="http://schemas.microsoft.com/office/drawing/2014/main" id="{C85FC4E4-26BC-3B82-D890-D1E864304E89}"/>
                </a:ext>
              </a:extLst>
            </p:cNvPr>
            <p:cNvCxnSpPr>
              <a:cxnSpLocks/>
            </p:cNvCxnSpPr>
            <p:nvPr/>
          </p:nvCxnSpPr>
          <p:spPr>
            <a:xfrm flipV="1">
              <a:off x="3952583" y="2499141"/>
              <a:ext cx="754930" cy="39110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B5622856-A7BD-B458-DDBD-732B23A7AC81}"/>
              </a:ext>
            </a:extLst>
          </p:cNvPr>
          <p:cNvGrpSpPr/>
          <p:nvPr/>
        </p:nvGrpSpPr>
        <p:grpSpPr>
          <a:xfrm>
            <a:off x="793909" y="1275266"/>
            <a:ext cx="3067544" cy="1709365"/>
            <a:chOff x="456979" y="4789054"/>
            <a:chExt cx="3353459" cy="1966912"/>
          </a:xfrm>
        </p:grpSpPr>
        <p:pic>
          <p:nvPicPr>
            <p:cNvPr id="1026" name="Picture 2" descr="A Beginner's Guide to Git — How to Write a Good Commit Message">
              <a:extLst>
                <a:ext uri="{FF2B5EF4-FFF2-40B4-BE49-F238E27FC236}">
                  <a16:creationId xmlns:a16="http://schemas.microsoft.com/office/drawing/2014/main" id="{BFC804EE-FA5B-DEA9-2BEE-4693011EF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873" y="4789054"/>
              <a:ext cx="3114383" cy="15975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B7063-81DA-F64E-AF03-A29B6D4FF889}"/>
                </a:ext>
              </a:extLst>
            </p:cNvPr>
            <p:cNvSpPr txBox="1"/>
            <p:nvPr/>
          </p:nvSpPr>
          <p:spPr>
            <a:xfrm>
              <a:off x="456979" y="6386634"/>
              <a:ext cx="3353459" cy="369332"/>
            </a:xfrm>
            <a:prstGeom prst="rect">
              <a:avLst/>
            </a:prstGeom>
            <a:noFill/>
          </p:spPr>
          <p:txBody>
            <a:bodyPr wrap="square">
              <a:spAutoFit/>
            </a:bodyPr>
            <a:lstStyle/>
            <a:p>
              <a:r>
                <a:rPr lang="en-BE" sz="900" dirty="0"/>
                <a:t>https://www.freecodecamp.org/news/a-beginners-guide-to-git-how-to-write-a-good-commit-message/</a:t>
              </a:r>
            </a:p>
          </p:txBody>
        </p:sp>
      </p:grpSp>
      <p:pic>
        <p:nvPicPr>
          <p:cNvPr id="2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778FE581-4F0D-55A5-9E24-251E61712CFA}"/>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3046493" y="1252154"/>
            <a:ext cx="964501" cy="96450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E24CFEF6-D0F4-9B70-D8C6-7167E5B09EDE}"/>
              </a:ext>
            </a:extLst>
          </p:cNvPr>
          <p:cNvGrpSpPr/>
          <p:nvPr/>
        </p:nvGrpSpPr>
        <p:grpSpPr>
          <a:xfrm>
            <a:off x="5078144" y="1035187"/>
            <a:ext cx="6187105" cy="2085317"/>
            <a:chOff x="5078144" y="1035187"/>
            <a:chExt cx="6187105" cy="2085317"/>
          </a:xfrm>
        </p:grpSpPr>
        <p:grpSp>
          <p:nvGrpSpPr>
            <p:cNvPr id="26" name="Group 25">
              <a:extLst>
                <a:ext uri="{FF2B5EF4-FFF2-40B4-BE49-F238E27FC236}">
                  <a16:creationId xmlns:a16="http://schemas.microsoft.com/office/drawing/2014/main" id="{4A4AE09B-B0A8-95A4-C9AD-3D9BB6417AE9}"/>
                </a:ext>
              </a:extLst>
            </p:cNvPr>
            <p:cNvGrpSpPr/>
            <p:nvPr/>
          </p:nvGrpSpPr>
          <p:grpSpPr>
            <a:xfrm>
              <a:off x="5078144" y="1035187"/>
              <a:ext cx="6187105" cy="1839096"/>
              <a:chOff x="5078144" y="1035187"/>
              <a:chExt cx="6187105" cy="1839096"/>
            </a:xfrm>
          </p:grpSpPr>
          <p:pic>
            <p:nvPicPr>
              <p:cNvPr id="19" name="Picture 18" descr="Text&#10;&#10;Description automatically generated">
                <a:extLst>
                  <a:ext uri="{FF2B5EF4-FFF2-40B4-BE49-F238E27FC236}">
                    <a16:creationId xmlns:a16="http://schemas.microsoft.com/office/drawing/2014/main" id="{3C3C7C27-93C7-F5C7-8AAD-E2713FD52DE4}"/>
                  </a:ext>
                </a:extLst>
              </p:cNvPr>
              <p:cNvPicPr>
                <a:picLocks noChangeAspect="1"/>
              </p:cNvPicPr>
              <p:nvPr/>
            </p:nvPicPr>
            <p:blipFill rotWithShape="1">
              <a:blip r:embed="rId7"/>
              <a:srcRect r="35676"/>
              <a:stretch/>
            </p:blipFill>
            <p:spPr>
              <a:xfrm>
                <a:off x="5078144" y="1035187"/>
                <a:ext cx="5309977" cy="1839096"/>
              </a:xfrm>
              <a:prstGeom prst="rect">
                <a:avLst/>
              </a:prstGeom>
            </p:spPr>
          </p:pic>
          <p:pic>
            <p:nvPicPr>
              <p:cNvPr id="2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6E06C28-8BB3-1764-5484-2377857EB02D}"/>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476672" y="1219464"/>
                <a:ext cx="788577" cy="708301"/>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TextBox 27">
              <a:extLst>
                <a:ext uri="{FF2B5EF4-FFF2-40B4-BE49-F238E27FC236}">
                  <a16:creationId xmlns:a16="http://schemas.microsoft.com/office/drawing/2014/main" id="{79E5347A-095C-2830-E9C2-28D57A2C13D5}"/>
                </a:ext>
              </a:extLst>
            </p:cNvPr>
            <p:cNvSpPr txBox="1"/>
            <p:nvPr/>
          </p:nvSpPr>
          <p:spPr>
            <a:xfrm>
              <a:off x="5294795" y="2874283"/>
              <a:ext cx="4899630" cy="246221"/>
            </a:xfrm>
            <a:prstGeom prst="rect">
              <a:avLst/>
            </a:prstGeom>
            <a:noFill/>
          </p:spPr>
          <p:txBody>
            <a:bodyPr wrap="square">
              <a:spAutoFit/>
            </a:bodyPr>
            <a:lstStyle/>
            <a:p>
              <a:r>
                <a:rPr lang="en-BE" sz="1000" dirty="0"/>
                <a:t>http://benfalk.com/blog/2015/10/20/commits-that-matter/</a:t>
              </a:r>
            </a:p>
          </p:txBody>
        </p:sp>
      </p:grpSp>
    </p:spTree>
    <p:extLst>
      <p:ext uri="{BB962C8B-B14F-4D97-AF65-F5344CB8AC3E}">
        <p14:creationId xmlns:p14="http://schemas.microsoft.com/office/powerpoint/2010/main" val="311260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sp>
        <p:nvSpPr>
          <p:cNvPr id="2" name="TextBox 1">
            <a:extLst>
              <a:ext uri="{FF2B5EF4-FFF2-40B4-BE49-F238E27FC236}">
                <a16:creationId xmlns:a16="http://schemas.microsoft.com/office/drawing/2014/main" id="{B63DAA7E-E1B2-83F5-1ED1-CD3A07503E60}"/>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grpSp>
        <p:nvGrpSpPr>
          <p:cNvPr id="20" name="Group 19">
            <a:extLst>
              <a:ext uri="{FF2B5EF4-FFF2-40B4-BE49-F238E27FC236}">
                <a16:creationId xmlns:a16="http://schemas.microsoft.com/office/drawing/2014/main" id="{79A7B121-F26D-E491-B33C-0BE428E6531A}"/>
              </a:ext>
            </a:extLst>
          </p:cNvPr>
          <p:cNvGrpSpPr/>
          <p:nvPr/>
        </p:nvGrpSpPr>
        <p:grpSpPr>
          <a:xfrm>
            <a:off x="213533" y="2830120"/>
            <a:ext cx="4487832" cy="3489048"/>
            <a:chOff x="365900" y="3095152"/>
            <a:chExt cx="4487832" cy="3489048"/>
          </a:xfrm>
        </p:grpSpPr>
        <p:sp>
          <p:nvSpPr>
            <p:cNvPr id="10" name="TextBox 9">
              <a:extLst>
                <a:ext uri="{FF2B5EF4-FFF2-40B4-BE49-F238E27FC236}">
                  <a16:creationId xmlns:a16="http://schemas.microsoft.com/office/drawing/2014/main" id="{BF575B7A-E187-0783-F29B-C4BD21C2029B}"/>
                </a:ext>
              </a:extLst>
            </p:cNvPr>
            <p:cNvSpPr txBox="1"/>
            <p:nvPr/>
          </p:nvSpPr>
          <p:spPr>
            <a:xfrm>
              <a:off x="1275159" y="3095152"/>
              <a:ext cx="2364582" cy="369332"/>
            </a:xfrm>
            <a:prstGeom prst="rect">
              <a:avLst/>
            </a:prstGeom>
            <a:noFill/>
          </p:spPr>
          <p:txBody>
            <a:bodyPr wrap="square">
              <a:spAutoFit/>
            </a:bodyPr>
            <a:lstStyle/>
            <a:p>
              <a:r>
                <a:rPr lang="en-BE" dirty="0"/>
                <a:t>git log -p</a:t>
              </a:r>
            </a:p>
          </p:txBody>
        </p:sp>
        <p:pic>
          <p:nvPicPr>
            <p:cNvPr id="13" name="Picture 12" descr="Text&#10;&#10;Description automatically generated">
              <a:extLst>
                <a:ext uri="{FF2B5EF4-FFF2-40B4-BE49-F238E27FC236}">
                  <a16:creationId xmlns:a16="http://schemas.microsoft.com/office/drawing/2014/main" id="{364C1337-2E00-6F61-CFAD-6BC7C3BC6532}"/>
                </a:ext>
              </a:extLst>
            </p:cNvPr>
            <p:cNvPicPr>
              <a:picLocks noChangeAspect="1"/>
            </p:cNvPicPr>
            <p:nvPr/>
          </p:nvPicPr>
          <p:blipFill>
            <a:blip r:embed="rId3"/>
            <a:stretch>
              <a:fillRect/>
            </a:stretch>
          </p:blipFill>
          <p:spPr>
            <a:xfrm>
              <a:off x="365900" y="3428999"/>
              <a:ext cx="4487832" cy="3155201"/>
            </a:xfrm>
            <a:prstGeom prst="rect">
              <a:avLst/>
            </a:prstGeom>
          </p:spPr>
        </p:pic>
      </p:grpSp>
      <p:grpSp>
        <p:nvGrpSpPr>
          <p:cNvPr id="19" name="Group 18">
            <a:extLst>
              <a:ext uri="{FF2B5EF4-FFF2-40B4-BE49-F238E27FC236}">
                <a16:creationId xmlns:a16="http://schemas.microsoft.com/office/drawing/2014/main" id="{1B00647E-4C83-E054-7D38-513BF4A04F45}"/>
              </a:ext>
            </a:extLst>
          </p:cNvPr>
          <p:cNvGrpSpPr/>
          <p:nvPr/>
        </p:nvGrpSpPr>
        <p:grpSpPr>
          <a:xfrm>
            <a:off x="6297055" y="2642720"/>
            <a:ext cx="4973686" cy="2040457"/>
            <a:chOff x="6096000" y="3679288"/>
            <a:chExt cx="4973686" cy="2040457"/>
          </a:xfrm>
        </p:grpSpPr>
        <p:pic>
          <p:nvPicPr>
            <p:cNvPr id="7" name="Picture 6" descr="Graphical user interface, text, application&#10;&#10;Description automatically generated">
              <a:extLst>
                <a:ext uri="{FF2B5EF4-FFF2-40B4-BE49-F238E27FC236}">
                  <a16:creationId xmlns:a16="http://schemas.microsoft.com/office/drawing/2014/main" id="{326DBDCD-4FB1-C5C0-02B9-077521EC467A}"/>
                </a:ext>
              </a:extLst>
            </p:cNvPr>
            <p:cNvPicPr>
              <a:picLocks noChangeAspect="1"/>
            </p:cNvPicPr>
            <p:nvPr/>
          </p:nvPicPr>
          <p:blipFill>
            <a:blip r:embed="rId4"/>
            <a:stretch>
              <a:fillRect/>
            </a:stretch>
          </p:blipFill>
          <p:spPr>
            <a:xfrm>
              <a:off x="6096000" y="4054594"/>
              <a:ext cx="4973686" cy="1665151"/>
            </a:xfrm>
            <a:prstGeom prst="rect">
              <a:avLst/>
            </a:prstGeom>
          </p:spPr>
        </p:pic>
        <p:sp>
          <p:nvSpPr>
            <p:cNvPr id="15" name="TextBox 14">
              <a:extLst>
                <a:ext uri="{FF2B5EF4-FFF2-40B4-BE49-F238E27FC236}">
                  <a16:creationId xmlns:a16="http://schemas.microsoft.com/office/drawing/2014/main" id="{B0004D11-C37F-E9E9-FB62-ACD874430062}"/>
                </a:ext>
              </a:extLst>
            </p:cNvPr>
            <p:cNvSpPr txBox="1"/>
            <p:nvPr/>
          </p:nvSpPr>
          <p:spPr>
            <a:xfrm>
              <a:off x="7190184" y="3679288"/>
              <a:ext cx="2364582" cy="369332"/>
            </a:xfrm>
            <a:prstGeom prst="rect">
              <a:avLst/>
            </a:prstGeom>
            <a:noFill/>
          </p:spPr>
          <p:txBody>
            <a:bodyPr wrap="square">
              <a:spAutoFit/>
            </a:bodyPr>
            <a:lstStyle/>
            <a:p>
              <a:r>
                <a:rPr lang="en-BE" dirty="0"/>
                <a:t>git log --stat</a:t>
              </a:r>
            </a:p>
          </p:txBody>
        </p:sp>
      </p:grpSp>
      <p:grpSp>
        <p:nvGrpSpPr>
          <p:cNvPr id="18" name="Group 17">
            <a:extLst>
              <a:ext uri="{FF2B5EF4-FFF2-40B4-BE49-F238E27FC236}">
                <a16:creationId xmlns:a16="http://schemas.microsoft.com/office/drawing/2014/main" id="{4BA79659-80CC-06E6-8918-C35D413C1231}"/>
              </a:ext>
            </a:extLst>
          </p:cNvPr>
          <p:cNvGrpSpPr/>
          <p:nvPr/>
        </p:nvGrpSpPr>
        <p:grpSpPr>
          <a:xfrm>
            <a:off x="6297055" y="915547"/>
            <a:ext cx="5252008" cy="1621375"/>
            <a:chOff x="6101792" y="1372672"/>
            <a:chExt cx="5252008" cy="1621375"/>
          </a:xfrm>
        </p:grpSpPr>
        <p:pic>
          <p:nvPicPr>
            <p:cNvPr id="3" name="Picture 2" descr="Text&#10;&#10;Description automatically generated">
              <a:extLst>
                <a:ext uri="{FF2B5EF4-FFF2-40B4-BE49-F238E27FC236}">
                  <a16:creationId xmlns:a16="http://schemas.microsoft.com/office/drawing/2014/main" id="{F68130F6-B6F7-BF39-8438-33644A0B4774}"/>
                </a:ext>
              </a:extLst>
            </p:cNvPr>
            <p:cNvPicPr>
              <a:picLocks noChangeAspect="1"/>
            </p:cNvPicPr>
            <p:nvPr/>
          </p:nvPicPr>
          <p:blipFill rotWithShape="1">
            <a:blip r:embed="rId5"/>
            <a:srcRect t="36217"/>
            <a:stretch/>
          </p:blipFill>
          <p:spPr>
            <a:xfrm>
              <a:off x="6101792" y="1728691"/>
              <a:ext cx="5252008" cy="1265356"/>
            </a:xfrm>
            <a:prstGeom prst="rect">
              <a:avLst/>
            </a:prstGeom>
          </p:spPr>
        </p:pic>
        <p:sp>
          <p:nvSpPr>
            <p:cNvPr id="17" name="TextBox 16">
              <a:extLst>
                <a:ext uri="{FF2B5EF4-FFF2-40B4-BE49-F238E27FC236}">
                  <a16:creationId xmlns:a16="http://schemas.microsoft.com/office/drawing/2014/main" id="{3D594C73-0E47-9B44-63E0-E8BA0DF52B76}"/>
                </a:ext>
              </a:extLst>
            </p:cNvPr>
            <p:cNvSpPr txBox="1"/>
            <p:nvPr/>
          </p:nvSpPr>
          <p:spPr>
            <a:xfrm>
              <a:off x="7400552" y="1372672"/>
              <a:ext cx="971923" cy="369332"/>
            </a:xfrm>
            <a:prstGeom prst="rect">
              <a:avLst/>
            </a:prstGeom>
            <a:noFill/>
          </p:spPr>
          <p:txBody>
            <a:bodyPr wrap="square">
              <a:spAutoFit/>
            </a:bodyPr>
            <a:lstStyle/>
            <a:p>
              <a:r>
                <a:rPr lang="en-BE" dirty="0"/>
                <a:t>git log </a:t>
              </a:r>
            </a:p>
          </p:txBody>
        </p:sp>
      </p:grpSp>
      <p:grpSp>
        <p:nvGrpSpPr>
          <p:cNvPr id="8" name="Group 7">
            <a:extLst>
              <a:ext uri="{FF2B5EF4-FFF2-40B4-BE49-F238E27FC236}">
                <a16:creationId xmlns:a16="http://schemas.microsoft.com/office/drawing/2014/main" id="{BFF7AF97-68E7-4EE8-FDD2-A086A378FB27}"/>
              </a:ext>
            </a:extLst>
          </p:cNvPr>
          <p:cNvGrpSpPr/>
          <p:nvPr/>
        </p:nvGrpSpPr>
        <p:grpSpPr>
          <a:xfrm>
            <a:off x="4271962" y="4835647"/>
            <a:ext cx="4707915" cy="1958378"/>
            <a:chOff x="4271962" y="4835647"/>
            <a:chExt cx="4707915" cy="1958378"/>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5866108" y="4835647"/>
              <a:ext cx="1472162" cy="1668644"/>
              <a:chOff x="3078956" y="1116229"/>
              <a:chExt cx="2346722"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078956" y="1566000"/>
                <a:ext cx="2346722"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dirty="0">
                    <a:solidFill>
                      <a:srgbClr val="000000"/>
                    </a:solidFill>
                    <a:latin typeface="Menlo" panose="020B0609030804020204" pitchFamily="49" charset="0"/>
                  </a:rPr>
                  <a:t>Grapes</a:t>
                </a:r>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Strawberries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6" name="TextBox 5">
              <a:extLst>
                <a:ext uri="{FF2B5EF4-FFF2-40B4-BE49-F238E27FC236}">
                  <a16:creationId xmlns:a16="http://schemas.microsoft.com/office/drawing/2014/main" id="{D04C95E7-AED9-391A-7A47-F4CB99E73D90}"/>
                </a:ext>
              </a:extLst>
            </p:cNvPr>
            <p:cNvSpPr txBox="1"/>
            <p:nvPr/>
          </p:nvSpPr>
          <p:spPr>
            <a:xfrm>
              <a:off x="4271962" y="6455471"/>
              <a:ext cx="4707915" cy="338554"/>
            </a:xfrm>
            <a:prstGeom prst="rect">
              <a:avLst/>
            </a:prstGeom>
            <a:noFill/>
          </p:spPr>
          <p:txBody>
            <a:bodyPr wrap="square">
              <a:spAutoFit/>
            </a:bodyPr>
            <a:lstStyle/>
            <a:p>
              <a:r>
                <a:rPr lang="en-GB" sz="1600" b="0" i="0" dirty="0">
                  <a:solidFill>
                    <a:srgbClr val="1F1F1F"/>
                  </a:solidFill>
                  <a:effectLst/>
                  <a:latin typeface="Source Sans Pro" panose="020B0503030403020204" pitchFamily="34" charset="0"/>
                </a:rPr>
                <a:t>Recall that we have one commit in our git repository </a:t>
              </a:r>
              <a:endParaRPr lang="en-US" sz="1600" dirty="0"/>
            </a:p>
          </p:txBody>
        </p:sp>
      </p:grpSp>
    </p:spTree>
    <p:extLst>
      <p:ext uri="{BB962C8B-B14F-4D97-AF65-F5344CB8AC3E}">
        <p14:creationId xmlns:p14="http://schemas.microsoft.com/office/powerpoint/2010/main" val="310461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dissolv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grpSp>
        <p:nvGrpSpPr>
          <p:cNvPr id="12" name="Group 11">
            <a:extLst>
              <a:ext uri="{FF2B5EF4-FFF2-40B4-BE49-F238E27FC236}">
                <a16:creationId xmlns:a16="http://schemas.microsoft.com/office/drawing/2014/main" id="{983A160D-C031-6EE3-048A-A4F9CFC5D554}"/>
              </a:ext>
            </a:extLst>
          </p:cNvPr>
          <p:cNvGrpSpPr/>
          <p:nvPr/>
        </p:nvGrpSpPr>
        <p:grpSpPr>
          <a:xfrm>
            <a:off x="6069692" y="1237889"/>
            <a:ext cx="5284107" cy="1671687"/>
            <a:chOff x="6069692" y="1237889"/>
            <a:chExt cx="5284107" cy="1671687"/>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6069692" y="1240932"/>
              <a:ext cx="1472162" cy="1668644"/>
              <a:chOff x="3585681" y="1110960"/>
              <a:chExt cx="2346721"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585681" y="1560731"/>
                <a:ext cx="206454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Pears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867857" y="1110960"/>
                <a:ext cx="2064545" cy="536832"/>
              </a:xfrm>
              <a:prstGeom prst="rect">
                <a:avLst/>
              </a:prstGeom>
              <a:noFill/>
            </p:spPr>
            <p:txBody>
              <a:bodyPr wrap="square" rtlCol="0">
                <a:spAutoFit/>
              </a:bodyPr>
              <a:lstStyle/>
              <a:p>
                <a:r>
                  <a:rPr lang="en-GB" sz="1600" b="1" dirty="0"/>
                  <a:t>m</a:t>
                </a:r>
                <a:r>
                  <a:rPr lang="en-BE" sz="1600" b="1" dirty="0"/>
                  <a:t>enu1.txt</a:t>
                </a:r>
              </a:p>
            </p:txBody>
          </p:sp>
        </p:grpSp>
        <p:grpSp>
          <p:nvGrpSpPr>
            <p:cNvPr id="6" name="Group 5">
              <a:extLst>
                <a:ext uri="{FF2B5EF4-FFF2-40B4-BE49-F238E27FC236}">
                  <a16:creationId xmlns:a16="http://schemas.microsoft.com/office/drawing/2014/main" id="{DA1F13BC-B208-BD2B-58FD-BF1B37407568}"/>
                </a:ext>
              </a:extLst>
            </p:cNvPr>
            <p:cNvGrpSpPr/>
            <p:nvPr/>
          </p:nvGrpSpPr>
          <p:grpSpPr>
            <a:xfrm>
              <a:off x="9162562" y="1237889"/>
              <a:ext cx="2191237" cy="1668644"/>
              <a:chOff x="3078954" y="1116229"/>
              <a:chExt cx="3492974" cy="2645903"/>
            </a:xfrm>
          </p:grpSpPr>
          <p:sp>
            <p:nvSpPr>
              <p:cNvPr id="8" name="TextBox 7">
                <a:extLst>
                  <a:ext uri="{FF2B5EF4-FFF2-40B4-BE49-F238E27FC236}">
                    <a16:creationId xmlns:a16="http://schemas.microsoft.com/office/drawing/2014/main" id="{20FAEC6C-783A-7FA0-20C3-575261A7331D}"/>
                  </a:ext>
                </a:extLst>
              </p:cNvPr>
              <p:cNvSpPr txBox="1"/>
              <p:nvPr/>
            </p:nvSpPr>
            <p:spPr>
              <a:xfrm>
                <a:off x="3078954" y="1566000"/>
                <a:ext cx="349297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Strawberry </a:t>
                </a:r>
                <a:r>
                  <a:rPr lang="en-GB" sz="1400" b="0" strike="sngStrike" dirty="0">
                    <a:solidFill>
                      <a:srgbClr val="C00000"/>
                    </a:solidFill>
                    <a:effectLst/>
                    <a:latin typeface="Menlo" panose="020B0609030804020204" pitchFamily="49" charset="0"/>
                  </a:rPr>
                  <a:t>Pears</a:t>
                </a:r>
                <a:endParaRPr lang="en-GB" sz="1400" b="0" dirty="0">
                  <a:solidFill>
                    <a:srgbClr val="000000"/>
                  </a:solidFill>
                  <a:effectLst/>
                  <a:latin typeface="Menlo" panose="020B0609030804020204" pitchFamily="49" charset="0"/>
                </a:endParaRPr>
              </a:p>
            </p:txBody>
          </p:sp>
          <p:sp>
            <p:nvSpPr>
              <p:cNvPr id="9" name="TextBox 8">
                <a:extLst>
                  <a:ext uri="{FF2B5EF4-FFF2-40B4-BE49-F238E27FC236}">
                    <a16:creationId xmlns:a16="http://schemas.microsoft.com/office/drawing/2014/main" id="{16D32D3F-94D1-45D6-CA3B-4DDFF5A8906C}"/>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11" name="Right Arrow 10">
              <a:extLst>
                <a:ext uri="{FF2B5EF4-FFF2-40B4-BE49-F238E27FC236}">
                  <a16:creationId xmlns:a16="http://schemas.microsoft.com/office/drawing/2014/main" id="{CCA407F1-E3C1-16B6-8AD6-3EFC97F80F06}"/>
                </a:ext>
              </a:extLst>
            </p:cNvPr>
            <p:cNvSpPr/>
            <p:nvPr/>
          </p:nvSpPr>
          <p:spPr>
            <a:xfrm>
              <a:off x="7472363" y="2022459"/>
              <a:ext cx="1513182" cy="37784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4" name="Picture 13" descr="Text&#10;&#10;Description automatically generated">
            <a:extLst>
              <a:ext uri="{FF2B5EF4-FFF2-40B4-BE49-F238E27FC236}">
                <a16:creationId xmlns:a16="http://schemas.microsoft.com/office/drawing/2014/main" id="{E06ABC58-44EB-8D15-4D17-F0C814343ABE}"/>
              </a:ext>
            </a:extLst>
          </p:cNvPr>
          <p:cNvPicPr>
            <a:picLocks noChangeAspect="1"/>
          </p:cNvPicPr>
          <p:nvPr/>
        </p:nvPicPr>
        <p:blipFill>
          <a:blip r:embed="rId3"/>
          <a:stretch>
            <a:fillRect/>
          </a:stretch>
        </p:blipFill>
        <p:spPr>
          <a:xfrm>
            <a:off x="6651119" y="3429000"/>
            <a:ext cx="5022885" cy="2852877"/>
          </a:xfrm>
          <a:prstGeom prst="rect">
            <a:avLst/>
          </a:prstGeom>
        </p:spPr>
      </p:pic>
      <p:grpSp>
        <p:nvGrpSpPr>
          <p:cNvPr id="22" name="Group 21">
            <a:extLst>
              <a:ext uri="{FF2B5EF4-FFF2-40B4-BE49-F238E27FC236}">
                <a16:creationId xmlns:a16="http://schemas.microsoft.com/office/drawing/2014/main" id="{AC4381EA-6631-58A9-FF89-F25398FF2133}"/>
              </a:ext>
            </a:extLst>
          </p:cNvPr>
          <p:cNvGrpSpPr/>
          <p:nvPr/>
        </p:nvGrpSpPr>
        <p:grpSpPr>
          <a:xfrm>
            <a:off x="630790" y="2471740"/>
            <a:ext cx="3655460" cy="372606"/>
            <a:chOff x="616502" y="2400300"/>
            <a:chExt cx="3655460" cy="372606"/>
          </a:xfrm>
        </p:grpSpPr>
        <p:sp>
          <p:nvSpPr>
            <p:cNvPr id="5" name="Rounded Rectangle 4">
              <a:extLst>
                <a:ext uri="{FF2B5EF4-FFF2-40B4-BE49-F238E27FC236}">
                  <a16:creationId xmlns:a16="http://schemas.microsoft.com/office/drawing/2014/main" id="{59777A21-86D9-6B05-3BA0-85D8AE3EFB0F}"/>
                </a:ext>
              </a:extLst>
            </p:cNvPr>
            <p:cNvSpPr/>
            <p:nvPr/>
          </p:nvSpPr>
          <p:spPr>
            <a:xfrm>
              <a:off x="642937" y="2400300"/>
              <a:ext cx="3357563" cy="36082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TextBox 20">
              <a:extLst>
                <a:ext uri="{FF2B5EF4-FFF2-40B4-BE49-F238E27FC236}">
                  <a16:creationId xmlns:a16="http://schemas.microsoft.com/office/drawing/2014/main" id="{ECDFD42A-2E0E-5B32-354B-CBDCFD1800C9}"/>
                </a:ext>
              </a:extLst>
            </p:cNvPr>
            <p:cNvSpPr txBox="1"/>
            <p:nvPr/>
          </p:nvSpPr>
          <p:spPr>
            <a:xfrm>
              <a:off x="616502" y="2403574"/>
              <a:ext cx="3655460" cy="369332"/>
            </a:xfrm>
            <a:prstGeom prst="rect">
              <a:avLst/>
            </a:prstGeom>
            <a:noFill/>
          </p:spPr>
          <p:txBody>
            <a:bodyPr wrap="square">
              <a:spAutoFit/>
            </a:bodyPr>
            <a:lstStyle/>
            <a:p>
              <a:pPr marL="285750" indent="-285750">
                <a:buFont typeface="Arial" panose="020B0604020202020204" pitchFamily="34" charset="0"/>
                <a:buChar char="•"/>
              </a:pPr>
              <a:r>
                <a:rPr lang="en-BE" dirty="0"/>
                <a:t>git diff (changes not yet staged)</a:t>
              </a:r>
            </a:p>
          </p:txBody>
        </p:sp>
      </p:grpSp>
      <p:grpSp>
        <p:nvGrpSpPr>
          <p:cNvPr id="10" name="Group 9">
            <a:extLst>
              <a:ext uri="{FF2B5EF4-FFF2-40B4-BE49-F238E27FC236}">
                <a16:creationId xmlns:a16="http://schemas.microsoft.com/office/drawing/2014/main" id="{E65938E5-9D9E-1D4A-F06B-7BCF091D96CC}"/>
              </a:ext>
            </a:extLst>
          </p:cNvPr>
          <p:cNvGrpSpPr/>
          <p:nvPr/>
        </p:nvGrpSpPr>
        <p:grpSpPr>
          <a:xfrm>
            <a:off x="3042872" y="1102344"/>
            <a:ext cx="2534233" cy="1277481"/>
            <a:chOff x="4109130" y="1035187"/>
            <a:chExt cx="2534233" cy="1277481"/>
          </a:xfrm>
        </p:grpSpPr>
        <p:grpSp>
          <p:nvGrpSpPr>
            <p:cNvPr id="30" name="Group 29">
              <a:extLst>
                <a:ext uri="{FF2B5EF4-FFF2-40B4-BE49-F238E27FC236}">
                  <a16:creationId xmlns:a16="http://schemas.microsoft.com/office/drawing/2014/main" id="{85D654B3-DCF4-1776-88D4-7424D3BB280F}"/>
                </a:ext>
              </a:extLst>
            </p:cNvPr>
            <p:cNvGrpSpPr/>
            <p:nvPr/>
          </p:nvGrpSpPr>
          <p:grpSpPr>
            <a:xfrm>
              <a:off x="4109130" y="1035187"/>
              <a:ext cx="2534233" cy="1277481"/>
              <a:chOff x="3300414" y="1035187"/>
              <a:chExt cx="2534233" cy="1277481"/>
            </a:xfrm>
          </p:grpSpPr>
          <p:sp>
            <p:nvSpPr>
              <p:cNvPr id="24" name="Right Brace 23">
                <a:extLst>
                  <a:ext uri="{FF2B5EF4-FFF2-40B4-BE49-F238E27FC236}">
                    <a16:creationId xmlns:a16="http://schemas.microsoft.com/office/drawing/2014/main" id="{7DF02BB3-D4C7-1D01-6653-79DAA5D8E4EE}"/>
                  </a:ext>
                </a:extLst>
              </p:cNvPr>
              <p:cNvSpPr/>
              <p:nvPr/>
            </p:nvSpPr>
            <p:spPr>
              <a:xfrm>
                <a:off x="3300414" y="1035187"/>
                <a:ext cx="157162" cy="1277481"/>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5" name="TextBox 24">
                <a:extLst>
                  <a:ext uri="{FF2B5EF4-FFF2-40B4-BE49-F238E27FC236}">
                    <a16:creationId xmlns:a16="http://schemas.microsoft.com/office/drawing/2014/main" id="{C54CFAC9-4750-7A84-A3E8-233733C6F348}"/>
                  </a:ext>
                </a:extLst>
              </p:cNvPr>
              <p:cNvSpPr txBox="1"/>
              <p:nvPr/>
            </p:nvSpPr>
            <p:spPr>
              <a:xfrm>
                <a:off x="3983921" y="1218478"/>
                <a:ext cx="1850726" cy="923330"/>
              </a:xfrm>
              <a:prstGeom prst="rect">
                <a:avLst/>
              </a:prstGeom>
              <a:noFill/>
              <a:ln w="28575">
                <a:solidFill>
                  <a:srgbClr val="C00000"/>
                </a:solidFill>
              </a:ln>
            </p:spPr>
            <p:txBody>
              <a:bodyPr wrap="square" rtlCol="0">
                <a:spAutoFit/>
              </a:bodyPr>
              <a:lstStyle/>
              <a:p>
                <a:r>
                  <a:rPr lang="en-GB" dirty="0"/>
                  <a:t>C</a:t>
                </a:r>
                <a:r>
                  <a:rPr lang="en-BE" dirty="0"/>
                  <a:t>hanges</a:t>
                </a:r>
              </a:p>
              <a:p>
                <a:pPr marL="285750" indent="-285750">
                  <a:buFont typeface="Arial" panose="020B0604020202020204" pitchFamily="34" charset="0"/>
                  <a:buChar char="•"/>
                </a:pPr>
                <a:r>
                  <a:rPr lang="en-GB" dirty="0"/>
                  <a:t>S</a:t>
                </a:r>
                <a:r>
                  <a:rPr lang="en-BE" dirty="0"/>
                  <a:t>taged/</a:t>
                </a:r>
              </a:p>
              <a:p>
                <a:pPr marL="285750" indent="-285750">
                  <a:buFont typeface="Arial" panose="020B0604020202020204" pitchFamily="34" charset="0"/>
                  <a:buChar char="•"/>
                </a:pPr>
                <a:r>
                  <a:rPr lang="en-BE" dirty="0"/>
                  <a:t>committed</a:t>
                </a:r>
              </a:p>
            </p:txBody>
          </p:sp>
        </p:grpSp>
        <p:cxnSp>
          <p:nvCxnSpPr>
            <p:cNvPr id="29" name="Straight Arrow Connector 28">
              <a:extLst>
                <a:ext uri="{FF2B5EF4-FFF2-40B4-BE49-F238E27FC236}">
                  <a16:creationId xmlns:a16="http://schemas.microsoft.com/office/drawing/2014/main" id="{B93837C6-4760-EF67-CA55-F1F181C2E744}"/>
                </a:ext>
              </a:extLst>
            </p:cNvPr>
            <p:cNvCxnSpPr>
              <a:cxnSpLocks/>
              <a:stCxn id="25" idx="1"/>
            </p:cNvCxnSpPr>
            <p:nvPr/>
          </p:nvCxnSpPr>
          <p:spPr>
            <a:xfrm flipH="1" flipV="1">
              <a:off x="4266292" y="1521538"/>
              <a:ext cx="526345" cy="15860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E49FB326-27A8-EDC6-FCFB-3D6A6DD29222}"/>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sp>
        <p:nvSpPr>
          <p:cNvPr id="2" name="TextBox 1">
            <a:extLst>
              <a:ext uri="{FF2B5EF4-FFF2-40B4-BE49-F238E27FC236}">
                <a16:creationId xmlns:a16="http://schemas.microsoft.com/office/drawing/2014/main" id="{FDE473C5-DE3F-4E32-9944-B9168BF5C20A}"/>
              </a:ext>
            </a:extLst>
          </p:cNvPr>
          <p:cNvSpPr txBox="1"/>
          <p:nvPr/>
        </p:nvSpPr>
        <p:spPr>
          <a:xfrm>
            <a:off x="9339581" y="2906533"/>
            <a:ext cx="2014218" cy="369332"/>
          </a:xfrm>
          <a:prstGeom prst="rect">
            <a:avLst/>
          </a:prstGeom>
          <a:noFill/>
        </p:spPr>
        <p:txBody>
          <a:bodyPr wrap="square" rtlCol="0">
            <a:spAutoFit/>
          </a:bodyPr>
          <a:lstStyle/>
          <a:p>
            <a:r>
              <a:rPr lang="en-GB" b="1" dirty="0"/>
              <a:t>U</a:t>
            </a:r>
            <a:r>
              <a:rPr lang="en-BE" b="1" dirty="0"/>
              <a:t>nstaged changes</a:t>
            </a:r>
          </a:p>
        </p:txBody>
      </p:sp>
      <p:grpSp>
        <p:nvGrpSpPr>
          <p:cNvPr id="16" name="Group 15">
            <a:extLst>
              <a:ext uri="{FF2B5EF4-FFF2-40B4-BE49-F238E27FC236}">
                <a16:creationId xmlns:a16="http://schemas.microsoft.com/office/drawing/2014/main" id="{4F525B5F-DD44-3ED0-10CC-B76C45C57560}"/>
              </a:ext>
            </a:extLst>
          </p:cNvPr>
          <p:cNvGrpSpPr/>
          <p:nvPr/>
        </p:nvGrpSpPr>
        <p:grpSpPr>
          <a:xfrm>
            <a:off x="1083046" y="5045223"/>
            <a:ext cx="4076814" cy="1581391"/>
            <a:chOff x="370647" y="4847061"/>
            <a:chExt cx="4076814" cy="1581391"/>
          </a:xfrm>
        </p:grpSpPr>
        <p:pic>
          <p:nvPicPr>
            <p:cNvPr id="2052" name="Picture 4" descr="Definition of a test case – Bartek Rohard Warszawski">
              <a:extLst>
                <a:ext uri="{FF2B5EF4-FFF2-40B4-BE49-F238E27FC236}">
                  <a16:creationId xmlns:a16="http://schemas.microsoft.com/office/drawing/2014/main" id="{FFB09F5D-A999-CE5A-F5D6-FF7627A4B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756535">
              <a:off x="3061108" y="4847061"/>
              <a:ext cx="1386353" cy="158139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oftware developer Icon - Free PNG &amp; SVG 1864895 - Noun Project">
              <a:extLst>
                <a:ext uri="{FF2B5EF4-FFF2-40B4-BE49-F238E27FC236}">
                  <a16:creationId xmlns:a16="http://schemas.microsoft.com/office/drawing/2014/main" id="{923F5814-F228-D6E6-169E-C2B2A922B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647" y="5021626"/>
              <a:ext cx="1288238" cy="128823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Two Arrows Svg Png Icon Free Download (#71930) - OnlineWebFonts.COM">
              <a:extLst>
                <a:ext uri="{FF2B5EF4-FFF2-40B4-BE49-F238E27FC236}">
                  <a16:creationId xmlns:a16="http://schemas.microsoft.com/office/drawing/2014/main" id="{E085E374-22CC-C9AF-27B3-14A1F05BFD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8045" y="5365956"/>
              <a:ext cx="915921" cy="9159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37F5CB38-FD1F-79BD-022F-694F0F2E16BA}"/>
              </a:ext>
            </a:extLst>
          </p:cNvPr>
          <p:cNvGrpSpPr/>
          <p:nvPr/>
        </p:nvGrpSpPr>
        <p:grpSpPr>
          <a:xfrm>
            <a:off x="214668" y="3325413"/>
            <a:ext cx="5688632" cy="1385639"/>
            <a:chOff x="214668" y="3325413"/>
            <a:chExt cx="5688632" cy="1385639"/>
          </a:xfrm>
        </p:grpSpPr>
        <p:grpSp>
          <p:nvGrpSpPr>
            <p:cNvPr id="13" name="Group 12">
              <a:extLst>
                <a:ext uri="{FF2B5EF4-FFF2-40B4-BE49-F238E27FC236}">
                  <a16:creationId xmlns:a16="http://schemas.microsoft.com/office/drawing/2014/main" id="{E726DCD5-A2CB-8610-8186-CA619653AC7B}"/>
                </a:ext>
              </a:extLst>
            </p:cNvPr>
            <p:cNvGrpSpPr/>
            <p:nvPr/>
          </p:nvGrpSpPr>
          <p:grpSpPr>
            <a:xfrm>
              <a:off x="214668" y="3325413"/>
              <a:ext cx="1600196" cy="1385639"/>
              <a:chOff x="1285214" y="3110395"/>
              <a:chExt cx="1600196" cy="1385639"/>
            </a:xfrm>
          </p:grpSpPr>
          <p:pic>
            <p:nvPicPr>
              <p:cNvPr id="2060" name="Picture 12" descr="use case Icon - Free PNG &amp; SVG 4296729 - Noun Project">
                <a:extLst>
                  <a:ext uri="{FF2B5EF4-FFF2-40B4-BE49-F238E27FC236}">
                    <a16:creationId xmlns:a16="http://schemas.microsoft.com/office/drawing/2014/main" id="{0496B294-DFE7-F477-1CD5-B3A373B617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6074" y="3110395"/>
                <a:ext cx="1200329" cy="12003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F4B224-80D7-E817-C822-0614AE333D51}"/>
                  </a:ext>
                </a:extLst>
              </p:cNvPr>
              <p:cNvSpPr txBox="1"/>
              <p:nvPr/>
            </p:nvSpPr>
            <p:spPr>
              <a:xfrm>
                <a:off x="1285214" y="4188257"/>
                <a:ext cx="1600196" cy="307777"/>
              </a:xfrm>
              <a:prstGeom prst="rect">
                <a:avLst/>
              </a:prstGeom>
              <a:noFill/>
            </p:spPr>
            <p:txBody>
              <a:bodyPr wrap="square" rtlCol="0">
                <a:spAutoFit/>
              </a:bodyPr>
              <a:lstStyle/>
              <a:p>
                <a:r>
                  <a:rPr lang="en-BE" sz="1400" dirty="0"/>
                  <a:t>Involving Use-case</a:t>
                </a:r>
              </a:p>
            </p:txBody>
          </p:sp>
        </p:grpSp>
        <p:grpSp>
          <p:nvGrpSpPr>
            <p:cNvPr id="35" name="Group 34">
              <a:extLst>
                <a:ext uri="{FF2B5EF4-FFF2-40B4-BE49-F238E27FC236}">
                  <a16:creationId xmlns:a16="http://schemas.microsoft.com/office/drawing/2014/main" id="{A6CAA31D-4CF7-F61C-2183-E66CAB985C53}"/>
                </a:ext>
              </a:extLst>
            </p:cNvPr>
            <p:cNvGrpSpPr/>
            <p:nvPr/>
          </p:nvGrpSpPr>
          <p:grpSpPr>
            <a:xfrm>
              <a:off x="2126276" y="3742157"/>
              <a:ext cx="3777024" cy="596982"/>
              <a:chOff x="1312960" y="5286673"/>
              <a:chExt cx="3777024" cy="596982"/>
            </a:xfrm>
          </p:grpSpPr>
          <p:grpSp>
            <p:nvGrpSpPr>
              <p:cNvPr id="36" name="Group 35">
                <a:extLst>
                  <a:ext uri="{FF2B5EF4-FFF2-40B4-BE49-F238E27FC236}">
                    <a16:creationId xmlns:a16="http://schemas.microsoft.com/office/drawing/2014/main" id="{B8E93211-420C-357C-BA82-721303B08373}"/>
                  </a:ext>
                </a:extLst>
              </p:cNvPr>
              <p:cNvGrpSpPr/>
              <p:nvPr/>
            </p:nvGrpSpPr>
            <p:grpSpPr>
              <a:xfrm>
                <a:off x="1312960" y="5286673"/>
                <a:ext cx="3777024" cy="254834"/>
                <a:chOff x="-154688" y="4354276"/>
                <a:chExt cx="3777024" cy="254834"/>
              </a:xfrm>
            </p:grpSpPr>
            <p:cxnSp>
              <p:nvCxnSpPr>
                <p:cNvPr id="42" name="Straight Connector 41">
                  <a:extLst>
                    <a:ext uri="{FF2B5EF4-FFF2-40B4-BE49-F238E27FC236}">
                      <a16:creationId xmlns:a16="http://schemas.microsoft.com/office/drawing/2014/main" id="{7293A956-0039-6457-CC3F-484056544CA8}"/>
                    </a:ext>
                  </a:extLst>
                </p:cNvPr>
                <p:cNvCxnSpPr>
                  <a:cxnSpLocks/>
                  <a:stCxn id="43" idx="6"/>
                </p:cNvCxnSpPr>
                <p:nvPr/>
              </p:nvCxnSpPr>
              <p:spPr>
                <a:xfrm flipV="1">
                  <a:off x="130125" y="4474815"/>
                  <a:ext cx="3492211" cy="6878"/>
                </a:xfrm>
                <a:prstGeom prst="line">
                  <a:avLst/>
                </a:prstGeom>
                <a:ln w="57150" cap="flat" cmpd="sng" algn="ctr">
                  <a:solidFill>
                    <a:srgbClr val="0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Oval 42">
                  <a:extLst>
                    <a:ext uri="{FF2B5EF4-FFF2-40B4-BE49-F238E27FC236}">
                      <a16:creationId xmlns:a16="http://schemas.microsoft.com/office/drawing/2014/main" id="{28E9030F-BB28-A89A-DC75-AF31BC34E377}"/>
                    </a:ext>
                  </a:extLst>
                </p:cNvPr>
                <p:cNvSpPr/>
                <p:nvPr/>
              </p:nvSpPr>
              <p:spPr>
                <a:xfrm>
                  <a:off x="-154688" y="4354276"/>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37" name="Oval 36">
                <a:extLst>
                  <a:ext uri="{FF2B5EF4-FFF2-40B4-BE49-F238E27FC236}">
                    <a16:creationId xmlns:a16="http://schemas.microsoft.com/office/drawing/2014/main" id="{DFA0708D-20D2-C216-BA94-9AA7102D2783}"/>
                  </a:ext>
                </a:extLst>
              </p:cNvPr>
              <p:cNvSpPr/>
              <p:nvPr/>
            </p:nvSpPr>
            <p:spPr>
              <a:xfrm>
                <a:off x="1906866" y="5292447"/>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8" name="Oval 37">
                <a:extLst>
                  <a:ext uri="{FF2B5EF4-FFF2-40B4-BE49-F238E27FC236}">
                    <a16:creationId xmlns:a16="http://schemas.microsoft.com/office/drawing/2014/main" id="{3001F0C2-2B70-435B-A167-C0DAAEBBEA60}"/>
                  </a:ext>
                </a:extLst>
              </p:cNvPr>
              <p:cNvSpPr/>
              <p:nvPr/>
            </p:nvSpPr>
            <p:spPr>
              <a:xfrm>
                <a:off x="2495959" y="5286673"/>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TextBox 38">
                <a:extLst>
                  <a:ext uri="{FF2B5EF4-FFF2-40B4-BE49-F238E27FC236}">
                    <a16:creationId xmlns:a16="http://schemas.microsoft.com/office/drawing/2014/main" id="{1756E332-69D7-19A9-31A9-6E586BC4204E}"/>
                  </a:ext>
                </a:extLst>
              </p:cNvPr>
              <p:cNvSpPr txBox="1"/>
              <p:nvPr/>
            </p:nvSpPr>
            <p:spPr>
              <a:xfrm>
                <a:off x="1551577" y="5568946"/>
                <a:ext cx="1148215" cy="307777"/>
              </a:xfrm>
              <a:prstGeom prst="rect">
                <a:avLst/>
              </a:prstGeom>
              <a:noFill/>
              <a:ln>
                <a:noFill/>
              </a:ln>
            </p:spPr>
            <p:txBody>
              <a:bodyPr wrap="square" rtlCol="0">
                <a:spAutoFit/>
              </a:bodyPr>
              <a:lstStyle/>
              <a:p>
                <a:r>
                  <a:rPr lang="en-BE" sz="1400" dirty="0">
                    <a:solidFill>
                      <a:srgbClr val="000000"/>
                    </a:solidFill>
                  </a:rPr>
                  <a:t>Commits</a:t>
                </a:r>
              </a:p>
            </p:txBody>
          </p:sp>
          <p:cxnSp>
            <p:nvCxnSpPr>
              <p:cNvPr id="40" name="Straight Arrow Connector 39">
                <a:extLst>
                  <a:ext uri="{FF2B5EF4-FFF2-40B4-BE49-F238E27FC236}">
                    <a16:creationId xmlns:a16="http://schemas.microsoft.com/office/drawing/2014/main" id="{743EBE3C-3BA1-50A7-E5E1-174FD25A22F3}"/>
                  </a:ext>
                </a:extLst>
              </p:cNvPr>
              <p:cNvCxnSpPr>
                <a:cxnSpLocks/>
              </p:cNvCxnSpPr>
              <p:nvPr/>
            </p:nvCxnSpPr>
            <p:spPr bwMode="auto">
              <a:xfrm>
                <a:off x="2933356" y="5583482"/>
                <a:ext cx="1687437" cy="0"/>
              </a:xfrm>
              <a:prstGeom prst="straightConnector1">
                <a:avLst/>
              </a:prstGeom>
              <a:solidFill>
                <a:schemeClr val="accent1"/>
              </a:solidFill>
              <a:ln w="28575" cap="flat" cmpd="sng" algn="ctr">
                <a:solidFill>
                  <a:srgbClr val="000000"/>
                </a:solidFill>
                <a:prstDash val="solid"/>
                <a:round/>
                <a:headEnd type="triangle"/>
                <a:tailEnd type="triangle"/>
              </a:ln>
              <a:effectLst/>
            </p:spPr>
          </p:cxnSp>
          <p:sp>
            <p:nvSpPr>
              <p:cNvPr id="41" name="TextBox 40">
                <a:extLst>
                  <a:ext uri="{FF2B5EF4-FFF2-40B4-BE49-F238E27FC236}">
                    <a16:creationId xmlns:a16="http://schemas.microsoft.com/office/drawing/2014/main" id="{EF462553-07CB-C78B-ABF4-CE554928FA1F}"/>
                  </a:ext>
                </a:extLst>
              </p:cNvPr>
              <p:cNvSpPr txBox="1"/>
              <p:nvPr/>
            </p:nvSpPr>
            <p:spPr>
              <a:xfrm>
                <a:off x="3178854" y="5575878"/>
                <a:ext cx="1290001" cy="307777"/>
              </a:xfrm>
              <a:prstGeom prst="rect">
                <a:avLst/>
              </a:prstGeom>
              <a:noFill/>
              <a:ln>
                <a:noFill/>
              </a:ln>
            </p:spPr>
            <p:txBody>
              <a:bodyPr wrap="square" rtlCol="0">
                <a:spAutoFit/>
              </a:bodyPr>
              <a:lstStyle/>
              <a:p>
                <a:r>
                  <a:rPr lang="en-BE" sz="1400" dirty="0">
                    <a:solidFill>
                      <a:srgbClr val="000000"/>
                    </a:solidFill>
                  </a:rPr>
                  <a:t>Next commit?</a:t>
                </a:r>
              </a:p>
            </p:txBody>
          </p:sp>
        </p:grpSp>
      </p:grpSp>
      <p:grpSp>
        <p:nvGrpSpPr>
          <p:cNvPr id="61" name="Group 60">
            <a:extLst>
              <a:ext uri="{FF2B5EF4-FFF2-40B4-BE49-F238E27FC236}">
                <a16:creationId xmlns:a16="http://schemas.microsoft.com/office/drawing/2014/main" id="{F158510C-EA96-B584-B19F-BD2F28F985B3}"/>
              </a:ext>
            </a:extLst>
          </p:cNvPr>
          <p:cNvGrpSpPr/>
          <p:nvPr/>
        </p:nvGrpSpPr>
        <p:grpSpPr>
          <a:xfrm>
            <a:off x="3643092" y="2290115"/>
            <a:ext cx="1934014" cy="1490956"/>
            <a:chOff x="3643092" y="2290115"/>
            <a:chExt cx="1934014" cy="1490956"/>
          </a:xfrm>
        </p:grpSpPr>
        <p:grpSp>
          <p:nvGrpSpPr>
            <p:cNvPr id="55" name="Group 54">
              <a:extLst>
                <a:ext uri="{FF2B5EF4-FFF2-40B4-BE49-F238E27FC236}">
                  <a16:creationId xmlns:a16="http://schemas.microsoft.com/office/drawing/2014/main" id="{6BD450BF-9F09-8A39-3DA5-443F29E9CC03}"/>
                </a:ext>
              </a:extLst>
            </p:cNvPr>
            <p:cNvGrpSpPr/>
            <p:nvPr/>
          </p:nvGrpSpPr>
          <p:grpSpPr>
            <a:xfrm>
              <a:off x="4466681" y="2290115"/>
              <a:ext cx="1062156" cy="1205018"/>
              <a:chOff x="4220015" y="2563722"/>
              <a:chExt cx="1062156" cy="1205018"/>
            </a:xfrm>
          </p:grpSpPr>
          <p:grpSp>
            <p:nvGrpSpPr>
              <p:cNvPr id="50" name="Group 49">
                <a:extLst>
                  <a:ext uri="{FF2B5EF4-FFF2-40B4-BE49-F238E27FC236}">
                    <a16:creationId xmlns:a16="http://schemas.microsoft.com/office/drawing/2014/main" id="{9E8C5956-93CF-1DE0-6543-2AE0A607F11D}"/>
                  </a:ext>
                </a:extLst>
              </p:cNvPr>
              <p:cNvGrpSpPr/>
              <p:nvPr/>
            </p:nvGrpSpPr>
            <p:grpSpPr>
              <a:xfrm>
                <a:off x="4220015" y="2563722"/>
                <a:ext cx="1062156" cy="1205018"/>
                <a:chOff x="4220015" y="2563722"/>
                <a:chExt cx="1062156" cy="1205018"/>
              </a:xfrm>
            </p:grpSpPr>
            <p:pic>
              <p:nvPicPr>
                <p:cNvPr id="1032" name="Picture 8">
                  <a:extLst>
                    <a:ext uri="{FF2B5EF4-FFF2-40B4-BE49-F238E27FC236}">
                      <a16:creationId xmlns:a16="http://schemas.microsoft.com/office/drawing/2014/main" id="{9CA8CC60-9230-F410-C9A7-66800227BD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5132" y="2871268"/>
                  <a:ext cx="308489" cy="259729"/>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7C41C5A3-A154-F648-89AF-5FC6B6C3962C}"/>
                    </a:ext>
                  </a:extLst>
                </p:cNvPr>
                <p:cNvGrpSpPr/>
                <p:nvPr/>
              </p:nvGrpSpPr>
              <p:grpSpPr>
                <a:xfrm>
                  <a:off x="4220015" y="3177403"/>
                  <a:ext cx="481715" cy="591337"/>
                  <a:chOff x="5095390" y="5219788"/>
                  <a:chExt cx="922018" cy="1161416"/>
                </a:xfrm>
              </p:grpSpPr>
              <p:pic>
                <p:nvPicPr>
                  <p:cNvPr id="45" name="Picture 14" descr="software developer Icon - Free PNG &amp; SVG 1864895 - Noun Project">
                    <a:extLst>
                      <a:ext uri="{FF2B5EF4-FFF2-40B4-BE49-F238E27FC236}">
                        <a16:creationId xmlns:a16="http://schemas.microsoft.com/office/drawing/2014/main" id="{13F4E5E1-FDF9-B51A-404A-25A5E12665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980" r="28428"/>
                  <a:stretch/>
                </p:blipFill>
                <p:spPr bwMode="auto">
                  <a:xfrm>
                    <a:off x="5095390" y="5247300"/>
                    <a:ext cx="922018" cy="1133904"/>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CA110373-E666-4D92-BD4A-70CF38046F03}"/>
                      </a:ext>
                    </a:extLst>
                  </p:cNvPr>
                  <p:cNvSpPr/>
                  <p:nvPr/>
                </p:nvSpPr>
                <p:spPr>
                  <a:xfrm>
                    <a:off x="5779477" y="5219788"/>
                    <a:ext cx="237931" cy="3443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9" name="Picture 6" descr="Message Icons - Free SVG &amp; PNG Message Images - Noun Project">
                  <a:extLst>
                    <a:ext uri="{FF2B5EF4-FFF2-40B4-BE49-F238E27FC236}">
                      <a16:creationId xmlns:a16="http://schemas.microsoft.com/office/drawing/2014/main" id="{0AAAB9FC-F07C-DC4E-951F-BDE10211971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7212" y="2563722"/>
                  <a:ext cx="834959" cy="834959"/>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14839EFF-E20C-E5D9-0A08-7A65C999F549}"/>
                  </a:ext>
                </a:extLst>
              </p:cNvPr>
              <p:cNvSpPr txBox="1"/>
              <p:nvPr/>
            </p:nvSpPr>
            <p:spPr>
              <a:xfrm>
                <a:off x="4558798" y="2686146"/>
                <a:ext cx="700540" cy="276999"/>
              </a:xfrm>
              <a:prstGeom prst="rect">
                <a:avLst/>
              </a:prstGeom>
              <a:noFill/>
            </p:spPr>
            <p:txBody>
              <a:bodyPr wrap="square" rtlCol="0">
                <a:spAutoFit/>
              </a:bodyPr>
              <a:lstStyle/>
              <a:p>
                <a:r>
                  <a:rPr lang="en-US" sz="1200" dirty="0"/>
                  <a:t>changes</a:t>
                </a:r>
              </a:p>
            </p:txBody>
          </p:sp>
        </p:grpSp>
        <p:sp>
          <p:nvSpPr>
            <p:cNvPr id="60" name="Right Brace 59">
              <a:extLst>
                <a:ext uri="{FF2B5EF4-FFF2-40B4-BE49-F238E27FC236}">
                  <a16:creationId xmlns:a16="http://schemas.microsoft.com/office/drawing/2014/main" id="{EAED20F5-499A-BFD6-8043-662160D6B396}"/>
                </a:ext>
              </a:extLst>
            </p:cNvPr>
            <p:cNvSpPr/>
            <p:nvPr/>
          </p:nvSpPr>
          <p:spPr>
            <a:xfrm rot="16200000">
              <a:off x="4507704" y="2711670"/>
              <a:ext cx="204789" cy="193401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93165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ssolv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dissolve">
                                      <p:cBhvr>
                                        <p:cTn id="36" dur="500"/>
                                        <p:tgtEl>
                                          <p:spTgt spid="22"/>
                                        </p:tgtEl>
                                      </p:cBhvr>
                                    </p:animEffect>
                                  </p:childTnLst>
                                </p:cTn>
                              </p:par>
                              <p:par>
                                <p:cTn id="37" presetID="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r>
              <a:rPr lang="en-GB" dirty="0">
                <a:solidFill>
                  <a:srgbClr val="1F1F1F"/>
                </a:solidFill>
                <a:latin typeface="Source Sans Pro" panose="020B0503030403020204" pitchFamily="34" charset="0"/>
              </a:rPr>
              <a:t>Undoing Changes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646331"/>
          </a:xfrm>
          <a:prstGeom prst="rect">
            <a:avLst/>
          </a:prstGeom>
          <a:noFill/>
          <a:ln>
            <a:solidFill>
              <a:srgbClr val="1D15C5"/>
            </a:solidFill>
          </a:ln>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p:txBody>
      </p:sp>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60" name="Group 59">
            <a:extLst>
              <a:ext uri="{FF2B5EF4-FFF2-40B4-BE49-F238E27FC236}">
                <a16:creationId xmlns:a16="http://schemas.microsoft.com/office/drawing/2014/main" id="{5B2F5475-B2A8-F949-14A8-ED809837521E}"/>
              </a:ext>
            </a:extLst>
          </p:cNvPr>
          <p:cNvGrpSpPr/>
          <p:nvPr/>
        </p:nvGrpSpPr>
        <p:grpSpPr>
          <a:xfrm>
            <a:off x="7297293" y="1039939"/>
            <a:ext cx="2891980" cy="1732104"/>
            <a:chOff x="7297293" y="1039939"/>
            <a:chExt cx="2891980" cy="1732104"/>
          </a:xfrm>
        </p:grpSpPr>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pic>
        <p:nvPicPr>
          <p:cNvPr id="17" name="Picture 16" descr="Text&#10;&#10;Description automatically generated">
            <a:extLst>
              <a:ext uri="{FF2B5EF4-FFF2-40B4-BE49-F238E27FC236}">
                <a16:creationId xmlns:a16="http://schemas.microsoft.com/office/drawing/2014/main" id="{E19E3564-BA9A-5A40-CA23-467EC0406DEE}"/>
              </a:ext>
            </a:extLst>
          </p:cNvPr>
          <p:cNvPicPr>
            <a:picLocks noChangeAspect="1"/>
          </p:cNvPicPr>
          <p:nvPr/>
        </p:nvPicPr>
        <p:blipFill rotWithShape="1">
          <a:blip r:embed="rId3"/>
          <a:srcRect b="54951"/>
          <a:stretch/>
        </p:blipFill>
        <p:spPr>
          <a:xfrm>
            <a:off x="411673" y="2027025"/>
            <a:ext cx="4986654" cy="2087775"/>
          </a:xfrm>
          <a:prstGeom prst="rect">
            <a:avLst/>
          </a:prstGeom>
        </p:spPr>
      </p:pic>
      <p:pic>
        <p:nvPicPr>
          <p:cNvPr id="18" name="Picture 17" descr="Text&#10;&#10;Description automatically generated">
            <a:extLst>
              <a:ext uri="{FF2B5EF4-FFF2-40B4-BE49-F238E27FC236}">
                <a16:creationId xmlns:a16="http://schemas.microsoft.com/office/drawing/2014/main" id="{62E07217-F55D-A449-D82D-4A3C7F1570A6}"/>
              </a:ext>
            </a:extLst>
          </p:cNvPr>
          <p:cNvPicPr>
            <a:picLocks noChangeAspect="1"/>
          </p:cNvPicPr>
          <p:nvPr/>
        </p:nvPicPr>
        <p:blipFill rotWithShape="1">
          <a:blip r:embed="rId3"/>
          <a:srcRect t="45050" b="-1"/>
          <a:stretch/>
        </p:blipFill>
        <p:spPr>
          <a:xfrm>
            <a:off x="414143" y="4157664"/>
            <a:ext cx="4986654" cy="2546662"/>
          </a:xfrm>
          <a:prstGeom prst="rect">
            <a:avLst/>
          </a:prstGeom>
        </p:spPr>
      </p:pic>
      <p:grpSp>
        <p:nvGrpSpPr>
          <p:cNvPr id="64" name="Group 63">
            <a:extLst>
              <a:ext uri="{FF2B5EF4-FFF2-40B4-BE49-F238E27FC236}">
                <a16:creationId xmlns:a16="http://schemas.microsoft.com/office/drawing/2014/main" id="{B114A464-4213-4468-FC8F-48C3A2D00814}"/>
              </a:ext>
            </a:extLst>
          </p:cNvPr>
          <p:cNvGrpSpPr/>
          <p:nvPr/>
        </p:nvGrpSpPr>
        <p:grpSpPr>
          <a:xfrm>
            <a:off x="530332" y="2326354"/>
            <a:ext cx="4752548" cy="614976"/>
            <a:chOff x="530332" y="2326354"/>
            <a:chExt cx="4752548" cy="614976"/>
          </a:xfrm>
        </p:grpSpPr>
        <p:grpSp>
          <p:nvGrpSpPr>
            <p:cNvPr id="62" name="Group 61">
              <a:extLst>
                <a:ext uri="{FF2B5EF4-FFF2-40B4-BE49-F238E27FC236}">
                  <a16:creationId xmlns:a16="http://schemas.microsoft.com/office/drawing/2014/main" id="{6B0CA397-E472-6919-0D25-110BB315A094}"/>
                </a:ext>
              </a:extLst>
            </p:cNvPr>
            <p:cNvGrpSpPr/>
            <p:nvPr/>
          </p:nvGrpSpPr>
          <p:grpSpPr>
            <a:xfrm>
              <a:off x="530332" y="2326354"/>
              <a:ext cx="4752548" cy="466471"/>
              <a:chOff x="530332" y="2326354"/>
              <a:chExt cx="4752548" cy="466471"/>
            </a:xfrm>
          </p:grpSpPr>
          <p:sp>
            <p:nvSpPr>
              <p:cNvPr id="56" name="Left Arrow 55">
                <a:extLst>
                  <a:ext uri="{FF2B5EF4-FFF2-40B4-BE49-F238E27FC236}">
                    <a16:creationId xmlns:a16="http://schemas.microsoft.com/office/drawing/2014/main" id="{DD8AD4AE-3611-76A5-E49F-36C06D8B59AD}"/>
                  </a:ext>
                </a:extLst>
              </p:cNvPr>
              <p:cNvSpPr/>
              <p:nvPr/>
            </p:nvSpPr>
            <p:spPr>
              <a:xfrm>
                <a:off x="4597080" y="2326354"/>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 name="Rounded Rectangle 60">
                <a:extLst>
                  <a:ext uri="{FF2B5EF4-FFF2-40B4-BE49-F238E27FC236}">
                    <a16:creationId xmlns:a16="http://schemas.microsoft.com/office/drawing/2014/main" id="{AB3E1D77-F9D0-BDCA-6BDC-C11920AEDC13}"/>
                  </a:ext>
                </a:extLst>
              </p:cNvPr>
              <p:cNvSpPr/>
              <p:nvPr/>
            </p:nvSpPr>
            <p:spPr>
              <a:xfrm>
                <a:off x="530332" y="2504209"/>
                <a:ext cx="1652155" cy="288616"/>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3" name="Left Arrow 62">
              <a:extLst>
                <a:ext uri="{FF2B5EF4-FFF2-40B4-BE49-F238E27FC236}">
                  <a16:creationId xmlns:a16="http://schemas.microsoft.com/office/drawing/2014/main" id="{FC943B5A-431D-6A9E-0522-931A5C3E3330}"/>
                </a:ext>
              </a:extLst>
            </p:cNvPr>
            <p:cNvSpPr/>
            <p:nvPr/>
          </p:nvSpPr>
          <p:spPr>
            <a:xfrm flipV="1">
              <a:off x="2359571" y="2854048"/>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6" name="Group 65">
            <a:extLst>
              <a:ext uri="{FF2B5EF4-FFF2-40B4-BE49-F238E27FC236}">
                <a16:creationId xmlns:a16="http://schemas.microsoft.com/office/drawing/2014/main" id="{0BF1E37E-7B37-195E-0B00-107B5D5E9741}"/>
              </a:ext>
            </a:extLst>
          </p:cNvPr>
          <p:cNvGrpSpPr/>
          <p:nvPr/>
        </p:nvGrpSpPr>
        <p:grpSpPr>
          <a:xfrm>
            <a:off x="207818" y="3567345"/>
            <a:ext cx="5008418" cy="437345"/>
            <a:chOff x="207818" y="3567345"/>
            <a:chExt cx="5008418" cy="437345"/>
          </a:xfrm>
        </p:grpSpPr>
        <p:sp>
          <p:nvSpPr>
            <p:cNvPr id="57" name="Left Arrow 56">
              <a:extLst>
                <a:ext uri="{FF2B5EF4-FFF2-40B4-BE49-F238E27FC236}">
                  <a16:creationId xmlns:a16="http://schemas.microsoft.com/office/drawing/2014/main" id="{DDC85CC1-EE2C-AD14-C761-78C3F6D54641}"/>
                </a:ext>
              </a:extLst>
            </p:cNvPr>
            <p:cNvSpPr/>
            <p:nvPr/>
          </p:nvSpPr>
          <p:spPr>
            <a:xfrm>
              <a:off x="4530436" y="3567345"/>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5" name="Right Arrow 64">
              <a:extLst>
                <a:ext uri="{FF2B5EF4-FFF2-40B4-BE49-F238E27FC236}">
                  <a16:creationId xmlns:a16="http://schemas.microsoft.com/office/drawing/2014/main" id="{734C6DCF-DFA2-3A2E-7DE3-06C2558594B4}"/>
                </a:ext>
              </a:extLst>
            </p:cNvPr>
            <p:cNvSpPr/>
            <p:nvPr/>
          </p:nvSpPr>
          <p:spPr>
            <a:xfrm>
              <a:off x="207818" y="3830429"/>
              <a:ext cx="203855" cy="174261"/>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8" name="Group 67">
            <a:extLst>
              <a:ext uri="{FF2B5EF4-FFF2-40B4-BE49-F238E27FC236}">
                <a16:creationId xmlns:a16="http://schemas.microsoft.com/office/drawing/2014/main" id="{03216739-F4BB-717D-14B5-98B74340172A}"/>
              </a:ext>
            </a:extLst>
          </p:cNvPr>
          <p:cNvGrpSpPr/>
          <p:nvPr/>
        </p:nvGrpSpPr>
        <p:grpSpPr>
          <a:xfrm>
            <a:off x="2359571" y="4309129"/>
            <a:ext cx="3535814" cy="883565"/>
            <a:chOff x="2359571" y="4309129"/>
            <a:chExt cx="3535814" cy="883565"/>
          </a:xfrm>
        </p:grpSpPr>
        <p:sp>
          <p:nvSpPr>
            <p:cNvPr id="58" name="Left Arrow 57">
              <a:extLst>
                <a:ext uri="{FF2B5EF4-FFF2-40B4-BE49-F238E27FC236}">
                  <a16:creationId xmlns:a16="http://schemas.microsoft.com/office/drawing/2014/main" id="{64FF5EF1-BA80-7B62-82DB-15AA23616030}"/>
                </a:ext>
              </a:extLst>
            </p:cNvPr>
            <p:cNvSpPr/>
            <p:nvPr/>
          </p:nvSpPr>
          <p:spPr>
            <a:xfrm>
              <a:off x="5209585" y="4309129"/>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7" name="Left Arrow 66">
              <a:extLst>
                <a:ext uri="{FF2B5EF4-FFF2-40B4-BE49-F238E27FC236}">
                  <a16:creationId xmlns:a16="http://schemas.microsoft.com/office/drawing/2014/main" id="{74E93892-BC8F-2014-5154-92F3A8AF3656}"/>
                </a:ext>
              </a:extLst>
            </p:cNvPr>
            <p:cNvSpPr/>
            <p:nvPr/>
          </p:nvSpPr>
          <p:spPr>
            <a:xfrm flipV="1">
              <a:off x="2359571" y="5105412"/>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70" name="Group 69">
            <a:extLst>
              <a:ext uri="{FF2B5EF4-FFF2-40B4-BE49-F238E27FC236}">
                <a16:creationId xmlns:a16="http://schemas.microsoft.com/office/drawing/2014/main" id="{DEE6F563-3E9A-5BDE-4AD0-DEEF69F2D6CE}"/>
              </a:ext>
            </a:extLst>
          </p:cNvPr>
          <p:cNvGrpSpPr/>
          <p:nvPr/>
        </p:nvGrpSpPr>
        <p:grpSpPr>
          <a:xfrm>
            <a:off x="1607962" y="5647792"/>
            <a:ext cx="3608274" cy="663656"/>
            <a:chOff x="1607962" y="5647792"/>
            <a:chExt cx="3608274" cy="663656"/>
          </a:xfrm>
        </p:grpSpPr>
        <p:sp>
          <p:nvSpPr>
            <p:cNvPr id="59" name="Left Arrow 58">
              <a:extLst>
                <a:ext uri="{FF2B5EF4-FFF2-40B4-BE49-F238E27FC236}">
                  <a16:creationId xmlns:a16="http://schemas.microsoft.com/office/drawing/2014/main" id="{51401F6B-C296-9519-5A04-263D1BE6B5A9}"/>
                </a:ext>
              </a:extLst>
            </p:cNvPr>
            <p:cNvSpPr/>
            <p:nvPr/>
          </p:nvSpPr>
          <p:spPr>
            <a:xfrm>
              <a:off x="4530436" y="5647792"/>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9" name="Left Arrow 68">
              <a:extLst>
                <a:ext uri="{FF2B5EF4-FFF2-40B4-BE49-F238E27FC236}">
                  <a16:creationId xmlns:a16="http://schemas.microsoft.com/office/drawing/2014/main" id="{946968A9-AFB2-9330-CF90-9D4AA1DC969C}"/>
                </a:ext>
              </a:extLst>
            </p:cNvPr>
            <p:cNvSpPr/>
            <p:nvPr/>
          </p:nvSpPr>
          <p:spPr>
            <a:xfrm flipV="1">
              <a:off x="1607962" y="6224166"/>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5" name="Picture 14" descr="Diagram&#10;&#10;Description automatically generated">
            <a:extLst>
              <a:ext uri="{FF2B5EF4-FFF2-40B4-BE49-F238E27FC236}">
                <a16:creationId xmlns:a16="http://schemas.microsoft.com/office/drawing/2014/main" id="{9E0E2386-9D6C-6D94-DC66-7E2A0C9FEF84}"/>
              </a:ext>
            </a:extLst>
          </p:cNvPr>
          <p:cNvPicPr>
            <a:picLocks noChangeAspect="1"/>
          </p:cNvPicPr>
          <p:nvPr/>
        </p:nvPicPr>
        <p:blipFill rotWithShape="1">
          <a:blip r:embed="rId4"/>
          <a:srcRect l="56425"/>
          <a:stretch/>
        </p:blipFill>
        <p:spPr>
          <a:xfrm>
            <a:off x="9323216" y="4286586"/>
            <a:ext cx="2641926" cy="1889501"/>
          </a:xfrm>
          <a:prstGeom prst="rect">
            <a:avLst/>
          </a:prstGeom>
        </p:spPr>
      </p:pic>
      <p:pic>
        <p:nvPicPr>
          <p:cNvPr id="16" name="Picture 15" descr="Diagram&#10;&#10;Description automatically generated">
            <a:extLst>
              <a:ext uri="{FF2B5EF4-FFF2-40B4-BE49-F238E27FC236}">
                <a16:creationId xmlns:a16="http://schemas.microsoft.com/office/drawing/2014/main" id="{E85BD014-8979-DB37-C859-AB0524A643C9}"/>
              </a:ext>
            </a:extLst>
          </p:cNvPr>
          <p:cNvPicPr>
            <a:picLocks noChangeAspect="1"/>
          </p:cNvPicPr>
          <p:nvPr/>
        </p:nvPicPr>
        <p:blipFill rotWithShape="1">
          <a:blip r:embed="rId4"/>
          <a:srcRect r="43615"/>
          <a:stretch/>
        </p:blipFill>
        <p:spPr>
          <a:xfrm>
            <a:off x="5814621" y="4330063"/>
            <a:ext cx="3418620" cy="1889501"/>
          </a:xfrm>
          <a:prstGeom prst="rect">
            <a:avLst/>
          </a:prstGeom>
        </p:spPr>
      </p:pic>
      <p:sp>
        <p:nvSpPr>
          <p:cNvPr id="6" name="TextBox 5">
            <a:extLst>
              <a:ext uri="{FF2B5EF4-FFF2-40B4-BE49-F238E27FC236}">
                <a16:creationId xmlns:a16="http://schemas.microsoft.com/office/drawing/2014/main" id="{0D610DA7-8933-A136-57A5-AC55A75657A0}"/>
              </a:ext>
            </a:extLst>
          </p:cNvPr>
          <p:cNvSpPr txBox="1"/>
          <p:nvPr/>
        </p:nvSpPr>
        <p:spPr>
          <a:xfrm>
            <a:off x="3446737" y="4237413"/>
            <a:ext cx="1770674" cy="261610"/>
          </a:xfrm>
          <a:prstGeom prst="rect">
            <a:avLst/>
          </a:prstGeom>
          <a:noFill/>
        </p:spPr>
        <p:txBody>
          <a:bodyPr wrap="square" rtlCol="0">
            <a:spAutoFit/>
          </a:bodyPr>
          <a:lstStyle/>
          <a:p>
            <a:r>
              <a:rPr lang="en-US" sz="1100" dirty="0">
                <a:solidFill>
                  <a:srgbClr val="C00000"/>
                </a:solidFill>
              </a:rPr>
              <a:t>meant not to be tracked</a:t>
            </a:r>
          </a:p>
        </p:txBody>
      </p:sp>
      <p:sp>
        <p:nvSpPr>
          <p:cNvPr id="20" name="TextBox 19">
            <a:extLst>
              <a:ext uri="{FF2B5EF4-FFF2-40B4-BE49-F238E27FC236}">
                <a16:creationId xmlns:a16="http://schemas.microsoft.com/office/drawing/2014/main" id="{C1137728-C9D5-D57E-2B40-4340021036AF}"/>
              </a:ext>
            </a:extLst>
          </p:cNvPr>
          <p:cNvSpPr txBox="1"/>
          <p:nvPr/>
        </p:nvSpPr>
        <p:spPr>
          <a:xfrm>
            <a:off x="2960296" y="5018248"/>
            <a:ext cx="1188721" cy="261610"/>
          </a:xfrm>
          <a:prstGeom prst="rect">
            <a:avLst/>
          </a:prstGeom>
          <a:noFill/>
        </p:spPr>
        <p:txBody>
          <a:bodyPr wrap="square" rtlCol="0">
            <a:spAutoFit/>
          </a:bodyPr>
          <a:lstStyle/>
          <a:p>
            <a:r>
              <a:rPr lang="en-US" sz="1100" dirty="0">
                <a:solidFill>
                  <a:srgbClr val="008F00"/>
                </a:solidFill>
              </a:rPr>
              <a:t>Green-&gt;tracked</a:t>
            </a:r>
          </a:p>
        </p:txBody>
      </p:sp>
      <p:sp>
        <p:nvSpPr>
          <p:cNvPr id="21" name="TextBox 20">
            <a:extLst>
              <a:ext uri="{FF2B5EF4-FFF2-40B4-BE49-F238E27FC236}">
                <a16:creationId xmlns:a16="http://schemas.microsoft.com/office/drawing/2014/main" id="{A429B093-1C0D-89AF-6156-576C99718658}"/>
              </a:ext>
            </a:extLst>
          </p:cNvPr>
          <p:cNvSpPr txBox="1"/>
          <p:nvPr/>
        </p:nvSpPr>
        <p:spPr>
          <a:xfrm>
            <a:off x="2483920" y="6132185"/>
            <a:ext cx="1188721" cy="261610"/>
          </a:xfrm>
          <a:prstGeom prst="rect">
            <a:avLst/>
          </a:prstGeom>
          <a:noFill/>
        </p:spPr>
        <p:txBody>
          <a:bodyPr wrap="square" rtlCol="0">
            <a:spAutoFit/>
          </a:bodyPr>
          <a:lstStyle/>
          <a:p>
            <a:r>
              <a:rPr lang="en-US" sz="1100" dirty="0">
                <a:solidFill>
                  <a:srgbClr val="C00000"/>
                </a:solidFill>
              </a:rPr>
              <a:t>Red-&gt;untracked</a:t>
            </a:r>
          </a:p>
        </p:txBody>
      </p:sp>
      <p:sp>
        <p:nvSpPr>
          <p:cNvPr id="22" name="TextBox 21">
            <a:extLst>
              <a:ext uri="{FF2B5EF4-FFF2-40B4-BE49-F238E27FC236}">
                <a16:creationId xmlns:a16="http://schemas.microsoft.com/office/drawing/2014/main" id="{A1F2D1A1-9715-7D72-2C37-4041AF05FD38}"/>
              </a:ext>
            </a:extLst>
          </p:cNvPr>
          <p:cNvSpPr txBox="1"/>
          <p:nvPr/>
        </p:nvSpPr>
        <p:spPr>
          <a:xfrm>
            <a:off x="10384980" y="2187801"/>
            <a:ext cx="1770674" cy="338554"/>
          </a:xfrm>
          <a:prstGeom prst="rect">
            <a:avLst/>
          </a:prstGeom>
          <a:noFill/>
        </p:spPr>
        <p:txBody>
          <a:bodyPr wrap="square" rtlCol="0">
            <a:spAutoFit/>
          </a:bodyPr>
          <a:lstStyle/>
          <a:p>
            <a:r>
              <a:rPr lang="en-US" sz="1600" dirty="0">
                <a:solidFill>
                  <a:srgbClr val="C00000"/>
                </a:solidFill>
              </a:rPr>
              <a:t>Not to be tracked</a:t>
            </a:r>
          </a:p>
        </p:txBody>
      </p:sp>
    </p:spTree>
    <p:extLst>
      <p:ext uri="{BB962C8B-B14F-4D97-AF65-F5344CB8AC3E}">
        <p14:creationId xmlns:p14="http://schemas.microsoft.com/office/powerpoint/2010/main" val="399150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1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par>
                                <p:cTn id="17" presetID="9"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dissolve">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dissolve">
                                      <p:cBhvr>
                                        <p:cTn id="29" dur="5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64"/>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dissolve">
                                      <p:cBhvr>
                                        <p:cTn id="36" dur="500"/>
                                        <p:tgtEl>
                                          <p:spTgt spid="6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66"/>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dissolve">
                                      <p:cBhvr>
                                        <p:cTn id="43" dur="500"/>
                                        <p:tgtEl>
                                          <p:spTgt spid="12"/>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9" presetClass="entr" presetSubtype="0" fill="hold" nodeType="with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dissolve">
                                      <p:cBhvr>
                                        <p:cTn id="57" dur="500"/>
                                        <p:tgtEl>
                                          <p:spTgt spid="68"/>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6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dissolve">
                                      <p:cBhvr>
                                        <p:cTn id="68" dur="500"/>
                                        <p:tgtEl>
                                          <p:spTgt spid="70"/>
                                        </p:tgtEl>
                                      </p:cBhvr>
                                    </p:animEffec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Undoing Changes - </a:t>
            </a:r>
            <a:r>
              <a:rPr lang="en-GB" b="0" i="0" dirty="0" err="1">
                <a:solidFill>
                  <a:srgbClr val="1F1F1F"/>
                </a:solidFill>
                <a:effectLst/>
                <a:latin typeface="Source Sans Pro" panose="020B0503030403020204" pitchFamily="34" charset="0"/>
              </a:rPr>
              <a:t>Rolbacks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1754326"/>
          </a:xfrm>
          <a:prstGeom prst="rect">
            <a:avLst/>
          </a:prstGeom>
          <a:noFill/>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a:p>
            <a:pPr marL="285750" indent="-285750">
              <a:buFont typeface="Arial" panose="020B0604020202020204" pitchFamily="34" charset="0"/>
              <a:buChar char="•"/>
            </a:pPr>
            <a:r>
              <a:rPr lang="en-BE" dirty="0">
                <a:solidFill>
                  <a:srgbClr val="C00000"/>
                </a:solidFill>
              </a:rPr>
              <a:t>git commit --amend (reverting committed changes)</a:t>
            </a:r>
          </a:p>
          <a:p>
            <a:pPr marL="285750" indent="-285750">
              <a:buFont typeface="Arial" panose="020B0604020202020204" pitchFamily="34" charset="0"/>
              <a:buChar char="•"/>
            </a:pPr>
            <a:r>
              <a:rPr lang="en-BE" dirty="0">
                <a:solidFill>
                  <a:srgbClr val="1D15C5"/>
                </a:solidFill>
              </a:rPr>
              <a:t>git revert commit (undoing committed changes)</a:t>
            </a:r>
          </a:p>
          <a:p>
            <a:pPr marL="742950" lvl="1" indent="-285750">
              <a:buFont typeface="Arial" panose="020B0604020202020204" pitchFamily="34" charset="0"/>
              <a:buChar char="•"/>
            </a:pPr>
            <a:r>
              <a:rPr lang="en-GB" dirty="0">
                <a:solidFill>
                  <a:srgbClr val="1D15C5"/>
                </a:solidFill>
              </a:rPr>
              <a:t>I</a:t>
            </a:r>
            <a:r>
              <a:rPr lang="en-BE" dirty="0">
                <a:solidFill>
                  <a:srgbClr val="1D15C5"/>
                </a:solidFill>
              </a:rPr>
              <a:t>nverse of the commit command</a:t>
            </a:r>
          </a:p>
        </p:txBody>
      </p:sp>
      <p:grpSp>
        <p:nvGrpSpPr>
          <p:cNvPr id="15" name="Group 14">
            <a:extLst>
              <a:ext uri="{FF2B5EF4-FFF2-40B4-BE49-F238E27FC236}">
                <a16:creationId xmlns:a16="http://schemas.microsoft.com/office/drawing/2014/main" id="{5628C06C-9206-E3C9-72BC-B56716CACF6E}"/>
              </a:ext>
            </a:extLst>
          </p:cNvPr>
          <p:cNvGrpSpPr/>
          <p:nvPr/>
        </p:nvGrpSpPr>
        <p:grpSpPr>
          <a:xfrm>
            <a:off x="5594034" y="1039939"/>
            <a:ext cx="4595239" cy="1732104"/>
            <a:chOff x="5594034" y="1039939"/>
            <a:chExt cx="4595239" cy="1732104"/>
          </a:xfrm>
        </p:grpSpPr>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grpSp>
        <p:nvGrpSpPr>
          <p:cNvPr id="33" name="Group 32">
            <a:extLst>
              <a:ext uri="{FF2B5EF4-FFF2-40B4-BE49-F238E27FC236}">
                <a16:creationId xmlns:a16="http://schemas.microsoft.com/office/drawing/2014/main" id="{26236E8D-99A2-AD57-AB83-925C88E25F38}"/>
              </a:ext>
            </a:extLst>
          </p:cNvPr>
          <p:cNvGrpSpPr/>
          <p:nvPr/>
        </p:nvGrpSpPr>
        <p:grpSpPr>
          <a:xfrm>
            <a:off x="9272588" y="2149052"/>
            <a:ext cx="1843182" cy="1392105"/>
            <a:chOff x="9272588" y="2149052"/>
            <a:chExt cx="1843182" cy="1392105"/>
          </a:xfrm>
        </p:grpSpPr>
        <p:sp>
          <p:nvSpPr>
            <p:cNvPr id="26" name="TextBox 25">
              <a:extLst>
                <a:ext uri="{FF2B5EF4-FFF2-40B4-BE49-F238E27FC236}">
                  <a16:creationId xmlns:a16="http://schemas.microsoft.com/office/drawing/2014/main" id="{E6F1F4A0-9FA4-D820-97F7-9DBF0A442E74}"/>
                </a:ext>
              </a:extLst>
            </p:cNvPr>
            <p:cNvSpPr txBox="1"/>
            <p:nvPr/>
          </p:nvSpPr>
          <p:spPr>
            <a:xfrm>
              <a:off x="9272588" y="3171825"/>
              <a:ext cx="1757362" cy="369332"/>
            </a:xfrm>
            <a:prstGeom prst="rect">
              <a:avLst/>
            </a:prstGeom>
            <a:noFill/>
            <a:ln w="28575">
              <a:solidFill>
                <a:srgbClr val="1D15C5"/>
              </a:solidFill>
            </a:ln>
          </p:spPr>
          <p:txBody>
            <a:bodyPr wrap="square" rtlCol="0">
              <a:spAutoFit/>
            </a:bodyPr>
            <a:lstStyle/>
            <a:p>
              <a:r>
                <a:rPr lang="en-BE" dirty="0"/>
                <a:t>Commited 2 files</a:t>
              </a:r>
            </a:p>
          </p:txBody>
        </p:sp>
        <p:cxnSp>
          <p:nvCxnSpPr>
            <p:cNvPr id="29" name="Straight Arrow Connector 28">
              <a:extLst>
                <a:ext uri="{FF2B5EF4-FFF2-40B4-BE49-F238E27FC236}">
                  <a16:creationId xmlns:a16="http://schemas.microsoft.com/office/drawing/2014/main" id="{AD706887-3864-C070-1D35-2DE67EE03F24}"/>
                </a:ext>
              </a:extLst>
            </p:cNvPr>
            <p:cNvCxnSpPr>
              <a:stCxn id="9" idx="2"/>
            </p:cNvCxnSpPr>
            <p:nvPr/>
          </p:nvCxnSpPr>
          <p:spPr>
            <a:xfrm>
              <a:off x="9382316" y="2772043"/>
              <a:ext cx="476059" cy="399782"/>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7AF4380-6688-1075-0DEF-DE900CED8AF6}"/>
                </a:ext>
              </a:extLst>
            </p:cNvPr>
            <p:cNvCxnSpPr>
              <a:cxnSpLocks/>
              <a:endCxn id="26" idx="0"/>
            </p:cNvCxnSpPr>
            <p:nvPr/>
          </p:nvCxnSpPr>
          <p:spPr>
            <a:xfrm flipH="1">
              <a:off x="10151269" y="2149052"/>
              <a:ext cx="964501" cy="1022773"/>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CB14C796-0AE4-C1C0-4475-78CA2802B36A}"/>
              </a:ext>
            </a:extLst>
          </p:cNvPr>
          <p:cNvGrpSpPr/>
          <p:nvPr/>
        </p:nvGrpSpPr>
        <p:grpSpPr>
          <a:xfrm>
            <a:off x="392111" y="2743467"/>
            <a:ext cx="4177311" cy="3849526"/>
            <a:chOff x="392111" y="2743467"/>
            <a:chExt cx="4177311" cy="3849526"/>
          </a:xfrm>
        </p:grpSpPr>
        <p:grpSp>
          <p:nvGrpSpPr>
            <p:cNvPr id="44" name="Group 43">
              <a:extLst>
                <a:ext uri="{FF2B5EF4-FFF2-40B4-BE49-F238E27FC236}">
                  <a16:creationId xmlns:a16="http://schemas.microsoft.com/office/drawing/2014/main" id="{0D63FF52-D408-E590-CFA0-90B1D64258C8}"/>
                </a:ext>
              </a:extLst>
            </p:cNvPr>
            <p:cNvGrpSpPr/>
            <p:nvPr/>
          </p:nvGrpSpPr>
          <p:grpSpPr>
            <a:xfrm>
              <a:off x="392111" y="2832992"/>
              <a:ext cx="3883027" cy="3760001"/>
              <a:chOff x="392111" y="2832992"/>
              <a:chExt cx="3883027" cy="3760001"/>
            </a:xfrm>
          </p:grpSpPr>
          <p:pic>
            <p:nvPicPr>
              <p:cNvPr id="32" name="Picture 31" descr="Text&#10;&#10;Description automatically generated">
                <a:extLst>
                  <a:ext uri="{FF2B5EF4-FFF2-40B4-BE49-F238E27FC236}">
                    <a16:creationId xmlns:a16="http://schemas.microsoft.com/office/drawing/2014/main" id="{FED80AB1-ACAB-F2A5-2061-787B1D5BECC4}"/>
                  </a:ext>
                </a:extLst>
              </p:cNvPr>
              <p:cNvPicPr>
                <a:picLocks noChangeAspect="1"/>
              </p:cNvPicPr>
              <p:nvPr/>
            </p:nvPicPr>
            <p:blipFill>
              <a:blip r:embed="rId3"/>
              <a:stretch>
                <a:fillRect/>
              </a:stretch>
            </p:blipFill>
            <p:spPr>
              <a:xfrm>
                <a:off x="461068" y="2832992"/>
                <a:ext cx="3745114" cy="653808"/>
              </a:xfrm>
              <a:prstGeom prst="rect">
                <a:avLst/>
              </a:prstGeom>
            </p:spPr>
          </p:pic>
          <p:pic>
            <p:nvPicPr>
              <p:cNvPr id="36" name="Picture 35" descr="Text&#10;&#10;Description automatically generated">
                <a:extLst>
                  <a:ext uri="{FF2B5EF4-FFF2-40B4-BE49-F238E27FC236}">
                    <a16:creationId xmlns:a16="http://schemas.microsoft.com/office/drawing/2014/main" id="{B2F7CDFF-0B3B-2448-E0ED-035733783CDA}"/>
                  </a:ext>
                </a:extLst>
              </p:cNvPr>
              <p:cNvPicPr>
                <a:picLocks noChangeAspect="1"/>
              </p:cNvPicPr>
              <p:nvPr/>
            </p:nvPicPr>
            <p:blipFill>
              <a:blip r:embed="rId4"/>
              <a:stretch>
                <a:fillRect/>
              </a:stretch>
            </p:blipFill>
            <p:spPr>
              <a:xfrm>
                <a:off x="392111" y="3541157"/>
                <a:ext cx="3883027" cy="3051836"/>
              </a:xfrm>
              <a:prstGeom prst="rect">
                <a:avLst/>
              </a:prstGeom>
            </p:spPr>
          </p:pic>
        </p:grpSp>
        <p:sp>
          <p:nvSpPr>
            <p:cNvPr id="46" name="Left Arrow 45">
              <a:extLst>
                <a:ext uri="{FF2B5EF4-FFF2-40B4-BE49-F238E27FC236}">
                  <a16:creationId xmlns:a16="http://schemas.microsoft.com/office/drawing/2014/main" id="{8D70AF3A-A266-2919-87A6-64A4840E16F9}"/>
                </a:ext>
              </a:extLst>
            </p:cNvPr>
            <p:cNvSpPr/>
            <p:nvPr/>
          </p:nvSpPr>
          <p:spPr>
            <a:xfrm>
              <a:off x="4057650" y="2743467"/>
              <a:ext cx="44142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47" name="Left Arrow 46">
              <a:extLst>
                <a:ext uri="{FF2B5EF4-FFF2-40B4-BE49-F238E27FC236}">
                  <a16:creationId xmlns:a16="http://schemas.microsoft.com/office/drawing/2014/main" id="{2D1666C1-A968-0DA7-5744-D5B1CCC8DA81}"/>
                </a:ext>
              </a:extLst>
            </p:cNvPr>
            <p:cNvSpPr/>
            <p:nvPr/>
          </p:nvSpPr>
          <p:spPr>
            <a:xfrm>
              <a:off x="4195766" y="3451632"/>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grpSp>
        <p:nvGrpSpPr>
          <p:cNvPr id="55" name="Group 54">
            <a:extLst>
              <a:ext uri="{FF2B5EF4-FFF2-40B4-BE49-F238E27FC236}">
                <a16:creationId xmlns:a16="http://schemas.microsoft.com/office/drawing/2014/main" id="{650C1CCA-4BE6-8FA7-BF74-FE5F478BAE13}"/>
              </a:ext>
            </a:extLst>
          </p:cNvPr>
          <p:cNvGrpSpPr/>
          <p:nvPr/>
        </p:nvGrpSpPr>
        <p:grpSpPr>
          <a:xfrm>
            <a:off x="4781472" y="2802645"/>
            <a:ext cx="3547941" cy="3822836"/>
            <a:chOff x="4781472" y="2802645"/>
            <a:chExt cx="3547941" cy="3822836"/>
          </a:xfrm>
        </p:grpSpPr>
        <p:grpSp>
          <p:nvGrpSpPr>
            <p:cNvPr id="45" name="Group 44">
              <a:extLst>
                <a:ext uri="{FF2B5EF4-FFF2-40B4-BE49-F238E27FC236}">
                  <a16:creationId xmlns:a16="http://schemas.microsoft.com/office/drawing/2014/main" id="{5879766F-5B37-6FC6-4D5E-1AD55F082616}"/>
                </a:ext>
              </a:extLst>
            </p:cNvPr>
            <p:cNvGrpSpPr/>
            <p:nvPr/>
          </p:nvGrpSpPr>
          <p:grpSpPr>
            <a:xfrm>
              <a:off x="4781472" y="2862544"/>
              <a:ext cx="3239038" cy="3762937"/>
              <a:chOff x="4781472" y="2862544"/>
              <a:chExt cx="3239038" cy="3762937"/>
            </a:xfrm>
          </p:grpSpPr>
          <p:pic>
            <p:nvPicPr>
              <p:cNvPr id="39" name="Picture 38" descr="Text&#10;&#10;Description automatically generated">
                <a:extLst>
                  <a:ext uri="{FF2B5EF4-FFF2-40B4-BE49-F238E27FC236}">
                    <a16:creationId xmlns:a16="http://schemas.microsoft.com/office/drawing/2014/main" id="{1758F1E1-36D2-CA1F-7C3D-C97BF87E0870}"/>
                  </a:ext>
                </a:extLst>
              </p:cNvPr>
              <p:cNvPicPr>
                <a:picLocks noChangeAspect="1"/>
              </p:cNvPicPr>
              <p:nvPr/>
            </p:nvPicPr>
            <p:blipFill>
              <a:blip r:embed="rId5"/>
              <a:stretch>
                <a:fillRect/>
              </a:stretch>
            </p:blipFill>
            <p:spPr>
              <a:xfrm>
                <a:off x="4781472" y="3624998"/>
                <a:ext cx="3239038" cy="3000483"/>
              </a:xfrm>
              <a:prstGeom prst="rect">
                <a:avLst/>
              </a:prstGeom>
            </p:spPr>
          </p:pic>
          <p:pic>
            <p:nvPicPr>
              <p:cNvPr id="42" name="Picture 41" descr="Text&#10;&#10;Description automatically generated">
                <a:extLst>
                  <a:ext uri="{FF2B5EF4-FFF2-40B4-BE49-F238E27FC236}">
                    <a16:creationId xmlns:a16="http://schemas.microsoft.com/office/drawing/2014/main" id="{F12EEB51-9966-6264-2DF1-2757C3D59F5B}"/>
                  </a:ext>
                </a:extLst>
              </p:cNvPr>
              <p:cNvPicPr>
                <a:picLocks noChangeAspect="1"/>
              </p:cNvPicPr>
              <p:nvPr/>
            </p:nvPicPr>
            <p:blipFill>
              <a:blip r:embed="rId6"/>
              <a:stretch>
                <a:fillRect/>
              </a:stretch>
            </p:blipFill>
            <p:spPr>
              <a:xfrm>
                <a:off x="4793360" y="2862544"/>
                <a:ext cx="3178171" cy="720752"/>
              </a:xfrm>
              <a:prstGeom prst="rect">
                <a:avLst/>
              </a:prstGeom>
            </p:spPr>
          </p:pic>
        </p:grpSp>
        <p:sp>
          <p:nvSpPr>
            <p:cNvPr id="48" name="Left Arrow 47">
              <a:extLst>
                <a:ext uri="{FF2B5EF4-FFF2-40B4-BE49-F238E27FC236}">
                  <a16:creationId xmlns:a16="http://schemas.microsoft.com/office/drawing/2014/main" id="{A2F1BE99-5B4E-39B0-9657-3ADDB08167B3}"/>
                </a:ext>
              </a:extLst>
            </p:cNvPr>
            <p:cNvSpPr/>
            <p:nvPr/>
          </p:nvSpPr>
          <p:spPr>
            <a:xfrm>
              <a:off x="7955757" y="3549487"/>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50" name="Left Arrow 49">
              <a:extLst>
                <a:ext uri="{FF2B5EF4-FFF2-40B4-BE49-F238E27FC236}">
                  <a16:creationId xmlns:a16="http://schemas.microsoft.com/office/drawing/2014/main" id="{0D6F50BD-D6F2-B4BD-D152-8DF4ED9CD875}"/>
                </a:ext>
              </a:extLst>
            </p:cNvPr>
            <p:cNvSpPr/>
            <p:nvPr/>
          </p:nvSpPr>
          <p:spPr>
            <a:xfrm>
              <a:off x="7894431" y="2802645"/>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pic>
        <p:nvPicPr>
          <p:cNvPr id="16386" name="Picture 2" descr="Data Transfer Arrows Icon - 6472 - Dryicons">
            <a:extLst>
              <a:ext uri="{FF2B5EF4-FFF2-40B4-BE49-F238E27FC236}">
                <a16:creationId xmlns:a16="http://schemas.microsoft.com/office/drawing/2014/main" id="{282A05D5-F620-6BD3-ACFE-25A7ED06C64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007509"/>
            <a:ext cx="1429422" cy="68084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Data Transfer Arrows Icon - 6472 - Dryicons">
            <a:extLst>
              <a:ext uri="{FF2B5EF4-FFF2-40B4-BE49-F238E27FC236}">
                <a16:creationId xmlns:a16="http://schemas.microsoft.com/office/drawing/2014/main" id="{0978D4FD-0DA9-38F9-F47B-AAEC131FC8C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944637"/>
            <a:ext cx="1392071" cy="680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202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par>
                                <p:cTn id="18" presetID="9" presetClass="entr" presetSubtype="0" fill="hold" nodeType="withEffect">
                                  <p:stCondLst>
                                    <p:cond delay="0"/>
                                  </p:stCondLst>
                                  <p:childTnLst>
                                    <p:set>
                                      <p:cBhvr>
                                        <p:cTn id="19" dur="1" fill="hold">
                                          <p:stCondLst>
                                            <p:cond delay="0"/>
                                          </p:stCondLst>
                                        </p:cTn>
                                        <p:tgtEl>
                                          <p:spTgt spid="16386"/>
                                        </p:tgtEl>
                                        <p:attrNameLst>
                                          <p:attrName>style.visibility</p:attrName>
                                        </p:attrNameLst>
                                      </p:cBhvr>
                                      <p:to>
                                        <p:strVal val="visible"/>
                                      </p:to>
                                    </p:set>
                                    <p:animEffect transition="in" filter="dissolve">
                                      <p:cBhvr>
                                        <p:cTn id="20"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51" name="Group 18450">
            <a:extLst>
              <a:ext uri="{FF2B5EF4-FFF2-40B4-BE49-F238E27FC236}">
                <a16:creationId xmlns:a16="http://schemas.microsoft.com/office/drawing/2014/main" id="{40F56816-5EF8-48DB-185C-1DCFFA788AE7}"/>
              </a:ext>
            </a:extLst>
          </p:cNvPr>
          <p:cNvGrpSpPr/>
          <p:nvPr/>
        </p:nvGrpSpPr>
        <p:grpSpPr>
          <a:xfrm>
            <a:off x="1447393" y="2394884"/>
            <a:ext cx="1984361" cy="1188348"/>
            <a:chOff x="3990637" y="3121710"/>
            <a:chExt cx="1984361" cy="1188348"/>
          </a:xfrm>
        </p:grpSpPr>
        <p:grpSp>
          <p:nvGrpSpPr>
            <p:cNvPr id="18450" name="Group 18449">
              <a:extLst>
                <a:ext uri="{FF2B5EF4-FFF2-40B4-BE49-F238E27FC236}">
                  <a16:creationId xmlns:a16="http://schemas.microsoft.com/office/drawing/2014/main" id="{F51CD0D1-DF01-2206-8253-C66A5EB08529}"/>
                </a:ext>
              </a:extLst>
            </p:cNvPr>
            <p:cNvGrpSpPr/>
            <p:nvPr/>
          </p:nvGrpSpPr>
          <p:grpSpPr>
            <a:xfrm>
              <a:off x="4422611" y="3121710"/>
              <a:ext cx="1552387" cy="1125463"/>
              <a:chOff x="4422611" y="3121710"/>
              <a:chExt cx="1552387" cy="1125463"/>
            </a:xfrm>
          </p:grpSpPr>
          <p:grpSp>
            <p:nvGrpSpPr>
              <p:cNvPr id="31" name="Group 30">
                <a:extLst>
                  <a:ext uri="{FF2B5EF4-FFF2-40B4-BE49-F238E27FC236}">
                    <a16:creationId xmlns:a16="http://schemas.microsoft.com/office/drawing/2014/main" id="{D2AD2D63-4B6E-56D4-ABB7-33D230B1004E}"/>
                  </a:ext>
                </a:extLst>
              </p:cNvPr>
              <p:cNvGrpSpPr/>
              <p:nvPr/>
            </p:nvGrpSpPr>
            <p:grpSpPr>
              <a:xfrm>
                <a:off x="4422937" y="3121710"/>
                <a:ext cx="1552061" cy="1125463"/>
                <a:chOff x="1113752" y="3658733"/>
                <a:chExt cx="1552061" cy="1125463"/>
              </a:xfrm>
            </p:grpSpPr>
            <p:cxnSp>
              <p:nvCxnSpPr>
                <p:cNvPr id="34" name="Curved Connector 33">
                  <a:extLst>
                    <a:ext uri="{FF2B5EF4-FFF2-40B4-BE49-F238E27FC236}">
                      <a16:creationId xmlns:a16="http://schemas.microsoft.com/office/drawing/2014/main" id="{C55513C0-CA32-BE03-F25D-FB71347AE433}"/>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40" name="Picture 4" descr="Software-bug Icons - Free SVG &amp; PNG Software-bug Images - Noun Project">
                <a:extLst>
                  <a:ext uri="{FF2B5EF4-FFF2-40B4-BE49-F238E27FC236}">
                    <a16:creationId xmlns:a16="http://schemas.microsoft.com/office/drawing/2014/main" id="{87B31DEE-30B7-3DDF-FF26-CE7EC9316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8439" name="TextBox 18438">
              <a:extLst>
                <a:ext uri="{FF2B5EF4-FFF2-40B4-BE49-F238E27FC236}">
                  <a16:creationId xmlns:a16="http://schemas.microsoft.com/office/drawing/2014/main" id="{04AE0B45-5247-A4E3-B445-9053CD60B27F}"/>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18448" name="Group 18447">
            <a:extLst>
              <a:ext uri="{FF2B5EF4-FFF2-40B4-BE49-F238E27FC236}">
                <a16:creationId xmlns:a16="http://schemas.microsoft.com/office/drawing/2014/main" id="{0C75C9B7-DAF6-21FE-192E-175A150C127C}"/>
              </a:ext>
            </a:extLst>
          </p:cNvPr>
          <p:cNvGrpSpPr/>
          <p:nvPr/>
        </p:nvGrpSpPr>
        <p:grpSpPr>
          <a:xfrm>
            <a:off x="700019" y="1900189"/>
            <a:ext cx="4002814" cy="622112"/>
            <a:chOff x="3243263" y="2627015"/>
            <a:chExt cx="4002814" cy="622112"/>
          </a:xfrm>
        </p:grpSpPr>
        <p:grpSp>
          <p:nvGrpSpPr>
            <p:cNvPr id="49" name="Group 48">
              <a:extLst>
                <a:ext uri="{FF2B5EF4-FFF2-40B4-BE49-F238E27FC236}">
                  <a16:creationId xmlns:a16="http://schemas.microsoft.com/office/drawing/2014/main" id="{4308C32B-77E5-B84A-9A34-CF7EC9246FE6}"/>
                </a:ext>
              </a:extLst>
            </p:cNvPr>
            <p:cNvGrpSpPr/>
            <p:nvPr/>
          </p:nvGrpSpPr>
          <p:grpSpPr>
            <a:xfrm>
              <a:off x="3243263" y="2627015"/>
              <a:ext cx="4002814" cy="622112"/>
              <a:chOff x="-65922" y="3986998"/>
              <a:chExt cx="4002814" cy="622112"/>
            </a:xfrm>
          </p:grpSpPr>
          <p:cxnSp>
            <p:nvCxnSpPr>
              <p:cNvPr id="51" name="Straight Connector 50">
                <a:extLst>
                  <a:ext uri="{FF2B5EF4-FFF2-40B4-BE49-F238E27FC236}">
                    <a16:creationId xmlns:a16="http://schemas.microsoft.com/office/drawing/2014/main" id="{DD2DD35D-96A9-558A-3639-1825355DB51A}"/>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Oval 52">
                <a:extLst>
                  <a:ext uri="{FF2B5EF4-FFF2-40B4-BE49-F238E27FC236}">
                    <a16:creationId xmlns:a16="http://schemas.microsoft.com/office/drawing/2014/main" id="{E497271E-EB1F-EB08-85C1-1B1CADA1CD26}"/>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6" name="TextBox 55">
                <a:extLst>
                  <a:ext uri="{FF2B5EF4-FFF2-40B4-BE49-F238E27FC236}">
                    <a16:creationId xmlns:a16="http://schemas.microsoft.com/office/drawing/2014/main" id="{A32533C7-6CE3-960D-08B4-4EA7701C8CB6}"/>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18441" name="Oval 18440">
              <a:extLst>
                <a:ext uri="{FF2B5EF4-FFF2-40B4-BE49-F238E27FC236}">
                  <a16:creationId xmlns:a16="http://schemas.microsoft.com/office/drawing/2014/main" id="{C6396DAB-250F-9BCA-8D82-827AE95BE793}"/>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53" name="Group 18452">
            <a:extLst>
              <a:ext uri="{FF2B5EF4-FFF2-40B4-BE49-F238E27FC236}">
                <a16:creationId xmlns:a16="http://schemas.microsoft.com/office/drawing/2014/main" id="{0D79E253-69B6-631F-9104-6612B07914C0}"/>
              </a:ext>
            </a:extLst>
          </p:cNvPr>
          <p:cNvGrpSpPr/>
          <p:nvPr/>
        </p:nvGrpSpPr>
        <p:grpSpPr>
          <a:xfrm>
            <a:off x="3164686" y="2291774"/>
            <a:ext cx="521822" cy="962016"/>
            <a:chOff x="5707930" y="3018600"/>
            <a:chExt cx="521822" cy="962016"/>
          </a:xfrm>
        </p:grpSpPr>
        <p:sp>
          <p:nvSpPr>
            <p:cNvPr id="58" name="Oval 57">
              <a:extLst>
                <a:ext uri="{FF2B5EF4-FFF2-40B4-BE49-F238E27FC236}">
                  <a16:creationId xmlns:a16="http://schemas.microsoft.com/office/drawing/2014/main" id="{E00CD0B0-8DEC-4650-6E73-F6DED0663EA1}"/>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9" name="Straight Arrow Connector 58">
              <a:extLst>
                <a:ext uri="{FF2B5EF4-FFF2-40B4-BE49-F238E27FC236}">
                  <a16:creationId xmlns:a16="http://schemas.microsoft.com/office/drawing/2014/main" id="{D5823F8C-A0D5-66EE-2722-066D300044FA}"/>
                </a:ext>
              </a:extLst>
            </p:cNvPr>
            <p:cNvCxnSpPr>
              <a:cxnSpLocks/>
              <a:stCxn id="35" idx="0"/>
              <a:endCxn id="58"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2" name="Picture 16" descr="Bug Fix Icons - Download Free Vector Icons | Noun Project">
              <a:extLst>
                <a:ext uri="{FF2B5EF4-FFF2-40B4-BE49-F238E27FC236}">
                  <a16:creationId xmlns:a16="http://schemas.microsoft.com/office/drawing/2014/main" id="{2D491461-9D3A-747D-1150-651F8004F0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52" name="Group 18451">
            <a:extLst>
              <a:ext uri="{FF2B5EF4-FFF2-40B4-BE49-F238E27FC236}">
                <a16:creationId xmlns:a16="http://schemas.microsoft.com/office/drawing/2014/main" id="{AD585853-8395-4FE2-32E9-8FD37AC1B3DD}"/>
              </a:ext>
            </a:extLst>
          </p:cNvPr>
          <p:cNvGrpSpPr/>
          <p:nvPr/>
        </p:nvGrpSpPr>
        <p:grpSpPr>
          <a:xfrm>
            <a:off x="3894920" y="1616709"/>
            <a:ext cx="521566" cy="911611"/>
            <a:chOff x="6438164" y="2343535"/>
            <a:chExt cx="521566" cy="911611"/>
          </a:xfrm>
        </p:grpSpPr>
        <p:cxnSp>
          <p:nvCxnSpPr>
            <p:cNvPr id="60" name="Straight Arrow Connector 59">
              <a:extLst>
                <a:ext uri="{FF2B5EF4-FFF2-40B4-BE49-F238E27FC236}">
                  <a16:creationId xmlns:a16="http://schemas.microsoft.com/office/drawing/2014/main" id="{B56B6AAF-A524-E39D-BDA5-537FA13E739E}"/>
                </a:ext>
              </a:extLst>
            </p:cNvPr>
            <p:cNvCxnSpPr>
              <a:cxnSpLocks/>
              <a:stCxn id="41" idx="4"/>
              <a:endCxn id="61"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32" name="Picture 20" descr="Content management, features, order management, software application,  survey icon - Download on Iconfinder">
              <a:extLst>
                <a:ext uri="{FF2B5EF4-FFF2-40B4-BE49-F238E27FC236}">
                  <a16:creationId xmlns:a16="http://schemas.microsoft.com/office/drawing/2014/main" id="{35CD2F63-0F4F-14CB-0F1E-0F544272C4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9" name="Group 18448">
            <a:extLst>
              <a:ext uri="{FF2B5EF4-FFF2-40B4-BE49-F238E27FC236}">
                <a16:creationId xmlns:a16="http://schemas.microsoft.com/office/drawing/2014/main" id="{57C46073-2459-CABA-389E-BB61CAA6EEFB}"/>
              </a:ext>
            </a:extLst>
          </p:cNvPr>
          <p:cNvGrpSpPr/>
          <p:nvPr/>
        </p:nvGrpSpPr>
        <p:grpSpPr>
          <a:xfrm>
            <a:off x="2227487" y="1099820"/>
            <a:ext cx="1916816" cy="1427236"/>
            <a:chOff x="4770731" y="1826646"/>
            <a:chExt cx="1916816" cy="1427236"/>
          </a:xfrm>
        </p:grpSpPr>
        <p:grpSp>
          <p:nvGrpSpPr>
            <p:cNvPr id="38" name="Group 37">
              <a:extLst>
                <a:ext uri="{FF2B5EF4-FFF2-40B4-BE49-F238E27FC236}">
                  <a16:creationId xmlns:a16="http://schemas.microsoft.com/office/drawing/2014/main" id="{4AB77E1D-5F4D-6C84-92AE-6F5746DFD589}"/>
                </a:ext>
              </a:extLst>
            </p:cNvPr>
            <p:cNvGrpSpPr/>
            <p:nvPr/>
          </p:nvGrpSpPr>
          <p:grpSpPr>
            <a:xfrm>
              <a:off x="4770731" y="1826646"/>
              <a:ext cx="1916816" cy="1289507"/>
              <a:chOff x="1461546" y="2363669"/>
              <a:chExt cx="1916816" cy="1289507"/>
            </a:xfrm>
          </p:grpSpPr>
          <p:cxnSp>
            <p:nvCxnSpPr>
              <p:cNvPr id="40" name="Curved Connector 39">
                <a:extLst>
                  <a:ext uri="{FF2B5EF4-FFF2-40B4-BE49-F238E27FC236}">
                    <a16:creationId xmlns:a16="http://schemas.microsoft.com/office/drawing/2014/main" id="{3EEDC861-5E99-31DB-A7EB-A041EDED011B}"/>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TextBox 42">
                <a:extLst>
                  <a:ext uri="{FF2B5EF4-FFF2-40B4-BE49-F238E27FC236}">
                    <a16:creationId xmlns:a16="http://schemas.microsoft.com/office/drawing/2014/main" id="{7E954EEE-9369-EFE8-75D4-8CDCCDE6395D}"/>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2" name="Oval 18441">
              <a:extLst>
                <a:ext uri="{FF2B5EF4-FFF2-40B4-BE49-F238E27FC236}">
                  <a16:creationId xmlns:a16="http://schemas.microsoft.com/office/drawing/2014/main" id="{AEC9E779-216D-37F3-0A52-5F453490FF41}"/>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55" name="Picture 18454" descr="Text&#10;&#10;Description automatically generated">
            <a:extLst>
              <a:ext uri="{FF2B5EF4-FFF2-40B4-BE49-F238E27FC236}">
                <a16:creationId xmlns:a16="http://schemas.microsoft.com/office/drawing/2014/main" id="{9575EEAB-E58A-2DC3-AE13-B3AAE9E4E977}"/>
              </a:ext>
            </a:extLst>
          </p:cNvPr>
          <p:cNvPicPr>
            <a:picLocks noChangeAspect="1"/>
          </p:cNvPicPr>
          <p:nvPr/>
        </p:nvPicPr>
        <p:blipFill rotWithShape="1">
          <a:blip r:embed="rId6"/>
          <a:srcRect r="5860"/>
          <a:stretch/>
        </p:blipFill>
        <p:spPr>
          <a:xfrm>
            <a:off x="6514925" y="503625"/>
            <a:ext cx="4753770" cy="3069614"/>
          </a:xfrm>
          <a:prstGeom prst="rect">
            <a:avLst/>
          </a:prstGeom>
        </p:spPr>
      </p:pic>
      <p:pic>
        <p:nvPicPr>
          <p:cNvPr id="18457" name="Picture 18456" descr="Text&#10;&#10;Description automatically generated">
            <a:extLst>
              <a:ext uri="{FF2B5EF4-FFF2-40B4-BE49-F238E27FC236}">
                <a16:creationId xmlns:a16="http://schemas.microsoft.com/office/drawing/2014/main" id="{10A6EA04-FC45-0509-6FC4-E9FEDD68EB7F}"/>
              </a:ext>
            </a:extLst>
          </p:cNvPr>
          <p:cNvPicPr>
            <a:picLocks noChangeAspect="1"/>
          </p:cNvPicPr>
          <p:nvPr/>
        </p:nvPicPr>
        <p:blipFill>
          <a:blip r:embed="rId7"/>
          <a:stretch>
            <a:fillRect/>
          </a:stretch>
        </p:blipFill>
        <p:spPr>
          <a:xfrm>
            <a:off x="6514925" y="3653836"/>
            <a:ext cx="4837768" cy="2860752"/>
          </a:xfrm>
          <a:prstGeom prst="rect">
            <a:avLst/>
          </a:prstGeom>
        </p:spPr>
      </p:pic>
      <p:cxnSp>
        <p:nvCxnSpPr>
          <p:cNvPr id="18459" name="Straight Arrow Connector 18458">
            <a:extLst>
              <a:ext uri="{FF2B5EF4-FFF2-40B4-BE49-F238E27FC236}">
                <a16:creationId xmlns:a16="http://schemas.microsoft.com/office/drawing/2014/main" id="{41B6C469-7B18-9C73-EEFC-074BAE8A40A6}"/>
              </a:ext>
            </a:extLst>
          </p:cNvPr>
          <p:cNvCxnSpPr>
            <a:cxnSpLocks/>
          </p:cNvCxnSpPr>
          <p:nvPr/>
        </p:nvCxnSpPr>
        <p:spPr>
          <a:xfrm flipH="1">
            <a:off x="11072812" y="68103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3" name="Straight Arrow Connector 18462">
            <a:extLst>
              <a:ext uri="{FF2B5EF4-FFF2-40B4-BE49-F238E27FC236}">
                <a16:creationId xmlns:a16="http://schemas.microsoft.com/office/drawing/2014/main" id="{7A520616-9A20-177A-8FF3-BE0DA118B888}"/>
              </a:ext>
            </a:extLst>
          </p:cNvPr>
          <p:cNvCxnSpPr>
            <a:cxnSpLocks/>
          </p:cNvCxnSpPr>
          <p:nvPr/>
        </p:nvCxnSpPr>
        <p:spPr>
          <a:xfrm flipH="1">
            <a:off x="11005030" y="133349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4" name="Straight Arrow Connector 18463">
            <a:extLst>
              <a:ext uri="{FF2B5EF4-FFF2-40B4-BE49-F238E27FC236}">
                <a16:creationId xmlns:a16="http://schemas.microsoft.com/office/drawing/2014/main" id="{718E1209-DC7F-AE67-7B89-23C54221A957}"/>
              </a:ext>
            </a:extLst>
          </p:cNvPr>
          <p:cNvCxnSpPr>
            <a:cxnSpLocks/>
          </p:cNvCxnSpPr>
          <p:nvPr/>
        </p:nvCxnSpPr>
        <p:spPr>
          <a:xfrm flipH="1">
            <a:off x="11005030" y="165417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5" name="Straight Arrow Connector 18464">
            <a:extLst>
              <a:ext uri="{FF2B5EF4-FFF2-40B4-BE49-F238E27FC236}">
                <a16:creationId xmlns:a16="http://schemas.microsoft.com/office/drawing/2014/main" id="{4F0C365A-D47E-7AA1-41B0-9E79E52430E4}"/>
              </a:ext>
            </a:extLst>
          </p:cNvPr>
          <p:cNvCxnSpPr>
            <a:cxnSpLocks/>
          </p:cNvCxnSpPr>
          <p:nvPr/>
        </p:nvCxnSpPr>
        <p:spPr>
          <a:xfrm flipH="1">
            <a:off x="11005029" y="223883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6" name="Straight Arrow Connector 18465">
            <a:extLst>
              <a:ext uri="{FF2B5EF4-FFF2-40B4-BE49-F238E27FC236}">
                <a16:creationId xmlns:a16="http://schemas.microsoft.com/office/drawing/2014/main" id="{14378BB7-6894-DEC1-D0D3-66B7526759BA}"/>
              </a:ext>
            </a:extLst>
          </p:cNvPr>
          <p:cNvCxnSpPr>
            <a:cxnSpLocks/>
          </p:cNvCxnSpPr>
          <p:nvPr/>
        </p:nvCxnSpPr>
        <p:spPr>
          <a:xfrm flipH="1">
            <a:off x="11072812" y="298952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7" name="Straight Arrow Connector 18466">
            <a:extLst>
              <a:ext uri="{FF2B5EF4-FFF2-40B4-BE49-F238E27FC236}">
                <a16:creationId xmlns:a16="http://schemas.microsoft.com/office/drawing/2014/main" id="{9EF50052-59C6-DB6F-5CC4-AB5B69176901}"/>
              </a:ext>
            </a:extLst>
          </p:cNvPr>
          <p:cNvCxnSpPr>
            <a:cxnSpLocks/>
          </p:cNvCxnSpPr>
          <p:nvPr/>
        </p:nvCxnSpPr>
        <p:spPr>
          <a:xfrm flipH="1">
            <a:off x="11072811" y="4111307"/>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8473" name="Group 18472">
            <a:extLst>
              <a:ext uri="{FF2B5EF4-FFF2-40B4-BE49-F238E27FC236}">
                <a16:creationId xmlns:a16="http://schemas.microsoft.com/office/drawing/2014/main" id="{4020D629-24DB-12B1-2924-25E6EB5B922A}"/>
              </a:ext>
            </a:extLst>
          </p:cNvPr>
          <p:cNvGrpSpPr/>
          <p:nvPr/>
        </p:nvGrpSpPr>
        <p:grpSpPr>
          <a:xfrm>
            <a:off x="10921585" y="5214938"/>
            <a:ext cx="845445" cy="796537"/>
            <a:chOff x="10921585" y="5214938"/>
            <a:chExt cx="845445" cy="796537"/>
          </a:xfrm>
        </p:grpSpPr>
        <p:cxnSp>
          <p:nvCxnSpPr>
            <p:cNvPr id="18469" name="Straight Arrow Connector 18468">
              <a:extLst>
                <a:ext uri="{FF2B5EF4-FFF2-40B4-BE49-F238E27FC236}">
                  <a16:creationId xmlns:a16="http://schemas.microsoft.com/office/drawing/2014/main" id="{C14AAA2D-7175-1741-E98D-689A0969BC83}"/>
                </a:ext>
              </a:extLst>
            </p:cNvPr>
            <p:cNvCxnSpPr>
              <a:cxnSpLocks/>
            </p:cNvCxnSpPr>
            <p:nvPr/>
          </p:nvCxnSpPr>
          <p:spPr>
            <a:xfrm flipH="1" flipV="1">
              <a:off x="11072811" y="5214938"/>
              <a:ext cx="694219" cy="3429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71" name="Straight Arrow Connector 18470">
              <a:extLst>
                <a:ext uri="{FF2B5EF4-FFF2-40B4-BE49-F238E27FC236}">
                  <a16:creationId xmlns:a16="http://schemas.microsoft.com/office/drawing/2014/main" id="{8D1543D6-5F88-2D83-5030-C45117F0FE20}"/>
                </a:ext>
              </a:extLst>
            </p:cNvPr>
            <p:cNvCxnSpPr>
              <a:cxnSpLocks/>
            </p:cNvCxnSpPr>
            <p:nvPr/>
          </p:nvCxnSpPr>
          <p:spPr>
            <a:xfrm flipH="1">
              <a:off x="10921585" y="5524502"/>
              <a:ext cx="845445" cy="48697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0CA57E5-402B-64F3-302E-331BD8C67C61}"/>
              </a:ext>
            </a:extLst>
          </p:cNvPr>
          <p:cNvSpPr txBox="1"/>
          <p:nvPr/>
        </p:nvSpPr>
        <p:spPr>
          <a:xfrm>
            <a:off x="111548" y="4895960"/>
            <a:ext cx="6125966" cy="1477328"/>
          </a:xfrm>
          <a:prstGeom prst="rect">
            <a:avLst/>
          </a:prstGeom>
          <a:noFill/>
          <a:ln w="28575">
            <a:solidFill>
              <a:srgbClr val="008F00"/>
            </a:solidFill>
          </a:ln>
        </p:spPr>
        <p:txBody>
          <a:bodyPr wrap="square">
            <a:spAutoFit/>
          </a:bodyPr>
          <a:lstStyle/>
          <a:p>
            <a:r>
              <a:rPr lang="en-GB" b="0" i="0" dirty="0">
                <a:solidFill>
                  <a:srgbClr val="1F1F1F"/>
                </a:solidFill>
                <a:effectLst/>
                <a:latin typeface="Source Sans Pro" panose="020B0503030403020204" pitchFamily="34" charset="0"/>
              </a:rPr>
              <a:t>Branches are an important part of the Git workflow. </a:t>
            </a:r>
          </a:p>
          <a:p>
            <a:r>
              <a:rPr lang="en-GB" b="0" i="0" dirty="0">
                <a:solidFill>
                  <a:srgbClr val="1F1F1F"/>
                </a:solidFill>
                <a:effectLst/>
                <a:latin typeface="Source Sans Pro" panose="020B0503030403020204" pitchFamily="34" charset="0"/>
              </a:rPr>
              <a:t>What is a branch? </a:t>
            </a:r>
          </a:p>
          <a:p>
            <a:pPr marL="285750" indent="-285750">
              <a:buFont typeface="Arial" panose="020B0604020202020204" pitchFamily="34" charset="0"/>
              <a:buChar char="•"/>
            </a:pPr>
            <a:r>
              <a:rPr lang="en-GB" b="0" i="0" dirty="0">
                <a:solidFill>
                  <a:srgbClr val="1F1F1F"/>
                </a:solidFill>
                <a:effectLst/>
                <a:latin typeface="Source Sans Pro" panose="020B0503030403020204" pitchFamily="34" charset="0"/>
              </a:rPr>
              <a:t>A branch represents an independent line of development in a project. </a:t>
            </a:r>
          </a:p>
          <a:p>
            <a:pPr marL="285750" indent="-285750">
              <a:buFont typeface="Arial" panose="020B0604020202020204" pitchFamily="34" charset="0"/>
              <a:buChar char="•"/>
            </a:pPr>
            <a:r>
              <a:rPr lang="en-GB" b="0" i="0" dirty="0">
                <a:solidFill>
                  <a:srgbClr val="1F1F1F"/>
                </a:solidFill>
                <a:effectLst/>
                <a:latin typeface="Source Sans Pro" panose="020B0503030403020204" pitchFamily="34" charset="0"/>
              </a:rPr>
              <a:t>Branching is a common practice in software development. </a:t>
            </a:r>
          </a:p>
        </p:txBody>
      </p:sp>
    </p:spTree>
    <p:extLst>
      <p:ext uri="{BB962C8B-B14F-4D97-AF65-F5344CB8AC3E}">
        <p14:creationId xmlns:p14="http://schemas.microsoft.com/office/powerpoint/2010/main" val="151804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48"/>
                                        </p:tgtEl>
                                        <p:attrNameLst>
                                          <p:attrName>style.visibility</p:attrName>
                                        </p:attrNameLst>
                                      </p:cBhvr>
                                      <p:to>
                                        <p:strVal val="visible"/>
                                      </p:to>
                                    </p:set>
                                    <p:animEffect transition="in" filter="dissolve">
                                      <p:cBhvr>
                                        <p:cTn id="7" dur="500"/>
                                        <p:tgtEl>
                                          <p:spTgt spid="184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451"/>
                                        </p:tgtEl>
                                        <p:attrNameLst>
                                          <p:attrName>style.visibility</p:attrName>
                                        </p:attrNameLst>
                                      </p:cBhvr>
                                      <p:to>
                                        <p:strVal val="visible"/>
                                      </p:to>
                                    </p:set>
                                    <p:animEffect transition="in" filter="dissolve">
                                      <p:cBhvr>
                                        <p:cTn id="12" dur="500"/>
                                        <p:tgtEl>
                                          <p:spTgt spid="184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449"/>
                                        </p:tgtEl>
                                        <p:attrNameLst>
                                          <p:attrName>style.visibility</p:attrName>
                                        </p:attrNameLst>
                                      </p:cBhvr>
                                      <p:to>
                                        <p:strVal val="visible"/>
                                      </p:to>
                                    </p:set>
                                    <p:animEffect transition="in" filter="dissolve">
                                      <p:cBhvr>
                                        <p:cTn id="17" dur="500"/>
                                        <p:tgtEl>
                                          <p:spTgt spid="1844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453"/>
                                        </p:tgtEl>
                                        <p:attrNameLst>
                                          <p:attrName>style.visibility</p:attrName>
                                        </p:attrNameLst>
                                      </p:cBhvr>
                                      <p:to>
                                        <p:strVal val="visible"/>
                                      </p:to>
                                    </p:set>
                                    <p:animEffect transition="in" filter="dissolve">
                                      <p:cBhvr>
                                        <p:cTn id="22" dur="500"/>
                                        <p:tgtEl>
                                          <p:spTgt spid="1845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452"/>
                                        </p:tgtEl>
                                        <p:attrNameLst>
                                          <p:attrName>style.visibility</p:attrName>
                                        </p:attrNameLst>
                                      </p:cBhvr>
                                      <p:to>
                                        <p:strVal val="visible"/>
                                      </p:to>
                                    </p:set>
                                    <p:animEffect transition="in" filter="dissolve">
                                      <p:cBhvr>
                                        <p:cTn id="27" dur="500"/>
                                        <p:tgtEl>
                                          <p:spTgt spid="1845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45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8459"/>
                                        </p:tgtEl>
                                        <p:attrNameLst>
                                          <p:attrName>style.visibility</p:attrName>
                                        </p:attrNameLst>
                                      </p:cBhvr>
                                      <p:to>
                                        <p:strVal val="visible"/>
                                      </p:to>
                                    </p:set>
                                    <p:animEffect transition="in" filter="dissolve">
                                      <p:cBhvr>
                                        <p:cTn id="36" dur="500"/>
                                        <p:tgtEl>
                                          <p:spTgt spid="1845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459"/>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18463"/>
                                        </p:tgtEl>
                                        <p:attrNameLst>
                                          <p:attrName>style.visibility</p:attrName>
                                        </p:attrNameLst>
                                      </p:cBhvr>
                                      <p:to>
                                        <p:strVal val="visible"/>
                                      </p:to>
                                    </p:set>
                                    <p:animEffect transition="in" filter="dissolve">
                                      <p:cBhvr>
                                        <p:cTn id="43" dur="500"/>
                                        <p:tgtEl>
                                          <p:spTgt spid="1846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18463"/>
                                        </p:tgtEl>
                                        <p:attrNameLst>
                                          <p:attrName>style.visibility</p:attrName>
                                        </p:attrNameLst>
                                      </p:cBhvr>
                                      <p:to>
                                        <p:strVal val="hidden"/>
                                      </p:to>
                                    </p:set>
                                  </p:childTnLst>
                                </p:cTn>
                              </p:par>
                              <p:par>
                                <p:cTn id="48" presetID="9" presetClass="entr" presetSubtype="0" fill="hold" nodeType="withEffect">
                                  <p:stCondLst>
                                    <p:cond delay="0"/>
                                  </p:stCondLst>
                                  <p:childTnLst>
                                    <p:set>
                                      <p:cBhvr>
                                        <p:cTn id="49" dur="1" fill="hold">
                                          <p:stCondLst>
                                            <p:cond delay="0"/>
                                          </p:stCondLst>
                                        </p:cTn>
                                        <p:tgtEl>
                                          <p:spTgt spid="18464"/>
                                        </p:tgtEl>
                                        <p:attrNameLst>
                                          <p:attrName>style.visibility</p:attrName>
                                        </p:attrNameLst>
                                      </p:cBhvr>
                                      <p:to>
                                        <p:strVal val="visible"/>
                                      </p:to>
                                    </p:set>
                                    <p:animEffect transition="in" filter="dissolve">
                                      <p:cBhvr>
                                        <p:cTn id="50" dur="500"/>
                                        <p:tgtEl>
                                          <p:spTgt spid="18464"/>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8464"/>
                                        </p:tgtEl>
                                        <p:attrNameLst>
                                          <p:attrName>style.visibility</p:attrName>
                                        </p:attrNameLst>
                                      </p:cBhvr>
                                      <p:to>
                                        <p:strVal val="hidden"/>
                                      </p:to>
                                    </p:set>
                                  </p:childTnLst>
                                </p:cTn>
                              </p:par>
                              <p:par>
                                <p:cTn id="55" presetID="9" presetClass="entr" presetSubtype="0" fill="hold" nodeType="withEffect">
                                  <p:stCondLst>
                                    <p:cond delay="0"/>
                                  </p:stCondLst>
                                  <p:childTnLst>
                                    <p:set>
                                      <p:cBhvr>
                                        <p:cTn id="56" dur="1" fill="hold">
                                          <p:stCondLst>
                                            <p:cond delay="0"/>
                                          </p:stCondLst>
                                        </p:cTn>
                                        <p:tgtEl>
                                          <p:spTgt spid="18465"/>
                                        </p:tgtEl>
                                        <p:attrNameLst>
                                          <p:attrName>style.visibility</p:attrName>
                                        </p:attrNameLst>
                                      </p:cBhvr>
                                      <p:to>
                                        <p:strVal val="visible"/>
                                      </p:to>
                                    </p:set>
                                    <p:animEffect transition="in" filter="dissolve">
                                      <p:cBhvr>
                                        <p:cTn id="57" dur="500"/>
                                        <p:tgtEl>
                                          <p:spTgt spid="1846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18465"/>
                                        </p:tgtEl>
                                        <p:attrNameLst>
                                          <p:attrName>style.visibility</p:attrName>
                                        </p:attrNameLst>
                                      </p:cBhvr>
                                      <p:to>
                                        <p:strVal val="hidden"/>
                                      </p:to>
                                    </p:set>
                                  </p:childTnLst>
                                </p:cTn>
                              </p:par>
                            </p:childTnLst>
                          </p:cTn>
                        </p:par>
                        <p:par>
                          <p:cTn id="62" fill="hold">
                            <p:stCondLst>
                              <p:cond delay="0"/>
                            </p:stCondLst>
                            <p:childTnLst>
                              <p:par>
                                <p:cTn id="63" presetID="9" presetClass="entr" presetSubtype="0" fill="hold" nodeType="afterEffect">
                                  <p:stCondLst>
                                    <p:cond delay="0"/>
                                  </p:stCondLst>
                                  <p:childTnLst>
                                    <p:set>
                                      <p:cBhvr>
                                        <p:cTn id="64" dur="1" fill="hold">
                                          <p:stCondLst>
                                            <p:cond delay="0"/>
                                          </p:stCondLst>
                                        </p:cTn>
                                        <p:tgtEl>
                                          <p:spTgt spid="18466"/>
                                        </p:tgtEl>
                                        <p:attrNameLst>
                                          <p:attrName>style.visibility</p:attrName>
                                        </p:attrNameLst>
                                      </p:cBhvr>
                                      <p:to>
                                        <p:strVal val="visible"/>
                                      </p:to>
                                    </p:set>
                                    <p:animEffect transition="in" filter="dissolve">
                                      <p:cBhvr>
                                        <p:cTn id="65" dur="500"/>
                                        <p:tgtEl>
                                          <p:spTgt spid="1846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18466"/>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8457"/>
                                        </p:tgtEl>
                                        <p:attrNameLst>
                                          <p:attrName>style.visibility</p:attrName>
                                        </p:attrNameLst>
                                      </p:cBhvr>
                                      <p:to>
                                        <p:strVal val="visible"/>
                                      </p:to>
                                    </p:set>
                                  </p:childTnLst>
                                </p:cTn>
                              </p:par>
                            </p:childTnLst>
                          </p:cTn>
                        </p:par>
                        <p:par>
                          <p:cTn id="72" fill="hold">
                            <p:stCondLst>
                              <p:cond delay="0"/>
                            </p:stCondLst>
                            <p:childTnLst>
                              <p:par>
                                <p:cTn id="73" presetID="9" presetClass="entr" presetSubtype="0" fill="hold" nodeType="afterEffect">
                                  <p:stCondLst>
                                    <p:cond delay="0"/>
                                  </p:stCondLst>
                                  <p:childTnLst>
                                    <p:set>
                                      <p:cBhvr>
                                        <p:cTn id="74" dur="1" fill="hold">
                                          <p:stCondLst>
                                            <p:cond delay="0"/>
                                          </p:stCondLst>
                                        </p:cTn>
                                        <p:tgtEl>
                                          <p:spTgt spid="18467"/>
                                        </p:tgtEl>
                                        <p:attrNameLst>
                                          <p:attrName>style.visibility</p:attrName>
                                        </p:attrNameLst>
                                      </p:cBhvr>
                                      <p:to>
                                        <p:strVal val="visible"/>
                                      </p:to>
                                    </p:set>
                                    <p:animEffect transition="in" filter="dissolve">
                                      <p:cBhvr>
                                        <p:cTn id="75" dur="500"/>
                                        <p:tgtEl>
                                          <p:spTgt spid="18467"/>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18467"/>
                                        </p:tgtEl>
                                        <p:attrNameLst>
                                          <p:attrName>style.visibility</p:attrName>
                                        </p:attrNameLst>
                                      </p:cBhvr>
                                      <p:to>
                                        <p:strVal val="hidden"/>
                                      </p:to>
                                    </p:set>
                                  </p:childTnLst>
                                </p:cTn>
                              </p:par>
                              <p:par>
                                <p:cTn id="80" presetID="9" presetClass="entr" presetSubtype="0" fill="hold" nodeType="withEffect">
                                  <p:stCondLst>
                                    <p:cond delay="0"/>
                                  </p:stCondLst>
                                  <p:childTnLst>
                                    <p:set>
                                      <p:cBhvr>
                                        <p:cTn id="81" dur="1" fill="hold">
                                          <p:stCondLst>
                                            <p:cond delay="0"/>
                                          </p:stCondLst>
                                        </p:cTn>
                                        <p:tgtEl>
                                          <p:spTgt spid="18473"/>
                                        </p:tgtEl>
                                        <p:attrNameLst>
                                          <p:attrName>style.visibility</p:attrName>
                                        </p:attrNameLst>
                                      </p:cBhvr>
                                      <p:to>
                                        <p:strVal val="visible"/>
                                      </p:to>
                                    </p:set>
                                    <p:animEffect transition="in" filter="dissolve">
                                      <p:cBhvr>
                                        <p:cTn id="82" dur="500"/>
                                        <p:tgtEl>
                                          <p:spTgt spid="1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51" name="Group 18450">
            <a:extLst>
              <a:ext uri="{FF2B5EF4-FFF2-40B4-BE49-F238E27FC236}">
                <a16:creationId xmlns:a16="http://schemas.microsoft.com/office/drawing/2014/main" id="{40F56816-5EF8-48DB-185C-1DCFFA788AE7}"/>
              </a:ext>
            </a:extLst>
          </p:cNvPr>
          <p:cNvGrpSpPr/>
          <p:nvPr/>
        </p:nvGrpSpPr>
        <p:grpSpPr>
          <a:xfrm>
            <a:off x="1447393" y="2394884"/>
            <a:ext cx="1984361" cy="1188348"/>
            <a:chOff x="3990637" y="3121710"/>
            <a:chExt cx="1984361" cy="1188348"/>
          </a:xfrm>
        </p:grpSpPr>
        <p:grpSp>
          <p:nvGrpSpPr>
            <p:cNvPr id="18450" name="Group 18449">
              <a:extLst>
                <a:ext uri="{FF2B5EF4-FFF2-40B4-BE49-F238E27FC236}">
                  <a16:creationId xmlns:a16="http://schemas.microsoft.com/office/drawing/2014/main" id="{F51CD0D1-DF01-2206-8253-C66A5EB08529}"/>
                </a:ext>
              </a:extLst>
            </p:cNvPr>
            <p:cNvGrpSpPr/>
            <p:nvPr/>
          </p:nvGrpSpPr>
          <p:grpSpPr>
            <a:xfrm>
              <a:off x="4422611" y="3121710"/>
              <a:ext cx="1552387" cy="1125463"/>
              <a:chOff x="4422611" y="3121710"/>
              <a:chExt cx="1552387" cy="1125463"/>
            </a:xfrm>
          </p:grpSpPr>
          <p:grpSp>
            <p:nvGrpSpPr>
              <p:cNvPr id="31" name="Group 30">
                <a:extLst>
                  <a:ext uri="{FF2B5EF4-FFF2-40B4-BE49-F238E27FC236}">
                    <a16:creationId xmlns:a16="http://schemas.microsoft.com/office/drawing/2014/main" id="{D2AD2D63-4B6E-56D4-ABB7-33D230B1004E}"/>
                  </a:ext>
                </a:extLst>
              </p:cNvPr>
              <p:cNvGrpSpPr/>
              <p:nvPr/>
            </p:nvGrpSpPr>
            <p:grpSpPr>
              <a:xfrm>
                <a:off x="4422937" y="3121710"/>
                <a:ext cx="1552061" cy="1125463"/>
                <a:chOff x="1113752" y="3658733"/>
                <a:chExt cx="1552061" cy="1125463"/>
              </a:xfrm>
            </p:grpSpPr>
            <p:cxnSp>
              <p:nvCxnSpPr>
                <p:cNvPr id="34" name="Curved Connector 33">
                  <a:extLst>
                    <a:ext uri="{FF2B5EF4-FFF2-40B4-BE49-F238E27FC236}">
                      <a16:creationId xmlns:a16="http://schemas.microsoft.com/office/drawing/2014/main" id="{C55513C0-CA32-BE03-F25D-FB71347AE433}"/>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40" name="Picture 4" descr="Software-bug Icons - Free SVG &amp; PNG Software-bug Images - Noun Project">
                <a:extLst>
                  <a:ext uri="{FF2B5EF4-FFF2-40B4-BE49-F238E27FC236}">
                    <a16:creationId xmlns:a16="http://schemas.microsoft.com/office/drawing/2014/main" id="{87B31DEE-30B7-3DDF-FF26-CE7EC9316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8439" name="TextBox 18438">
              <a:extLst>
                <a:ext uri="{FF2B5EF4-FFF2-40B4-BE49-F238E27FC236}">
                  <a16:creationId xmlns:a16="http://schemas.microsoft.com/office/drawing/2014/main" id="{04AE0B45-5247-A4E3-B445-9053CD60B27F}"/>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18448" name="Group 18447">
            <a:extLst>
              <a:ext uri="{FF2B5EF4-FFF2-40B4-BE49-F238E27FC236}">
                <a16:creationId xmlns:a16="http://schemas.microsoft.com/office/drawing/2014/main" id="{0C75C9B7-DAF6-21FE-192E-175A150C127C}"/>
              </a:ext>
            </a:extLst>
          </p:cNvPr>
          <p:cNvGrpSpPr/>
          <p:nvPr/>
        </p:nvGrpSpPr>
        <p:grpSpPr>
          <a:xfrm>
            <a:off x="700019" y="1900189"/>
            <a:ext cx="4002814" cy="622112"/>
            <a:chOff x="3243263" y="2627015"/>
            <a:chExt cx="4002814" cy="622112"/>
          </a:xfrm>
        </p:grpSpPr>
        <p:grpSp>
          <p:nvGrpSpPr>
            <p:cNvPr id="49" name="Group 48">
              <a:extLst>
                <a:ext uri="{FF2B5EF4-FFF2-40B4-BE49-F238E27FC236}">
                  <a16:creationId xmlns:a16="http://schemas.microsoft.com/office/drawing/2014/main" id="{4308C32B-77E5-B84A-9A34-CF7EC9246FE6}"/>
                </a:ext>
              </a:extLst>
            </p:cNvPr>
            <p:cNvGrpSpPr/>
            <p:nvPr/>
          </p:nvGrpSpPr>
          <p:grpSpPr>
            <a:xfrm>
              <a:off x="3243263" y="2627015"/>
              <a:ext cx="4002814" cy="622112"/>
              <a:chOff x="-65922" y="3986998"/>
              <a:chExt cx="4002814" cy="622112"/>
            </a:xfrm>
          </p:grpSpPr>
          <p:cxnSp>
            <p:nvCxnSpPr>
              <p:cNvPr id="51" name="Straight Connector 50">
                <a:extLst>
                  <a:ext uri="{FF2B5EF4-FFF2-40B4-BE49-F238E27FC236}">
                    <a16:creationId xmlns:a16="http://schemas.microsoft.com/office/drawing/2014/main" id="{DD2DD35D-96A9-558A-3639-1825355DB51A}"/>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Oval 52">
                <a:extLst>
                  <a:ext uri="{FF2B5EF4-FFF2-40B4-BE49-F238E27FC236}">
                    <a16:creationId xmlns:a16="http://schemas.microsoft.com/office/drawing/2014/main" id="{E497271E-EB1F-EB08-85C1-1B1CADA1CD26}"/>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6" name="TextBox 55">
                <a:extLst>
                  <a:ext uri="{FF2B5EF4-FFF2-40B4-BE49-F238E27FC236}">
                    <a16:creationId xmlns:a16="http://schemas.microsoft.com/office/drawing/2014/main" id="{A32533C7-6CE3-960D-08B4-4EA7701C8CB6}"/>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18441" name="Oval 18440">
              <a:extLst>
                <a:ext uri="{FF2B5EF4-FFF2-40B4-BE49-F238E27FC236}">
                  <a16:creationId xmlns:a16="http://schemas.microsoft.com/office/drawing/2014/main" id="{C6396DAB-250F-9BCA-8D82-827AE95BE793}"/>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53" name="Group 18452">
            <a:extLst>
              <a:ext uri="{FF2B5EF4-FFF2-40B4-BE49-F238E27FC236}">
                <a16:creationId xmlns:a16="http://schemas.microsoft.com/office/drawing/2014/main" id="{0D79E253-69B6-631F-9104-6612B07914C0}"/>
              </a:ext>
            </a:extLst>
          </p:cNvPr>
          <p:cNvGrpSpPr/>
          <p:nvPr/>
        </p:nvGrpSpPr>
        <p:grpSpPr>
          <a:xfrm>
            <a:off x="3164686" y="2291774"/>
            <a:ext cx="521822" cy="962016"/>
            <a:chOff x="5707930" y="3018600"/>
            <a:chExt cx="521822" cy="962016"/>
          </a:xfrm>
        </p:grpSpPr>
        <p:sp>
          <p:nvSpPr>
            <p:cNvPr id="58" name="Oval 57">
              <a:extLst>
                <a:ext uri="{FF2B5EF4-FFF2-40B4-BE49-F238E27FC236}">
                  <a16:creationId xmlns:a16="http://schemas.microsoft.com/office/drawing/2014/main" id="{E00CD0B0-8DEC-4650-6E73-F6DED0663EA1}"/>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9" name="Straight Arrow Connector 58">
              <a:extLst>
                <a:ext uri="{FF2B5EF4-FFF2-40B4-BE49-F238E27FC236}">
                  <a16:creationId xmlns:a16="http://schemas.microsoft.com/office/drawing/2014/main" id="{D5823F8C-A0D5-66EE-2722-066D300044FA}"/>
                </a:ext>
              </a:extLst>
            </p:cNvPr>
            <p:cNvCxnSpPr>
              <a:cxnSpLocks/>
              <a:stCxn id="35" idx="0"/>
              <a:endCxn id="58"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2" name="Picture 16" descr="Bug Fix Icons - Download Free Vector Icons | Noun Project">
              <a:extLst>
                <a:ext uri="{FF2B5EF4-FFF2-40B4-BE49-F238E27FC236}">
                  <a16:creationId xmlns:a16="http://schemas.microsoft.com/office/drawing/2014/main" id="{2D491461-9D3A-747D-1150-651F8004F0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52" name="Group 18451">
            <a:extLst>
              <a:ext uri="{FF2B5EF4-FFF2-40B4-BE49-F238E27FC236}">
                <a16:creationId xmlns:a16="http://schemas.microsoft.com/office/drawing/2014/main" id="{AD585853-8395-4FE2-32E9-8FD37AC1B3DD}"/>
              </a:ext>
            </a:extLst>
          </p:cNvPr>
          <p:cNvGrpSpPr/>
          <p:nvPr/>
        </p:nvGrpSpPr>
        <p:grpSpPr>
          <a:xfrm>
            <a:off x="3894920" y="1616709"/>
            <a:ext cx="521566" cy="911611"/>
            <a:chOff x="6438164" y="2343535"/>
            <a:chExt cx="521566" cy="911611"/>
          </a:xfrm>
        </p:grpSpPr>
        <p:cxnSp>
          <p:nvCxnSpPr>
            <p:cNvPr id="60" name="Straight Arrow Connector 59">
              <a:extLst>
                <a:ext uri="{FF2B5EF4-FFF2-40B4-BE49-F238E27FC236}">
                  <a16:creationId xmlns:a16="http://schemas.microsoft.com/office/drawing/2014/main" id="{B56B6AAF-A524-E39D-BDA5-537FA13E739E}"/>
                </a:ext>
              </a:extLst>
            </p:cNvPr>
            <p:cNvCxnSpPr>
              <a:cxnSpLocks/>
              <a:stCxn id="41" idx="4"/>
              <a:endCxn id="61"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32" name="Picture 20" descr="Content management, features, order management, software application,  survey icon - Download on Iconfinder">
              <a:extLst>
                <a:ext uri="{FF2B5EF4-FFF2-40B4-BE49-F238E27FC236}">
                  <a16:creationId xmlns:a16="http://schemas.microsoft.com/office/drawing/2014/main" id="{35CD2F63-0F4F-14CB-0F1E-0F544272C4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9" name="Group 18448">
            <a:extLst>
              <a:ext uri="{FF2B5EF4-FFF2-40B4-BE49-F238E27FC236}">
                <a16:creationId xmlns:a16="http://schemas.microsoft.com/office/drawing/2014/main" id="{57C46073-2459-CABA-389E-BB61CAA6EEFB}"/>
              </a:ext>
            </a:extLst>
          </p:cNvPr>
          <p:cNvGrpSpPr/>
          <p:nvPr/>
        </p:nvGrpSpPr>
        <p:grpSpPr>
          <a:xfrm>
            <a:off x="2227487" y="1099820"/>
            <a:ext cx="1916816" cy="1427236"/>
            <a:chOff x="4770731" y="1826646"/>
            <a:chExt cx="1916816" cy="1427236"/>
          </a:xfrm>
        </p:grpSpPr>
        <p:grpSp>
          <p:nvGrpSpPr>
            <p:cNvPr id="38" name="Group 37">
              <a:extLst>
                <a:ext uri="{FF2B5EF4-FFF2-40B4-BE49-F238E27FC236}">
                  <a16:creationId xmlns:a16="http://schemas.microsoft.com/office/drawing/2014/main" id="{4AB77E1D-5F4D-6C84-92AE-6F5746DFD589}"/>
                </a:ext>
              </a:extLst>
            </p:cNvPr>
            <p:cNvGrpSpPr/>
            <p:nvPr/>
          </p:nvGrpSpPr>
          <p:grpSpPr>
            <a:xfrm>
              <a:off x="4770731" y="1826646"/>
              <a:ext cx="1916816" cy="1289507"/>
              <a:chOff x="1461546" y="2363669"/>
              <a:chExt cx="1916816" cy="1289507"/>
            </a:xfrm>
          </p:grpSpPr>
          <p:cxnSp>
            <p:nvCxnSpPr>
              <p:cNvPr id="40" name="Curved Connector 39">
                <a:extLst>
                  <a:ext uri="{FF2B5EF4-FFF2-40B4-BE49-F238E27FC236}">
                    <a16:creationId xmlns:a16="http://schemas.microsoft.com/office/drawing/2014/main" id="{3EEDC861-5E99-31DB-A7EB-A041EDED011B}"/>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TextBox 42">
                <a:extLst>
                  <a:ext uri="{FF2B5EF4-FFF2-40B4-BE49-F238E27FC236}">
                    <a16:creationId xmlns:a16="http://schemas.microsoft.com/office/drawing/2014/main" id="{7E954EEE-9369-EFE8-75D4-8CDCCDE6395D}"/>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2" name="Oval 18441">
              <a:extLst>
                <a:ext uri="{FF2B5EF4-FFF2-40B4-BE49-F238E27FC236}">
                  <a16:creationId xmlns:a16="http://schemas.microsoft.com/office/drawing/2014/main" id="{AEC9E779-216D-37F3-0A52-5F453490FF41}"/>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6" name="TextBox 15">
            <a:extLst>
              <a:ext uri="{FF2B5EF4-FFF2-40B4-BE49-F238E27FC236}">
                <a16:creationId xmlns:a16="http://schemas.microsoft.com/office/drawing/2014/main" id="{4C6FE829-EE7E-E615-04A4-9708E3028508}"/>
              </a:ext>
            </a:extLst>
          </p:cNvPr>
          <p:cNvSpPr txBox="1"/>
          <p:nvPr/>
        </p:nvSpPr>
        <p:spPr>
          <a:xfrm>
            <a:off x="7301726" y="2692172"/>
            <a:ext cx="3437190" cy="1077218"/>
          </a:xfrm>
          <a:prstGeom prst="rect">
            <a:avLst/>
          </a:prstGeom>
          <a:noFill/>
          <a:ln w="38100">
            <a:solidFill>
              <a:srgbClr val="C00000"/>
            </a:solidFill>
          </a:ln>
        </p:spPr>
        <p:txBody>
          <a:bodyPr wrap="square" rtlCol="0">
            <a:spAutoFit/>
          </a:bodyPr>
          <a:lstStyle/>
          <a:p>
            <a:r>
              <a:rPr lang="en-BE" sz="2400" dirty="0"/>
              <a:t>Merge Algorithm</a:t>
            </a:r>
            <a:r>
              <a:rPr lang="en-BE" sz="2800" dirty="0"/>
              <a:t>s</a:t>
            </a:r>
          </a:p>
          <a:p>
            <a:pPr marL="285750" indent="-285750">
              <a:buFont typeface="Arial" panose="020B0604020202020204" pitchFamily="34" charset="0"/>
              <a:buChar char="•"/>
            </a:pPr>
            <a:r>
              <a:rPr lang="en-GB" dirty="0"/>
              <a:t>F</a:t>
            </a:r>
            <a:r>
              <a:rPr lang="en-BE" dirty="0"/>
              <a:t>ast-forward – not diverged</a:t>
            </a:r>
          </a:p>
          <a:p>
            <a:pPr marL="285750" indent="-285750">
              <a:buFont typeface="Arial" panose="020B0604020202020204" pitchFamily="34" charset="0"/>
              <a:buChar char="•"/>
            </a:pPr>
            <a:r>
              <a:rPr lang="en-GB" dirty="0"/>
              <a:t>T</a:t>
            </a:r>
            <a:r>
              <a:rPr lang="en-BE" dirty="0"/>
              <a:t>hree-way merge - diverged</a:t>
            </a:r>
          </a:p>
        </p:txBody>
      </p:sp>
      <p:grpSp>
        <p:nvGrpSpPr>
          <p:cNvPr id="54" name="Group 53">
            <a:extLst>
              <a:ext uri="{FF2B5EF4-FFF2-40B4-BE49-F238E27FC236}">
                <a16:creationId xmlns:a16="http://schemas.microsoft.com/office/drawing/2014/main" id="{28F316C4-B7FF-2B81-63CF-586ADD2D4639}"/>
              </a:ext>
            </a:extLst>
          </p:cNvPr>
          <p:cNvGrpSpPr/>
          <p:nvPr/>
        </p:nvGrpSpPr>
        <p:grpSpPr>
          <a:xfrm>
            <a:off x="9317920" y="496657"/>
            <a:ext cx="981813" cy="762178"/>
            <a:chOff x="8614540" y="2302009"/>
            <a:chExt cx="981813" cy="762178"/>
          </a:xfrm>
        </p:grpSpPr>
        <p:grpSp>
          <p:nvGrpSpPr>
            <p:cNvPr id="50" name="Group 49">
              <a:extLst>
                <a:ext uri="{FF2B5EF4-FFF2-40B4-BE49-F238E27FC236}">
                  <a16:creationId xmlns:a16="http://schemas.microsoft.com/office/drawing/2014/main" id="{91BB2A51-B341-E35F-3D02-97DAC072E663}"/>
                </a:ext>
              </a:extLst>
            </p:cNvPr>
            <p:cNvGrpSpPr/>
            <p:nvPr/>
          </p:nvGrpSpPr>
          <p:grpSpPr>
            <a:xfrm>
              <a:off x="8614540" y="2302009"/>
              <a:ext cx="260710" cy="762178"/>
              <a:chOff x="8614540" y="2302009"/>
              <a:chExt cx="260710" cy="762178"/>
            </a:xfrm>
          </p:grpSpPr>
          <p:sp>
            <p:nvSpPr>
              <p:cNvPr id="8" name="Oval 7">
                <a:extLst>
                  <a:ext uri="{FF2B5EF4-FFF2-40B4-BE49-F238E27FC236}">
                    <a16:creationId xmlns:a16="http://schemas.microsoft.com/office/drawing/2014/main" id="{B22C4C64-6AC5-C282-7C94-28359E603B6D}"/>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7C3D0A1D-5F06-521E-FB52-8A12ED7C712B}"/>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3" name="Straight Arrow Connector 12">
                <a:extLst>
                  <a:ext uri="{FF2B5EF4-FFF2-40B4-BE49-F238E27FC236}">
                    <a16:creationId xmlns:a16="http://schemas.microsoft.com/office/drawing/2014/main" id="{A8F340AD-A0B2-A9C0-2B5E-81B0DFD1EBE3}"/>
                  </a:ext>
                </a:extLst>
              </p:cNvPr>
              <p:cNvCxnSpPr>
                <a:stCxn id="8" idx="4"/>
                <a:endCxn id="9" idx="0"/>
              </p:cNvCxnSpPr>
              <p:nvPr/>
            </p:nvCxnSpPr>
            <p:spPr>
              <a:xfrm>
                <a:off x="8744895" y="2556843"/>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2" name="TextBox 31">
              <a:extLst>
                <a:ext uri="{FF2B5EF4-FFF2-40B4-BE49-F238E27FC236}">
                  <a16:creationId xmlns:a16="http://schemas.microsoft.com/office/drawing/2014/main" id="{6DF4ECDF-DBB5-15FA-1DAB-A3DCC6DFA6D4}"/>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52" name="Group 51">
            <a:extLst>
              <a:ext uri="{FF2B5EF4-FFF2-40B4-BE49-F238E27FC236}">
                <a16:creationId xmlns:a16="http://schemas.microsoft.com/office/drawing/2014/main" id="{546A203A-C0AB-55CC-ACB0-B9D48C8AACF4}"/>
              </a:ext>
            </a:extLst>
          </p:cNvPr>
          <p:cNvGrpSpPr/>
          <p:nvPr/>
        </p:nvGrpSpPr>
        <p:grpSpPr>
          <a:xfrm>
            <a:off x="7666889" y="1132500"/>
            <a:ext cx="1645921" cy="1327771"/>
            <a:chOff x="6963509" y="2937852"/>
            <a:chExt cx="1645921" cy="1327771"/>
          </a:xfrm>
        </p:grpSpPr>
        <p:sp>
          <p:nvSpPr>
            <p:cNvPr id="15" name="Oval 14">
              <a:extLst>
                <a:ext uri="{FF2B5EF4-FFF2-40B4-BE49-F238E27FC236}">
                  <a16:creationId xmlns:a16="http://schemas.microsoft.com/office/drawing/2014/main" id="{F2038D1E-C4E2-77E8-E26B-B0FCAF52923E}"/>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12DE289E-E563-DE76-1090-CF5FA4EE586A}"/>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Oval 18">
              <a:extLst>
                <a:ext uri="{FF2B5EF4-FFF2-40B4-BE49-F238E27FC236}">
                  <a16:creationId xmlns:a16="http://schemas.microsoft.com/office/drawing/2014/main" id="{91E931FA-D160-CDB2-DEF3-6CFC725AE10F}"/>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1" name="Straight Arrow Connector 20">
              <a:extLst>
                <a:ext uri="{FF2B5EF4-FFF2-40B4-BE49-F238E27FC236}">
                  <a16:creationId xmlns:a16="http://schemas.microsoft.com/office/drawing/2014/main" id="{C47BF0B5-5711-3C9F-9A28-7417E243642D}"/>
                </a:ext>
              </a:extLst>
            </p:cNvPr>
            <p:cNvCxnSpPr/>
            <p:nvPr/>
          </p:nvCxnSpPr>
          <p:spPr>
            <a:xfrm>
              <a:off x="8142428" y="324634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9572683-D6C5-EB48-9DFD-3E64DD495614}"/>
                </a:ext>
              </a:extLst>
            </p:cNvPr>
            <p:cNvCxnSpPr/>
            <p:nvPr/>
          </p:nvCxnSpPr>
          <p:spPr>
            <a:xfrm>
              <a:off x="8154151" y="375193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55E07C9-EDDB-C138-8E51-EA7706B64882}"/>
                </a:ext>
              </a:extLst>
            </p:cNvPr>
            <p:cNvCxnSpPr>
              <a:cxnSpLocks/>
            </p:cNvCxnSpPr>
            <p:nvPr/>
          </p:nvCxnSpPr>
          <p:spPr>
            <a:xfrm flipH="1">
              <a:off x="8284506" y="2937852"/>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B0DDD373-8AA3-7C5D-5879-24F98A3BC65C}"/>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grpSp>
        <p:nvGrpSpPr>
          <p:cNvPr id="6" name="Group 5">
            <a:extLst>
              <a:ext uri="{FF2B5EF4-FFF2-40B4-BE49-F238E27FC236}">
                <a16:creationId xmlns:a16="http://schemas.microsoft.com/office/drawing/2014/main" id="{D2A24A1C-EB8A-D4C9-D89D-7A24BE1A9789}"/>
              </a:ext>
            </a:extLst>
          </p:cNvPr>
          <p:cNvGrpSpPr/>
          <p:nvPr/>
        </p:nvGrpSpPr>
        <p:grpSpPr>
          <a:xfrm>
            <a:off x="5732860" y="4339537"/>
            <a:ext cx="6268216" cy="2333821"/>
            <a:chOff x="5732860" y="4339537"/>
            <a:chExt cx="6268216" cy="2333821"/>
          </a:xfrm>
        </p:grpSpPr>
        <p:pic>
          <p:nvPicPr>
            <p:cNvPr id="55" name="Picture 54" descr="Text&#10;&#10;Description automatically generated">
              <a:extLst>
                <a:ext uri="{FF2B5EF4-FFF2-40B4-BE49-F238E27FC236}">
                  <a16:creationId xmlns:a16="http://schemas.microsoft.com/office/drawing/2014/main" id="{5FDF90E7-667B-157C-15DE-6F8CF73B4153}"/>
                </a:ext>
              </a:extLst>
            </p:cNvPr>
            <p:cNvPicPr>
              <a:picLocks noChangeAspect="1"/>
            </p:cNvPicPr>
            <p:nvPr/>
          </p:nvPicPr>
          <p:blipFill>
            <a:blip r:embed="rId6"/>
            <a:stretch>
              <a:fillRect/>
            </a:stretch>
          </p:blipFill>
          <p:spPr>
            <a:xfrm>
              <a:off x="5732860" y="4690906"/>
              <a:ext cx="6268216" cy="1982452"/>
            </a:xfrm>
            <a:prstGeom prst="rect">
              <a:avLst/>
            </a:prstGeom>
          </p:spPr>
        </p:pic>
        <p:sp>
          <p:nvSpPr>
            <p:cNvPr id="5" name="TextBox 4">
              <a:extLst>
                <a:ext uri="{FF2B5EF4-FFF2-40B4-BE49-F238E27FC236}">
                  <a16:creationId xmlns:a16="http://schemas.microsoft.com/office/drawing/2014/main" id="{5A9554AA-A751-A13A-0392-1DB36E8E8BD4}"/>
                </a:ext>
              </a:extLst>
            </p:cNvPr>
            <p:cNvSpPr txBox="1"/>
            <p:nvPr/>
          </p:nvSpPr>
          <p:spPr>
            <a:xfrm>
              <a:off x="7301726" y="4339537"/>
              <a:ext cx="2011084" cy="461665"/>
            </a:xfrm>
            <a:prstGeom prst="rect">
              <a:avLst/>
            </a:prstGeom>
            <a:noFill/>
          </p:spPr>
          <p:txBody>
            <a:bodyPr wrap="square" rtlCol="0">
              <a:spAutoFit/>
            </a:bodyPr>
            <a:lstStyle/>
            <a:p>
              <a:r>
                <a:rPr lang="en-BE" sz="2400" dirty="0"/>
                <a:t>Fast-forward</a:t>
              </a:r>
            </a:p>
          </p:txBody>
        </p:sp>
      </p:grpSp>
      <p:grpSp>
        <p:nvGrpSpPr>
          <p:cNvPr id="11" name="Group 10">
            <a:extLst>
              <a:ext uri="{FF2B5EF4-FFF2-40B4-BE49-F238E27FC236}">
                <a16:creationId xmlns:a16="http://schemas.microsoft.com/office/drawing/2014/main" id="{BB3A9180-140B-7DB1-0F69-CE0B72E6E02B}"/>
              </a:ext>
            </a:extLst>
          </p:cNvPr>
          <p:cNvGrpSpPr/>
          <p:nvPr/>
        </p:nvGrpSpPr>
        <p:grpSpPr>
          <a:xfrm>
            <a:off x="4530597" y="1843675"/>
            <a:ext cx="2298976" cy="518513"/>
            <a:chOff x="4530597" y="1843675"/>
            <a:chExt cx="2298976" cy="518513"/>
          </a:xfrm>
        </p:grpSpPr>
        <p:cxnSp>
          <p:nvCxnSpPr>
            <p:cNvPr id="12" name="Straight Arrow Connector 11">
              <a:extLst>
                <a:ext uri="{FF2B5EF4-FFF2-40B4-BE49-F238E27FC236}">
                  <a16:creationId xmlns:a16="http://schemas.microsoft.com/office/drawing/2014/main" id="{907595F4-353F-B52D-5E19-B5A859D522A7}"/>
                </a:ext>
              </a:extLst>
            </p:cNvPr>
            <p:cNvCxnSpPr>
              <a:cxnSpLocks/>
            </p:cNvCxnSpPr>
            <p:nvPr/>
          </p:nvCxnSpPr>
          <p:spPr>
            <a:xfrm flipH="1" flipV="1">
              <a:off x="4919231" y="1843675"/>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674D737-B5A6-6711-8AF6-422B403AFCB7}"/>
                </a:ext>
              </a:extLst>
            </p:cNvPr>
            <p:cNvSpPr txBox="1"/>
            <p:nvPr/>
          </p:nvSpPr>
          <p:spPr>
            <a:xfrm>
              <a:off x="4530597" y="1992856"/>
              <a:ext cx="2298976" cy="369332"/>
            </a:xfrm>
            <a:prstGeom prst="rect">
              <a:avLst/>
            </a:prstGeom>
            <a:noFill/>
          </p:spPr>
          <p:txBody>
            <a:bodyPr wrap="square" rtlCol="0">
              <a:spAutoFit/>
            </a:bodyPr>
            <a:lstStyle/>
            <a:p>
              <a:r>
                <a:rPr lang="en-US" dirty="0"/>
                <a:t>Integrating the feature</a:t>
              </a:r>
            </a:p>
          </p:txBody>
        </p:sp>
      </p:grpSp>
      <p:grpSp>
        <p:nvGrpSpPr>
          <p:cNvPr id="18443" name="Group 18442">
            <a:extLst>
              <a:ext uri="{FF2B5EF4-FFF2-40B4-BE49-F238E27FC236}">
                <a16:creationId xmlns:a16="http://schemas.microsoft.com/office/drawing/2014/main" id="{66FB1FA8-A1F8-99BA-1C6F-1D051C261963}"/>
              </a:ext>
            </a:extLst>
          </p:cNvPr>
          <p:cNvGrpSpPr/>
          <p:nvPr/>
        </p:nvGrpSpPr>
        <p:grpSpPr>
          <a:xfrm>
            <a:off x="7141929" y="1031340"/>
            <a:ext cx="3830871" cy="1470261"/>
            <a:chOff x="7141929" y="1031340"/>
            <a:chExt cx="3830871" cy="1470261"/>
          </a:xfrm>
        </p:grpSpPr>
        <p:sp>
          <p:nvSpPr>
            <p:cNvPr id="14" name="TextBox 13">
              <a:extLst>
                <a:ext uri="{FF2B5EF4-FFF2-40B4-BE49-F238E27FC236}">
                  <a16:creationId xmlns:a16="http://schemas.microsoft.com/office/drawing/2014/main" id="{C9F39999-D555-32CD-A7B6-552550BB0064}"/>
                </a:ext>
              </a:extLst>
            </p:cNvPr>
            <p:cNvSpPr txBox="1"/>
            <p:nvPr/>
          </p:nvSpPr>
          <p:spPr>
            <a:xfrm>
              <a:off x="7141929" y="2224602"/>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20" name="Straight Arrow Connector 19">
              <a:extLst>
                <a:ext uri="{FF2B5EF4-FFF2-40B4-BE49-F238E27FC236}">
                  <a16:creationId xmlns:a16="http://schemas.microsoft.com/office/drawing/2014/main" id="{22FC5612-7415-098E-19BF-A039DF56C721}"/>
                </a:ext>
              </a:extLst>
            </p:cNvPr>
            <p:cNvCxnSpPr>
              <a:stCxn id="14" idx="3"/>
              <a:endCxn id="19"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AF97CF5-1600-DC32-8DCA-485A6C1A6757}"/>
                </a:ext>
              </a:extLst>
            </p:cNvPr>
            <p:cNvSpPr txBox="1"/>
            <p:nvPr/>
          </p:nvSpPr>
          <p:spPr>
            <a:xfrm>
              <a:off x="10011678" y="1031340"/>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26" name="Straight Arrow Connector 25">
              <a:extLst>
                <a:ext uri="{FF2B5EF4-FFF2-40B4-BE49-F238E27FC236}">
                  <a16:creationId xmlns:a16="http://schemas.microsoft.com/office/drawing/2014/main" id="{EDBD1297-5F19-1A0F-6931-1A73018DB9B9}"/>
                </a:ext>
              </a:extLst>
            </p:cNvPr>
            <p:cNvCxnSpPr>
              <a:stCxn id="22" idx="1"/>
              <a:endCxn id="9" idx="6"/>
            </p:cNvCxnSpPr>
            <p:nvPr/>
          </p:nvCxnSpPr>
          <p:spPr>
            <a:xfrm flipH="1" flipV="1">
              <a:off x="9578630" y="1131418"/>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470" name="Group 18469">
            <a:extLst>
              <a:ext uri="{FF2B5EF4-FFF2-40B4-BE49-F238E27FC236}">
                <a16:creationId xmlns:a16="http://schemas.microsoft.com/office/drawing/2014/main" id="{D2D5C3FC-1951-DFB3-34DC-B25940997C17}"/>
              </a:ext>
            </a:extLst>
          </p:cNvPr>
          <p:cNvGrpSpPr/>
          <p:nvPr/>
        </p:nvGrpSpPr>
        <p:grpSpPr>
          <a:xfrm>
            <a:off x="1206745" y="4247156"/>
            <a:ext cx="3299091" cy="2507066"/>
            <a:chOff x="1206745" y="4247156"/>
            <a:chExt cx="3299091" cy="2507066"/>
          </a:xfrm>
        </p:grpSpPr>
        <p:cxnSp>
          <p:nvCxnSpPr>
            <p:cNvPr id="18436" name="Straight Arrow Connector 18435">
              <a:extLst>
                <a:ext uri="{FF2B5EF4-FFF2-40B4-BE49-F238E27FC236}">
                  <a16:creationId xmlns:a16="http://schemas.microsoft.com/office/drawing/2014/main" id="{DE7CF254-3412-8DD7-E520-CD900070BE66}"/>
                </a:ext>
              </a:extLst>
            </p:cNvPr>
            <p:cNvCxnSpPr>
              <a:stCxn id="18435" idx="3"/>
            </p:cNvCxnSpPr>
            <p:nvPr/>
          </p:nvCxnSpPr>
          <p:spPr>
            <a:xfrm flipV="1">
              <a:off x="2535717" y="6099043"/>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8444" name="Group 18443">
              <a:extLst>
                <a:ext uri="{FF2B5EF4-FFF2-40B4-BE49-F238E27FC236}">
                  <a16:creationId xmlns:a16="http://schemas.microsoft.com/office/drawing/2014/main" id="{DE236D91-9AD0-B94D-A458-F8A74BFA4D8B}"/>
                </a:ext>
              </a:extLst>
            </p:cNvPr>
            <p:cNvGrpSpPr/>
            <p:nvPr/>
          </p:nvGrpSpPr>
          <p:grpSpPr>
            <a:xfrm>
              <a:off x="1206745" y="4247156"/>
              <a:ext cx="3299091" cy="2507066"/>
              <a:chOff x="1206745" y="4247156"/>
              <a:chExt cx="3299091" cy="2507066"/>
            </a:xfrm>
          </p:grpSpPr>
          <p:grpSp>
            <p:nvGrpSpPr>
              <p:cNvPr id="27" name="Group 26">
                <a:extLst>
                  <a:ext uri="{FF2B5EF4-FFF2-40B4-BE49-F238E27FC236}">
                    <a16:creationId xmlns:a16="http://schemas.microsoft.com/office/drawing/2014/main" id="{22C50E1E-522C-1D2D-49B2-9DE436311AFC}"/>
                  </a:ext>
                </a:extLst>
              </p:cNvPr>
              <p:cNvGrpSpPr/>
              <p:nvPr/>
            </p:nvGrpSpPr>
            <p:grpSpPr>
              <a:xfrm>
                <a:off x="3400406" y="4247156"/>
                <a:ext cx="981813" cy="762178"/>
                <a:chOff x="8614540" y="2302009"/>
                <a:chExt cx="981813" cy="762178"/>
              </a:xfrm>
            </p:grpSpPr>
            <p:grpSp>
              <p:nvGrpSpPr>
                <p:cNvPr id="28" name="Group 27">
                  <a:extLst>
                    <a:ext uri="{FF2B5EF4-FFF2-40B4-BE49-F238E27FC236}">
                      <a16:creationId xmlns:a16="http://schemas.microsoft.com/office/drawing/2014/main" id="{12531A9A-073E-551E-345B-38012F12248B}"/>
                    </a:ext>
                  </a:extLst>
                </p:cNvPr>
                <p:cNvGrpSpPr/>
                <p:nvPr/>
              </p:nvGrpSpPr>
              <p:grpSpPr>
                <a:xfrm>
                  <a:off x="8614540" y="2302009"/>
                  <a:ext cx="260710" cy="762178"/>
                  <a:chOff x="8614540" y="2302009"/>
                  <a:chExt cx="260710" cy="762178"/>
                </a:xfrm>
              </p:grpSpPr>
              <p:sp>
                <p:nvSpPr>
                  <p:cNvPr id="30" name="Oval 29">
                    <a:extLst>
                      <a:ext uri="{FF2B5EF4-FFF2-40B4-BE49-F238E27FC236}">
                        <a16:creationId xmlns:a16="http://schemas.microsoft.com/office/drawing/2014/main" id="{E4B40BD3-5149-B9B7-08CF-8EB89E295A9F}"/>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3" name="Oval 32">
                    <a:extLst>
                      <a:ext uri="{FF2B5EF4-FFF2-40B4-BE49-F238E27FC236}">
                        <a16:creationId xmlns:a16="http://schemas.microsoft.com/office/drawing/2014/main" id="{80C82119-9981-8F2C-DEB8-4A296702E6FF}"/>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6" name="Straight Arrow Connector 35">
                    <a:extLst>
                      <a:ext uri="{FF2B5EF4-FFF2-40B4-BE49-F238E27FC236}">
                        <a16:creationId xmlns:a16="http://schemas.microsoft.com/office/drawing/2014/main" id="{5475B827-4042-6AF6-811A-46FA2C07466B}"/>
                      </a:ext>
                    </a:extLst>
                  </p:cNvPr>
                  <p:cNvCxnSpPr>
                    <a:stCxn id="30" idx="4"/>
                    <a:endCxn id="33" idx="0"/>
                  </p:cNvCxnSpPr>
                  <p:nvPr/>
                </p:nvCxnSpPr>
                <p:spPr>
                  <a:xfrm>
                    <a:off x="8744895" y="2556843"/>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9" name="TextBox 28">
                  <a:extLst>
                    <a:ext uri="{FF2B5EF4-FFF2-40B4-BE49-F238E27FC236}">
                      <a16:creationId xmlns:a16="http://schemas.microsoft.com/office/drawing/2014/main" id="{4C68D9F9-EE7C-70B7-362F-D13596161017}"/>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37" name="Group 36">
                <a:extLst>
                  <a:ext uri="{FF2B5EF4-FFF2-40B4-BE49-F238E27FC236}">
                    <a16:creationId xmlns:a16="http://schemas.microsoft.com/office/drawing/2014/main" id="{9D443167-078C-1322-7182-E4287D49DA26}"/>
                  </a:ext>
                </a:extLst>
              </p:cNvPr>
              <p:cNvGrpSpPr/>
              <p:nvPr/>
            </p:nvGrpSpPr>
            <p:grpSpPr>
              <a:xfrm>
                <a:off x="1749375" y="4882999"/>
                <a:ext cx="1645921" cy="1327771"/>
                <a:chOff x="6963509" y="2937852"/>
                <a:chExt cx="1645921" cy="1327771"/>
              </a:xfrm>
            </p:grpSpPr>
            <p:sp>
              <p:nvSpPr>
                <p:cNvPr id="39" name="Oval 38">
                  <a:extLst>
                    <a:ext uri="{FF2B5EF4-FFF2-40B4-BE49-F238E27FC236}">
                      <a16:creationId xmlns:a16="http://schemas.microsoft.com/office/drawing/2014/main" id="{E83FB4A7-5FEC-E148-A27C-14D7E97D444C}"/>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Oval 41">
                  <a:extLst>
                    <a:ext uri="{FF2B5EF4-FFF2-40B4-BE49-F238E27FC236}">
                      <a16:creationId xmlns:a16="http://schemas.microsoft.com/office/drawing/2014/main" id="{E1C35066-B6AC-25EB-6F7E-F8D076091D4D}"/>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4" name="Oval 43">
                  <a:extLst>
                    <a:ext uri="{FF2B5EF4-FFF2-40B4-BE49-F238E27FC236}">
                      <a16:creationId xmlns:a16="http://schemas.microsoft.com/office/drawing/2014/main" id="{3B3D2990-5920-39ED-54E1-021ECA4CE523}"/>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45" name="Straight Arrow Connector 44">
                  <a:extLst>
                    <a:ext uri="{FF2B5EF4-FFF2-40B4-BE49-F238E27FC236}">
                      <a16:creationId xmlns:a16="http://schemas.microsoft.com/office/drawing/2014/main" id="{E066EA4E-392F-254F-4E14-7C148A252886}"/>
                    </a:ext>
                  </a:extLst>
                </p:cNvPr>
                <p:cNvCxnSpPr/>
                <p:nvPr/>
              </p:nvCxnSpPr>
              <p:spPr>
                <a:xfrm>
                  <a:off x="8142428" y="324634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60427FF4-7447-9377-C6A4-D0314DA48C1D}"/>
                    </a:ext>
                  </a:extLst>
                </p:cNvPr>
                <p:cNvCxnSpPr/>
                <p:nvPr/>
              </p:nvCxnSpPr>
              <p:spPr>
                <a:xfrm>
                  <a:off x="8154151" y="375193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EA89006A-1609-2A7B-8F60-AC64AA05EB65}"/>
                    </a:ext>
                  </a:extLst>
                </p:cNvPr>
                <p:cNvCxnSpPr>
                  <a:cxnSpLocks/>
                </p:cNvCxnSpPr>
                <p:nvPr/>
              </p:nvCxnSpPr>
              <p:spPr>
                <a:xfrm flipH="1">
                  <a:off x="8284506" y="2937852"/>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56153F93-7E28-F7EF-519D-FE7214468EAB}"/>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sp>
            <p:nvSpPr>
              <p:cNvPr id="18434" name="TextBox 18433">
                <a:extLst>
                  <a:ext uri="{FF2B5EF4-FFF2-40B4-BE49-F238E27FC236}">
                    <a16:creationId xmlns:a16="http://schemas.microsoft.com/office/drawing/2014/main" id="{01175CCD-E036-B9F1-23C3-0911ECB89DB0}"/>
                  </a:ext>
                </a:extLst>
              </p:cNvPr>
              <p:cNvSpPr txBox="1"/>
              <p:nvPr/>
            </p:nvSpPr>
            <p:spPr>
              <a:xfrm>
                <a:off x="1531756" y="6384890"/>
                <a:ext cx="2592267" cy="369332"/>
              </a:xfrm>
              <a:prstGeom prst="rect">
                <a:avLst/>
              </a:prstGeom>
              <a:noFill/>
            </p:spPr>
            <p:txBody>
              <a:bodyPr wrap="square">
                <a:spAutoFit/>
              </a:bodyPr>
              <a:lstStyle/>
              <a:p>
                <a:r>
                  <a:rPr lang="en-GB" sz="1800" dirty="0"/>
                  <a:t>After F</a:t>
                </a:r>
                <a:r>
                  <a:rPr lang="en-BE" sz="1800" dirty="0"/>
                  <a:t>ast-forward merge </a:t>
                </a:r>
                <a:endParaRPr lang="en-US" dirty="0"/>
              </a:p>
            </p:txBody>
          </p:sp>
          <p:sp>
            <p:nvSpPr>
              <p:cNvPr id="18435" name="TextBox 18434">
                <a:extLst>
                  <a:ext uri="{FF2B5EF4-FFF2-40B4-BE49-F238E27FC236}">
                    <a16:creationId xmlns:a16="http://schemas.microsoft.com/office/drawing/2014/main" id="{9029DE6E-7FF6-5DFC-7600-04738BC74C99}"/>
                  </a:ext>
                </a:extLst>
              </p:cNvPr>
              <p:cNvSpPr txBox="1"/>
              <p:nvPr/>
            </p:nvSpPr>
            <p:spPr>
              <a:xfrm>
                <a:off x="1206745" y="5990791"/>
                <a:ext cx="1328972" cy="276999"/>
              </a:xfrm>
              <a:prstGeom prst="rect">
                <a:avLst/>
              </a:prstGeom>
              <a:noFill/>
              <a:ln w="28575">
                <a:solidFill>
                  <a:srgbClr val="C00000"/>
                </a:solidFill>
              </a:ln>
            </p:spPr>
            <p:txBody>
              <a:bodyPr wrap="square" rtlCol="0">
                <a:spAutoFit/>
              </a:bodyPr>
              <a:lstStyle/>
              <a:p>
                <a:r>
                  <a:rPr lang="en-US" sz="1200" dirty="0"/>
                  <a:t>new-feature head</a:t>
                </a:r>
              </a:p>
            </p:txBody>
          </p:sp>
          <p:sp>
            <p:nvSpPr>
              <p:cNvPr id="18437" name="TextBox 18436">
                <a:extLst>
                  <a:ext uri="{FF2B5EF4-FFF2-40B4-BE49-F238E27FC236}">
                    <a16:creationId xmlns:a16="http://schemas.microsoft.com/office/drawing/2014/main" id="{C9D8DE66-73FE-AFC6-4831-A732CFCC5B18}"/>
                  </a:ext>
                </a:extLst>
              </p:cNvPr>
              <p:cNvSpPr txBox="1"/>
              <p:nvPr/>
            </p:nvSpPr>
            <p:spPr>
              <a:xfrm>
                <a:off x="3544714" y="5990791"/>
                <a:ext cx="961122" cy="276999"/>
              </a:xfrm>
              <a:prstGeom prst="rect">
                <a:avLst/>
              </a:prstGeom>
              <a:noFill/>
              <a:ln w="28575">
                <a:solidFill>
                  <a:srgbClr val="C00000"/>
                </a:solidFill>
              </a:ln>
            </p:spPr>
            <p:txBody>
              <a:bodyPr wrap="square" rtlCol="0">
                <a:spAutoFit/>
              </a:bodyPr>
              <a:lstStyle/>
              <a:p>
                <a:r>
                  <a:rPr lang="en-US" sz="1200" dirty="0"/>
                  <a:t>master head</a:t>
                </a:r>
              </a:p>
            </p:txBody>
          </p:sp>
        </p:grpSp>
        <p:cxnSp>
          <p:nvCxnSpPr>
            <p:cNvPr id="18438" name="Straight Arrow Connector 18437">
              <a:extLst>
                <a:ext uri="{FF2B5EF4-FFF2-40B4-BE49-F238E27FC236}">
                  <a16:creationId xmlns:a16="http://schemas.microsoft.com/office/drawing/2014/main" id="{E2EA300E-A8F9-EFC9-3760-DB21816C3D3D}"/>
                </a:ext>
              </a:extLst>
            </p:cNvPr>
            <p:cNvCxnSpPr>
              <a:stCxn id="18437" idx="1"/>
            </p:cNvCxnSpPr>
            <p:nvPr/>
          </p:nvCxnSpPr>
          <p:spPr>
            <a:xfrm flipH="1" flipV="1">
              <a:off x="3111666" y="6090869"/>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474" name="Group 18473">
            <a:extLst>
              <a:ext uri="{FF2B5EF4-FFF2-40B4-BE49-F238E27FC236}">
                <a16:creationId xmlns:a16="http://schemas.microsoft.com/office/drawing/2014/main" id="{C080B34B-E7A3-DAFB-A391-5A01AAB4505A}"/>
              </a:ext>
            </a:extLst>
          </p:cNvPr>
          <p:cNvGrpSpPr/>
          <p:nvPr/>
        </p:nvGrpSpPr>
        <p:grpSpPr>
          <a:xfrm>
            <a:off x="3257443" y="5237916"/>
            <a:ext cx="2133531" cy="475714"/>
            <a:chOff x="3257443" y="5237916"/>
            <a:chExt cx="2133531" cy="475714"/>
          </a:xfrm>
        </p:grpSpPr>
        <p:sp>
          <p:nvSpPr>
            <p:cNvPr id="18471" name="TextBox 18470">
              <a:extLst>
                <a:ext uri="{FF2B5EF4-FFF2-40B4-BE49-F238E27FC236}">
                  <a16:creationId xmlns:a16="http://schemas.microsoft.com/office/drawing/2014/main" id="{0CE08F47-BD17-54B7-1DD0-340E8736956C}"/>
                </a:ext>
              </a:extLst>
            </p:cNvPr>
            <p:cNvSpPr txBox="1"/>
            <p:nvPr/>
          </p:nvSpPr>
          <p:spPr>
            <a:xfrm>
              <a:off x="3872648" y="5237916"/>
              <a:ext cx="1518326" cy="369332"/>
            </a:xfrm>
            <a:prstGeom prst="rect">
              <a:avLst/>
            </a:prstGeom>
            <a:noFill/>
            <a:ln w="28575">
              <a:solidFill>
                <a:srgbClr val="C00000"/>
              </a:solidFill>
            </a:ln>
          </p:spPr>
          <p:txBody>
            <a:bodyPr wrap="square" rtlCol="0">
              <a:spAutoFit/>
            </a:bodyPr>
            <a:lstStyle/>
            <a:p>
              <a:r>
                <a:rPr lang="en-US" dirty="0"/>
                <a:t>Linear history</a:t>
              </a:r>
            </a:p>
          </p:txBody>
        </p:sp>
        <p:cxnSp>
          <p:nvCxnSpPr>
            <p:cNvPr id="18472" name="Straight Arrow Connector 18471">
              <a:extLst>
                <a:ext uri="{FF2B5EF4-FFF2-40B4-BE49-F238E27FC236}">
                  <a16:creationId xmlns:a16="http://schemas.microsoft.com/office/drawing/2014/main" id="{9DE918BF-6ACA-1B87-E721-B1C65150214D}"/>
                </a:ext>
              </a:extLst>
            </p:cNvPr>
            <p:cNvCxnSpPr>
              <a:cxnSpLocks/>
            </p:cNvCxnSpPr>
            <p:nvPr/>
          </p:nvCxnSpPr>
          <p:spPr>
            <a:xfrm flipH="1">
              <a:off x="3257443" y="5481034"/>
              <a:ext cx="612092" cy="23259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A7388B7A-894C-B226-FF75-F0C8B69C4C30}"/>
              </a:ext>
            </a:extLst>
          </p:cNvPr>
          <p:cNvGrpSpPr/>
          <p:nvPr/>
        </p:nvGrpSpPr>
        <p:grpSpPr>
          <a:xfrm>
            <a:off x="4890275" y="2692172"/>
            <a:ext cx="1613764" cy="1642303"/>
            <a:chOff x="4890275" y="2692172"/>
            <a:chExt cx="1613764" cy="1642303"/>
          </a:xfrm>
        </p:grpSpPr>
        <p:pic>
          <p:nvPicPr>
            <p:cNvPr id="2" name="Picture 1" descr="Diagram, icon&#10;&#10;Description automatically generated">
              <a:extLst>
                <a:ext uri="{FF2B5EF4-FFF2-40B4-BE49-F238E27FC236}">
                  <a16:creationId xmlns:a16="http://schemas.microsoft.com/office/drawing/2014/main" id="{7251474C-D53C-855F-214F-CAD38FCCE62B}"/>
                </a:ext>
              </a:extLst>
            </p:cNvPr>
            <p:cNvPicPr>
              <a:picLocks noChangeAspect="1"/>
            </p:cNvPicPr>
            <p:nvPr/>
          </p:nvPicPr>
          <p:blipFill>
            <a:blip r:embed="rId7"/>
            <a:stretch>
              <a:fillRect/>
            </a:stretch>
          </p:blipFill>
          <p:spPr>
            <a:xfrm>
              <a:off x="5146596" y="3005757"/>
              <a:ext cx="1214667" cy="788913"/>
            </a:xfrm>
            <a:prstGeom prst="rect">
              <a:avLst/>
            </a:prstGeom>
          </p:spPr>
        </p:pic>
        <p:cxnSp>
          <p:nvCxnSpPr>
            <p:cNvPr id="7" name="Straight Connector 6">
              <a:extLst>
                <a:ext uri="{FF2B5EF4-FFF2-40B4-BE49-F238E27FC236}">
                  <a16:creationId xmlns:a16="http://schemas.microsoft.com/office/drawing/2014/main" id="{FADB5DB1-CB1E-2BB5-7B2C-DDA1BFB50002}"/>
                </a:ext>
              </a:extLst>
            </p:cNvPr>
            <p:cNvCxnSpPr/>
            <p:nvPr/>
          </p:nvCxnSpPr>
          <p:spPr>
            <a:xfrm flipH="1">
              <a:off x="4890275" y="2692172"/>
              <a:ext cx="1392538" cy="155498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F05B4FD-9E82-985B-3C81-A8957F2B1FC1}"/>
                </a:ext>
              </a:extLst>
            </p:cNvPr>
            <p:cNvCxnSpPr/>
            <p:nvPr/>
          </p:nvCxnSpPr>
          <p:spPr>
            <a:xfrm>
              <a:off x="5250426" y="2692172"/>
              <a:ext cx="1253613" cy="16423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96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dissolv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dissolve">
                                      <p:cBhvr>
                                        <p:cTn id="21" dur="5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8443"/>
                                        </p:tgtEl>
                                        <p:attrNameLst>
                                          <p:attrName>style.visibility</p:attrName>
                                        </p:attrNameLst>
                                      </p:cBhvr>
                                      <p:to>
                                        <p:strVal val="visible"/>
                                      </p:to>
                                    </p:set>
                                    <p:animEffect transition="in" filter="dissolve">
                                      <p:cBhvr>
                                        <p:cTn id="26" dur="500"/>
                                        <p:tgtEl>
                                          <p:spTgt spid="1844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8470"/>
                                        </p:tgtEl>
                                        <p:attrNameLst>
                                          <p:attrName>style.visibility</p:attrName>
                                        </p:attrNameLst>
                                      </p:cBhvr>
                                      <p:to>
                                        <p:strVal val="visible"/>
                                      </p:to>
                                    </p:set>
                                    <p:animEffect transition="in" filter="dissolve">
                                      <p:cBhvr>
                                        <p:cTn id="31" dur="500"/>
                                        <p:tgtEl>
                                          <p:spTgt spid="1847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8474"/>
                                        </p:tgtEl>
                                        <p:attrNameLst>
                                          <p:attrName>style.visibility</p:attrName>
                                        </p:attrNameLst>
                                      </p:cBhvr>
                                      <p:to>
                                        <p:strVal val="visible"/>
                                      </p:to>
                                    </p:set>
                                    <p:animEffect transition="in" filter="dissolve">
                                      <p:cBhvr>
                                        <p:cTn id="40" dur="500"/>
                                        <p:tgtEl>
                                          <p:spTgt spid="18474"/>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dissolv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61" name="Group 18460">
            <a:extLst>
              <a:ext uri="{FF2B5EF4-FFF2-40B4-BE49-F238E27FC236}">
                <a16:creationId xmlns:a16="http://schemas.microsoft.com/office/drawing/2014/main" id="{1F439818-25FC-D13B-3E0B-EB60B1830114}"/>
              </a:ext>
            </a:extLst>
          </p:cNvPr>
          <p:cNvGrpSpPr/>
          <p:nvPr/>
        </p:nvGrpSpPr>
        <p:grpSpPr>
          <a:xfrm>
            <a:off x="700019" y="1099820"/>
            <a:ext cx="4679701" cy="2483412"/>
            <a:chOff x="700019" y="1099820"/>
            <a:chExt cx="4679701" cy="2483412"/>
          </a:xfrm>
        </p:grpSpPr>
        <p:grpSp>
          <p:nvGrpSpPr>
            <p:cNvPr id="3" name="Group 2">
              <a:extLst>
                <a:ext uri="{FF2B5EF4-FFF2-40B4-BE49-F238E27FC236}">
                  <a16:creationId xmlns:a16="http://schemas.microsoft.com/office/drawing/2014/main" id="{5FE0EA5D-D3C3-887B-2AD8-536FB0F43426}"/>
                </a:ext>
              </a:extLst>
            </p:cNvPr>
            <p:cNvGrpSpPr/>
            <p:nvPr/>
          </p:nvGrpSpPr>
          <p:grpSpPr>
            <a:xfrm>
              <a:off x="1447393" y="2394884"/>
              <a:ext cx="1984361" cy="1188348"/>
              <a:chOff x="3990637" y="3121710"/>
              <a:chExt cx="1984361" cy="1188348"/>
            </a:xfrm>
          </p:grpSpPr>
          <p:grpSp>
            <p:nvGrpSpPr>
              <p:cNvPr id="5" name="Group 4">
                <a:extLst>
                  <a:ext uri="{FF2B5EF4-FFF2-40B4-BE49-F238E27FC236}">
                    <a16:creationId xmlns:a16="http://schemas.microsoft.com/office/drawing/2014/main" id="{E63CA077-1CE9-A3BE-714A-6E8F725A0B80}"/>
                  </a:ext>
                </a:extLst>
              </p:cNvPr>
              <p:cNvGrpSpPr/>
              <p:nvPr/>
            </p:nvGrpSpPr>
            <p:grpSpPr>
              <a:xfrm>
                <a:off x="4422611" y="3121710"/>
                <a:ext cx="1552387" cy="1125463"/>
                <a:chOff x="4422611" y="3121710"/>
                <a:chExt cx="1552387" cy="1125463"/>
              </a:xfrm>
            </p:grpSpPr>
            <p:grpSp>
              <p:nvGrpSpPr>
                <p:cNvPr id="13" name="Group 12">
                  <a:extLst>
                    <a:ext uri="{FF2B5EF4-FFF2-40B4-BE49-F238E27FC236}">
                      <a16:creationId xmlns:a16="http://schemas.microsoft.com/office/drawing/2014/main" id="{30A4E0E6-2E57-ECB0-2D01-C2691CC9155E}"/>
                    </a:ext>
                  </a:extLst>
                </p:cNvPr>
                <p:cNvGrpSpPr/>
                <p:nvPr/>
              </p:nvGrpSpPr>
              <p:grpSpPr>
                <a:xfrm>
                  <a:off x="4422937" y="3121710"/>
                  <a:ext cx="1552061" cy="1125463"/>
                  <a:chOff x="1113752" y="3658733"/>
                  <a:chExt cx="1552061" cy="1125463"/>
                </a:xfrm>
              </p:grpSpPr>
              <p:cxnSp>
                <p:nvCxnSpPr>
                  <p:cNvPr id="23" name="Curved Connector 22">
                    <a:extLst>
                      <a:ext uri="{FF2B5EF4-FFF2-40B4-BE49-F238E27FC236}">
                        <a16:creationId xmlns:a16="http://schemas.microsoft.com/office/drawing/2014/main" id="{DF8DC5A7-88A6-103E-3DD1-5C9A3F1ED4EF}"/>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D9DF29CD-3BED-F991-E5A7-5751DD5347B3}"/>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6" name="Picture 4" descr="Software-bug Icons - Free SVG &amp; PNG Software-bug Images - Noun Project">
                  <a:extLst>
                    <a:ext uri="{FF2B5EF4-FFF2-40B4-BE49-F238E27FC236}">
                      <a16:creationId xmlns:a16="http://schemas.microsoft.com/office/drawing/2014/main" id="{91AB86A8-F638-8409-13A0-0265A7208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56D57C96-FDCE-80B8-39CC-64498CA041F7}"/>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26" name="Group 25">
              <a:extLst>
                <a:ext uri="{FF2B5EF4-FFF2-40B4-BE49-F238E27FC236}">
                  <a16:creationId xmlns:a16="http://schemas.microsoft.com/office/drawing/2014/main" id="{01667EBD-A79F-8800-878C-EE3B7C2FC0A0}"/>
                </a:ext>
              </a:extLst>
            </p:cNvPr>
            <p:cNvGrpSpPr/>
            <p:nvPr/>
          </p:nvGrpSpPr>
          <p:grpSpPr>
            <a:xfrm>
              <a:off x="700019" y="1900189"/>
              <a:ext cx="4002814" cy="622112"/>
              <a:chOff x="3243263" y="2627015"/>
              <a:chExt cx="4002814" cy="622112"/>
            </a:xfrm>
          </p:grpSpPr>
          <p:grpSp>
            <p:nvGrpSpPr>
              <p:cNvPr id="42" name="Group 41">
                <a:extLst>
                  <a:ext uri="{FF2B5EF4-FFF2-40B4-BE49-F238E27FC236}">
                    <a16:creationId xmlns:a16="http://schemas.microsoft.com/office/drawing/2014/main" id="{C92DAB48-FACD-DB64-A04F-B5D7F4D0BF86}"/>
                  </a:ext>
                </a:extLst>
              </p:cNvPr>
              <p:cNvGrpSpPr/>
              <p:nvPr/>
            </p:nvGrpSpPr>
            <p:grpSpPr>
              <a:xfrm>
                <a:off x="3243263" y="2627015"/>
                <a:ext cx="4002814" cy="622112"/>
                <a:chOff x="-65922" y="3986998"/>
                <a:chExt cx="4002814" cy="622112"/>
              </a:xfrm>
            </p:grpSpPr>
            <p:cxnSp>
              <p:nvCxnSpPr>
                <p:cNvPr id="54" name="Straight Connector 53">
                  <a:extLst>
                    <a:ext uri="{FF2B5EF4-FFF2-40B4-BE49-F238E27FC236}">
                      <a16:creationId xmlns:a16="http://schemas.microsoft.com/office/drawing/2014/main" id="{B3071F01-2DE9-CA56-5791-0FB321C616B7}"/>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B471472F-9871-55BA-AE67-695884C883FE}"/>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3" name="TextBox 62">
                  <a:extLst>
                    <a:ext uri="{FF2B5EF4-FFF2-40B4-BE49-F238E27FC236}">
                      <a16:creationId xmlns:a16="http://schemas.microsoft.com/office/drawing/2014/main" id="{753602AD-3A2D-EAF0-C61D-4FA3E247AB21}"/>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48" name="Oval 47">
                <a:extLst>
                  <a:ext uri="{FF2B5EF4-FFF2-40B4-BE49-F238E27FC236}">
                    <a16:creationId xmlns:a16="http://schemas.microsoft.com/office/drawing/2014/main" id="{6427EDAE-792A-4279-AA2C-A4824CDBCEAE}"/>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grpSp>
          <p:nvGrpSpPr>
            <p:cNvPr id="18433" name="Group 18432">
              <a:extLst>
                <a:ext uri="{FF2B5EF4-FFF2-40B4-BE49-F238E27FC236}">
                  <a16:creationId xmlns:a16="http://schemas.microsoft.com/office/drawing/2014/main" id="{A1C55524-388C-A78C-7509-289C12991807}"/>
                </a:ext>
              </a:extLst>
            </p:cNvPr>
            <p:cNvGrpSpPr/>
            <p:nvPr/>
          </p:nvGrpSpPr>
          <p:grpSpPr>
            <a:xfrm>
              <a:off x="3164686" y="2291774"/>
              <a:ext cx="521822" cy="962016"/>
              <a:chOff x="5707930" y="3018600"/>
              <a:chExt cx="521822" cy="962016"/>
            </a:xfrm>
          </p:grpSpPr>
          <p:sp>
            <p:nvSpPr>
              <p:cNvPr id="18434" name="Oval 18433">
                <a:extLst>
                  <a:ext uri="{FF2B5EF4-FFF2-40B4-BE49-F238E27FC236}">
                    <a16:creationId xmlns:a16="http://schemas.microsoft.com/office/drawing/2014/main" id="{C4D9A1C7-7CA5-B5B9-5CDC-8B81E0432EFE}"/>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435" name="Straight Arrow Connector 18434">
                <a:extLst>
                  <a:ext uri="{FF2B5EF4-FFF2-40B4-BE49-F238E27FC236}">
                    <a16:creationId xmlns:a16="http://schemas.microsoft.com/office/drawing/2014/main" id="{68FD23C7-0FB7-E350-A833-AA2BD0726C40}"/>
                  </a:ext>
                </a:extLst>
              </p:cNvPr>
              <p:cNvCxnSpPr>
                <a:cxnSpLocks/>
                <a:stCxn id="24" idx="0"/>
                <a:endCxn id="18434"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436" name="Picture 16" descr="Bug Fix Icons - Download Free Vector Icons | Noun Project">
                <a:extLst>
                  <a:ext uri="{FF2B5EF4-FFF2-40B4-BE49-F238E27FC236}">
                    <a16:creationId xmlns:a16="http://schemas.microsoft.com/office/drawing/2014/main" id="{DB965121-4DA5-1CFC-6F89-DB3A796987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37" name="Group 18436">
              <a:extLst>
                <a:ext uri="{FF2B5EF4-FFF2-40B4-BE49-F238E27FC236}">
                  <a16:creationId xmlns:a16="http://schemas.microsoft.com/office/drawing/2014/main" id="{12602572-FF26-E554-3910-D85A290ED147}"/>
                </a:ext>
              </a:extLst>
            </p:cNvPr>
            <p:cNvGrpSpPr/>
            <p:nvPr/>
          </p:nvGrpSpPr>
          <p:grpSpPr>
            <a:xfrm>
              <a:off x="3894920" y="1616709"/>
              <a:ext cx="521566" cy="911611"/>
              <a:chOff x="6438164" y="2343535"/>
              <a:chExt cx="521566" cy="911611"/>
            </a:xfrm>
          </p:grpSpPr>
          <p:cxnSp>
            <p:nvCxnSpPr>
              <p:cNvPr id="18438" name="Straight Arrow Connector 18437">
                <a:extLst>
                  <a:ext uri="{FF2B5EF4-FFF2-40B4-BE49-F238E27FC236}">
                    <a16:creationId xmlns:a16="http://schemas.microsoft.com/office/drawing/2014/main" id="{24546254-985D-3937-5945-1047044FA8D0}"/>
                  </a:ext>
                </a:extLst>
              </p:cNvPr>
              <p:cNvCxnSpPr>
                <a:cxnSpLocks/>
                <a:stCxn id="18455" idx="4"/>
                <a:endCxn id="18443"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43" name="Oval 18442">
                <a:extLst>
                  <a:ext uri="{FF2B5EF4-FFF2-40B4-BE49-F238E27FC236}">
                    <a16:creationId xmlns:a16="http://schemas.microsoft.com/office/drawing/2014/main" id="{452EBF23-5831-7132-450F-8BCAD78D02A3}"/>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44" name="Picture 20" descr="Content management, features, order management, software application,  survey icon - Download on Iconfinder">
                <a:extLst>
                  <a:ext uri="{FF2B5EF4-FFF2-40B4-BE49-F238E27FC236}">
                    <a16:creationId xmlns:a16="http://schemas.microsoft.com/office/drawing/2014/main" id="{D276AAD8-B8EA-C2E8-074A-35FE7500DC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5" name="Group 18444">
              <a:extLst>
                <a:ext uri="{FF2B5EF4-FFF2-40B4-BE49-F238E27FC236}">
                  <a16:creationId xmlns:a16="http://schemas.microsoft.com/office/drawing/2014/main" id="{A1E758F9-00B2-E0B2-BDE6-EBA506A6283F}"/>
                </a:ext>
              </a:extLst>
            </p:cNvPr>
            <p:cNvGrpSpPr/>
            <p:nvPr/>
          </p:nvGrpSpPr>
          <p:grpSpPr>
            <a:xfrm>
              <a:off x="2227487" y="1099820"/>
              <a:ext cx="1916816" cy="1427236"/>
              <a:chOff x="4770731" y="1826646"/>
              <a:chExt cx="1916816" cy="1427236"/>
            </a:xfrm>
          </p:grpSpPr>
          <p:grpSp>
            <p:nvGrpSpPr>
              <p:cNvPr id="18446" name="Group 18445">
                <a:extLst>
                  <a:ext uri="{FF2B5EF4-FFF2-40B4-BE49-F238E27FC236}">
                    <a16:creationId xmlns:a16="http://schemas.microsoft.com/office/drawing/2014/main" id="{0FA1E7B3-5702-3CAE-9753-D3A7C4837049}"/>
                  </a:ext>
                </a:extLst>
              </p:cNvPr>
              <p:cNvGrpSpPr/>
              <p:nvPr/>
            </p:nvGrpSpPr>
            <p:grpSpPr>
              <a:xfrm>
                <a:off x="4770731" y="1826646"/>
                <a:ext cx="1916816" cy="1289507"/>
                <a:chOff x="1461546" y="2363669"/>
                <a:chExt cx="1916816" cy="1289507"/>
              </a:xfrm>
            </p:grpSpPr>
            <p:cxnSp>
              <p:nvCxnSpPr>
                <p:cNvPr id="18454" name="Curved Connector 18453">
                  <a:extLst>
                    <a:ext uri="{FF2B5EF4-FFF2-40B4-BE49-F238E27FC236}">
                      <a16:creationId xmlns:a16="http://schemas.microsoft.com/office/drawing/2014/main" id="{19BD5BDE-C95A-5E0B-8805-7CB9DE713595}"/>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8455" name="Oval 18454">
                  <a:extLst>
                    <a:ext uri="{FF2B5EF4-FFF2-40B4-BE49-F238E27FC236}">
                      <a16:creationId xmlns:a16="http://schemas.microsoft.com/office/drawing/2014/main" id="{6A2A332C-7BAE-D08E-8E99-1430CF006CBD}"/>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456" name="TextBox 18455">
                  <a:extLst>
                    <a:ext uri="{FF2B5EF4-FFF2-40B4-BE49-F238E27FC236}">
                      <a16:creationId xmlns:a16="http://schemas.microsoft.com/office/drawing/2014/main" id="{B7D1BA39-60C8-7A06-7F51-DB74D20D9738}"/>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7" name="Oval 18446">
                <a:extLst>
                  <a:ext uri="{FF2B5EF4-FFF2-40B4-BE49-F238E27FC236}">
                    <a16:creationId xmlns:a16="http://schemas.microsoft.com/office/drawing/2014/main" id="{BFF5DE5A-445D-B45E-8712-DC611AE1F0E8}"/>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cxnSp>
          <p:nvCxnSpPr>
            <p:cNvPr id="18460" name="Straight Arrow Connector 18459">
              <a:extLst>
                <a:ext uri="{FF2B5EF4-FFF2-40B4-BE49-F238E27FC236}">
                  <a16:creationId xmlns:a16="http://schemas.microsoft.com/office/drawing/2014/main" id="{93945C3E-7283-4C31-3D6D-2C3E36B692C7}"/>
                </a:ext>
              </a:extLst>
            </p:cNvPr>
            <p:cNvCxnSpPr>
              <a:cxnSpLocks/>
            </p:cNvCxnSpPr>
            <p:nvPr/>
          </p:nvCxnSpPr>
          <p:spPr>
            <a:xfrm flipH="1" flipV="1">
              <a:off x="4515234" y="1905391"/>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6A19E76F-3EF4-D9BC-DB65-BB7DBC513B14}"/>
              </a:ext>
            </a:extLst>
          </p:cNvPr>
          <p:cNvGrpSpPr/>
          <p:nvPr/>
        </p:nvGrpSpPr>
        <p:grpSpPr>
          <a:xfrm>
            <a:off x="9317920" y="496657"/>
            <a:ext cx="981813" cy="762178"/>
            <a:chOff x="8614540" y="2302009"/>
            <a:chExt cx="981813" cy="762178"/>
          </a:xfrm>
        </p:grpSpPr>
        <p:grpSp>
          <p:nvGrpSpPr>
            <p:cNvPr id="6" name="Group 5">
              <a:extLst>
                <a:ext uri="{FF2B5EF4-FFF2-40B4-BE49-F238E27FC236}">
                  <a16:creationId xmlns:a16="http://schemas.microsoft.com/office/drawing/2014/main" id="{0B0DA45F-EBDE-8CD5-0E0D-0E361B022AE4}"/>
                </a:ext>
              </a:extLst>
            </p:cNvPr>
            <p:cNvGrpSpPr/>
            <p:nvPr/>
          </p:nvGrpSpPr>
          <p:grpSpPr>
            <a:xfrm>
              <a:off x="8614540" y="2302009"/>
              <a:ext cx="260710" cy="762178"/>
              <a:chOff x="8614540" y="2302009"/>
              <a:chExt cx="260710" cy="762178"/>
            </a:xfrm>
          </p:grpSpPr>
          <p:sp>
            <p:nvSpPr>
              <p:cNvPr id="8" name="Oval 7">
                <a:extLst>
                  <a:ext uri="{FF2B5EF4-FFF2-40B4-BE49-F238E27FC236}">
                    <a16:creationId xmlns:a16="http://schemas.microsoft.com/office/drawing/2014/main" id="{694A3913-3318-8341-7534-A582E69D5F6E}"/>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79BD9275-BFA9-4A96-FC4A-BE94E2A99D2E}"/>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0" name="Straight Arrow Connector 9">
                <a:extLst>
                  <a:ext uri="{FF2B5EF4-FFF2-40B4-BE49-F238E27FC236}">
                    <a16:creationId xmlns:a16="http://schemas.microsoft.com/office/drawing/2014/main" id="{3E028642-EE88-627C-AE40-303F17A874D4}"/>
                  </a:ext>
                </a:extLst>
              </p:cNvPr>
              <p:cNvCxnSpPr>
                <a:stCxn id="8" idx="4"/>
                <a:endCxn id="9" idx="0"/>
              </p:cNvCxnSpPr>
              <p:nvPr/>
            </p:nvCxnSpPr>
            <p:spPr>
              <a:xfrm>
                <a:off x="8744895" y="2556843"/>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7" name="TextBox 6">
              <a:extLst>
                <a:ext uri="{FF2B5EF4-FFF2-40B4-BE49-F238E27FC236}">
                  <a16:creationId xmlns:a16="http://schemas.microsoft.com/office/drawing/2014/main" id="{4A2D67BF-CFEA-1464-7102-C8CDFA6DC9B8}"/>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12" name="Group 11">
            <a:extLst>
              <a:ext uri="{FF2B5EF4-FFF2-40B4-BE49-F238E27FC236}">
                <a16:creationId xmlns:a16="http://schemas.microsoft.com/office/drawing/2014/main" id="{AA7A5F9D-E154-CE2D-396E-25055734F5CF}"/>
              </a:ext>
            </a:extLst>
          </p:cNvPr>
          <p:cNvGrpSpPr/>
          <p:nvPr/>
        </p:nvGrpSpPr>
        <p:grpSpPr>
          <a:xfrm>
            <a:off x="7666889" y="1132500"/>
            <a:ext cx="1645921" cy="1327771"/>
            <a:chOff x="6963509" y="2937852"/>
            <a:chExt cx="1645921" cy="1327771"/>
          </a:xfrm>
        </p:grpSpPr>
        <p:sp>
          <p:nvSpPr>
            <p:cNvPr id="14" name="Oval 13">
              <a:extLst>
                <a:ext uri="{FF2B5EF4-FFF2-40B4-BE49-F238E27FC236}">
                  <a16:creationId xmlns:a16="http://schemas.microsoft.com/office/drawing/2014/main" id="{7FCBCBC1-ABCD-E8E2-3E87-729466A852DF}"/>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Oval 14">
              <a:extLst>
                <a:ext uri="{FF2B5EF4-FFF2-40B4-BE49-F238E27FC236}">
                  <a16:creationId xmlns:a16="http://schemas.microsoft.com/office/drawing/2014/main" id="{F027AFC8-7512-8B4E-866B-17AD646EF643}"/>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47B9540A-DF8A-77C8-9A50-A4BB9CE36454}"/>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 name="Straight Arrow Connector 17">
              <a:extLst>
                <a:ext uri="{FF2B5EF4-FFF2-40B4-BE49-F238E27FC236}">
                  <a16:creationId xmlns:a16="http://schemas.microsoft.com/office/drawing/2014/main" id="{4AC6A406-B4AE-2921-9A9B-F3507E7847DF}"/>
                </a:ext>
              </a:extLst>
            </p:cNvPr>
            <p:cNvCxnSpPr/>
            <p:nvPr/>
          </p:nvCxnSpPr>
          <p:spPr>
            <a:xfrm>
              <a:off x="8142428" y="3246340"/>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40962E6-3C00-57D2-A0CA-AB33E4728A66}"/>
                </a:ext>
              </a:extLst>
            </p:cNvPr>
            <p:cNvCxnSpPr/>
            <p:nvPr/>
          </p:nvCxnSpPr>
          <p:spPr>
            <a:xfrm>
              <a:off x="8154151" y="3751930"/>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65B1EFFE-743C-63C6-770C-D579DC7C2768}"/>
                </a:ext>
              </a:extLst>
            </p:cNvPr>
            <p:cNvCxnSpPr>
              <a:cxnSpLocks/>
            </p:cNvCxnSpPr>
            <p:nvPr/>
          </p:nvCxnSpPr>
          <p:spPr>
            <a:xfrm flipH="1">
              <a:off x="8284506" y="2937852"/>
              <a:ext cx="324924" cy="15335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A326777-F0A3-0C2F-D907-DF9103CC3F8F}"/>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sp>
        <p:nvSpPr>
          <p:cNvPr id="25" name="TextBox 24">
            <a:extLst>
              <a:ext uri="{FF2B5EF4-FFF2-40B4-BE49-F238E27FC236}">
                <a16:creationId xmlns:a16="http://schemas.microsoft.com/office/drawing/2014/main" id="{1761E89C-2711-F588-37B8-AD36BABA8B4C}"/>
              </a:ext>
            </a:extLst>
          </p:cNvPr>
          <p:cNvSpPr txBox="1"/>
          <p:nvPr/>
        </p:nvSpPr>
        <p:spPr>
          <a:xfrm>
            <a:off x="7141929" y="2224602"/>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27" name="Straight Arrow Connector 26">
            <a:extLst>
              <a:ext uri="{FF2B5EF4-FFF2-40B4-BE49-F238E27FC236}">
                <a16:creationId xmlns:a16="http://schemas.microsoft.com/office/drawing/2014/main" id="{8BAF4E71-CB03-3CC8-B323-EB906250CF28}"/>
              </a:ext>
            </a:extLst>
          </p:cNvPr>
          <p:cNvCxnSpPr>
            <a:stCxn id="25" idx="3"/>
            <a:endCxn id="17"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54A6DC-6C68-7DE2-2121-3E504DEB7A43}"/>
              </a:ext>
            </a:extLst>
          </p:cNvPr>
          <p:cNvSpPr txBox="1"/>
          <p:nvPr/>
        </p:nvSpPr>
        <p:spPr>
          <a:xfrm>
            <a:off x="10011678" y="1587933"/>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29" name="Straight Arrow Connector 28">
            <a:extLst>
              <a:ext uri="{FF2B5EF4-FFF2-40B4-BE49-F238E27FC236}">
                <a16:creationId xmlns:a16="http://schemas.microsoft.com/office/drawing/2014/main" id="{8C19E166-FDF1-1BFE-60AB-3A00A229394C}"/>
              </a:ext>
            </a:extLst>
          </p:cNvPr>
          <p:cNvCxnSpPr>
            <a:cxnSpLocks/>
            <a:stCxn id="28" idx="1"/>
          </p:cNvCxnSpPr>
          <p:nvPr/>
        </p:nvCxnSpPr>
        <p:spPr>
          <a:xfrm flipH="1" flipV="1">
            <a:off x="9578630" y="1688011"/>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3EBDCD7-0B4F-81F7-1BCB-9F4E2E68D29C}"/>
              </a:ext>
            </a:extLst>
          </p:cNvPr>
          <p:cNvSpPr/>
          <p:nvPr/>
        </p:nvSpPr>
        <p:spPr>
          <a:xfrm>
            <a:off x="9312810" y="152834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1" name="Straight Arrow Connector 30">
            <a:extLst>
              <a:ext uri="{FF2B5EF4-FFF2-40B4-BE49-F238E27FC236}">
                <a16:creationId xmlns:a16="http://schemas.microsoft.com/office/drawing/2014/main" id="{7C98E851-29D4-57B8-E5D2-CBC0C8C9C17B}"/>
              </a:ext>
            </a:extLst>
          </p:cNvPr>
          <p:cNvCxnSpPr/>
          <p:nvPr/>
        </p:nvCxnSpPr>
        <p:spPr>
          <a:xfrm>
            <a:off x="9443165" y="125798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Oval 35">
            <a:extLst>
              <a:ext uri="{FF2B5EF4-FFF2-40B4-BE49-F238E27FC236}">
                <a16:creationId xmlns:a16="http://schemas.microsoft.com/office/drawing/2014/main" id="{331EF8ED-DC7B-55B0-B1B8-1C2C37F0CD36}"/>
              </a:ext>
            </a:extLst>
          </p:cNvPr>
          <p:cNvSpPr/>
          <p:nvPr/>
        </p:nvSpPr>
        <p:spPr>
          <a:xfrm>
            <a:off x="3307643" y="3825408"/>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7" name="Oval 36">
            <a:extLst>
              <a:ext uri="{FF2B5EF4-FFF2-40B4-BE49-F238E27FC236}">
                <a16:creationId xmlns:a16="http://schemas.microsoft.com/office/drawing/2014/main" id="{4C7D9C31-A9D0-FE56-B8ED-6BBBFF67B79D}"/>
              </a:ext>
            </a:extLst>
          </p:cNvPr>
          <p:cNvSpPr/>
          <p:nvPr/>
        </p:nvSpPr>
        <p:spPr>
          <a:xfrm>
            <a:off x="3307643" y="433275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8" name="Straight Arrow Connector 37">
            <a:extLst>
              <a:ext uri="{FF2B5EF4-FFF2-40B4-BE49-F238E27FC236}">
                <a16:creationId xmlns:a16="http://schemas.microsoft.com/office/drawing/2014/main" id="{1F247BA1-7508-C58A-5D22-690E241095A3}"/>
              </a:ext>
            </a:extLst>
          </p:cNvPr>
          <p:cNvCxnSpPr>
            <a:stCxn id="36" idx="4"/>
            <a:endCxn id="37" idx="0"/>
          </p:cNvCxnSpPr>
          <p:nvPr/>
        </p:nvCxnSpPr>
        <p:spPr>
          <a:xfrm>
            <a:off x="3437998" y="408024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76CE5D8E-04F5-55AC-BA0B-21101FD2E2A3}"/>
              </a:ext>
            </a:extLst>
          </p:cNvPr>
          <p:cNvSpPr txBox="1"/>
          <p:nvPr/>
        </p:nvSpPr>
        <p:spPr>
          <a:xfrm>
            <a:off x="3568353" y="3912727"/>
            <a:ext cx="721103" cy="307777"/>
          </a:xfrm>
          <a:prstGeom prst="rect">
            <a:avLst/>
          </a:prstGeom>
          <a:noFill/>
        </p:spPr>
        <p:txBody>
          <a:bodyPr wrap="square" rtlCol="0">
            <a:spAutoFit/>
          </a:bodyPr>
          <a:lstStyle/>
          <a:p>
            <a:r>
              <a:rPr lang="en-BE" sz="1400" dirty="0"/>
              <a:t>master</a:t>
            </a:r>
          </a:p>
        </p:txBody>
      </p:sp>
      <p:sp>
        <p:nvSpPr>
          <p:cNvPr id="40" name="Oval 39">
            <a:extLst>
              <a:ext uri="{FF2B5EF4-FFF2-40B4-BE49-F238E27FC236}">
                <a16:creationId xmlns:a16="http://schemas.microsoft.com/office/drawing/2014/main" id="{33198D72-568C-8538-7AAD-8147722F9A79}"/>
              </a:ext>
            </a:extLst>
          </p:cNvPr>
          <p:cNvSpPr/>
          <p:nvPr/>
        </p:nvSpPr>
        <p:spPr>
          <a:xfrm>
            <a:off x="2716899" y="452235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1" name="Oval 40">
            <a:extLst>
              <a:ext uri="{FF2B5EF4-FFF2-40B4-BE49-F238E27FC236}">
                <a16:creationId xmlns:a16="http://schemas.microsoft.com/office/drawing/2014/main" id="{5C0D48C6-D115-5939-93CB-19BA96CD0B57}"/>
              </a:ext>
            </a:extLst>
          </p:cNvPr>
          <p:cNvSpPr/>
          <p:nvPr/>
        </p:nvSpPr>
        <p:spPr>
          <a:xfrm>
            <a:off x="2716899" y="5011014"/>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Oval 42">
            <a:extLst>
              <a:ext uri="{FF2B5EF4-FFF2-40B4-BE49-F238E27FC236}">
                <a16:creationId xmlns:a16="http://schemas.microsoft.com/office/drawing/2014/main" id="{26106BA9-518D-DA5E-0840-DCEFB508D4DB}"/>
              </a:ext>
            </a:extLst>
          </p:cNvPr>
          <p:cNvSpPr/>
          <p:nvPr/>
        </p:nvSpPr>
        <p:spPr>
          <a:xfrm>
            <a:off x="2716899" y="5534188"/>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44" name="Straight Arrow Connector 43">
            <a:extLst>
              <a:ext uri="{FF2B5EF4-FFF2-40B4-BE49-F238E27FC236}">
                <a16:creationId xmlns:a16="http://schemas.microsoft.com/office/drawing/2014/main" id="{AA7B356F-182A-6C93-D4A5-B4A05D5EC7DF}"/>
              </a:ext>
            </a:extLst>
          </p:cNvPr>
          <p:cNvCxnSpPr/>
          <p:nvPr/>
        </p:nvCxnSpPr>
        <p:spPr>
          <a:xfrm>
            <a:off x="2835531" y="476973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924ABCF9-05AF-4B6C-E6DD-B99E732A2929}"/>
              </a:ext>
            </a:extLst>
          </p:cNvPr>
          <p:cNvCxnSpPr/>
          <p:nvPr/>
        </p:nvCxnSpPr>
        <p:spPr>
          <a:xfrm>
            <a:off x="2847254" y="527532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F9142B9-56AA-BC48-A5E6-E0C86CB60525}"/>
              </a:ext>
            </a:extLst>
          </p:cNvPr>
          <p:cNvCxnSpPr>
            <a:cxnSpLocks/>
          </p:cNvCxnSpPr>
          <p:nvPr/>
        </p:nvCxnSpPr>
        <p:spPr>
          <a:xfrm flipH="1">
            <a:off x="2977609" y="4461251"/>
            <a:ext cx="324924" cy="15335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7B480288-E338-7805-4EB8-54545F8650A1}"/>
              </a:ext>
            </a:extLst>
          </p:cNvPr>
          <p:cNvSpPr txBox="1"/>
          <p:nvPr/>
        </p:nvSpPr>
        <p:spPr>
          <a:xfrm>
            <a:off x="1656612" y="4984980"/>
            <a:ext cx="1166182" cy="307777"/>
          </a:xfrm>
          <a:prstGeom prst="rect">
            <a:avLst/>
          </a:prstGeom>
          <a:noFill/>
        </p:spPr>
        <p:txBody>
          <a:bodyPr wrap="square" rtlCol="0">
            <a:spAutoFit/>
          </a:bodyPr>
          <a:lstStyle/>
          <a:p>
            <a:r>
              <a:rPr lang="en-GB" sz="1400" dirty="0"/>
              <a:t>n</a:t>
            </a:r>
            <a:r>
              <a:rPr lang="en-BE" sz="1400" dirty="0"/>
              <a:t>ew-feature</a:t>
            </a:r>
          </a:p>
        </p:txBody>
      </p:sp>
      <p:sp>
        <p:nvSpPr>
          <p:cNvPr id="49" name="TextBox 48">
            <a:extLst>
              <a:ext uri="{FF2B5EF4-FFF2-40B4-BE49-F238E27FC236}">
                <a16:creationId xmlns:a16="http://schemas.microsoft.com/office/drawing/2014/main" id="{A1ACF3DE-6F84-6269-6CB7-D8E98E56E60E}"/>
              </a:ext>
            </a:extLst>
          </p:cNvPr>
          <p:cNvSpPr txBox="1"/>
          <p:nvPr/>
        </p:nvSpPr>
        <p:spPr>
          <a:xfrm>
            <a:off x="1131652" y="5553353"/>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50" name="Straight Arrow Connector 49">
            <a:extLst>
              <a:ext uri="{FF2B5EF4-FFF2-40B4-BE49-F238E27FC236}">
                <a16:creationId xmlns:a16="http://schemas.microsoft.com/office/drawing/2014/main" id="{DF818EFA-29CC-9D43-3CD1-021491D57B1B}"/>
              </a:ext>
            </a:extLst>
          </p:cNvPr>
          <p:cNvCxnSpPr>
            <a:stCxn id="49" idx="3"/>
            <a:endCxn id="43" idx="2"/>
          </p:cNvCxnSpPr>
          <p:nvPr/>
        </p:nvCxnSpPr>
        <p:spPr>
          <a:xfrm flipV="1">
            <a:off x="2460624" y="5661605"/>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123" name="Group 4122">
            <a:extLst>
              <a:ext uri="{FF2B5EF4-FFF2-40B4-BE49-F238E27FC236}">
                <a16:creationId xmlns:a16="http://schemas.microsoft.com/office/drawing/2014/main" id="{99DFD90B-DFE8-0F8B-10DB-11E22CA56F71}"/>
              </a:ext>
            </a:extLst>
          </p:cNvPr>
          <p:cNvGrpSpPr/>
          <p:nvPr/>
        </p:nvGrpSpPr>
        <p:grpSpPr>
          <a:xfrm>
            <a:off x="3629503" y="5914177"/>
            <a:ext cx="1455212" cy="276999"/>
            <a:chOff x="3629503" y="5914177"/>
            <a:chExt cx="1455212" cy="276999"/>
          </a:xfrm>
        </p:grpSpPr>
        <p:sp>
          <p:nvSpPr>
            <p:cNvPr id="51" name="TextBox 50">
              <a:extLst>
                <a:ext uri="{FF2B5EF4-FFF2-40B4-BE49-F238E27FC236}">
                  <a16:creationId xmlns:a16="http://schemas.microsoft.com/office/drawing/2014/main" id="{295A3E1A-F218-0E55-DE52-8337F21C08BA}"/>
                </a:ext>
              </a:extLst>
            </p:cNvPr>
            <p:cNvSpPr txBox="1"/>
            <p:nvPr/>
          </p:nvSpPr>
          <p:spPr>
            <a:xfrm>
              <a:off x="4123593" y="5914177"/>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52" name="Straight Arrow Connector 51">
              <a:extLst>
                <a:ext uri="{FF2B5EF4-FFF2-40B4-BE49-F238E27FC236}">
                  <a16:creationId xmlns:a16="http://schemas.microsoft.com/office/drawing/2014/main" id="{5E37CDC2-442D-F571-3FD0-F5600CFD0460}"/>
                </a:ext>
              </a:extLst>
            </p:cNvPr>
            <p:cNvCxnSpPr>
              <a:cxnSpLocks/>
              <a:stCxn id="51" idx="1"/>
            </p:cNvCxnSpPr>
            <p:nvPr/>
          </p:nvCxnSpPr>
          <p:spPr>
            <a:xfrm flipH="1">
              <a:off x="3629503" y="6052677"/>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22" name="Group 4121">
            <a:extLst>
              <a:ext uri="{FF2B5EF4-FFF2-40B4-BE49-F238E27FC236}">
                <a16:creationId xmlns:a16="http://schemas.microsoft.com/office/drawing/2014/main" id="{DADBA75A-892E-6A0A-7F6E-8EDCEA2E40E8}"/>
              </a:ext>
            </a:extLst>
          </p:cNvPr>
          <p:cNvGrpSpPr/>
          <p:nvPr/>
        </p:nvGrpSpPr>
        <p:grpSpPr>
          <a:xfrm>
            <a:off x="2939429" y="5111927"/>
            <a:ext cx="623814" cy="1068167"/>
            <a:chOff x="2939429" y="5111927"/>
            <a:chExt cx="623814" cy="1068167"/>
          </a:xfrm>
        </p:grpSpPr>
        <p:sp>
          <p:nvSpPr>
            <p:cNvPr id="57" name="Oval 56">
              <a:extLst>
                <a:ext uri="{FF2B5EF4-FFF2-40B4-BE49-F238E27FC236}">
                  <a16:creationId xmlns:a16="http://schemas.microsoft.com/office/drawing/2014/main" id="{28DC6341-5F70-4A52-F57A-D84A69A28DDC}"/>
                </a:ext>
              </a:extLst>
            </p:cNvPr>
            <p:cNvSpPr/>
            <p:nvPr/>
          </p:nvSpPr>
          <p:spPr>
            <a:xfrm>
              <a:off x="3302533" y="5925260"/>
              <a:ext cx="260710" cy="254834"/>
            </a:xfrm>
            <a:prstGeom prst="ellipse">
              <a:avLst/>
            </a:prstGeom>
            <a:solidFill>
              <a:srgbClr val="94165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           </a:t>
              </a:r>
            </a:p>
          </p:txBody>
        </p:sp>
        <p:cxnSp>
          <p:nvCxnSpPr>
            <p:cNvPr id="58" name="Straight Arrow Connector 57">
              <a:extLst>
                <a:ext uri="{FF2B5EF4-FFF2-40B4-BE49-F238E27FC236}">
                  <a16:creationId xmlns:a16="http://schemas.microsoft.com/office/drawing/2014/main" id="{22667E7B-1242-159A-2534-F16B82129955}"/>
                </a:ext>
              </a:extLst>
            </p:cNvPr>
            <p:cNvCxnSpPr>
              <a:cxnSpLocks/>
              <a:stCxn id="53" idx="4"/>
              <a:endCxn id="57" idx="0"/>
            </p:cNvCxnSpPr>
            <p:nvPr/>
          </p:nvCxnSpPr>
          <p:spPr>
            <a:xfrm>
              <a:off x="3432888" y="5111927"/>
              <a:ext cx="0" cy="81333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8CAB6C83-368E-81D7-C098-3DDBA6B8AF4A}"/>
                </a:ext>
              </a:extLst>
            </p:cNvPr>
            <p:cNvCxnSpPr>
              <a:stCxn id="43" idx="5"/>
              <a:endCxn id="57" idx="2"/>
            </p:cNvCxnSpPr>
            <p:nvPr/>
          </p:nvCxnSpPr>
          <p:spPr>
            <a:xfrm>
              <a:off x="2939429" y="5751702"/>
              <a:ext cx="363104" cy="3009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449" name="TextBox 18448">
            <a:extLst>
              <a:ext uri="{FF2B5EF4-FFF2-40B4-BE49-F238E27FC236}">
                <a16:creationId xmlns:a16="http://schemas.microsoft.com/office/drawing/2014/main" id="{9A431245-7D34-7E86-D27F-2CCFBCF95803}"/>
              </a:ext>
            </a:extLst>
          </p:cNvPr>
          <p:cNvSpPr txBox="1"/>
          <p:nvPr/>
        </p:nvSpPr>
        <p:spPr>
          <a:xfrm>
            <a:off x="9272463" y="2158495"/>
            <a:ext cx="2528352" cy="461665"/>
          </a:xfrm>
          <a:prstGeom prst="rect">
            <a:avLst/>
          </a:prstGeom>
          <a:noFill/>
        </p:spPr>
        <p:txBody>
          <a:bodyPr wrap="square">
            <a:spAutoFit/>
          </a:bodyPr>
          <a:lstStyle/>
          <a:p>
            <a:r>
              <a:rPr lang="en-GB" sz="2400" dirty="0"/>
              <a:t>T</a:t>
            </a:r>
            <a:r>
              <a:rPr lang="en-BE" sz="2400" dirty="0"/>
              <a:t>hree-way merge</a:t>
            </a:r>
            <a:endParaRPr lang="en-US" sz="2400" dirty="0"/>
          </a:p>
        </p:txBody>
      </p:sp>
      <p:sp>
        <p:nvSpPr>
          <p:cNvPr id="18450" name="TextBox 18449">
            <a:extLst>
              <a:ext uri="{FF2B5EF4-FFF2-40B4-BE49-F238E27FC236}">
                <a16:creationId xmlns:a16="http://schemas.microsoft.com/office/drawing/2014/main" id="{6366529C-10C1-EE68-225C-7F1E593A59C1}"/>
              </a:ext>
            </a:extLst>
          </p:cNvPr>
          <p:cNvSpPr txBox="1"/>
          <p:nvPr/>
        </p:nvSpPr>
        <p:spPr>
          <a:xfrm>
            <a:off x="1550535" y="6392352"/>
            <a:ext cx="2621490" cy="369332"/>
          </a:xfrm>
          <a:prstGeom prst="rect">
            <a:avLst/>
          </a:prstGeom>
          <a:noFill/>
        </p:spPr>
        <p:txBody>
          <a:bodyPr wrap="square">
            <a:spAutoFit/>
          </a:bodyPr>
          <a:lstStyle/>
          <a:p>
            <a:r>
              <a:rPr lang="en-GB" dirty="0"/>
              <a:t>After T</a:t>
            </a:r>
            <a:r>
              <a:rPr lang="en-BE" dirty="0"/>
              <a:t>hree-way merge</a:t>
            </a:r>
            <a:endParaRPr lang="en-US" dirty="0"/>
          </a:p>
        </p:txBody>
      </p:sp>
      <p:grpSp>
        <p:nvGrpSpPr>
          <p:cNvPr id="18473" name="Group 18472">
            <a:extLst>
              <a:ext uri="{FF2B5EF4-FFF2-40B4-BE49-F238E27FC236}">
                <a16:creationId xmlns:a16="http://schemas.microsoft.com/office/drawing/2014/main" id="{E1FBD787-D31D-04F9-FF2F-32D42CDA2E93}"/>
              </a:ext>
            </a:extLst>
          </p:cNvPr>
          <p:cNvGrpSpPr/>
          <p:nvPr/>
        </p:nvGrpSpPr>
        <p:grpSpPr>
          <a:xfrm>
            <a:off x="4281413" y="3005757"/>
            <a:ext cx="2079850" cy="1360686"/>
            <a:chOff x="4281413" y="3005757"/>
            <a:chExt cx="2079850" cy="1360686"/>
          </a:xfrm>
        </p:grpSpPr>
        <p:pic>
          <p:nvPicPr>
            <p:cNvPr id="32" name="Picture 31" descr="Diagram, icon&#10;&#10;Description automatically generated">
              <a:extLst>
                <a:ext uri="{FF2B5EF4-FFF2-40B4-BE49-F238E27FC236}">
                  <a16:creationId xmlns:a16="http://schemas.microsoft.com/office/drawing/2014/main" id="{819001BB-E2FF-7CC7-F6F7-759720B44B6A}"/>
                </a:ext>
              </a:extLst>
            </p:cNvPr>
            <p:cNvPicPr>
              <a:picLocks noChangeAspect="1"/>
            </p:cNvPicPr>
            <p:nvPr/>
          </p:nvPicPr>
          <p:blipFill>
            <a:blip r:embed="rId6"/>
            <a:stretch>
              <a:fillRect/>
            </a:stretch>
          </p:blipFill>
          <p:spPr>
            <a:xfrm>
              <a:off x="5146596" y="3005757"/>
              <a:ext cx="1214667" cy="788913"/>
            </a:xfrm>
            <a:prstGeom prst="rect">
              <a:avLst/>
            </a:prstGeom>
          </p:spPr>
        </p:pic>
        <p:cxnSp>
          <p:nvCxnSpPr>
            <p:cNvPr id="18457" name="Straight Arrow Connector 18456">
              <a:extLst>
                <a:ext uri="{FF2B5EF4-FFF2-40B4-BE49-F238E27FC236}">
                  <a16:creationId xmlns:a16="http://schemas.microsoft.com/office/drawing/2014/main" id="{09605034-AB9B-3C70-C1A7-32A55AC2EE12}"/>
                </a:ext>
              </a:extLst>
            </p:cNvPr>
            <p:cNvCxnSpPr>
              <a:cxnSpLocks/>
            </p:cNvCxnSpPr>
            <p:nvPr/>
          </p:nvCxnSpPr>
          <p:spPr>
            <a:xfrm flipH="1">
              <a:off x="4281413" y="3794670"/>
              <a:ext cx="864486" cy="57177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8485" name="TextBox 18484">
            <a:extLst>
              <a:ext uri="{FF2B5EF4-FFF2-40B4-BE49-F238E27FC236}">
                <a16:creationId xmlns:a16="http://schemas.microsoft.com/office/drawing/2014/main" id="{399AE504-C9AB-624A-2A8B-C37ECFA08A8E}"/>
              </a:ext>
            </a:extLst>
          </p:cNvPr>
          <p:cNvSpPr txBox="1"/>
          <p:nvPr/>
        </p:nvSpPr>
        <p:spPr>
          <a:xfrm>
            <a:off x="7301726" y="2692172"/>
            <a:ext cx="3437190" cy="1077218"/>
          </a:xfrm>
          <a:prstGeom prst="rect">
            <a:avLst/>
          </a:prstGeom>
          <a:noFill/>
          <a:ln w="38100">
            <a:solidFill>
              <a:srgbClr val="C00000"/>
            </a:solidFill>
          </a:ln>
        </p:spPr>
        <p:txBody>
          <a:bodyPr wrap="square" rtlCol="0">
            <a:spAutoFit/>
          </a:bodyPr>
          <a:lstStyle/>
          <a:p>
            <a:r>
              <a:rPr lang="en-BE" sz="2400" dirty="0"/>
              <a:t>Merge Algorithm</a:t>
            </a:r>
            <a:r>
              <a:rPr lang="en-BE" sz="2800" dirty="0"/>
              <a:t>s</a:t>
            </a:r>
          </a:p>
          <a:p>
            <a:pPr marL="285750" indent="-285750">
              <a:buFont typeface="Arial" panose="020B0604020202020204" pitchFamily="34" charset="0"/>
              <a:buChar char="•"/>
            </a:pPr>
            <a:r>
              <a:rPr lang="en-GB" dirty="0"/>
              <a:t>F</a:t>
            </a:r>
            <a:r>
              <a:rPr lang="en-BE" dirty="0"/>
              <a:t>ast-forward – not diverged</a:t>
            </a:r>
          </a:p>
          <a:p>
            <a:pPr marL="285750" indent="-285750">
              <a:buFont typeface="Arial" panose="020B0604020202020204" pitchFamily="34" charset="0"/>
              <a:buChar char="•"/>
            </a:pPr>
            <a:r>
              <a:rPr lang="en-GB" dirty="0"/>
              <a:t>T</a:t>
            </a:r>
            <a:r>
              <a:rPr lang="en-BE" dirty="0"/>
              <a:t>hree-way merge - diverged</a:t>
            </a:r>
          </a:p>
        </p:txBody>
      </p:sp>
      <p:grpSp>
        <p:nvGrpSpPr>
          <p:cNvPr id="4125" name="Group 4124">
            <a:extLst>
              <a:ext uri="{FF2B5EF4-FFF2-40B4-BE49-F238E27FC236}">
                <a16:creationId xmlns:a16="http://schemas.microsoft.com/office/drawing/2014/main" id="{2448C8D0-8F0F-0370-ED3E-48140D3365DA}"/>
              </a:ext>
            </a:extLst>
          </p:cNvPr>
          <p:cNvGrpSpPr/>
          <p:nvPr/>
        </p:nvGrpSpPr>
        <p:grpSpPr>
          <a:xfrm>
            <a:off x="6366956" y="3986244"/>
            <a:ext cx="5029911" cy="2808997"/>
            <a:chOff x="6366956" y="3986244"/>
            <a:chExt cx="5029911" cy="2808997"/>
          </a:xfrm>
        </p:grpSpPr>
        <p:sp>
          <p:nvSpPr>
            <p:cNvPr id="18486" name="TextBox 18485">
              <a:extLst>
                <a:ext uri="{FF2B5EF4-FFF2-40B4-BE49-F238E27FC236}">
                  <a16:creationId xmlns:a16="http://schemas.microsoft.com/office/drawing/2014/main" id="{35E7B80F-D48F-8E68-300A-46579FFB7A0E}"/>
                </a:ext>
              </a:extLst>
            </p:cNvPr>
            <p:cNvSpPr txBox="1"/>
            <p:nvPr/>
          </p:nvSpPr>
          <p:spPr>
            <a:xfrm>
              <a:off x="7793163" y="3986244"/>
              <a:ext cx="2621490" cy="461665"/>
            </a:xfrm>
            <a:prstGeom prst="rect">
              <a:avLst/>
            </a:prstGeom>
            <a:noFill/>
          </p:spPr>
          <p:txBody>
            <a:bodyPr wrap="square">
              <a:spAutoFit/>
            </a:bodyPr>
            <a:lstStyle/>
            <a:p>
              <a:r>
                <a:rPr lang="en-GB" sz="2400" dirty="0"/>
                <a:t>T</a:t>
              </a:r>
              <a:r>
                <a:rPr lang="en-BE" sz="2400" dirty="0"/>
                <a:t>hree-way merge</a:t>
              </a:r>
              <a:endParaRPr lang="en-US" sz="2400" dirty="0"/>
            </a:p>
          </p:txBody>
        </p:sp>
        <p:grpSp>
          <p:nvGrpSpPr>
            <p:cNvPr id="4124" name="Group 4123">
              <a:extLst>
                <a:ext uri="{FF2B5EF4-FFF2-40B4-BE49-F238E27FC236}">
                  <a16:creationId xmlns:a16="http://schemas.microsoft.com/office/drawing/2014/main" id="{90C4BF12-AF89-D69F-9779-FA4B3E4542C2}"/>
                </a:ext>
              </a:extLst>
            </p:cNvPr>
            <p:cNvGrpSpPr/>
            <p:nvPr/>
          </p:nvGrpSpPr>
          <p:grpSpPr>
            <a:xfrm>
              <a:off x="6366956" y="4379695"/>
              <a:ext cx="5029911" cy="2415546"/>
              <a:chOff x="6366956" y="4379695"/>
              <a:chExt cx="5029911" cy="2415546"/>
            </a:xfrm>
          </p:grpSpPr>
          <p:pic>
            <p:nvPicPr>
              <p:cNvPr id="18439" name="Picture 18438" descr="Text&#10;&#10;Description automatically generated">
                <a:extLst>
                  <a:ext uri="{FF2B5EF4-FFF2-40B4-BE49-F238E27FC236}">
                    <a16:creationId xmlns:a16="http://schemas.microsoft.com/office/drawing/2014/main" id="{DB413B6A-2711-EE86-E72E-9DFB27223E6B}"/>
                  </a:ext>
                </a:extLst>
              </p:cNvPr>
              <p:cNvPicPr>
                <a:picLocks noChangeAspect="1"/>
              </p:cNvPicPr>
              <p:nvPr/>
            </p:nvPicPr>
            <p:blipFill rotWithShape="1">
              <a:blip r:embed="rId7"/>
              <a:srcRect t="61186"/>
              <a:stretch/>
            </p:blipFill>
            <p:spPr>
              <a:xfrm>
                <a:off x="6366959" y="5497884"/>
                <a:ext cx="5029903" cy="1297357"/>
              </a:xfrm>
              <a:prstGeom prst="rect">
                <a:avLst/>
              </a:prstGeom>
            </p:spPr>
          </p:pic>
          <p:pic>
            <p:nvPicPr>
              <p:cNvPr id="18479" name="Picture 18478" descr="Text&#10;&#10;Description automatically generated">
                <a:extLst>
                  <a:ext uri="{FF2B5EF4-FFF2-40B4-BE49-F238E27FC236}">
                    <a16:creationId xmlns:a16="http://schemas.microsoft.com/office/drawing/2014/main" id="{6FC66AF7-4428-7858-84C8-A16F5ADA786A}"/>
                  </a:ext>
                </a:extLst>
              </p:cNvPr>
              <p:cNvPicPr>
                <a:picLocks noChangeAspect="1"/>
              </p:cNvPicPr>
              <p:nvPr/>
            </p:nvPicPr>
            <p:blipFill rotWithShape="1">
              <a:blip r:embed="rId8"/>
              <a:srcRect t="48644" b="20510"/>
              <a:stretch/>
            </p:blipFill>
            <p:spPr>
              <a:xfrm>
                <a:off x="6366961" y="5011014"/>
                <a:ext cx="5029906" cy="490710"/>
              </a:xfrm>
              <a:prstGeom prst="rect">
                <a:avLst/>
              </a:prstGeom>
            </p:spPr>
          </p:pic>
          <p:pic>
            <p:nvPicPr>
              <p:cNvPr id="4103" name="Picture 4102" descr="Text&#10;&#10;Description automatically generated">
                <a:extLst>
                  <a:ext uri="{FF2B5EF4-FFF2-40B4-BE49-F238E27FC236}">
                    <a16:creationId xmlns:a16="http://schemas.microsoft.com/office/drawing/2014/main" id="{6027C195-BA60-E96C-BE28-5F2AAE5E9AFB}"/>
                  </a:ext>
                </a:extLst>
              </p:cNvPr>
              <p:cNvPicPr>
                <a:picLocks noChangeAspect="1"/>
              </p:cNvPicPr>
              <p:nvPr/>
            </p:nvPicPr>
            <p:blipFill rotWithShape="1">
              <a:blip r:embed="rId8"/>
              <a:srcRect b="59737"/>
              <a:stretch/>
            </p:blipFill>
            <p:spPr>
              <a:xfrm>
                <a:off x="6366956" y="4379695"/>
                <a:ext cx="5029906" cy="640515"/>
              </a:xfrm>
              <a:prstGeom prst="rect">
                <a:avLst/>
              </a:prstGeom>
            </p:spPr>
          </p:pic>
        </p:grpSp>
      </p:grpSp>
      <p:cxnSp>
        <p:nvCxnSpPr>
          <p:cNvPr id="4104" name="Straight Arrow Connector 4103">
            <a:extLst>
              <a:ext uri="{FF2B5EF4-FFF2-40B4-BE49-F238E27FC236}">
                <a16:creationId xmlns:a16="http://schemas.microsoft.com/office/drawing/2014/main" id="{6E5456FD-3297-9548-5EEC-FD186B9625B2}"/>
              </a:ext>
            </a:extLst>
          </p:cNvPr>
          <p:cNvCxnSpPr>
            <a:cxnSpLocks/>
          </p:cNvCxnSpPr>
          <p:nvPr/>
        </p:nvCxnSpPr>
        <p:spPr>
          <a:xfrm flipH="1">
            <a:off x="10492239" y="5052708"/>
            <a:ext cx="1293804" cy="44112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105" name="Group 4104">
            <a:extLst>
              <a:ext uri="{FF2B5EF4-FFF2-40B4-BE49-F238E27FC236}">
                <a16:creationId xmlns:a16="http://schemas.microsoft.com/office/drawing/2014/main" id="{A3C6C466-C1F4-9E7E-D2F4-1407C3266853}"/>
              </a:ext>
            </a:extLst>
          </p:cNvPr>
          <p:cNvGrpSpPr/>
          <p:nvPr/>
        </p:nvGrpSpPr>
        <p:grpSpPr>
          <a:xfrm>
            <a:off x="915178" y="4519314"/>
            <a:ext cx="2205803" cy="487644"/>
            <a:chOff x="3673800" y="5473499"/>
            <a:chExt cx="2205803" cy="487644"/>
          </a:xfrm>
        </p:grpSpPr>
        <p:sp>
          <p:nvSpPr>
            <p:cNvPr id="4106" name="TextBox 4105">
              <a:extLst>
                <a:ext uri="{FF2B5EF4-FFF2-40B4-BE49-F238E27FC236}">
                  <a16:creationId xmlns:a16="http://schemas.microsoft.com/office/drawing/2014/main" id="{AFE04D4C-C414-5816-A61C-6F819C2EC790}"/>
                </a:ext>
              </a:extLst>
            </p:cNvPr>
            <p:cNvSpPr txBox="1"/>
            <p:nvPr/>
          </p:nvSpPr>
          <p:spPr>
            <a:xfrm>
              <a:off x="3673800" y="5473499"/>
              <a:ext cx="1518326" cy="369332"/>
            </a:xfrm>
            <a:prstGeom prst="rect">
              <a:avLst/>
            </a:prstGeom>
            <a:noFill/>
            <a:ln w="28575">
              <a:solidFill>
                <a:srgbClr val="C00000"/>
              </a:solidFill>
            </a:ln>
          </p:spPr>
          <p:txBody>
            <a:bodyPr wrap="square" rtlCol="0">
              <a:spAutoFit/>
            </a:bodyPr>
            <a:lstStyle/>
            <a:p>
              <a:r>
                <a:rPr lang="en-US" dirty="0"/>
                <a:t>Split history</a:t>
              </a:r>
            </a:p>
          </p:txBody>
        </p:sp>
        <p:cxnSp>
          <p:nvCxnSpPr>
            <p:cNvPr id="4107" name="Straight Arrow Connector 4106">
              <a:extLst>
                <a:ext uri="{FF2B5EF4-FFF2-40B4-BE49-F238E27FC236}">
                  <a16:creationId xmlns:a16="http://schemas.microsoft.com/office/drawing/2014/main" id="{54846099-D5DD-001A-E636-B3AD513BA5A5}"/>
                </a:ext>
              </a:extLst>
            </p:cNvPr>
            <p:cNvCxnSpPr>
              <a:cxnSpLocks/>
              <a:stCxn id="4106" idx="3"/>
            </p:cNvCxnSpPr>
            <p:nvPr/>
          </p:nvCxnSpPr>
          <p:spPr>
            <a:xfrm>
              <a:off x="5192126" y="5658165"/>
              <a:ext cx="687477" cy="3029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20" name="Group 4119">
            <a:extLst>
              <a:ext uri="{FF2B5EF4-FFF2-40B4-BE49-F238E27FC236}">
                <a16:creationId xmlns:a16="http://schemas.microsoft.com/office/drawing/2014/main" id="{93E501D3-3720-D64A-D382-2C3016B4186F}"/>
              </a:ext>
            </a:extLst>
          </p:cNvPr>
          <p:cNvGrpSpPr/>
          <p:nvPr/>
        </p:nvGrpSpPr>
        <p:grpSpPr>
          <a:xfrm>
            <a:off x="3302533" y="4586733"/>
            <a:ext cx="260710" cy="525194"/>
            <a:chOff x="3302533" y="4586733"/>
            <a:chExt cx="260710" cy="525194"/>
          </a:xfrm>
        </p:grpSpPr>
        <p:sp>
          <p:nvSpPr>
            <p:cNvPr id="53" name="Oval 52">
              <a:extLst>
                <a:ext uri="{FF2B5EF4-FFF2-40B4-BE49-F238E27FC236}">
                  <a16:creationId xmlns:a16="http://schemas.microsoft.com/office/drawing/2014/main" id="{50CF8DE1-5837-2E9B-C6D3-9077A7DA272E}"/>
                </a:ext>
              </a:extLst>
            </p:cNvPr>
            <p:cNvSpPr/>
            <p:nvPr/>
          </p:nvSpPr>
          <p:spPr>
            <a:xfrm>
              <a:off x="3302533" y="485709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6" name="Straight Arrow Connector 55">
              <a:extLst>
                <a:ext uri="{FF2B5EF4-FFF2-40B4-BE49-F238E27FC236}">
                  <a16:creationId xmlns:a16="http://schemas.microsoft.com/office/drawing/2014/main" id="{94A5EEFE-C891-3138-8F75-B7097255488B}"/>
                </a:ext>
              </a:extLst>
            </p:cNvPr>
            <p:cNvCxnSpPr/>
            <p:nvPr/>
          </p:nvCxnSpPr>
          <p:spPr>
            <a:xfrm>
              <a:off x="3432888" y="4586733"/>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grpSp>
        <p:nvGrpSpPr>
          <p:cNvPr id="4126" name="Group 4125">
            <a:extLst>
              <a:ext uri="{FF2B5EF4-FFF2-40B4-BE49-F238E27FC236}">
                <a16:creationId xmlns:a16="http://schemas.microsoft.com/office/drawing/2014/main" id="{74C1B542-858E-E45D-92AF-5FAD0DC15B8F}"/>
              </a:ext>
            </a:extLst>
          </p:cNvPr>
          <p:cNvGrpSpPr/>
          <p:nvPr/>
        </p:nvGrpSpPr>
        <p:grpSpPr>
          <a:xfrm>
            <a:off x="3626593" y="4884608"/>
            <a:ext cx="1455212" cy="276999"/>
            <a:chOff x="3626593" y="4884608"/>
            <a:chExt cx="1455212" cy="276999"/>
          </a:xfrm>
        </p:grpSpPr>
        <p:sp>
          <p:nvSpPr>
            <p:cNvPr id="4109" name="TextBox 4108">
              <a:extLst>
                <a:ext uri="{FF2B5EF4-FFF2-40B4-BE49-F238E27FC236}">
                  <a16:creationId xmlns:a16="http://schemas.microsoft.com/office/drawing/2014/main" id="{B9B57726-9414-4C12-7104-B96E4E7F91AF}"/>
                </a:ext>
              </a:extLst>
            </p:cNvPr>
            <p:cNvSpPr txBox="1"/>
            <p:nvPr/>
          </p:nvSpPr>
          <p:spPr>
            <a:xfrm>
              <a:off x="4120683" y="4884608"/>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4110" name="Straight Arrow Connector 4109">
              <a:extLst>
                <a:ext uri="{FF2B5EF4-FFF2-40B4-BE49-F238E27FC236}">
                  <a16:creationId xmlns:a16="http://schemas.microsoft.com/office/drawing/2014/main" id="{BE611CB0-2B45-A3DF-F5AC-3B3F7C4A71A3}"/>
                </a:ext>
              </a:extLst>
            </p:cNvPr>
            <p:cNvCxnSpPr>
              <a:cxnSpLocks/>
              <a:stCxn id="4109" idx="1"/>
            </p:cNvCxnSpPr>
            <p:nvPr/>
          </p:nvCxnSpPr>
          <p:spPr>
            <a:xfrm flipH="1">
              <a:off x="3626593" y="5023108"/>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17" name="Straight Arrow Connector 4116">
            <a:extLst>
              <a:ext uri="{FF2B5EF4-FFF2-40B4-BE49-F238E27FC236}">
                <a16:creationId xmlns:a16="http://schemas.microsoft.com/office/drawing/2014/main" id="{60FEC177-E8D8-BB40-9787-18FE43D2F963}"/>
              </a:ext>
            </a:extLst>
          </p:cNvPr>
          <p:cNvCxnSpPr>
            <a:cxnSpLocks/>
            <a:stCxn id="4109" idx="2"/>
            <a:endCxn id="51" idx="0"/>
          </p:cNvCxnSpPr>
          <p:nvPr/>
        </p:nvCxnSpPr>
        <p:spPr>
          <a:xfrm>
            <a:off x="4601244" y="5161607"/>
            <a:ext cx="2910" cy="752570"/>
          </a:xfrm>
          <a:prstGeom prst="straightConnector1">
            <a:avLst/>
          </a:prstGeom>
          <a:ln w="28575">
            <a:solidFill>
              <a:srgbClr val="C0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14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20"/>
                                        </p:tgtEl>
                                        <p:attrNameLst>
                                          <p:attrName>style.visibility</p:attrName>
                                        </p:attrNameLst>
                                      </p:cBhvr>
                                      <p:to>
                                        <p:strVal val="visible"/>
                                      </p:to>
                                    </p:set>
                                    <p:animEffect transition="in" filter="dissolve">
                                      <p:cBhvr>
                                        <p:cTn id="7" dur="500"/>
                                        <p:tgtEl>
                                          <p:spTgt spid="41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26"/>
                                        </p:tgtEl>
                                        <p:attrNameLst>
                                          <p:attrName>style.visibility</p:attrName>
                                        </p:attrNameLst>
                                      </p:cBhvr>
                                      <p:to>
                                        <p:strVal val="visible"/>
                                      </p:to>
                                    </p:set>
                                    <p:animEffect transition="in" filter="dissolve">
                                      <p:cBhvr>
                                        <p:cTn id="12" dur="500"/>
                                        <p:tgtEl>
                                          <p:spTgt spid="412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nodeType="clickEffect">
                                  <p:stCondLst>
                                    <p:cond delay="0"/>
                                  </p:stCondLst>
                                  <p:childTnLst>
                                    <p:animEffect transition="out" filter="dissolve">
                                      <p:cBhvr>
                                        <p:cTn id="20" dur="500"/>
                                        <p:tgtEl>
                                          <p:spTgt spid="4126"/>
                                        </p:tgtEl>
                                      </p:cBhvr>
                                    </p:animEffect>
                                    <p:set>
                                      <p:cBhvr>
                                        <p:cTn id="21" dur="1" fill="hold">
                                          <p:stCondLst>
                                            <p:cond delay="499"/>
                                          </p:stCondLst>
                                        </p:cTn>
                                        <p:tgtEl>
                                          <p:spTgt spid="4126"/>
                                        </p:tgtEl>
                                        <p:attrNameLst>
                                          <p:attrName>style.visibility</p:attrName>
                                        </p:attrNameLst>
                                      </p:cBhvr>
                                      <p:to>
                                        <p:strVal val="hidden"/>
                                      </p:to>
                                    </p:set>
                                  </p:childTnLst>
                                </p:cTn>
                              </p:par>
                              <p:par>
                                <p:cTn id="22" presetID="1" presetClass="entr" presetSubtype="0" fill="hold" nodeType="withEffect">
                                  <p:stCondLst>
                                    <p:cond delay="0"/>
                                  </p:stCondLst>
                                  <p:childTnLst>
                                    <p:set>
                                      <p:cBhvr>
                                        <p:cTn id="23" dur="1" fill="hold">
                                          <p:stCondLst>
                                            <p:cond delay="0"/>
                                          </p:stCondLst>
                                        </p:cTn>
                                        <p:tgtEl>
                                          <p:spTgt spid="4117"/>
                                        </p:tgtEl>
                                        <p:attrNameLst>
                                          <p:attrName>style.visibility</p:attrName>
                                        </p:attrNameLst>
                                      </p:cBhvr>
                                      <p:to>
                                        <p:strVal val="visible"/>
                                      </p:to>
                                    </p:set>
                                  </p:childTnLst>
                                </p:cTn>
                              </p:par>
                              <p:par>
                                <p:cTn id="24" presetID="9" presetClass="entr" presetSubtype="0" fill="hold" nodeType="withEffect">
                                  <p:stCondLst>
                                    <p:cond delay="0"/>
                                  </p:stCondLst>
                                  <p:childTnLst>
                                    <p:set>
                                      <p:cBhvr>
                                        <p:cTn id="25" dur="1" fill="hold">
                                          <p:stCondLst>
                                            <p:cond delay="0"/>
                                          </p:stCondLst>
                                        </p:cTn>
                                        <p:tgtEl>
                                          <p:spTgt spid="4123"/>
                                        </p:tgtEl>
                                        <p:attrNameLst>
                                          <p:attrName>style.visibility</p:attrName>
                                        </p:attrNameLst>
                                      </p:cBhvr>
                                      <p:to>
                                        <p:strVal val="visible"/>
                                      </p:to>
                                    </p:set>
                                    <p:animEffect transition="in" filter="dissolve">
                                      <p:cBhvr>
                                        <p:cTn id="26" dur="500"/>
                                        <p:tgtEl>
                                          <p:spTgt spid="4123"/>
                                        </p:tgtEl>
                                      </p:cBhvr>
                                    </p:animEffect>
                                  </p:childTnLst>
                                </p:cTn>
                              </p:par>
                            </p:childTnLst>
                          </p:cTn>
                        </p:par>
                        <p:par>
                          <p:cTn id="27" fill="hold">
                            <p:stCondLst>
                              <p:cond delay="500"/>
                            </p:stCondLst>
                            <p:childTnLst>
                              <p:par>
                                <p:cTn id="28" presetID="1" presetClass="exit" presetSubtype="0" fill="hold" nodeType="afterEffect">
                                  <p:stCondLst>
                                    <p:cond delay="0"/>
                                  </p:stCondLst>
                                  <p:childTnLst>
                                    <p:set>
                                      <p:cBhvr>
                                        <p:cTn id="29" dur="1" fill="hold">
                                          <p:stCondLst>
                                            <p:cond delay="0"/>
                                          </p:stCondLst>
                                        </p:cTn>
                                        <p:tgtEl>
                                          <p:spTgt spid="4117"/>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125"/>
                                        </p:tgtEl>
                                        <p:attrNameLst>
                                          <p:attrName>style.visibility</p:attrName>
                                        </p:attrNameLst>
                                      </p:cBhvr>
                                      <p:to>
                                        <p:strVal val="visible"/>
                                      </p:to>
                                    </p:set>
                                    <p:animEffect transition="in" filter="dissolve">
                                      <p:cBhvr>
                                        <p:cTn id="34" dur="500"/>
                                        <p:tgtEl>
                                          <p:spTgt spid="412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104"/>
                                        </p:tgtEl>
                                        <p:attrNameLst>
                                          <p:attrName>style.visibility</p:attrName>
                                        </p:attrNameLst>
                                      </p:cBhvr>
                                      <p:to>
                                        <p:strVal val="visible"/>
                                      </p:to>
                                    </p:set>
                                    <p:animEffect transition="in" filter="dissolve">
                                      <p:cBhvr>
                                        <p:cTn id="39" dur="500"/>
                                        <p:tgtEl>
                                          <p:spTgt spid="410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05"/>
                                        </p:tgtEl>
                                        <p:attrNameLst>
                                          <p:attrName>style.visibility</p:attrName>
                                        </p:attrNameLst>
                                      </p:cBhvr>
                                      <p:to>
                                        <p:strVal val="visible"/>
                                      </p:to>
                                    </p:set>
                                    <p:animEffect transition="in" filter="dissolve">
                                      <p:cBhvr>
                                        <p:cTn id="44" dur="500"/>
                                        <p:tgtEl>
                                          <p:spTgt spid="410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8473"/>
                                        </p:tgtEl>
                                        <p:attrNameLst>
                                          <p:attrName>style.visibility</p:attrName>
                                        </p:attrNameLst>
                                      </p:cBhvr>
                                      <p:to>
                                        <p:strVal val="visible"/>
                                      </p:to>
                                    </p:set>
                                    <p:animEffect transition="in" filter="dissolve">
                                      <p:cBhvr>
                                        <p:cTn id="49" dur="500"/>
                                        <p:tgtEl>
                                          <p:spTgt spid="1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Merge Conflicts</a:t>
            </a:r>
          </a:p>
        </p:txBody>
      </p:sp>
      <p:pic>
        <p:nvPicPr>
          <p:cNvPr id="3" name="Picture 2" descr="Text&#10;&#10;Description automatically generated">
            <a:extLst>
              <a:ext uri="{FF2B5EF4-FFF2-40B4-BE49-F238E27FC236}">
                <a16:creationId xmlns:a16="http://schemas.microsoft.com/office/drawing/2014/main" id="{9049E8AB-42C3-CD95-57A2-6D7199F3FDAE}"/>
              </a:ext>
            </a:extLst>
          </p:cNvPr>
          <p:cNvPicPr>
            <a:picLocks noChangeAspect="1"/>
          </p:cNvPicPr>
          <p:nvPr/>
        </p:nvPicPr>
        <p:blipFill>
          <a:blip r:embed="rId3"/>
          <a:stretch>
            <a:fillRect/>
          </a:stretch>
        </p:blipFill>
        <p:spPr>
          <a:xfrm>
            <a:off x="326764" y="1188075"/>
            <a:ext cx="6438955" cy="3249014"/>
          </a:xfrm>
          <a:prstGeom prst="rect">
            <a:avLst/>
          </a:prstGeom>
        </p:spPr>
      </p:pic>
      <p:grpSp>
        <p:nvGrpSpPr>
          <p:cNvPr id="8" name="Group 7">
            <a:extLst>
              <a:ext uri="{FF2B5EF4-FFF2-40B4-BE49-F238E27FC236}">
                <a16:creationId xmlns:a16="http://schemas.microsoft.com/office/drawing/2014/main" id="{B9D988B6-B4D5-0FE8-EB99-F531CB59302A}"/>
              </a:ext>
            </a:extLst>
          </p:cNvPr>
          <p:cNvGrpSpPr/>
          <p:nvPr/>
        </p:nvGrpSpPr>
        <p:grpSpPr>
          <a:xfrm>
            <a:off x="6917441" y="142693"/>
            <a:ext cx="4947795" cy="2139963"/>
            <a:chOff x="6917441" y="742299"/>
            <a:chExt cx="4947795" cy="2139963"/>
          </a:xfrm>
        </p:grpSpPr>
        <p:pic>
          <p:nvPicPr>
            <p:cNvPr id="6" name="Picture 5" descr="Graphical user interface, application, website&#10;&#10;Description automatically generated">
              <a:extLst>
                <a:ext uri="{FF2B5EF4-FFF2-40B4-BE49-F238E27FC236}">
                  <a16:creationId xmlns:a16="http://schemas.microsoft.com/office/drawing/2014/main" id="{EBCEB74D-E58A-9AAE-377D-1B85E4E770BD}"/>
                </a:ext>
              </a:extLst>
            </p:cNvPr>
            <p:cNvPicPr>
              <a:picLocks noChangeAspect="1"/>
            </p:cNvPicPr>
            <p:nvPr/>
          </p:nvPicPr>
          <p:blipFill>
            <a:blip r:embed="rId4"/>
            <a:stretch>
              <a:fillRect/>
            </a:stretch>
          </p:blipFill>
          <p:spPr>
            <a:xfrm>
              <a:off x="6917441" y="1188075"/>
              <a:ext cx="4947795" cy="1694187"/>
            </a:xfrm>
            <a:prstGeom prst="rect">
              <a:avLst/>
            </a:prstGeom>
          </p:spPr>
        </p:pic>
        <p:sp>
          <p:nvSpPr>
            <p:cNvPr id="7" name="TextBox 6">
              <a:extLst>
                <a:ext uri="{FF2B5EF4-FFF2-40B4-BE49-F238E27FC236}">
                  <a16:creationId xmlns:a16="http://schemas.microsoft.com/office/drawing/2014/main" id="{ABAB39BE-DB47-14DF-0B08-20EAD0090F99}"/>
                </a:ext>
              </a:extLst>
            </p:cNvPr>
            <p:cNvSpPr txBox="1"/>
            <p:nvPr/>
          </p:nvSpPr>
          <p:spPr>
            <a:xfrm>
              <a:off x="7360171" y="742299"/>
              <a:ext cx="3207895" cy="461665"/>
            </a:xfrm>
            <a:prstGeom prst="rect">
              <a:avLst/>
            </a:prstGeom>
            <a:noFill/>
          </p:spPr>
          <p:txBody>
            <a:bodyPr wrap="square" rtlCol="0">
              <a:spAutoFit/>
            </a:bodyPr>
            <a:lstStyle/>
            <a:p>
              <a:r>
                <a:rPr lang="en-BE" sz="2400" dirty="0"/>
                <a:t>memory.py (at master)</a:t>
              </a:r>
            </a:p>
          </p:txBody>
        </p:sp>
      </p:grpSp>
      <p:grpSp>
        <p:nvGrpSpPr>
          <p:cNvPr id="12" name="Group 11">
            <a:extLst>
              <a:ext uri="{FF2B5EF4-FFF2-40B4-BE49-F238E27FC236}">
                <a16:creationId xmlns:a16="http://schemas.microsoft.com/office/drawing/2014/main" id="{91847AD6-575A-ED2A-4348-7FB0D567BF03}"/>
              </a:ext>
            </a:extLst>
          </p:cNvPr>
          <p:cNvGrpSpPr/>
          <p:nvPr/>
        </p:nvGrpSpPr>
        <p:grpSpPr>
          <a:xfrm>
            <a:off x="6917440" y="2398427"/>
            <a:ext cx="4947795" cy="1181800"/>
            <a:chOff x="6917440" y="2998033"/>
            <a:chExt cx="4947795" cy="1181800"/>
          </a:xfrm>
        </p:grpSpPr>
        <p:pic>
          <p:nvPicPr>
            <p:cNvPr id="10" name="Picture 9" descr="Graphical user interface, text, application, website&#10;&#10;Description automatically generated">
              <a:extLst>
                <a:ext uri="{FF2B5EF4-FFF2-40B4-BE49-F238E27FC236}">
                  <a16:creationId xmlns:a16="http://schemas.microsoft.com/office/drawing/2014/main" id="{DF315EE8-F297-3F17-72D9-14CB191573BD}"/>
                </a:ext>
              </a:extLst>
            </p:cNvPr>
            <p:cNvPicPr>
              <a:picLocks noChangeAspect="1"/>
            </p:cNvPicPr>
            <p:nvPr/>
          </p:nvPicPr>
          <p:blipFill>
            <a:blip r:embed="rId5"/>
            <a:stretch>
              <a:fillRect/>
            </a:stretch>
          </p:blipFill>
          <p:spPr>
            <a:xfrm>
              <a:off x="6917440" y="3429000"/>
              <a:ext cx="4947795" cy="750833"/>
            </a:xfrm>
            <a:prstGeom prst="rect">
              <a:avLst/>
            </a:prstGeom>
          </p:spPr>
        </p:pic>
        <p:sp>
          <p:nvSpPr>
            <p:cNvPr id="11" name="Down Arrow 10">
              <a:extLst>
                <a:ext uri="{FF2B5EF4-FFF2-40B4-BE49-F238E27FC236}">
                  <a16:creationId xmlns:a16="http://schemas.microsoft.com/office/drawing/2014/main" id="{5A3E9FCE-6196-3219-07F3-9A6C45E2A373}"/>
                </a:ext>
              </a:extLst>
            </p:cNvPr>
            <p:cNvSpPr/>
            <p:nvPr/>
          </p:nvSpPr>
          <p:spPr>
            <a:xfrm>
              <a:off x="8964118" y="2998033"/>
              <a:ext cx="284813" cy="430967"/>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4" name="Picture 13" descr="Text&#10;&#10;Description automatically generated">
            <a:extLst>
              <a:ext uri="{FF2B5EF4-FFF2-40B4-BE49-F238E27FC236}">
                <a16:creationId xmlns:a16="http://schemas.microsoft.com/office/drawing/2014/main" id="{CE85411C-FD75-A6DC-5991-6A3B266B38C4}"/>
              </a:ext>
            </a:extLst>
          </p:cNvPr>
          <p:cNvPicPr>
            <a:picLocks noChangeAspect="1"/>
          </p:cNvPicPr>
          <p:nvPr/>
        </p:nvPicPr>
        <p:blipFill>
          <a:blip r:embed="rId6"/>
          <a:stretch>
            <a:fillRect/>
          </a:stretch>
        </p:blipFill>
        <p:spPr>
          <a:xfrm>
            <a:off x="326764" y="4589723"/>
            <a:ext cx="4889813" cy="1941391"/>
          </a:xfrm>
          <a:prstGeom prst="rect">
            <a:avLst/>
          </a:prstGeom>
        </p:spPr>
      </p:pic>
      <p:sp>
        <p:nvSpPr>
          <p:cNvPr id="15" name="Left Arrow 14">
            <a:extLst>
              <a:ext uri="{FF2B5EF4-FFF2-40B4-BE49-F238E27FC236}">
                <a16:creationId xmlns:a16="http://schemas.microsoft.com/office/drawing/2014/main" id="{03EE56AC-61DD-22C3-E601-15B21D256448}"/>
              </a:ext>
            </a:extLst>
          </p:cNvPr>
          <p:cNvSpPr/>
          <p:nvPr/>
        </p:nvSpPr>
        <p:spPr>
          <a:xfrm>
            <a:off x="5216577" y="1188075"/>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Left Arrow 15">
            <a:extLst>
              <a:ext uri="{FF2B5EF4-FFF2-40B4-BE49-F238E27FC236}">
                <a16:creationId xmlns:a16="http://schemas.microsoft.com/office/drawing/2014/main" id="{100210FE-4C13-C189-83FC-982E34E7A8A7}"/>
              </a:ext>
            </a:extLst>
          </p:cNvPr>
          <p:cNvSpPr/>
          <p:nvPr/>
        </p:nvSpPr>
        <p:spPr>
          <a:xfrm>
            <a:off x="5216577" y="1769197"/>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Left Arrow 16">
            <a:extLst>
              <a:ext uri="{FF2B5EF4-FFF2-40B4-BE49-F238E27FC236}">
                <a16:creationId xmlns:a16="http://schemas.microsoft.com/office/drawing/2014/main" id="{2B6C33E7-F953-FA3E-43C7-5A91A3D20101}"/>
              </a:ext>
            </a:extLst>
          </p:cNvPr>
          <p:cNvSpPr/>
          <p:nvPr/>
        </p:nvSpPr>
        <p:spPr>
          <a:xfrm>
            <a:off x="5568846" y="2060118"/>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Left Arrow 17">
            <a:extLst>
              <a:ext uri="{FF2B5EF4-FFF2-40B4-BE49-F238E27FC236}">
                <a16:creationId xmlns:a16="http://schemas.microsoft.com/office/drawing/2014/main" id="{A71F713A-2040-A2B1-0455-429B208F06B2}"/>
              </a:ext>
            </a:extLst>
          </p:cNvPr>
          <p:cNvSpPr/>
          <p:nvPr/>
        </p:nvSpPr>
        <p:spPr>
          <a:xfrm>
            <a:off x="5568846" y="2435230"/>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Left Arrow 18">
            <a:extLst>
              <a:ext uri="{FF2B5EF4-FFF2-40B4-BE49-F238E27FC236}">
                <a16:creationId xmlns:a16="http://schemas.microsoft.com/office/drawing/2014/main" id="{94DEF290-779E-E948-ABB0-733B9F664D3C}"/>
              </a:ext>
            </a:extLst>
          </p:cNvPr>
          <p:cNvSpPr/>
          <p:nvPr/>
        </p:nvSpPr>
        <p:spPr>
          <a:xfrm>
            <a:off x="5202497" y="2890162"/>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Left Arrow 19">
            <a:extLst>
              <a:ext uri="{FF2B5EF4-FFF2-40B4-BE49-F238E27FC236}">
                <a16:creationId xmlns:a16="http://schemas.microsoft.com/office/drawing/2014/main" id="{66BAF0F5-69FE-FA1C-6649-A44120AABC23}"/>
              </a:ext>
            </a:extLst>
          </p:cNvPr>
          <p:cNvSpPr/>
          <p:nvPr/>
        </p:nvSpPr>
        <p:spPr>
          <a:xfrm flipV="1">
            <a:off x="5354897" y="324857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Left Arrow 20">
            <a:extLst>
              <a:ext uri="{FF2B5EF4-FFF2-40B4-BE49-F238E27FC236}">
                <a16:creationId xmlns:a16="http://schemas.microsoft.com/office/drawing/2014/main" id="{948CA6A2-4141-F6DA-A7C5-2C3A75BA659E}"/>
              </a:ext>
            </a:extLst>
          </p:cNvPr>
          <p:cNvSpPr/>
          <p:nvPr/>
        </p:nvSpPr>
        <p:spPr>
          <a:xfrm flipV="1">
            <a:off x="5391462" y="362999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2" name="Left Arrow 21">
            <a:extLst>
              <a:ext uri="{FF2B5EF4-FFF2-40B4-BE49-F238E27FC236}">
                <a16:creationId xmlns:a16="http://schemas.microsoft.com/office/drawing/2014/main" id="{6AF4C0D1-2714-A20C-62D9-6B06C3ED20D5}"/>
              </a:ext>
            </a:extLst>
          </p:cNvPr>
          <p:cNvSpPr/>
          <p:nvPr/>
        </p:nvSpPr>
        <p:spPr>
          <a:xfrm flipV="1">
            <a:off x="5264956" y="397150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4" name="Picture 23" descr="Text&#10;&#10;Description automatically generated">
            <a:extLst>
              <a:ext uri="{FF2B5EF4-FFF2-40B4-BE49-F238E27FC236}">
                <a16:creationId xmlns:a16="http://schemas.microsoft.com/office/drawing/2014/main" id="{F469B5ED-D39D-1BC5-F77D-8BA89F562507}"/>
              </a:ext>
            </a:extLst>
          </p:cNvPr>
          <p:cNvPicPr>
            <a:picLocks noChangeAspect="1"/>
          </p:cNvPicPr>
          <p:nvPr/>
        </p:nvPicPr>
        <p:blipFill>
          <a:blip r:embed="rId7"/>
          <a:stretch>
            <a:fillRect/>
          </a:stretch>
        </p:blipFill>
        <p:spPr>
          <a:xfrm>
            <a:off x="7225903" y="3664919"/>
            <a:ext cx="4478008" cy="2975770"/>
          </a:xfrm>
          <a:prstGeom prst="rect">
            <a:avLst/>
          </a:prstGeom>
        </p:spPr>
      </p:pic>
      <p:sp>
        <p:nvSpPr>
          <p:cNvPr id="25" name="Left Arrow 24">
            <a:extLst>
              <a:ext uri="{FF2B5EF4-FFF2-40B4-BE49-F238E27FC236}">
                <a16:creationId xmlns:a16="http://schemas.microsoft.com/office/drawing/2014/main" id="{E511779B-67C6-AE7A-75DB-BE2481E20C6C}"/>
              </a:ext>
            </a:extLst>
          </p:cNvPr>
          <p:cNvSpPr/>
          <p:nvPr/>
        </p:nvSpPr>
        <p:spPr>
          <a:xfrm flipV="1">
            <a:off x="3933330" y="566992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6" name="Left Arrow 25">
            <a:extLst>
              <a:ext uri="{FF2B5EF4-FFF2-40B4-BE49-F238E27FC236}">
                <a16:creationId xmlns:a16="http://schemas.microsoft.com/office/drawing/2014/main" id="{A936C9E3-AE6F-170F-420A-2D394B98C4DA}"/>
              </a:ext>
            </a:extLst>
          </p:cNvPr>
          <p:cNvSpPr/>
          <p:nvPr/>
        </p:nvSpPr>
        <p:spPr>
          <a:xfrm flipV="1">
            <a:off x="10568066" y="4245860"/>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7" name="Left Arrow 26">
            <a:extLst>
              <a:ext uri="{FF2B5EF4-FFF2-40B4-BE49-F238E27FC236}">
                <a16:creationId xmlns:a16="http://schemas.microsoft.com/office/drawing/2014/main" id="{F22D905E-AD58-EB44-65BA-EEEB40CB3C83}"/>
              </a:ext>
            </a:extLst>
          </p:cNvPr>
          <p:cNvSpPr/>
          <p:nvPr/>
        </p:nvSpPr>
        <p:spPr>
          <a:xfrm rot="19552461" flipV="1">
            <a:off x="10578112" y="5170968"/>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8" name="Left Arrow 27">
            <a:extLst>
              <a:ext uri="{FF2B5EF4-FFF2-40B4-BE49-F238E27FC236}">
                <a16:creationId xmlns:a16="http://schemas.microsoft.com/office/drawing/2014/main" id="{41F759FB-963F-4DA5-7BB1-72340F7B75E5}"/>
              </a:ext>
            </a:extLst>
          </p:cNvPr>
          <p:cNvSpPr/>
          <p:nvPr/>
        </p:nvSpPr>
        <p:spPr>
          <a:xfrm flipV="1">
            <a:off x="10568066" y="6096076"/>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extBox 1">
            <a:extLst>
              <a:ext uri="{FF2B5EF4-FFF2-40B4-BE49-F238E27FC236}">
                <a16:creationId xmlns:a16="http://schemas.microsoft.com/office/drawing/2014/main" id="{9205F7CA-7553-522C-21F7-BB4680BD3CE4}"/>
              </a:ext>
            </a:extLst>
          </p:cNvPr>
          <p:cNvSpPr txBox="1"/>
          <p:nvPr/>
        </p:nvSpPr>
        <p:spPr>
          <a:xfrm>
            <a:off x="9248931" y="2522576"/>
            <a:ext cx="1848385" cy="369332"/>
          </a:xfrm>
          <a:prstGeom prst="rect">
            <a:avLst/>
          </a:prstGeom>
          <a:noFill/>
        </p:spPr>
        <p:txBody>
          <a:bodyPr wrap="square" rtlCol="0">
            <a:spAutoFit/>
          </a:bodyPr>
          <a:lstStyle/>
          <a:p>
            <a:r>
              <a:rPr lang="en-US" dirty="0"/>
              <a:t>Keep both</a:t>
            </a:r>
          </a:p>
        </p:txBody>
      </p:sp>
    </p:spTree>
    <p:extLst>
      <p:ext uri="{BB962C8B-B14F-4D97-AF65-F5344CB8AC3E}">
        <p14:creationId xmlns:p14="http://schemas.microsoft.com/office/powerpoint/2010/main" val="129785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5"/>
                                        </p:tgtEl>
                                        <p:attrNameLst>
                                          <p:attrName>style.visibility</p:attrName>
                                        </p:attrNameLst>
                                      </p:cBhvr>
                                      <p:to>
                                        <p:strVal val="hidden"/>
                                      </p:to>
                                    </p:set>
                                  </p:childTnLst>
                                </p:cTn>
                              </p:par>
                              <p:par>
                                <p:cTn id="17" presetID="9"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dissolv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9"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dissolv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par>
                                <p:cTn id="31" presetID="9"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ssolv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9"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9"/>
                                        </p:tgtEl>
                                        <p:attrNameLst>
                                          <p:attrName>style.visibility</p:attrName>
                                        </p:attrNameLst>
                                      </p:cBhvr>
                                      <p:to>
                                        <p:strVal val="hidden"/>
                                      </p:to>
                                    </p:set>
                                  </p:childTnLst>
                                </p:cTn>
                              </p:par>
                              <p:par>
                                <p:cTn id="45" presetID="9"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dissolv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20"/>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dissolve">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1"/>
                                        </p:tgtEl>
                                        <p:attrNameLst>
                                          <p:attrName>style.visibility</p:attrName>
                                        </p:attrNameLst>
                                      </p:cBhvr>
                                      <p:to>
                                        <p:strVal val="hidden"/>
                                      </p:to>
                                    </p:se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2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dissolve">
                                      <p:cBhvr>
                                        <p:cTn id="70" dur="500"/>
                                        <p:tgtEl>
                                          <p:spTgt spid="14"/>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dissolve">
                                      <p:cBhvr>
                                        <p:cTn id="73" dur="5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25"/>
                                        </p:tgtEl>
                                        <p:attrNameLst>
                                          <p:attrName>style.visibility</p:attrName>
                                        </p:attrNameLst>
                                      </p:cBhvr>
                                      <p:to>
                                        <p:strVal val="hidden"/>
                                      </p:to>
                                    </p:set>
                                  </p:childTnLst>
                                </p:cTn>
                              </p:par>
                              <p:par>
                                <p:cTn id="78" presetID="9" presetClass="entr" presetSubtype="0" fill="hold" nodeType="with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dissolve">
                                      <p:cBhvr>
                                        <p:cTn id="80" dur="500"/>
                                        <p:tgtEl>
                                          <p:spTgt spid="8"/>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dissolve">
                                      <p:cBhvr>
                                        <p:cTn id="85" dur="500"/>
                                        <p:tgtEl>
                                          <p:spTgt spid="12"/>
                                        </p:tgtEl>
                                      </p:cBhvr>
                                    </p:animEffect>
                                  </p:childTnLst>
                                </p:cTn>
                              </p:par>
                              <p:par>
                                <p:cTn id="86" presetID="1" presetClass="entr" presetSubtype="0" fill="hold" grpId="0" nodeType="withEffect">
                                  <p:stCondLst>
                                    <p:cond delay="0"/>
                                  </p:stCondLst>
                                  <p:childTnLst>
                                    <p:set>
                                      <p:cBhvr>
                                        <p:cTn id="87" dur="1" fill="hold">
                                          <p:stCondLst>
                                            <p:cond delay="0"/>
                                          </p:stCondLst>
                                        </p:cTn>
                                        <p:tgtEl>
                                          <p:spTgt spid="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dissolve">
                                      <p:cBhvr>
                                        <p:cTn id="92" dur="500"/>
                                        <p:tgtEl>
                                          <p:spTgt spid="24"/>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dissolve">
                                      <p:cBhvr>
                                        <p:cTn id="95" dur="500"/>
                                        <p:tgtEl>
                                          <p:spTgt spid="26"/>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1" nodeType="clickEffect">
                                  <p:stCondLst>
                                    <p:cond delay="0"/>
                                  </p:stCondLst>
                                  <p:childTnLst>
                                    <p:set>
                                      <p:cBhvr>
                                        <p:cTn id="99" dur="1" fill="hold">
                                          <p:stCondLst>
                                            <p:cond delay="0"/>
                                          </p:stCondLst>
                                        </p:cTn>
                                        <p:tgtEl>
                                          <p:spTgt spid="26"/>
                                        </p:tgtEl>
                                        <p:attrNameLst>
                                          <p:attrName>style.visibility</p:attrName>
                                        </p:attrNameLst>
                                      </p:cBhvr>
                                      <p:to>
                                        <p:strVal val="hidden"/>
                                      </p:to>
                                    </p:set>
                                  </p:childTnLst>
                                </p:cTn>
                              </p:par>
                              <p:par>
                                <p:cTn id="100" presetID="9"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dissolve">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27"/>
                                        </p:tgtEl>
                                        <p:attrNameLst>
                                          <p:attrName>style.visibility</p:attrName>
                                        </p:attrNameLst>
                                      </p:cBhvr>
                                      <p:to>
                                        <p:strVal val="hidden"/>
                                      </p:to>
                                    </p:set>
                                  </p:childTnLst>
                                </p:cTn>
                              </p:par>
                              <p:par>
                                <p:cTn id="107" presetID="9"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dissolve">
                                      <p:cBhvr>
                                        <p:cTn id="109" dur="500"/>
                                        <p:tgtEl>
                                          <p:spTgt spid="28"/>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grpId="1" nodeType="clickEffect">
                                  <p:stCondLst>
                                    <p:cond delay="0"/>
                                  </p:stCondLst>
                                  <p:childTnLst>
                                    <p:set>
                                      <p:cBhvr>
                                        <p:cTn id="113"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5" grpId="0" animBg="1"/>
      <p:bldP spid="25" grpId="1" animBg="1"/>
      <p:bldP spid="26" grpId="0" animBg="1"/>
      <p:bldP spid="26" grpId="1" animBg="1"/>
      <p:bldP spid="27" grpId="0" animBg="1"/>
      <p:bldP spid="27" grpId="1" animBg="1"/>
      <p:bldP spid="28" grpId="0" animBg="1"/>
      <p:bldP spid="28" grpId="1" animBg="1"/>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Intro to GitHub</a:t>
            </a:r>
          </a:p>
        </p:txBody>
      </p:sp>
      <p:pic>
        <p:nvPicPr>
          <p:cNvPr id="16" name="Picture 16"/>
          <p:cNvPicPr>
            <a:picLocks noChangeAspect="1"/>
          </p:cNvPicPr>
          <p:nvPr/>
        </p:nvPicPr>
        <p:blipFill rotWithShape="1">
          <a:blip r:embed="rId3"/>
          <a:srcRect l="10505" t="26224" r="10619" b="25997"/>
          <a:stretch/>
        </p:blipFill>
        <p:spPr>
          <a:xfrm>
            <a:off x="1981432" y="1445884"/>
            <a:ext cx="2340409" cy="1063278"/>
          </a:xfrm>
          <a:prstGeom prst="rect">
            <a:avLst/>
          </a:prstGeom>
        </p:spPr>
      </p:pic>
      <p:pic>
        <p:nvPicPr>
          <p:cNvPr id="17" name="Picture 6"/>
          <p:cNvPicPr>
            <a:picLocks noChangeAspect="1"/>
          </p:cNvPicPr>
          <p:nvPr/>
        </p:nvPicPr>
        <p:blipFill>
          <a:blip r:embed="rId4"/>
          <a:srcRect/>
          <a:stretch>
            <a:fillRect/>
          </a:stretch>
        </p:blipFill>
        <p:spPr>
          <a:xfrm>
            <a:off x="1233389" y="4453667"/>
            <a:ext cx="4281504" cy="1589954"/>
          </a:xfrm>
          <a:prstGeom prst="rect">
            <a:avLst/>
          </a:prstGeom>
        </p:spPr>
      </p:pic>
      <p:pic>
        <p:nvPicPr>
          <p:cNvPr id="18" name="Picture 8"/>
          <p:cNvPicPr>
            <a:picLocks noChangeAspect="1"/>
          </p:cNvPicPr>
          <p:nvPr/>
        </p:nvPicPr>
        <p:blipFill>
          <a:blip r:embed="rId5"/>
          <a:srcRect/>
          <a:stretch>
            <a:fillRect/>
          </a:stretch>
        </p:blipFill>
        <p:spPr>
          <a:xfrm>
            <a:off x="6848633" y="4894494"/>
            <a:ext cx="3238609" cy="708300"/>
          </a:xfrm>
          <a:prstGeom prst="rect">
            <a:avLst/>
          </a:prstGeom>
        </p:spPr>
      </p:pic>
      <p:pic>
        <p:nvPicPr>
          <p:cNvPr id="19" name="Picture 2"/>
          <p:cNvPicPr>
            <a:picLocks noChangeAspect="1"/>
          </p:cNvPicPr>
          <p:nvPr/>
        </p:nvPicPr>
        <p:blipFill>
          <a:blip r:embed="rId6"/>
          <a:srcRect/>
          <a:stretch>
            <a:fillRect/>
          </a:stretch>
        </p:blipFill>
        <p:spPr>
          <a:xfrm>
            <a:off x="7150131" y="1329541"/>
            <a:ext cx="1602824" cy="926438"/>
          </a:xfrm>
          <a:prstGeom prst="rect">
            <a:avLst/>
          </a:prstGeom>
        </p:spPr>
      </p:pic>
      <p:pic>
        <p:nvPicPr>
          <p:cNvPr id="20" name="Picture 2"/>
          <p:cNvPicPr>
            <a:picLocks noChangeAspect="1"/>
          </p:cNvPicPr>
          <p:nvPr/>
        </p:nvPicPr>
        <p:blipFill>
          <a:blip r:embed="rId7"/>
          <a:srcRect/>
          <a:stretch>
            <a:fillRect/>
          </a:stretch>
        </p:blipFill>
        <p:spPr>
          <a:xfrm>
            <a:off x="6632590" y="608591"/>
            <a:ext cx="2221155" cy="2221155"/>
          </a:xfrm>
          <a:prstGeom prst="rect">
            <a:avLst/>
          </a:prstGeom>
        </p:spPr>
      </p:pic>
      <p:sp>
        <p:nvSpPr>
          <p:cNvPr id="6" name="Left Arrow 5">
            <a:extLst>
              <a:ext uri="{FF2B5EF4-FFF2-40B4-BE49-F238E27FC236}">
                <a16:creationId xmlns:a16="http://schemas.microsoft.com/office/drawing/2014/main" id="{2857E068-76D3-EE31-B408-C471362189A5}"/>
              </a:ext>
            </a:extLst>
          </p:cNvPr>
          <p:cNvSpPr>
            <a:spLocks noGrp="1"/>
          </p:cNvSpPr>
          <p:nvPr/>
        </p:nvSpPr>
        <p:spPr>
          <a:xfrm>
            <a:off x="4555776" y="1812391"/>
            <a:ext cx="1818043" cy="369527"/>
          </a:xfrm>
          <a:prstGeom prst="leftArrow">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96B3E08-9713-C2AB-A80D-385F8E1B282D}"/>
              </a:ext>
            </a:extLst>
          </p:cNvPr>
          <p:cNvSpPr>
            <a:spLocks noGrp="1"/>
          </p:cNvSpPr>
          <p:nvPr/>
        </p:nvSpPr>
        <p:spPr>
          <a:xfrm>
            <a:off x="5077609" y="1413610"/>
            <a:ext cx="1296210" cy="954107"/>
          </a:xfrm>
          <a:prstGeom prst="rect">
            <a:avLst/>
          </a:prstGeom>
          <a:noFill/>
        </p:spPr>
        <p:txBody>
          <a:bodyPr wrap="square">
            <a:spAutoFit/>
          </a:bodyPr>
          <a:lstStyle/>
          <a:p>
            <a:r>
              <a:rPr sz="1400"/>
              <a:t>Remote repository</a:t>
            </a:r>
          </a:p>
          <a:p>
            <a:endParaRPr sz="1400"/>
          </a:p>
          <a:p>
            <a:r>
              <a:rPr sz="1400"/>
              <a:t> hosting</a:t>
            </a:r>
          </a:p>
        </p:txBody>
      </p:sp>
    </p:spTree>
    <p:extLst>
      <p:ext uri="{BB962C8B-B14F-4D97-AF65-F5344CB8AC3E}">
        <p14:creationId xmlns:p14="http://schemas.microsoft.com/office/powerpoint/2010/main" val="4117667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Interacting with GitHub</a:t>
            </a:r>
          </a:p>
        </p:txBody>
      </p:sp>
      <p:pic>
        <p:nvPicPr>
          <p:cNvPr id="9" name="Picture 8" descr="Graphical user interface, text, application, email&#10;&#10;Description automatically generated">
            <a:extLst>
              <a:ext uri="{FF2B5EF4-FFF2-40B4-BE49-F238E27FC236}">
                <a16:creationId xmlns:a16="http://schemas.microsoft.com/office/drawing/2014/main" id="{3A632DDB-BBC3-4D33-D400-05C3EB482493}"/>
              </a:ext>
            </a:extLst>
          </p:cNvPr>
          <p:cNvPicPr>
            <a:picLocks noChangeAspect="1"/>
          </p:cNvPicPr>
          <p:nvPr/>
        </p:nvPicPr>
        <p:blipFill>
          <a:blip r:embed="rId3"/>
          <a:stretch>
            <a:fillRect/>
          </a:stretch>
        </p:blipFill>
        <p:spPr>
          <a:xfrm>
            <a:off x="2408940" y="1263695"/>
            <a:ext cx="3317303" cy="2021198"/>
          </a:xfrm>
          <a:prstGeom prst="rect">
            <a:avLst/>
          </a:prstGeom>
          <a:ln>
            <a:solidFill>
              <a:schemeClr val="tx1"/>
            </a:solidFill>
          </a:ln>
        </p:spPr>
      </p:pic>
      <p:pic>
        <p:nvPicPr>
          <p:cNvPr id="11" name="Picture 10" descr="Graphical user interface, application, Teams&#10;&#10;Description automatically generated">
            <a:extLst>
              <a:ext uri="{FF2B5EF4-FFF2-40B4-BE49-F238E27FC236}">
                <a16:creationId xmlns:a16="http://schemas.microsoft.com/office/drawing/2014/main" id="{EA08C506-3123-5E39-3663-B219A8D8E168}"/>
              </a:ext>
            </a:extLst>
          </p:cNvPr>
          <p:cNvPicPr>
            <a:picLocks noChangeAspect="1"/>
          </p:cNvPicPr>
          <p:nvPr/>
        </p:nvPicPr>
        <p:blipFill>
          <a:blip r:embed="rId4"/>
          <a:stretch>
            <a:fillRect/>
          </a:stretch>
        </p:blipFill>
        <p:spPr>
          <a:xfrm>
            <a:off x="838200" y="3513401"/>
            <a:ext cx="3568907" cy="1331075"/>
          </a:xfrm>
          <a:prstGeom prst="rect">
            <a:avLst/>
          </a:prstGeom>
          <a:ln>
            <a:solidFill>
              <a:schemeClr val="tx1"/>
            </a:solidFill>
          </a:ln>
        </p:spPr>
      </p:pic>
      <p:pic>
        <p:nvPicPr>
          <p:cNvPr id="15" name="Picture 14" descr="Text&#10;&#10;Description automatically generated">
            <a:extLst>
              <a:ext uri="{FF2B5EF4-FFF2-40B4-BE49-F238E27FC236}">
                <a16:creationId xmlns:a16="http://schemas.microsoft.com/office/drawing/2014/main" id="{0D916544-0D64-834B-E6E7-A67F57CB2AB4}"/>
              </a:ext>
            </a:extLst>
          </p:cNvPr>
          <p:cNvPicPr>
            <a:picLocks noChangeAspect="1"/>
          </p:cNvPicPr>
          <p:nvPr/>
        </p:nvPicPr>
        <p:blipFill rotWithShape="1">
          <a:blip r:embed="rId5"/>
          <a:srcRect t="-68"/>
          <a:stretch/>
        </p:blipFill>
        <p:spPr>
          <a:xfrm>
            <a:off x="6609847" y="694482"/>
            <a:ext cx="5314636" cy="3341278"/>
          </a:xfrm>
          <a:prstGeom prst="rect">
            <a:avLst/>
          </a:prstGeom>
        </p:spPr>
      </p:pic>
      <p:pic>
        <p:nvPicPr>
          <p:cNvPr id="17" name="Picture 16" descr="Graphical user interface, text, application, email, Teams&#10;&#10;Description automatically generated">
            <a:extLst>
              <a:ext uri="{FF2B5EF4-FFF2-40B4-BE49-F238E27FC236}">
                <a16:creationId xmlns:a16="http://schemas.microsoft.com/office/drawing/2014/main" id="{831B0C8D-36BB-CF0B-2A1B-714BD98C0924}"/>
              </a:ext>
            </a:extLst>
          </p:cNvPr>
          <p:cNvPicPr>
            <a:picLocks noChangeAspect="1"/>
          </p:cNvPicPr>
          <p:nvPr/>
        </p:nvPicPr>
        <p:blipFill>
          <a:blip r:embed="rId6"/>
          <a:stretch>
            <a:fillRect/>
          </a:stretch>
        </p:blipFill>
        <p:spPr>
          <a:xfrm>
            <a:off x="6096000" y="4405637"/>
            <a:ext cx="5757158" cy="2023098"/>
          </a:xfrm>
          <a:prstGeom prst="rect">
            <a:avLst/>
          </a:prstGeom>
          <a:ln>
            <a:solidFill>
              <a:schemeClr val="tx1"/>
            </a:solidFill>
          </a:ln>
        </p:spPr>
      </p:pic>
      <p:grpSp>
        <p:nvGrpSpPr>
          <p:cNvPr id="5" name="Group 4">
            <a:extLst>
              <a:ext uri="{FF2B5EF4-FFF2-40B4-BE49-F238E27FC236}">
                <a16:creationId xmlns:a16="http://schemas.microsoft.com/office/drawing/2014/main" id="{ED210B7F-D663-221D-7261-CDF552233F36}"/>
              </a:ext>
            </a:extLst>
          </p:cNvPr>
          <p:cNvGrpSpPr/>
          <p:nvPr/>
        </p:nvGrpSpPr>
        <p:grpSpPr>
          <a:xfrm>
            <a:off x="296528" y="1334125"/>
            <a:ext cx="2457685" cy="954107"/>
            <a:chOff x="296528" y="1334125"/>
            <a:chExt cx="2457685" cy="954107"/>
          </a:xfrm>
        </p:grpSpPr>
        <p:sp>
          <p:nvSpPr>
            <p:cNvPr id="2" name="TextBox 1">
              <a:extLst>
                <a:ext uri="{FF2B5EF4-FFF2-40B4-BE49-F238E27FC236}">
                  <a16:creationId xmlns:a16="http://schemas.microsoft.com/office/drawing/2014/main" id="{C1DCF78D-B084-36DC-4480-733E63EF79F5}"/>
                </a:ext>
              </a:extLst>
            </p:cNvPr>
            <p:cNvSpPr txBox="1"/>
            <p:nvPr/>
          </p:nvSpPr>
          <p:spPr>
            <a:xfrm>
              <a:off x="296528" y="1334125"/>
              <a:ext cx="2457685" cy="954107"/>
            </a:xfrm>
            <a:prstGeom prst="rect">
              <a:avLst/>
            </a:prstGeom>
            <a:noFill/>
          </p:spPr>
          <p:txBody>
            <a:bodyPr wrap="square" rtlCol="0">
              <a:spAutoFit/>
            </a:bodyPr>
            <a:lstStyle/>
            <a:p>
              <a:pPr marL="457200" indent="-457200">
                <a:buFont typeface="Arial" panose="020B0604020202020204" pitchFamily="34" charset="0"/>
                <a:buChar char="•"/>
              </a:pPr>
              <a:r>
                <a:rPr lang="en-BE" sz="2800" dirty="0"/>
                <a:t>git init</a:t>
              </a:r>
            </a:p>
            <a:p>
              <a:pPr marL="457200" indent="-457200">
                <a:buFont typeface="Arial" panose="020B0604020202020204" pitchFamily="34" charset="0"/>
                <a:buChar char="•"/>
              </a:pPr>
              <a:r>
                <a:rPr lang="en-GB" sz="2800" dirty="0"/>
                <a:t>g</a:t>
              </a:r>
              <a:r>
                <a:rPr lang="en-BE" sz="2800" dirty="0"/>
                <a:t>it clone</a:t>
              </a:r>
            </a:p>
          </p:txBody>
        </p:sp>
        <p:sp>
          <p:nvSpPr>
            <p:cNvPr id="3" name="Rounded Rectangle 2">
              <a:extLst>
                <a:ext uri="{FF2B5EF4-FFF2-40B4-BE49-F238E27FC236}">
                  <a16:creationId xmlns:a16="http://schemas.microsoft.com/office/drawing/2014/main" id="{BFA8E98D-B19E-7BC0-3F77-500E379758DB}"/>
                </a:ext>
              </a:extLst>
            </p:cNvPr>
            <p:cNvSpPr/>
            <p:nvPr/>
          </p:nvSpPr>
          <p:spPr>
            <a:xfrm>
              <a:off x="296528" y="1856745"/>
              <a:ext cx="1862055"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 name="TextBox 5">
            <a:extLst>
              <a:ext uri="{FF2B5EF4-FFF2-40B4-BE49-F238E27FC236}">
                <a16:creationId xmlns:a16="http://schemas.microsoft.com/office/drawing/2014/main" id="{99230D2B-6CC6-8869-33BA-E65BC714B095}"/>
              </a:ext>
            </a:extLst>
          </p:cNvPr>
          <p:cNvSpPr txBox="1"/>
          <p:nvPr/>
        </p:nvSpPr>
        <p:spPr>
          <a:xfrm>
            <a:off x="3177916" y="1948722"/>
            <a:ext cx="643375" cy="184666"/>
          </a:xfrm>
          <a:prstGeom prst="rect">
            <a:avLst/>
          </a:prstGeom>
          <a:solidFill>
            <a:schemeClr val="bg1">
              <a:lumMod val="95000"/>
            </a:schemeClr>
          </a:solidFill>
        </p:spPr>
        <p:txBody>
          <a:bodyPr wrap="square" rtlCol="0">
            <a:spAutoFit/>
          </a:bodyPr>
          <a:lstStyle/>
          <a:p>
            <a:r>
              <a:rPr lang="en-BE" sz="600" dirty="0">
                <a:solidFill>
                  <a:schemeClr val="tx1">
                    <a:lumMod val="75000"/>
                    <a:lumOff val="25000"/>
                  </a:schemeClr>
                </a:solidFill>
              </a:rPr>
              <a:t>472-2023</a:t>
            </a:r>
          </a:p>
        </p:txBody>
      </p:sp>
    </p:spTree>
    <p:extLst>
      <p:ext uri="{BB962C8B-B14F-4D97-AF65-F5344CB8AC3E}">
        <p14:creationId xmlns:p14="http://schemas.microsoft.com/office/powerpoint/2010/main" val="93852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dissolv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Working with Remote and </a:t>
            </a:r>
            <a:r>
              <a:rPr lang="en-GB" dirty="0">
                <a:solidFill>
                  <a:srgbClr val="1F1F1F"/>
                </a:solidFill>
                <a:latin typeface="Source Sans Pro" panose="020B0503030403020204" pitchFamily="34" charset="0"/>
              </a:rPr>
              <a:t>F</a:t>
            </a:r>
            <a:r>
              <a:rPr lang="en-GB" b="0" i="0" dirty="0">
                <a:solidFill>
                  <a:srgbClr val="1F1F1F"/>
                </a:solidFill>
                <a:effectLst/>
                <a:latin typeface="Source Sans Pro" panose="020B0503030403020204" pitchFamily="34" charset="0"/>
              </a:rPr>
              <a:t>etching Changes</a:t>
            </a:r>
          </a:p>
        </p:txBody>
      </p:sp>
      <p:grpSp>
        <p:nvGrpSpPr>
          <p:cNvPr id="13" name="Group 12">
            <a:extLst>
              <a:ext uri="{FF2B5EF4-FFF2-40B4-BE49-F238E27FC236}">
                <a16:creationId xmlns:a16="http://schemas.microsoft.com/office/drawing/2014/main" id="{164399D1-9AE1-FA16-C4F4-5E194D145C5D}"/>
              </a:ext>
            </a:extLst>
          </p:cNvPr>
          <p:cNvGrpSpPr/>
          <p:nvPr/>
        </p:nvGrpSpPr>
        <p:grpSpPr>
          <a:xfrm>
            <a:off x="5004701" y="1270451"/>
            <a:ext cx="2665867" cy="2253003"/>
            <a:chOff x="4731383" y="1652896"/>
            <a:chExt cx="2665867" cy="2253003"/>
          </a:xfrm>
        </p:grpSpPr>
        <p:grpSp>
          <p:nvGrpSpPr>
            <p:cNvPr id="5" name="Group 4">
              <a:extLst>
                <a:ext uri="{FF2B5EF4-FFF2-40B4-BE49-F238E27FC236}">
                  <a16:creationId xmlns:a16="http://schemas.microsoft.com/office/drawing/2014/main" id="{BEE73BDE-6C53-863C-D85D-D1D3CED55453}"/>
                </a:ext>
              </a:extLst>
            </p:cNvPr>
            <p:cNvGrpSpPr/>
            <p:nvPr/>
          </p:nvGrpSpPr>
          <p:grpSpPr>
            <a:xfrm>
              <a:off x="4731383" y="1652896"/>
              <a:ext cx="1602824" cy="2253003"/>
              <a:chOff x="4679991" y="1512843"/>
              <a:chExt cx="1602824" cy="2253003"/>
            </a:xfrm>
          </p:grpSpPr>
          <p:pic>
            <p:nvPicPr>
              <p:cNvPr id="4098" name="Picture 2" descr="Subway - Free transport icons">
                <a:extLst>
                  <a:ext uri="{FF2B5EF4-FFF2-40B4-BE49-F238E27FC236}">
                    <a16:creationId xmlns:a16="http://schemas.microsoft.com/office/drawing/2014/main" id="{4B336AEB-A4B5-94C9-ADC8-069B8A09F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6807" y="2536653"/>
                <a:ext cx="1229193" cy="12291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GitHub Logo and symbol, meaning, history, PNG, brand">
                <a:extLst>
                  <a:ext uri="{FF2B5EF4-FFF2-40B4-BE49-F238E27FC236}">
                    <a16:creationId xmlns:a16="http://schemas.microsoft.com/office/drawing/2014/main" id="{F4A9C71A-2158-E746-F977-C4F475D2B9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991" y="1512843"/>
                <a:ext cx="1602824" cy="926438"/>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DDE6A296-E59B-8FF8-CCB3-B8C190BC8FD6}"/>
                </a:ext>
              </a:extLst>
            </p:cNvPr>
            <p:cNvSpPr txBox="1"/>
            <p:nvPr/>
          </p:nvSpPr>
          <p:spPr>
            <a:xfrm>
              <a:off x="6168057" y="2898793"/>
              <a:ext cx="1229193" cy="646331"/>
            </a:xfrm>
            <a:prstGeom prst="rect">
              <a:avLst/>
            </a:prstGeom>
            <a:noFill/>
          </p:spPr>
          <p:txBody>
            <a:bodyPr wrap="square" rtlCol="0">
              <a:spAutoFit/>
            </a:bodyPr>
            <a:lstStyle/>
            <a:p>
              <a:r>
                <a:rPr lang="en-BE" dirty="0"/>
                <a:t>Remote Repository</a:t>
              </a:r>
            </a:p>
          </p:txBody>
        </p:sp>
      </p:grpSp>
      <p:grpSp>
        <p:nvGrpSpPr>
          <p:cNvPr id="12" name="Group 11">
            <a:extLst>
              <a:ext uri="{FF2B5EF4-FFF2-40B4-BE49-F238E27FC236}">
                <a16:creationId xmlns:a16="http://schemas.microsoft.com/office/drawing/2014/main" id="{64AD46AD-CADA-6302-FBE0-DE9AB32E7FDB}"/>
              </a:ext>
            </a:extLst>
          </p:cNvPr>
          <p:cNvGrpSpPr/>
          <p:nvPr/>
        </p:nvGrpSpPr>
        <p:grpSpPr>
          <a:xfrm>
            <a:off x="1040422" y="4780151"/>
            <a:ext cx="1807710" cy="1750963"/>
            <a:chOff x="1040422" y="4780151"/>
            <a:chExt cx="1807710" cy="1750963"/>
          </a:xfrm>
        </p:grpSpPr>
        <p:pic>
          <p:nvPicPr>
            <p:cNvPr id="4102" name="Picture 6" descr="Female software developer icon Stock Vector | Adobe Stock">
              <a:extLst>
                <a:ext uri="{FF2B5EF4-FFF2-40B4-BE49-F238E27FC236}">
                  <a16:creationId xmlns:a16="http://schemas.microsoft.com/office/drawing/2014/main" id="{61A511F1-6A2D-23A2-66E4-6EF619CE1E9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70" r="7985"/>
            <a:stretch/>
          </p:blipFill>
          <p:spPr bwMode="auto">
            <a:xfrm>
              <a:off x="1243349" y="4780151"/>
              <a:ext cx="1343284" cy="15153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5C9F3C-DBB2-6C35-1130-6076A295D1C6}"/>
                </a:ext>
              </a:extLst>
            </p:cNvPr>
            <p:cNvSpPr txBox="1"/>
            <p:nvPr/>
          </p:nvSpPr>
          <p:spPr>
            <a:xfrm>
              <a:off x="1040422" y="6161782"/>
              <a:ext cx="1807710" cy="369332"/>
            </a:xfrm>
            <a:prstGeom prst="rect">
              <a:avLst/>
            </a:prstGeom>
            <a:noFill/>
          </p:spPr>
          <p:txBody>
            <a:bodyPr wrap="square" rtlCol="0">
              <a:spAutoFit/>
            </a:bodyPr>
            <a:lstStyle/>
            <a:p>
              <a:r>
                <a:rPr lang="en-BE" dirty="0"/>
                <a:t>Local Repository</a:t>
              </a:r>
            </a:p>
          </p:txBody>
        </p:sp>
      </p:grpSp>
      <p:grpSp>
        <p:nvGrpSpPr>
          <p:cNvPr id="11" name="Group 10">
            <a:extLst>
              <a:ext uri="{FF2B5EF4-FFF2-40B4-BE49-F238E27FC236}">
                <a16:creationId xmlns:a16="http://schemas.microsoft.com/office/drawing/2014/main" id="{28750774-8B26-5825-3D44-7C6CBB29948A}"/>
              </a:ext>
            </a:extLst>
          </p:cNvPr>
          <p:cNvGrpSpPr/>
          <p:nvPr/>
        </p:nvGrpSpPr>
        <p:grpSpPr>
          <a:xfrm>
            <a:off x="5207238" y="4828229"/>
            <a:ext cx="1807710" cy="1794958"/>
            <a:chOff x="4649729" y="4780151"/>
            <a:chExt cx="1807710" cy="1794958"/>
          </a:xfrm>
        </p:grpSpPr>
        <p:pic>
          <p:nvPicPr>
            <p:cNvPr id="4104" name="Picture 8" descr="Developer Icon Vector Art, Icons, and Graphics for Free Download">
              <a:extLst>
                <a:ext uri="{FF2B5EF4-FFF2-40B4-BE49-F238E27FC236}">
                  <a16:creationId xmlns:a16="http://schemas.microsoft.com/office/drawing/2014/main" id="{E7572EEC-E5D4-1D1D-E877-03909F0471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71" t="11092" r="10005" b="11809"/>
            <a:stretch/>
          </p:blipFill>
          <p:spPr bwMode="auto">
            <a:xfrm>
              <a:off x="4758303" y="4780151"/>
              <a:ext cx="1590562" cy="151537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4E661BF-9D37-B85F-688F-6D2291A30766}"/>
                </a:ext>
              </a:extLst>
            </p:cNvPr>
            <p:cNvSpPr txBox="1"/>
            <p:nvPr/>
          </p:nvSpPr>
          <p:spPr>
            <a:xfrm>
              <a:off x="4649729" y="6205777"/>
              <a:ext cx="1807710" cy="369332"/>
            </a:xfrm>
            <a:prstGeom prst="rect">
              <a:avLst/>
            </a:prstGeom>
            <a:noFill/>
          </p:spPr>
          <p:txBody>
            <a:bodyPr wrap="square" rtlCol="0">
              <a:spAutoFit/>
            </a:bodyPr>
            <a:lstStyle/>
            <a:p>
              <a:r>
                <a:rPr lang="en-BE" dirty="0"/>
                <a:t>Local Repository</a:t>
              </a:r>
            </a:p>
          </p:txBody>
        </p:sp>
      </p:grpSp>
      <p:grpSp>
        <p:nvGrpSpPr>
          <p:cNvPr id="10" name="Group 9">
            <a:extLst>
              <a:ext uri="{FF2B5EF4-FFF2-40B4-BE49-F238E27FC236}">
                <a16:creationId xmlns:a16="http://schemas.microsoft.com/office/drawing/2014/main" id="{98759E24-8137-5922-7B6A-4C8BBAE7A7FE}"/>
              </a:ext>
            </a:extLst>
          </p:cNvPr>
          <p:cNvGrpSpPr/>
          <p:nvPr/>
        </p:nvGrpSpPr>
        <p:grpSpPr>
          <a:xfrm>
            <a:off x="8291445" y="4427467"/>
            <a:ext cx="2093610" cy="2103647"/>
            <a:chOff x="8855041" y="4427467"/>
            <a:chExt cx="2093610" cy="2103647"/>
          </a:xfrm>
        </p:grpSpPr>
        <p:pic>
          <p:nvPicPr>
            <p:cNvPr id="4100" name="Picture 4" descr="Developer Icon Vector Art, Icons, and Graphics for Free Download">
              <a:extLst>
                <a:ext uri="{FF2B5EF4-FFF2-40B4-BE49-F238E27FC236}">
                  <a16:creationId xmlns:a16="http://schemas.microsoft.com/office/drawing/2014/main" id="{F21ACB4C-3B41-BEFA-EAF2-C3BCD69679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55041" y="4427467"/>
              <a:ext cx="2093610" cy="209361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F5DC93-F0EA-0EEE-F204-3314EA740EBB}"/>
                </a:ext>
              </a:extLst>
            </p:cNvPr>
            <p:cNvSpPr txBox="1"/>
            <p:nvPr/>
          </p:nvSpPr>
          <p:spPr>
            <a:xfrm>
              <a:off x="8997991" y="6161782"/>
              <a:ext cx="1807710" cy="369332"/>
            </a:xfrm>
            <a:prstGeom prst="rect">
              <a:avLst/>
            </a:prstGeom>
            <a:noFill/>
          </p:spPr>
          <p:txBody>
            <a:bodyPr wrap="square" rtlCol="0">
              <a:spAutoFit/>
            </a:bodyPr>
            <a:lstStyle/>
            <a:p>
              <a:r>
                <a:rPr lang="en-BE" dirty="0"/>
                <a:t>Local Repository</a:t>
              </a:r>
            </a:p>
          </p:txBody>
        </p:sp>
      </p:grpSp>
      <p:pic>
        <p:nvPicPr>
          <p:cNvPr id="4106" name="Picture 10" descr="Definition of a test case – Bartek Rohard Warszawski">
            <a:extLst>
              <a:ext uri="{FF2B5EF4-FFF2-40B4-BE49-F238E27FC236}">
                <a16:creationId xmlns:a16="http://schemas.microsoft.com/office/drawing/2014/main" id="{DC346D38-7C6F-BDCD-C766-7091AAFCD9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20681200">
            <a:off x="9931632" y="5120122"/>
            <a:ext cx="620944" cy="70830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A3D148A-AB13-4D1B-7A57-1BC5270A812D}"/>
              </a:ext>
            </a:extLst>
          </p:cNvPr>
          <p:cNvSpPr txBox="1"/>
          <p:nvPr/>
        </p:nvSpPr>
        <p:spPr>
          <a:xfrm>
            <a:off x="2237575" y="5097807"/>
            <a:ext cx="749508" cy="376465"/>
          </a:xfrm>
          <a:prstGeom prst="rect">
            <a:avLst/>
          </a:prstGeom>
          <a:noFill/>
        </p:spPr>
        <p:txBody>
          <a:bodyPr wrap="square" rtlCol="0">
            <a:spAutoFit/>
          </a:bodyPr>
          <a:lstStyle/>
          <a:p>
            <a:r>
              <a:rPr lang="en-BE" dirty="0"/>
              <a:t>Alice</a:t>
            </a:r>
          </a:p>
        </p:txBody>
      </p:sp>
      <p:sp>
        <p:nvSpPr>
          <p:cNvPr id="15" name="TextBox 14">
            <a:extLst>
              <a:ext uri="{FF2B5EF4-FFF2-40B4-BE49-F238E27FC236}">
                <a16:creationId xmlns:a16="http://schemas.microsoft.com/office/drawing/2014/main" id="{FFEB0271-5BDC-CEE8-6627-EF00661A19DF}"/>
              </a:ext>
            </a:extLst>
          </p:cNvPr>
          <p:cNvSpPr txBox="1"/>
          <p:nvPr/>
        </p:nvSpPr>
        <p:spPr>
          <a:xfrm>
            <a:off x="6400355" y="5139377"/>
            <a:ext cx="749508" cy="376465"/>
          </a:xfrm>
          <a:prstGeom prst="rect">
            <a:avLst/>
          </a:prstGeom>
          <a:noFill/>
        </p:spPr>
        <p:txBody>
          <a:bodyPr wrap="square" rtlCol="0">
            <a:spAutoFit/>
          </a:bodyPr>
          <a:lstStyle/>
          <a:p>
            <a:r>
              <a:rPr lang="en-BE" dirty="0"/>
              <a:t>Bob</a:t>
            </a:r>
          </a:p>
        </p:txBody>
      </p:sp>
      <p:sp>
        <p:nvSpPr>
          <p:cNvPr id="16" name="TextBox 15">
            <a:extLst>
              <a:ext uri="{FF2B5EF4-FFF2-40B4-BE49-F238E27FC236}">
                <a16:creationId xmlns:a16="http://schemas.microsoft.com/office/drawing/2014/main" id="{DA21CD3C-88E1-ADD4-56B3-6F241C1AB1AA}"/>
              </a:ext>
            </a:extLst>
          </p:cNvPr>
          <p:cNvSpPr txBox="1"/>
          <p:nvPr/>
        </p:nvSpPr>
        <p:spPr>
          <a:xfrm>
            <a:off x="9502589" y="4780151"/>
            <a:ext cx="749508" cy="376465"/>
          </a:xfrm>
          <a:prstGeom prst="rect">
            <a:avLst/>
          </a:prstGeom>
          <a:noFill/>
        </p:spPr>
        <p:txBody>
          <a:bodyPr wrap="square" rtlCol="0">
            <a:spAutoFit/>
          </a:bodyPr>
          <a:lstStyle/>
          <a:p>
            <a:r>
              <a:rPr lang="en-BE" dirty="0"/>
              <a:t>Sam</a:t>
            </a:r>
          </a:p>
        </p:txBody>
      </p:sp>
      <p:pic>
        <p:nvPicPr>
          <p:cNvPr id="4108" name="Picture 12" descr="Content management, features, order management, software application,  survey icon - Download on Iconfinder">
            <a:extLst>
              <a:ext uri="{FF2B5EF4-FFF2-40B4-BE49-F238E27FC236}">
                <a16:creationId xmlns:a16="http://schemas.microsoft.com/office/drawing/2014/main" id="{820C6C7C-4D71-7942-DCB3-AFF46E99E3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86194" y="5470558"/>
            <a:ext cx="526738" cy="52673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Content management, features, order management, software application,  survey icon - Download on Iconfinder">
            <a:extLst>
              <a:ext uri="{FF2B5EF4-FFF2-40B4-BE49-F238E27FC236}">
                <a16:creationId xmlns:a16="http://schemas.microsoft.com/office/drawing/2014/main" id="{C69E56B7-CB0D-E4A5-65B0-02125C30717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6633" y="5422480"/>
            <a:ext cx="526738" cy="526738"/>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5097DA96-8F9C-7638-6C67-D5AE9E67BB1C}"/>
              </a:ext>
            </a:extLst>
          </p:cNvPr>
          <p:cNvGrpSpPr/>
          <p:nvPr/>
        </p:nvGrpSpPr>
        <p:grpSpPr>
          <a:xfrm>
            <a:off x="2458387" y="3517128"/>
            <a:ext cx="1649609" cy="1069862"/>
            <a:chOff x="2458387" y="3517128"/>
            <a:chExt cx="1649609" cy="1069862"/>
          </a:xfrm>
        </p:grpSpPr>
        <p:cxnSp>
          <p:nvCxnSpPr>
            <p:cNvPr id="19" name="Straight Arrow Connector 18">
              <a:extLst>
                <a:ext uri="{FF2B5EF4-FFF2-40B4-BE49-F238E27FC236}">
                  <a16:creationId xmlns:a16="http://schemas.microsoft.com/office/drawing/2014/main" id="{BB829414-6BA9-5B85-FDEE-A145282656C3}"/>
                </a:ext>
              </a:extLst>
            </p:cNvPr>
            <p:cNvCxnSpPr>
              <a:cxnSpLocks/>
            </p:cNvCxnSpPr>
            <p:nvPr/>
          </p:nvCxnSpPr>
          <p:spPr>
            <a:xfrm flipH="1">
              <a:off x="2458387" y="3517128"/>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1086536-5022-A8A8-EE88-E047591B957F}"/>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grpSp>
      <p:grpSp>
        <p:nvGrpSpPr>
          <p:cNvPr id="46" name="Group 45">
            <a:extLst>
              <a:ext uri="{FF2B5EF4-FFF2-40B4-BE49-F238E27FC236}">
                <a16:creationId xmlns:a16="http://schemas.microsoft.com/office/drawing/2014/main" id="{7B154AE2-D94F-E1B0-47F1-8EF30489FDC9}"/>
              </a:ext>
            </a:extLst>
          </p:cNvPr>
          <p:cNvGrpSpPr/>
          <p:nvPr/>
        </p:nvGrpSpPr>
        <p:grpSpPr>
          <a:xfrm>
            <a:off x="2853750" y="3972771"/>
            <a:ext cx="1562606" cy="975528"/>
            <a:chOff x="2853750" y="3972771"/>
            <a:chExt cx="1562606" cy="975528"/>
          </a:xfrm>
        </p:grpSpPr>
        <p:cxnSp>
          <p:nvCxnSpPr>
            <p:cNvPr id="21" name="Straight Arrow Connector 20">
              <a:extLst>
                <a:ext uri="{FF2B5EF4-FFF2-40B4-BE49-F238E27FC236}">
                  <a16:creationId xmlns:a16="http://schemas.microsoft.com/office/drawing/2014/main" id="{07A7831B-24B1-AF33-3490-06B2C8444C8E}"/>
                </a:ext>
              </a:extLst>
            </p:cNvPr>
            <p:cNvCxnSpPr>
              <a:cxnSpLocks/>
            </p:cNvCxnSpPr>
            <p:nvPr/>
          </p:nvCxnSpPr>
          <p:spPr>
            <a:xfrm flipV="1">
              <a:off x="2853750" y="3972771"/>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AA38F23-EE74-EB8F-066C-2587CE690050}"/>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grpSp>
        <p:nvGrpSpPr>
          <p:cNvPr id="31" name="Group 30">
            <a:extLst>
              <a:ext uri="{FF2B5EF4-FFF2-40B4-BE49-F238E27FC236}">
                <a16:creationId xmlns:a16="http://schemas.microsoft.com/office/drawing/2014/main" id="{3D3526B1-365A-DD84-6561-DC658E0DDAA0}"/>
              </a:ext>
            </a:extLst>
          </p:cNvPr>
          <p:cNvGrpSpPr/>
          <p:nvPr/>
        </p:nvGrpSpPr>
        <p:grpSpPr>
          <a:xfrm rot="18217086">
            <a:off x="5274408" y="3829627"/>
            <a:ext cx="1488708" cy="859246"/>
            <a:chOff x="2600695" y="3770440"/>
            <a:chExt cx="1488708" cy="859246"/>
          </a:xfrm>
        </p:grpSpPr>
        <p:cxnSp>
          <p:nvCxnSpPr>
            <p:cNvPr id="32" name="Straight Arrow Connector 31">
              <a:extLst>
                <a:ext uri="{FF2B5EF4-FFF2-40B4-BE49-F238E27FC236}">
                  <a16:creationId xmlns:a16="http://schemas.microsoft.com/office/drawing/2014/main" id="{19F56651-5E40-53C9-26D2-8F28EC2D4024}"/>
                </a:ext>
              </a:extLst>
            </p:cNvPr>
            <p:cNvCxnSpPr>
              <a:cxnSpLocks/>
            </p:cNvCxnSpPr>
            <p:nvPr/>
          </p:nvCxnSpPr>
          <p:spPr>
            <a:xfrm rot="3382914">
              <a:off x="3174470" y="3547605"/>
              <a:ext cx="0" cy="1147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FB1ADF6-B075-0AA0-88E3-46D25557443A}"/>
                </a:ext>
              </a:extLst>
            </p:cNvPr>
            <p:cNvCxnSpPr>
              <a:cxnSpLocks/>
            </p:cNvCxnSpPr>
            <p:nvPr/>
          </p:nvCxnSpPr>
          <p:spPr>
            <a:xfrm rot="3382914" flipV="1">
              <a:off x="3510714" y="3947164"/>
              <a:ext cx="19053" cy="11383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37379A6-3345-598B-551A-F0DDCA84723B}"/>
                </a:ext>
              </a:extLst>
            </p:cNvPr>
            <p:cNvSpPr txBox="1"/>
            <p:nvPr/>
          </p:nvSpPr>
          <p:spPr>
            <a:xfrm rot="19903263">
              <a:off x="2709933" y="3770440"/>
              <a:ext cx="654984" cy="369332"/>
            </a:xfrm>
            <a:prstGeom prst="rect">
              <a:avLst/>
            </a:prstGeom>
            <a:noFill/>
          </p:spPr>
          <p:txBody>
            <a:bodyPr wrap="square" rtlCol="0">
              <a:spAutoFit/>
            </a:bodyPr>
            <a:lstStyle/>
            <a:p>
              <a:r>
                <a:rPr lang="en-BE" dirty="0"/>
                <a:t>Pull</a:t>
              </a:r>
            </a:p>
          </p:txBody>
        </p:sp>
        <p:sp>
          <p:nvSpPr>
            <p:cNvPr id="35" name="TextBox 34">
              <a:extLst>
                <a:ext uri="{FF2B5EF4-FFF2-40B4-BE49-F238E27FC236}">
                  <a16:creationId xmlns:a16="http://schemas.microsoft.com/office/drawing/2014/main" id="{FEDE74AE-D667-EBAB-C249-2C6C3084FEB5}"/>
                </a:ext>
              </a:extLst>
            </p:cNvPr>
            <p:cNvSpPr txBox="1"/>
            <p:nvPr/>
          </p:nvSpPr>
          <p:spPr>
            <a:xfrm rot="19903263">
              <a:off x="2964474" y="4260354"/>
              <a:ext cx="654984" cy="369332"/>
            </a:xfrm>
            <a:prstGeom prst="rect">
              <a:avLst/>
            </a:prstGeom>
            <a:noFill/>
          </p:spPr>
          <p:txBody>
            <a:bodyPr wrap="square" rtlCol="0">
              <a:spAutoFit/>
            </a:bodyPr>
            <a:lstStyle/>
            <a:p>
              <a:r>
                <a:rPr lang="en-BE" dirty="0"/>
                <a:t>Push</a:t>
              </a:r>
            </a:p>
          </p:txBody>
        </p:sp>
      </p:grpSp>
      <p:grpSp>
        <p:nvGrpSpPr>
          <p:cNvPr id="36" name="Group 35">
            <a:extLst>
              <a:ext uri="{FF2B5EF4-FFF2-40B4-BE49-F238E27FC236}">
                <a16:creationId xmlns:a16="http://schemas.microsoft.com/office/drawing/2014/main" id="{8640F63C-ED63-0183-AE77-AF8C701DA972}"/>
              </a:ext>
            </a:extLst>
          </p:cNvPr>
          <p:cNvGrpSpPr/>
          <p:nvPr/>
        </p:nvGrpSpPr>
        <p:grpSpPr>
          <a:xfrm rot="15160910">
            <a:off x="7781307" y="3405147"/>
            <a:ext cx="1497933" cy="1199509"/>
            <a:chOff x="2458387" y="3748790"/>
            <a:chExt cx="1497933" cy="1199509"/>
          </a:xfrm>
        </p:grpSpPr>
        <p:cxnSp>
          <p:nvCxnSpPr>
            <p:cNvPr id="37" name="Straight Arrow Connector 36">
              <a:extLst>
                <a:ext uri="{FF2B5EF4-FFF2-40B4-BE49-F238E27FC236}">
                  <a16:creationId xmlns:a16="http://schemas.microsoft.com/office/drawing/2014/main" id="{D35337E0-9906-5910-3FDC-E98592C9BD3B}"/>
                </a:ext>
              </a:extLst>
            </p:cNvPr>
            <p:cNvCxnSpPr>
              <a:cxnSpLocks/>
            </p:cNvCxnSpPr>
            <p:nvPr/>
          </p:nvCxnSpPr>
          <p:spPr>
            <a:xfrm flipH="1">
              <a:off x="2458387" y="3748790"/>
              <a:ext cx="1259174" cy="8382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A0C044-E653-82D9-DCAA-5D15FB4CC849}"/>
                </a:ext>
              </a:extLst>
            </p:cNvPr>
            <p:cNvCxnSpPr>
              <a:cxnSpLocks/>
            </p:cNvCxnSpPr>
            <p:nvPr/>
          </p:nvCxnSpPr>
          <p:spPr>
            <a:xfrm flipV="1">
              <a:off x="2853750" y="4261014"/>
              <a:ext cx="1102570" cy="6872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3255C74-E840-57ED-8FF5-5EB04C70CDBD}"/>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sp>
          <p:nvSpPr>
            <p:cNvPr id="40" name="TextBox 39">
              <a:extLst>
                <a:ext uri="{FF2B5EF4-FFF2-40B4-BE49-F238E27FC236}">
                  <a16:creationId xmlns:a16="http://schemas.microsoft.com/office/drawing/2014/main" id="{82E710B0-0341-CEBA-FBEA-5F489698CA99}"/>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spTree>
    <p:extLst>
      <p:ext uri="{BB962C8B-B14F-4D97-AF65-F5344CB8AC3E}">
        <p14:creationId xmlns:p14="http://schemas.microsoft.com/office/powerpoint/2010/main" val="1912292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Conflict Resolution with Remotes</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sp>
        <p:nvSpPr>
          <p:cNvPr id="13" name="TextBox 12">
            <a:extLst>
              <a:ext uri="{FF2B5EF4-FFF2-40B4-BE49-F238E27FC236}">
                <a16:creationId xmlns:a16="http://schemas.microsoft.com/office/drawing/2014/main" id="{85D6F0AE-24A5-F1A3-DA83-A2BB4B487212}"/>
              </a:ext>
            </a:extLst>
          </p:cNvPr>
          <p:cNvSpPr>
            <a:spLocks noGrp="1"/>
          </p:cNvSpPr>
          <p:nvPr/>
        </p:nvSpPr>
        <p:spPr>
          <a:xfrm>
            <a:off x="1034321" y="2110031"/>
            <a:ext cx="9263922" cy="1938992"/>
          </a:xfrm>
          <a:prstGeom prst="rect">
            <a:avLst/>
          </a:prstGeom>
          <a:noFill/>
        </p:spPr>
        <p:txBody>
          <a:bodyPr wrap="square">
            <a:spAutoFit/>
          </a:bodyPr>
          <a:lstStyle/>
          <a:p>
            <a:pPr marL="342900" indent="-342900" algn="l">
              <a:buFont typeface="Arial"/>
              <a:buChar char="•"/>
            </a:pPr>
            <a:r>
              <a:rPr sz="2000" b="0" i="0" u="sng">
                <a:solidFill>
                  <a:srgbClr val="0056D2"/>
                </a:solidFill>
                <a:latin typeface="Source Sans Pro"/>
                <a:ea typeface="Source Sans Pro"/>
                <a:cs typeface="Source Sans Pro"/>
                <a:hlinkClick r:id="rId3"/>
              </a:rPr>
              <a:t>https://help.github.com/en/github/collaborating-with-issues-and-pull-requests/about-merge-conflicts</a:t>
            </a:r>
            <a:endParaRPr sz="2000" b="0" i="0">
              <a:solidFill>
                <a:srgbClr val="1F1F1F"/>
              </a:solidFill>
              <a:latin typeface="Source Sans Pro"/>
              <a:ea typeface="Source Sans Pro"/>
              <a:cs typeface="Source Sans Pro"/>
            </a:endParaRPr>
          </a:p>
          <a:p>
            <a:pPr marL="342900" indent="-342900" algn="l">
              <a:buFont typeface="Arial"/>
              <a:buChar char="•"/>
            </a:pPr>
            <a:r>
              <a:rPr sz="2000" b="0" i="0" u="sng">
                <a:solidFill>
                  <a:srgbClr val="0056D2"/>
                </a:solidFill>
                <a:latin typeface="Source Sans Pro"/>
                <a:ea typeface="Source Sans Pro"/>
                <a:cs typeface="Source Sans Pro"/>
                <a:hlinkClick r:id="rId4"/>
              </a:rPr>
              <a:t>https://help.github.com/en/github/collaborating-with-issues-and-pull-requests/resolving-a-merge-conflict-using-the-command-line</a:t>
            </a:r>
            <a:endParaRPr sz="2000" b="0" i="0">
              <a:solidFill>
                <a:srgbClr val="1F1F1F"/>
              </a:solidFill>
              <a:latin typeface="Source Sans Pro"/>
              <a:ea typeface="Source Sans Pro"/>
              <a:cs typeface="Source Sans Pro"/>
            </a:endParaRPr>
          </a:p>
          <a:p>
            <a:pPr marL="342900" indent="-342900" algn="l">
              <a:buFont typeface="Arial"/>
              <a:buChar char="•"/>
            </a:pPr>
            <a:r>
              <a:rPr sz="2000" b="0" i="0">
                <a:solidFill>
                  <a:srgbClr val="1F1F1F"/>
                </a:solidFill>
                <a:latin typeface="Source Sans Pro"/>
                <a:ea typeface="Source Sans Pro"/>
                <a:cs typeface="Source Sans Pro"/>
              </a:rPr>
              <a:t>The git rebase command is a lot more powerful.  Check out </a:t>
            </a:r>
            <a:r>
              <a:rPr sz="2000" b="0" i="0" u="sng">
                <a:solidFill>
                  <a:srgbClr val="0056D2"/>
                </a:solidFill>
                <a:latin typeface="Source Sans Pro"/>
                <a:ea typeface="Source Sans Pro"/>
                <a:cs typeface="Source Sans Pro"/>
                <a:hlinkClick r:id="rId5"/>
              </a:rPr>
              <a:t>this link</a:t>
            </a:r>
            <a:r>
              <a:rPr sz="2000" b="0" i="0">
                <a:solidFill>
                  <a:srgbClr val="1F1F1F"/>
                </a:solidFill>
                <a:latin typeface="Source Sans Pro"/>
                <a:ea typeface="Source Sans Pro"/>
                <a:cs typeface="Source Sans Pro"/>
              </a:rPr>
              <a:t> for more information.</a:t>
            </a:r>
          </a:p>
        </p:txBody>
      </p:sp>
    </p:spTree>
    <p:extLst>
      <p:ext uri="{BB962C8B-B14F-4D97-AF65-F5344CB8AC3E}">
        <p14:creationId xmlns:p14="http://schemas.microsoft.com/office/powerpoint/2010/main" val="1702025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One Repository for the Whole Team</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All team members clone the same team repository.</a:t>
            </a:r>
          </a:p>
          <a:p>
            <a:r>
              <a:t>The main branch represents the integrated and stable project.</a:t>
            </a:r>
          </a:p>
          <a:p>
            <a:r>
              <a:t>Each task is completed on a separate branch.</a:t>
            </a:r>
          </a:p>
          <a:p>
            <a:r>
              <a:t>Unfinished work remains off main.</a:t>
            </a:r>
          </a:p>
          <a:p>
            <a:r>
              <a:t>Branch protection prevents uncontrolled integration.</a:t>
            </a:r>
          </a:p>
        </p:txBody>
      </p:sp>
    </p:spTree>
    <p:extLst>
      <p:ext uri="{BB962C8B-B14F-4D97-AF65-F5344CB8AC3E}">
        <p14:creationId xmlns:p14="http://schemas.microsoft.com/office/powerpoint/2010/main" val="990315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The Team Contribution Workflow</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rPr dirty="0"/>
              <a:t>Issue → Branch → Focused commits → Push → Pull request → Review → Revision → Merge</a:t>
            </a:r>
          </a:p>
          <a:p>
            <a:endParaRPr dirty="0"/>
          </a:p>
          <a:p>
            <a:r>
              <a:rPr dirty="0"/>
              <a:t>The issue defines the expected result.</a:t>
            </a:r>
          </a:p>
          <a:p>
            <a:r>
              <a:rPr dirty="0"/>
              <a:t>The branch isolates the implementation.</a:t>
            </a:r>
          </a:p>
          <a:p>
            <a:r>
              <a:rPr dirty="0"/>
              <a:t>The pull request creates a place to evaluate and discuss the change.</a:t>
            </a:r>
          </a:p>
          <a:p>
            <a:r>
              <a:rPr dirty="0"/>
              <a:t>The merge integrates an approved contribution into main.</a:t>
            </a:r>
          </a:p>
        </p:txBody>
      </p:sp>
    </p:spTree>
    <p:extLst>
      <p:ext uri="{BB962C8B-B14F-4D97-AF65-F5344CB8AC3E}">
        <p14:creationId xmlns:p14="http://schemas.microsoft.com/office/powerpoint/2010/main" val="990315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Pull Requests Control Integration</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A pull request should identify the related issue.</a:t>
            </a:r>
          </a:p>
          <a:p>
            <a:r>
              <a:t>The author explains what changed and how it was tested.</a:t>
            </a:r>
          </a:p>
          <a:p>
            <a:r>
              <a:t>A teammate reviews the contribution against the issue and project requirements.</a:t>
            </a:r>
          </a:p>
          <a:p>
            <a:r>
              <a:t>The author responds to comments and updates the same branch.</a:t>
            </a:r>
          </a:p>
          <a:p>
            <a:r>
              <a:t>The change is merged only after approval and required checks.</a:t>
            </a:r>
          </a:p>
        </p:txBody>
      </p:sp>
    </p:spTree>
    <p:extLst>
      <p:ext uri="{BB962C8B-B14F-4D97-AF65-F5344CB8AC3E}">
        <p14:creationId xmlns:p14="http://schemas.microsoft.com/office/powerpoint/2010/main" val="990315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b="0" i="0">
                <a:solidFill>
                  <a:srgbClr val="1F1F1F"/>
                </a:solidFill>
                <a:latin typeface="Source Sans Pro"/>
                <a:ea typeface="Source Sans Pro"/>
                <a:cs typeface="Source Sans Pro"/>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pic>
        <p:nvPicPr>
          <p:cNvPr id="39" name="Picture 7"/>
          <p:cNvPicPr>
            <a:picLocks noChangeAspect="1"/>
          </p:cNvPicPr>
          <p:nvPr/>
        </p:nvPicPr>
        <p:blipFill>
          <a:blip r:embed="rId3"/>
          <a:stretch>
            <a:fillRect/>
          </a:stretch>
        </p:blipFill>
        <p:spPr>
          <a:xfrm>
            <a:off x="838200" y="1421982"/>
            <a:ext cx="6143989" cy="2769122"/>
          </a:xfrm>
          <a:prstGeom prst="rect">
            <a:avLst/>
          </a:prstGeom>
          <a:ln>
            <a:solidFill>
              <a:schemeClr val="tx1"/>
            </a:solidFill>
          </a:ln>
        </p:spPr>
      </p:pic>
      <p:sp>
        <p:nvSpPr>
          <p:cNvPr id="11" name="Left Arrow 10">
            <a:extLst>
              <a:ext uri="{FF2B5EF4-FFF2-40B4-BE49-F238E27FC236}">
                <a16:creationId xmlns:a16="http://schemas.microsoft.com/office/drawing/2014/main" id="{DCFCBDA9-7990-3979-7666-9E9A12F3C6FA}"/>
              </a:ext>
            </a:extLst>
          </p:cNvPr>
          <p:cNvSpPr>
            <a:spLocks noGrp="1"/>
          </p:cNvSpPr>
          <p:nvPr/>
        </p:nvSpPr>
        <p:spPr>
          <a:xfrm>
            <a:off x="6429166" y="3852472"/>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1" name="Picture 12"/>
          <p:cNvPicPr>
            <a:picLocks noChangeAspect="1"/>
          </p:cNvPicPr>
          <p:nvPr/>
        </p:nvPicPr>
        <p:blipFill>
          <a:blip r:embed="rId4"/>
          <a:stretch>
            <a:fillRect/>
          </a:stretch>
        </p:blipFill>
        <p:spPr>
          <a:xfrm>
            <a:off x="838200" y="4381180"/>
            <a:ext cx="6697011" cy="2159316"/>
          </a:xfrm>
          <a:prstGeom prst="rect">
            <a:avLst/>
          </a:prstGeom>
        </p:spPr>
      </p:pic>
      <p:sp>
        <p:nvSpPr>
          <p:cNvPr id="14" name="Left Arrow 13">
            <a:extLst>
              <a:ext uri="{FF2B5EF4-FFF2-40B4-BE49-F238E27FC236}">
                <a16:creationId xmlns:a16="http://schemas.microsoft.com/office/drawing/2014/main" id="{71354A8E-FE10-4B12-DD02-D02C3C8C0C77}"/>
              </a:ext>
            </a:extLst>
          </p:cNvPr>
          <p:cNvSpPr>
            <a:spLocks noGrp="1"/>
          </p:cNvSpPr>
          <p:nvPr/>
        </p:nvSpPr>
        <p:spPr>
          <a:xfrm>
            <a:off x="6429166" y="4814341"/>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29071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b="0" i="0">
                <a:solidFill>
                  <a:srgbClr val="1F1F1F"/>
                </a:solidFill>
                <a:latin typeface="Source Sans Pro"/>
                <a:ea typeface="Source Sans Pro"/>
                <a:cs typeface="Source Sans Pro"/>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pic>
        <p:nvPicPr>
          <p:cNvPr id="39" name="Picture 4"/>
          <p:cNvPicPr>
            <a:picLocks noChangeAspect="1"/>
          </p:cNvPicPr>
          <p:nvPr/>
        </p:nvPicPr>
        <p:blipFill rotWithShape="1">
          <a:blip r:embed="rId3"/>
          <a:srcRect b="10319"/>
          <a:stretch/>
        </p:blipFill>
        <p:spPr>
          <a:xfrm>
            <a:off x="571572" y="1424378"/>
            <a:ext cx="6278934" cy="3222573"/>
          </a:xfrm>
          <a:prstGeom prst="rect">
            <a:avLst/>
          </a:prstGeom>
          <a:ln>
            <a:solidFill>
              <a:schemeClr val="bg1">
                <a:lumMod val="65000"/>
              </a:schemeClr>
            </a:solidFill>
          </a:ln>
        </p:spPr>
      </p:pic>
      <p:sp>
        <p:nvSpPr>
          <p:cNvPr id="6" name="Left Arrow 5">
            <a:extLst>
              <a:ext uri="{FF2B5EF4-FFF2-40B4-BE49-F238E27FC236}">
                <a16:creationId xmlns:a16="http://schemas.microsoft.com/office/drawing/2014/main" id="{7F08FB06-F281-2D4E-823C-D72DD3FBE68D}"/>
              </a:ext>
            </a:extLst>
          </p:cNvPr>
          <p:cNvSpPr>
            <a:spLocks noGrp="1"/>
          </p:cNvSpPr>
          <p:nvPr/>
        </p:nvSpPr>
        <p:spPr>
          <a:xfrm rot="2980000" flipV="1">
            <a:off x="2388245"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Left Arrow 17">
            <a:extLst>
              <a:ext uri="{FF2B5EF4-FFF2-40B4-BE49-F238E27FC236}">
                <a16:creationId xmlns:a16="http://schemas.microsoft.com/office/drawing/2014/main" id="{6E1815C4-B201-F299-EEB3-1C61A4650339}"/>
              </a:ext>
            </a:extLst>
          </p:cNvPr>
          <p:cNvSpPr>
            <a:spLocks noGrp="1"/>
          </p:cNvSpPr>
          <p:nvPr/>
        </p:nvSpPr>
        <p:spPr>
          <a:xfrm rot="2980000" flipV="1">
            <a:off x="4182844"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2" name="Picture 19"/>
          <p:cNvPicPr>
            <a:picLocks noChangeAspect="1"/>
          </p:cNvPicPr>
          <p:nvPr/>
        </p:nvPicPr>
        <p:blipFill>
          <a:blip r:embed="rId4"/>
          <a:stretch>
            <a:fillRect/>
          </a:stretch>
        </p:blipFill>
        <p:spPr>
          <a:xfrm>
            <a:off x="1289154" y="4699104"/>
            <a:ext cx="4348329" cy="1813681"/>
          </a:xfrm>
          <a:prstGeom prst="rect">
            <a:avLst/>
          </a:prstGeom>
          <a:ln>
            <a:solidFill>
              <a:schemeClr val="bg1">
                <a:lumMod val="65000"/>
              </a:schemeClr>
            </a:solidFill>
          </a:ln>
        </p:spPr>
      </p:pic>
      <p:sp>
        <p:nvSpPr>
          <p:cNvPr id="3" name="TextBox 2">
            <a:extLst>
              <a:ext uri="{FF2B5EF4-FFF2-40B4-BE49-F238E27FC236}">
                <a16:creationId xmlns:a16="http://schemas.microsoft.com/office/drawing/2014/main" id="{5647E5D0-4A8D-C357-3B8F-4745707CF5AE}"/>
              </a:ext>
            </a:extLst>
          </p:cNvPr>
          <p:cNvSpPr>
            <a:spLocks noGrp="1"/>
          </p:cNvSpPr>
          <p:nvPr/>
        </p:nvSpPr>
        <p:spPr>
          <a:xfrm>
            <a:off x="6096001" y="4959613"/>
            <a:ext cx="5446954" cy="1569660"/>
          </a:xfrm>
          <a:prstGeom prst="rect">
            <a:avLst/>
          </a:prstGeom>
          <a:noFill/>
          <a:ln w="28575">
            <a:solidFill>
              <a:srgbClr val="1D15C5"/>
            </a:solidFill>
          </a:ln>
        </p:spPr>
        <p:txBody>
          <a:bodyPr wrap="square">
            <a:spAutoFit/>
          </a:bodyPr>
          <a:lstStyle/>
          <a:p>
            <a:r>
              <a:rPr sz="3200"/>
              <a:t>Some projects may ask you to have only one commit in your pull requests</a:t>
            </a:r>
          </a:p>
        </p:txBody>
      </p:sp>
    </p:spTree>
    <p:extLst>
      <p:ext uri="{BB962C8B-B14F-4D97-AF65-F5344CB8AC3E}">
        <p14:creationId xmlns:p14="http://schemas.microsoft.com/office/powerpoint/2010/main" val="747265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Best Practices for Collaboration</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sp>
        <p:nvSpPr>
          <p:cNvPr id="11" name="TextBox 10">
            <a:extLst>
              <a:ext uri="{FF2B5EF4-FFF2-40B4-BE49-F238E27FC236}">
                <a16:creationId xmlns:a16="http://schemas.microsoft.com/office/drawing/2014/main" id="{ABF928C8-BC6E-EF66-9D88-AEE47D790836}"/>
              </a:ext>
            </a:extLst>
          </p:cNvPr>
          <p:cNvSpPr>
            <a:spLocks noGrp="1"/>
          </p:cNvSpPr>
          <p:nvPr/>
        </p:nvSpPr>
        <p:spPr>
          <a:xfrm>
            <a:off x="838200" y="1833033"/>
            <a:ext cx="9385092" cy="2923877"/>
          </a:xfrm>
          <a:prstGeom prst="rect">
            <a:avLst/>
          </a:prstGeom>
          <a:noFill/>
          <a:ln w="38100">
            <a:solidFill>
              <a:srgbClr val="166623"/>
            </a:solidFill>
          </a:ln>
        </p:spPr>
        <p:txBody>
          <a:bodyPr wrap="square">
            <a:spAutoFit/>
          </a:bodyPr>
          <a:lstStyle/>
          <a:p>
            <a:pPr marL="285750" indent="-285750">
              <a:buFont typeface="Arial"/>
              <a:buChar char="•"/>
            </a:pPr>
            <a:r>
              <a:rPr sz="2400" b="0" i="0">
                <a:solidFill>
                  <a:srgbClr val="1F1F1F"/>
                </a:solidFill>
                <a:latin typeface="Source Sans Pro"/>
                <a:ea typeface="Source Sans Pro"/>
                <a:cs typeface="Source Sans Pro"/>
              </a:rPr>
              <a:t>It's a good idea to always synchronize your branches before starting any work on your own.</a:t>
            </a:r>
          </a:p>
          <a:p>
            <a:pPr marL="285750" indent="-285750">
              <a:buFont typeface="Arial"/>
              <a:buChar char="•"/>
            </a:pPr>
            <a:r>
              <a:rPr sz="2400">
                <a:solidFill>
                  <a:srgbClr val="1F1F1F"/>
                </a:solidFill>
                <a:latin typeface="Source Sans Pro"/>
                <a:ea typeface="Source Sans Pro"/>
                <a:cs typeface="Source Sans Pro"/>
              </a:rPr>
              <a:t>A</a:t>
            </a:r>
            <a:r>
              <a:rPr sz="2400" b="0" i="0">
                <a:solidFill>
                  <a:srgbClr val="1F1F1F"/>
                </a:solidFill>
                <a:latin typeface="Source Sans Pro"/>
                <a:ea typeface="Source Sans Pro"/>
                <a:cs typeface="Source Sans Pro"/>
              </a:rPr>
              <a:t>void having very large changes that modify a lot of different things.</a:t>
            </a:r>
          </a:p>
          <a:p>
            <a:pPr marL="285750" indent="-285750">
              <a:buFont typeface="Arial"/>
              <a:buChar char="•"/>
            </a:pPr>
            <a:r>
              <a:rPr sz="2400">
                <a:solidFill>
                  <a:srgbClr val="333333"/>
                </a:solidFill>
                <a:latin typeface="OpenSans"/>
                <a:ea typeface="OpenSans"/>
                <a:cs typeface="OpenSans"/>
              </a:rPr>
              <a:t>W</a:t>
            </a:r>
            <a:r>
              <a:rPr sz="2400" b="0" i="0">
                <a:solidFill>
                  <a:srgbClr val="333333"/>
                </a:solidFill>
                <a:latin typeface="OpenSans"/>
                <a:ea typeface="OpenSans"/>
                <a:cs typeface="OpenSans"/>
              </a:rPr>
              <a:t>hen working on a big change, it makes sense to have a separate feature branch.</a:t>
            </a:r>
          </a:p>
          <a:p>
            <a:pPr marL="742950" lvl="1" indent="-285750">
              <a:buFont typeface="Arial"/>
              <a:buChar char="•"/>
            </a:pPr>
            <a:r>
              <a:rPr sz="2000" b="0" i="0">
                <a:solidFill>
                  <a:srgbClr val="333333"/>
                </a:solidFill>
                <a:latin typeface="OpenSans"/>
                <a:ea typeface="OpenSans"/>
                <a:cs typeface="OpenSans"/>
              </a:rPr>
              <a:t>To make the final merge of the feature branch easier, it makes sense to regularly merge changes made on the master branch back onto the feature branch.</a:t>
            </a:r>
            <a:endParaRPr sz="2000">
              <a:solidFill>
                <a:srgbClr val="333333"/>
              </a:solidFill>
              <a:latin typeface="OpenSans"/>
              <a:ea typeface="OpenSans"/>
              <a:cs typeface="OpenSans"/>
            </a:endParaRPr>
          </a:p>
          <a:p>
            <a:pPr marL="285750" indent="-285750">
              <a:buFont typeface="Arial"/>
              <a:buChar char="•"/>
            </a:pPr>
            <a:r>
              <a:rPr sz="2400" b="0" i="0">
                <a:solidFill>
                  <a:srgbClr val="333333"/>
                </a:solidFill>
                <a:latin typeface="OpenSans"/>
                <a:ea typeface="OpenSans"/>
                <a:cs typeface="OpenSans"/>
              </a:rPr>
              <a:t>Avoid rebasing on public repository</a:t>
            </a:r>
          </a:p>
        </p:txBody>
      </p:sp>
      <p:sp>
        <p:nvSpPr>
          <p:cNvPr id="13" name="TextBox 12">
            <a:extLst>
              <a:ext uri="{FF2B5EF4-FFF2-40B4-BE49-F238E27FC236}">
                <a16:creationId xmlns:a16="http://schemas.microsoft.com/office/drawing/2014/main" id="{A987BBAE-D19D-9F31-B82F-78C20A73A11D}"/>
              </a:ext>
            </a:extLst>
          </p:cNvPr>
          <p:cNvSpPr>
            <a:spLocks noGrp="1"/>
          </p:cNvSpPr>
          <p:nvPr/>
        </p:nvSpPr>
        <p:spPr>
          <a:xfrm>
            <a:off x="389744" y="5370090"/>
            <a:ext cx="10702977" cy="923330"/>
          </a:xfrm>
          <a:prstGeom prst="rect">
            <a:avLst/>
          </a:prstGeom>
          <a:noFill/>
        </p:spPr>
        <p:txBody>
          <a:bodyPr wrap="square">
            <a:spAutoFit/>
          </a:bodyPr>
          <a:lstStyle/>
          <a:p>
            <a:pPr marL="285750" indent="-285750" algn="l">
              <a:buFont typeface="Arial"/>
              <a:buChar char="•"/>
            </a:pPr>
            <a:r>
              <a:rPr b="0" i="0" u="sng">
                <a:solidFill>
                  <a:srgbClr val="0056D2"/>
                </a:solidFill>
                <a:latin typeface="Source Sans Pro"/>
                <a:ea typeface="Source Sans Pro"/>
                <a:cs typeface="Source Sans Pro"/>
                <a:hlinkClick r:id="rId3"/>
              </a:rPr>
              <a:t>https://help.github.com/en/github/collaborating-with-issues-and-pull-requests/about-merge-conflicts</a:t>
            </a:r>
            <a:endParaRPr b="0" i="0">
              <a:solidFill>
                <a:srgbClr val="1F1F1F"/>
              </a:solidFill>
              <a:latin typeface="Source Sans Pro"/>
              <a:ea typeface="Source Sans Pro"/>
              <a:cs typeface="Source Sans Pro"/>
            </a:endParaRPr>
          </a:p>
          <a:p>
            <a:pPr marL="285750" indent="-285750" algn="l">
              <a:buFont typeface="Arial"/>
              <a:buChar char="•"/>
            </a:pPr>
            <a:r>
              <a:rPr b="0" i="0" u="sng">
                <a:solidFill>
                  <a:srgbClr val="0056D2"/>
                </a:solidFill>
                <a:latin typeface="Source Sans Pro"/>
                <a:ea typeface="Source Sans Pro"/>
                <a:cs typeface="Source Sans Pro"/>
                <a:hlinkClick r:id="rId4"/>
              </a:rPr>
              <a:t>https://help.github.com/en/github/collaborating-with-issues-and-pull-requests/resolving-a-merge-conflict-using-the-command-line</a:t>
            </a:r>
            <a:endParaRPr b="0" i="0" u="sng">
              <a:solidFill>
                <a:srgbClr val="0056D2"/>
              </a:solidFill>
              <a:latin typeface="Source Sans Pro"/>
              <a:ea typeface="Source Sans Pro"/>
              <a:cs typeface="Source Sans Pro"/>
            </a:endParaRPr>
          </a:p>
        </p:txBody>
      </p:sp>
    </p:spTree>
    <p:extLst>
      <p:ext uri="{BB962C8B-B14F-4D97-AF65-F5344CB8AC3E}">
        <p14:creationId xmlns:p14="http://schemas.microsoft.com/office/powerpoint/2010/main" val="1748445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b="0" i="0">
                <a:solidFill>
                  <a:srgbClr val="1F1F1F"/>
                </a:solidFill>
                <a:latin typeface="Source Sans Pro"/>
                <a:ea typeface="Source Sans Pro"/>
                <a:cs typeface="Source Sans Pro"/>
              </a:rPr>
              <a:t>Code Reviews</a:t>
            </a:r>
            <a:endParaRPr b="0" i="0">
              <a:solidFill>
                <a:srgbClr val="1F1F1F"/>
              </a:solidFill>
              <a:latin typeface="OpenSans"/>
              <a:ea typeface="OpenSans"/>
              <a:cs typeface="OpenSans"/>
            </a:endParaRPr>
          </a:p>
        </p:txBody>
      </p:sp>
      <p:sp>
        <p:nvSpPr>
          <p:cNvPr id="14" name="TextBox 13">
            <a:extLst>
              <a:ext uri="{FF2B5EF4-FFF2-40B4-BE49-F238E27FC236}">
                <a16:creationId xmlns:a16="http://schemas.microsoft.com/office/drawing/2014/main" id="{7FD9351F-F33A-4684-3877-C7CBE7168D46}"/>
              </a:ext>
            </a:extLst>
          </p:cNvPr>
          <p:cNvSpPr>
            <a:spLocks noGrp="1"/>
          </p:cNvSpPr>
          <p:nvPr/>
        </p:nvSpPr>
        <p:spPr>
          <a:xfrm>
            <a:off x="8193506" y="4677337"/>
            <a:ext cx="3160294" cy="1815882"/>
          </a:xfrm>
          <a:prstGeom prst="rect">
            <a:avLst/>
          </a:prstGeom>
          <a:noFill/>
          <a:ln w="38100">
            <a:solidFill>
              <a:srgbClr val="166623"/>
            </a:solidFill>
          </a:ln>
        </p:spPr>
        <p:txBody>
          <a:bodyPr wrap="square">
            <a:spAutoFit/>
          </a:bodyPr>
          <a:lstStyle/>
          <a:p>
            <a:pPr marL="285750" indent="-285750">
              <a:buFont typeface="Arial"/>
              <a:buChar char="•"/>
            </a:pPr>
            <a:r>
              <a:rPr sz="2800"/>
              <a:t>Documentation</a:t>
            </a:r>
          </a:p>
          <a:p>
            <a:pPr marL="285750" indent="-285750">
              <a:buFont typeface="Arial"/>
              <a:buChar char="•"/>
            </a:pPr>
            <a:r>
              <a:rPr sz="2800"/>
              <a:t>Configurations</a:t>
            </a:r>
          </a:p>
          <a:p>
            <a:pPr marL="285750" indent="-285750">
              <a:buFont typeface="Arial"/>
              <a:buChar char="•"/>
            </a:pPr>
            <a:r>
              <a:rPr sz="2800"/>
              <a:t>Code</a:t>
            </a:r>
          </a:p>
          <a:p>
            <a:pPr marL="285750" indent="-285750">
              <a:buFont typeface="Arial"/>
              <a:buChar char="•"/>
            </a:pPr>
            <a:r>
              <a:rPr sz="2800"/>
              <a:t>Design Diagrams</a:t>
            </a:r>
          </a:p>
        </p:txBody>
      </p:sp>
      <p:sp>
        <p:nvSpPr>
          <p:cNvPr id="3" name="TextBox 2">
            <a:extLst>
              <a:ext uri="{FF2B5EF4-FFF2-40B4-BE49-F238E27FC236}">
                <a16:creationId xmlns:a16="http://schemas.microsoft.com/office/drawing/2014/main" id="{CEAA58F6-C4D2-C243-95B1-7AE91C79EE4A}"/>
              </a:ext>
            </a:extLst>
          </p:cNvPr>
          <p:cNvSpPr>
            <a:spLocks noGrp="1"/>
          </p:cNvSpPr>
          <p:nvPr/>
        </p:nvSpPr>
        <p:spPr>
          <a:xfrm>
            <a:off x="1030147" y="1780674"/>
            <a:ext cx="9641711" cy="2246769"/>
          </a:xfrm>
          <a:prstGeom prst="rect">
            <a:avLst/>
          </a:prstGeom>
          <a:noFill/>
          <a:ln w="38100">
            <a:solidFill>
              <a:srgbClr val="166623"/>
            </a:solidFill>
          </a:ln>
        </p:spPr>
        <p:txBody>
          <a:bodyPr wrap="square">
            <a:spAutoFit/>
          </a:bodyPr>
          <a:lstStyle/>
          <a:p>
            <a:pPr algn="just">
              <a:buNone/>
            </a:pPr>
            <a:r>
              <a:rPr sz="2000" b="1" i="0">
                <a:solidFill>
                  <a:srgbClr val="202122"/>
                </a:solidFill>
                <a:latin typeface="Arial"/>
                <a:ea typeface="Arial"/>
                <a:cs typeface="Arial"/>
              </a:rPr>
              <a:t>Code review </a:t>
            </a:r>
            <a:r>
              <a:rPr sz="2000" i="0">
                <a:solidFill>
                  <a:srgbClr val="202122"/>
                </a:solidFill>
                <a:latin typeface="Arial"/>
                <a:ea typeface="Arial"/>
                <a:cs typeface="Arial"/>
              </a:rPr>
              <a:t>(sometimes referred to as peer review) is a software quality assurance activity in which </a:t>
            </a:r>
            <a:r>
              <a:rPr sz="2000" b="1" i="0">
                <a:solidFill>
                  <a:srgbClr val="202122"/>
                </a:solidFill>
                <a:latin typeface="Arial"/>
                <a:ea typeface="Arial"/>
                <a:cs typeface="Arial"/>
              </a:rPr>
              <a:t>one</a:t>
            </a:r>
            <a:r>
              <a:rPr sz="2000" i="0">
                <a:solidFill>
                  <a:srgbClr val="202122"/>
                </a:solidFill>
                <a:latin typeface="Arial"/>
                <a:ea typeface="Arial"/>
                <a:cs typeface="Arial"/>
              </a:rPr>
              <a:t> or </a:t>
            </a:r>
            <a:r>
              <a:rPr sz="2000" b="1" i="0">
                <a:solidFill>
                  <a:srgbClr val="202122"/>
                </a:solidFill>
                <a:latin typeface="Arial"/>
                <a:ea typeface="Arial"/>
                <a:cs typeface="Arial"/>
              </a:rPr>
              <a:t>several people </a:t>
            </a:r>
            <a:r>
              <a:rPr sz="2000" i="0">
                <a:solidFill>
                  <a:srgbClr val="202122"/>
                </a:solidFill>
                <a:latin typeface="Arial"/>
                <a:ea typeface="Arial"/>
                <a:cs typeface="Arial"/>
              </a:rPr>
              <a:t>check a program mainly by viewing and reading parts of its source code, and they do so after implementation or as an interruption of implementation. </a:t>
            </a:r>
          </a:p>
          <a:p>
            <a:pPr marL="342900" indent="-342900" algn="just">
              <a:buFont typeface="Arial"/>
              <a:buChar char="•"/>
            </a:pPr>
            <a:r>
              <a:rPr sz="2000" i="0">
                <a:solidFill>
                  <a:srgbClr val="202122"/>
                </a:solidFill>
                <a:latin typeface="Arial"/>
                <a:ea typeface="Arial"/>
                <a:cs typeface="Arial"/>
              </a:rPr>
              <a:t>At least one of the persons must not be the code's author. </a:t>
            </a:r>
          </a:p>
          <a:p>
            <a:pPr marL="342900" indent="-342900" algn="just">
              <a:buFont typeface="Arial"/>
              <a:buChar char="•"/>
            </a:pPr>
            <a:r>
              <a:rPr sz="2000" i="0">
                <a:solidFill>
                  <a:srgbClr val="202122"/>
                </a:solidFill>
                <a:latin typeface="Arial"/>
                <a:ea typeface="Arial"/>
                <a:cs typeface="Arial"/>
              </a:rPr>
              <a:t>The persons performing the checking, excluding the </a:t>
            </a:r>
            <a:r>
              <a:rPr sz="2000" b="1" i="0">
                <a:solidFill>
                  <a:srgbClr val="202122"/>
                </a:solidFill>
                <a:latin typeface="Arial"/>
                <a:ea typeface="Arial"/>
                <a:cs typeface="Arial"/>
              </a:rPr>
              <a:t>author</a:t>
            </a:r>
            <a:r>
              <a:rPr sz="2000" i="0">
                <a:solidFill>
                  <a:srgbClr val="202122"/>
                </a:solidFill>
                <a:latin typeface="Arial"/>
                <a:ea typeface="Arial"/>
                <a:cs typeface="Arial"/>
              </a:rPr>
              <a:t>, are called "</a:t>
            </a:r>
            <a:r>
              <a:rPr sz="2000" b="1" i="0">
                <a:solidFill>
                  <a:srgbClr val="202122"/>
                </a:solidFill>
                <a:latin typeface="Arial"/>
                <a:ea typeface="Arial"/>
                <a:cs typeface="Arial"/>
              </a:rPr>
              <a:t>reviewers</a:t>
            </a:r>
            <a:r>
              <a:rPr sz="2000" i="0">
                <a:solidFill>
                  <a:srgbClr val="202122"/>
                </a:solidFill>
                <a:latin typeface="Arial"/>
                <a:ea typeface="Arial"/>
                <a:cs typeface="Arial"/>
              </a:rPr>
              <a:t>".</a:t>
            </a:r>
            <a:endParaRPr sz="2000"/>
          </a:p>
        </p:txBody>
      </p:sp>
    </p:spTree>
    <p:extLst>
      <p:ext uri="{BB962C8B-B14F-4D97-AF65-F5344CB8AC3E}">
        <p14:creationId xmlns:p14="http://schemas.microsoft.com/office/powerpoint/2010/main" val="4130235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79459"/>
            <a:ext cx="10515600" cy="708301"/>
          </a:xfrm>
        </p:spPr>
        <p:txBody>
          <a:bodyPr>
            <a:normAutofit/>
          </a:bodyPr>
          <a:lstStyle/>
          <a:p>
            <a:r>
              <a:rPr sz="3600"/>
              <a:t>Why do we need to perform code reviews?</a:t>
            </a:r>
          </a:p>
        </p:txBody>
      </p:sp>
      <p:pic>
        <p:nvPicPr>
          <p:cNvPr id="46" name="Picture 6"/>
          <p:cNvPicPr>
            <a:picLocks noChangeAspect="1"/>
          </p:cNvPicPr>
          <p:nvPr/>
        </p:nvPicPr>
        <p:blipFill rotWithShape="1">
          <a:blip r:embed="rId3"/>
          <a:srcRect r="49604" b="64261"/>
          <a:stretch/>
        </p:blipFill>
        <p:spPr>
          <a:xfrm>
            <a:off x="1418816" y="893108"/>
            <a:ext cx="3044868" cy="1843866"/>
          </a:xfrm>
          <a:prstGeom prst="rect">
            <a:avLst/>
          </a:prstGeom>
        </p:spPr>
      </p:pic>
      <p:pic>
        <p:nvPicPr>
          <p:cNvPr id="47" name="Picture 8"/>
          <p:cNvPicPr>
            <a:picLocks noChangeAspect="1"/>
          </p:cNvPicPr>
          <p:nvPr/>
        </p:nvPicPr>
        <p:blipFill rotWithShape="1">
          <a:blip r:embed="rId3"/>
          <a:srcRect l="49604" b="64261"/>
          <a:stretch/>
        </p:blipFill>
        <p:spPr>
          <a:xfrm>
            <a:off x="4279534" y="893109"/>
            <a:ext cx="3044868" cy="1843866"/>
          </a:xfrm>
          <a:prstGeom prst="rect">
            <a:avLst/>
          </a:prstGeom>
        </p:spPr>
      </p:pic>
      <p:pic>
        <p:nvPicPr>
          <p:cNvPr id="48" name="Picture 9"/>
          <p:cNvPicPr>
            <a:picLocks noChangeAspect="1"/>
          </p:cNvPicPr>
          <p:nvPr/>
        </p:nvPicPr>
        <p:blipFill rotWithShape="1">
          <a:blip r:embed="rId3"/>
          <a:srcRect t="35739" r="53155" b="28522"/>
          <a:stretch/>
        </p:blipFill>
        <p:spPr>
          <a:xfrm>
            <a:off x="1442816" y="2741160"/>
            <a:ext cx="2830293" cy="1843866"/>
          </a:xfrm>
          <a:prstGeom prst="rect">
            <a:avLst/>
          </a:prstGeom>
        </p:spPr>
      </p:pic>
      <p:pic>
        <p:nvPicPr>
          <p:cNvPr id="49" name="Picture 10"/>
          <p:cNvPicPr>
            <a:picLocks noChangeAspect="1"/>
          </p:cNvPicPr>
          <p:nvPr/>
        </p:nvPicPr>
        <p:blipFill rotWithShape="1">
          <a:blip r:embed="rId3"/>
          <a:srcRect l="49604" t="35739" b="28522"/>
          <a:stretch/>
        </p:blipFill>
        <p:spPr>
          <a:xfrm>
            <a:off x="4301603" y="2741160"/>
            <a:ext cx="3044868" cy="1843866"/>
          </a:xfrm>
          <a:prstGeom prst="rect">
            <a:avLst/>
          </a:prstGeom>
        </p:spPr>
      </p:pic>
      <p:pic>
        <p:nvPicPr>
          <p:cNvPr id="50" name="Picture 11"/>
          <p:cNvPicPr>
            <a:picLocks noChangeAspect="1"/>
          </p:cNvPicPr>
          <p:nvPr/>
        </p:nvPicPr>
        <p:blipFill rotWithShape="1">
          <a:blip r:embed="rId3"/>
          <a:srcRect t="71478"/>
          <a:stretch/>
        </p:blipFill>
        <p:spPr>
          <a:xfrm>
            <a:off x="1408243" y="4589213"/>
            <a:ext cx="5909653" cy="1439347"/>
          </a:xfrm>
          <a:prstGeom prst="rect">
            <a:avLst/>
          </a:prstGeom>
        </p:spPr>
      </p:pic>
      <p:sp>
        <p:nvSpPr>
          <p:cNvPr id="2" name="TextBox 1">
            <a:extLst>
              <a:ext uri="{FF2B5EF4-FFF2-40B4-BE49-F238E27FC236}">
                <a16:creationId xmlns:a16="http://schemas.microsoft.com/office/drawing/2014/main" id="{24CDB1B2-E5CC-88BD-1385-E9D8C411AFF6}"/>
              </a:ext>
            </a:extLst>
          </p:cNvPr>
          <p:cNvSpPr>
            <a:spLocks noGrp="1"/>
          </p:cNvSpPr>
          <p:nvPr/>
        </p:nvSpPr>
        <p:spPr>
          <a:xfrm>
            <a:off x="7756395" y="4546425"/>
            <a:ext cx="4035488" cy="2031325"/>
          </a:xfrm>
          <a:prstGeom prst="rect">
            <a:avLst/>
          </a:prstGeom>
          <a:noFill/>
          <a:ln w="38100">
            <a:solidFill>
              <a:srgbClr val="166623"/>
            </a:solidFill>
          </a:ln>
        </p:spPr>
        <p:txBody>
          <a:bodyPr wrap="square">
            <a:spAutoFit/>
          </a:bodyPr>
          <a:lstStyle/>
          <a:p>
            <a:r>
              <a:rPr b="1"/>
              <a:t>Requirements</a:t>
            </a:r>
          </a:p>
          <a:p>
            <a:pPr marL="285750" indent="-285750">
              <a:buFont typeface="Arial"/>
              <a:buChar char="•"/>
            </a:pPr>
            <a:r>
              <a:t>Programming language Style Guide</a:t>
            </a:r>
          </a:p>
          <a:p>
            <a:pPr marL="285750" indent="-285750">
              <a:buFont typeface="Arial"/>
              <a:buChar char="•"/>
            </a:pPr>
            <a:r>
              <a:t>The code has passed all tests</a:t>
            </a:r>
          </a:p>
          <a:p>
            <a:pPr marL="285750" indent="-285750">
              <a:buFont typeface="Arial"/>
              <a:buChar char="•"/>
            </a:pPr>
            <a:r>
              <a:t>Test Coverage (&gt;90)</a:t>
            </a:r>
          </a:p>
          <a:p>
            <a:pPr marL="285750" indent="-285750">
              <a:buFont typeface="Arial"/>
              <a:buChar char="•"/>
            </a:pPr>
            <a:r>
              <a:t>Code is well Documented</a:t>
            </a:r>
          </a:p>
          <a:p>
            <a:pPr marL="285750" indent="-285750">
              <a:buFont typeface="Arial"/>
              <a:buChar char="•"/>
            </a:pPr>
            <a:r>
              <a:t>Passed CI</a:t>
            </a:r>
          </a:p>
          <a:p>
            <a:pPr marL="285750" indent="-285750">
              <a:buFont typeface="Arial"/>
              <a:buChar char="•"/>
            </a:pPr>
            <a:r>
              <a:t>Design Diagrams</a:t>
            </a:r>
          </a:p>
        </p:txBody>
      </p:sp>
      <p:sp>
        <p:nvSpPr>
          <p:cNvPr id="3" name="TextBox 2">
            <a:extLst>
              <a:ext uri="{FF2B5EF4-FFF2-40B4-BE49-F238E27FC236}">
                <a16:creationId xmlns:a16="http://schemas.microsoft.com/office/drawing/2014/main" id="{2149743D-AE59-27F6-37D5-9B4268390F07}"/>
              </a:ext>
            </a:extLst>
          </p:cNvPr>
          <p:cNvSpPr>
            <a:spLocks noGrp="1"/>
          </p:cNvSpPr>
          <p:nvPr/>
        </p:nvSpPr>
        <p:spPr>
          <a:xfrm>
            <a:off x="7950155" y="1235241"/>
            <a:ext cx="1643296" cy="369332"/>
          </a:xfrm>
          <a:prstGeom prst="rect">
            <a:avLst/>
          </a:prstGeom>
          <a:noFill/>
          <a:ln w="28575">
            <a:solidFill>
              <a:srgbClr val="1D15C5"/>
            </a:solidFill>
          </a:ln>
        </p:spPr>
        <p:txBody>
          <a:bodyPr wrap="square">
            <a:spAutoFit/>
          </a:bodyPr>
          <a:lstStyle/>
          <a:p>
            <a:r>
              <a:t>Unclear names</a:t>
            </a:r>
          </a:p>
        </p:txBody>
      </p:sp>
      <p:cxnSp>
        <p:nvCxnSpPr>
          <p:cNvPr id="53" name="Straight Connector 12"/>
          <p:cNvCxnSpPr>
            <a:endCxn id="3" idx="2"/>
          </p:cNvCxnSpPr>
          <p:nvPr/>
        </p:nvCxnSpPr>
        <p:spPr>
          <a:xfrm flipH="1" flipV="1">
            <a:off x="8771803" y="1604573"/>
            <a:ext cx="1193607"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7BF1455-5965-3897-E900-903F90E2AC5E}"/>
              </a:ext>
            </a:extLst>
          </p:cNvPr>
          <p:cNvSpPr>
            <a:spLocks noGrp="1"/>
          </p:cNvSpPr>
          <p:nvPr/>
        </p:nvSpPr>
        <p:spPr>
          <a:xfrm>
            <a:off x="7543060" y="3576923"/>
            <a:ext cx="2254279" cy="646331"/>
          </a:xfrm>
          <a:prstGeom prst="rect">
            <a:avLst/>
          </a:prstGeom>
          <a:noFill/>
          <a:ln w="28575">
            <a:solidFill>
              <a:srgbClr val="1D15C5"/>
            </a:solidFill>
          </a:ln>
        </p:spPr>
        <p:txBody>
          <a:bodyPr wrap="square">
            <a:spAutoFit/>
          </a:bodyPr>
          <a:lstStyle/>
          <a:p>
            <a:r>
              <a:t>Forgetting to handle a specific condition</a:t>
            </a:r>
          </a:p>
        </p:txBody>
      </p:sp>
      <p:cxnSp>
        <p:nvCxnSpPr>
          <p:cNvPr id="55" name="Straight Connector 13"/>
          <p:cNvCxnSpPr>
            <a:endCxn id="6" idx="0"/>
          </p:cNvCxnSpPr>
          <p:nvPr/>
        </p:nvCxnSpPr>
        <p:spPr>
          <a:xfrm flipH="1">
            <a:off x="8670200" y="3075835"/>
            <a:ext cx="964640"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5E3484E-ED50-4D3B-D12E-5C401AAF1EC5}"/>
              </a:ext>
            </a:extLst>
          </p:cNvPr>
          <p:cNvSpPr>
            <a:spLocks noGrp="1"/>
          </p:cNvSpPr>
          <p:nvPr/>
        </p:nvSpPr>
        <p:spPr>
          <a:xfrm>
            <a:off x="10153858" y="893108"/>
            <a:ext cx="1854745" cy="646331"/>
          </a:xfrm>
          <a:prstGeom prst="rect">
            <a:avLst/>
          </a:prstGeom>
          <a:noFill/>
          <a:ln w="28575">
            <a:solidFill>
              <a:srgbClr val="1D15C5"/>
            </a:solidFill>
          </a:ln>
        </p:spPr>
        <p:txBody>
          <a:bodyPr wrap="square">
            <a:spAutoFit/>
          </a:bodyPr>
          <a:lstStyle/>
          <a:p>
            <a:r>
              <a:t>Forgetting to add tests</a:t>
            </a:r>
          </a:p>
        </p:txBody>
      </p:sp>
      <p:sp>
        <p:nvSpPr>
          <p:cNvPr id="16" name="Straight Connector 15">
            <a:extLst>
              <a:ext uri="{FF2B5EF4-FFF2-40B4-BE49-F238E27FC236}">
                <a16:creationId xmlns:a16="http://schemas.microsoft.com/office/drawing/2014/main" id="{5AB0A447-FA45-4742-9AFA-2572AEFDA670}"/>
              </a:ext>
            </a:extLst>
          </p:cNvPr>
          <p:cNvSpPr>
            <a:spLocks noGrp="1"/>
          </p:cNvSpPr>
          <p:nvPr/>
        </p:nvSpPr>
        <p:spPr>
          <a:xfrm flipH="1">
            <a:off x="10810873" y="1536275"/>
            <a:ext cx="405772" cy="648332"/>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pic>
        <p:nvPicPr>
          <p:cNvPr id="58" name="Picture 2"/>
          <p:cNvPicPr>
            <a:picLocks noChangeAspect="1"/>
          </p:cNvPicPr>
          <p:nvPr/>
        </p:nvPicPr>
        <p:blipFill rotWithShape="1">
          <a:blip r:embed="rId4"/>
          <a:srcRect l="4032" t="21235" r="3973" b="2103"/>
          <a:stretch/>
        </p:blipFill>
        <p:spPr>
          <a:xfrm>
            <a:off x="9606764" y="1976387"/>
            <a:ext cx="1474466" cy="1228722"/>
          </a:xfrm>
          <a:prstGeom prst="rect">
            <a:avLst/>
          </a:prstGeom>
        </p:spPr>
      </p:pic>
      <p:sp>
        <p:nvSpPr>
          <p:cNvPr id="21" name="TextBox 20">
            <a:extLst>
              <a:ext uri="{FF2B5EF4-FFF2-40B4-BE49-F238E27FC236}">
                <a16:creationId xmlns:a16="http://schemas.microsoft.com/office/drawing/2014/main" id="{9FA14ECE-EBA3-54AF-819F-686A25430C3A}"/>
              </a:ext>
            </a:extLst>
          </p:cNvPr>
          <p:cNvSpPr>
            <a:spLocks noGrp="1"/>
          </p:cNvSpPr>
          <p:nvPr/>
        </p:nvSpPr>
        <p:spPr>
          <a:xfrm>
            <a:off x="9759103" y="3154109"/>
            <a:ext cx="1446390" cy="371814"/>
          </a:xfrm>
          <a:prstGeom prst="rect">
            <a:avLst/>
          </a:prstGeom>
          <a:noFill/>
        </p:spPr>
        <p:txBody>
          <a:bodyPr wrap="square">
            <a:spAutoFit/>
          </a:bodyPr>
          <a:lstStyle/>
          <a:p>
            <a:r>
              <a:t>Code issues</a:t>
            </a:r>
          </a:p>
        </p:txBody>
      </p:sp>
      <p:sp>
        <p:nvSpPr>
          <p:cNvPr id="15" name="TextBox 14">
            <a:extLst>
              <a:ext uri="{FF2B5EF4-FFF2-40B4-BE49-F238E27FC236}">
                <a16:creationId xmlns:a16="http://schemas.microsoft.com/office/drawing/2014/main" id="{90595C95-C62B-7194-AD4C-C23A70EB0B2D}"/>
              </a:ext>
            </a:extLst>
          </p:cNvPr>
          <p:cNvSpPr>
            <a:spLocks noGrp="1"/>
          </p:cNvSpPr>
          <p:nvPr/>
        </p:nvSpPr>
        <p:spPr>
          <a:xfrm>
            <a:off x="1053483" y="6043595"/>
            <a:ext cx="6439251" cy="646331"/>
          </a:xfrm>
          <a:prstGeom prst="rect">
            <a:avLst/>
          </a:prstGeom>
          <a:noFill/>
          <a:ln w="28575">
            <a:solidFill>
              <a:srgbClr val="1D15C5"/>
            </a:solidFill>
          </a:ln>
        </p:spPr>
        <p:txBody>
          <a:bodyPr wrap="square">
            <a:spAutoFit/>
          </a:bodyPr>
          <a:lstStyle/>
          <a:p>
            <a:r>
              <a:rPr b="0" i="0">
                <a:solidFill>
                  <a:srgbClr val="333333"/>
                </a:solidFill>
                <a:latin typeface="OpenSans"/>
                <a:ea typeface="OpenSans"/>
                <a:cs typeface="OpenSans"/>
              </a:rPr>
              <a:t>One thing to always remember, code reviews are not about us being good or bad coders, they're about making our code better. </a:t>
            </a:r>
            <a:endParaRPr/>
          </a:p>
        </p:txBody>
      </p:sp>
    </p:spTree>
    <p:extLst>
      <p:ext uri="{BB962C8B-B14F-4D97-AF65-F5344CB8AC3E}">
        <p14:creationId xmlns:p14="http://schemas.microsoft.com/office/powerpoint/2010/main" val="2716308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Code Reviews on GitHub</a:t>
            </a:r>
            <a:endParaRPr sz="3600" b="0" i="0">
              <a:solidFill>
                <a:srgbClr val="1F1F1F"/>
              </a:solidFill>
              <a:latin typeface="OpenSans"/>
              <a:ea typeface="OpenSans"/>
              <a:cs typeface="OpenSans"/>
            </a:endParaRPr>
          </a:p>
        </p:txBody>
      </p:sp>
      <p:pic>
        <p:nvPicPr>
          <p:cNvPr id="17" name="Picture 2"/>
          <p:cNvPicPr>
            <a:picLocks noChangeAspect="1"/>
          </p:cNvPicPr>
          <p:nvPr/>
        </p:nvPicPr>
        <p:blipFill>
          <a:blip r:embed="rId3"/>
          <a:stretch>
            <a:fillRect/>
          </a:stretch>
        </p:blipFill>
        <p:spPr>
          <a:xfrm>
            <a:off x="390322" y="1284659"/>
            <a:ext cx="6055448" cy="4951249"/>
          </a:xfrm>
          <a:prstGeom prst="rect">
            <a:avLst/>
          </a:prstGeom>
          <a:ln>
            <a:solidFill>
              <a:schemeClr val="tx1"/>
            </a:solidFill>
          </a:ln>
        </p:spPr>
      </p:pic>
      <p:sp>
        <p:nvSpPr>
          <p:cNvPr id="5" name="TextBox 4">
            <a:extLst>
              <a:ext uri="{FF2B5EF4-FFF2-40B4-BE49-F238E27FC236}">
                <a16:creationId xmlns:a16="http://schemas.microsoft.com/office/drawing/2014/main" id="{7EAEB97F-C5E0-CEBB-E0AC-3CF2F5BA9924}"/>
              </a:ext>
            </a:extLst>
          </p:cNvPr>
          <p:cNvSpPr>
            <a:spLocks noGrp="1"/>
          </p:cNvSpPr>
          <p:nvPr/>
        </p:nvSpPr>
        <p:spPr>
          <a:xfrm>
            <a:off x="1668112" y="2956585"/>
            <a:ext cx="3499868" cy="215444"/>
          </a:xfrm>
          <a:prstGeom prst="rect">
            <a:avLst/>
          </a:prstGeom>
          <a:noFill/>
        </p:spPr>
        <p:txBody>
          <a:bodyPr wrap="square">
            <a:spAutoFit/>
          </a:bodyPr>
          <a:lstStyle/>
          <a:p>
            <a:r>
              <a:rPr sz="800">
                <a:solidFill>
                  <a:schemeClr val="tx1">
                    <a:lumMod val="75000"/>
                    <a:lumOff val="25000"/>
                  </a:schemeClr>
                </a:solidFill>
              </a:rPr>
              <a:t>The comment has been resolved. Please take another look.</a:t>
            </a:r>
          </a:p>
        </p:txBody>
      </p:sp>
      <p:sp>
        <p:nvSpPr>
          <p:cNvPr id="6" name="TextBox 5">
            <a:extLst>
              <a:ext uri="{FF2B5EF4-FFF2-40B4-BE49-F238E27FC236}">
                <a16:creationId xmlns:a16="http://schemas.microsoft.com/office/drawing/2014/main" id="{D81B9C7B-8065-FCA4-D807-097DAA0D608C}"/>
              </a:ext>
            </a:extLst>
          </p:cNvPr>
          <p:cNvSpPr>
            <a:spLocks noGrp="1"/>
          </p:cNvSpPr>
          <p:nvPr/>
        </p:nvSpPr>
        <p:spPr>
          <a:xfrm>
            <a:off x="1713735" y="5530087"/>
            <a:ext cx="3499868" cy="215444"/>
          </a:xfrm>
          <a:prstGeom prst="rect">
            <a:avLst/>
          </a:prstGeom>
          <a:noFill/>
        </p:spPr>
        <p:txBody>
          <a:bodyPr wrap="square">
            <a:spAutoFit/>
          </a:bodyPr>
          <a:lstStyle/>
          <a:p>
            <a:r>
              <a:rPr sz="800">
                <a:solidFill>
                  <a:schemeClr val="tx1">
                    <a:lumMod val="75000"/>
                    <a:lumOff val="25000"/>
                  </a:schemeClr>
                </a:solidFill>
              </a:rPr>
              <a:t>The comment has been resolved. Please take another look.</a:t>
            </a:r>
          </a:p>
        </p:txBody>
      </p:sp>
      <p:sp>
        <p:nvSpPr>
          <p:cNvPr id="9" name="Left Arrow 8">
            <a:extLst>
              <a:ext uri="{FF2B5EF4-FFF2-40B4-BE49-F238E27FC236}">
                <a16:creationId xmlns:a16="http://schemas.microsoft.com/office/drawing/2014/main" id="{09C2BC88-8AC6-B7D1-7B63-98D2506A7F58}"/>
              </a:ext>
            </a:extLst>
          </p:cNvPr>
          <p:cNvSpPr>
            <a:spLocks noGrp="1"/>
          </p:cNvSpPr>
          <p:nvPr/>
        </p:nvSpPr>
        <p:spPr>
          <a:xfrm>
            <a:off x="2593298" y="5876144"/>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Left Arrow 9">
            <a:extLst>
              <a:ext uri="{FF2B5EF4-FFF2-40B4-BE49-F238E27FC236}">
                <a16:creationId xmlns:a16="http://schemas.microsoft.com/office/drawing/2014/main" id="{FC064FD6-48BE-F3AC-E7D5-BA830D067475}"/>
              </a:ext>
            </a:extLst>
          </p:cNvPr>
          <p:cNvSpPr>
            <a:spLocks noGrp="1"/>
          </p:cNvSpPr>
          <p:nvPr/>
        </p:nvSpPr>
        <p:spPr>
          <a:xfrm>
            <a:off x="2593298" y="3320838"/>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Left Arrow 12">
            <a:extLst>
              <a:ext uri="{FF2B5EF4-FFF2-40B4-BE49-F238E27FC236}">
                <a16:creationId xmlns:a16="http://schemas.microsoft.com/office/drawing/2014/main" id="{10C1BEF6-25F1-6918-B60C-A22133BD8C15}"/>
              </a:ext>
            </a:extLst>
          </p:cNvPr>
          <p:cNvSpPr>
            <a:spLocks noGrp="1"/>
          </p:cNvSpPr>
          <p:nvPr/>
        </p:nvSpPr>
        <p:spPr>
          <a:xfrm>
            <a:off x="2256019" y="1705289"/>
            <a:ext cx="674558" cy="198929"/>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3" name="Picture 14"/>
          <p:cNvPicPr>
            <a:picLocks noChangeAspect="1"/>
          </p:cNvPicPr>
          <p:nvPr/>
        </p:nvPicPr>
        <p:blipFill>
          <a:blip r:embed="rId4"/>
          <a:stretch>
            <a:fillRect/>
          </a:stretch>
        </p:blipFill>
        <p:spPr>
          <a:xfrm>
            <a:off x="6537016" y="1567271"/>
            <a:ext cx="5290601" cy="2053653"/>
          </a:xfrm>
          <a:prstGeom prst="rect">
            <a:avLst/>
          </a:prstGeom>
          <a:ln>
            <a:solidFill>
              <a:schemeClr val="tx1"/>
            </a:solidFill>
          </a:ln>
        </p:spPr>
      </p:pic>
    </p:spTree>
    <p:extLst>
      <p:ext uri="{BB962C8B-B14F-4D97-AF65-F5344CB8AC3E}">
        <p14:creationId xmlns:p14="http://schemas.microsoft.com/office/powerpoint/2010/main" val="3628469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Code Reviews on GitHub</a:t>
            </a:r>
            <a:endParaRPr sz="3600" b="0" i="0">
              <a:solidFill>
                <a:srgbClr val="1F1F1F"/>
              </a:solidFill>
              <a:latin typeface="OpenSans"/>
              <a:ea typeface="OpenSans"/>
              <a:cs typeface="OpenSans"/>
            </a:endParaRPr>
          </a:p>
        </p:txBody>
      </p:sp>
      <p:pic>
        <p:nvPicPr>
          <p:cNvPr id="24" name="Picture 16"/>
          <p:cNvPicPr>
            <a:picLocks noChangeAspect="1"/>
          </p:cNvPicPr>
          <p:nvPr/>
        </p:nvPicPr>
        <p:blipFill>
          <a:blip r:embed="rId3"/>
          <a:stretch>
            <a:fillRect/>
          </a:stretch>
        </p:blipFill>
        <p:spPr>
          <a:xfrm>
            <a:off x="211666" y="935390"/>
            <a:ext cx="5718079" cy="5146271"/>
          </a:xfrm>
          <a:prstGeom prst="rect">
            <a:avLst/>
          </a:prstGeom>
          <a:ln>
            <a:solidFill>
              <a:schemeClr val="tx1"/>
            </a:solidFill>
          </a:ln>
        </p:spPr>
      </p:pic>
      <p:pic>
        <p:nvPicPr>
          <p:cNvPr id="25" name="Picture 17"/>
          <p:cNvPicPr>
            <a:picLocks noChangeAspect="1"/>
          </p:cNvPicPr>
          <p:nvPr/>
        </p:nvPicPr>
        <p:blipFill>
          <a:blip r:embed="rId4"/>
          <a:stretch>
            <a:fillRect/>
          </a:stretch>
        </p:blipFill>
        <p:spPr>
          <a:xfrm>
            <a:off x="6055871" y="1619697"/>
            <a:ext cx="5924462" cy="2869176"/>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a:spLocks noGrp="1"/>
          </p:cNvSpPr>
          <p:nvPr/>
        </p:nvSpPr>
        <p:spPr>
          <a:xfrm>
            <a:off x="2825262" y="5134708"/>
            <a:ext cx="1242646" cy="646331"/>
          </a:xfrm>
          <a:prstGeom prst="rect">
            <a:avLst/>
          </a:prstGeom>
          <a:noFill/>
          <a:ln w="28575">
            <a:solidFill>
              <a:srgbClr val="C00000"/>
            </a:solidFill>
          </a:ln>
        </p:spPr>
        <p:txBody>
          <a:bodyPr wrap="square">
            <a:spAutoFit/>
          </a:bodyPr>
          <a:lstStyle/>
          <a:p>
            <a:pPr algn="ctr">
              <a:buNone/>
            </a:pPr>
            <a:r>
              <a:t>Markdown Language</a:t>
            </a:r>
          </a:p>
        </p:txBody>
      </p:sp>
    </p:spTree>
    <p:extLst>
      <p:ext uri="{BB962C8B-B14F-4D97-AF65-F5344CB8AC3E}">
        <p14:creationId xmlns:p14="http://schemas.microsoft.com/office/powerpoint/2010/main" val="771907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Merging PRs – Branch Protection Rules</a:t>
            </a:r>
            <a:endParaRPr sz="3600" b="0" i="0">
              <a:solidFill>
                <a:srgbClr val="1F1F1F"/>
              </a:solidFill>
              <a:latin typeface="OpenSans"/>
              <a:ea typeface="OpenSans"/>
              <a:cs typeface="OpenSans"/>
            </a:endParaRPr>
          </a:p>
        </p:txBody>
      </p:sp>
      <p:pic>
        <p:nvPicPr>
          <p:cNvPr id="34" name="Picture 13"/>
          <p:cNvPicPr>
            <a:picLocks noChangeAspect="1"/>
          </p:cNvPicPr>
          <p:nvPr/>
        </p:nvPicPr>
        <p:blipFill>
          <a:blip r:embed="rId3"/>
          <a:stretch>
            <a:fillRect/>
          </a:stretch>
        </p:blipFill>
        <p:spPr>
          <a:xfrm>
            <a:off x="237440" y="1761306"/>
            <a:ext cx="5410682" cy="3756972"/>
          </a:xfrm>
          <a:prstGeom prst="rect">
            <a:avLst/>
          </a:prstGeom>
        </p:spPr>
      </p:pic>
      <p:pic>
        <p:nvPicPr>
          <p:cNvPr id="35" name="Picture 16"/>
          <p:cNvPicPr>
            <a:picLocks noChangeAspect="1"/>
          </p:cNvPicPr>
          <p:nvPr/>
        </p:nvPicPr>
        <p:blipFill>
          <a:blip r:embed="rId4"/>
          <a:stretch>
            <a:fillRect/>
          </a:stretch>
        </p:blipFill>
        <p:spPr>
          <a:xfrm>
            <a:off x="6584490" y="4822268"/>
            <a:ext cx="4296612" cy="1392019"/>
          </a:xfrm>
          <a:prstGeom prst="rect">
            <a:avLst/>
          </a:prstGeom>
        </p:spPr>
      </p:pic>
      <p:pic>
        <p:nvPicPr>
          <p:cNvPr id="36" name="Picture 18"/>
          <p:cNvPicPr>
            <a:picLocks noChangeAspect="1"/>
          </p:cNvPicPr>
          <p:nvPr/>
        </p:nvPicPr>
        <p:blipFill>
          <a:blip r:embed="rId5"/>
          <a:stretch>
            <a:fillRect/>
          </a:stretch>
        </p:blipFill>
        <p:spPr>
          <a:xfrm>
            <a:off x="6572047" y="1128713"/>
            <a:ext cx="4333875" cy="3699823"/>
          </a:xfrm>
          <a:prstGeom prst="rect">
            <a:avLst/>
          </a:prstGeom>
        </p:spPr>
      </p:pic>
      <p:sp>
        <p:nvSpPr>
          <p:cNvPr id="21" name="Right Arrow 20">
            <a:extLst>
              <a:ext uri="{FF2B5EF4-FFF2-40B4-BE49-F238E27FC236}">
                <a16:creationId xmlns:a16="http://schemas.microsoft.com/office/drawing/2014/main" id="{D18A42FE-AF40-BCFA-2129-9077AA3FE355}"/>
              </a:ext>
            </a:extLst>
          </p:cNvPr>
          <p:cNvSpPr>
            <a:spLocks noGrp="1"/>
          </p:cNvSpPr>
          <p:nvPr/>
        </p:nvSpPr>
        <p:spPr>
          <a:xfrm>
            <a:off x="5800725" y="2978624"/>
            <a:ext cx="600075" cy="450376"/>
          </a:xfrm>
          <a:prstGeom prst="rightArrow">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buNone/>
            </a:pPr>
            <a:endParaRPr/>
          </a:p>
        </p:txBody>
      </p:sp>
      <p:sp>
        <p:nvSpPr>
          <p:cNvPr id="23" name="Rounded Rectangle 22">
            <a:extLst>
              <a:ext uri="{FF2B5EF4-FFF2-40B4-BE49-F238E27FC236}">
                <a16:creationId xmlns:a16="http://schemas.microsoft.com/office/drawing/2014/main" id="{544EE947-573A-2A63-9449-E3650C742044}"/>
              </a:ext>
            </a:extLst>
          </p:cNvPr>
          <p:cNvSpPr>
            <a:spLocks noGrp="1"/>
          </p:cNvSpPr>
          <p:nvPr/>
        </p:nvSpPr>
        <p:spPr>
          <a:xfrm>
            <a:off x="4714875" y="3771900"/>
            <a:ext cx="828675" cy="38576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9" name="Picture 2"/>
          <p:cNvPicPr>
            <a:picLocks noChangeAspect="1"/>
          </p:cNvPicPr>
          <p:nvPr/>
        </p:nvPicPr>
        <p:blipFill>
          <a:blip r:embed="rId6"/>
          <a:srcRect/>
          <a:stretch>
            <a:fillRect/>
          </a:stretch>
        </p:blipFill>
        <p:spPr>
          <a:xfrm>
            <a:off x="3584391" y="5630422"/>
            <a:ext cx="965366" cy="810356"/>
          </a:xfrm>
          <a:prstGeom prst="rect">
            <a:avLst/>
          </a:prstGeom>
        </p:spPr>
      </p:pic>
      <p:sp>
        <p:nvSpPr>
          <p:cNvPr id="28" name="TextBox 27">
            <a:extLst>
              <a:ext uri="{FF2B5EF4-FFF2-40B4-BE49-F238E27FC236}">
                <a16:creationId xmlns:a16="http://schemas.microsoft.com/office/drawing/2014/main" id="{C1C72C42-9DB2-76DF-4568-5477B5E39026}"/>
              </a:ext>
            </a:extLst>
          </p:cNvPr>
          <p:cNvSpPr>
            <a:spLocks noGrp="1"/>
          </p:cNvSpPr>
          <p:nvPr/>
        </p:nvSpPr>
        <p:spPr>
          <a:xfrm>
            <a:off x="3584391" y="6434457"/>
            <a:ext cx="965366" cy="369332"/>
          </a:xfrm>
          <a:prstGeom prst="rect">
            <a:avLst/>
          </a:prstGeom>
          <a:noFill/>
        </p:spPr>
        <p:txBody>
          <a:bodyPr wrap="square">
            <a:spAutoFit/>
          </a:bodyPr>
          <a:lstStyle/>
          <a:p>
            <a:r>
              <a:t>Project</a:t>
            </a:r>
          </a:p>
        </p:txBody>
      </p:sp>
      <p:sp>
        <p:nvSpPr>
          <p:cNvPr id="26" name="Up Arrow 25">
            <a:extLst>
              <a:ext uri="{FF2B5EF4-FFF2-40B4-BE49-F238E27FC236}">
                <a16:creationId xmlns:a16="http://schemas.microsoft.com/office/drawing/2014/main" id="{6AE573E4-DE37-287C-66AA-788EF9113814}"/>
              </a:ext>
            </a:extLst>
          </p:cNvPr>
          <p:cNvSpPr>
            <a:spLocks noGrp="1"/>
          </p:cNvSpPr>
          <p:nvPr/>
        </p:nvSpPr>
        <p:spPr>
          <a:xfrm rot="4677805">
            <a:off x="5406676" y="4994799"/>
            <a:ext cx="295077" cy="1779332"/>
          </a:xfrm>
          <a:prstGeom prst="upArrow">
            <a:avLst>
              <a:gd name="adj1" fmla="val 42855"/>
              <a:gd name="adj2"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638640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Integrating PRs</a:t>
            </a:r>
            <a:endParaRPr sz="3600" b="0" i="0">
              <a:solidFill>
                <a:srgbClr val="1F1F1F"/>
              </a:solidFill>
              <a:latin typeface="OpenSans"/>
              <a:ea typeface="OpenSans"/>
              <a:cs typeface="OpenSans"/>
            </a:endParaRPr>
          </a:p>
        </p:txBody>
      </p:sp>
      <p:pic>
        <p:nvPicPr>
          <p:cNvPr id="32" name="Picture 2"/>
          <p:cNvPicPr>
            <a:picLocks noChangeAspect="1"/>
          </p:cNvPicPr>
          <p:nvPr/>
        </p:nvPicPr>
        <p:blipFill>
          <a:blip r:embed="rId3"/>
          <a:srcRect/>
          <a:stretch>
            <a:fillRect/>
          </a:stretch>
        </p:blipFill>
        <p:spPr>
          <a:xfrm>
            <a:off x="10423239" y="2815210"/>
            <a:ext cx="965366" cy="810356"/>
          </a:xfrm>
          <a:prstGeom prst="rect">
            <a:avLst/>
          </a:prstGeom>
        </p:spPr>
      </p:pic>
      <p:sp>
        <p:nvSpPr>
          <p:cNvPr id="28" name="TextBox 27">
            <a:extLst>
              <a:ext uri="{FF2B5EF4-FFF2-40B4-BE49-F238E27FC236}">
                <a16:creationId xmlns:a16="http://schemas.microsoft.com/office/drawing/2014/main" id="{C1C72C42-9DB2-76DF-4568-5477B5E39026}"/>
              </a:ext>
            </a:extLst>
          </p:cNvPr>
          <p:cNvSpPr>
            <a:spLocks noGrp="1"/>
          </p:cNvSpPr>
          <p:nvPr/>
        </p:nvSpPr>
        <p:spPr>
          <a:xfrm>
            <a:off x="10020097" y="3673456"/>
            <a:ext cx="1771650" cy="369332"/>
          </a:xfrm>
          <a:prstGeom prst="rect">
            <a:avLst/>
          </a:prstGeom>
          <a:noFill/>
        </p:spPr>
        <p:txBody>
          <a:bodyPr wrap="square">
            <a:spAutoFit/>
          </a:bodyPr>
          <a:lstStyle/>
          <a:p>
            <a:r>
              <a:t>Project</a:t>
            </a:r>
          </a:p>
        </p:txBody>
      </p:sp>
      <p:pic>
        <p:nvPicPr>
          <p:cNvPr id="34" name="Picture 2"/>
          <p:cNvPicPr>
            <a:picLocks noChangeAspect="1"/>
          </p:cNvPicPr>
          <p:nvPr/>
        </p:nvPicPr>
        <p:blipFill>
          <a:blip r:embed="rId4"/>
          <a:stretch>
            <a:fillRect/>
          </a:stretch>
        </p:blipFill>
        <p:spPr>
          <a:xfrm>
            <a:off x="622300" y="915911"/>
            <a:ext cx="8652378" cy="5602415"/>
          </a:xfrm>
          <a:prstGeom prst="rect">
            <a:avLst/>
          </a:prstGeom>
        </p:spPr>
      </p:pic>
      <p:sp>
        <p:nvSpPr>
          <p:cNvPr id="5" name="Down Arrow 4">
            <a:extLst>
              <a:ext uri="{FF2B5EF4-FFF2-40B4-BE49-F238E27FC236}">
                <a16:creationId xmlns:a16="http://schemas.microsoft.com/office/drawing/2014/main" id="{9AA2EE37-B89C-F171-F5E9-5ED6A244CA61}"/>
              </a:ext>
            </a:extLst>
          </p:cNvPr>
          <p:cNvSpPr>
            <a:spLocks noGrp="1"/>
          </p:cNvSpPr>
          <p:nvPr/>
        </p:nvSpPr>
        <p:spPr>
          <a:xfrm rot="5400000">
            <a:off x="4095971" y="4073848"/>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Down Arrow 5">
            <a:extLst>
              <a:ext uri="{FF2B5EF4-FFF2-40B4-BE49-F238E27FC236}">
                <a16:creationId xmlns:a16="http://schemas.microsoft.com/office/drawing/2014/main" id="{6F573744-F00D-51CC-3DBB-ADD160F2B734}"/>
              </a:ext>
            </a:extLst>
          </p:cNvPr>
          <p:cNvSpPr>
            <a:spLocks noGrp="1"/>
          </p:cNvSpPr>
          <p:nvPr/>
        </p:nvSpPr>
        <p:spPr>
          <a:xfrm rot="5400000">
            <a:off x="4095971" y="4756754"/>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Down Arrow 6">
            <a:extLst>
              <a:ext uri="{FF2B5EF4-FFF2-40B4-BE49-F238E27FC236}">
                <a16:creationId xmlns:a16="http://schemas.microsoft.com/office/drawing/2014/main" id="{9CD33AA6-B18D-5612-09FC-4DF7AE846D3D}"/>
              </a:ext>
            </a:extLst>
          </p:cNvPr>
          <p:cNvSpPr>
            <a:spLocks noGrp="1"/>
          </p:cNvSpPr>
          <p:nvPr/>
        </p:nvSpPr>
        <p:spPr>
          <a:xfrm rot="5400000">
            <a:off x="4095971" y="5424065"/>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75782B3E-EEED-3927-1FC1-F226DB2B4CC8}"/>
              </a:ext>
            </a:extLst>
          </p:cNvPr>
          <p:cNvSpPr>
            <a:spLocks noGrp="1"/>
          </p:cNvSpPr>
          <p:nvPr/>
        </p:nvSpPr>
        <p:spPr>
          <a:xfrm>
            <a:off x="1191986" y="3858122"/>
            <a:ext cx="1861457" cy="4541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972041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Managing Team Projects</a:t>
            </a:r>
          </a:p>
        </p:txBody>
      </p:sp>
      <p:sp>
        <p:nvSpPr>
          <p:cNvPr id="2" name="TextBox 1">
            <a:extLst>
              <a:ext uri="{FF2B5EF4-FFF2-40B4-BE49-F238E27FC236}">
                <a16:creationId xmlns:a16="http://schemas.microsoft.com/office/drawing/2014/main" id="{3A3D7841-D479-0E7F-F412-B0B6C8A49148}"/>
              </a:ext>
            </a:extLst>
          </p:cNvPr>
          <p:cNvSpPr>
            <a:spLocks noGrp="1"/>
          </p:cNvSpPr>
          <p:nvPr/>
        </p:nvSpPr>
        <p:spPr>
          <a:xfrm>
            <a:off x="942975" y="1514475"/>
            <a:ext cx="9558338" cy="4124206"/>
          </a:xfrm>
          <a:prstGeom prst="rect">
            <a:avLst/>
          </a:prstGeom>
          <a:noFill/>
        </p:spPr>
        <p:txBody>
          <a:bodyPr wrap="square">
            <a:spAutoFit/>
          </a:bodyPr>
          <a:lstStyle/>
          <a:p>
            <a:r>
              <a:rPr sz="2800"/>
              <a:t>Good planning and communication key managing team projects</a:t>
            </a:r>
          </a:p>
          <a:p>
            <a:pPr marL="457200" indent="-457200">
              <a:buFont typeface="Arial"/>
              <a:buChar char="•"/>
            </a:pPr>
            <a:r>
              <a:rPr sz="2400"/>
              <a:t>Documenting what you do and why you do it becomes even more important; otherwise, you'll spend most of your time answering everybody else questions.</a:t>
            </a:r>
          </a:p>
          <a:p>
            <a:pPr marL="914400" lvl="1" indent="-457200">
              <a:buFont typeface="Arial"/>
              <a:buChar char="•"/>
            </a:pPr>
            <a:r>
              <a:rPr sz="2400"/>
              <a:t>The basic form of this is writing clear code with good comments and documentation for those functions.</a:t>
            </a:r>
          </a:p>
          <a:p>
            <a:pPr marL="457200" indent="-457200">
              <a:buFont typeface="Arial"/>
              <a:buChar char="•"/>
            </a:pPr>
            <a:r>
              <a:rPr sz="2400"/>
              <a:t>If you are a project maintainer, you must promptly reply to pull requests and not let them stagnate.</a:t>
            </a:r>
          </a:p>
          <a:p>
            <a:pPr marL="457200" indent="-457200">
              <a:buFont typeface="Arial"/>
              <a:buChar char="•"/>
            </a:pPr>
            <a:r>
              <a:rPr sz="2400"/>
              <a:t>When coordinating who does what and when a common strategy for active software projects is to use an issue tracker.</a:t>
            </a:r>
          </a:p>
          <a:p>
            <a:r>
              <a:t> </a:t>
            </a:r>
          </a:p>
        </p:txBody>
      </p:sp>
    </p:spTree>
    <p:extLst>
      <p:ext uri="{BB962C8B-B14F-4D97-AF65-F5344CB8AC3E}">
        <p14:creationId xmlns:p14="http://schemas.microsoft.com/office/powerpoint/2010/main" val="1029603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Tracking Issues</a:t>
            </a:r>
          </a:p>
        </p:txBody>
      </p:sp>
      <p:pic>
        <p:nvPicPr>
          <p:cNvPr id="117" name="Picture 2"/>
          <p:cNvPicPr>
            <a:picLocks noChangeAspect="1"/>
          </p:cNvPicPr>
          <p:nvPr/>
        </p:nvPicPr>
        <p:blipFill>
          <a:blip r:embed="rId3"/>
          <a:srcRect/>
          <a:stretch>
            <a:fillRect/>
          </a:stretch>
        </p:blipFill>
        <p:spPr>
          <a:xfrm>
            <a:off x="5191517" y="2294261"/>
            <a:ext cx="1229193" cy="1229193"/>
          </a:xfrm>
          <a:prstGeom prst="rect">
            <a:avLst/>
          </a:prstGeom>
        </p:spPr>
      </p:pic>
      <p:pic>
        <p:nvPicPr>
          <p:cNvPr id="118" name="Picture 8"/>
          <p:cNvPicPr>
            <a:picLocks noChangeAspect="1"/>
          </p:cNvPicPr>
          <p:nvPr/>
        </p:nvPicPr>
        <p:blipFill>
          <a:blip r:embed="rId4"/>
          <a:srcRect/>
          <a:stretch>
            <a:fillRect/>
          </a:stretch>
        </p:blipFill>
        <p:spPr>
          <a:xfrm>
            <a:off x="5004701" y="1270451"/>
            <a:ext cx="1602824" cy="926438"/>
          </a:xfrm>
          <a:prstGeom prst="rect">
            <a:avLst/>
          </a:prstGeom>
        </p:spPr>
      </p:pic>
      <p:sp>
        <p:nvSpPr>
          <p:cNvPr id="7" name="TextBox 6">
            <a:extLst>
              <a:ext uri="{FF2B5EF4-FFF2-40B4-BE49-F238E27FC236}">
                <a16:creationId xmlns:a16="http://schemas.microsoft.com/office/drawing/2014/main" id="{41DEB551-ECED-B792-A8B3-9E8AD8E76666}"/>
              </a:ext>
            </a:extLst>
          </p:cNvPr>
          <p:cNvSpPr>
            <a:spLocks noGrp="1"/>
          </p:cNvSpPr>
          <p:nvPr/>
        </p:nvSpPr>
        <p:spPr>
          <a:xfrm>
            <a:off x="6441375" y="2516348"/>
            <a:ext cx="1229193" cy="646331"/>
          </a:xfrm>
          <a:prstGeom prst="rect">
            <a:avLst/>
          </a:prstGeom>
          <a:noFill/>
        </p:spPr>
        <p:txBody>
          <a:bodyPr wrap="square">
            <a:spAutoFit/>
          </a:bodyPr>
          <a:lstStyle/>
          <a:p>
            <a:r>
              <a:t>Remote Repository</a:t>
            </a:r>
          </a:p>
        </p:txBody>
      </p:sp>
      <p:pic>
        <p:nvPicPr>
          <p:cNvPr id="120" name="Picture 6"/>
          <p:cNvPicPr>
            <a:picLocks noChangeAspect="1"/>
          </p:cNvPicPr>
          <p:nvPr/>
        </p:nvPicPr>
        <p:blipFill rotWithShape="1">
          <a:blip r:embed="rId5"/>
          <a:srcRect l="3370" r="7985"/>
          <a:stretch/>
        </p:blipFill>
        <p:spPr>
          <a:xfrm>
            <a:off x="1243349" y="4780151"/>
            <a:ext cx="1343284" cy="1515374"/>
          </a:xfrm>
          <a:prstGeom prst="rect">
            <a:avLst/>
          </a:prstGeom>
        </p:spPr>
      </p:pic>
      <p:sp>
        <p:nvSpPr>
          <p:cNvPr id="12" name="TextBox 11">
            <a:extLst>
              <a:ext uri="{FF2B5EF4-FFF2-40B4-BE49-F238E27FC236}">
                <a16:creationId xmlns:a16="http://schemas.microsoft.com/office/drawing/2014/main" id="{88D8EB7C-4288-7AD2-2D1F-8068EF113507}"/>
              </a:ext>
            </a:extLst>
          </p:cNvPr>
          <p:cNvSpPr>
            <a:spLocks noGrp="1"/>
          </p:cNvSpPr>
          <p:nvPr/>
        </p:nvSpPr>
        <p:spPr>
          <a:xfrm>
            <a:off x="1040422" y="6161782"/>
            <a:ext cx="1807710" cy="369332"/>
          </a:xfrm>
          <a:prstGeom prst="rect">
            <a:avLst/>
          </a:prstGeom>
          <a:noFill/>
        </p:spPr>
        <p:txBody>
          <a:bodyPr wrap="square">
            <a:spAutoFit/>
          </a:bodyPr>
          <a:lstStyle/>
          <a:p>
            <a:r>
              <a:t>Local Repository</a:t>
            </a:r>
          </a:p>
        </p:txBody>
      </p:sp>
      <p:pic>
        <p:nvPicPr>
          <p:cNvPr id="122" name="Picture 8"/>
          <p:cNvPicPr>
            <a:picLocks noChangeAspect="1"/>
          </p:cNvPicPr>
          <p:nvPr/>
        </p:nvPicPr>
        <p:blipFill rotWithShape="1">
          <a:blip r:embed="rId6"/>
          <a:srcRect l="9071" t="11092" r="10005" b="11809"/>
          <a:stretch/>
        </p:blipFill>
        <p:spPr>
          <a:xfrm>
            <a:off x="5044341" y="4828229"/>
            <a:ext cx="1590562" cy="1515374"/>
          </a:xfrm>
          <a:prstGeom prst="rect">
            <a:avLst/>
          </a:prstGeom>
        </p:spPr>
      </p:pic>
      <p:sp>
        <p:nvSpPr>
          <p:cNvPr id="15" name="TextBox 14">
            <a:extLst>
              <a:ext uri="{FF2B5EF4-FFF2-40B4-BE49-F238E27FC236}">
                <a16:creationId xmlns:a16="http://schemas.microsoft.com/office/drawing/2014/main" id="{7B3CB716-0F06-9E5F-1844-87F55A37F733}"/>
              </a:ext>
            </a:extLst>
          </p:cNvPr>
          <p:cNvSpPr>
            <a:spLocks noGrp="1"/>
          </p:cNvSpPr>
          <p:nvPr/>
        </p:nvSpPr>
        <p:spPr>
          <a:xfrm>
            <a:off x="4935767" y="6253855"/>
            <a:ext cx="1807710" cy="369332"/>
          </a:xfrm>
          <a:prstGeom prst="rect">
            <a:avLst/>
          </a:prstGeom>
          <a:noFill/>
        </p:spPr>
        <p:txBody>
          <a:bodyPr wrap="square">
            <a:spAutoFit/>
          </a:bodyPr>
          <a:lstStyle/>
          <a:p>
            <a:r>
              <a:t>Local Repository</a:t>
            </a:r>
          </a:p>
        </p:txBody>
      </p:sp>
      <p:pic>
        <p:nvPicPr>
          <p:cNvPr id="124" name="Picture 4"/>
          <p:cNvPicPr>
            <a:picLocks noChangeAspect="1"/>
          </p:cNvPicPr>
          <p:nvPr/>
        </p:nvPicPr>
        <p:blipFill>
          <a:blip r:embed="rId7"/>
          <a:srcRect/>
          <a:stretch>
            <a:fillRect/>
          </a:stretch>
        </p:blipFill>
        <p:spPr>
          <a:xfrm>
            <a:off x="8291445" y="4427467"/>
            <a:ext cx="2093610" cy="2093610"/>
          </a:xfrm>
          <a:prstGeom prst="rect">
            <a:avLst/>
          </a:prstGeom>
        </p:spPr>
      </p:pic>
      <p:sp>
        <p:nvSpPr>
          <p:cNvPr id="18" name="TextBox 17">
            <a:extLst>
              <a:ext uri="{FF2B5EF4-FFF2-40B4-BE49-F238E27FC236}">
                <a16:creationId xmlns:a16="http://schemas.microsoft.com/office/drawing/2014/main" id="{66803C70-C455-A8EA-FBE6-E09E61DD94C6}"/>
              </a:ext>
            </a:extLst>
          </p:cNvPr>
          <p:cNvSpPr>
            <a:spLocks noGrp="1"/>
          </p:cNvSpPr>
          <p:nvPr/>
        </p:nvSpPr>
        <p:spPr>
          <a:xfrm>
            <a:off x="8434395" y="6161782"/>
            <a:ext cx="1807710" cy="369332"/>
          </a:xfrm>
          <a:prstGeom prst="rect">
            <a:avLst/>
          </a:prstGeom>
          <a:noFill/>
        </p:spPr>
        <p:txBody>
          <a:bodyPr wrap="square">
            <a:spAutoFit/>
          </a:bodyPr>
          <a:lstStyle/>
          <a:p>
            <a:r>
              <a:t>Local Repository</a:t>
            </a:r>
          </a:p>
        </p:txBody>
      </p:sp>
      <p:pic>
        <p:nvPicPr>
          <p:cNvPr id="126" name="Picture 10"/>
          <p:cNvPicPr>
            <a:picLocks noChangeAspect="1"/>
          </p:cNvPicPr>
          <p:nvPr/>
        </p:nvPicPr>
        <p:blipFill>
          <a:blip r:embed="rId8"/>
          <a:srcRect/>
          <a:stretch>
            <a:fillRect/>
          </a:stretch>
        </p:blipFill>
        <p:spPr>
          <a:xfrm rot="20681200">
            <a:off x="9931632" y="5120122"/>
            <a:ext cx="620944" cy="708301"/>
          </a:xfrm>
          <a:prstGeom prst="rect">
            <a:avLst/>
          </a:prstGeom>
        </p:spPr>
      </p:pic>
      <p:sp>
        <p:nvSpPr>
          <p:cNvPr id="20" name="TextBox 19">
            <a:extLst>
              <a:ext uri="{FF2B5EF4-FFF2-40B4-BE49-F238E27FC236}">
                <a16:creationId xmlns:a16="http://schemas.microsoft.com/office/drawing/2014/main" id="{8F7C527C-2F0F-D8F1-0965-B18AA62A7DDB}"/>
              </a:ext>
            </a:extLst>
          </p:cNvPr>
          <p:cNvSpPr>
            <a:spLocks noGrp="1"/>
          </p:cNvSpPr>
          <p:nvPr/>
        </p:nvSpPr>
        <p:spPr>
          <a:xfrm>
            <a:off x="2237575" y="5097807"/>
            <a:ext cx="749508" cy="376465"/>
          </a:xfrm>
          <a:prstGeom prst="rect">
            <a:avLst/>
          </a:prstGeom>
          <a:noFill/>
        </p:spPr>
        <p:txBody>
          <a:bodyPr wrap="square">
            <a:spAutoFit/>
          </a:bodyPr>
          <a:lstStyle/>
          <a:p>
            <a:r>
              <a:t>Alice</a:t>
            </a:r>
          </a:p>
        </p:txBody>
      </p:sp>
      <p:sp>
        <p:nvSpPr>
          <p:cNvPr id="21" name="TextBox 20">
            <a:extLst>
              <a:ext uri="{FF2B5EF4-FFF2-40B4-BE49-F238E27FC236}">
                <a16:creationId xmlns:a16="http://schemas.microsoft.com/office/drawing/2014/main" id="{6A99F87F-149C-5544-ABBD-025F1309621C}"/>
              </a:ext>
            </a:extLst>
          </p:cNvPr>
          <p:cNvSpPr>
            <a:spLocks noGrp="1"/>
          </p:cNvSpPr>
          <p:nvPr/>
        </p:nvSpPr>
        <p:spPr>
          <a:xfrm>
            <a:off x="6186036" y="5125089"/>
            <a:ext cx="749508" cy="376465"/>
          </a:xfrm>
          <a:prstGeom prst="rect">
            <a:avLst/>
          </a:prstGeom>
          <a:noFill/>
        </p:spPr>
        <p:txBody>
          <a:bodyPr wrap="square">
            <a:spAutoFit/>
          </a:bodyPr>
          <a:lstStyle/>
          <a:p>
            <a:r>
              <a:t>Bob</a:t>
            </a:r>
          </a:p>
        </p:txBody>
      </p:sp>
      <p:sp>
        <p:nvSpPr>
          <p:cNvPr id="22" name="TextBox 21">
            <a:extLst>
              <a:ext uri="{FF2B5EF4-FFF2-40B4-BE49-F238E27FC236}">
                <a16:creationId xmlns:a16="http://schemas.microsoft.com/office/drawing/2014/main" id="{437A7E48-7E42-6F7E-1534-46D8B43F9D65}"/>
              </a:ext>
            </a:extLst>
          </p:cNvPr>
          <p:cNvSpPr>
            <a:spLocks noGrp="1"/>
          </p:cNvSpPr>
          <p:nvPr/>
        </p:nvSpPr>
        <p:spPr>
          <a:xfrm>
            <a:off x="9502589" y="4780151"/>
            <a:ext cx="749508" cy="376465"/>
          </a:xfrm>
          <a:prstGeom prst="rect">
            <a:avLst/>
          </a:prstGeom>
          <a:noFill/>
        </p:spPr>
        <p:txBody>
          <a:bodyPr wrap="square">
            <a:spAutoFit/>
          </a:bodyPr>
          <a:lstStyle/>
          <a:p>
            <a:r>
              <a:t>Sam</a:t>
            </a:r>
          </a:p>
        </p:txBody>
      </p:sp>
      <p:pic>
        <p:nvPicPr>
          <p:cNvPr id="130" name="Picture 12"/>
          <p:cNvPicPr>
            <a:picLocks noChangeAspect="1"/>
          </p:cNvPicPr>
          <p:nvPr/>
        </p:nvPicPr>
        <p:blipFill>
          <a:blip r:embed="rId9"/>
          <a:srcRect/>
          <a:stretch>
            <a:fillRect/>
          </a:stretch>
        </p:blipFill>
        <p:spPr>
          <a:xfrm>
            <a:off x="6471875" y="5456270"/>
            <a:ext cx="526738" cy="526738"/>
          </a:xfrm>
          <a:prstGeom prst="rect">
            <a:avLst/>
          </a:prstGeom>
        </p:spPr>
      </p:pic>
      <p:pic>
        <p:nvPicPr>
          <p:cNvPr id="131" name="Picture 12"/>
          <p:cNvPicPr>
            <a:picLocks noChangeAspect="1"/>
          </p:cNvPicPr>
          <p:nvPr/>
        </p:nvPicPr>
        <p:blipFill>
          <a:blip r:embed="rId9"/>
          <a:srcRect/>
          <a:stretch>
            <a:fillRect/>
          </a:stretch>
        </p:blipFill>
        <p:spPr>
          <a:xfrm>
            <a:off x="2586633" y="5422480"/>
            <a:ext cx="526738" cy="526738"/>
          </a:xfrm>
          <a:prstGeom prst="rect">
            <a:avLst/>
          </a:prstGeom>
        </p:spPr>
      </p:pic>
      <p:cxnSp>
        <p:nvCxnSpPr>
          <p:cNvPr id="132" name="Straight Arrow Connector 25"/>
          <p:cNvCxnSpPr/>
          <p:nvPr/>
        </p:nvCxnSpPr>
        <p:spPr>
          <a:xfrm flipH="1">
            <a:off x="2458387" y="3517128"/>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7C47A22-56F0-626D-586B-00CEAF2DC127}"/>
              </a:ext>
            </a:extLst>
          </p:cNvPr>
          <p:cNvSpPr>
            <a:spLocks noGrp="1"/>
          </p:cNvSpPr>
          <p:nvPr/>
        </p:nvSpPr>
        <p:spPr>
          <a:xfrm rot="19903263">
            <a:off x="2635035" y="3820236"/>
            <a:ext cx="654984" cy="369332"/>
          </a:xfrm>
          <a:prstGeom prst="rect">
            <a:avLst/>
          </a:prstGeom>
          <a:noFill/>
        </p:spPr>
        <p:txBody>
          <a:bodyPr wrap="square">
            <a:spAutoFit/>
          </a:bodyPr>
          <a:lstStyle/>
          <a:p>
            <a:r>
              <a:t>Pull</a:t>
            </a:r>
          </a:p>
        </p:txBody>
      </p:sp>
      <p:cxnSp>
        <p:nvCxnSpPr>
          <p:cNvPr id="134" name="Straight Arrow Connector 28"/>
          <p:cNvCxnSpPr/>
          <p:nvPr/>
        </p:nvCxnSpPr>
        <p:spPr>
          <a:xfrm flipV="1">
            <a:off x="2853750" y="3972771"/>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5A4EB2-31AD-3655-E979-CD2DC50601B9}"/>
              </a:ext>
            </a:extLst>
          </p:cNvPr>
          <p:cNvSpPr>
            <a:spLocks noGrp="1"/>
          </p:cNvSpPr>
          <p:nvPr/>
        </p:nvSpPr>
        <p:spPr>
          <a:xfrm rot="19903263">
            <a:off x="2877093" y="4318450"/>
            <a:ext cx="654984" cy="369332"/>
          </a:xfrm>
          <a:prstGeom prst="rect">
            <a:avLst/>
          </a:prstGeom>
          <a:noFill/>
        </p:spPr>
        <p:txBody>
          <a:bodyPr wrap="square">
            <a:spAutoFit/>
          </a:bodyPr>
          <a:lstStyle/>
          <a:p>
            <a:r>
              <a:t>Push</a:t>
            </a:r>
          </a:p>
        </p:txBody>
      </p:sp>
      <p:cxnSp>
        <p:nvCxnSpPr>
          <p:cNvPr id="136" name="Straight Arrow Connector 31"/>
          <p:cNvCxnSpPr/>
          <p:nvPr/>
        </p:nvCxnSpPr>
        <p:spPr>
          <a:xfrm rot="3382914">
            <a:off x="5576712" y="3606792"/>
            <a:ext cx="0" cy="1147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32"/>
          <p:cNvCxnSpPr/>
          <p:nvPr/>
        </p:nvCxnSpPr>
        <p:spPr>
          <a:xfrm rot="3382914" flipV="1">
            <a:off x="5912956" y="4006351"/>
            <a:ext cx="19053" cy="11383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EE35080-F846-C1A4-952A-7A07F1DD18B7}"/>
              </a:ext>
            </a:extLst>
          </p:cNvPr>
          <p:cNvSpPr>
            <a:spLocks noGrp="1"/>
          </p:cNvSpPr>
          <p:nvPr/>
        </p:nvSpPr>
        <p:spPr>
          <a:xfrm rot="19903263">
            <a:off x="5112175" y="3829627"/>
            <a:ext cx="654984" cy="369332"/>
          </a:xfrm>
          <a:prstGeom prst="rect">
            <a:avLst/>
          </a:prstGeom>
          <a:noFill/>
        </p:spPr>
        <p:txBody>
          <a:bodyPr wrap="square">
            <a:spAutoFit/>
          </a:bodyPr>
          <a:lstStyle/>
          <a:p>
            <a:r>
              <a:t>Pull</a:t>
            </a:r>
          </a:p>
        </p:txBody>
      </p:sp>
      <p:sp>
        <p:nvSpPr>
          <p:cNvPr id="35" name="TextBox 34">
            <a:extLst>
              <a:ext uri="{FF2B5EF4-FFF2-40B4-BE49-F238E27FC236}">
                <a16:creationId xmlns:a16="http://schemas.microsoft.com/office/drawing/2014/main" id="{8D932C62-1D7A-5B17-4FDB-E15F24C783EE}"/>
              </a:ext>
            </a:extLst>
          </p:cNvPr>
          <p:cNvSpPr>
            <a:spLocks noGrp="1"/>
          </p:cNvSpPr>
          <p:nvPr/>
        </p:nvSpPr>
        <p:spPr>
          <a:xfrm rot="19903263">
            <a:off x="5366716" y="4319541"/>
            <a:ext cx="654984" cy="369332"/>
          </a:xfrm>
          <a:prstGeom prst="rect">
            <a:avLst/>
          </a:prstGeom>
          <a:noFill/>
        </p:spPr>
        <p:txBody>
          <a:bodyPr wrap="square">
            <a:spAutoFit/>
          </a:bodyPr>
          <a:lstStyle/>
          <a:p>
            <a:r>
              <a:t>Push</a:t>
            </a:r>
          </a:p>
        </p:txBody>
      </p:sp>
      <p:cxnSp>
        <p:nvCxnSpPr>
          <p:cNvPr id="140" name="Straight Arrow Connector 36"/>
          <p:cNvCxnSpPr/>
          <p:nvPr/>
        </p:nvCxnSpPr>
        <p:spPr>
          <a:xfrm flipH="1">
            <a:off x="7781307" y="3405147"/>
            <a:ext cx="1259174" cy="8382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37"/>
          <p:cNvCxnSpPr/>
          <p:nvPr/>
        </p:nvCxnSpPr>
        <p:spPr>
          <a:xfrm flipV="1">
            <a:off x="8176670" y="3917371"/>
            <a:ext cx="1102570" cy="6872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5210BA9-C60C-46EB-B93C-D7A2DDAE7B38}"/>
              </a:ext>
            </a:extLst>
          </p:cNvPr>
          <p:cNvSpPr>
            <a:spLocks noGrp="1"/>
          </p:cNvSpPr>
          <p:nvPr/>
        </p:nvSpPr>
        <p:spPr>
          <a:xfrm rot="19903263">
            <a:off x="7957955" y="3476593"/>
            <a:ext cx="654984" cy="369332"/>
          </a:xfrm>
          <a:prstGeom prst="rect">
            <a:avLst/>
          </a:prstGeom>
          <a:noFill/>
        </p:spPr>
        <p:txBody>
          <a:bodyPr wrap="square">
            <a:spAutoFit/>
          </a:bodyPr>
          <a:lstStyle/>
          <a:p>
            <a:r>
              <a:t>Pull</a:t>
            </a:r>
          </a:p>
        </p:txBody>
      </p:sp>
      <p:sp>
        <p:nvSpPr>
          <p:cNvPr id="40" name="TextBox 39">
            <a:extLst>
              <a:ext uri="{FF2B5EF4-FFF2-40B4-BE49-F238E27FC236}">
                <a16:creationId xmlns:a16="http://schemas.microsoft.com/office/drawing/2014/main" id="{8381F3B0-9E93-5F0F-9C81-880481BFF794}"/>
              </a:ext>
            </a:extLst>
          </p:cNvPr>
          <p:cNvSpPr>
            <a:spLocks noGrp="1"/>
          </p:cNvSpPr>
          <p:nvPr/>
        </p:nvSpPr>
        <p:spPr>
          <a:xfrm rot="19903263">
            <a:off x="8200013" y="3974807"/>
            <a:ext cx="654984" cy="369332"/>
          </a:xfrm>
          <a:prstGeom prst="rect">
            <a:avLst/>
          </a:prstGeom>
          <a:noFill/>
        </p:spPr>
        <p:txBody>
          <a:bodyPr wrap="square">
            <a:spAutoFit/>
          </a:bodyPr>
          <a:lstStyle/>
          <a:p>
            <a:r>
              <a:t>Push</a:t>
            </a:r>
          </a:p>
        </p:txBody>
      </p:sp>
      <p:pic>
        <p:nvPicPr>
          <p:cNvPr id="144" name="Picture 2"/>
          <p:cNvPicPr>
            <a:picLocks noChangeAspect="1"/>
          </p:cNvPicPr>
          <p:nvPr/>
        </p:nvPicPr>
        <p:blipFill>
          <a:blip r:embed="rId10"/>
          <a:srcRect/>
          <a:stretch>
            <a:fillRect/>
          </a:stretch>
        </p:blipFill>
        <p:spPr>
          <a:xfrm>
            <a:off x="1791220" y="1113421"/>
            <a:ext cx="865342" cy="865342"/>
          </a:xfrm>
          <a:prstGeom prst="rect">
            <a:avLst/>
          </a:prstGeom>
        </p:spPr>
      </p:pic>
      <p:pic>
        <p:nvPicPr>
          <p:cNvPr id="145" name="Picture 4"/>
          <p:cNvPicPr>
            <a:picLocks noChangeAspect="1"/>
          </p:cNvPicPr>
          <p:nvPr/>
        </p:nvPicPr>
        <p:blipFill>
          <a:blip r:embed="rId11"/>
          <a:srcRect/>
          <a:stretch>
            <a:fillRect/>
          </a:stretch>
        </p:blipFill>
        <p:spPr>
          <a:xfrm>
            <a:off x="1279777" y="1576449"/>
            <a:ext cx="672842" cy="768962"/>
          </a:xfrm>
          <a:prstGeom prst="rect">
            <a:avLst/>
          </a:prstGeom>
        </p:spPr>
      </p:pic>
      <p:pic>
        <p:nvPicPr>
          <p:cNvPr id="146" name="Picture 6"/>
          <p:cNvPicPr>
            <a:picLocks noChangeAspect="1"/>
          </p:cNvPicPr>
          <p:nvPr/>
        </p:nvPicPr>
        <p:blipFill>
          <a:blip r:embed="rId12"/>
          <a:srcRect/>
          <a:stretch>
            <a:fillRect/>
          </a:stretch>
        </p:blipFill>
        <p:spPr>
          <a:xfrm>
            <a:off x="1263102" y="2467139"/>
            <a:ext cx="865342" cy="865342"/>
          </a:xfrm>
          <a:prstGeom prst="rect">
            <a:avLst/>
          </a:prstGeom>
        </p:spPr>
      </p:pic>
      <p:cxnSp>
        <p:nvCxnSpPr>
          <p:cNvPr id="147" name="Straight Arrow Connector 46"/>
          <p:cNvCxnSpPr/>
          <p:nvPr/>
        </p:nvCxnSpPr>
        <p:spPr>
          <a:xfrm flipH="1">
            <a:off x="2334138" y="1743600"/>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580E149-DD17-3110-1CE7-3C7E8CBE52F8}"/>
              </a:ext>
            </a:extLst>
          </p:cNvPr>
          <p:cNvSpPr>
            <a:spLocks noGrp="1"/>
          </p:cNvSpPr>
          <p:nvPr/>
        </p:nvSpPr>
        <p:spPr>
          <a:xfrm rot="19903263">
            <a:off x="2510786" y="2046708"/>
            <a:ext cx="654984" cy="369332"/>
          </a:xfrm>
          <a:prstGeom prst="rect">
            <a:avLst/>
          </a:prstGeom>
          <a:noFill/>
        </p:spPr>
        <p:txBody>
          <a:bodyPr wrap="square">
            <a:spAutoFit/>
          </a:bodyPr>
          <a:lstStyle/>
          <a:p>
            <a:r>
              <a:t>Pull</a:t>
            </a:r>
          </a:p>
        </p:txBody>
      </p:sp>
      <p:cxnSp>
        <p:nvCxnSpPr>
          <p:cNvPr id="149" name="Straight Arrow Connector 44"/>
          <p:cNvCxnSpPr/>
          <p:nvPr/>
        </p:nvCxnSpPr>
        <p:spPr>
          <a:xfrm flipV="1">
            <a:off x="2729501" y="2199243"/>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E86CEAF-4E78-26D9-8C82-F231DBC01758}"/>
              </a:ext>
            </a:extLst>
          </p:cNvPr>
          <p:cNvSpPr>
            <a:spLocks noGrp="1"/>
          </p:cNvSpPr>
          <p:nvPr/>
        </p:nvSpPr>
        <p:spPr>
          <a:xfrm rot="19903263">
            <a:off x="2752844" y="2544922"/>
            <a:ext cx="654984" cy="369332"/>
          </a:xfrm>
          <a:prstGeom prst="rect">
            <a:avLst/>
          </a:prstGeom>
          <a:noFill/>
        </p:spPr>
        <p:txBody>
          <a:bodyPr wrap="square">
            <a:spAutoFit/>
          </a:bodyPr>
          <a:lstStyle/>
          <a:p>
            <a:r>
              <a:t>Push</a:t>
            </a:r>
          </a:p>
        </p:txBody>
      </p:sp>
      <p:sp>
        <p:nvSpPr>
          <p:cNvPr id="52" name="TextBox 51">
            <a:extLst>
              <a:ext uri="{FF2B5EF4-FFF2-40B4-BE49-F238E27FC236}">
                <a16:creationId xmlns:a16="http://schemas.microsoft.com/office/drawing/2014/main" id="{CCA956F6-96FC-5C08-FC57-18F6BA02ED42}"/>
              </a:ext>
            </a:extLst>
          </p:cNvPr>
          <p:cNvSpPr>
            <a:spLocks noGrp="1"/>
          </p:cNvSpPr>
          <p:nvPr/>
        </p:nvSpPr>
        <p:spPr>
          <a:xfrm>
            <a:off x="453225" y="1953992"/>
            <a:ext cx="865342" cy="369332"/>
          </a:xfrm>
          <a:prstGeom prst="rect">
            <a:avLst/>
          </a:prstGeom>
          <a:noFill/>
        </p:spPr>
        <p:txBody>
          <a:bodyPr wrap="square">
            <a:spAutoFit/>
          </a:bodyPr>
          <a:lstStyle/>
          <a:p>
            <a:r>
              <a:t>Simon</a:t>
            </a:r>
          </a:p>
        </p:txBody>
      </p:sp>
      <p:sp>
        <p:nvSpPr>
          <p:cNvPr id="53" name="TextBox 52">
            <a:extLst>
              <a:ext uri="{FF2B5EF4-FFF2-40B4-BE49-F238E27FC236}">
                <a16:creationId xmlns:a16="http://schemas.microsoft.com/office/drawing/2014/main" id="{B69DD99A-6F58-6A55-CBBB-3CDAC9D26EBF}"/>
              </a:ext>
            </a:extLst>
          </p:cNvPr>
          <p:cNvSpPr>
            <a:spLocks noGrp="1"/>
          </p:cNvSpPr>
          <p:nvPr/>
        </p:nvSpPr>
        <p:spPr>
          <a:xfrm>
            <a:off x="489034" y="2649121"/>
            <a:ext cx="865342" cy="369332"/>
          </a:xfrm>
          <a:prstGeom prst="rect">
            <a:avLst/>
          </a:prstGeom>
          <a:noFill/>
        </p:spPr>
        <p:txBody>
          <a:bodyPr wrap="square">
            <a:spAutoFit/>
          </a:bodyPr>
          <a:lstStyle/>
          <a:p>
            <a:r>
              <a:t>Ramos</a:t>
            </a:r>
          </a:p>
        </p:txBody>
      </p:sp>
      <p:sp>
        <p:nvSpPr>
          <p:cNvPr id="59" name="TextBox 58">
            <a:extLst>
              <a:ext uri="{FF2B5EF4-FFF2-40B4-BE49-F238E27FC236}">
                <a16:creationId xmlns:a16="http://schemas.microsoft.com/office/drawing/2014/main" id="{9B735899-C2E7-2A84-C9AC-EF489A2DA46C}"/>
              </a:ext>
            </a:extLst>
          </p:cNvPr>
          <p:cNvSpPr>
            <a:spLocks noGrp="1"/>
          </p:cNvSpPr>
          <p:nvPr/>
        </p:nvSpPr>
        <p:spPr>
          <a:xfrm>
            <a:off x="5071088" y="3462739"/>
            <a:ext cx="1771650" cy="369332"/>
          </a:xfrm>
          <a:prstGeom prst="rect">
            <a:avLst/>
          </a:prstGeom>
          <a:noFill/>
        </p:spPr>
        <p:txBody>
          <a:bodyPr wrap="square">
            <a:spAutoFit/>
          </a:bodyPr>
          <a:lstStyle/>
          <a:p>
            <a:r>
              <a:t>Subway Project</a:t>
            </a:r>
          </a:p>
        </p:txBody>
      </p:sp>
    </p:spTree>
    <p:extLst>
      <p:ext uri="{BB962C8B-B14F-4D97-AF65-F5344CB8AC3E}">
        <p14:creationId xmlns:p14="http://schemas.microsoft.com/office/powerpoint/2010/main" val="2824769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0977-7CA6-63ED-67B6-56771CC0DAE4}"/>
              </a:ext>
            </a:extLst>
          </p:cNvPr>
          <p:cNvSpPr>
            <a:spLocks noGrp="1"/>
          </p:cNvSpPr>
          <p:nvPr>
            <p:ph type="title"/>
          </p:nvPr>
        </p:nvSpPr>
        <p:spPr>
          <a:xfrm>
            <a:off x="838200" y="139211"/>
            <a:ext cx="10515600" cy="409426"/>
          </a:xfrm>
        </p:spPr>
        <p:txBody>
          <a:bodyPr>
            <a:normAutofit fontScale="90000"/>
          </a:bodyPr>
          <a:lstStyle/>
          <a:p>
            <a:r>
              <a:t>Issue Template</a:t>
            </a:r>
          </a:p>
        </p:txBody>
      </p:sp>
      <p:sp>
        <p:nvSpPr>
          <p:cNvPr id="5" name="TextBox 4">
            <a:extLst>
              <a:ext uri="{FF2B5EF4-FFF2-40B4-BE49-F238E27FC236}">
                <a16:creationId xmlns:a16="http://schemas.microsoft.com/office/drawing/2014/main" id="{FF5171BF-3CD2-BD32-0D65-D7696F6D7820}"/>
              </a:ext>
            </a:extLst>
          </p:cNvPr>
          <p:cNvSpPr>
            <a:spLocks noGrp="1"/>
          </p:cNvSpPr>
          <p:nvPr/>
        </p:nvSpPr>
        <p:spPr>
          <a:xfrm>
            <a:off x="3161555" y="6492874"/>
            <a:ext cx="6094206" cy="261610"/>
          </a:xfrm>
          <a:prstGeom prst="rect">
            <a:avLst/>
          </a:prstGeom>
          <a:noFill/>
        </p:spPr>
        <p:txBody>
          <a:bodyPr wrap="square">
            <a:spAutoFit/>
          </a:bodyPr>
          <a:lstStyle/>
          <a:p>
            <a:r>
              <a:rPr sz="1100">
                <a:hlinkClick r:id="rId3"/>
              </a:rPr>
              <a:t>https://github.com/hubtype/botonic/tree/master-lts/.github/ISSUE_TEMPLATE</a:t>
            </a:r>
            <a:endParaRPr sz="1100"/>
          </a:p>
        </p:txBody>
      </p:sp>
      <p:pic>
        <p:nvPicPr>
          <p:cNvPr id="16" name="Picture 6"/>
          <p:cNvPicPr>
            <a:picLocks noChangeAspect="1"/>
          </p:cNvPicPr>
          <p:nvPr/>
        </p:nvPicPr>
        <p:blipFill>
          <a:blip r:embed="rId4"/>
          <a:stretch>
            <a:fillRect/>
          </a:stretch>
        </p:blipFill>
        <p:spPr>
          <a:xfrm>
            <a:off x="1910977" y="817149"/>
            <a:ext cx="6605195" cy="2005679"/>
          </a:xfrm>
          <a:prstGeom prst="rect">
            <a:avLst/>
          </a:prstGeom>
          <a:ln>
            <a:solidFill>
              <a:srgbClr val="1D15C5"/>
            </a:solidFill>
          </a:ln>
        </p:spPr>
      </p:pic>
      <p:pic>
        <p:nvPicPr>
          <p:cNvPr id="17" name="Picture 8"/>
          <p:cNvPicPr>
            <a:picLocks noChangeAspect="1"/>
          </p:cNvPicPr>
          <p:nvPr/>
        </p:nvPicPr>
        <p:blipFill>
          <a:blip r:embed="rId5"/>
          <a:stretch>
            <a:fillRect/>
          </a:stretch>
        </p:blipFill>
        <p:spPr>
          <a:xfrm>
            <a:off x="1910977" y="2934810"/>
            <a:ext cx="6605195" cy="3558064"/>
          </a:xfrm>
          <a:prstGeom prst="rect">
            <a:avLst/>
          </a:prstGeom>
          <a:ln>
            <a:solidFill>
              <a:srgbClr val="1D15C5"/>
            </a:solidFill>
          </a:ln>
        </p:spPr>
      </p:pic>
      <p:sp>
        <p:nvSpPr>
          <p:cNvPr id="10" name="TextBox 9">
            <a:extLst>
              <a:ext uri="{FF2B5EF4-FFF2-40B4-BE49-F238E27FC236}">
                <a16:creationId xmlns:a16="http://schemas.microsoft.com/office/drawing/2014/main" id="{64F0D234-16C8-69F1-DF27-687BA82AF242}"/>
              </a:ext>
            </a:extLst>
          </p:cNvPr>
          <p:cNvSpPr>
            <a:spLocks noGrp="1"/>
          </p:cNvSpPr>
          <p:nvPr/>
        </p:nvSpPr>
        <p:spPr>
          <a:xfrm>
            <a:off x="8516172" y="1635322"/>
            <a:ext cx="1914861" cy="369332"/>
          </a:xfrm>
          <a:prstGeom prst="rect">
            <a:avLst/>
          </a:prstGeom>
          <a:noFill/>
        </p:spPr>
        <p:txBody>
          <a:bodyPr wrap="square">
            <a:spAutoFit/>
          </a:bodyPr>
          <a:lstStyle/>
          <a:p>
            <a:r>
              <a:t>Feature request</a:t>
            </a:r>
          </a:p>
        </p:txBody>
      </p:sp>
      <p:sp>
        <p:nvSpPr>
          <p:cNvPr id="11" name="TextBox 10">
            <a:extLst>
              <a:ext uri="{FF2B5EF4-FFF2-40B4-BE49-F238E27FC236}">
                <a16:creationId xmlns:a16="http://schemas.microsoft.com/office/drawing/2014/main" id="{E400647A-EA47-D22E-7E77-8D6FAC4509EE}"/>
              </a:ext>
            </a:extLst>
          </p:cNvPr>
          <p:cNvSpPr>
            <a:spLocks noGrp="1"/>
          </p:cNvSpPr>
          <p:nvPr/>
        </p:nvSpPr>
        <p:spPr>
          <a:xfrm>
            <a:off x="8516172" y="2934810"/>
            <a:ext cx="1269403" cy="369332"/>
          </a:xfrm>
          <a:prstGeom prst="rect">
            <a:avLst/>
          </a:prstGeom>
          <a:noFill/>
        </p:spPr>
        <p:txBody>
          <a:bodyPr wrap="square">
            <a:spAutoFit/>
          </a:bodyPr>
          <a:lstStyle/>
          <a:p>
            <a:r>
              <a:t>Bug report</a:t>
            </a:r>
          </a:p>
        </p:txBody>
      </p:sp>
    </p:spTree>
    <p:extLst>
      <p:ext uri="{BB962C8B-B14F-4D97-AF65-F5344CB8AC3E}">
        <p14:creationId xmlns:p14="http://schemas.microsoft.com/office/powerpoint/2010/main" val="537384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Issue Tracker - GitHub</a:t>
            </a:r>
          </a:p>
        </p:txBody>
      </p:sp>
      <p:pic>
        <p:nvPicPr>
          <p:cNvPr id="62" name="Picture 2"/>
          <p:cNvPicPr>
            <a:picLocks noChangeAspect="1"/>
          </p:cNvPicPr>
          <p:nvPr/>
        </p:nvPicPr>
        <p:blipFill rotWithShape="1">
          <a:blip r:embed="rId3"/>
          <a:srcRect l="7500" t="7631" r="10469" b="64978"/>
          <a:stretch/>
        </p:blipFill>
        <p:spPr>
          <a:xfrm>
            <a:off x="286055" y="1771651"/>
            <a:ext cx="7820124" cy="1314449"/>
          </a:xfrm>
          <a:prstGeom prst="rect">
            <a:avLst/>
          </a:prstGeom>
          <a:ln>
            <a:solidFill>
              <a:schemeClr val="bg1">
                <a:lumMod val="50000"/>
              </a:schemeClr>
            </a:solidFill>
          </a:ln>
        </p:spPr>
      </p:pic>
      <p:sp>
        <p:nvSpPr>
          <p:cNvPr id="2" name="TextBox 1">
            <a:extLst>
              <a:ext uri="{FF2B5EF4-FFF2-40B4-BE49-F238E27FC236}">
                <a16:creationId xmlns:a16="http://schemas.microsoft.com/office/drawing/2014/main" id="{415F1F3D-C014-6814-C28F-19DA0143EE75}"/>
              </a:ext>
            </a:extLst>
          </p:cNvPr>
          <p:cNvSpPr>
            <a:spLocks noGrp="1"/>
          </p:cNvSpPr>
          <p:nvPr/>
        </p:nvSpPr>
        <p:spPr>
          <a:xfrm>
            <a:off x="8543925" y="1459336"/>
            <a:ext cx="3257550" cy="1631216"/>
          </a:xfrm>
          <a:prstGeom prst="rect">
            <a:avLst/>
          </a:prstGeom>
          <a:noFill/>
          <a:ln w="28575">
            <a:solidFill>
              <a:srgbClr val="C00000"/>
            </a:solidFill>
          </a:ln>
        </p:spPr>
        <p:txBody>
          <a:bodyPr wrap="square">
            <a:spAutoFit/>
          </a:bodyPr>
          <a:lstStyle/>
          <a:p>
            <a:r>
              <a:rPr sz="2800" b="1" u="sng"/>
              <a:t>Issues</a:t>
            </a:r>
          </a:p>
          <a:p>
            <a:pPr marL="285750" indent="-285750">
              <a:buFont typeface="Arial"/>
              <a:buChar char="•"/>
            </a:pPr>
            <a:r>
              <a:rPr sz="2400"/>
              <a:t>Feature requests</a:t>
            </a:r>
          </a:p>
          <a:p>
            <a:pPr marL="285750" indent="-285750">
              <a:buFont typeface="Arial"/>
              <a:buChar char="•"/>
            </a:pPr>
            <a:r>
              <a:rPr sz="2400"/>
              <a:t>Bugs to fix</a:t>
            </a:r>
          </a:p>
          <a:p>
            <a:pPr marL="285750" indent="-285750">
              <a:buFont typeface="Arial"/>
              <a:buChar char="•"/>
            </a:pPr>
            <a:r>
              <a:rPr sz="2400"/>
              <a:t>New tests to add</a:t>
            </a:r>
          </a:p>
        </p:txBody>
      </p:sp>
      <p:pic>
        <p:nvPicPr>
          <p:cNvPr id="64" name="Picture 55"/>
          <p:cNvPicPr>
            <a:picLocks noChangeAspect="1"/>
          </p:cNvPicPr>
          <p:nvPr/>
        </p:nvPicPr>
        <p:blipFill>
          <a:blip r:embed="rId4"/>
          <a:stretch>
            <a:fillRect/>
          </a:stretch>
        </p:blipFill>
        <p:spPr>
          <a:xfrm>
            <a:off x="236382" y="3145839"/>
            <a:ext cx="7919470" cy="3043238"/>
          </a:xfrm>
          <a:prstGeom prst="rect">
            <a:avLst/>
          </a:prstGeom>
          <a:ln>
            <a:solidFill>
              <a:schemeClr val="bg1">
                <a:lumMod val="50000"/>
              </a:schemeClr>
            </a:solidFill>
          </a:ln>
        </p:spPr>
      </p:pic>
      <p:sp>
        <p:nvSpPr>
          <p:cNvPr id="57" name="Rounded Rectangle 56">
            <a:extLst>
              <a:ext uri="{FF2B5EF4-FFF2-40B4-BE49-F238E27FC236}">
                <a16:creationId xmlns:a16="http://schemas.microsoft.com/office/drawing/2014/main" id="{94F17574-3F07-949D-CA82-E77591C51723}"/>
              </a:ext>
            </a:extLst>
          </p:cNvPr>
          <p:cNvSpPr>
            <a:spLocks noGrp="1"/>
          </p:cNvSpPr>
          <p:nvPr/>
        </p:nvSpPr>
        <p:spPr>
          <a:xfrm>
            <a:off x="319085" y="3202991"/>
            <a:ext cx="1400175" cy="34290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8" name="Rounded Rectangle 57">
            <a:extLst>
              <a:ext uri="{FF2B5EF4-FFF2-40B4-BE49-F238E27FC236}">
                <a16:creationId xmlns:a16="http://schemas.microsoft.com/office/drawing/2014/main" id="{096ADED1-38CC-F20E-CBAC-8452303ECE56}"/>
              </a:ext>
            </a:extLst>
          </p:cNvPr>
          <p:cNvSpPr>
            <a:spLocks noGrp="1"/>
          </p:cNvSpPr>
          <p:nvPr/>
        </p:nvSpPr>
        <p:spPr>
          <a:xfrm>
            <a:off x="6929438" y="4667458"/>
            <a:ext cx="1176741" cy="3617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B1642AF-3B1A-BA7A-C628-025A60FDF1FA}"/>
              </a:ext>
            </a:extLst>
          </p:cNvPr>
          <p:cNvSpPr>
            <a:spLocks noGrp="1"/>
          </p:cNvSpPr>
          <p:nvPr/>
        </p:nvSpPr>
        <p:spPr>
          <a:xfrm>
            <a:off x="2023672" y="4667458"/>
            <a:ext cx="2593298" cy="361742"/>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264283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Tracking Issues - GitHub</a:t>
            </a:r>
          </a:p>
        </p:txBody>
      </p:sp>
      <p:pic>
        <p:nvPicPr>
          <p:cNvPr id="64" name="Picture 8"/>
          <p:cNvPicPr>
            <a:picLocks noChangeAspect="1"/>
          </p:cNvPicPr>
          <p:nvPr/>
        </p:nvPicPr>
        <p:blipFill>
          <a:blip r:embed="rId3"/>
          <a:stretch>
            <a:fillRect/>
          </a:stretch>
        </p:blipFill>
        <p:spPr>
          <a:xfrm>
            <a:off x="317500" y="1746964"/>
            <a:ext cx="4994940" cy="2896474"/>
          </a:xfrm>
          <a:prstGeom prst="rect">
            <a:avLst/>
          </a:prstGeom>
        </p:spPr>
      </p:pic>
      <p:pic>
        <p:nvPicPr>
          <p:cNvPr id="65" name="Picture 10"/>
          <p:cNvPicPr>
            <a:picLocks noChangeAspect="1"/>
          </p:cNvPicPr>
          <p:nvPr/>
        </p:nvPicPr>
        <p:blipFill>
          <a:blip r:embed="rId4"/>
          <a:stretch>
            <a:fillRect/>
          </a:stretch>
        </p:blipFill>
        <p:spPr>
          <a:xfrm>
            <a:off x="473075" y="4614863"/>
            <a:ext cx="4226228" cy="1485900"/>
          </a:xfrm>
          <a:prstGeom prst="rect">
            <a:avLst/>
          </a:prstGeom>
        </p:spPr>
      </p:pic>
      <p:pic>
        <p:nvPicPr>
          <p:cNvPr id="66" name="Picture 12"/>
          <p:cNvPicPr>
            <a:picLocks noChangeAspect="1"/>
          </p:cNvPicPr>
          <p:nvPr/>
        </p:nvPicPr>
        <p:blipFill>
          <a:blip r:embed="rId5"/>
          <a:stretch>
            <a:fillRect/>
          </a:stretch>
        </p:blipFill>
        <p:spPr>
          <a:xfrm>
            <a:off x="5952211" y="1564044"/>
            <a:ext cx="5688135" cy="3262313"/>
          </a:xfrm>
          <a:prstGeom prst="rect">
            <a:avLst/>
          </a:prstGeom>
        </p:spPr>
      </p:pic>
      <p:sp>
        <p:nvSpPr>
          <p:cNvPr id="15" name="Straight Connector 14">
            <a:extLst>
              <a:ext uri="{FF2B5EF4-FFF2-40B4-BE49-F238E27FC236}">
                <a16:creationId xmlns:a16="http://schemas.microsoft.com/office/drawing/2014/main" id="{63EE73DA-3286-4B29-8094-77C49303E689}"/>
              </a:ext>
            </a:extLst>
          </p:cNvPr>
          <p:cNvSpPr>
            <a:spLocks noGrp="1"/>
          </p:cNvSpPr>
          <p:nvPr/>
        </p:nvSpPr>
        <p:spPr>
          <a:xfrm>
            <a:off x="5632325" y="1035187"/>
            <a:ext cx="0" cy="4945888"/>
          </a:xfrm>
          <a:prstGeom prst="line">
            <a:avLst/>
          </a:prstGeom>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7" name="TextBox 16">
            <a:extLst>
              <a:ext uri="{FF2B5EF4-FFF2-40B4-BE49-F238E27FC236}">
                <a16:creationId xmlns:a16="http://schemas.microsoft.com/office/drawing/2014/main" id="{7F0460ED-A801-10BF-BD72-A5625D95A558}"/>
              </a:ext>
            </a:extLst>
          </p:cNvPr>
          <p:cNvSpPr>
            <a:spLocks noGrp="1"/>
          </p:cNvSpPr>
          <p:nvPr/>
        </p:nvSpPr>
        <p:spPr>
          <a:xfrm>
            <a:off x="2058066" y="1230170"/>
            <a:ext cx="756904" cy="369332"/>
          </a:xfrm>
          <a:prstGeom prst="rect">
            <a:avLst/>
          </a:prstGeom>
          <a:noFill/>
          <a:ln w="28575">
            <a:solidFill>
              <a:srgbClr val="C00000"/>
            </a:solidFill>
          </a:ln>
        </p:spPr>
        <p:txBody>
          <a:bodyPr wrap="square">
            <a:spAutoFit/>
          </a:bodyPr>
          <a:lstStyle/>
          <a:p>
            <a:r>
              <a:t>Issue</a:t>
            </a:r>
          </a:p>
        </p:txBody>
      </p:sp>
      <p:sp>
        <p:nvSpPr>
          <p:cNvPr id="18" name="TextBox 17">
            <a:extLst>
              <a:ext uri="{FF2B5EF4-FFF2-40B4-BE49-F238E27FC236}">
                <a16:creationId xmlns:a16="http://schemas.microsoft.com/office/drawing/2014/main" id="{236F2846-C361-B4FA-1094-E5D4A97870A3}"/>
              </a:ext>
            </a:extLst>
          </p:cNvPr>
          <p:cNvSpPr>
            <a:spLocks noGrp="1"/>
          </p:cNvSpPr>
          <p:nvPr/>
        </p:nvSpPr>
        <p:spPr>
          <a:xfrm>
            <a:off x="8039374" y="1021743"/>
            <a:ext cx="1504676" cy="369332"/>
          </a:xfrm>
          <a:prstGeom prst="rect">
            <a:avLst/>
          </a:prstGeom>
          <a:noFill/>
          <a:ln w="28575">
            <a:solidFill>
              <a:srgbClr val="C00000"/>
            </a:solidFill>
          </a:ln>
        </p:spPr>
        <p:txBody>
          <a:bodyPr wrap="square">
            <a:spAutoFit/>
          </a:bodyPr>
          <a:lstStyle/>
          <a:p>
            <a:r>
              <a:t>Pull Request</a:t>
            </a:r>
          </a:p>
        </p:txBody>
      </p:sp>
      <p:sp>
        <p:nvSpPr>
          <p:cNvPr id="22" name="TextBox 21">
            <a:extLst>
              <a:ext uri="{FF2B5EF4-FFF2-40B4-BE49-F238E27FC236}">
                <a16:creationId xmlns:a16="http://schemas.microsoft.com/office/drawing/2014/main" id="{18ACD510-FC67-4537-779E-53248F5F6471}"/>
              </a:ext>
            </a:extLst>
          </p:cNvPr>
          <p:cNvSpPr>
            <a:spLocks noGrp="1"/>
          </p:cNvSpPr>
          <p:nvPr/>
        </p:nvSpPr>
        <p:spPr>
          <a:xfrm>
            <a:off x="3994692" y="1940548"/>
            <a:ext cx="548734" cy="307777"/>
          </a:xfrm>
          <a:prstGeom prst="rect">
            <a:avLst/>
          </a:prstGeom>
          <a:noFill/>
          <a:ln w="28575">
            <a:solidFill>
              <a:srgbClr val="C00000"/>
            </a:solidFill>
          </a:ln>
        </p:spPr>
        <p:txBody>
          <a:bodyPr wrap="square">
            <a:spAutoFit/>
          </a:bodyPr>
          <a:lstStyle/>
          <a:p>
            <a:r>
              <a:rPr sz="1400"/>
              <a:t>Title</a:t>
            </a:r>
          </a:p>
        </p:txBody>
      </p:sp>
      <p:sp>
        <p:nvSpPr>
          <p:cNvPr id="23" name="TextBox 22">
            <a:extLst>
              <a:ext uri="{FF2B5EF4-FFF2-40B4-BE49-F238E27FC236}">
                <a16:creationId xmlns:a16="http://schemas.microsoft.com/office/drawing/2014/main" id="{DD1E06CA-1D7F-67A7-1D80-4C3BFF99489F}"/>
              </a:ext>
            </a:extLst>
          </p:cNvPr>
          <p:cNvSpPr>
            <a:spLocks noGrp="1"/>
          </p:cNvSpPr>
          <p:nvPr/>
        </p:nvSpPr>
        <p:spPr>
          <a:xfrm>
            <a:off x="2056820" y="3587449"/>
            <a:ext cx="1657930" cy="307777"/>
          </a:xfrm>
          <a:prstGeom prst="rect">
            <a:avLst/>
          </a:prstGeom>
          <a:noFill/>
          <a:ln w="28575">
            <a:solidFill>
              <a:srgbClr val="C00000"/>
            </a:solidFill>
          </a:ln>
        </p:spPr>
        <p:txBody>
          <a:bodyPr wrap="square">
            <a:spAutoFit/>
          </a:bodyPr>
          <a:lstStyle/>
          <a:p>
            <a:r>
              <a:rPr sz="1400"/>
              <a:t>Detailed description </a:t>
            </a:r>
          </a:p>
        </p:txBody>
      </p:sp>
      <p:sp>
        <p:nvSpPr>
          <p:cNvPr id="24" name="TextBox 23">
            <a:extLst>
              <a:ext uri="{FF2B5EF4-FFF2-40B4-BE49-F238E27FC236}">
                <a16:creationId xmlns:a16="http://schemas.microsoft.com/office/drawing/2014/main" id="{4828AA00-9138-E751-8E32-15A745F39D37}"/>
              </a:ext>
            </a:extLst>
          </p:cNvPr>
          <p:cNvSpPr>
            <a:spLocks noGrp="1"/>
          </p:cNvSpPr>
          <p:nvPr/>
        </p:nvSpPr>
        <p:spPr>
          <a:xfrm>
            <a:off x="795336" y="6096862"/>
            <a:ext cx="3090855" cy="307777"/>
          </a:xfrm>
          <a:prstGeom prst="rect">
            <a:avLst/>
          </a:prstGeom>
          <a:noFill/>
          <a:ln w="28575">
            <a:solidFill>
              <a:srgbClr val="C00000"/>
            </a:solidFill>
          </a:ln>
        </p:spPr>
        <p:txBody>
          <a:bodyPr wrap="square">
            <a:spAutoFit/>
          </a:bodyPr>
          <a:lstStyle/>
          <a:p>
            <a:r>
              <a:rPr sz="1400"/>
              <a:t>More Description later – As comments</a:t>
            </a:r>
          </a:p>
        </p:txBody>
      </p:sp>
      <p:pic>
        <p:nvPicPr>
          <p:cNvPr id="73" name="Picture 19"/>
          <p:cNvPicPr>
            <a:picLocks noChangeAspect="1"/>
          </p:cNvPicPr>
          <p:nvPr/>
        </p:nvPicPr>
        <p:blipFill>
          <a:blip r:embed="rId6"/>
          <a:stretch>
            <a:fillRect/>
          </a:stretch>
        </p:blipFill>
        <p:spPr>
          <a:xfrm>
            <a:off x="6984189" y="4298150"/>
            <a:ext cx="2930983" cy="1489002"/>
          </a:xfrm>
          <a:prstGeom prst="rect">
            <a:avLst/>
          </a:prstGeom>
          <a:ln>
            <a:solidFill>
              <a:schemeClr val="bg1">
                <a:lumMod val="50000"/>
              </a:schemeClr>
            </a:solidFill>
          </a:ln>
        </p:spPr>
      </p:pic>
      <p:sp>
        <p:nvSpPr>
          <p:cNvPr id="29" name="TextBox 28">
            <a:extLst>
              <a:ext uri="{FF2B5EF4-FFF2-40B4-BE49-F238E27FC236}">
                <a16:creationId xmlns:a16="http://schemas.microsoft.com/office/drawing/2014/main" id="{405A6148-720D-1B17-A37E-69017DAC80AA}"/>
              </a:ext>
            </a:extLst>
          </p:cNvPr>
          <p:cNvSpPr>
            <a:spLocks noGrp="1"/>
          </p:cNvSpPr>
          <p:nvPr/>
        </p:nvSpPr>
        <p:spPr>
          <a:xfrm>
            <a:off x="7796863" y="5042651"/>
            <a:ext cx="1828800" cy="338554"/>
          </a:xfrm>
          <a:prstGeom prst="rect">
            <a:avLst/>
          </a:prstGeom>
          <a:noFill/>
          <a:ln w="28575">
            <a:solidFill>
              <a:srgbClr val="166623"/>
            </a:solidFill>
          </a:ln>
        </p:spPr>
        <p:txBody>
          <a:bodyPr wrap="square">
            <a:spAutoFit/>
          </a:bodyPr>
          <a:lstStyle/>
          <a:p>
            <a:r>
              <a:rPr sz="1600"/>
              <a:t>Keyword #Issue_No</a:t>
            </a:r>
          </a:p>
        </p:txBody>
      </p:sp>
      <p:sp>
        <p:nvSpPr>
          <p:cNvPr id="33" name="Rounded Rectangle 32">
            <a:extLst>
              <a:ext uri="{FF2B5EF4-FFF2-40B4-BE49-F238E27FC236}">
                <a16:creationId xmlns:a16="http://schemas.microsoft.com/office/drawing/2014/main" id="{D26A9111-3F52-E3AB-4205-E1489D7853EC}"/>
              </a:ext>
            </a:extLst>
          </p:cNvPr>
          <p:cNvSpPr>
            <a:spLocks noGrp="1"/>
          </p:cNvSpPr>
          <p:nvPr/>
        </p:nvSpPr>
        <p:spPr>
          <a:xfrm>
            <a:off x="10152084" y="2343462"/>
            <a:ext cx="1488262" cy="62833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2" name="Rounded Rectangle 31">
            <a:extLst>
              <a:ext uri="{FF2B5EF4-FFF2-40B4-BE49-F238E27FC236}">
                <a16:creationId xmlns:a16="http://schemas.microsoft.com/office/drawing/2014/main" id="{C26964D7-D079-2E66-35EF-D0F7E1D0CD03}"/>
              </a:ext>
            </a:extLst>
          </p:cNvPr>
          <p:cNvSpPr>
            <a:spLocks noGrp="1"/>
          </p:cNvSpPr>
          <p:nvPr/>
        </p:nvSpPr>
        <p:spPr>
          <a:xfrm>
            <a:off x="3994692" y="2467183"/>
            <a:ext cx="548734" cy="2474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77" name="Straight Arrow Connector 34"/>
          <p:cNvCxnSpPr/>
          <p:nvPr/>
        </p:nvCxnSpPr>
        <p:spPr>
          <a:xfrm flipV="1">
            <a:off x="4543426" y="2395787"/>
            <a:ext cx="1382151" cy="20453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3FF22800-7F87-0F37-A5A3-74621EBC4920}"/>
              </a:ext>
            </a:extLst>
          </p:cNvPr>
          <p:cNvSpPr>
            <a:spLocks noGrp="1"/>
          </p:cNvSpPr>
          <p:nvPr/>
        </p:nvSpPr>
        <p:spPr>
          <a:xfrm>
            <a:off x="5935982" y="1719889"/>
            <a:ext cx="2759919" cy="29402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Rounded Rectangle 24">
            <a:extLst>
              <a:ext uri="{FF2B5EF4-FFF2-40B4-BE49-F238E27FC236}">
                <a16:creationId xmlns:a16="http://schemas.microsoft.com/office/drawing/2014/main" id="{1A3B0532-D3EE-8226-E421-E6EE72D93AE1}"/>
              </a:ext>
            </a:extLst>
          </p:cNvPr>
          <p:cNvSpPr>
            <a:spLocks noGrp="1"/>
          </p:cNvSpPr>
          <p:nvPr/>
        </p:nvSpPr>
        <p:spPr>
          <a:xfrm>
            <a:off x="6245462" y="246718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Rounded Rectangle 25">
            <a:extLst>
              <a:ext uri="{FF2B5EF4-FFF2-40B4-BE49-F238E27FC236}">
                <a16:creationId xmlns:a16="http://schemas.microsoft.com/office/drawing/2014/main" id="{D103EBF5-FBD1-4A0E-D1F1-B5BAB7F5A161}"/>
              </a:ext>
            </a:extLst>
          </p:cNvPr>
          <p:cNvSpPr>
            <a:spLocks noGrp="1"/>
          </p:cNvSpPr>
          <p:nvPr/>
        </p:nvSpPr>
        <p:spPr>
          <a:xfrm>
            <a:off x="2056820" y="2013917"/>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Rounded Rectangle 26">
            <a:extLst>
              <a:ext uri="{FF2B5EF4-FFF2-40B4-BE49-F238E27FC236}">
                <a16:creationId xmlns:a16="http://schemas.microsoft.com/office/drawing/2014/main" id="{046B396F-E517-476C-B0C4-A26DABDB9406}"/>
              </a:ext>
            </a:extLst>
          </p:cNvPr>
          <p:cNvSpPr>
            <a:spLocks noGrp="1"/>
          </p:cNvSpPr>
          <p:nvPr/>
        </p:nvSpPr>
        <p:spPr>
          <a:xfrm>
            <a:off x="9784802" y="1543989"/>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Rounded Rectangle 38">
            <a:extLst>
              <a:ext uri="{FF2B5EF4-FFF2-40B4-BE49-F238E27FC236}">
                <a16:creationId xmlns:a16="http://schemas.microsoft.com/office/drawing/2014/main" id="{3010A3A6-A2AF-9B66-32D4-ED1F40F8E085}"/>
              </a:ext>
            </a:extLst>
          </p:cNvPr>
          <p:cNvSpPr>
            <a:spLocks noGrp="1"/>
          </p:cNvSpPr>
          <p:nvPr/>
        </p:nvSpPr>
        <p:spPr>
          <a:xfrm>
            <a:off x="938674" y="186690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7C5B394-88F2-AA19-E69D-CCB347E0F9AF}"/>
              </a:ext>
            </a:extLst>
          </p:cNvPr>
          <p:cNvSpPr>
            <a:spLocks noGrp="1"/>
          </p:cNvSpPr>
          <p:nvPr/>
        </p:nvSpPr>
        <p:spPr>
          <a:xfrm>
            <a:off x="4299744" y="5876696"/>
            <a:ext cx="7096920" cy="830997"/>
          </a:xfrm>
          <a:prstGeom prst="rect">
            <a:avLst/>
          </a:prstGeom>
          <a:solidFill>
            <a:schemeClr val="bg1"/>
          </a:solidFill>
          <a:ln w="28575">
            <a:solidFill>
              <a:srgbClr val="C00000"/>
            </a:solidFill>
          </a:ln>
        </p:spPr>
        <p:txBody>
          <a:bodyPr wrap="square">
            <a:spAutoFit/>
          </a:bodyPr>
          <a:lstStyle/>
          <a:p>
            <a:r>
              <a:rPr sz="2400"/>
              <a:t>In the project, it is required that you link the Issues to the Pull requests</a:t>
            </a:r>
          </a:p>
        </p:txBody>
      </p:sp>
    </p:spTree>
    <p:extLst>
      <p:ext uri="{BB962C8B-B14F-4D97-AF65-F5344CB8AC3E}">
        <p14:creationId xmlns:p14="http://schemas.microsoft.com/office/powerpoint/2010/main" val="3967663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Project – Pull requests and reviews requirements</a:t>
            </a:r>
            <a:endParaRPr sz="3600" b="0" i="0">
              <a:solidFill>
                <a:srgbClr val="1F1F1F"/>
              </a:solidFill>
              <a:latin typeface="OpenSans"/>
              <a:ea typeface="OpenSans"/>
              <a:cs typeface="OpenSans"/>
            </a:endParaRPr>
          </a:p>
        </p:txBody>
      </p:sp>
      <p:pic>
        <p:nvPicPr>
          <p:cNvPr id="24" name="Picture 16"/>
          <p:cNvPicPr>
            <a:picLocks noChangeAspect="1"/>
          </p:cNvPicPr>
          <p:nvPr/>
        </p:nvPicPr>
        <p:blipFill>
          <a:blip r:embed="rId3"/>
          <a:stretch>
            <a:fillRect/>
          </a:stretch>
        </p:blipFill>
        <p:spPr>
          <a:xfrm>
            <a:off x="390322" y="1177510"/>
            <a:ext cx="4189853" cy="3770868"/>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a:spLocks noGrp="1"/>
          </p:cNvSpPr>
          <p:nvPr/>
        </p:nvSpPr>
        <p:spPr>
          <a:xfrm>
            <a:off x="2112340" y="4307900"/>
            <a:ext cx="1126805" cy="523220"/>
          </a:xfrm>
          <a:prstGeom prst="rect">
            <a:avLst/>
          </a:prstGeom>
          <a:noFill/>
          <a:ln w="28575">
            <a:solidFill>
              <a:srgbClr val="C00000"/>
            </a:solidFill>
          </a:ln>
        </p:spPr>
        <p:txBody>
          <a:bodyPr wrap="square">
            <a:spAutoFit/>
          </a:bodyPr>
          <a:lstStyle/>
          <a:p>
            <a:pPr algn="ctr">
              <a:buNone/>
            </a:pPr>
            <a:r>
              <a:rPr sz="1400"/>
              <a:t>Markdown Language</a:t>
            </a:r>
          </a:p>
        </p:txBody>
      </p:sp>
      <p:pic>
        <p:nvPicPr>
          <p:cNvPr id="26" name="Picture 1"/>
          <p:cNvPicPr>
            <a:picLocks noChangeAspect="1"/>
          </p:cNvPicPr>
          <p:nvPr/>
        </p:nvPicPr>
        <p:blipFill>
          <a:blip r:embed="rId4"/>
          <a:stretch>
            <a:fillRect/>
          </a:stretch>
        </p:blipFill>
        <p:spPr>
          <a:xfrm>
            <a:off x="8307091" y="980462"/>
            <a:ext cx="3443621" cy="3698355"/>
          </a:xfrm>
          <a:prstGeom prst="rect">
            <a:avLst/>
          </a:prstGeom>
          <a:ln w="28575">
            <a:solidFill>
              <a:srgbClr val="C00000"/>
            </a:solidFill>
          </a:ln>
        </p:spPr>
      </p:pic>
      <p:sp>
        <p:nvSpPr>
          <p:cNvPr id="3" name="TextBox 2">
            <a:extLst>
              <a:ext uri="{FF2B5EF4-FFF2-40B4-BE49-F238E27FC236}">
                <a16:creationId xmlns:a16="http://schemas.microsoft.com/office/drawing/2014/main" id="{1FE6A5B8-A353-D1EA-ACFF-C673497A3390}"/>
              </a:ext>
            </a:extLst>
          </p:cNvPr>
          <p:cNvSpPr>
            <a:spLocks noGrp="1"/>
          </p:cNvSpPr>
          <p:nvPr/>
        </p:nvSpPr>
        <p:spPr>
          <a:xfrm>
            <a:off x="4385451" y="4569510"/>
            <a:ext cx="3833484" cy="2062103"/>
          </a:xfrm>
          <a:prstGeom prst="rect">
            <a:avLst/>
          </a:prstGeom>
          <a:solidFill>
            <a:schemeClr val="bg1"/>
          </a:solidFill>
          <a:ln w="38100">
            <a:solidFill>
              <a:srgbClr val="166623"/>
            </a:solidFill>
          </a:ln>
        </p:spPr>
        <p:txBody>
          <a:bodyPr wrap="square">
            <a:spAutoFit/>
          </a:bodyPr>
          <a:lstStyle/>
          <a:p>
            <a:r>
              <a:rPr sz="1600" b="1"/>
              <a:t>Requirements</a:t>
            </a:r>
          </a:p>
          <a:p>
            <a:pPr marL="285750" indent="-285750">
              <a:buFont typeface="Arial"/>
              <a:buChar char="•"/>
            </a:pPr>
            <a:r>
              <a:rPr sz="1600"/>
              <a:t>Programming language Style Guide</a:t>
            </a:r>
          </a:p>
          <a:p>
            <a:pPr marL="285750" indent="-285750">
              <a:buFont typeface="Arial"/>
              <a:buChar char="•"/>
            </a:pPr>
            <a:r>
              <a:rPr sz="1600"/>
              <a:t>The code has passed all tests</a:t>
            </a:r>
          </a:p>
          <a:p>
            <a:pPr marL="285750" indent="-285750">
              <a:buFont typeface="Arial"/>
              <a:buChar char="•"/>
            </a:pPr>
            <a:r>
              <a:rPr sz="1600"/>
              <a:t>Test Coverage (&gt;90)</a:t>
            </a:r>
          </a:p>
          <a:p>
            <a:pPr marL="285750" indent="-285750">
              <a:buFont typeface="Arial"/>
              <a:buChar char="•"/>
            </a:pPr>
            <a:r>
              <a:rPr sz="1600"/>
              <a:t>Code is well Documented</a:t>
            </a:r>
          </a:p>
          <a:p>
            <a:pPr marL="285750" indent="-285750">
              <a:buFont typeface="Arial"/>
              <a:buChar char="•"/>
            </a:pPr>
            <a:r>
              <a:rPr sz="1600"/>
              <a:t>Passed CI</a:t>
            </a:r>
          </a:p>
          <a:p>
            <a:pPr marL="285750" indent="-285750">
              <a:buFont typeface="Arial"/>
              <a:buChar char="•"/>
            </a:pPr>
            <a:r>
              <a:rPr sz="1600"/>
              <a:t>Design Diagrams</a:t>
            </a:r>
          </a:p>
          <a:p>
            <a:pPr marL="285750" indent="-285750">
              <a:buFont typeface="Arial"/>
              <a:buChar char="•"/>
            </a:pPr>
            <a:r>
              <a:rPr sz="1600"/>
              <a:t>PR and issues are linked</a:t>
            </a:r>
          </a:p>
        </p:txBody>
      </p:sp>
    </p:spTree>
    <p:extLst>
      <p:ext uri="{BB962C8B-B14F-4D97-AF65-F5344CB8AC3E}">
        <p14:creationId xmlns:p14="http://schemas.microsoft.com/office/powerpoint/2010/main" val="1636303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Apply This Workflow in the Lab</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Start with an assigned issue.</a:t>
            </a:r>
          </a:p>
          <a:p>
            <a:r>
              <a:t>Create a branch from the current main branch.</a:t>
            </a:r>
          </a:p>
          <a:p>
            <a:r>
              <a:t>Make small, meaningful commits.</a:t>
            </a:r>
          </a:p>
          <a:p>
            <a:r>
              <a:t>Push the branch and open a pull request.</a:t>
            </a:r>
          </a:p>
          <a:p>
            <a:r>
              <a:t>Ask a teammate to review the contribution.</a:t>
            </a:r>
          </a:p>
          <a:p>
            <a:r>
              <a:t>Address the review and resolve any conflicts.</a:t>
            </a:r>
          </a:p>
          <a:p>
            <a:r>
              <a:t>Merge only after approval, then begin new work from the updated main branch.</a:t>
            </a:r>
          </a:p>
        </p:txBody>
      </p:sp>
    </p:spTree>
    <p:extLst>
      <p:ext uri="{BB962C8B-B14F-4D97-AF65-F5344CB8AC3E}">
        <p14:creationId xmlns:p14="http://schemas.microsoft.com/office/powerpoint/2010/main" val="990315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4836</Words>
  <Application>Microsoft Macintosh PowerPoint</Application>
  <DocSecurity>0</DocSecurity>
  <PresentationFormat>Widescreen</PresentationFormat>
  <Paragraphs>491</Paragraphs>
  <Slides>39</Slides>
  <Notes>39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Menlo</vt:lpstr>
      <vt:lpstr>OpenSans</vt:lpstr>
      <vt:lpstr>Source Sans Pro</vt:lpstr>
      <vt:lpstr>Wingdings</vt:lpstr>
      <vt:lpstr>Office Theme</vt:lpstr>
      <vt:lpstr>Git and GitHub</vt:lpstr>
      <vt:lpstr>Learning Objectives</vt:lpstr>
      <vt:lpstr>Why Git and GitHub Matter to a Team</vt:lpstr>
      <vt:lpstr>Git &amp; GitHub - version Control</vt:lpstr>
      <vt:lpstr>What is Git?</vt:lpstr>
      <vt:lpstr>Working with Git</vt:lpstr>
      <vt:lpstr>Working with Git</vt:lpstr>
      <vt:lpstr>What makes a good commit message?</vt:lpstr>
      <vt:lpstr>Getting More Information About Our Changes</vt:lpstr>
      <vt:lpstr>Getting More Information About Our Changes</vt:lpstr>
      <vt:lpstr>Undoing Changes</vt:lpstr>
      <vt:lpstr>Undoing Changes - Rolbacks</vt:lpstr>
      <vt:lpstr>Branching and Merging</vt:lpstr>
      <vt:lpstr>Branching and Merging</vt:lpstr>
      <vt:lpstr>Branching and Merging</vt:lpstr>
      <vt:lpstr>Merge Conflicts</vt:lpstr>
      <vt:lpstr>Intro to GitHub</vt:lpstr>
      <vt:lpstr>Interacting with GitHub</vt:lpstr>
      <vt:lpstr>Working with Remote and Fetching Changes</vt:lpstr>
      <vt:lpstr>Conflict Resolution with Remotes</vt:lpstr>
      <vt:lpstr>One Repository for the Whole Team</vt:lpstr>
      <vt:lpstr>The Team Contribution Workflow</vt:lpstr>
      <vt:lpstr>Pull Requests Control Integration</vt:lpstr>
      <vt:lpstr>Updating an Existing Pull Request</vt:lpstr>
      <vt:lpstr>Updating an Existing Pull Request</vt:lpstr>
      <vt:lpstr>Best Practices for Collaboration</vt:lpstr>
      <vt:lpstr>Code Reviews</vt:lpstr>
      <vt:lpstr>Why do we need to perform code reviews?</vt:lpstr>
      <vt:lpstr>Code Reviews on GitHub</vt:lpstr>
      <vt:lpstr>Code Reviews on GitHub</vt:lpstr>
      <vt:lpstr>Merging PRs – Branch Protection Rules</vt:lpstr>
      <vt:lpstr>Integrating PRs</vt:lpstr>
      <vt:lpstr>Managing Team Projects</vt:lpstr>
      <vt:lpstr>Tracking Issues</vt:lpstr>
      <vt:lpstr>Issue Template</vt:lpstr>
      <vt:lpstr>Issue Tracker - GitHub</vt:lpstr>
      <vt:lpstr>Tracking Issues - GitHub</vt:lpstr>
      <vt:lpstr>Project – Pull requests and reviews requirements</vt:lpstr>
      <vt:lpstr>Apply This Workflow in the Lab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Businge</cp:lastModifiedBy>
  <cp:revision>1</cp:revision>
  <dcterms:created xsi:type="dcterms:W3CDTF">2026-08-16T12:42:14Z</dcterms:created>
  <dcterms:modified xsi:type="dcterms:W3CDTF">2026-08-16T13:17:35Z</dcterms:modified>
</cp:coreProperties>
</file>