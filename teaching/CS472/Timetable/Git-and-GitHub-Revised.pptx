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325" r:id="rId5"/>
    <p:sldId id="326" r:id="rId6"/>
    <p:sldId id="262" r:id="rId7"/>
    <p:sldId id="261" r:id="rId8"/>
    <p:sldId id="263" r:id="rId9"/>
    <p:sldId id="264" r:id="rId10"/>
    <p:sldId id="267" r:id="rId11"/>
    <p:sldId id="328" r:id="rId12"/>
    <p:sldId id="268" r:id="rId13"/>
    <p:sldId id="269" r:id="rId14"/>
    <p:sldId id="270" r:id="rId15"/>
    <p:sldId id="271" r:id="rId16"/>
    <p:sldId id="272" r:id="rId17"/>
    <p:sldId id="273" r:id="rId18"/>
    <p:sldId id="276" r:id="rId19"/>
    <p:sldId id="277" r:id="rId20"/>
    <p:sldId id="278" r:id="rId21"/>
    <p:sldId id="329" r:id="rId22"/>
    <p:sldId id="288" r:id="rId23"/>
    <p:sldId id="289" r:id="rId24"/>
    <p:sldId id="290" r:id="rId25"/>
    <p:sldId id="291" r:id="rId26"/>
    <p:sldId id="292" r:id="rId27"/>
    <p:sldId id="286" r:id="rId28"/>
    <p:sldId id="330" r:id="rId29"/>
    <p:sldId id="309" r:id="rId30"/>
    <p:sldId id="310" r:id="rId31"/>
    <p:sldId id="299" r:id="rId32"/>
    <p:sldId id="285" r:id="rId33"/>
    <p:sldId id="305" r:id="rId34"/>
    <p:sldId id="311" r:id="rId35"/>
    <p:sldId id="283" r:id="rId36"/>
    <p:sldId id="302" r:id="rId37"/>
    <p:sldId id="319" r:id="rId38"/>
    <p:sldId id="303" r:id="rId39"/>
    <p:sldId id="304" r:id="rId40"/>
    <p:sldId id="293" r:id="rId41"/>
    <p:sldId id="294" r:id="rId42"/>
    <p:sldId id="312" r:id="rId43"/>
    <p:sldId id="324" r:id="rId4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82"/>
  </p:normalViewPr>
  <p:slideViewPr>
    <p:cSldViewPr snapToGrid="0">
      <p:cViewPr varScale="1">
        <p:scale>
          <a:sx n="126" d="100"/>
          <a:sy n="126" d="100"/>
        </p:scale>
        <p:origin x="232"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afternoon dear all! Welcome to the second lesson of this class.</a:t>
            </a:r>
          </a:p>
          <a:p>
            <a:r>
              <a:rPr dirty="0"/>
              <a:t>In this class we shall be looking at Git and GitHub 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Let us dive in and learn about Git and GitHub.</a:t>
            </a:r>
          </a:p>
          <a:p>
            <a:endParaRPr lang="en-BE" dirty="0"/>
          </a:p>
          <a:p>
            <a:pPr marL="228600" indent="-228600">
              <a:buFont typeface="+mj-lt"/>
              <a:buAutoNum type="arabicPeriod"/>
            </a:pPr>
            <a:r>
              <a:rPr lang="en-BE" dirty="0"/>
              <a:t>When you are developing a software project, you manage a tone of files. These files include documentation, code, configurations</a:t>
            </a:r>
          </a:p>
          <a:p>
            <a:pPr marL="228600" indent="-228600">
              <a:buFont typeface="+mj-lt"/>
              <a:buAutoNum type="arabicPeriod"/>
            </a:pPr>
            <a:r>
              <a:rPr lang="en-BE" dirty="0"/>
              <a:t>Imagine you are involved in maintaining a software project deployed on a network. You introduce a new feature in the project, test it and roll it out. After that, you realize that half of the clients are broken. This implies that the feature was not properly tested. You may be tempted to provide a a quick fix, but in most cases the quick fix will not provide the solution to the problem.</a:t>
            </a:r>
          </a:p>
          <a:p>
            <a:pPr marL="228600" indent="-228600">
              <a:buFont typeface="+mj-lt"/>
              <a:buAutoNum type="arabicPeriod"/>
            </a:pPr>
            <a:r>
              <a:rPr lang="en-GB" dirty="0"/>
              <a:t>To avoid these headaches, you can use a version control system to easily roll back your code to the previous version. Since you know that this version was working correctly before the change was made, it would be safe to go back to that one until you had time to fix the code, run some tests, and make sure everything works correctly for all machine models. By releasing code only after properly testing, you avoid having to push quick-fix after quick-fix.</a:t>
            </a:r>
          </a:p>
          <a:p>
            <a:pPr marL="228600" indent="-228600">
              <a:buFont typeface="+mj-lt"/>
              <a:buAutoNum type="arabicPeriod"/>
            </a:pPr>
            <a:r>
              <a:rPr lang="en-BE" dirty="0"/>
              <a:t>In this class we shall look one of the popular VCS called git.</a:t>
            </a:r>
          </a:p>
        </p:txBody>
      </p:sp>
      <p:sp>
        <p:nvSpPr>
          <p:cNvPr id="4" name="Slide Number Placeholder 3"/>
          <p:cNvSpPr>
            <a:spLocks noGrp="1"/>
          </p:cNvSpPr>
          <p:nvPr>
            <p:ph type="sldNum" sz="quarter" idx="5"/>
          </p:nvPr>
        </p:nvSpPr>
        <p:spPr/>
        <p:txBody>
          <a:bodyPr/>
          <a:lstStyle/>
          <a:p>
            <a:fld id="{60BA473E-7E22-714F-AE41-F8C01DB2EE9C}" type="slidenum">
              <a:rPr lang="en-BE" smtClean="0"/>
              <a:t>4</a:t>
            </a:fld>
            <a:endParaRPr lang="en-BE"/>
          </a:p>
        </p:txBody>
      </p:sp>
    </p:spTree>
    <p:extLst>
      <p:ext uri="{BB962C8B-B14F-4D97-AF65-F5344CB8AC3E}">
        <p14:creationId xmlns:p14="http://schemas.microsoft.com/office/powerpoint/2010/main" val="3165112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now look at how we can work with Git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For now let us start with ‘git </a:t>
            </a:r>
            <a:r>
              <a:rPr lang="en-GB" dirty="0" err="1"/>
              <a:t>init</a:t>
            </a:r>
            <a:r>
              <a:rPr lang="en-GB" dirty="0"/>
              <a:t>’ and look at git clone later.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Git </a:t>
            </a:r>
            <a:r>
              <a:rPr lang="en-GB" dirty="0" err="1"/>
              <a:t>init</a:t>
            </a:r>
            <a:r>
              <a:rPr lang="en-GB" dirty="0"/>
              <a:t> – When we run git </a:t>
            </a:r>
            <a:r>
              <a:rPr lang="en-GB" dirty="0" err="1"/>
              <a:t>init</a:t>
            </a:r>
            <a:r>
              <a:rPr lang="en-GB" dirty="0"/>
              <a:t>, an empty working directory returned.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We will also have a “.git directory”, which we see as a database for your Git project that stores the changes and the change history.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5</a:t>
            </a:fld>
            <a:endParaRPr lang="en-BE"/>
          </a:p>
        </p:txBody>
      </p:sp>
    </p:spTree>
    <p:extLst>
      <p:ext uri="{BB962C8B-B14F-4D97-AF65-F5344CB8AC3E}">
        <p14:creationId xmlns:p14="http://schemas.microsoft.com/office/powerpoint/2010/main" val="3728018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1. Let us  copy the file menu1.txt into our previously created empty working directory. After adding it, this file will be in the working tree, but untracked by git since it has not been added to the .git 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2. To track it, we should run the command git add &lt;filename&gt;. We see that our new file is marked to be committed, this means that our change is currently in the staging area.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3. To get it committed into the .git directory, we run the git commit command. When we run this command, we tell Git that we want to save our changes. It opens a text editor where we can enter a commit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We'll dive deep into writing good commit messages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4. This is called the “Git Workflow”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6</a:t>
            </a:fld>
            <a:endParaRPr lang="en-BE"/>
          </a:p>
        </p:txBody>
      </p:sp>
    </p:spTree>
    <p:extLst>
      <p:ext uri="{BB962C8B-B14F-4D97-AF65-F5344CB8AC3E}">
        <p14:creationId xmlns:p14="http://schemas.microsoft.com/office/powerpoint/2010/main" val="3984970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is a good commit message?</a:t>
            </a:r>
          </a:p>
          <a:p>
            <a:endParaRPr lang="en-GB" dirty="0"/>
          </a:p>
          <a:p>
            <a:pPr marL="228600" indent="-228600">
              <a:buAutoNum type="arabicPeriod"/>
            </a:pPr>
            <a:r>
              <a:rPr lang="en-GB" dirty="0"/>
              <a:t>Sometimes it can be tempting to just write something short like update, change or fix as the description of our commit messages. Don't do it. It's super frustrating to go back to repositories history and discover that there's not enough context to understand what was changed and why.</a:t>
            </a:r>
          </a:p>
          <a:p>
            <a:pPr marL="228600" indent="-228600">
              <a:buAutoNum type="arabicPeriod"/>
            </a:pPr>
            <a:r>
              <a:rPr lang="en-GB" dirty="0"/>
              <a:t>It takes only a few more seconds to write a better description. This can be invaluable down the line. </a:t>
            </a:r>
          </a:p>
          <a:p>
            <a:pPr marL="685800" lvl="1" indent="-228600">
              <a:buFont typeface="Arial" panose="020B0604020202020204" pitchFamily="34" charset="0"/>
              <a:buChar char="•"/>
            </a:pPr>
            <a:r>
              <a:rPr lang="en-GB" dirty="0"/>
              <a:t>Following these guidelines can help make your commit message really useful, and the investment of work now will really pay off later. Writing a clear, informative commit message is important when using a VCS and working in a team.</a:t>
            </a:r>
          </a:p>
          <a:p>
            <a:pPr marL="685800" lvl="1" indent="-228600">
              <a:buFont typeface="Arial" panose="020B0604020202020204" pitchFamily="34" charset="0"/>
              <a:buChar char="•"/>
            </a:pPr>
            <a:r>
              <a:rPr lang="en-GB" dirty="0"/>
              <a:t>Future, you or others who might read the commit message, later on, will really appreciate the contextual information as they try and figure out some of the parts of the code or configuration</a:t>
            </a:r>
          </a:p>
          <a:p>
            <a:endParaRPr lang="en-GB" dirty="0"/>
          </a:p>
          <a:p>
            <a:r>
              <a:rPr lang="en-GB" dirty="0"/>
              <a:t>2. Short commit message</a:t>
            </a:r>
          </a:p>
          <a:p>
            <a:endParaRPr lang="en-GB" dirty="0"/>
          </a:p>
          <a:p>
            <a:r>
              <a:rPr lang="en-GB" dirty="0"/>
              <a:t>3. Detailed commit message.</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7</a:t>
            </a:fld>
            <a:endParaRPr lang="en-BE"/>
          </a:p>
        </p:txBody>
      </p:sp>
    </p:spTree>
    <p:extLst>
      <p:ext uri="{BB962C8B-B14F-4D97-AF65-F5344CB8AC3E}">
        <p14:creationId xmlns:p14="http://schemas.microsoft.com/office/powerpoint/2010/main" val="267122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Source Sans Pro" panose="020B0503030403020204" pitchFamily="34" charset="0"/>
              </a:rPr>
              <a:t>Now, let us look at </a:t>
            </a:r>
            <a:r>
              <a:rPr lang="en-GB" sz="1200" b="0" i="0" dirty="0">
                <a:solidFill>
                  <a:srgbClr val="1F1F1F"/>
                </a:solidFill>
                <a:effectLst/>
                <a:latin typeface="Source Sans Pro" panose="020B0503030403020204" pitchFamily="34" charset="0"/>
              </a:rPr>
              <a:t>Getting More Information About Our Changes</a:t>
            </a:r>
          </a:p>
          <a:p>
            <a:endParaRPr lang="en-GB" b="0" i="0" dirty="0">
              <a:solidFill>
                <a:srgbClr val="1F1F1F"/>
              </a:solidFill>
              <a:effectLst/>
              <a:latin typeface="Source Sans Pro" panose="020B0503030403020204" pitchFamily="34" charset="0"/>
            </a:endParaRPr>
          </a:p>
          <a:p>
            <a:r>
              <a:rPr lang="en-GB" b="0" i="0" dirty="0">
                <a:solidFill>
                  <a:srgbClr val="1F1F1F"/>
                </a:solidFill>
                <a:effectLst/>
                <a:latin typeface="Source Sans Pro" panose="020B0503030403020204" pitchFamily="34" charset="0"/>
              </a:rPr>
              <a:t>These commands are very useful to track changes of your commits: git log, –p, --stat, and git show.</a:t>
            </a:r>
          </a:p>
          <a:p>
            <a:endParaRPr lang="en-GB" b="0" i="0" dirty="0">
              <a:solidFill>
                <a:srgbClr val="1F1F1F"/>
              </a:solidFill>
              <a:effectLst/>
              <a:latin typeface="Source Sans Pro" panose="020B0503030403020204" pitchFamily="34" charset="0"/>
            </a:endParaRPr>
          </a:p>
          <a:p>
            <a:r>
              <a:rPr lang="en-GB" b="0" i="0" dirty="0">
                <a:solidFill>
                  <a:srgbClr val="1F1F1F"/>
                </a:solidFill>
                <a:effectLst/>
                <a:latin typeface="Source Sans Pro" panose="020B0503030403020204" pitchFamily="34" charset="0"/>
              </a:rPr>
              <a:t>1. Recall that we have one commit in our git repository having one file &lt;Menu1.text&gt;</a:t>
            </a:r>
          </a:p>
          <a:p>
            <a:r>
              <a:rPr lang="en-GB" b="0" i="0" dirty="0">
                <a:solidFill>
                  <a:srgbClr val="1F1F1F"/>
                </a:solidFill>
                <a:effectLst/>
                <a:latin typeface="Source Sans Pro" panose="020B0503030403020204" pitchFamily="34" charset="0"/>
              </a:rPr>
              <a:t>2. When we run git log will list all the commits and their details</a:t>
            </a:r>
          </a:p>
          <a:p>
            <a:r>
              <a:rPr lang="en-GB" b="0" i="0" dirty="0">
                <a:solidFill>
                  <a:srgbClr val="1F1F1F"/>
                </a:solidFill>
                <a:effectLst/>
                <a:latin typeface="Source Sans Pro" panose="020B0503030403020204" pitchFamily="34" charset="0"/>
              </a:rPr>
              <a:t>3. Git log –p will show you the commits and details of their patches</a:t>
            </a:r>
          </a:p>
          <a:p>
            <a:r>
              <a:rPr lang="en-GB" b="0" i="0" dirty="0">
                <a:solidFill>
                  <a:srgbClr val="1F1F1F"/>
                </a:solidFill>
                <a:effectLst/>
                <a:latin typeface="Source Sans Pro" panose="020B0503030403020204" pitchFamily="34" charset="0"/>
              </a:rPr>
              <a:t>4. Git –stat will return the statistics</a:t>
            </a:r>
          </a:p>
          <a:p>
            <a:r>
              <a:rPr lang="en-GB" b="0" i="0" dirty="0">
                <a:solidFill>
                  <a:srgbClr val="1F1F1F"/>
                </a:solidFill>
                <a:effectLst/>
                <a:latin typeface="Source Sans Pro" panose="020B0503030403020204" pitchFamily="34" charset="0"/>
              </a:rPr>
              <a:t>5. </a:t>
            </a:r>
            <a:r>
              <a:rPr lang="en-GB" dirty="0"/>
              <a:t>Git show  - shows details of a commit and its patch</a:t>
            </a: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8</a:t>
            </a:fld>
            <a:endParaRPr lang="en-BE"/>
          </a:p>
        </p:txBody>
      </p:sp>
    </p:spTree>
    <p:extLst>
      <p:ext uri="{BB962C8B-B14F-4D97-AF65-F5344CB8AC3E}">
        <p14:creationId xmlns:p14="http://schemas.microsoft.com/office/powerpoint/2010/main" val="1951555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0" i="0" dirty="0">
                <a:solidFill>
                  <a:srgbClr val="1F1F1F"/>
                </a:solidFill>
                <a:effectLst/>
                <a:latin typeface="Source Sans Pro" panose="020B0503030403020204" pitchFamily="34" charset="0"/>
              </a:rPr>
              <a:t>These commands we have looked at work on changes that have either been staged or committed</a:t>
            </a:r>
          </a:p>
          <a:p>
            <a:pPr marL="228600" indent="-228600">
              <a:buAutoNum type="arabicPeriod"/>
            </a:pPr>
            <a:endParaRPr lang="en-GB" b="0" i="0" dirty="0">
              <a:solidFill>
                <a:srgbClr val="1F1F1F"/>
              </a:solidFill>
              <a:effectLst/>
              <a:latin typeface="Source Sans Pro" panose="020B0503030403020204" pitchFamily="34" charset="0"/>
            </a:endParaRPr>
          </a:p>
          <a:p>
            <a:pPr marL="228600" indent="-228600">
              <a:buAutoNum type="arabicPeriod"/>
            </a:pPr>
            <a:r>
              <a:rPr lang="en-GB" b="0" i="0" dirty="0">
                <a:solidFill>
                  <a:srgbClr val="1F1F1F"/>
                </a:solidFill>
                <a:effectLst/>
                <a:latin typeface="Source Sans Pro" panose="020B0503030403020204" pitchFamily="34" charset="0"/>
              </a:rPr>
              <a:t>Sometimes it can take a while before you can commit your changes, especially when you are working on an involving use case. Before committing it, you need to make sure that it works correctly. Check that all the test cases are covered and so on and so on. So while doing this you find bugs in your code that you need to fix. It's only natural that by the time you get to the commit step you don't really remember everything you changed.</a:t>
            </a:r>
          </a:p>
          <a:p>
            <a:pPr marL="228600" indent="-228600">
              <a:buAutoNum type="arabicPeriod"/>
            </a:pPr>
            <a:r>
              <a:rPr lang="en-GB" b="0" i="0" dirty="0">
                <a:solidFill>
                  <a:srgbClr val="1F1F1F"/>
                </a:solidFill>
                <a:effectLst/>
                <a:latin typeface="Source Sans Pro" panose="020B0503030403020204" pitchFamily="34" charset="0"/>
              </a:rPr>
              <a:t>To help us keep track git gives us the “git diff” command.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b="0" i="0" dirty="0">
                <a:solidFill>
                  <a:srgbClr val="1F1F1F"/>
                </a:solidFill>
                <a:effectLst/>
                <a:latin typeface="Source Sans Pro" panose="020B0503030403020204" pitchFamily="34" charset="0"/>
              </a:rPr>
              <a:t>Let's make a new change to our script and then try this command out. </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9</a:t>
            </a:fld>
            <a:endParaRPr lang="en-BE"/>
          </a:p>
        </p:txBody>
      </p:sp>
    </p:spTree>
    <p:extLst>
      <p:ext uri="{BB962C8B-B14F-4D97-AF65-F5344CB8AC3E}">
        <p14:creationId xmlns:p14="http://schemas.microsoft.com/office/powerpoint/2010/main" val="4290257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mj-lt"/>
              <a:buNone/>
            </a:pPr>
            <a:r>
              <a:rPr lang="en-GB" dirty="0"/>
              <a:t>Now let us look at another aspect of git – undoing changes</a:t>
            </a:r>
          </a:p>
          <a:p>
            <a:pPr marL="0" lvl="0" indent="0">
              <a:buFont typeface="+mj-lt"/>
              <a:buNone/>
            </a:pPr>
            <a:endParaRPr lang="en-GB" dirty="0"/>
          </a:p>
          <a:p>
            <a:pPr marL="228600" indent="-228600">
              <a:buFont typeface="+mj-lt"/>
              <a:buAutoNum type="arabicPeriod"/>
            </a:pPr>
            <a:r>
              <a:rPr lang="en-GB" dirty="0"/>
              <a:t>At the beginning of this class we discussed about the possibility of rolling back changes to an earlier version so that we can fix a stubborn bug. There's a bunch of different techniques available depending on which changes we need to undo. </a:t>
            </a:r>
          </a:p>
          <a:p>
            <a:pPr marL="228600" indent="-228600">
              <a:buFont typeface="+mj-lt"/>
              <a:buAutoNum type="arabicPeriod"/>
            </a:pPr>
            <a:r>
              <a:rPr lang="en-GB" dirty="0"/>
              <a:t>One of these commands is git checkout/restore (it is used to undo untracked changes). Back to our running example—menu2.txt, assuming we delete banana and we realise that it was done out of error. Of course this is a trivial example, but in practice you might make many changes spanning many files.</a:t>
            </a:r>
          </a:p>
          <a:p>
            <a:pPr marL="228600" indent="-228600">
              <a:buFont typeface="+mj-lt"/>
              <a:buAutoNum type="arabicPeriod"/>
            </a:pPr>
            <a:r>
              <a:rPr lang="en-BE" dirty="0"/>
              <a:t>Reverting untracked changes: </a:t>
            </a:r>
            <a:r>
              <a:rPr lang="en-GB" dirty="0"/>
              <a:t>git checkout/restore</a:t>
            </a:r>
            <a:endParaRPr lang="en-BE" dirty="0"/>
          </a:p>
          <a:p>
            <a:pPr marL="685800" lvl="1" indent="-228600">
              <a:buFont typeface="+mj-lt"/>
              <a:buAutoNum type="arabicPeriod"/>
            </a:pPr>
            <a:r>
              <a:rPr lang="en-GB" dirty="0"/>
              <a:t>T</a:t>
            </a:r>
            <a:r>
              <a:rPr lang="en-BE" dirty="0"/>
              <a:t>hen run git status. We can see that menu.txt is untracked and also git gives us suggestions on what to do</a:t>
            </a:r>
          </a:p>
          <a:p>
            <a:pPr marL="685800" lvl="1" indent="-228600">
              <a:buFont typeface="+mj-lt"/>
              <a:buAutoNum type="arabicPeriod"/>
            </a:pPr>
            <a:r>
              <a:rPr lang="en-BE" dirty="0"/>
              <a:t>We then run git checkout followed by git status. We can see that working tree is not clean</a:t>
            </a:r>
          </a:p>
          <a:p>
            <a:pPr marL="228600" lvl="0" indent="-228600">
              <a:buFont typeface="+mj-lt"/>
              <a:buAutoNum type="arabicPeriod"/>
            </a:pPr>
            <a:r>
              <a:rPr lang="en-BE" dirty="0"/>
              <a:t>The next command is </a:t>
            </a:r>
            <a:r>
              <a:rPr lang="en-BE" dirty="0">
                <a:solidFill>
                  <a:srgbClr val="18827F"/>
                </a:solidFill>
              </a:rPr>
              <a:t>git reset/restore (</a:t>
            </a:r>
            <a:r>
              <a:rPr lang="en-BE" dirty="0"/>
              <a:t>Reverting staged changes</a:t>
            </a:r>
            <a:r>
              <a:rPr lang="en-BE" dirty="0">
                <a:sym typeface="Wingdings" pitchFamily="2" charset="2"/>
              </a:rPr>
              <a:t>. </a:t>
            </a:r>
            <a:r>
              <a:rPr lang="en-BE" dirty="0"/>
              <a:t>Let us asume that we created a new file called temp.txt that is meant not to be tracked. </a:t>
            </a:r>
          </a:p>
          <a:p>
            <a:pPr marL="685800" lvl="1" indent="-228600">
              <a:buFont typeface="+mj-lt"/>
              <a:buAutoNum type="arabicPeriod"/>
            </a:pPr>
            <a:r>
              <a:rPr lang="en-BE" dirty="0"/>
              <a:t>We accidentally add it to the staging area</a:t>
            </a:r>
          </a:p>
          <a:p>
            <a:pPr marL="685800" lvl="1" indent="-228600">
              <a:buFont typeface="+mj-lt"/>
              <a:buAutoNum type="arabicPeriod"/>
            </a:pPr>
            <a:r>
              <a:rPr lang="en-GB" dirty="0"/>
              <a:t>G</a:t>
            </a:r>
            <a:r>
              <a:rPr lang="en-BE" dirty="0"/>
              <a:t>it gives us a suggestion on what we can do with the tracked file</a:t>
            </a:r>
          </a:p>
          <a:p>
            <a:pPr marL="685800" lvl="1" indent="-228600">
              <a:buFont typeface="+mj-lt"/>
              <a:buAutoNum type="arabicPeriod"/>
            </a:pPr>
            <a:r>
              <a:rPr lang="en-GB" dirty="0"/>
              <a:t>W</a:t>
            </a:r>
            <a:r>
              <a:rPr lang="en-BE" dirty="0"/>
              <a:t>e run git restore to untrack the temp.txt</a:t>
            </a:r>
          </a:p>
          <a:p>
            <a:endParaRPr lang="en-GB" dirty="0"/>
          </a:p>
          <a:p>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10</a:t>
            </a:fld>
            <a:endParaRPr lang="en-BE"/>
          </a:p>
        </p:txBody>
      </p:sp>
    </p:spTree>
    <p:extLst>
      <p:ext uri="{BB962C8B-B14F-4D97-AF65-F5344CB8AC3E}">
        <p14:creationId xmlns:p14="http://schemas.microsoft.com/office/powerpoint/2010/main" val="1637058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BE" dirty="0">
                <a:solidFill>
                  <a:srgbClr val="1D15C5"/>
                </a:solidFill>
              </a:rPr>
              <a:t>The next command is: git revert commit (undoing committed changes). The output of the command is the </a:t>
            </a:r>
            <a:r>
              <a:rPr lang="en-GB" dirty="0">
                <a:solidFill>
                  <a:srgbClr val="1D15C5"/>
                </a:solidFill>
              </a:rPr>
              <a:t>“i</a:t>
            </a:r>
            <a:r>
              <a:rPr lang="en-BE" dirty="0">
                <a:solidFill>
                  <a:srgbClr val="1D15C5"/>
                </a:solidFill>
              </a:rPr>
              <a:t>nverse of the committed commit”</a:t>
            </a:r>
            <a:endParaRPr lang="en-GB" dirty="0"/>
          </a:p>
          <a:p>
            <a:pPr marL="228600" indent="-228600">
              <a:buFont typeface="+mj-lt"/>
              <a:buAutoNum type="arabicPeriod"/>
            </a:pPr>
            <a:r>
              <a:rPr lang="en-GB" dirty="0"/>
              <a:t>Fixing your work before you commit is good. But what happens if it's already been snapshotted by Git (already committed)? </a:t>
            </a:r>
          </a:p>
          <a:p>
            <a:pPr marL="228600" indent="-228600">
              <a:buFont typeface="+mj-lt"/>
              <a:buAutoNum type="arabicPeriod"/>
            </a:pPr>
            <a:r>
              <a:rPr lang="en-GB" dirty="0"/>
              <a:t>Git revert HEAD will help us produce the inverse of the committed changes</a:t>
            </a:r>
          </a:p>
          <a:p>
            <a:pPr marL="228600" indent="-228600">
              <a:buFont typeface="+mj-lt"/>
              <a:buAutoNum type="arabicPeriod"/>
            </a:pPr>
            <a:endParaRPr lang="en-GB" dirty="0"/>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11</a:t>
            </a:fld>
            <a:endParaRPr lang="en-BE"/>
          </a:p>
        </p:txBody>
      </p:sp>
    </p:spTree>
    <p:extLst>
      <p:ext uri="{BB962C8B-B14F-4D97-AF65-F5344CB8AC3E}">
        <p14:creationId xmlns:p14="http://schemas.microsoft.com/office/powerpoint/2010/main" val="2108591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b="0" i="0" dirty="0">
                <a:solidFill>
                  <a:srgbClr val="1F1F1F"/>
                </a:solidFill>
                <a:latin typeface="Source Sans Pro"/>
                <a:ea typeface="Source Sans Pro"/>
                <a:cs typeface="Source Sans Pro"/>
              </a:rPr>
              <a:t>Branches are an important part of the Git workflow. What is a branch? A branch represents an independent line of development in a project. Branching is a common practice in software development. </a:t>
            </a:r>
          </a:p>
          <a:p>
            <a:pPr marL="228600" indent="-228600">
              <a:buFont typeface="+mj-lt"/>
              <a:buAutoNum type="arabicPeriod"/>
            </a:pPr>
            <a:r>
              <a:rPr b="0" i="0" dirty="0">
                <a:solidFill>
                  <a:srgbClr val="1F1F1F"/>
                </a:solidFill>
                <a:latin typeface="Source Sans Pro"/>
                <a:ea typeface="Source Sans Pro"/>
                <a:cs typeface="Source Sans Pro"/>
              </a:rPr>
              <a:t>Developers create branches to develop features or create patches and merge the changes back into the main branch when they are fully developed.</a:t>
            </a:r>
          </a:p>
          <a:p>
            <a:pPr marL="228600" indent="-228600">
              <a:buFont typeface="+mj-lt"/>
              <a:buAutoNum type="arabicPeriod"/>
            </a:pPr>
            <a:r>
              <a:rPr b="0" i="0" dirty="0">
                <a:solidFill>
                  <a:srgbClr val="333333"/>
                </a:solidFill>
                <a:latin typeface="OpenSans"/>
                <a:ea typeface="OpenSans"/>
                <a:cs typeface="OpenSans"/>
              </a:rPr>
              <a:t>Creating a branch and switching to it immediately is a pretty common task. So common that git gives us a useful shortcut to create a new branch and to switch to it in a single command. We can use the &lt;git checkout -b new branch&gt; to do this.</a:t>
            </a:r>
          </a:p>
          <a:p>
            <a:pPr marL="228600" indent="-228600">
              <a:buFont typeface="+mj-lt"/>
              <a:buAutoNum type="arabicPeriod"/>
            </a:pPr>
            <a:r>
              <a:rPr b="0" i="0" dirty="0">
                <a:solidFill>
                  <a:srgbClr val="333333"/>
                </a:solidFill>
                <a:latin typeface="OpenSans"/>
                <a:ea typeface="OpenSans"/>
                <a:cs typeface="OpenSans"/>
              </a:rPr>
              <a:t>Let us add a file in the new-feature called </a:t>
            </a:r>
            <a:r>
              <a:rPr b="0" i="0" dirty="0" err="1">
                <a:solidFill>
                  <a:srgbClr val="333333"/>
                </a:solidFill>
                <a:latin typeface="OpenSans"/>
                <a:ea typeface="OpenSans"/>
                <a:cs typeface="OpenSans"/>
              </a:rPr>
              <a:t>memory.py</a:t>
            </a:r>
            <a:r>
              <a:rPr b="0" i="0" dirty="0">
                <a:solidFill>
                  <a:srgbClr val="333333"/>
                </a:solidFill>
                <a:latin typeface="OpenSans"/>
                <a:ea typeface="OpenSans"/>
                <a:cs typeface="OpenSans"/>
              </a:rPr>
              <a:t> and commit it. When we call git log -2 we see that the new-feature is at the HEAD. While master and bug-fixing branches are pointing </a:t>
            </a:r>
            <a:r>
              <a:rPr dirty="0"/>
              <a:t>to an earlier snapshot of the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dirty="0"/>
              <a:t>We have looked at how we can create branches and also commit changes to those branches. Remember that the branch is meant to experiment a feature/bug fix and when fully developed we integrate the feature or bugfix into the main/master branch</a:t>
            </a:r>
          </a:p>
          <a:p>
            <a:pPr marL="228600" indent="-228600">
              <a:buFont typeface="+mj-lt"/>
              <a:buAutoNum type="arabicPeriod"/>
            </a:pPr>
            <a:r>
              <a:rPr dirty="0"/>
              <a:t>Now let us see how we can integrate/merge the developed feature into the main branch.</a:t>
            </a:r>
          </a:p>
          <a:p>
            <a:pPr marL="228600" indent="-228600">
              <a:buFont typeface="+mj-lt"/>
              <a:buAutoNum type="arabicPeriod"/>
            </a:pPr>
            <a:r>
              <a:rPr dirty="0"/>
              <a:t>First we checkout master and then merge new-branch</a:t>
            </a:r>
          </a:p>
          <a:p>
            <a:pPr marL="228600" indent="-228600">
              <a:buFont typeface="+mj-lt"/>
              <a:buAutoNum type="arabicPeriod"/>
            </a:pPr>
            <a:r>
              <a:rPr dirty="0"/>
              <a:t>There are two types of merge algorithms:</a:t>
            </a:r>
          </a:p>
          <a:p>
            <a:pPr marL="685800" lvl="1" indent="-228600">
              <a:buFont typeface="+mj-lt"/>
              <a:buAutoNum type="arabicPeriod"/>
            </a:pPr>
            <a:r>
              <a:rPr dirty="0"/>
              <a:t>Let us first look at the fast-forward – The merge we just performed is an example of a fast-forward merge. This kind of merge occurs when all the commits in the checked out branch are also in the branch that's being merged.</a:t>
            </a:r>
          </a:p>
          <a:p>
            <a:pPr marL="685800" lvl="1" indent="-228600">
              <a:buFont typeface="+mj-lt"/>
              <a:buAutoNum type="arabicPeriod"/>
            </a:pPr>
            <a:r>
              <a:rPr dirty="0"/>
              <a:t>If this is the case, we can say that the commit history of both branches doesn't diverge. In these cases, all Git has to do is update the pointers of the branches to the same commit, and no actual merging needs to take place.</a:t>
            </a:r>
          </a:p>
          <a:p>
            <a:pPr marL="228600" indent="-228600">
              <a:buFont typeface="+mj-lt"/>
              <a:buAutoNum type="arabicPeriod"/>
            </a:pPr>
            <a:endParaRPr dirty="0"/>
          </a:p>
          <a:p>
            <a:pPr marL="228600" indent="-228600">
              <a:buFont typeface="+mj-lt"/>
              <a:buAutoNum type="arabicPeriod"/>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lvl="1" indent="-228600">
              <a:buFont typeface="+mj-lt"/>
              <a:buAutoNum type="arabicPeriod"/>
            </a:pPr>
            <a:r>
              <a:rPr dirty="0"/>
              <a:t>On the other hand, a three-way merge is performed when the history of the merging branches has diverged in some way, and there isn't a nice linear path to combine them via fast-forwarding. This happens when a commit is made on one branch after the point when both branches split.</a:t>
            </a:r>
          </a:p>
          <a:p>
            <a:pPr marL="685800" lvl="1" indent="-228600">
              <a:buFont typeface="+mj-lt"/>
              <a:buAutoNum type="arabicPeriod"/>
            </a:pPr>
            <a:r>
              <a:rPr dirty="0"/>
              <a:t>In our case, this could have happened if we made a commit on the master branch after creating the other branches.</a:t>
            </a:r>
          </a:p>
          <a:p>
            <a:pPr marL="685800" lvl="1" indent="-228600">
              <a:buFont typeface="+mj-lt"/>
              <a:buAutoNum type="arabicPeriod"/>
            </a:pPr>
            <a:r>
              <a:rPr dirty="0"/>
              <a:t>Git will tie the branch histories together when this occurs with a new commit. And merge the snapshots at the two branch tips with the most recent common ancestor, the commit before the divergence.</a:t>
            </a:r>
          </a:p>
          <a:p>
            <a:pPr marL="685800" marR="0" lvl="1" indent="-228600" algn="l" defTabSz="914400">
              <a:lnSpc>
                <a:spcPct val="100000"/>
              </a:lnSpc>
              <a:spcBef>
                <a:spcPts val="0"/>
              </a:spcBef>
              <a:spcAft>
                <a:spcPts val="0"/>
              </a:spcAft>
              <a:buClrTx/>
              <a:buSzTx/>
              <a:buFont typeface="+mj-lt"/>
              <a:buAutoNum type="arabicPeriod"/>
            </a:pPr>
            <a:r>
              <a:rPr dirty="0"/>
              <a:t>The problem with three way merges is that because of the split history, it's hard for one to debug when an issue is found in our code, and we need to understand where the problem was introduced. </a:t>
            </a:r>
          </a:p>
          <a:p>
            <a:pPr marL="685800" lvl="1" indent="-228600">
              <a:buFont typeface="+mj-lt"/>
              <a:buAutoNum type="arabicPeriod"/>
            </a:pPr>
            <a:r>
              <a:rPr dirty="0"/>
              <a:t>If instead the changes are made on the same part of the same file, Git won't know how to merge those changes, and the attempt will result in a merge conflict.</a:t>
            </a:r>
          </a:p>
          <a:p>
            <a:pPr marL="685800" marR="0" lvl="1" indent="-228600" algn="l" defTabSz="914400">
              <a:lnSpc>
                <a:spcPct val="100000"/>
              </a:lnSpc>
              <a:spcBef>
                <a:spcPts val="0"/>
              </a:spcBef>
              <a:spcAft>
                <a:spcPts val="0"/>
              </a:spcAft>
              <a:buClrTx/>
              <a:buSzTx/>
              <a:buFont typeface="+mj-lt"/>
              <a:buAutoNum type="arabicPeriod"/>
            </a:pPr>
            <a:r>
              <a:rPr dirty="0"/>
              <a:t>Git rebase - by changing the base where our commits split from the branch history, we can replay the new commits on top of the new base. This allows Git to do a fast forward merge and keep history linear.</a:t>
            </a:r>
          </a:p>
          <a:p>
            <a:pPr marL="685800" marR="0" lvl="1" indent="-228600" algn="l" defTabSz="914400">
              <a:lnSpc>
                <a:spcPct val="100000"/>
              </a:lnSpc>
              <a:spcBef>
                <a:spcPts val="0"/>
              </a:spcBef>
              <a:spcAft>
                <a:spcPts val="0"/>
              </a:spcAft>
              <a:buClrTx/>
              <a:buSzTx/>
              <a:buFont typeface="+mj-lt"/>
              <a:buAutoNum type="arabicPeriod"/>
            </a:pPr>
            <a:r>
              <a:rPr dirty="0"/>
              <a:t>We run the command git rebase, followed by the branch that we want to set as the new base. When we do this, Git will try to replay our commits after the latest commit in that branch.</a:t>
            </a:r>
          </a:p>
          <a:p>
            <a:pPr marL="685800" lvl="1" indent="-228600">
              <a:buFont typeface="+mj-lt"/>
              <a:buAutoNum type="arabicPeriod"/>
            </a:pPr>
            <a:endParaRPr dirty="0"/>
          </a:p>
          <a:p>
            <a:pPr marL="228600" indent="-228600">
              <a:buFont typeface="+mj-lt"/>
              <a:buAutoNum type="arabicPeriod"/>
            </a:pPr>
            <a:endParaRPr dirty="0"/>
          </a:p>
          <a:p>
            <a:pPr marL="228600" indent="-228600">
              <a:buFont typeface="+mj-lt"/>
              <a:buAutoNum type="arabicPeriod"/>
            </a:pPr>
            <a:endParaRPr dirty="0"/>
          </a:p>
          <a:p>
            <a:pPr marL="228600" indent="-228600">
              <a:buFont typeface="+mj-lt"/>
              <a:buAutoNum type="arabicPeriod"/>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dirty="0"/>
              <a:t>When we make edits to the same part of the same file, a merge will result in a merge conflict. Normally, Git can automatically merge files for us. But when we have a merge conflict, it will need a little help to figure out what to do.</a:t>
            </a:r>
          </a:p>
          <a:p>
            <a:pPr marL="228600" indent="-228600">
              <a:buFont typeface="+mj-lt"/>
              <a:buAutoNum type="arabicPeriod"/>
            </a:pPr>
            <a:r>
              <a:rPr dirty="0"/>
              <a:t>I edited the "</a:t>
            </a:r>
            <a:r>
              <a:rPr dirty="0" err="1"/>
              <a:t>memory.py</a:t>
            </a:r>
            <a:r>
              <a:rPr dirty="0"/>
              <a:t>" file in the master branch and replaced the "pass" statement with a comment about what the main function should do.</a:t>
            </a:r>
          </a:p>
          <a:p>
            <a:pPr marL="228600" indent="-228600">
              <a:buFont typeface="+mj-lt"/>
              <a:buAutoNum type="arabicPeriod"/>
            </a:pPr>
            <a:r>
              <a:rPr dirty="0"/>
              <a:t>Let us checkout new-feature and edit </a:t>
            </a:r>
            <a:r>
              <a:rPr dirty="0" err="1"/>
              <a:t>memory.py</a:t>
            </a:r>
            <a:endParaRPr dirty="0"/>
          </a:p>
          <a:p>
            <a:pPr marL="228600" indent="-228600">
              <a:buFont typeface="+mj-lt"/>
              <a:buAutoNum type="arabicPeriod"/>
            </a:pPr>
            <a:r>
              <a:rPr dirty="0"/>
              <a:t>When we call git merge, we can see that our changes are untracked</a:t>
            </a:r>
          </a:p>
          <a:p>
            <a:pPr marL="228600" indent="-228600">
              <a:buFont typeface="+mj-lt"/>
              <a:buAutoNum type="arabicPeriod"/>
            </a:pPr>
            <a:r>
              <a:rPr dirty="0"/>
              <a:t>The unmerged content of the file in the new-feature branch is the call to the print function. It's up to us to decide which one to keep or if we should change the file's contents altogether. </a:t>
            </a:r>
          </a:p>
          <a:p>
            <a:pPr marL="228600" indent="-228600">
              <a:buFont typeface="+mj-lt"/>
              <a:buAutoNum type="arabicPeriod"/>
            </a:pPr>
            <a:r>
              <a:rPr dirty="0"/>
              <a:t>We’ll keep both statements in this case and delete the merger markers.</a:t>
            </a:r>
          </a:p>
          <a:p>
            <a:pPr marL="228600" indent="-228600">
              <a:buFont typeface="+mj-lt"/>
              <a:buAutoNum type="arabicPeriod"/>
            </a:pPr>
            <a:r>
              <a:rPr dirty="0"/>
              <a:t>To see what the commit history looks like now, we'll use a couple of handy options to the git log command; --graph for seeing the commits as a graph, and --</a:t>
            </a:r>
            <a:r>
              <a:rPr dirty="0" err="1"/>
              <a:t>oneline</a:t>
            </a:r>
            <a:r>
              <a:rPr dirty="0"/>
              <a:t> to only see one line per commit. This format helps us better understand the history of our commits and how merges have occurred. We can see the new commit that was added and also the two separate commits that we merged. One coming from the main branch and the other two coming from the "new-feature" branch. We can also see that master is pointing to the merge commit but new-feature is still pointing to the previous one.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t>In earlier slides, we called out that Git is a distributed version control system. Distributed means that each developer has a copy of the whole repository on their local machine.</a:t>
            </a:r>
          </a:p>
          <a:p>
            <a:pPr marL="228600" indent="-228600">
              <a:buFont typeface="+mj-lt"/>
              <a:buAutoNum type="arabicPeriod"/>
            </a:pPr>
            <a:r>
              <a:t>GitHub is a remote repository hosting service for Git. </a:t>
            </a:r>
          </a:p>
          <a:p>
            <a:pPr marL="228600" indent="-228600">
              <a:buFont typeface="+mj-lt"/>
              <a:buAutoNum type="arabicPeriod"/>
            </a:pPr>
            <a:r>
              <a:t>GitHub is a web-based Git repository hosting service. On top of the version control functionality of Git, GitHub includes extra features like bug tracking, wikis, and task management. GitHub lets us share and access repositories on the web and copy or clone them to our local computers so we can work on them. GitHub is a popular choice with a robust feature set, but there are others. Other services that provide similar functionality are BitBucket and GitLab.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Recall that we stated that there are two ways of creating a local git repository</a:t>
            </a:r>
          </a:p>
          <a:p>
            <a:pPr marL="228600" indent="-228600">
              <a:buAutoNum type="arabicPeriod"/>
            </a:pPr>
            <a:r>
              <a:t>First, let us create a remote repository on GitHub</a:t>
            </a:r>
          </a:p>
          <a:p>
            <a:pPr marL="228600" indent="-228600">
              <a:buAutoNum type="arabicPeriod"/>
            </a:pPr>
            <a:r>
              <a:t>Next, let us clone the remote repository onto our local computer</a:t>
            </a:r>
          </a:p>
          <a:p>
            <a:pPr marL="228600" indent="-228600">
              <a:buAutoNum type="arabicPeriod"/>
            </a:pPr>
            <a:r>
              <a:t>Then let us modify the README.md to make it more descriptive</a:t>
            </a:r>
          </a:p>
          <a:p>
            <a:pPr marL="228600" indent="-228600">
              <a:buAutoNum type="arabicPeriod"/>
            </a:pPr>
            <a:r>
              <a:t>Commit and push the remote repository</a:t>
            </a:r>
          </a:p>
          <a:p>
            <a:pPr marL="228600" indent="-228600">
              <a:buAutoNum type="arabicPeriod"/>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Let us assume that our colleague </a:t>
            </a:r>
            <a:r>
              <a:rPr lang="en-GB" dirty="0" err="1"/>
              <a:t>Blueprince</a:t>
            </a:r>
            <a:r>
              <a:rPr lang="en-GB" dirty="0"/>
              <a:t> has created a checks repo to rearrange names and we want to contribute to it.</a:t>
            </a:r>
          </a:p>
          <a:p>
            <a:pPr marL="171450" indent="-171450">
              <a:buFont typeface="Arial" panose="020B0604020202020204" pitchFamily="34" charset="0"/>
              <a:buChar char="•"/>
            </a:pPr>
            <a:r>
              <a:rPr lang="en-GB" dirty="0"/>
              <a:t>I decide to create a fork so that I can own the repo and contribute.</a:t>
            </a:r>
          </a:p>
          <a:p>
            <a:pPr marL="171450" indent="-171450">
              <a:buFont typeface="Arial" panose="020B0604020202020204" pitchFamily="34" charset="0"/>
              <a:buChar char="•"/>
            </a:pPr>
            <a:r>
              <a:rPr lang="en-GB" dirty="0"/>
              <a:t>See how it shows that it's a forked repo by stating the original repo under the name.</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21</a:t>
            </a:fld>
            <a:endParaRPr lang="en-BE"/>
          </a:p>
        </p:txBody>
      </p:sp>
    </p:spTree>
    <p:extLst>
      <p:ext uri="{BB962C8B-B14F-4D97-AF65-F5344CB8AC3E}">
        <p14:creationId xmlns:p14="http://schemas.microsoft.com/office/powerpoint/2010/main" val="1959838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After creating the fork, I clone the fork so that I can have a local repository to experiment with my changes.</a:t>
            </a:r>
          </a:p>
          <a:p>
            <a:pPr marL="171450" indent="-171450">
              <a:buFont typeface="Arial" panose="020B0604020202020204" pitchFamily="34" charset="0"/>
              <a:buChar char="•"/>
            </a:pPr>
            <a:r>
              <a:rPr lang="en-GB" dirty="0"/>
              <a:t>We can now start editing the </a:t>
            </a:r>
            <a:r>
              <a:rPr lang="en-GB" dirty="0" err="1"/>
              <a:t>README.md</a:t>
            </a:r>
            <a:r>
              <a:rPr lang="en-GB" dirty="0"/>
              <a:t> file. The MD extension indicates that we're using markdown, which is a lightweight markup language. We can use it to write plain text files that are then formatted following some simple rules. In this case, we'll start with a title with the module's name and a brief description that says it's used to rearrange names.</a:t>
            </a:r>
          </a:p>
          <a:p>
            <a:pPr marL="171450" indent="-171450">
              <a:buFont typeface="Arial" panose="020B0604020202020204" pitchFamily="34" charset="0"/>
              <a:buChar char="•"/>
            </a:pPr>
            <a:r>
              <a:rPr lang="en-GB" dirty="0"/>
              <a:t>Now, to push the change to our forked repo, we need to create the corresponding remote branch. Do you remember the command for that? Yes. It's git push - u origin add -readme.</a:t>
            </a:r>
          </a:p>
          <a:p>
            <a:pPr marL="171450" indent="-171450">
              <a:buFont typeface="Arial" panose="020B0604020202020204" pitchFamily="34" charset="0"/>
              <a:buChar char="•"/>
            </a:pPr>
            <a:r>
              <a:rPr lang="en-GB" dirty="0"/>
              <a:t>So when we push the change to the new branch, we got a message that we can create a pull request if we want to. We'll do that in a minute. </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22</a:t>
            </a:fld>
            <a:endParaRPr lang="en-BE"/>
          </a:p>
        </p:txBody>
      </p:sp>
    </p:spTree>
    <p:extLst>
      <p:ext uri="{BB962C8B-B14F-4D97-AF65-F5344CB8AC3E}">
        <p14:creationId xmlns:p14="http://schemas.microsoft.com/office/powerpoint/2010/main" val="6951648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First, let's check out how our file looks when rendered.</a:t>
            </a:r>
          </a:p>
          <a:p>
            <a:pPr marL="171450" indent="-171450">
              <a:buFont typeface="Arial" panose="020B0604020202020204" pitchFamily="34" charset="0"/>
              <a:buChar char="•"/>
            </a:pPr>
            <a:r>
              <a:rPr lang="en-GB" dirty="0"/>
              <a:t>GitHub tells us that our branch is ahead of the original repositories main branch by one commit, which is the commit we just made. We have to select the readme branch</a:t>
            </a:r>
          </a:p>
          <a:p>
            <a:pPr marL="171450" indent="-171450">
              <a:buFont typeface="Arial" panose="020B0604020202020204" pitchFamily="34" charset="0"/>
              <a:buChar char="•"/>
            </a:pPr>
            <a:r>
              <a:rPr lang="en-GB" dirty="0"/>
              <a:t>We can start our pull requests by clicking on the Pull Request link.</a:t>
            </a:r>
          </a:p>
          <a:p>
            <a:pPr marL="171450" indent="-171450">
              <a:buFont typeface="Arial" panose="020B0604020202020204" pitchFamily="34" charset="0"/>
              <a:buChar char="•"/>
            </a:pPr>
            <a:r>
              <a:rPr lang="en-GB" b="0" i="0" dirty="0">
                <a:solidFill>
                  <a:srgbClr val="333333"/>
                </a:solidFill>
                <a:effectLst/>
                <a:latin typeface="OpenSans"/>
              </a:rPr>
              <a:t>A pull request is a commit or series of commits that you send to the owner of the repository so that they incorporate it into their tree.</a:t>
            </a:r>
          </a:p>
        </p:txBody>
      </p:sp>
      <p:sp>
        <p:nvSpPr>
          <p:cNvPr id="4" name="Slide Number Placeholder 3"/>
          <p:cNvSpPr>
            <a:spLocks noGrp="1"/>
          </p:cNvSpPr>
          <p:nvPr>
            <p:ph type="sldNum" sz="quarter" idx="5"/>
          </p:nvPr>
        </p:nvSpPr>
        <p:spPr/>
        <p:txBody>
          <a:bodyPr/>
          <a:lstStyle/>
          <a:p>
            <a:fld id="{60BA473E-7E22-714F-AE41-F8C01DB2EE9C}" type="slidenum">
              <a:rPr lang="en-BE" smtClean="0"/>
              <a:t>23</a:t>
            </a:fld>
            <a:endParaRPr lang="en-BE"/>
          </a:p>
        </p:txBody>
      </p:sp>
    </p:spTree>
    <p:extLst>
      <p:ext uri="{BB962C8B-B14F-4D97-AF65-F5344CB8AC3E}">
        <p14:creationId xmlns:p14="http://schemas.microsoft.com/office/powerpoint/2010/main" val="1426518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Before creating a pull request, it's always important to check that the code will merge successfully. GitHub tells us that our change can be automatically merged, which is great news.</a:t>
            </a:r>
          </a:p>
          <a:p>
            <a:pPr marL="171450" indent="-171450">
              <a:buFont typeface="Arial" panose="020B0604020202020204" pitchFamily="34" charset="0"/>
              <a:buChar char="•"/>
            </a:pPr>
            <a:r>
              <a:rPr lang="en-GB" dirty="0"/>
              <a:t>As we mentioned before, we should use this to explain why we're creating this pull request. This lets the person that will approve the change understand why they should merge the change into the main tree. Are we fixing a bug? This is a new feature to let the project support more use cases. How will the project benefit from including our change? Whatever info might be useful to the approver, record it here. We can also use this box to explain how the change was tested. </a:t>
            </a:r>
          </a:p>
          <a:p>
            <a:pPr marL="171450" indent="-171450">
              <a:buFont typeface="Arial" panose="020B0604020202020204" pitchFamily="34" charset="0"/>
              <a:buChar char="•"/>
            </a:pPr>
            <a:r>
              <a:rPr lang="en-GB" dirty="0"/>
              <a:t>So we'll just say we're adding a README file that was missing for the project.</a:t>
            </a:r>
          </a:p>
          <a:p>
            <a:pPr marL="171450" indent="-171450">
              <a:buFont typeface="Arial" panose="020B0604020202020204" pitchFamily="34" charset="0"/>
              <a:buChar char="•"/>
            </a:pPr>
            <a:r>
              <a:rPr lang="en-GB" dirty="0"/>
              <a:t>We should also check that the change we're sending looks correct. It's always a good idea to double-check that we're sending the right change. To do that, let's look at the diff that appears at the bottom of the page.</a:t>
            </a:r>
          </a:p>
          <a:p>
            <a:pPr marL="171450" indent="-171450">
              <a:buFont typeface="Arial" panose="020B0604020202020204" pitchFamily="34" charset="0"/>
              <a:buChar char="•"/>
            </a:pPr>
            <a:r>
              <a:rPr lang="en-GB" dirty="0"/>
              <a:t>The number next to the name of our pull request is the identifier that's used in GitHub to track issues and pull requests. We can use this identifying number to access this pull request anytime we need it.</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24</a:t>
            </a:fld>
            <a:endParaRPr lang="en-BE"/>
          </a:p>
        </p:txBody>
      </p:sp>
    </p:spTree>
    <p:extLst>
      <p:ext uri="{BB962C8B-B14F-4D97-AF65-F5344CB8AC3E}">
        <p14:creationId xmlns:p14="http://schemas.microsoft.com/office/powerpoint/2010/main" val="2560483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We got a comment saying that our README was too short and they'd like us to add an example. To address this comment, will add more details to our file. We'll start by explaining that the function rearranges </a:t>
            </a:r>
            <a:r>
              <a:rPr lang="en-GB" dirty="0" err="1"/>
              <a:t>LastName</a:t>
            </a:r>
            <a:r>
              <a:rPr lang="en-GB" dirty="0"/>
              <a:t>, FirstName into FirstName </a:t>
            </a:r>
            <a:r>
              <a:rPr lang="en-GB" dirty="0" err="1"/>
              <a:t>LastName</a:t>
            </a:r>
            <a:r>
              <a:rPr lang="en-GB" dirty="0"/>
              <a:t> and then we'll add an example. We'll say that calling rearrange name with Turing, Alan as a parameter, will return Alan Turing.</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25</a:t>
            </a:fld>
            <a:endParaRPr lang="en-BE"/>
          </a:p>
        </p:txBody>
      </p:sp>
    </p:spTree>
    <p:extLst>
      <p:ext uri="{BB962C8B-B14F-4D97-AF65-F5344CB8AC3E}">
        <p14:creationId xmlns:p14="http://schemas.microsoft.com/office/powerpoint/2010/main" val="302235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Now that we've pushed our change back to the repo, let's check our pull request in GitHub. In the Commit's tab, we can see our two commits.</a:t>
            </a:r>
          </a:p>
          <a:p>
            <a:pPr marL="171450" indent="-171450">
              <a:buFont typeface="Arial" panose="020B0604020202020204" pitchFamily="34" charset="0"/>
              <a:buChar char="•"/>
            </a:pPr>
            <a:r>
              <a:rPr lang="en-GB" dirty="0"/>
              <a:t>Our commit now shows up as a part of the same pull request. It's important to notice here that we just pushed our commit to the same branch as before and GitHub automatically added it to the pull request. If we wanted to create a separate pull request, we would need to create a new branch instead. If we go to the Files Change tab, we can see all files affected by the pull request, no matter which commit they were changed in. Whenever we look at the diff generated by a commit or a chain of commits, GitHub will show a </a:t>
            </a:r>
            <a:r>
              <a:rPr lang="en-GB" dirty="0" err="1"/>
              <a:t>color</a:t>
            </a:r>
            <a:r>
              <a:rPr lang="en-GB" dirty="0"/>
              <a:t> diff for the changes that we've made.</a:t>
            </a:r>
          </a:p>
          <a:p>
            <a:pPr marL="171450" indent="-171450">
              <a:buFont typeface="Arial" panose="020B0604020202020204" pitchFamily="34" charset="0"/>
              <a:buChar char="•"/>
            </a:pPr>
            <a:r>
              <a:rPr lang="en-GB" dirty="0"/>
              <a:t>It will use green for new lines and red for lines that were deleted. If only a part of the line changed, it will highlight that specific part of the line. In this case, it's a new file, so all the lines are additions. Check out how we see only one file even when there are two separate commits.</a:t>
            </a:r>
          </a:p>
          <a:p>
            <a:pPr marL="171450" indent="-171450">
              <a:buFont typeface="Arial" panose="020B0604020202020204" pitchFamily="34" charset="0"/>
              <a:buChar char="•"/>
            </a:pPr>
            <a:r>
              <a:rPr lang="en-GB" dirty="0"/>
              <a:t>Some projects may ask you to have only one commit in your pull requests, other projects may ask you to rebase against the latest master branch when your pull request is ready to be merged back into the main tree.</a:t>
            </a:r>
          </a:p>
          <a:p>
            <a:pPr marL="171450" indent="-171450">
              <a:buFont typeface="Arial" panose="020B0604020202020204" pitchFamily="34" charset="0"/>
              <a:buChar char="•"/>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26</a:t>
            </a:fld>
            <a:endParaRPr lang="en-BE"/>
          </a:p>
        </p:txBody>
      </p:sp>
    </p:spTree>
    <p:extLst>
      <p:ext uri="{BB962C8B-B14F-4D97-AF65-F5344CB8AC3E}">
        <p14:creationId xmlns:p14="http://schemas.microsoft.com/office/powerpoint/2010/main" val="2081388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27</a:t>
            </a:fld>
            <a:endParaRPr lang="en-BE"/>
          </a:p>
        </p:txBody>
      </p:sp>
    </p:spTree>
    <p:extLst>
      <p:ext uri="{BB962C8B-B14F-4D97-AF65-F5344CB8AC3E}">
        <p14:creationId xmlns:p14="http://schemas.microsoft.com/office/powerpoint/2010/main" val="1803609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Last week we looked at a range of concepts about Git commands and how we c</a:t>
            </a:r>
            <a:r>
              <a:rPr lang="en-GB" dirty="0"/>
              <a:t>an</a:t>
            </a:r>
            <a:r>
              <a:rPr lang="en-BE" dirty="0"/>
              <a:t> use them. We also looked at GitHub and collaboration</a:t>
            </a:r>
          </a:p>
          <a:p>
            <a:r>
              <a:rPr lang="en-BE" dirty="0"/>
              <a:t>Today we are going to look at more concepts on Github and collaboration</a:t>
            </a:r>
          </a:p>
        </p:txBody>
      </p:sp>
      <p:sp>
        <p:nvSpPr>
          <p:cNvPr id="4" name="Slide Number Placeholder 3"/>
          <p:cNvSpPr>
            <a:spLocks noGrp="1"/>
          </p:cNvSpPr>
          <p:nvPr>
            <p:ph type="sldNum" sz="quarter" idx="5"/>
          </p:nvPr>
        </p:nvSpPr>
        <p:spPr/>
        <p:txBody>
          <a:bodyPr/>
          <a:lstStyle/>
          <a:p>
            <a:fld id="{60BA473E-7E22-714F-AE41-F8C01DB2EE9C}" type="slidenum">
              <a:rPr lang="en-BE" smtClean="0"/>
              <a:t>28</a:t>
            </a:fld>
            <a:endParaRPr lang="en-BE"/>
          </a:p>
        </p:txBody>
      </p:sp>
    </p:spTree>
    <p:extLst>
      <p:ext uri="{BB962C8B-B14F-4D97-AF65-F5344CB8AC3E}">
        <p14:creationId xmlns:p14="http://schemas.microsoft.com/office/powerpoint/2010/main" val="2771591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Why do we need to perform code reviews?</a:t>
            </a:r>
          </a:p>
          <a:p>
            <a:endParaRPr lang="en-BE" dirty="0"/>
          </a:p>
          <a:p>
            <a:pPr algn="l"/>
            <a:r>
              <a:rPr lang="en-GB" b="0" i="0" dirty="0">
                <a:solidFill>
                  <a:srgbClr val="333333"/>
                </a:solidFill>
                <a:effectLst/>
                <a:latin typeface="OpenSans"/>
              </a:rPr>
              <a:t>Common code issues are unclear names that makes the code hard to understand. Forgetting to add a test or forgetting to handle a specific condition. </a:t>
            </a:r>
          </a:p>
          <a:p>
            <a:pPr algn="l"/>
            <a:endParaRPr lang="en-GB" b="0" i="0" dirty="0">
              <a:solidFill>
                <a:srgbClr val="333333"/>
              </a:solidFill>
              <a:effectLst/>
              <a:latin typeface="OpenSans"/>
            </a:endParaRPr>
          </a:p>
          <a:p>
            <a:pPr algn="l"/>
            <a:r>
              <a:rPr lang="en-GB" b="0" i="0" dirty="0">
                <a:solidFill>
                  <a:srgbClr val="333333"/>
                </a:solidFill>
                <a:effectLst/>
                <a:latin typeface="OpenSans"/>
              </a:rPr>
              <a:t>Today, some open-source projects and lots of companies require code reviews for everybody. This isn't because they don't trust them, but because they want the highest quality code. And code reviews are how they get there. One thing to always remember, code reviews are not about us being good or bad coders, they're about making our code better. And not only that specific review, but in general.</a:t>
            </a: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29</a:t>
            </a:fld>
            <a:endParaRPr lang="en-BE"/>
          </a:p>
        </p:txBody>
      </p:sp>
    </p:spTree>
    <p:extLst>
      <p:ext uri="{BB962C8B-B14F-4D97-AF65-F5344CB8AC3E}">
        <p14:creationId xmlns:p14="http://schemas.microsoft.com/office/powerpoint/2010/main" val="2467473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Remember, a while back in the slides, we created a pull request that added a read me file. Conveniently, our colleague just replied with a few comments. Let's have a look.</a:t>
            </a:r>
          </a:p>
          <a:p>
            <a:pPr marL="228600" indent="-228600">
              <a:buFont typeface="+mj-lt"/>
              <a:buAutoNum type="arabicPeriod"/>
            </a:pPr>
            <a:endParaRPr lang="en-BE" dirty="0"/>
          </a:p>
          <a:p>
            <a:pPr marL="228600" indent="-228600">
              <a:buFont typeface="+mj-lt"/>
              <a:buAutoNum type="arabicPeriod"/>
            </a:pPr>
            <a:r>
              <a:rPr lang="en-BE" dirty="0"/>
              <a:t>We open up Readme.md and fix the issues</a:t>
            </a:r>
          </a:p>
          <a:p>
            <a:pPr marL="228600" indent="-228600">
              <a:buFont typeface="+mj-lt"/>
              <a:buAutoNum type="arabicPeriod"/>
            </a:pPr>
            <a:endParaRPr lang="en-BE" dirty="0"/>
          </a:p>
          <a:p>
            <a:pPr algn="l"/>
            <a:r>
              <a:rPr lang="en-GB" b="0" i="0" dirty="0">
                <a:solidFill>
                  <a:srgbClr val="333333"/>
                </a:solidFill>
                <a:effectLst/>
                <a:latin typeface="OpenSans"/>
              </a:rPr>
              <a:t>Since we want this change to be a part of the previous commit, we'll call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BE" dirty="0">
                <a:solidFill>
                  <a:srgbClr val="C00000"/>
                </a:solidFill>
              </a:rPr>
              <a:t>git commit --amend (reverting committed changes)</a:t>
            </a:r>
            <a:endParaRPr lang="en-GB" b="0" i="0" dirty="0">
              <a:solidFill>
                <a:srgbClr val="333333"/>
              </a:solidFill>
              <a:effectLst/>
              <a:latin typeface="OpenSans"/>
            </a:endParaRPr>
          </a:p>
          <a:p>
            <a:pPr marL="171450" indent="-171450" algn="l">
              <a:buFont typeface="Arial" panose="020B0604020202020204" pitchFamily="34" charset="0"/>
              <a:buChar char="•"/>
            </a:pPr>
            <a:r>
              <a:rPr lang="en-GB" b="0" i="0" dirty="0">
                <a:solidFill>
                  <a:srgbClr val="333333"/>
                </a:solidFill>
                <a:effectLst/>
                <a:latin typeface="OpenSans"/>
              </a:rPr>
              <a:t>“git commit -a – amend”, which will edit the original commit.</a:t>
            </a:r>
          </a:p>
          <a:p>
            <a:pPr marL="171450" indent="-171450" algn="l">
              <a:buFont typeface="Arial" panose="020B0604020202020204" pitchFamily="34" charset="0"/>
              <a:buChar char="•"/>
            </a:pPr>
            <a:r>
              <a:rPr lang="en-GB" b="0" i="0" dirty="0">
                <a:solidFill>
                  <a:srgbClr val="333333"/>
                </a:solidFill>
                <a:effectLst/>
                <a:latin typeface="OpenSans"/>
              </a:rPr>
              <a:t>“git push -f”</a:t>
            </a:r>
          </a:p>
          <a:p>
            <a:pPr marL="171450" indent="-171450" algn="l">
              <a:buFont typeface="Arial" panose="020B0604020202020204" pitchFamily="34" charset="0"/>
              <a:buChar char="•"/>
            </a:pPr>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30</a:t>
            </a:fld>
            <a:endParaRPr lang="en-BE"/>
          </a:p>
        </p:txBody>
      </p:sp>
    </p:spTree>
    <p:extLst>
      <p:ext uri="{BB962C8B-B14F-4D97-AF65-F5344CB8AC3E}">
        <p14:creationId xmlns:p14="http://schemas.microsoft.com/office/powerpoint/2010/main" val="30464738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Ignore the outdated. It simply means that we have added a new comment</a:t>
            </a:r>
          </a:p>
        </p:txBody>
      </p:sp>
      <p:sp>
        <p:nvSpPr>
          <p:cNvPr id="4" name="Slide Number Placeholder 3"/>
          <p:cNvSpPr>
            <a:spLocks noGrp="1"/>
          </p:cNvSpPr>
          <p:nvPr>
            <p:ph type="sldNum" sz="quarter" idx="5"/>
          </p:nvPr>
        </p:nvSpPr>
        <p:spPr/>
        <p:txBody>
          <a:bodyPr/>
          <a:lstStyle/>
          <a:p>
            <a:fld id="{60BA473E-7E22-714F-AE41-F8C01DB2EE9C}" type="slidenum">
              <a:rPr lang="en-BE" smtClean="0"/>
              <a:t>31</a:t>
            </a:fld>
            <a:endParaRPr lang="en-BE"/>
          </a:p>
        </p:txBody>
      </p:sp>
    </p:spTree>
    <p:extLst>
      <p:ext uri="{BB962C8B-B14F-4D97-AF65-F5344CB8AC3E}">
        <p14:creationId xmlns:p14="http://schemas.microsoft.com/office/powerpoint/2010/main" val="5214825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It is important to set checks to avoid merging garbage into the main repository</a:t>
            </a:r>
          </a:p>
        </p:txBody>
      </p:sp>
      <p:sp>
        <p:nvSpPr>
          <p:cNvPr id="4" name="Slide Number Placeholder 3"/>
          <p:cNvSpPr>
            <a:spLocks noGrp="1"/>
          </p:cNvSpPr>
          <p:nvPr>
            <p:ph type="sldNum" sz="quarter" idx="5"/>
          </p:nvPr>
        </p:nvSpPr>
        <p:spPr/>
        <p:txBody>
          <a:bodyPr/>
          <a:lstStyle/>
          <a:p>
            <a:fld id="{60BA473E-7E22-714F-AE41-F8C01DB2EE9C}" type="slidenum">
              <a:rPr lang="en-BE" smtClean="0"/>
              <a:t>33</a:t>
            </a:fld>
            <a:endParaRPr lang="en-BE"/>
          </a:p>
        </p:txBody>
      </p:sp>
    </p:spTree>
    <p:extLst>
      <p:ext uri="{BB962C8B-B14F-4D97-AF65-F5344CB8AC3E}">
        <p14:creationId xmlns:p14="http://schemas.microsoft.com/office/powerpoint/2010/main" val="4298883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35</a:t>
            </a:fld>
            <a:endParaRPr lang="en-BE"/>
          </a:p>
        </p:txBody>
      </p:sp>
    </p:spTree>
    <p:extLst>
      <p:ext uri="{BB962C8B-B14F-4D97-AF65-F5344CB8AC3E}">
        <p14:creationId xmlns:p14="http://schemas.microsoft.com/office/powerpoint/2010/main" val="35184334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In the project you will be working in groups of 10 students. You decide to start coding without careful planning</a:t>
            </a:r>
          </a:p>
          <a:p>
            <a:endParaRPr lang="en-BE" dirty="0"/>
          </a:p>
          <a:p>
            <a:r>
              <a:rPr lang="en-GB" dirty="0"/>
              <a:t>Instead of dividing the task into smaller pieces and assigning them to different people, you just randomly started working on some part of the infrastructure. </a:t>
            </a:r>
          </a:p>
          <a:p>
            <a:r>
              <a:rPr lang="en-GB" dirty="0"/>
              <a:t>The result would probably be total chaos, with different pieces of software that won't work well together, and lots of gaps that nobody worked on.</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36</a:t>
            </a:fld>
            <a:endParaRPr lang="en-BE"/>
          </a:p>
        </p:txBody>
      </p:sp>
    </p:spTree>
    <p:extLst>
      <p:ext uri="{BB962C8B-B14F-4D97-AF65-F5344CB8AC3E}">
        <p14:creationId xmlns:p14="http://schemas.microsoft.com/office/powerpoint/2010/main" val="29375608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That's when a tool like an issue tracker or bug tracker can help us coordinate our work better. An issue tracker tells us the tasks that need to be done, the state they're in and who's working on them.</a:t>
            </a:r>
          </a:p>
          <a:p>
            <a:endParaRPr lang="en-GB" dirty="0"/>
          </a:p>
          <a:p>
            <a:r>
              <a:rPr lang="en-GB" dirty="0"/>
              <a:t>The system also let's us add comments to the issue, these comments can be super helpful. They can give us more details about the problem, explain a way to solve it, or detail how to test if it's been solved. Issue trackers aren't just useful for people actively working on projects.</a:t>
            </a:r>
          </a:p>
          <a:p>
            <a:endParaRPr lang="en-GB" dirty="0"/>
          </a:p>
          <a:p>
            <a:r>
              <a:rPr lang="en-GB" dirty="0"/>
              <a:t>Having a clear visible list of the pending work, lets new contributors figure out how to help and where to jump in.</a:t>
            </a:r>
          </a:p>
          <a:p>
            <a:endParaRPr lang="en-GB" dirty="0"/>
          </a:p>
          <a:p>
            <a:r>
              <a:rPr lang="en-GB" dirty="0"/>
              <a:t>So, if you're hosting your project there, it can be very handy to track work on your project. Like the problems to solve, the features to add and the use cases to include it, let's check it out.</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38</a:t>
            </a:fld>
            <a:endParaRPr lang="en-BE"/>
          </a:p>
        </p:txBody>
      </p:sp>
    </p:spTree>
    <p:extLst>
      <p:ext uri="{BB962C8B-B14F-4D97-AF65-F5344CB8AC3E}">
        <p14:creationId xmlns:p14="http://schemas.microsoft.com/office/powerpoint/2010/main" val="31522142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issues should have a title</a:t>
            </a:r>
          </a:p>
          <a:p>
            <a:endParaRPr lang="en-GB" dirty="0"/>
          </a:p>
          <a:p>
            <a:r>
              <a:rPr lang="en-GB" dirty="0"/>
              <a:t>Description: When writing in issues description, it's a good idea to include all the information that we have about the problem or missing feature and any ideas on how to solve it. And if new information comes up later on, it can be added as additional comments on the same issue. Great, we're now ready to submit the new issue.</a:t>
            </a:r>
          </a:p>
          <a:p>
            <a:endParaRPr lang="en-GB" dirty="0"/>
          </a:p>
          <a:p>
            <a:r>
              <a:rPr lang="en-GB" dirty="0"/>
              <a:t>The issue was assigned to a developer who fixed it</a:t>
            </a:r>
          </a:p>
          <a:p>
            <a:endParaRPr lang="en-GB" dirty="0"/>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39</a:t>
            </a:fld>
            <a:endParaRPr lang="en-BE"/>
          </a:p>
        </p:txBody>
      </p:sp>
    </p:spTree>
    <p:extLst>
      <p:ext uri="{BB962C8B-B14F-4D97-AF65-F5344CB8AC3E}">
        <p14:creationId xmlns:p14="http://schemas.microsoft.com/office/powerpoint/2010/main" val="6274382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42</a:t>
            </a:fld>
            <a:endParaRPr lang="en-BE"/>
          </a:p>
        </p:txBody>
      </p:sp>
    </p:spTree>
    <p:extLst>
      <p:ext uri="{BB962C8B-B14F-4D97-AF65-F5344CB8AC3E}">
        <p14:creationId xmlns:p14="http://schemas.microsoft.com/office/powerpoint/2010/main" val="1167912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B7AB2-7BE5-461A-ACBB-3002F8A9D13E}"/>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D496A510-E8C8-1023-28AC-D232AE6ED4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11A5BD07-689A-E04F-8349-B274D3984399}"/>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E3B950A7-FC21-4172-9E47-5DB37D43BFB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DBACB8B-F838-291C-F348-CEC5FF61F5F4}"/>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E43D-282E-653C-4F1B-15B3266A148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5420C0F-8F1F-4D07-2826-50A4AFDE76C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B923D5-F22A-7236-25F5-FEDD15DE57B4}"/>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1EA80F8E-4C8F-715F-1C93-300E02522E6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120AC12-85D0-4771-ACE9-24B16AF0370C}"/>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76E7-9780-2E79-68E5-167181B5513E}"/>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14401C3C-A94B-CC42-3AA5-F136666E7D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D75D626-DF65-B022-D57E-30DBBA13F130}"/>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50929E85-EDBF-94B8-1362-C94406E62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7FE3E1A-139E-F2F2-DFCF-F9B9F1FFE337}"/>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A398-F4AE-8E62-79C9-A7E695029EA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981FBF5-7997-C008-8FFB-63C0ECACCC13}"/>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2A82165-9A37-95B2-A5CE-9A1C6EC1DA13}"/>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5AE3AEF-BE74-9960-A79C-5D5D0816B673}"/>
              </a:ext>
            </a:extLst>
          </p:cNvPr>
          <p:cNvSpPr>
            <a:spLocks noGrp="1"/>
          </p:cNvSpPr>
          <p:nvPr>
            <p:ph type="dt" idx="10"/>
          </p:nvPr>
        </p:nvSpPr>
        <p:spPr/>
        <p:txBody>
          <a:bodyPr/>
          <a:lstStyle/>
          <a:p>
            <a:fld id="{73F170DA-D398-ED41-8FCC-0FC0D75F2FCE}" type="datetimeFigureOut">
              <a:t>16/08/2026</a:t>
            </a:fld>
            <a:endParaRPr/>
          </a:p>
        </p:txBody>
      </p:sp>
      <p:sp>
        <p:nvSpPr>
          <p:cNvPr id="6" name="Footer Placeholder 5">
            <a:extLst>
              <a:ext uri="{FF2B5EF4-FFF2-40B4-BE49-F238E27FC236}">
                <a16:creationId xmlns:a16="http://schemas.microsoft.com/office/drawing/2014/main" id="{CCFF3623-506E-8480-2710-9F6AED51E5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8486E4D-E744-DF56-F125-9906CC485D89}"/>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86AC-075A-6E30-F3F1-D82E562F9AB1}"/>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BD83863C-7B0D-B840-3058-6D7221465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27BFCCA-2E5D-A4D3-3B52-B5B4F9F540C1}"/>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399016B-FAB7-C0A4-A470-E91F0249D4B0}"/>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A47E64FF-8F3E-E832-086C-A6F817C54648}"/>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D30E84A-8045-0998-AC3B-9082E9B14FE1}"/>
              </a:ext>
            </a:extLst>
          </p:cNvPr>
          <p:cNvSpPr>
            <a:spLocks noGrp="1"/>
          </p:cNvSpPr>
          <p:nvPr>
            <p:ph type="dt" idx="10"/>
          </p:nvPr>
        </p:nvSpPr>
        <p:spPr/>
        <p:txBody>
          <a:bodyPr/>
          <a:lstStyle/>
          <a:p>
            <a:fld id="{73F170DA-D398-ED41-8FCC-0FC0D75F2FCE}" type="datetimeFigureOut">
              <a:t>16/08/2026</a:t>
            </a:fld>
            <a:endParaRPr/>
          </a:p>
        </p:txBody>
      </p:sp>
      <p:sp>
        <p:nvSpPr>
          <p:cNvPr id="8" name="Footer Placeholder 7">
            <a:extLst>
              <a:ext uri="{FF2B5EF4-FFF2-40B4-BE49-F238E27FC236}">
                <a16:creationId xmlns:a16="http://schemas.microsoft.com/office/drawing/2014/main" id="{F7D4FE65-7FCD-B56B-336C-FCF35A736B2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9E35666-47B5-C76A-0CF0-061A971CC268}"/>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5FF4-303B-2000-AE2F-8BD24B1EA7E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8295A43-6B1E-7840-A992-88663519247F}"/>
              </a:ext>
            </a:extLst>
          </p:cNvPr>
          <p:cNvSpPr>
            <a:spLocks noGrp="1"/>
          </p:cNvSpPr>
          <p:nvPr>
            <p:ph type="dt" idx="10"/>
          </p:nvPr>
        </p:nvSpPr>
        <p:spPr/>
        <p:txBody>
          <a:bodyPr/>
          <a:lstStyle/>
          <a:p>
            <a:fld id="{73F170DA-D398-ED41-8FCC-0FC0D75F2FCE}" type="datetimeFigureOut">
              <a:t>16/08/2026</a:t>
            </a:fld>
            <a:endParaRPr/>
          </a:p>
        </p:txBody>
      </p:sp>
      <p:sp>
        <p:nvSpPr>
          <p:cNvPr id="4" name="Footer Placeholder 3">
            <a:extLst>
              <a:ext uri="{FF2B5EF4-FFF2-40B4-BE49-F238E27FC236}">
                <a16:creationId xmlns:a16="http://schemas.microsoft.com/office/drawing/2014/main" id="{FDB2135B-8DA3-3540-D409-191A3346970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CCB7BFFE-DB93-35E1-716F-E628924441F1}"/>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1BE0E-23D2-0E9C-6C33-7EF4F39053FD}"/>
              </a:ext>
            </a:extLst>
          </p:cNvPr>
          <p:cNvSpPr>
            <a:spLocks noGrp="1"/>
          </p:cNvSpPr>
          <p:nvPr>
            <p:ph type="dt" idx="10"/>
          </p:nvPr>
        </p:nvSpPr>
        <p:spPr/>
        <p:txBody>
          <a:bodyPr/>
          <a:lstStyle/>
          <a:p>
            <a:fld id="{73F170DA-D398-ED41-8FCC-0FC0D75F2FCE}" type="datetimeFigureOut">
              <a:t>16/08/2026</a:t>
            </a:fld>
            <a:endParaRPr/>
          </a:p>
        </p:txBody>
      </p:sp>
      <p:sp>
        <p:nvSpPr>
          <p:cNvPr id="3" name="Footer Placeholder 2">
            <a:extLst>
              <a:ext uri="{FF2B5EF4-FFF2-40B4-BE49-F238E27FC236}">
                <a16:creationId xmlns:a16="http://schemas.microsoft.com/office/drawing/2014/main" id="{2E0F9506-3CF6-5924-5E22-90F810E072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4DA2C414-9FFF-3F5B-1346-CA4C1CB98851}"/>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84944-4138-87AB-09C6-9F1544766F2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FC1DA077-431A-9318-AFC2-1CFF87F6B4DC}"/>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F6A1B6D-C866-A5BA-AA94-A4D7D0A8FE0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CA61559-69C7-88A7-E80A-B83E1B879312}"/>
              </a:ext>
            </a:extLst>
          </p:cNvPr>
          <p:cNvSpPr>
            <a:spLocks noGrp="1"/>
          </p:cNvSpPr>
          <p:nvPr>
            <p:ph type="dt" idx="10"/>
          </p:nvPr>
        </p:nvSpPr>
        <p:spPr/>
        <p:txBody>
          <a:bodyPr/>
          <a:lstStyle/>
          <a:p>
            <a:fld id="{73F170DA-D398-ED41-8FCC-0FC0D75F2FCE}" type="datetimeFigureOut">
              <a:t>16/08/2026</a:t>
            </a:fld>
            <a:endParaRPr/>
          </a:p>
        </p:txBody>
      </p:sp>
      <p:sp>
        <p:nvSpPr>
          <p:cNvPr id="6" name="Footer Placeholder 5">
            <a:extLst>
              <a:ext uri="{FF2B5EF4-FFF2-40B4-BE49-F238E27FC236}">
                <a16:creationId xmlns:a16="http://schemas.microsoft.com/office/drawing/2014/main" id="{726C8E79-ACAB-0964-359E-F9AF7697775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3C5530A-C9A4-970A-4B95-BD02D79D0696}"/>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9DC3-9DBF-3EF0-06AF-0CB255B40A0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68A5586B-870B-5B14-B201-2D6BEA67C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66325C9C-91A4-AB83-261A-0FCB9D42A8F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470558F9-AA8F-B4F0-0129-1FD5E331A148}"/>
              </a:ext>
            </a:extLst>
          </p:cNvPr>
          <p:cNvSpPr>
            <a:spLocks noGrp="1"/>
          </p:cNvSpPr>
          <p:nvPr>
            <p:ph type="dt" idx="10"/>
          </p:nvPr>
        </p:nvSpPr>
        <p:spPr/>
        <p:txBody>
          <a:bodyPr/>
          <a:lstStyle/>
          <a:p>
            <a:fld id="{73F170DA-D398-ED41-8FCC-0FC0D75F2FCE}" type="datetimeFigureOut">
              <a:t>16/08/2026</a:t>
            </a:fld>
            <a:endParaRPr/>
          </a:p>
        </p:txBody>
      </p:sp>
      <p:sp>
        <p:nvSpPr>
          <p:cNvPr id="6" name="Footer Placeholder 5">
            <a:extLst>
              <a:ext uri="{FF2B5EF4-FFF2-40B4-BE49-F238E27FC236}">
                <a16:creationId xmlns:a16="http://schemas.microsoft.com/office/drawing/2014/main" id="{4EA3CAB9-E9DB-F6F4-18E2-E901B0A427E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E1ACDA7-14C9-73EC-2A37-75602729684C}"/>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6677-C897-64CD-2768-E300AD73E09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9F19F92-0C3B-9724-85DD-873C70193BD2}"/>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6FC3ECB-5A92-E059-0FF7-E5415B04E25B}"/>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56AFBBE4-76BB-63AB-5069-55846BCAE52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DF6C21E-166D-CEB9-CE1E-5F0A2D187EA3}"/>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1F0C33-6906-B95A-B894-0A5F983B7031}"/>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F17E20D-8B1B-93C9-1995-EEF55D0A193E}"/>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A9FD963-F063-EF9D-BC3D-7025570E332E}"/>
              </a:ext>
            </a:extLst>
          </p:cNvPr>
          <p:cNvSpPr>
            <a:spLocks noGrp="1"/>
          </p:cNvSpPr>
          <p:nvPr>
            <p:ph type="dt" idx="10"/>
          </p:nvPr>
        </p:nvSpPr>
        <p:spPr/>
        <p:txBody>
          <a:body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17411A7D-357C-CB9C-ECD1-B1CF73C3A2B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E3F7BDF-B3E7-08CA-2E70-6934A355D65A}"/>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38D635-B1D7-9884-6A0F-492DAB7D699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9C94CBF-C91D-403B-73FF-095B626AFE3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99D54B5-6061-8122-BAEC-4F089394EC8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73F170DA-D398-ED41-8FCC-0FC0D75F2FCE}" type="datetimeFigureOut">
              <a:t>16/08/2026</a:t>
            </a:fld>
            <a:endParaRPr/>
          </a:p>
        </p:txBody>
      </p:sp>
      <p:sp>
        <p:nvSpPr>
          <p:cNvPr id="5" name="Footer Placeholder 4">
            <a:extLst>
              <a:ext uri="{FF2B5EF4-FFF2-40B4-BE49-F238E27FC236}">
                <a16:creationId xmlns:a16="http://schemas.microsoft.com/office/drawing/2014/main" id="{7168B43A-9708-B41B-517A-60387B50B3DC}"/>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9466C5EF-B3B2-4941-011C-608E6881C93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E89DB8DA-7D85-BB4C-8E66-FF321787BBA9}"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microsoft.com/office/2007/relationships/hdphoto" Target="../media/hdphoto6.wdp"/><Relationship Id="rId18" Type="http://schemas.microsoft.com/office/2007/relationships/hdphoto" Target="../media/hdphoto11.wdp"/><Relationship Id="rId3" Type="http://schemas.openxmlformats.org/officeDocument/2006/relationships/image" Target="../media/image1.png"/><Relationship Id="rId21" Type="http://schemas.openxmlformats.org/officeDocument/2006/relationships/image" Target="../media/image7.tiff"/><Relationship Id="rId7" Type="http://schemas.microsoft.com/office/2007/relationships/hdphoto" Target="../media/hdphoto1.wdp"/><Relationship Id="rId12" Type="http://schemas.microsoft.com/office/2007/relationships/hdphoto" Target="../media/hdphoto5.wdp"/><Relationship Id="rId17" Type="http://schemas.microsoft.com/office/2007/relationships/hdphoto" Target="../media/hdphoto10.wdp"/><Relationship Id="rId25" Type="http://schemas.openxmlformats.org/officeDocument/2006/relationships/image" Target="../media/image10.png"/><Relationship Id="rId2" Type="http://schemas.openxmlformats.org/officeDocument/2006/relationships/notesSlide" Target="../notesSlides/notesSlide4.xml"/><Relationship Id="rId16" Type="http://schemas.microsoft.com/office/2007/relationships/hdphoto" Target="../media/hdphoto9.wdp"/><Relationship Id="rId20"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4.png"/><Relationship Id="rId11" Type="http://schemas.microsoft.com/office/2007/relationships/hdphoto" Target="../media/hdphoto4.wdp"/><Relationship Id="rId24" Type="http://schemas.microsoft.com/office/2007/relationships/hdphoto" Target="../media/hdphoto13.wdp"/><Relationship Id="rId5" Type="http://schemas.openxmlformats.org/officeDocument/2006/relationships/image" Target="../media/image3.png"/><Relationship Id="rId15" Type="http://schemas.microsoft.com/office/2007/relationships/hdphoto" Target="../media/hdphoto8.wdp"/><Relationship Id="rId23" Type="http://schemas.openxmlformats.org/officeDocument/2006/relationships/image" Target="../media/image9.png"/><Relationship Id="rId10" Type="http://schemas.microsoft.com/office/2007/relationships/hdphoto" Target="../media/hdphoto3.wdp"/><Relationship Id="rId19" Type="http://schemas.microsoft.com/office/2007/relationships/hdphoto" Target="../media/hdphoto12.wdp"/><Relationship Id="rId4" Type="http://schemas.openxmlformats.org/officeDocument/2006/relationships/image" Target="../media/image2.png"/><Relationship Id="rId9" Type="http://schemas.microsoft.com/office/2007/relationships/hdphoto" Target="../media/hdphoto2.wdp"/><Relationship Id="rId14" Type="http://schemas.microsoft.com/office/2007/relationships/hdphoto" Target="../media/hdphoto7.wdp"/><Relationship Id="rId22"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4.png"/><Relationship Id="rId4" Type="http://schemas.openxmlformats.org/officeDocument/2006/relationships/image" Target="../media/image17.pn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microsoft.com/office/2007/relationships/hdphoto" Target="../media/hdphoto14.wdp"/><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3.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3" Type="http://schemas.openxmlformats.org/officeDocument/2006/relationships/hyperlink" Target="https://help.github.com/en/github/collaborating-with-issues-and-pull-requests/about-merge-conflict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help.github.com/en/github/collaborating-with-issues-and-pull-requests/resolving-a-merge-conflict-using-the-command-line"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0.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79.png"/><Relationship Id="rId7" Type="http://schemas.openxmlformats.org/officeDocument/2006/relationships/image" Target="../media/image83.jpeg"/><Relationship Id="rId12"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2.jpeg"/><Relationship Id="rId11" Type="http://schemas.openxmlformats.org/officeDocument/2006/relationships/image" Target="../media/image86.png"/><Relationship Id="rId5" Type="http://schemas.openxmlformats.org/officeDocument/2006/relationships/image" Target="../media/image81.jpeg"/><Relationship Id="rId10" Type="http://schemas.openxmlformats.org/officeDocument/2006/relationships/image" Target="../media/image85.png"/><Relationship Id="rId4" Type="http://schemas.openxmlformats.org/officeDocument/2006/relationships/image" Target="../media/image49.jpeg"/><Relationship Id="rId9" Type="http://schemas.openxmlformats.org/officeDocument/2006/relationships/image" Target="../media/image84.png"/></Relationships>
</file>

<file path=ppt/slides/_rels/slide3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s://github.com/hubtype/botonic/tree/master-lts/.github/ISSUE_TEMPLATE" TargetMode="Externa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3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docs.google.com/document/d/10qp_z0OMqyIvfSuUjU-3hKK0v3G5s9DhNuVhoASBjGk/ed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FECD-9BC1-4B17-D771-E97BEB303043}"/>
              </a:ext>
            </a:extLst>
          </p:cNvPr>
          <p:cNvSpPr>
            <a:spLocks noGrp="1"/>
          </p:cNvSpPr>
          <p:nvPr>
            <p:ph type="ctrTitle"/>
          </p:nvPr>
        </p:nvSpPr>
        <p:spPr/>
        <p:txBody>
          <a:bodyPr/>
          <a:lstStyle/>
          <a:p>
            <a:r>
              <a:t>Git and GitHub</a:t>
            </a:r>
          </a:p>
        </p:txBody>
      </p:sp>
      <p:sp>
        <p:nvSpPr>
          <p:cNvPr id="3" name="Subtitle 2">
            <a:extLst>
              <a:ext uri="{FF2B5EF4-FFF2-40B4-BE49-F238E27FC236}">
                <a16:creationId xmlns:a16="http://schemas.microsoft.com/office/drawing/2014/main" id="{CD89727E-EBF3-3225-8C87-5274A75C350A}"/>
              </a:ext>
            </a:extLst>
          </p:cNvPr>
          <p:cNvSpPr>
            <a:spLocks noGrp="1"/>
          </p:cNvSpPr>
          <p:nvPr>
            <p:ph type="subTitle" idx="1"/>
          </p:nvPr>
        </p:nvSpPr>
        <p:spPr/>
        <p:txBody>
          <a:bodyPr/>
          <a:lstStyle/>
          <a:p>
            <a:pPr algn="l">
              <a:buNone/>
            </a:pPr>
            <a:r>
              <a:t>Dr. John Businge</a:t>
            </a:r>
          </a:p>
          <a:p>
            <a:pPr algn="l">
              <a:buNone/>
            </a:pPr>
            <a:r>
              <a:t>john.businge@unlv.edu</a:t>
            </a:r>
          </a:p>
        </p:txBody>
      </p:sp>
    </p:spTree>
    <p:extLst>
      <p:ext uri="{BB962C8B-B14F-4D97-AF65-F5344CB8AC3E}">
        <p14:creationId xmlns:p14="http://schemas.microsoft.com/office/powerpoint/2010/main" val="2140911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Learning Objectives</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fontScale="98353"/>
          </a:bodyPr>
          <a:lstStyle/>
          <a:p>
            <a:pPr marL="0" indent="0">
              <a:buNone/>
            </a:pPr>
            <a:r>
              <a:rPr dirty="0"/>
              <a:t>By the end of this lecture, you should be able to:</a:t>
            </a:r>
          </a:p>
          <a:p>
            <a:r>
              <a:rPr dirty="0"/>
              <a:t>Explain why teams use version control.</a:t>
            </a:r>
          </a:p>
          <a:p>
            <a:r>
              <a:rPr dirty="0"/>
              <a:t>Describe the Git workflow from local changes to a remote branch.</a:t>
            </a:r>
          </a:p>
          <a:p>
            <a:r>
              <a:rPr dirty="0"/>
              <a:t>Explain how branches support parallel development.</a:t>
            </a:r>
          </a:p>
          <a:p>
            <a:r>
              <a:rPr dirty="0"/>
              <a:t>Describe how issues, pull requests, and reviews coordinate team contributions.</a:t>
            </a:r>
          </a:p>
          <a:p>
            <a:r>
              <a:rPr dirty="0"/>
              <a:t>Explain how teams protect main and control the integration of changes.</a:t>
            </a:r>
          </a:p>
          <a:p>
            <a:r>
              <a:rPr dirty="0"/>
              <a:t>Apply this workflow in the Git and GitHub lab.</a:t>
            </a:r>
          </a:p>
        </p:txBody>
      </p:sp>
    </p:spTree>
    <p:extLst>
      <p:ext uri="{BB962C8B-B14F-4D97-AF65-F5344CB8AC3E}">
        <p14:creationId xmlns:p14="http://schemas.microsoft.com/office/powerpoint/2010/main" val="990315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Why Git and GitHub Matter to a Team</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t>Git records how a project changes over time.</a:t>
            </a:r>
          </a:p>
          <a:p>
            <a:r>
              <a:t>Developers can work in parallel without placing unfinished work on main.</a:t>
            </a:r>
          </a:p>
          <a:p>
            <a:r>
              <a:t>Branches isolate work; pull requests make proposed changes visible.</a:t>
            </a:r>
          </a:p>
          <a:p>
            <a:r>
              <a:t>Issues, reviews, and commit history create a shared record of responsibilities and decisions.</a:t>
            </a:r>
          </a:p>
        </p:txBody>
      </p:sp>
    </p:spTree>
    <p:extLst>
      <p:ext uri="{BB962C8B-B14F-4D97-AF65-F5344CB8AC3E}">
        <p14:creationId xmlns:p14="http://schemas.microsoft.com/office/powerpoint/2010/main" val="99031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4BEF34B8-0848-95E3-DC02-D56A60AAD0E8}"/>
              </a:ext>
            </a:extLst>
          </p:cNvPr>
          <p:cNvGrpSpPr/>
          <p:nvPr/>
        </p:nvGrpSpPr>
        <p:grpSpPr>
          <a:xfrm>
            <a:off x="6917533" y="1135134"/>
            <a:ext cx="4814888" cy="3344834"/>
            <a:chOff x="6917533" y="1135134"/>
            <a:chExt cx="4814888" cy="3344834"/>
          </a:xfrm>
        </p:grpSpPr>
        <p:grpSp>
          <p:nvGrpSpPr>
            <p:cNvPr id="17" name="Group 16">
              <a:extLst>
                <a:ext uri="{FF2B5EF4-FFF2-40B4-BE49-F238E27FC236}">
                  <a16:creationId xmlns:a16="http://schemas.microsoft.com/office/drawing/2014/main" id="{2B00AD8F-6155-1633-DF1F-E9AE4A166C61}"/>
                </a:ext>
              </a:extLst>
            </p:cNvPr>
            <p:cNvGrpSpPr/>
            <p:nvPr/>
          </p:nvGrpSpPr>
          <p:grpSpPr>
            <a:xfrm>
              <a:off x="6917533" y="1320371"/>
              <a:ext cx="4814888" cy="3159597"/>
              <a:chOff x="485775" y="1188510"/>
              <a:chExt cx="4814888" cy="3159597"/>
            </a:xfrm>
          </p:grpSpPr>
          <p:pic>
            <p:nvPicPr>
              <p:cNvPr id="18" name="Content Placeholder 4" descr="Diagram&#10;&#10;Description automatically generated">
                <a:extLst>
                  <a:ext uri="{FF2B5EF4-FFF2-40B4-BE49-F238E27FC236}">
                    <a16:creationId xmlns:a16="http://schemas.microsoft.com/office/drawing/2014/main" id="{74831536-B708-0680-0889-85E5D0536C94}"/>
                  </a:ext>
                </a:extLst>
              </p:cNvPr>
              <p:cNvPicPr>
                <a:picLocks noChangeAspect="1"/>
              </p:cNvPicPr>
              <p:nvPr/>
            </p:nvPicPr>
            <p:blipFill rotWithShape="1">
              <a:blip r:embed="rId3"/>
              <a:srcRect t="43789"/>
              <a:stretch/>
            </p:blipFill>
            <p:spPr>
              <a:xfrm>
                <a:off x="485775" y="2713019"/>
                <a:ext cx="4814888" cy="1635088"/>
              </a:xfrm>
              <a:prstGeom prst="rect">
                <a:avLst/>
              </a:prstGeom>
            </p:spPr>
          </p:pic>
          <p:pic>
            <p:nvPicPr>
              <p:cNvPr id="19" name="Picture 2" descr="software development Icon - Free PNG &amp; SVG 581062 - Noun Project">
                <a:extLst>
                  <a:ext uri="{FF2B5EF4-FFF2-40B4-BE49-F238E27FC236}">
                    <a16:creationId xmlns:a16="http://schemas.microsoft.com/office/drawing/2014/main" id="{541E07B8-EE5A-2C80-EB1B-341CC12703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521" y="1188510"/>
                <a:ext cx="1278732" cy="127873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5DE5A465-D3A0-FC12-DBEF-97CD049795FF}"/>
                  </a:ext>
                </a:extLst>
              </p:cNvPr>
              <p:cNvCxnSpPr>
                <a:cxnSpLocks/>
              </p:cNvCxnSpPr>
              <p:nvPr/>
            </p:nvCxnSpPr>
            <p:spPr>
              <a:xfrm>
                <a:off x="2867023" y="2259864"/>
                <a:ext cx="0" cy="95482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4FFD5DE6-A7B5-170F-1A22-8316F31D008B}"/>
                </a:ext>
              </a:extLst>
            </p:cNvPr>
            <p:cNvSpPr txBox="1"/>
            <p:nvPr/>
          </p:nvSpPr>
          <p:spPr>
            <a:xfrm>
              <a:off x="8977188" y="1135134"/>
              <a:ext cx="548832" cy="400110"/>
            </a:xfrm>
            <a:prstGeom prst="rect">
              <a:avLst/>
            </a:prstGeom>
            <a:noFill/>
          </p:spPr>
          <p:txBody>
            <a:bodyPr wrap="square" rtlCol="0">
              <a:spAutoFit/>
            </a:bodyPr>
            <a:lstStyle/>
            <a:p>
              <a:r>
                <a:rPr lang="en-BE" sz="2000" b="1" dirty="0"/>
                <a:t>V2</a:t>
              </a:r>
            </a:p>
          </p:txBody>
        </p:sp>
      </p:grpSp>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r>
              <a:rPr lang="en-GB" b="0" i="0" dirty="0">
                <a:solidFill>
                  <a:srgbClr val="1F1F1F"/>
                </a:solidFill>
                <a:effectLst/>
                <a:latin typeface="Source Sans Pro" panose="020B0503030403020204" pitchFamily="34" charset="0"/>
              </a:rPr>
              <a:t>Git &amp; GitHub - version Control</a:t>
            </a:r>
            <a:endParaRPr lang="en-BE" dirty="0"/>
          </a:p>
        </p:txBody>
      </p:sp>
      <p:pic>
        <p:nvPicPr>
          <p:cNvPr id="15" name="Google Shape;125;p4" descr="Content management, features, order management, software application,  survey icon - Download on Iconfinder">
            <a:extLst>
              <a:ext uri="{FF2B5EF4-FFF2-40B4-BE49-F238E27FC236}">
                <a16:creationId xmlns:a16="http://schemas.microsoft.com/office/drawing/2014/main" id="{C8309F9A-2BF4-F5CD-C909-79D2CD8396BD}"/>
              </a:ext>
            </a:extLst>
          </p:cNvPr>
          <p:cNvPicPr preferRelativeResize="0"/>
          <p:nvPr/>
        </p:nvPicPr>
        <p:blipFill rotWithShape="1">
          <a:blip r:embed="rId5">
            <a:alphaModFix/>
          </a:blip>
          <a:srcRect/>
          <a:stretch/>
        </p:blipFill>
        <p:spPr>
          <a:xfrm>
            <a:off x="9807225" y="1391202"/>
            <a:ext cx="548831" cy="548831"/>
          </a:xfrm>
          <a:prstGeom prst="rect">
            <a:avLst/>
          </a:prstGeom>
          <a:noFill/>
          <a:ln>
            <a:noFill/>
          </a:ln>
        </p:spPr>
      </p:pic>
      <p:pic>
        <p:nvPicPr>
          <p:cNvPr id="21" name="Google Shape;125;p4" descr="Content management, features, order management, software application,  survey icon - Download on Iconfinder">
            <a:extLst>
              <a:ext uri="{FF2B5EF4-FFF2-40B4-BE49-F238E27FC236}">
                <a16:creationId xmlns:a16="http://schemas.microsoft.com/office/drawing/2014/main" id="{E18FD26F-8837-1CFB-46DC-C19CE10F553A}"/>
              </a:ext>
            </a:extLst>
          </p:cNvPr>
          <p:cNvPicPr preferRelativeResize="0"/>
          <p:nvPr/>
        </p:nvPicPr>
        <p:blipFill rotWithShape="1">
          <a:blip r:embed="rId5">
            <a:alphaModFix/>
          </a:blip>
          <a:srcRect/>
          <a:stretch/>
        </p:blipFill>
        <p:spPr>
          <a:xfrm>
            <a:off x="7305101" y="2629880"/>
            <a:ext cx="376810" cy="355673"/>
          </a:xfrm>
          <a:prstGeom prst="rect">
            <a:avLst/>
          </a:prstGeom>
          <a:noFill/>
          <a:ln>
            <a:noFill/>
          </a:ln>
        </p:spPr>
      </p:pic>
      <p:pic>
        <p:nvPicPr>
          <p:cNvPr id="22" name="Google Shape;125;p4" descr="Content management, features, order management, software application,  survey icon - Download on Iconfinder">
            <a:extLst>
              <a:ext uri="{FF2B5EF4-FFF2-40B4-BE49-F238E27FC236}">
                <a16:creationId xmlns:a16="http://schemas.microsoft.com/office/drawing/2014/main" id="{2B5EA89A-0520-782E-B437-EAD4FE27237F}"/>
              </a:ext>
            </a:extLst>
          </p:cNvPr>
          <p:cNvPicPr preferRelativeResize="0"/>
          <p:nvPr/>
        </p:nvPicPr>
        <p:blipFill rotWithShape="1">
          <a:blip r:embed="rId5">
            <a:alphaModFix/>
          </a:blip>
          <a:srcRect/>
          <a:stretch/>
        </p:blipFill>
        <p:spPr>
          <a:xfrm>
            <a:off x="8241506" y="2753584"/>
            <a:ext cx="376810" cy="355673"/>
          </a:xfrm>
          <a:prstGeom prst="rect">
            <a:avLst/>
          </a:prstGeom>
          <a:noFill/>
          <a:ln>
            <a:noFill/>
          </a:ln>
        </p:spPr>
      </p:pic>
      <p:pic>
        <p:nvPicPr>
          <p:cNvPr id="23" name="Google Shape;125;p4" descr="Content management, features, order management, software application,  survey icon - Download on Iconfinder">
            <a:extLst>
              <a:ext uri="{FF2B5EF4-FFF2-40B4-BE49-F238E27FC236}">
                <a16:creationId xmlns:a16="http://schemas.microsoft.com/office/drawing/2014/main" id="{5E50C63E-D11B-DE96-DA72-B0059A6A9B95}"/>
              </a:ext>
            </a:extLst>
          </p:cNvPr>
          <p:cNvPicPr preferRelativeResize="0"/>
          <p:nvPr/>
        </p:nvPicPr>
        <p:blipFill rotWithShape="1">
          <a:blip r:embed="rId5">
            <a:alphaModFix/>
          </a:blip>
          <a:srcRect/>
          <a:stretch/>
        </p:blipFill>
        <p:spPr>
          <a:xfrm>
            <a:off x="10046781" y="2664690"/>
            <a:ext cx="376810" cy="355673"/>
          </a:xfrm>
          <a:prstGeom prst="rect">
            <a:avLst/>
          </a:prstGeom>
          <a:noFill/>
          <a:ln>
            <a:noFill/>
          </a:ln>
        </p:spPr>
      </p:pic>
      <p:pic>
        <p:nvPicPr>
          <p:cNvPr id="24" name="Google Shape;125;p4" descr="Content management, features, order management, software application,  survey icon - Download on Iconfinder">
            <a:extLst>
              <a:ext uri="{FF2B5EF4-FFF2-40B4-BE49-F238E27FC236}">
                <a16:creationId xmlns:a16="http://schemas.microsoft.com/office/drawing/2014/main" id="{163F17DB-959E-7664-7935-799BEE6DFF99}"/>
              </a:ext>
            </a:extLst>
          </p:cNvPr>
          <p:cNvPicPr preferRelativeResize="0"/>
          <p:nvPr/>
        </p:nvPicPr>
        <p:blipFill rotWithShape="1">
          <a:blip r:embed="rId5">
            <a:alphaModFix/>
          </a:blip>
          <a:srcRect/>
          <a:stretch/>
        </p:blipFill>
        <p:spPr>
          <a:xfrm>
            <a:off x="10999281" y="2753584"/>
            <a:ext cx="376810" cy="355673"/>
          </a:xfrm>
          <a:prstGeom prst="rect">
            <a:avLst/>
          </a:prstGeom>
          <a:noFill/>
          <a:ln>
            <a:noFill/>
          </a:ln>
        </p:spPr>
      </p:pic>
      <p:pic>
        <p:nvPicPr>
          <p:cNvPr id="25" name="Google Shape;125;p4" descr="Content management, features, order management, software application,  survey icon - Download on Iconfinder">
            <a:extLst>
              <a:ext uri="{FF2B5EF4-FFF2-40B4-BE49-F238E27FC236}">
                <a16:creationId xmlns:a16="http://schemas.microsoft.com/office/drawing/2014/main" id="{CC2441BF-0347-3800-760C-4B80513B14C0}"/>
              </a:ext>
            </a:extLst>
          </p:cNvPr>
          <p:cNvPicPr preferRelativeResize="0"/>
          <p:nvPr/>
        </p:nvPicPr>
        <p:blipFill rotWithShape="1">
          <a:blip r:embed="rId5">
            <a:alphaModFix/>
          </a:blip>
          <a:srcRect/>
          <a:stretch/>
        </p:blipFill>
        <p:spPr>
          <a:xfrm>
            <a:off x="6940197" y="3728142"/>
            <a:ext cx="376810" cy="355673"/>
          </a:xfrm>
          <a:prstGeom prst="rect">
            <a:avLst/>
          </a:prstGeom>
          <a:noFill/>
          <a:ln>
            <a:noFill/>
          </a:ln>
        </p:spPr>
      </p:pic>
      <p:pic>
        <p:nvPicPr>
          <p:cNvPr id="26" name="Google Shape;125;p4" descr="Content management, features, order management, software application,  survey icon - Download on Iconfinder">
            <a:extLst>
              <a:ext uri="{FF2B5EF4-FFF2-40B4-BE49-F238E27FC236}">
                <a16:creationId xmlns:a16="http://schemas.microsoft.com/office/drawing/2014/main" id="{AF6A0DE7-268D-71CE-8A48-31D3C97039F4}"/>
              </a:ext>
            </a:extLst>
          </p:cNvPr>
          <p:cNvPicPr preferRelativeResize="0"/>
          <p:nvPr/>
        </p:nvPicPr>
        <p:blipFill rotWithShape="1">
          <a:blip r:embed="rId5">
            <a:alphaModFix/>
          </a:blip>
          <a:srcRect/>
          <a:stretch/>
        </p:blipFill>
        <p:spPr>
          <a:xfrm>
            <a:off x="7864696" y="3754444"/>
            <a:ext cx="376810" cy="355673"/>
          </a:xfrm>
          <a:prstGeom prst="rect">
            <a:avLst/>
          </a:prstGeom>
          <a:noFill/>
          <a:ln>
            <a:noFill/>
          </a:ln>
        </p:spPr>
      </p:pic>
      <p:pic>
        <p:nvPicPr>
          <p:cNvPr id="27" name="Google Shape;125;p4" descr="Content management, features, order management, software application,  survey icon - Download on Iconfinder">
            <a:extLst>
              <a:ext uri="{FF2B5EF4-FFF2-40B4-BE49-F238E27FC236}">
                <a16:creationId xmlns:a16="http://schemas.microsoft.com/office/drawing/2014/main" id="{2A076AE2-B0D4-11AB-7100-BE3D8F2FB378}"/>
              </a:ext>
            </a:extLst>
          </p:cNvPr>
          <p:cNvPicPr preferRelativeResize="0"/>
          <p:nvPr/>
        </p:nvPicPr>
        <p:blipFill rotWithShape="1">
          <a:blip r:embed="rId5">
            <a:alphaModFix/>
          </a:blip>
          <a:srcRect/>
          <a:stretch/>
        </p:blipFill>
        <p:spPr>
          <a:xfrm>
            <a:off x="9667589" y="3727012"/>
            <a:ext cx="376810" cy="355673"/>
          </a:xfrm>
          <a:prstGeom prst="rect">
            <a:avLst/>
          </a:prstGeom>
          <a:noFill/>
          <a:ln>
            <a:noFill/>
          </a:ln>
        </p:spPr>
      </p:pic>
      <p:pic>
        <p:nvPicPr>
          <p:cNvPr id="28" name="Google Shape;125;p4" descr="Content management, features, order management, software application,  survey icon - Download on Iconfinder">
            <a:extLst>
              <a:ext uri="{FF2B5EF4-FFF2-40B4-BE49-F238E27FC236}">
                <a16:creationId xmlns:a16="http://schemas.microsoft.com/office/drawing/2014/main" id="{7F0B5A23-DA44-1C1A-042B-23A156CFBDFD}"/>
              </a:ext>
            </a:extLst>
          </p:cNvPr>
          <p:cNvPicPr preferRelativeResize="0"/>
          <p:nvPr/>
        </p:nvPicPr>
        <p:blipFill rotWithShape="1">
          <a:blip r:embed="rId5">
            <a:alphaModFix/>
          </a:blip>
          <a:srcRect/>
          <a:stretch/>
        </p:blipFill>
        <p:spPr>
          <a:xfrm>
            <a:off x="10700291" y="3785050"/>
            <a:ext cx="376810" cy="355673"/>
          </a:xfrm>
          <a:prstGeom prst="rect">
            <a:avLst/>
          </a:prstGeom>
          <a:noFill/>
          <a:ln>
            <a:noFill/>
          </a:ln>
        </p:spPr>
      </p:pic>
      <p:grpSp>
        <p:nvGrpSpPr>
          <p:cNvPr id="45" name="Group 44">
            <a:extLst>
              <a:ext uri="{FF2B5EF4-FFF2-40B4-BE49-F238E27FC236}">
                <a16:creationId xmlns:a16="http://schemas.microsoft.com/office/drawing/2014/main" id="{4629C493-AC5F-C3AD-D1C8-AA16BF1D4ECF}"/>
              </a:ext>
            </a:extLst>
          </p:cNvPr>
          <p:cNvGrpSpPr/>
          <p:nvPr/>
        </p:nvGrpSpPr>
        <p:grpSpPr>
          <a:xfrm>
            <a:off x="6966148" y="3042101"/>
            <a:ext cx="4431016" cy="1454595"/>
            <a:chOff x="6966148" y="3042101"/>
            <a:chExt cx="4431016" cy="1454595"/>
          </a:xfrm>
        </p:grpSpPr>
        <p:pic>
          <p:nvPicPr>
            <p:cNvPr id="103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A3BBFC8-2BFC-C826-E4C9-AD9306CC6EE4}"/>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11067837" y="3188868"/>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EAF0DC8-A53A-DADA-8D5F-98042A095C4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6966148" y="3042101"/>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55E40567-8458-2342-0602-24F80C129A26}"/>
                </a:ext>
              </a:extLst>
            </p:cNvPr>
            <p:cNvPicPr>
              <a:picLocks noChangeAspect="1" noChangeArrowheads="1"/>
            </p:cNvPicPr>
            <p:nvPr/>
          </p:nvPicPr>
          <p:blipFill rotWithShape="1">
            <a:blip r:embed="rId8">
              <a:extLst>
                <a:ext uri="{BEBA8EAE-BF5A-486C-A8C5-ECC9F3942E4B}">
                  <a14:imgProps xmlns:a14="http://schemas.microsoft.com/office/drawing/2010/main">
                    <a14:imgLayer r:embed="rId10">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116287" y="3893592"/>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E22E47B-1C67-A893-63CA-A7821D9F3226}"/>
                </a:ext>
              </a:extLst>
            </p:cNvPr>
            <p:cNvPicPr>
              <a:picLocks noChangeAspect="1" noChangeArrowheads="1"/>
            </p:cNvPicPr>
            <p:nvPr/>
          </p:nvPicPr>
          <p:blipFill rotWithShape="1">
            <a:blip r:embed="rId8">
              <a:extLst>
                <a:ext uri="{BEBA8EAE-BF5A-486C-A8C5-ECC9F3942E4B}">
                  <a14:imgProps xmlns:a14="http://schemas.microsoft.com/office/drawing/2010/main">
                    <a14:imgLayer r:embed="rId11">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084638" y="3045132"/>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E9B42058-53BA-A2A0-E391-C91C87CCFC83}"/>
                </a:ext>
              </a:extLst>
            </p:cNvPr>
            <p:cNvPicPr>
              <a:picLocks noChangeAspect="1" noChangeArrowheads="1"/>
            </p:cNvPicPr>
            <p:nvPr/>
          </p:nvPicPr>
          <p:blipFill rotWithShape="1">
            <a:blip r:embed="rId8">
              <a:extLst>
                <a:ext uri="{BEBA8EAE-BF5A-486C-A8C5-ECC9F3942E4B}">
                  <a14:imgProps xmlns:a14="http://schemas.microsoft.com/office/drawing/2010/main">
                    <a14:imgLayer r:embed="rId12">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8279363" y="4163673"/>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50F1239-387A-41C1-3057-1029F335A33C}"/>
                </a:ext>
              </a:extLst>
            </p:cNvPr>
            <p:cNvPicPr>
              <a:picLocks noChangeAspect="1" noChangeArrowheads="1"/>
            </p:cNvPicPr>
            <p:nvPr/>
          </p:nvPicPr>
          <p:blipFill rotWithShape="1">
            <a:blip r:embed="rId6">
              <a:extLst>
                <a:ext uri="{BEBA8EAE-BF5A-486C-A8C5-ECC9F3942E4B}">
                  <a14:imgProps xmlns:a14="http://schemas.microsoft.com/office/drawing/2010/main">
                    <a14:imgLayer r:embed="rId13">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8221455" y="3181885"/>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54ED3C2B-FA89-AA9B-8AAE-F8C0296F771E}"/>
                </a:ext>
              </a:extLst>
            </p:cNvPr>
            <p:cNvPicPr>
              <a:picLocks noChangeAspect="1" noChangeArrowheads="1"/>
            </p:cNvPicPr>
            <p:nvPr/>
          </p:nvPicPr>
          <p:blipFill rotWithShape="1">
            <a:blip r:embed="rId6">
              <a:extLst>
                <a:ext uri="{BEBA8EAE-BF5A-486C-A8C5-ECC9F3942E4B}">
                  <a14:imgProps xmlns:a14="http://schemas.microsoft.com/office/drawing/2010/main">
                    <a14:imgLayer r:embed="rId14">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7290318" y="4099341"/>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030FC9EB-4EAC-597C-5967-341256E15C65}"/>
                </a:ext>
              </a:extLst>
            </p:cNvPr>
            <p:cNvPicPr>
              <a:picLocks noChangeAspect="1" noChangeArrowheads="1"/>
            </p:cNvPicPr>
            <p:nvPr/>
          </p:nvPicPr>
          <p:blipFill rotWithShape="1">
            <a:blip r:embed="rId6">
              <a:extLst>
                <a:ext uri="{BEBA8EAE-BF5A-486C-A8C5-ECC9F3942E4B}">
                  <a14:imgProps xmlns:a14="http://schemas.microsoft.com/office/drawing/2010/main">
                    <a14:imgLayer r:embed="rId13">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11024473" y="4167369"/>
              <a:ext cx="329327" cy="32932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7" name="Group 1026">
            <a:extLst>
              <a:ext uri="{FF2B5EF4-FFF2-40B4-BE49-F238E27FC236}">
                <a16:creationId xmlns:a16="http://schemas.microsoft.com/office/drawing/2014/main" id="{BCE7D078-26CA-A55C-9198-819B9AAD3BEE}"/>
              </a:ext>
            </a:extLst>
          </p:cNvPr>
          <p:cNvGrpSpPr/>
          <p:nvPr/>
        </p:nvGrpSpPr>
        <p:grpSpPr>
          <a:xfrm>
            <a:off x="483107" y="991886"/>
            <a:ext cx="6244302" cy="3341496"/>
            <a:chOff x="483107" y="991886"/>
            <a:chExt cx="6244302" cy="3341496"/>
          </a:xfrm>
        </p:grpSpPr>
        <p:sp>
          <p:nvSpPr>
            <p:cNvPr id="48" name="TextBox 47">
              <a:extLst>
                <a:ext uri="{FF2B5EF4-FFF2-40B4-BE49-F238E27FC236}">
                  <a16:creationId xmlns:a16="http://schemas.microsoft.com/office/drawing/2014/main" id="{806C384B-AA09-8F87-3DA2-0A53BAB9D4DF}"/>
                </a:ext>
              </a:extLst>
            </p:cNvPr>
            <p:cNvSpPr txBox="1"/>
            <p:nvPr/>
          </p:nvSpPr>
          <p:spPr>
            <a:xfrm>
              <a:off x="2589939" y="991886"/>
              <a:ext cx="548832" cy="400110"/>
            </a:xfrm>
            <a:prstGeom prst="rect">
              <a:avLst/>
            </a:prstGeom>
            <a:noFill/>
          </p:spPr>
          <p:txBody>
            <a:bodyPr wrap="square" rtlCol="0">
              <a:spAutoFit/>
            </a:bodyPr>
            <a:lstStyle/>
            <a:p>
              <a:r>
                <a:rPr lang="en-BE" sz="2000" b="1" dirty="0"/>
                <a:t>V1</a:t>
              </a:r>
            </a:p>
          </p:txBody>
        </p:sp>
        <p:grpSp>
          <p:nvGrpSpPr>
            <p:cNvPr id="1025" name="Group 1024">
              <a:extLst>
                <a:ext uri="{FF2B5EF4-FFF2-40B4-BE49-F238E27FC236}">
                  <a16:creationId xmlns:a16="http://schemas.microsoft.com/office/drawing/2014/main" id="{4A80FF62-5087-F80A-245D-69564E354E88}"/>
                </a:ext>
              </a:extLst>
            </p:cNvPr>
            <p:cNvGrpSpPr/>
            <p:nvPr/>
          </p:nvGrpSpPr>
          <p:grpSpPr>
            <a:xfrm>
              <a:off x="483107" y="1173785"/>
              <a:ext cx="6244302" cy="3159597"/>
              <a:chOff x="483107" y="1173785"/>
              <a:chExt cx="6244302" cy="3159597"/>
            </a:xfrm>
          </p:grpSpPr>
          <p:grpSp>
            <p:nvGrpSpPr>
              <p:cNvPr id="46" name="Group 45">
                <a:extLst>
                  <a:ext uri="{FF2B5EF4-FFF2-40B4-BE49-F238E27FC236}">
                    <a16:creationId xmlns:a16="http://schemas.microsoft.com/office/drawing/2014/main" id="{BB79124F-9FBB-A172-C08B-BEFF7ACC09EC}"/>
                  </a:ext>
                </a:extLst>
              </p:cNvPr>
              <p:cNvGrpSpPr/>
              <p:nvPr/>
            </p:nvGrpSpPr>
            <p:grpSpPr>
              <a:xfrm>
                <a:off x="483107" y="1173785"/>
                <a:ext cx="4814888" cy="3159597"/>
                <a:chOff x="485775" y="1188510"/>
                <a:chExt cx="4814888" cy="3159597"/>
              </a:xfrm>
            </p:grpSpPr>
            <p:grpSp>
              <p:nvGrpSpPr>
                <p:cNvPr id="16" name="Group 15">
                  <a:extLst>
                    <a:ext uri="{FF2B5EF4-FFF2-40B4-BE49-F238E27FC236}">
                      <a16:creationId xmlns:a16="http://schemas.microsoft.com/office/drawing/2014/main" id="{C1BD5A6B-5E14-D3D8-DDD0-DF41B7F215DF}"/>
                    </a:ext>
                  </a:extLst>
                </p:cNvPr>
                <p:cNvGrpSpPr/>
                <p:nvPr/>
              </p:nvGrpSpPr>
              <p:grpSpPr>
                <a:xfrm>
                  <a:off x="485775" y="1188510"/>
                  <a:ext cx="4814888" cy="3159597"/>
                  <a:chOff x="485775" y="1188510"/>
                  <a:chExt cx="4814888" cy="3159597"/>
                </a:xfrm>
              </p:grpSpPr>
              <p:pic>
                <p:nvPicPr>
                  <p:cNvPr id="6" name="Content Placeholder 4" descr="Diagram&#10;&#10;Description automatically generated">
                    <a:extLst>
                      <a:ext uri="{FF2B5EF4-FFF2-40B4-BE49-F238E27FC236}">
                        <a16:creationId xmlns:a16="http://schemas.microsoft.com/office/drawing/2014/main" id="{E28CB3E5-BCBF-95A8-BFCD-FA86D39C7B46}"/>
                      </a:ext>
                    </a:extLst>
                  </p:cNvPr>
                  <p:cNvPicPr>
                    <a:picLocks noChangeAspect="1"/>
                  </p:cNvPicPr>
                  <p:nvPr/>
                </p:nvPicPr>
                <p:blipFill rotWithShape="1">
                  <a:blip r:embed="rId3"/>
                  <a:srcRect t="43789"/>
                  <a:stretch/>
                </p:blipFill>
                <p:spPr>
                  <a:xfrm>
                    <a:off x="485775" y="2713019"/>
                    <a:ext cx="4814888" cy="1635088"/>
                  </a:xfrm>
                  <a:prstGeom prst="rect">
                    <a:avLst/>
                  </a:prstGeom>
                </p:spPr>
              </p:pic>
              <p:pic>
                <p:nvPicPr>
                  <p:cNvPr id="8" name="Picture 2" descr="software development Icon - Free PNG &amp; SVG 581062 - Noun Project">
                    <a:extLst>
                      <a:ext uri="{FF2B5EF4-FFF2-40B4-BE49-F238E27FC236}">
                        <a16:creationId xmlns:a16="http://schemas.microsoft.com/office/drawing/2014/main" id="{7F04A6EA-CB18-5C4F-45FF-DB4A26086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521" y="1188510"/>
                    <a:ext cx="1278732" cy="127873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C1EA07C4-ADD0-4FF1-F783-749B6A900742}"/>
                      </a:ext>
                    </a:extLst>
                  </p:cNvPr>
                  <p:cNvCxnSpPr>
                    <a:cxnSpLocks/>
                  </p:cNvCxnSpPr>
                  <p:nvPr/>
                </p:nvCxnSpPr>
                <p:spPr>
                  <a:xfrm>
                    <a:off x="2867023" y="2259864"/>
                    <a:ext cx="0" cy="95482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37"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6BCCB81-2375-F8FC-8267-76AF5DD0463F}"/>
                    </a:ext>
                  </a:extLst>
                </p:cNvPr>
                <p:cNvPicPr>
                  <a:picLocks noChangeAspect="1" noChangeArrowheads="1"/>
                </p:cNvPicPr>
                <p:nvPr/>
              </p:nvPicPr>
              <p:blipFill rotWithShape="1">
                <a:blip r:embed="rId8">
                  <a:extLst>
                    <a:ext uri="{BEBA8EAE-BF5A-486C-A8C5-ECC9F3942E4B}">
                      <a14:imgProps xmlns:a14="http://schemas.microsoft.com/office/drawing/2010/main">
                        <a14:imgLayer r:embed="rId15">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4624199" y="3836275"/>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383AEA21-06E6-910E-FF4D-170546B7630B}"/>
                    </a:ext>
                  </a:extLst>
                </p:cNvPr>
                <p:cNvPicPr>
                  <a:picLocks noChangeAspect="1" noChangeArrowheads="1"/>
                </p:cNvPicPr>
                <p:nvPr/>
              </p:nvPicPr>
              <p:blipFill rotWithShape="1">
                <a:blip r:embed="rId8">
                  <a:extLst>
                    <a:ext uri="{BEBA8EAE-BF5A-486C-A8C5-ECC9F3942E4B}">
                      <a14:imgProps xmlns:a14="http://schemas.microsoft.com/office/drawing/2010/main">
                        <a14:imgLayer r:embed="rId16">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3629354" y="3794893"/>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9CA4A0E-28BC-74E3-D691-BAB71AC367FC}"/>
                    </a:ext>
                  </a:extLst>
                </p:cNvPr>
                <p:cNvPicPr>
                  <a:picLocks noChangeAspect="1" noChangeArrowheads="1"/>
                </p:cNvPicPr>
                <p:nvPr/>
              </p:nvPicPr>
              <p:blipFill rotWithShape="1">
                <a:blip r:embed="rId8">
                  <a:extLst>
                    <a:ext uri="{BEBA8EAE-BF5A-486C-A8C5-ECC9F3942E4B}">
                      <a14:imgProps xmlns:a14="http://schemas.microsoft.com/office/drawing/2010/main">
                        <a14:imgLayer r:embed="rId17">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4584900" y="2877437"/>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077ECAF3-151A-F01A-DC36-B37AD773146A}"/>
                    </a:ext>
                  </a:extLst>
                </p:cNvPr>
                <p:cNvPicPr>
                  <a:picLocks noChangeAspect="1" noChangeArrowheads="1"/>
                </p:cNvPicPr>
                <p:nvPr/>
              </p:nvPicPr>
              <p:blipFill rotWithShape="1">
                <a:blip r:embed="rId8">
                  <a:extLst>
                    <a:ext uri="{BEBA8EAE-BF5A-486C-A8C5-ECC9F3942E4B}">
                      <a14:imgProps xmlns:a14="http://schemas.microsoft.com/office/drawing/2010/main">
                        <a14:imgLayer r:embed="rId13">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781053" y="3836275"/>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C4C6EC9B-3F28-7811-B59F-1ECB7104A1D3}"/>
                    </a:ext>
                  </a:extLst>
                </p:cNvPr>
                <p:cNvPicPr>
                  <a:picLocks noChangeAspect="1" noChangeArrowheads="1"/>
                </p:cNvPicPr>
                <p:nvPr/>
              </p:nvPicPr>
              <p:blipFill rotWithShape="1">
                <a:blip r:embed="rId8">
                  <a:extLst>
                    <a:ext uri="{BEBA8EAE-BF5A-486C-A8C5-ECC9F3942E4B}">
                      <a14:imgProps xmlns:a14="http://schemas.microsoft.com/office/drawing/2010/main">
                        <a14:imgLayer r:embed="rId18">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3610196" y="2804809"/>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C1B48F62-0994-5C7D-3FFC-824E80BE27D2}"/>
                    </a:ext>
                  </a:extLst>
                </p:cNvPr>
                <p:cNvPicPr>
                  <a:picLocks noChangeAspect="1" noChangeArrowheads="1"/>
                </p:cNvPicPr>
                <p:nvPr/>
              </p:nvPicPr>
              <p:blipFill rotWithShape="1">
                <a:blip r:embed="rId8">
                  <a:extLst>
                    <a:ext uri="{BEBA8EAE-BF5A-486C-A8C5-ECC9F3942E4B}">
                      <a14:imgProps xmlns:a14="http://schemas.microsoft.com/office/drawing/2010/main">
                        <a14:imgLayer r:embed="rId13">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790169" y="2910240"/>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32BC7D2F-8B8E-4DA3-8202-4EAB12C1B0D4}"/>
                    </a:ext>
                  </a:extLst>
                </p:cNvPr>
                <p:cNvPicPr>
                  <a:picLocks noChangeAspect="1" noChangeArrowheads="1"/>
                </p:cNvPicPr>
                <p:nvPr/>
              </p:nvPicPr>
              <p:blipFill rotWithShape="1">
                <a:blip r:embed="rId8">
                  <a:extLst>
                    <a:ext uri="{BEBA8EAE-BF5A-486C-A8C5-ECC9F3942E4B}">
                      <a14:imgProps xmlns:a14="http://schemas.microsoft.com/office/drawing/2010/main">
                        <a14:imgLayer r:embed="rId15">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778501" y="3746261"/>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1FADB600-69C5-802D-9470-23BABC23A2CB}"/>
                    </a:ext>
                  </a:extLst>
                </p:cNvPr>
                <p:cNvPicPr>
                  <a:picLocks noChangeAspect="1" noChangeArrowheads="1"/>
                </p:cNvPicPr>
                <p:nvPr/>
              </p:nvPicPr>
              <p:blipFill rotWithShape="1">
                <a:blip r:embed="rId8">
                  <a:extLst>
                    <a:ext uri="{BEBA8EAE-BF5A-486C-A8C5-ECC9F3942E4B}">
                      <a14:imgProps xmlns:a14="http://schemas.microsoft.com/office/drawing/2010/main">
                        <a14:imgLayer r:embed="rId1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827571" y="2779196"/>
                  <a:ext cx="338953" cy="304448"/>
                </a:xfrm>
                <a:prstGeom prst="rect">
                  <a:avLst/>
                </a:prstGeom>
                <a:noFill/>
                <a:extLst>
                  <a:ext uri="{909E8E84-426E-40DD-AFC4-6F175D3DCCD1}">
                    <a14:hiddenFill xmlns:a14="http://schemas.microsoft.com/office/drawing/2010/main">
                      <a:solidFill>
                        <a:srgbClr val="FFFFFF"/>
                      </a:solidFill>
                    </a14:hiddenFill>
                  </a:ext>
                </a:extLst>
              </p:spPr>
            </p:pic>
          </p:grpSp>
          <p:pic>
            <p:nvPicPr>
              <p:cNvPr id="1036" name="Picture 12" descr="Flashback Icons - Free SVG &amp; PNG Flashback Images - Noun Project">
                <a:extLst>
                  <a:ext uri="{FF2B5EF4-FFF2-40B4-BE49-F238E27FC236}">
                    <a16:creationId xmlns:a16="http://schemas.microsoft.com/office/drawing/2014/main" id="{C5E7F4A8-F15D-9FC3-E9DF-9A239EBF623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57409" y="2931420"/>
                <a:ext cx="1270000" cy="1270000"/>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60" name="Picture 59">
            <a:extLst>
              <a:ext uri="{FF2B5EF4-FFF2-40B4-BE49-F238E27FC236}">
                <a16:creationId xmlns:a16="http://schemas.microsoft.com/office/drawing/2014/main" id="{5CAE8E95-075C-B90B-64E0-D2D1AF2488EF}"/>
              </a:ext>
            </a:extLst>
          </p:cNvPr>
          <p:cNvPicPr>
            <a:picLocks noChangeAspect="1"/>
          </p:cNvPicPr>
          <p:nvPr/>
        </p:nvPicPr>
        <p:blipFill>
          <a:blip r:embed="rId21"/>
          <a:stretch>
            <a:fillRect/>
          </a:stretch>
        </p:blipFill>
        <p:spPr>
          <a:xfrm>
            <a:off x="10053457" y="1659390"/>
            <a:ext cx="417518" cy="393193"/>
          </a:xfrm>
          <a:prstGeom prst="rect">
            <a:avLst/>
          </a:prstGeom>
        </p:spPr>
      </p:pic>
      <p:grpSp>
        <p:nvGrpSpPr>
          <p:cNvPr id="1024" name="Group 1023">
            <a:extLst>
              <a:ext uri="{FF2B5EF4-FFF2-40B4-BE49-F238E27FC236}">
                <a16:creationId xmlns:a16="http://schemas.microsoft.com/office/drawing/2014/main" id="{7E701A53-B3DB-BA24-78FD-A256AD03F3E6}"/>
              </a:ext>
            </a:extLst>
          </p:cNvPr>
          <p:cNvGrpSpPr/>
          <p:nvPr/>
        </p:nvGrpSpPr>
        <p:grpSpPr>
          <a:xfrm>
            <a:off x="5504086" y="1035187"/>
            <a:ext cx="1384872" cy="1594693"/>
            <a:chOff x="5504086" y="1035187"/>
            <a:chExt cx="1384872" cy="1594693"/>
          </a:xfrm>
        </p:grpSpPr>
        <p:pic>
          <p:nvPicPr>
            <p:cNvPr id="1034" name="Picture 10" descr="Source-control Icons - Free SVG &amp; PNG Source-control Images - Noun Project">
              <a:extLst>
                <a:ext uri="{FF2B5EF4-FFF2-40B4-BE49-F238E27FC236}">
                  <a16:creationId xmlns:a16="http://schemas.microsoft.com/office/drawing/2014/main" id="{4FB0C5E3-3A7E-53BA-674C-98A145F04CF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04086" y="1245008"/>
              <a:ext cx="1384872" cy="1384872"/>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95D242EB-70DC-EB9A-3D2F-86390952F550}"/>
                </a:ext>
              </a:extLst>
            </p:cNvPr>
            <p:cNvSpPr txBox="1"/>
            <p:nvPr/>
          </p:nvSpPr>
          <p:spPr>
            <a:xfrm>
              <a:off x="5944365" y="1035187"/>
              <a:ext cx="682229" cy="461665"/>
            </a:xfrm>
            <a:prstGeom prst="rect">
              <a:avLst/>
            </a:prstGeom>
            <a:noFill/>
          </p:spPr>
          <p:txBody>
            <a:bodyPr wrap="square" rtlCol="0">
              <a:spAutoFit/>
            </a:bodyPr>
            <a:lstStyle/>
            <a:p>
              <a:r>
                <a:rPr lang="en-BE" sz="2400" b="1" dirty="0"/>
                <a:t>VCS</a:t>
              </a:r>
            </a:p>
          </p:txBody>
        </p:sp>
      </p:grpSp>
      <p:pic>
        <p:nvPicPr>
          <p:cNvPr id="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63D3C2A9-9F05-1BCD-20DC-3BBCD03919D8}"/>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9904492" y="1073579"/>
            <a:ext cx="338953" cy="30444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5DEDAB2F-7087-7547-8354-4B7443EB389F}"/>
              </a:ext>
            </a:extLst>
          </p:cNvPr>
          <p:cNvGrpSpPr/>
          <p:nvPr/>
        </p:nvGrpSpPr>
        <p:grpSpPr>
          <a:xfrm>
            <a:off x="5742778" y="4979752"/>
            <a:ext cx="1969262" cy="1603967"/>
            <a:chOff x="5608437" y="5095399"/>
            <a:chExt cx="1969262" cy="1603967"/>
          </a:xfrm>
        </p:grpSpPr>
        <p:pic>
          <p:nvPicPr>
            <p:cNvPr id="1026" name="Picture 2" descr="Software-development Icons - Free SVG &amp; PNG Software ...">
              <a:extLst>
                <a:ext uri="{FF2B5EF4-FFF2-40B4-BE49-F238E27FC236}">
                  <a16:creationId xmlns:a16="http://schemas.microsoft.com/office/drawing/2014/main" id="{1F78CA99-E8C8-A582-CDBD-6A485980FE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161" y="5095399"/>
              <a:ext cx="1213815" cy="12138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03FBD5-2932-7DAB-012B-66A13E23362E}"/>
                </a:ext>
              </a:extLst>
            </p:cNvPr>
            <p:cNvSpPr txBox="1"/>
            <p:nvPr/>
          </p:nvSpPr>
          <p:spPr>
            <a:xfrm>
              <a:off x="5608437" y="6053035"/>
              <a:ext cx="1969262" cy="646331"/>
            </a:xfrm>
            <a:prstGeom prst="rect">
              <a:avLst/>
            </a:prstGeom>
            <a:noFill/>
          </p:spPr>
          <p:txBody>
            <a:bodyPr wrap="square" rtlCol="0">
              <a:spAutoFit/>
            </a:bodyPr>
            <a:lstStyle/>
            <a:p>
              <a:pPr algn="ctr"/>
              <a:r>
                <a:rPr lang="en-BE" dirty="0"/>
                <a:t>Software project development</a:t>
              </a:r>
            </a:p>
          </p:txBody>
        </p:sp>
      </p:grpSp>
      <p:grpSp>
        <p:nvGrpSpPr>
          <p:cNvPr id="12" name="Group 11">
            <a:extLst>
              <a:ext uri="{FF2B5EF4-FFF2-40B4-BE49-F238E27FC236}">
                <a16:creationId xmlns:a16="http://schemas.microsoft.com/office/drawing/2014/main" id="{9539D66E-EDCC-C260-584B-8E8CD91C5AAB}"/>
              </a:ext>
            </a:extLst>
          </p:cNvPr>
          <p:cNvGrpSpPr/>
          <p:nvPr/>
        </p:nvGrpSpPr>
        <p:grpSpPr>
          <a:xfrm>
            <a:off x="7334317" y="4657568"/>
            <a:ext cx="3664964" cy="1631216"/>
            <a:chOff x="7334317" y="4657568"/>
            <a:chExt cx="3664964" cy="1631216"/>
          </a:xfrm>
        </p:grpSpPr>
        <p:sp>
          <p:nvSpPr>
            <p:cNvPr id="7" name="TextBox 6">
              <a:extLst>
                <a:ext uri="{FF2B5EF4-FFF2-40B4-BE49-F238E27FC236}">
                  <a16:creationId xmlns:a16="http://schemas.microsoft.com/office/drawing/2014/main" id="{2C4054C3-8676-D9E5-B5C3-2DC78D7BEEBD}"/>
                </a:ext>
              </a:extLst>
            </p:cNvPr>
            <p:cNvSpPr txBox="1"/>
            <p:nvPr/>
          </p:nvSpPr>
          <p:spPr>
            <a:xfrm>
              <a:off x="8327519" y="4657568"/>
              <a:ext cx="2671762" cy="1631216"/>
            </a:xfrm>
            <a:prstGeom prst="rect">
              <a:avLst/>
            </a:prstGeom>
            <a:noFill/>
            <a:ln w="38100">
              <a:solidFill>
                <a:srgbClr val="166623"/>
              </a:solidFill>
            </a:ln>
          </p:spPr>
          <p:txBody>
            <a:bodyPr wrap="square" rtlCol="0">
              <a:spAutoFit/>
            </a:bodyPr>
            <a:lstStyle/>
            <a:p>
              <a:pPr algn="ctr"/>
              <a:r>
                <a:rPr lang="en-BE" sz="2000" b="1" u="sng" dirty="0"/>
                <a:t>Project Files</a:t>
              </a:r>
            </a:p>
            <a:p>
              <a:pPr marL="342900" indent="-342900">
                <a:buFont typeface="Arial" panose="020B0604020202020204" pitchFamily="34" charset="0"/>
                <a:buChar char="•"/>
              </a:pPr>
              <a:r>
                <a:rPr lang="en-BE" sz="2000" dirty="0"/>
                <a:t>Code</a:t>
              </a:r>
            </a:p>
            <a:p>
              <a:pPr marL="342900" indent="-342900">
                <a:buFont typeface="Arial" panose="020B0604020202020204" pitchFamily="34" charset="0"/>
                <a:buChar char="•"/>
              </a:pPr>
              <a:r>
                <a:rPr lang="en-BE" sz="2000" dirty="0"/>
                <a:t>Tests</a:t>
              </a:r>
            </a:p>
            <a:p>
              <a:pPr marL="342900" indent="-342900">
                <a:buFont typeface="Arial" panose="020B0604020202020204" pitchFamily="34" charset="0"/>
                <a:buChar char="•"/>
              </a:pPr>
              <a:r>
                <a:rPr lang="en-BE" sz="2000" dirty="0"/>
                <a:t>Documentation</a:t>
              </a:r>
            </a:p>
            <a:p>
              <a:pPr marL="342900" indent="-342900">
                <a:buFont typeface="Arial" panose="020B0604020202020204" pitchFamily="34" charset="0"/>
                <a:buChar char="•"/>
              </a:pPr>
              <a:r>
                <a:rPr lang="en-BE" sz="2000" dirty="0"/>
                <a:t>Configuration</a:t>
              </a:r>
            </a:p>
          </p:txBody>
        </p:sp>
        <p:sp>
          <p:nvSpPr>
            <p:cNvPr id="9" name="Right Arrow 8">
              <a:extLst>
                <a:ext uri="{FF2B5EF4-FFF2-40B4-BE49-F238E27FC236}">
                  <a16:creationId xmlns:a16="http://schemas.microsoft.com/office/drawing/2014/main" id="{3DBA8C48-355F-BF1F-B580-8E05A8A8F06C}"/>
                </a:ext>
              </a:extLst>
            </p:cNvPr>
            <p:cNvSpPr/>
            <p:nvPr/>
          </p:nvSpPr>
          <p:spPr>
            <a:xfrm>
              <a:off x="7334317" y="5322860"/>
              <a:ext cx="786525" cy="46469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1" name="TextBox 10">
            <a:extLst>
              <a:ext uri="{FF2B5EF4-FFF2-40B4-BE49-F238E27FC236}">
                <a16:creationId xmlns:a16="http://schemas.microsoft.com/office/drawing/2014/main" id="{43495FF8-7E0B-15F5-88DD-948D8264167D}"/>
              </a:ext>
            </a:extLst>
          </p:cNvPr>
          <p:cNvSpPr txBox="1"/>
          <p:nvPr/>
        </p:nvSpPr>
        <p:spPr>
          <a:xfrm>
            <a:off x="5517967" y="3929972"/>
            <a:ext cx="1223323" cy="400110"/>
          </a:xfrm>
          <a:prstGeom prst="rect">
            <a:avLst/>
          </a:prstGeom>
          <a:noFill/>
        </p:spPr>
        <p:txBody>
          <a:bodyPr wrap="square" rtlCol="0">
            <a:spAutoFit/>
          </a:bodyPr>
          <a:lstStyle/>
          <a:p>
            <a:r>
              <a:rPr lang="en-BE" sz="2000" dirty="0"/>
              <a:t>rollback</a:t>
            </a:r>
          </a:p>
        </p:txBody>
      </p:sp>
      <p:pic>
        <p:nvPicPr>
          <p:cNvPr id="13" name="Picture 12">
            <a:extLst>
              <a:ext uri="{FF2B5EF4-FFF2-40B4-BE49-F238E27FC236}">
                <a16:creationId xmlns:a16="http://schemas.microsoft.com/office/drawing/2014/main" id="{D273604B-776A-F0D5-7F4C-C58334F04CF5}"/>
              </a:ext>
            </a:extLst>
          </p:cNvPr>
          <p:cNvPicPr>
            <a:picLocks noChangeAspect="1"/>
          </p:cNvPicPr>
          <p:nvPr/>
        </p:nvPicPr>
        <p:blipFill rotWithShape="1">
          <a:blip r:embed="rId23">
            <a:extLst>
              <a:ext uri="{BEBA8EAE-BF5A-486C-A8C5-ECC9F3942E4B}">
                <a14:imgProps xmlns:a14="http://schemas.microsoft.com/office/drawing/2010/main">
                  <a14:imgLayer r:embed="rId24">
                    <a14:imgEffect>
                      <a14:backgroundRemoval t="10000" b="90000" l="10000" r="90000"/>
                    </a14:imgEffect>
                  </a14:imgLayer>
                </a14:imgProps>
              </a:ext>
            </a:extLst>
          </a:blip>
          <a:srcRect l="5953" t="10534" r="2533" b="6922"/>
          <a:stretch/>
        </p:blipFill>
        <p:spPr>
          <a:xfrm>
            <a:off x="10063744" y="1469323"/>
            <a:ext cx="455230" cy="403306"/>
          </a:xfrm>
          <a:prstGeom prst="rect">
            <a:avLst/>
          </a:prstGeom>
        </p:spPr>
      </p:pic>
      <p:pic>
        <p:nvPicPr>
          <p:cNvPr id="1040" name="Picture 16" descr="Git Logo PNG Transparent &amp; SVG Vector - Freebie Supply">
            <a:extLst>
              <a:ext uri="{FF2B5EF4-FFF2-40B4-BE49-F238E27FC236}">
                <a16:creationId xmlns:a16="http://schemas.microsoft.com/office/drawing/2014/main" id="{D262EA68-EF86-9534-6DB8-16090243D2AA}"/>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10505" t="26224" r="10619" b="25997"/>
          <a:stretch/>
        </p:blipFill>
        <p:spPr bwMode="auto">
          <a:xfrm>
            <a:off x="2046892" y="4989256"/>
            <a:ext cx="2671762" cy="121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63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dissolve">
                                      <p:cBhvr>
                                        <p:cTn id="15" dur="500"/>
                                        <p:tgtEl>
                                          <p:spTgt spid="6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dissolv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par>
                                <p:cTn id="31" presetID="9"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dissolve">
                                      <p:cBhvr>
                                        <p:cTn id="33" dur="500"/>
                                        <p:tgtEl>
                                          <p:spTgt spid="22"/>
                                        </p:tgtEl>
                                      </p:cBhvr>
                                    </p:animEffect>
                                  </p:childTnLst>
                                </p:cTn>
                              </p:par>
                              <p:par>
                                <p:cTn id="34" presetID="9"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dissolve">
                                      <p:cBhvr>
                                        <p:cTn id="36" dur="500"/>
                                        <p:tgtEl>
                                          <p:spTgt spid="25"/>
                                        </p:tgtEl>
                                      </p:cBhvr>
                                    </p:animEffect>
                                  </p:childTnLst>
                                </p:cTn>
                              </p:par>
                              <p:par>
                                <p:cTn id="37" presetID="9"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dissolve">
                                      <p:cBhvr>
                                        <p:cTn id="39" dur="500"/>
                                        <p:tgtEl>
                                          <p:spTgt spid="26"/>
                                        </p:tgtEl>
                                      </p:cBhvr>
                                    </p:animEffect>
                                  </p:childTnLst>
                                </p:cTn>
                              </p:par>
                              <p:par>
                                <p:cTn id="40" presetID="9"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par>
                                <p:cTn id="43" presetID="9"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par>
                                <p:cTn id="46" presetID="9"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dissolve">
                                      <p:cBhvr>
                                        <p:cTn id="48" dur="500"/>
                                        <p:tgtEl>
                                          <p:spTgt spid="24"/>
                                        </p:tgtEl>
                                      </p:cBhvr>
                                    </p:animEffect>
                                  </p:childTnLst>
                                </p:cTn>
                              </p:par>
                              <p:par>
                                <p:cTn id="49" presetID="9"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dissolve">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dissolve">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dissolve">
                                      <p:cBhvr>
                                        <p:cTn id="61" dur="500"/>
                                        <p:tgtEl>
                                          <p:spTgt spid="6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dissolve">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1024"/>
                                        </p:tgtEl>
                                        <p:attrNameLst>
                                          <p:attrName>style.visibility</p:attrName>
                                        </p:attrNameLst>
                                      </p:cBhvr>
                                      <p:to>
                                        <p:strVal val="visible"/>
                                      </p:to>
                                    </p:set>
                                    <p:animEffect transition="in" filter="dissolve">
                                      <p:cBhvr>
                                        <p:cTn id="71" dur="500"/>
                                        <p:tgtEl>
                                          <p:spTgt spid="102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027"/>
                                        </p:tgtEl>
                                        <p:attrNameLst>
                                          <p:attrName>style.visibility</p:attrName>
                                        </p:attrNameLst>
                                      </p:cBhvr>
                                      <p:to>
                                        <p:strVal val="visible"/>
                                      </p:to>
                                    </p:set>
                                    <p:animEffect transition="in" filter="dissolve">
                                      <p:cBhvr>
                                        <p:cTn id="76" dur="500"/>
                                        <p:tgtEl>
                                          <p:spTgt spid="1027"/>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dissolve">
                                      <p:cBhvr>
                                        <p:cTn id="7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185316"/>
            <a:ext cx="10515600" cy="708301"/>
          </a:xfrm>
        </p:spPr>
        <p:txBody>
          <a:bodyPr/>
          <a:lstStyle/>
          <a:p>
            <a:pPr algn="l"/>
            <a:r>
              <a:rPr lang="en-GB" b="0" i="0" dirty="0">
                <a:solidFill>
                  <a:srgbClr val="1F1F1F"/>
                </a:solidFill>
                <a:effectLst/>
                <a:latin typeface="Source Sans Pro" panose="020B0503030403020204" pitchFamily="34" charset="0"/>
              </a:rPr>
              <a:t>Working with Git</a:t>
            </a:r>
          </a:p>
        </p:txBody>
      </p:sp>
      <p:sp>
        <p:nvSpPr>
          <p:cNvPr id="4" name="TextBox 3">
            <a:extLst>
              <a:ext uri="{FF2B5EF4-FFF2-40B4-BE49-F238E27FC236}">
                <a16:creationId xmlns:a16="http://schemas.microsoft.com/office/drawing/2014/main" id="{8EA29CC4-94C2-C56A-1203-362AF232AAA2}"/>
              </a:ext>
            </a:extLst>
          </p:cNvPr>
          <p:cNvSpPr txBox="1"/>
          <p:nvPr/>
        </p:nvSpPr>
        <p:spPr>
          <a:xfrm>
            <a:off x="270696" y="1032512"/>
            <a:ext cx="8026858" cy="1323439"/>
          </a:xfrm>
          <a:prstGeom prst="rect">
            <a:avLst/>
          </a:prstGeom>
          <a:noFill/>
        </p:spPr>
        <p:txBody>
          <a:bodyPr wrap="square" rtlCol="0">
            <a:spAutoFit/>
          </a:bodyPr>
          <a:lstStyle/>
          <a:p>
            <a:r>
              <a:rPr lang="en-GB" sz="2400" dirty="0"/>
              <a:t>There are two ways to start working with a git repository:</a:t>
            </a:r>
            <a:endParaRPr lang="en-BE" sz="2400" dirty="0"/>
          </a:p>
          <a:p>
            <a:pPr marL="457200" indent="-457200">
              <a:buFont typeface="Arial" panose="020B0604020202020204" pitchFamily="34" charset="0"/>
              <a:buChar char="•"/>
            </a:pPr>
            <a:r>
              <a:rPr lang="en-BE" sz="2400" dirty="0"/>
              <a:t>git init </a:t>
            </a:r>
            <a:r>
              <a:rPr lang="en-BE" sz="2800" dirty="0"/>
              <a:t>- </a:t>
            </a:r>
            <a:r>
              <a:rPr lang="en-GB" sz="1800" dirty="0"/>
              <a:t>creating a repository from scratch</a:t>
            </a:r>
            <a:r>
              <a:rPr lang="en-BE" sz="2800" dirty="0"/>
              <a:t> </a:t>
            </a:r>
          </a:p>
          <a:p>
            <a:pPr marL="457200" indent="-457200">
              <a:buFont typeface="Arial" panose="020B0604020202020204" pitchFamily="34" charset="0"/>
              <a:buChar char="•"/>
            </a:pPr>
            <a:r>
              <a:rPr lang="en-GB" sz="2400" dirty="0"/>
              <a:t>g</a:t>
            </a:r>
            <a:r>
              <a:rPr lang="en-BE" sz="2400" dirty="0"/>
              <a:t>it clone </a:t>
            </a:r>
            <a:r>
              <a:rPr lang="en-BE" sz="2800" dirty="0"/>
              <a:t>- </a:t>
            </a:r>
            <a:r>
              <a:rPr lang="en-GB" sz="1800" dirty="0"/>
              <a:t>a repository already exists somewhere else on a remote site</a:t>
            </a:r>
            <a:endParaRPr lang="en-BE" sz="2800" dirty="0"/>
          </a:p>
        </p:txBody>
      </p:sp>
      <p:pic>
        <p:nvPicPr>
          <p:cNvPr id="7" name="Picture 6" descr="Text&#10;&#10;Description automatically generated">
            <a:extLst>
              <a:ext uri="{FF2B5EF4-FFF2-40B4-BE49-F238E27FC236}">
                <a16:creationId xmlns:a16="http://schemas.microsoft.com/office/drawing/2014/main" id="{E6B96B3A-B0B0-A790-112E-C56BE28E1FF6}"/>
              </a:ext>
            </a:extLst>
          </p:cNvPr>
          <p:cNvPicPr>
            <a:picLocks noChangeAspect="1"/>
          </p:cNvPicPr>
          <p:nvPr/>
        </p:nvPicPr>
        <p:blipFill>
          <a:blip r:embed="rId3"/>
          <a:stretch>
            <a:fillRect/>
          </a:stretch>
        </p:blipFill>
        <p:spPr>
          <a:xfrm>
            <a:off x="2526302" y="2365749"/>
            <a:ext cx="5715000" cy="4203700"/>
          </a:xfrm>
          <a:prstGeom prst="rect">
            <a:avLst/>
          </a:prstGeom>
        </p:spPr>
      </p:pic>
      <p:sp>
        <p:nvSpPr>
          <p:cNvPr id="8" name="Rounded Rectangle 7">
            <a:extLst>
              <a:ext uri="{FF2B5EF4-FFF2-40B4-BE49-F238E27FC236}">
                <a16:creationId xmlns:a16="http://schemas.microsoft.com/office/drawing/2014/main" id="{390381F2-90B7-9917-0499-F602001283B4}"/>
              </a:ext>
            </a:extLst>
          </p:cNvPr>
          <p:cNvSpPr/>
          <p:nvPr/>
        </p:nvSpPr>
        <p:spPr>
          <a:xfrm>
            <a:off x="660425" y="1525099"/>
            <a:ext cx="1144930" cy="368140"/>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39" name="Group 38">
            <a:extLst>
              <a:ext uri="{FF2B5EF4-FFF2-40B4-BE49-F238E27FC236}">
                <a16:creationId xmlns:a16="http://schemas.microsoft.com/office/drawing/2014/main" id="{B2353493-91EB-408B-3E6F-22C36B6A88A8}"/>
              </a:ext>
            </a:extLst>
          </p:cNvPr>
          <p:cNvGrpSpPr/>
          <p:nvPr/>
        </p:nvGrpSpPr>
        <p:grpSpPr>
          <a:xfrm>
            <a:off x="6769455" y="2372982"/>
            <a:ext cx="2600326" cy="553998"/>
            <a:chOff x="7200900" y="1341358"/>
            <a:chExt cx="2600326" cy="553998"/>
          </a:xfrm>
        </p:grpSpPr>
        <p:sp>
          <p:nvSpPr>
            <p:cNvPr id="9" name="TextBox 8">
              <a:extLst>
                <a:ext uri="{FF2B5EF4-FFF2-40B4-BE49-F238E27FC236}">
                  <a16:creationId xmlns:a16="http://schemas.microsoft.com/office/drawing/2014/main" id="{1BAC817F-FDE2-C25E-A068-FC54483921C0}"/>
                </a:ext>
              </a:extLst>
            </p:cNvPr>
            <p:cNvSpPr txBox="1"/>
            <p:nvPr/>
          </p:nvSpPr>
          <p:spPr>
            <a:xfrm>
              <a:off x="9234254" y="1341358"/>
              <a:ext cx="566972" cy="369332"/>
            </a:xfrm>
            <a:prstGeom prst="rect">
              <a:avLst/>
            </a:prstGeom>
            <a:noFill/>
            <a:ln w="28575">
              <a:solidFill>
                <a:srgbClr val="166623"/>
              </a:solidFill>
            </a:ln>
          </p:spPr>
          <p:txBody>
            <a:bodyPr wrap="square" rtlCol="0">
              <a:spAutoFit/>
            </a:bodyPr>
            <a:lstStyle/>
            <a:p>
              <a:r>
                <a:rPr lang="en-GB" dirty="0"/>
                <a:t>R</a:t>
              </a:r>
              <a:r>
                <a:rPr lang="en-BE" dirty="0"/>
                <a:t>un</a:t>
              </a:r>
            </a:p>
          </p:txBody>
        </p:sp>
        <p:cxnSp>
          <p:nvCxnSpPr>
            <p:cNvPr id="11" name="Straight Arrow Connector 10">
              <a:extLst>
                <a:ext uri="{FF2B5EF4-FFF2-40B4-BE49-F238E27FC236}">
                  <a16:creationId xmlns:a16="http://schemas.microsoft.com/office/drawing/2014/main" id="{9A4685C6-72C5-FA10-14A1-FFC56975E2DA}"/>
                </a:ext>
              </a:extLst>
            </p:cNvPr>
            <p:cNvCxnSpPr>
              <a:cxnSpLocks/>
              <a:stCxn id="9" idx="1"/>
            </p:cNvCxnSpPr>
            <p:nvPr/>
          </p:nvCxnSpPr>
          <p:spPr>
            <a:xfrm flipH="1">
              <a:off x="7200900" y="1526024"/>
              <a:ext cx="2033354" cy="3693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FDF9F182-253D-31E8-171D-964B9455380C}"/>
              </a:ext>
            </a:extLst>
          </p:cNvPr>
          <p:cNvGrpSpPr/>
          <p:nvPr/>
        </p:nvGrpSpPr>
        <p:grpSpPr>
          <a:xfrm>
            <a:off x="3554768" y="3319856"/>
            <a:ext cx="8328981" cy="369332"/>
            <a:chOff x="3986213" y="2288232"/>
            <a:chExt cx="8328981" cy="369332"/>
          </a:xfrm>
        </p:grpSpPr>
        <p:sp>
          <p:nvSpPr>
            <p:cNvPr id="15" name="TextBox 14">
              <a:extLst>
                <a:ext uri="{FF2B5EF4-FFF2-40B4-BE49-F238E27FC236}">
                  <a16:creationId xmlns:a16="http://schemas.microsoft.com/office/drawing/2014/main" id="{CB2E3920-0A4A-F7C6-8404-0A54703AB983}"/>
                </a:ext>
              </a:extLst>
            </p:cNvPr>
            <p:cNvSpPr txBox="1"/>
            <p:nvPr/>
          </p:nvSpPr>
          <p:spPr>
            <a:xfrm>
              <a:off x="9164960" y="2288232"/>
              <a:ext cx="3150234" cy="369332"/>
            </a:xfrm>
            <a:prstGeom prst="rect">
              <a:avLst/>
            </a:prstGeom>
            <a:noFill/>
            <a:ln w="28575">
              <a:solidFill>
                <a:srgbClr val="166623"/>
              </a:solidFill>
            </a:ln>
          </p:spPr>
          <p:txBody>
            <a:bodyPr wrap="square" rtlCol="0">
              <a:spAutoFit/>
            </a:bodyPr>
            <a:lstStyle/>
            <a:p>
              <a:r>
                <a:rPr lang="en-US" dirty="0"/>
                <a:t>Empty working tree/directory</a:t>
              </a:r>
              <a:endParaRPr lang="en-BE" dirty="0"/>
            </a:p>
          </p:txBody>
        </p:sp>
        <p:cxnSp>
          <p:nvCxnSpPr>
            <p:cNvPr id="16" name="Straight Arrow Connector 15">
              <a:extLst>
                <a:ext uri="{FF2B5EF4-FFF2-40B4-BE49-F238E27FC236}">
                  <a16:creationId xmlns:a16="http://schemas.microsoft.com/office/drawing/2014/main" id="{2CA42125-CCE8-8A56-A8FE-A74C7CFE578A}"/>
                </a:ext>
              </a:extLst>
            </p:cNvPr>
            <p:cNvCxnSpPr>
              <a:cxnSpLocks/>
              <a:stCxn id="15" idx="1"/>
            </p:cNvCxnSpPr>
            <p:nvPr/>
          </p:nvCxnSpPr>
          <p:spPr>
            <a:xfrm flipH="1">
              <a:off x="3986213" y="2472898"/>
              <a:ext cx="5178747" cy="3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FA1D25E3-D16B-05E6-5155-060E0959C308}"/>
              </a:ext>
            </a:extLst>
          </p:cNvPr>
          <p:cNvGrpSpPr/>
          <p:nvPr/>
        </p:nvGrpSpPr>
        <p:grpSpPr>
          <a:xfrm>
            <a:off x="7426680" y="3995359"/>
            <a:ext cx="2800351" cy="369332"/>
            <a:chOff x="7858125" y="2963735"/>
            <a:chExt cx="2800351" cy="369332"/>
          </a:xfrm>
        </p:grpSpPr>
        <p:sp>
          <p:nvSpPr>
            <p:cNvPr id="19" name="TextBox 18">
              <a:extLst>
                <a:ext uri="{FF2B5EF4-FFF2-40B4-BE49-F238E27FC236}">
                  <a16:creationId xmlns:a16="http://schemas.microsoft.com/office/drawing/2014/main" id="{E0348839-E536-36AE-2E1E-1A4EFC178275}"/>
                </a:ext>
              </a:extLst>
            </p:cNvPr>
            <p:cNvSpPr txBox="1"/>
            <p:nvPr/>
          </p:nvSpPr>
          <p:spPr>
            <a:xfrm>
              <a:off x="9191392" y="2963735"/>
              <a:ext cx="1467084" cy="369332"/>
            </a:xfrm>
            <a:prstGeom prst="rect">
              <a:avLst/>
            </a:prstGeom>
            <a:noFill/>
            <a:ln w="28575">
              <a:solidFill>
                <a:srgbClr val="166623"/>
              </a:solidFill>
            </a:ln>
          </p:spPr>
          <p:txBody>
            <a:bodyPr wrap="square" rtlCol="0">
              <a:spAutoFit/>
            </a:bodyPr>
            <a:lstStyle/>
            <a:p>
              <a:r>
                <a:rPr lang="en-US" dirty="0"/>
                <a:t>Git directory</a:t>
              </a:r>
              <a:endParaRPr lang="en-BE" dirty="0"/>
            </a:p>
          </p:txBody>
        </p:sp>
        <p:cxnSp>
          <p:nvCxnSpPr>
            <p:cNvPr id="20" name="Straight Arrow Connector 19">
              <a:extLst>
                <a:ext uri="{FF2B5EF4-FFF2-40B4-BE49-F238E27FC236}">
                  <a16:creationId xmlns:a16="http://schemas.microsoft.com/office/drawing/2014/main" id="{84B65259-0BA5-DE8E-15FA-32E24FE7906A}"/>
                </a:ext>
              </a:extLst>
            </p:cNvPr>
            <p:cNvCxnSpPr>
              <a:cxnSpLocks/>
            </p:cNvCxnSpPr>
            <p:nvPr/>
          </p:nvCxnSpPr>
          <p:spPr>
            <a:xfrm flipH="1">
              <a:off x="7858125" y="3131001"/>
              <a:ext cx="1318978" cy="10410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105AC90-6B9E-4EC6-C57C-2AC8359643FA}"/>
              </a:ext>
            </a:extLst>
          </p:cNvPr>
          <p:cNvGrpSpPr/>
          <p:nvPr/>
        </p:nvGrpSpPr>
        <p:grpSpPr>
          <a:xfrm>
            <a:off x="7912455" y="4364691"/>
            <a:ext cx="3009899" cy="1996171"/>
            <a:chOff x="8343900" y="3333067"/>
            <a:chExt cx="3009899" cy="1996171"/>
          </a:xfrm>
        </p:grpSpPr>
        <p:sp>
          <p:nvSpPr>
            <p:cNvPr id="22" name="Right Brace 21">
              <a:extLst>
                <a:ext uri="{FF2B5EF4-FFF2-40B4-BE49-F238E27FC236}">
                  <a16:creationId xmlns:a16="http://schemas.microsoft.com/office/drawing/2014/main" id="{404CB07A-1607-AA88-43F3-DB0E6A550324}"/>
                </a:ext>
              </a:extLst>
            </p:cNvPr>
            <p:cNvSpPr/>
            <p:nvPr/>
          </p:nvSpPr>
          <p:spPr>
            <a:xfrm>
              <a:off x="8343900" y="3643313"/>
              <a:ext cx="85725" cy="1685925"/>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3" name="TextBox 22">
              <a:extLst>
                <a:ext uri="{FF2B5EF4-FFF2-40B4-BE49-F238E27FC236}">
                  <a16:creationId xmlns:a16="http://schemas.microsoft.com/office/drawing/2014/main" id="{FEB714D2-8C3F-A44B-9117-D507FD34790A}"/>
                </a:ext>
              </a:extLst>
            </p:cNvPr>
            <p:cNvSpPr txBox="1"/>
            <p:nvPr/>
          </p:nvSpPr>
          <p:spPr>
            <a:xfrm>
              <a:off x="9058744" y="4674776"/>
              <a:ext cx="1467084" cy="369332"/>
            </a:xfrm>
            <a:prstGeom prst="rect">
              <a:avLst/>
            </a:prstGeom>
            <a:noFill/>
            <a:ln w="28575">
              <a:solidFill>
                <a:srgbClr val="166623"/>
              </a:solidFill>
            </a:ln>
          </p:spPr>
          <p:txBody>
            <a:bodyPr wrap="square" rtlCol="0">
              <a:spAutoFit/>
            </a:bodyPr>
            <a:lstStyle/>
            <a:p>
              <a:r>
                <a:rPr lang="en-US" dirty="0"/>
                <a:t>Bunch of files</a:t>
              </a:r>
              <a:endParaRPr lang="en-BE" dirty="0"/>
            </a:p>
          </p:txBody>
        </p:sp>
        <p:cxnSp>
          <p:nvCxnSpPr>
            <p:cNvPr id="24" name="Straight Arrow Connector 23">
              <a:extLst>
                <a:ext uri="{FF2B5EF4-FFF2-40B4-BE49-F238E27FC236}">
                  <a16:creationId xmlns:a16="http://schemas.microsoft.com/office/drawing/2014/main" id="{F118536E-C011-504B-4A1E-1DF04FCDE7A8}"/>
                </a:ext>
              </a:extLst>
            </p:cNvPr>
            <p:cNvCxnSpPr>
              <a:cxnSpLocks/>
              <a:stCxn id="23" idx="1"/>
            </p:cNvCxnSpPr>
            <p:nvPr/>
          </p:nvCxnSpPr>
          <p:spPr>
            <a:xfrm flipH="1" flipV="1">
              <a:off x="8399255" y="4715513"/>
              <a:ext cx="659489" cy="14392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560A859-D23B-CD67-3C0D-27A21A232A19}"/>
                </a:ext>
              </a:extLst>
            </p:cNvPr>
            <p:cNvSpPr txBox="1"/>
            <p:nvPr/>
          </p:nvSpPr>
          <p:spPr>
            <a:xfrm>
              <a:off x="9164960" y="3742583"/>
              <a:ext cx="2188839" cy="369332"/>
            </a:xfrm>
            <a:prstGeom prst="rect">
              <a:avLst/>
            </a:prstGeom>
            <a:noFill/>
            <a:ln w="28575">
              <a:solidFill>
                <a:srgbClr val="166623"/>
              </a:solidFill>
            </a:ln>
          </p:spPr>
          <p:txBody>
            <a:bodyPr wrap="square" rtlCol="0">
              <a:spAutoFit/>
            </a:bodyPr>
            <a:lstStyle/>
            <a:p>
              <a:r>
                <a:rPr lang="en-US" dirty="0"/>
                <a:t>Git history/changes</a:t>
              </a:r>
              <a:endParaRPr lang="en-BE" dirty="0"/>
            </a:p>
          </p:txBody>
        </p:sp>
        <p:cxnSp>
          <p:nvCxnSpPr>
            <p:cNvPr id="28" name="Straight Arrow Connector 27">
              <a:extLst>
                <a:ext uri="{FF2B5EF4-FFF2-40B4-BE49-F238E27FC236}">
                  <a16:creationId xmlns:a16="http://schemas.microsoft.com/office/drawing/2014/main" id="{0615596B-BFED-3B48-FF22-83C0C1DE13ED}"/>
                </a:ext>
              </a:extLst>
            </p:cNvPr>
            <p:cNvCxnSpPr>
              <a:cxnSpLocks/>
              <a:stCxn id="23" idx="0"/>
              <a:endCxn id="26" idx="2"/>
            </p:cNvCxnSpPr>
            <p:nvPr/>
          </p:nvCxnSpPr>
          <p:spPr>
            <a:xfrm flipV="1">
              <a:off x="9792286" y="4111915"/>
              <a:ext cx="467094" cy="56286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3867633-FF9B-B183-2B81-C3E178AF6CC9}"/>
                </a:ext>
              </a:extLst>
            </p:cNvPr>
            <p:cNvCxnSpPr>
              <a:cxnSpLocks/>
              <a:stCxn id="19" idx="2"/>
              <a:endCxn id="26" idx="0"/>
            </p:cNvCxnSpPr>
            <p:nvPr/>
          </p:nvCxnSpPr>
          <p:spPr>
            <a:xfrm>
              <a:off x="9913211" y="3333067"/>
              <a:ext cx="346169" cy="40951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052" name="Picture 4" descr="Repository Icons - Free SVG &amp; PNG Repository Images - Noun Project">
            <a:extLst>
              <a:ext uri="{FF2B5EF4-FFF2-40B4-BE49-F238E27FC236}">
                <a16:creationId xmlns:a16="http://schemas.microsoft.com/office/drawing/2014/main" id="{DB7990B8-EE93-200D-E21A-295BD8BE10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6670" y="4479773"/>
            <a:ext cx="958200" cy="95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60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dissolve">
                                      <p:cBhvr>
                                        <p:cTn id="32" dur="500"/>
                                        <p:tgtEl>
                                          <p:spTgt spid="43"/>
                                        </p:tgtEl>
                                      </p:cBhvr>
                                    </p:animEffect>
                                  </p:childTnLst>
                                </p:cTn>
                              </p:par>
                              <p:par>
                                <p:cTn id="33" presetID="9" presetClass="entr" presetSubtype="0" fill="hold" nodeType="withEffect">
                                  <p:stCondLst>
                                    <p:cond delay="0"/>
                                  </p:stCondLst>
                                  <p:childTnLst>
                                    <p:set>
                                      <p:cBhvr>
                                        <p:cTn id="34" dur="1" fill="hold">
                                          <p:stCondLst>
                                            <p:cond delay="0"/>
                                          </p:stCondLst>
                                        </p:cTn>
                                        <p:tgtEl>
                                          <p:spTgt spid="2052"/>
                                        </p:tgtEl>
                                        <p:attrNameLst>
                                          <p:attrName>style.visibility</p:attrName>
                                        </p:attrNameLst>
                                      </p:cBhvr>
                                      <p:to>
                                        <p:strVal val="visible"/>
                                      </p:to>
                                    </p:set>
                                    <p:animEffect transition="in" filter="dissolve">
                                      <p:cBhvr>
                                        <p:cTn id="35"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Working with Git</a:t>
            </a:r>
          </a:p>
        </p:txBody>
      </p:sp>
      <p:pic>
        <p:nvPicPr>
          <p:cNvPr id="5" name="Picture 4" descr="Text&#10;&#10;Description automatically generated">
            <a:extLst>
              <a:ext uri="{FF2B5EF4-FFF2-40B4-BE49-F238E27FC236}">
                <a16:creationId xmlns:a16="http://schemas.microsoft.com/office/drawing/2014/main" id="{121CF2EB-6216-0749-40B4-AB3A5C2E864D}"/>
              </a:ext>
            </a:extLst>
          </p:cNvPr>
          <p:cNvPicPr>
            <a:picLocks noChangeAspect="1"/>
          </p:cNvPicPr>
          <p:nvPr/>
        </p:nvPicPr>
        <p:blipFill>
          <a:blip r:embed="rId3"/>
          <a:stretch>
            <a:fillRect/>
          </a:stretch>
        </p:blipFill>
        <p:spPr>
          <a:xfrm>
            <a:off x="608206" y="1166812"/>
            <a:ext cx="5029200" cy="3009900"/>
          </a:xfrm>
          <a:prstGeom prst="rect">
            <a:avLst/>
          </a:prstGeom>
        </p:spPr>
      </p:pic>
      <p:pic>
        <p:nvPicPr>
          <p:cNvPr id="10" name="Picture 9" descr="Text&#10;&#10;Description automatically generated">
            <a:extLst>
              <a:ext uri="{FF2B5EF4-FFF2-40B4-BE49-F238E27FC236}">
                <a16:creationId xmlns:a16="http://schemas.microsoft.com/office/drawing/2014/main" id="{3FC6A049-42BC-47DE-B19B-0D89448F7DDD}"/>
              </a:ext>
            </a:extLst>
          </p:cNvPr>
          <p:cNvPicPr>
            <a:picLocks noChangeAspect="1"/>
          </p:cNvPicPr>
          <p:nvPr/>
        </p:nvPicPr>
        <p:blipFill rotWithShape="1">
          <a:blip r:embed="rId4"/>
          <a:srcRect b="19981"/>
          <a:stretch/>
        </p:blipFill>
        <p:spPr>
          <a:xfrm>
            <a:off x="608206" y="4308338"/>
            <a:ext cx="4797232" cy="1823382"/>
          </a:xfrm>
          <a:prstGeom prst="rect">
            <a:avLst/>
          </a:prstGeom>
        </p:spPr>
      </p:pic>
      <p:grpSp>
        <p:nvGrpSpPr>
          <p:cNvPr id="48" name="Group 47">
            <a:extLst>
              <a:ext uri="{FF2B5EF4-FFF2-40B4-BE49-F238E27FC236}">
                <a16:creationId xmlns:a16="http://schemas.microsoft.com/office/drawing/2014/main" id="{565F2415-95EB-B0D2-D838-FFECB3550BB3}"/>
              </a:ext>
            </a:extLst>
          </p:cNvPr>
          <p:cNvGrpSpPr/>
          <p:nvPr/>
        </p:nvGrpSpPr>
        <p:grpSpPr>
          <a:xfrm>
            <a:off x="3257550" y="1714500"/>
            <a:ext cx="6478394" cy="3105983"/>
            <a:chOff x="3257550" y="1714500"/>
            <a:chExt cx="6478394" cy="3105983"/>
          </a:xfrm>
        </p:grpSpPr>
        <p:grpSp>
          <p:nvGrpSpPr>
            <p:cNvPr id="47" name="Group 46">
              <a:extLst>
                <a:ext uri="{FF2B5EF4-FFF2-40B4-BE49-F238E27FC236}">
                  <a16:creationId xmlns:a16="http://schemas.microsoft.com/office/drawing/2014/main" id="{D5BBFE24-0799-DD4E-3FAA-422604B1EF4F}"/>
                </a:ext>
              </a:extLst>
            </p:cNvPr>
            <p:cNvGrpSpPr/>
            <p:nvPr/>
          </p:nvGrpSpPr>
          <p:grpSpPr>
            <a:xfrm>
              <a:off x="6891337" y="1714500"/>
              <a:ext cx="2844607" cy="3105983"/>
              <a:chOff x="6891337" y="1714500"/>
              <a:chExt cx="2844607" cy="3105983"/>
            </a:xfrm>
          </p:grpSpPr>
          <p:sp>
            <p:nvSpPr>
              <p:cNvPr id="13" name="Rectangle 12">
                <a:extLst>
                  <a:ext uri="{FF2B5EF4-FFF2-40B4-BE49-F238E27FC236}">
                    <a16:creationId xmlns:a16="http://schemas.microsoft.com/office/drawing/2014/main" id="{6E2C2356-923E-BD45-4BA8-4A96467D008A}"/>
                  </a:ext>
                </a:extLst>
              </p:cNvPr>
              <p:cNvSpPr/>
              <p:nvPr/>
            </p:nvSpPr>
            <p:spPr>
              <a:xfrm>
                <a:off x="8145269" y="1714500"/>
                <a:ext cx="1590675" cy="557213"/>
              </a:xfrm>
              <a:prstGeom prst="rect">
                <a:avLst/>
              </a:prstGeom>
              <a:solidFill>
                <a:srgbClr val="18827F"/>
              </a:solidFill>
              <a:ln>
                <a:solidFill>
                  <a:srgbClr val="1882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Staging Area</a:t>
                </a:r>
              </a:p>
            </p:txBody>
          </p:sp>
          <p:cxnSp>
            <p:nvCxnSpPr>
              <p:cNvPr id="21" name="Straight Connector 20">
                <a:extLst>
                  <a:ext uri="{FF2B5EF4-FFF2-40B4-BE49-F238E27FC236}">
                    <a16:creationId xmlns:a16="http://schemas.microsoft.com/office/drawing/2014/main" id="{76449CE9-5DCC-9D02-0F12-E0C4AE7CC230}"/>
                  </a:ext>
                </a:extLst>
              </p:cNvPr>
              <p:cNvCxnSpPr/>
              <p:nvPr/>
            </p:nvCxnSpPr>
            <p:spPr>
              <a:xfrm flipH="1">
                <a:off x="8935566" y="2277308"/>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ight Arrow 26">
                <a:extLst>
                  <a:ext uri="{FF2B5EF4-FFF2-40B4-BE49-F238E27FC236}">
                    <a16:creationId xmlns:a16="http://schemas.microsoft.com/office/drawing/2014/main" id="{FD0D288F-075A-2324-F710-B401ADBCAF8E}"/>
                  </a:ext>
                </a:extLst>
              </p:cNvPr>
              <p:cNvSpPr/>
              <p:nvPr/>
            </p:nvSpPr>
            <p:spPr>
              <a:xfrm>
                <a:off x="6891337" y="2814638"/>
                <a:ext cx="2044229"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add menu1.txt</a:t>
                </a:r>
              </a:p>
            </p:txBody>
          </p:sp>
        </p:grpSp>
        <p:cxnSp>
          <p:nvCxnSpPr>
            <p:cNvPr id="32" name="Straight Arrow Connector 31">
              <a:extLst>
                <a:ext uri="{FF2B5EF4-FFF2-40B4-BE49-F238E27FC236}">
                  <a16:creationId xmlns:a16="http://schemas.microsoft.com/office/drawing/2014/main" id="{679FC764-9662-AA4D-7814-D6AAEBFD92AA}"/>
                </a:ext>
              </a:extLst>
            </p:cNvPr>
            <p:cNvCxnSpPr>
              <a:cxnSpLocks/>
              <a:stCxn id="27" idx="1"/>
            </p:cNvCxnSpPr>
            <p:nvPr/>
          </p:nvCxnSpPr>
          <p:spPr>
            <a:xfrm flipH="1">
              <a:off x="3257550" y="3121819"/>
              <a:ext cx="3633787" cy="3071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921AF501-8CBF-13A6-E50A-BAB95F8DC7EA}"/>
              </a:ext>
            </a:extLst>
          </p:cNvPr>
          <p:cNvGrpSpPr/>
          <p:nvPr/>
        </p:nvGrpSpPr>
        <p:grpSpPr>
          <a:xfrm>
            <a:off x="5353609" y="1714500"/>
            <a:ext cx="6394928" cy="3105984"/>
            <a:chOff x="5353609" y="1714500"/>
            <a:chExt cx="6394928" cy="3105984"/>
          </a:xfrm>
        </p:grpSpPr>
        <p:grpSp>
          <p:nvGrpSpPr>
            <p:cNvPr id="49" name="Group 48">
              <a:extLst>
                <a:ext uri="{FF2B5EF4-FFF2-40B4-BE49-F238E27FC236}">
                  <a16:creationId xmlns:a16="http://schemas.microsoft.com/office/drawing/2014/main" id="{60760F19-D1F0-AA47-F09F-3B2E33CB71B3}"/>
                </a:ext>
              </a:extLst>
            </p:cNvPr>
            <p:cNvGrpSpPr/>
            <p:nvPr/>
          </p:nvGrpSpPr>
          <p:grpSpPr>
            <a:xfrm>
              <a:off x="8935566" y="1714500"/>
              <a:ext cx="2812971" cy="3105984"/>
              <a:chOff x="8935566" y="1714500"/>
              <a:chExt cx="2812971" cy="3105984"/>
            </a:xfrm>
          </p:grpSpPr>
          <p:sp>
            <p:nvSpPr>
              <p:cNvPr id="14" name="Rectangle 13">
                <a:extLst>
                  <a:ext uri="{FF2B5EF4-FFF2-40B4-BE49-F238E27FC236}">
                    <a16:creationId xmlns:a16="http://schemas.microsoft.com/office/drawing/2014/main" id="{468388D3-9FA2-3A3A-A767-5800FF485FFC}"/>
                  </a:ext>
                </a:extLst>
              </p:cNvPr>
              <p:cNvSpPr/>
              <p:nvPr/>
            </p:nvSpPr>
            <p:spPr>
              <a:xfrm>
                <a:off x="10157862" y="1714500"/>
                <a:ext cx="1590675" cy="557213"/>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directory</a:t>
                </a:r>
              </a:p>
            </p:txBody>
          </p:sp>
          <p:cxnSp>
            <p:nvCxnSpPr>
              <p:cNvPr id="25" name="Straight Connector 24">
                <a:extLst>
                  <a:ext uri="{FF2B5EF4-FFF2-40B4-BE49-F238E27FC236}">
                    <a16:creationId xmlns:a16="http://schemas.microsoft.com/office/drawing/2014/main" id="{51A01C34-9688-C1BB-4E2C-7F181C431059}"/>
                  </a:ext>
                </a:extLst>
              </p:cNvPr>
              <p:cNvCxnSpPr/>
              <p:nvPr/>
            </p:nvCxnSpPr>
            <p:spPr>
              <a:xfrm flipH="1">
                <a:off x="10953199" y="2277309"/>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ight Arrow 28">
                <a:extLst>
                  <a:ext uri="{FF2B5EF4-FFF2-40B4-BE49-F238E27FC236}">
                    <a16:creationId xmlns:a16="http://schemas.microsoft.com/office/drawing/2014/main" id="{DFE4D725-B8B1-2ACA-9A2E-DC60BEC28E65}"/>
                  </a:ext>
                </a:extLst>
              </p:cNvPr>
              <p:cNvSpPr/>
              <p:nvPr/>
            </p:nvSpPr>
            <p:spPr>
              <a:xfrm>
                <a:off x="8935566" y="3543300"/>
                <a:ext cx="1988780"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commit</a:t>
                </a:r>
              </a:p>
            </p:txBody>
          </p:sp>
        </p:grpSp>
        <p:cxnSp>
          <p:nvCxnSpPr>
            <p:cNvPr id="34" name="Straight Arrow Connector 33">
              <a:extLst>
                <a:ext uri="{FF2B5EF4-FFF2-40B4-BE49-F238E27FC236}">
                  <a16:creationId xmlns:a16="http://schemas.microsoft.com/office/drawing/2014/main" id="{F937453D-E4D5-1C93-E4C4-DA68FED669EF}"/>
                </a:ext>
              </a:extLst>
            </p:cNvPr>
            <p:cNvCxnSpPr>
              <a:cxnSpLocks/>
            </p:cNvCxnSpPr>
            <p:nvPr/>
          </p:nvCxnSpPr>
          <p:spPr>
            <a:xfrm flipH="1">
              <a:off x="5353609" y="3893343"/>
              <a:ext cx="3580842" cy="7655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681C0748-0CA2-4BA2-1421-15326E5CD886}"/>
              </a:ext>
            </a:extLst>
          </p:cNvPr>
          <p:cNvGrpSpPr/>
          <p:nvPr/>
        </p:nvGrpSpPr>
        <p:grpSpPr>
          <a:xfrm>
            <a:off x="5353609" y="270978"/>
            <a:ext cx="5019116" cy="1015240"/>
            <a:chOff x="5353609" y="270978"/>
            <a:chExt cx="5019116" cy="1015240"/>
          </a:xfrm>
        </p:grpSpPr>
        <p:sp>
          <p:nvSpPr>
            <p:cNvPr id="38" name="TextBox 37">
              <a:extLst>
                <a:ext uri="{FF2B5EF4-FFF2-40B4-BE49-F238E27FC236}">
                  <a16:creationId xmlns:a16="http://schemas.microsoft.com/office/drawing/2014/main" id="{D0FB48F9-6DA8-9EBC-52B9-2546595602FD}"/>
                </a:ext>
              </a:extLst>
            </p:cNvPr>
            <p:cNvSpPr txBox="1"/>
            <p:nvPr/>
          </p:nvSpPr>
          <p:spPr>
            <a:xfrm>
              <a:off x="6543675" y="270978"/>
              <a:ext cx="3829050" cy="400110"/>
            </a:xfrm>
            <a:prstGeom prst="rect">
              <a:avLst/>
            </a:prstGeom>
            <a:noFill/>
            <a:ln w="28575">
              <a:solidFill>
                <a:srgbClr val="C00000"/>
              </a:solidFill>
            </a:ln>
          </p:spPr>
          <p:txBody>
            <a:bodyPr wrap="square" rtlCol="0">
              <a:spAutoFit/>
            </a:bodyPr>
            <a:lstStyle/>
            <a:p>
              <a:r>
                <a:rPr lang="en-BE" sz="2000" dirty="0"/>
                <a:t>Working directory – add menu1.txt</a:t>
              </a:r>
            </a:p>
          </p:txBody>
        </p:sp>
        <p:cxnSp>
          <p:nvCxnSpPr>
            <p:cNvPr id="39" name="Straight Arrow Connector 38">
              <a:extLst>
                <a:ext uri="{FF2B5EF4-FFF2-40B4-BE49-F238E27FC236}">
                  <a16:creationId xmlns:a16="http://schemas.microsoft.com/office/drawing/2014/main" id="{0550009B-CCEE-1E48-EB2C-DEA516BBF35B}"/>
                </a:ext>
              </a:extLst>
            </p:cNvPr>
            <p:cNvCxnSpPr>
              <a:cxnSpLocks/>
              <a:stCxn id="38" idx="2"/>
            </p:cNvCxnSpPr>
            <p:nvPr/>
          </p:nvCxnSpPr>
          <p:spPr>
            <a:xfrm flipH="1">
              <a:off x="5353609" y="671088"/>
              <a:ext cx="3104591" cy="6151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AE3A82B4-A075-D361-594B-2E68E89312B2}"/>
              </a:ext>
            </a:extLst>
          </p:cNvPr>
          <p:cNvGrpSpPr/>
          <p:nvPr/>
        </p:nvGrpSpPr>
        <p:grpSpPr>
          <a:xfrm>
            <a:off x="5715412" y="1714500"/>
            <a:ext cx="1971263" cy="3100388"/>
            <a:chOff x="5715412" y="1714500"/>
            <a:chExt cx="1971263" cy="3100388"/>
          </a:xfrm>
        </p:grpSpPr>
        <p:grpSp>
          <p:nvGrpSpPr>
            <p:cNvPr id="45" name="Group 44">
              <a:extLst>
                <a:ext uri="{FF2B5EF4-FFF2-40B4-BE49-F238E27FC236}">
                  <a16:creationId xmlns:a16="http://schemas.microsoft.com/office/drawing/2014/main" id="{B8183A08-895D-DDB6-A825-04A6849459A2}"/>
                </a:ext>
              </a:extLst>
            </p:cNvPr>
            <p:cNvGrpSpPr/>
            <p:nvPr/>
          </p:nvGrpSpPr>
          <p:grpSpPr>
            <a:xfrm>
              <a:off x="6096000" y="1714500"/>
              <a:ext cx="1590675" cy="3100388"/>
              <a:chOff x="6096000" y="1714500"/>
              <a:chExt cx="1590675" cy="3100388"/>
            </a:xfrm>
          </p:grpSpPr>
          <p:sp>
            <p:nvSpPr>
              <p:cNvPr id="12" name="Rectangle 11">
                <a:extLst>
                  <a:ext uri="{FF2B5EF4-FFF2-40B4-BE49-F238E27FC236}">
                    <a16:creationId xmlns:a16="http://schemas.microsoft.com/office/drawing/2014/main" id="{2FA9C52A-CEE7-6195-13F8-155026AF1300}"/>
                  </a:ext>
                </a:extLst>
              </p:cNvPr>
              <p:cNvSpPr/>
              <p:nvPr/>
            </p:nvSpPr>
            <p:spPr>
              <a:xfrm>
                <a:off x="6096000" y="1714500"/>
                <a:ext cx="1590675" cy="557213"/>
              </a:xfrm>
              <a:prstGeom prst="rect">
                <a:avLst/>
              </a:prstGeom>
              <a:solidFill>
                <a:srgbClr val="F73D0D"/>
              </a:solidFill>
              <a:ln>
                <a:solidFill>
                  <a:srgbClr val="F73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Working Directory</a:t>
                </a:r>
              </a:p>
            </p:txBody>
          </p:sp>
          <p:cxnSp>
            <p:nvCxnSpPr>
              <p:cNvPr id="18" name="Straight Connector 17">
                <a:extLst>
                  <a:ext uri="{FF2B5EF4-FFF2-40B4-BE49-F238E27FC236}">
                    <a16:creationId xmlns:a16="http://schemas.microsoft.com/office/drawing/2014/main" id="{1A2807B8-1B9A-3253-462D-7D6F804F375D}"/>
                  </a:ext>
                </a:extLst>
              </p:cNvPr>
              <p:cNvCxnSpPr>
                <a:stCxn id="12" idx="2"/>
              </p:cNvCxnSpPr>
              <p:nvPr/>
            </p:nvCxnSpPr>
            <p:spPr>
              <a:xfrm flipH="1">
                <a:off x="6891337" y="2271713"/>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Right Arrow 43">
              <a:extLst>
                <a:ext uri="{FF2B5EF4-FFF2-40B4-BE49-F238E27FC236}">
                  <a16:creationId xmlns:a16="http://schemas.microsoft.com/office/drawing/2014/main" id="{B2AFFE60-D3D7-8A75-B34B-60FEB7EB558F}"/>
                </a:ext>
              </a:extLst>
            </p:cNvPr>
            <p:cNvSpPr/>
            <p:nvPr/>
          </p:nvSpPr>
          <p:spPr>
            <a:xfrm>
              <a:off x="5715412" y="2375832"/>
              <a:ext cx="1188402"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sz="1400" dirty="0"/>
                <a:t>Modify WD</a:t>
              </a:r>
            </a:p>
          </p:txBody>
        </p:sp>
      </p:grpSp>
      <p:sp>
        <p:nvSpPr>
          <p:cNvPr id="4" name="TextBox 3">
            <a:extLst>
              <a:ext uri="{FF2B5EF4-FFF2-40B4-BE49-F238E27FC236}">
                <a16:creationId xmlns:a16="http://schemas.microsoft.com/office/drawing/2014/main" id="{96646E52-26CD-AAF4-A4AE-40C1B1D679F8}"/>
              </a:ext>
            </a:extLst>
          </p:cNvPr>
          <p:cNvSpPr txBox="1"/>
          <p:nvPr/>
        </p:nvSpPr>
        <p:spPr>
          <a:xfrm>
            <a:off x="7572375" y="1079092"/>
            <a:ext cx="2996171" cy="523220"/>
          </a:xfrm>
          <a:prstGeom prst="rect">
            <a:avLst/>
          </a:prstGeom>
          <a:noFill/>
        </p:spPr>
        <p:txBody>
          <a:bodyPr wrap="square" rtlCol="0">
            <a:spAutoFit/>
          </a:bodyPr>
          <a:lstStyle/>
          <a:p>
            <a:r>
              <a:rPr lang="en-BE" sz="2800" b="1" u="sng" dirty="0"/>
              <a:t>The Git WorkFlow</a:t>
            </a:r>
          </a:p>
        </p:txBody>
      </p:sp>
      <p:sp>
        <p:nvSpPr>
          <p:cNvPr id="6" name="Left Arrow 5">
            <a:extLst>
              <a:ext uri="{FF2B5EF4-FFF2-40B4-BE49-F238E27FC236}">
                <a16:creationId xmlns:a16="http://schemas.microsoft.com/office/drawing/2014/main" id="{F4D2B60F-5BAB-0053-4DA0-2E41D9AF51E6}"/>
              </a:ext>
            </a:extLst>
          </p:cNvPr>
          <p:cNvSpPr/>
          <p:nvPr/>
        </p:nvSpPr>
        <p:spPr>
          <a:xfrm>
            <a:off x="5632324" y="2145207"/>
            <a:ext cx="242694" cy="138113"/>
          </a:xfrm>
          <a:prstGeom prst="lef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619C034C-3DD7-A9AB-40AB-58A15A25C3FA}"/>
              </a:ext>
            </a:extLst>
          </p:cNvPr>
          <p:cNvGrpSpPr/>
          <p:nvPr/>
        </p:nvGrpSpPr>
        <p:grpSpPr>
          <a:xfrm>
            <a:off x="9378099" y="4140454"/>
            <a:ext cx="1081237" cy="703127"/>
            <a:chOff x="9378099" y="4140454"/>
            <a:chExt cx="1081237" cy="703127"/>
          </a:xfrm>
        </p:grpSpPr>
        <p:pic>
          <p:nvPicPr>
            <p:cNvPr id="1026" name="Picture 2" descr="The floppy disk Save icon: Visual language of an era long-gone | by Scott  Oliveri | UX Collective">
              <a:extLst>
                <a:ext uri="{FF2B5EF4-FFF2-40B4-BE49-F238E27FC236}">
                  <a16:creationId xmlns:a16="http://schemas.microsoft.com/office/drawing/2014/main" id="{DC5EA7DA-5742-C583-67AB-A9C5BEEBEB1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1534" t="20574" r="4982" b="16720"/>
            <a:stretch/>
          </p:blipFill>
          <p:spPr bwMode="auto">
            <a:xfrm>
              <a:off x="9644959" y="4140454"/>
              <a:ext cx="455548" cy="4119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ED65CE-4427-6361-D924-364A4B159264}"/>
                </a:ext>
              </a:extLst>
            </p:cNvPr>
            <p:cNvSpPr txBox="1"/>
            <p:nvPr/>
          </p:nvSpPr>
          <p:spPr>
            <a:xfrm>
              <a:off x="9378099" y="4474249"/>
              <a:ext cx="1081237" cy="369332"/>
            </a:xfrm>
            <a:prstGeom prst="rect">
              <a:avLst/>
            </a:prstGeom>
            <a:noFill/>
          </p:spPr>
          <p:txBody>
            <a:bodyPr wrap="square" rtlCol="0">
              <a:spAutoFit/>
            </a:bodyPr>
            <a:lstStyle/>
            <a:p>
              <a:r>
                <a:rPr lang="en-US" dirty="0"/>
                <a:t>changes</a:t>
              </a:r>
            </a:p>
          </p:txBody>
        </p:sp>
      </p:grpSp>
    </p:spTree>
    <p:extLst>
      <p:ext uri="{BB962C8B-B14F-4D97-AF65-F5344CB8AC3E}">
        <p14:creationId xmlns:p14="http://schemas.microsoft.com/office/powerpoint/2010/main" val="307830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par>
                                <p:cTn id="8" presetID="9"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dissolv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dissolve">
                                      <p:cBhvr>
                                        <p:cTn id="15" dur="500"/>
                                        <p:tgtEl>
                                          <p:spTgt spid="48"/>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What makes a good commit message?</a:t>
            </a:r>
          </a:p>
        </p:txBody>
      </p:sp>
      <p:grpSp>
        <p:nvGrpSpPr>
          <p:cNvPr id="2" name="Group 1">
            <a:extLst>
              <a:ext uri="{FF2B5EF4-FFF2-40B4-BE49-F238E27FC236}">
                <a16:creationId xmlns:a16="http://schemas.microsoft.com/office/drawing/2014/main" id="{E7E09B04-7474-EB65-F761-1212C237DE7F}"/>
              </a:ext>
            </a:extLst>
          </p:cNvPr>
          <p:cNvGrpSpPr/>
          <p:nvPr/>
        </p:nvGrpSpPr>
        <p:grpSpPr>
          <a:xfrm>
            <a:off x="5078145" y="3257615"/>
            <a:ext cx="5894655" cy="3582432"/>
            <a:chOff x="4776204" y="1482725"/>
            <a:chExt cx="5894655" cy="3582432"/>
          </a:xfrm>
        </p:grpSpPr>
        <p:pic>
          <p:nvPicPr>
            <p:cNvPr id="5" name="Picture 4" descr="Text&#10;&#10;Description automatically generated">
              <a:extLst>
                <a:ext uri="{FF2B5EF4-FFF2-40B4-BE49-F238E27FC236}">
                  <a16:creationId xmlns:a16="http://schemas.microsoft.com/office/drawing/2014/main" id="{051E0185-CEDC-3049-557F-5B3CFCA71199}"/>
                </a:ext>
              </a:extLst>
            </p:cNvPr>
            <p:cNvPicPr>
              <a:picLocks noChangeAspect="1"/>
            </p:cNvPicPr>
            <p:nvPr/>
          </p:nvPicPr>
          <p:blipFill>
            <a:blip r:embed="rId3"/>
            <a:stretch>
              <a:fillRect/>
            </a:stretch>
          </p:blipFill>
          <p:spPr>
            <a:xfrm>
              <a:off x="4776204" y="1482725"/>
              <a:ext cx="5894655" cy="3336211"/>
            </a:xfrm>
            <a:prstGeom prst="rect">
              <a:avLst/>
            </a:prstGeom>
          </p:spPr>
        </p:pic>
        <p:sp>
          <p:nvSpPr>
            <p:cNvPr id="8" name="TextBox 7">
              <a:extLst>
                <a:ext uri="{FF2B5EF4-FFF2-40B4-BE49-F238E27FC236}">
                  <a16:creationId xmlns:a16="http://schemas.microsoft.com/office/drawing/2014/main" id="{9CC6AE3F-790C-BF08-F899-63647C1EA072}"/>
                </a:ext>
              </a:extLst>
            </p:cNvPr>
            <p:cNvSpPr txBox="1"/>
            <p:nvPr/>
          </p:nvSpPr>
          <p:spPr>
            <a:xfrm>
              <a:off x="6005917" y="4818936"/>
              <a:ext cx="3886567" cy="246221"/>
            </a:xfrm>
            <a:prstGeom prst="rect">
              <a:avLst/>
            </a:prstGeom>
            <a:noFill/>
          </p:spPr>
          <p:txBody>
            <a:bodyPr wrap="square">
              <a:spAutoFit/>
            </a:bodyPr>
            <a:lstStyle/>
            <a:p>
              <a:r>
                <a:rPr lang="en-BE" sz="1000" dirty="0"/>
                <a:t>https://initialcommit.com/blog/git-commit-messages-best-practices</a:t>
              </a:r>
            </a:p>
          </p:txBody>
        </p:sp>
      </p:grpSp>
      <p:grpSp>
        <p:nvGrpSpPr>
          <p:cNvPr id="25" name="Group 24">
            <a:extLst>
              <a:ext uri="{FF2B5EF4-FFF2-40B4-BE49-F238E27FC236}">
                <a16:creationId xmlns:a16="http://schemas.microsoft.com/office/drawing/2014/main" id="{D6746B2E-2D87-2142-2544-2F0C63A27914}"/>
              </a:ext>
            </a:extLst>
          </p:cNvPr>
          <p:cNvGrpSpPr/>
          <p:nvPr/>
        </p:nvGrpSpPr>
        <p:grpSpPr>
          <a:xfrm>
            <a:off x="235271" y="3528644"/>
            <a:ext cx="4758760" cy="855632"/>
            <a:chOff x="223548" y="1242646"/>
            <a:chExt cx="4758760" cy="855632"/>
          </a:xfrm>
        </p:grpSpPr>
        <p:sp>
          <p:nvSpPr>
            <p:cNvPr id="12" name="TextBox 11">
              <a:extLst>
                <a:ext uri="{FF2B5EF4-FFF2-40B4-BE49-F238E27FC236}">
                  <a16:creationId xmlns:a16="http://schemas.microsoft.com/office/drawing/2014/main" id="{F0CEA326-801F-7FDD-1CDD-5BE230A839D0}"/>
                </a:ext>
              </a:extLst>
            </p:cNvPr>
            <p:cNvSpPr txBox="1"/>
            <p:nvPr/>
          </p:nvSpPr>
          <p:spPr>
            <a:xfrm>
              <a:off x="223548" y="1482725"/>
              <a:ext cx="2514600" cy="615553"/>
            </a:xfrm>
            <a:prstGeom prst="rect">
              <a:avLst/>
            </a:prstGeom>
            <a:noFill/>
            <a:ln w="28575">
              <a:solidFill>
                <a:srgbClr val="C00000"/>
              </a:solidFill>
            </a:ln>
          </p:spPr>
          <p:txBody>
            <a:bodyPr wrap="square" rtlCol="0">
              <a:spAutoFit/>
            </a:bodyPr>
            <a:lstStyle/>
            <a:p>
              <a:r>
                <a:rPr lang="en-BE" dirty="0"/>
                <a:t>Short Commit Message</a:t>
              </a:r>
            </a:p>
            <a:p>
              <a:pPr marL="285750" indent="-285750">
                <a:buFont typeface="Arial" panose="020B0604020202020204" pitchFamily="34" charset="0"/>
                <a:buChar char="•"/>
              </a:pPr>
              <a:r>
                <a:rPr lang="en-GB" sz="1600" dirty="0"/>
                <a:t>U</a:t>
              </a:r>
              <a:r>
                <a:rPr lang="en-BE" sz="1600" dirty="0"/>
                <a:t>nder 50 characters</a:t>
              </a:r>
            </a:p>
          </p:txBody>
        </p:sp>
        <p:cxnSp>
          <p:nvCxnSpPr>
            <p:cNvPr id="14" name="Straight Arrow Connector 13">
              <a:extLst>
                <a:ext uri="{FF2B5EF4-FFF2-40B4-BE49-F238E27FC236}">
                  <a16:creationId xmlns:a16="http://schemas.microsoft.com/office/drawing/2014/main" id="{0B6B3F94-EE5D-C8D0-42AC-63881DDAF28C}"/>
                </a:ext>
              </a:extLst>
            </p:cNvPr>
            <p:cNvCxnSpPr>
              <a:cxnSpLocks/>
            </p:cNvCxnSpPr>
            <p:nvPr/>
          </p:nvCxnSpPr>
          <p:spPr>
            <a:xfrm flipV="1">
              <a:off x="2717152" y="1242646"/>
              <a:ext cx="2265156" cy="54785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A5F7CB4E-6EC2-E688-D901-B8393F534D94}"/>
              </a:ext>
            </a:extLst>
          </p:cNvPr>
          <p:cNvGrpSpPr/>
          <p:nvPr/>
        </p:nvGrpSpPr>
        <p:grpSpPr>
          <a:xfrm>
            <a:off x="235271" y="3749145"/>
            <a:ext cx="4842873" cy="1897768"/>
            <a:chOff x="223548" y="1463147"/>
            <a:chExt cx="4842873" cy="1897768"/>
          </a:xfrm>
        </p:grpSpPr>
        <p:sp>
          <p:nvSpPr>
            <p:cNvPr id="16" name="TextBox 15">
              <a:extLst>
                <a:ext uri="{FF2B5EF4-FFF2-40B4-BE49-F238E27FC236}">
                  <a16:creationId xmlns:a16="http://schemas.microsoft.com/office/drawing/2014/main" id="{8A87B2C0-C9DF-A514-F65B-53D3A1DB4E89}"/>
                </a:ext>
              </a:extLst>
            </p:cNvPr>
            <p:cNvSpPr txBox="1"/>
            <p:nvPr/>
          </p:nvSpPr>
          <p:spPr>
            <a:xfrm>
              <a:off x="223548" y="2499141"/>
              <a:ext cx="3729035" cy="861774"/>
            </a:xfrm>
            <a:prstGeom prst="rect">
              <a:avLst/>
            </a:prstGeom>
            <a:noFill/>
            <a:ln w="28575">
              <a:solidFill>
                <a:srgbClr val="C00000"/>
              </a:solidFill>
            </a:ln>
          </p:spPr>
          <p:txBody>
            <a:bodyPr wrap="square" rtlCol="0">
              <a:spAutoFit/>
            </a:bodyPr>
            <a:lstStyle/>
            <a:p>
              <a:r>
                <a:rPr lang="en-BE" dirty="0"/>
                <a:t>Detailed Commit Message</a:t>
              </a:r>
            </a:p>
            <a:p>
              <a:pPr marL="285750" indent="-285750">
                <a:buFont typeface="Arial" panose="020B0604020202020204" pitchFamily="34" charset="0"/>
                <a:buChar char="•"/>
              </a:pPr>
              <a:r>
                <a:rPr lang="en-BE" sz="1600" dirty="0"/>
                <a:t>One or more paragraphs, if needed</a:t>
              </a:r>
            </a:p>
            <a:p>
              <a:pPr marL="285750" indent="-285750">
                <a:buFont typeface="Arial" panose="020B0604020202020204" pitchFamily="34" charset="0"/>
                <a:buChar char="•"/>
              </a:pPr>
              <a:r>
                <a:rPr lang="en-BE" sz="1600" dirty="0"/>
                <a:t>Lines kept under 72 characters</a:t>
              </a:r>
            </a:p>
          </p:txBody>
        </p:sp>
        <p:sp>
          <p:nvSpPr>
            <p:cNvPr id="21" name="Left Brace 20">
              <a:extLst>
                <a:ext uri="{FF2B5EF4-FFF2-40B4-BE49-F238E27FC236}">
                  <a16:creationId xmlns:a16="http://schemas.microsoft.com/office/drawing/2014/main" id="{FDA5ED08-BFBA-C64D-DD46-2C893CA9C510}"/>
                </a:ext>
              </a:extLst>
            </p:cNvPr>
            <p:cNvSpPr/>
            <p:nvPr/>
          </p:nvSpPr>
          <p:spPr>
            <a:xfrm>
              <a:off x="4834448" y="1463147"/>
              <a:ext cx="231973" cy="1256608"/>
            </a:xfrm>
            <a:prstGeom prst="lef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cxnSp>
          <p:nvCxnSpPr>
            <p:cNvPr id="22" name="Straight Arrow Connector 21">
              <a:extLst>
                <a:ext uri="{FF2B5EF4-FFF2-40B4-BE49-F238E27FC236}">
                  <a16:creationId xmlns:a16="http://schemas.microsoft.com/office/drawing/2014/main" id="{C85FC4E4-26BC-3B82-D890-D1E864304E89}"/>
                </a:ext>
              </a:extLst>
            </p:cNvPr>
            <p:cNvCxnSpPr>
              <a:cxnSpLocks/>
            </p:cNvCxnSpPr>
            <p:nvPr/>
          </p:nvCxnSpPr>
          <p:spPr>
            <a:xfrm flipV="1">
              <a:off x="3952583" y="2499141"/>
              <a:ext cx="754930" cy="39110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B5622856-A7BD-B458-DDBD-732B23A7AC81}"/>
              </a:ext>
            </a:extLst>
          </p:cNvPr>
          <p:cNvGrpSpPr/>
          <p:nvPr/>
        </p:nvGrpSpPr>
        <p:grpSpPr>
          <a:xfrm>
            <a:off x="793909" y="1275266"/>
            <a:ext cx="3067544" cy="1709365"/>
            <a:chOff x="456979" y="4789054"/>
            <a:chExt cx="3353459" cy="1966912"/>
          </a:xfrm>
        </p:grpSpPr>
        <p:pic>
          <p:nvPicPr>
            <p:cNvPr id="1026" name="Picture 2" descr="A Beginner's Guide to Git — How to Write a Good Commit Message">
              <a:extLst>
                <a:ext uri="{FF2B5EF4-FFF2-40B4-BE49-F238E27FC236}">
                  <a16:creationId xmlns:a16="http://schemas.microsoft.com/office/drawing/2014/main" id="{BFC804EE-FA5B-DEA9-2BEE-4693011EF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873" y="4789054"/>
              <a:ext cx="3114383" cy="15975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DB7063-81DA-F64E-AF03-A29B6D4FF889}"/>
                </a:ext>
              </a:extLst>
            </p:cNvPr>
            <p:cNvSpPr txBox="1"/>
            <p:nvPr/>
          </p:nvSpPr>
          <p:spPr>
            <a:xfrm>
              <a:off x="456979" y="6386634"/>
              <a:ext cx="3353459" cy="369332"/>
            </a:xfrm>
            <a:prstGeom prst="rect">
              <a:avLst/>
            </a:prstGeom>
            <a:noFill/>
          </p:spPr>
          <p:txBody>
            <a:bodyPr wrap="square">
              <a:spAutoFit/>
            </a:bodyPr>
            <a:lstStyle/>
            <a:p>
              <a:r>
                <a:rPr lang="en-BE" sz="900" dirty="0"/>
                <a:t>https://www.freecodecamp.org/news/a-beginners-guide-to-git-how-to-write-a-good-commit-message/</a:t>
              </a:r>
            </a:p>
          </p:txBody>
        </p:sp>
      </p:grpSp>
      <p:pic>
        <p:nvPicPr>
          <p:cNvPr id="2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778FE581-4F0D-55A5-9E24-251E61712CFA}"/>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3046493" y="1252154"/>
            <a:ext cx="964501" cy="964501"/>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E24CFEF6-D0F4-9B70-D8C6-7167E5B09EDE}"/>
              </a:ext>
            </a:extLst>
          </p:cNvPr>
          <p:cNvGrpSpPr/>
          <p:nvPr/>
        </p:nvGrpSpPr>
        <p:grpSpPr>
          <a:xfrm>
            <a:off x="5078144" y="1035187"/>
            <a:ext cx="6187105" cy="2085317"/>
            <a:chOff x="5078144" y="1035187"/>
            <a:chExt cx="6187105" cy="2085317"/>
          </a:xfrm>
        </p:grpSpPr>
        <p:grpSp>
          <p:nvGrpSpPr>
            <p:cNvPr id="26" name="Group 25">
              <a:extLst>
                <a:ext uri="{FF2B5EF4-FFF2-40B4-BE49-F238E27FC236}">
                  <a16:creationId xmlns:a16="http://schemas.microsoft.com/office/drawing/2014/main" id="{4A4AE09B-B0A8-95A4-C9AD-3D9BB6417AE9}"/>
                </a:ext>
              </a:extLst>
            </p:cNvPr>
            <p:cNvGrpSpPr/>
            <p:nvPr/>
          </p:nvGrpSpPr>
          <p:grpSpPr>
            <a:xfrm>
              <a:off x="5078144" y="1035187"/>
              <a:ext cx="6187105" cy="1839096"/>
              <a:chOff x="5078144" y="1035187"/>
              <a:chExt cx="6187105" cy="1839096"/>
            </a:xfrm>
          </p:grpSpPr>
          <p:pic>
            <p:nvPicPr>
              <p:cNvPr id="19" name="Picture 18" descr="Text&#10;&#10;Description automatically generated">
                <a:extLst>
                  <a:ext uri="{FF2B5EF4-FFF2-40B4-BE49-F238E27FC236}">
                    <a16:creationId xmlns:a16="http://schemas.microsoft.com/office/drawing/2014/main" id="{3C3C7C27-93C7-F5C7-8AAD-E2713FD52DE4}"/>
                  </a:ext>
                </a:extLst>
              </p:cNvPr>
              <p:cNvPicPr>
                <a:picLocks noChangeAspect="1"/>
              </p:cNvPicPr>
              <p:nvPr/>
            </p:nvPicPr>
            <p:blipFill rotWithShape="1">
              <a:blip r:embed="rId7"/>
              <a:srcRect r="35676"/>
              <a:stretch/>
            </p:blipFill>
            <p:spPr>
              <a:xfrm>
                <a:off x="5078144" y="1035187"/>
                <a:ext cx="5309977" cy="1839096"/>
              </a:xfrm>
              <a:prstGeom prst="rect">
                <a:avLst/>
              </a:prstGeom>
            </p:spPr>
          </p:pic>
          <p:pic>
            <p:nvPicPr>
              <p:cNvPr id="2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6E06C28-8BB3-1764-5484-2377857EB02D}"/>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476672" y="1219464"/>
                <a:ext cx="788577" cy="708301"/>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TextBox 27">
              <a:extLst>
                <a:ext uri="{FF2B5EF4-FFF2-40B4-BE49-F238E27FC236}">
                  <a16:creationId xmlns:a16="http://schemas.microsoft.com/office/drawing/2014/main" id="{79E5347A-095C-2830-E9C2-28D57A2C13D5}"/>
                </a:ext>
              </a:extLst>
            </p:cNvPr>
            <p:cNvSpPr txBox="1"/>
            <p:nvPr/>
          </p:nvSpPr>
          <p:spPr>
            <a:xfrm>
              <a:off x="5294795" y="2874283"/>
              <a:ext cx="4899630" cy="246221"/>
            </a:xfrm>
            <a:prstGeom prst="rect">
              <a:avLst/>
            </a:prstGeom>
            <a:noFill/>
          </p:spPr>
          <p:txBody>
            <a:bodyPr wrap="square">
              <a:spAutoFit/>
            </a:bodyPr>
            <a:lstStyle/>
            <a:p>
              <a:r>
                <a:rPr lang="en-BE" sz="1000" dirty="0"/>
                <a:t>http://benfalk.com/blog/2015/10/20/commits-that-matter/</a:t>
              </a:r>
            </a:p>
          </p:txBody>
        </p:sp>
      </p:grpSp>
    </p:spTree>
    <p:extLst>
      <p:ext uri="{BB962C8B-B14F-4D97-AF65-F5344CB8AC3E}">
        <p14:creationId xmlns:p14="http://schemas.microsoft.com/office/powerpoint/2010/main" val="311260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dissolv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dissolv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normAutofit/>
          </a:bodyPr>
          <a:lstStyle/>
          <a:p>
            <a:pPr algn="l"/>
            <a:r>
              <a:rPr lang="en-GB" sz="3200" b="0" i="0" dirty="0">
                <a:solidFill>
                  <a:srgbClr val="1F1F1F"/>
                </a:solidFill>
                <a:effectLst/>
                <a:latin typeface="Source Sans Pro" panose="020B0503030403020204" pitchFamily="34" charset="0"/>
              </a:rPr>
              <a:t>Getting More Information About Our Changes</a:t>
            </a:r>
          </a:p>
        </p:txBody>
      </p:sp>
      <p:sp>
        <p:nvSpPr>
          <p:cNvPr id="2" name="TextBox 1">
            <a:extLst>
              <a:ext uri="{FF2B5EF4-FFF2-40B4-BE49-F238E27FC236}">
                <a16:creationId xmlns:a16="http://schemas.microsoft.com/office/drawing/2014/main" id="{B63DAA7E-E1B2-83F5-1ED1-CD3A07503E60}"/>
              </a:ext>
            </a:extLst>
          </p:cNvPr>
          <p:cNvSpPr txBox="1"/>
          <p:nvPr/>
        </p:nvSpPr>
        <p:spPr>
          <a:xfrm>
            <a:off x="642937" y="1283795"/>
            <a:ext cx="3629025" cy="1200329"/>
          </a:xfrm>
          <a:prstGeom prst="rect">
            <a:avLst/>
          </a:prstGeom>
          <a:noFill/>
        </p:spPr>
        <p:txBody>
          <a:bodyPr wrap="square" rtlCol="0">
            <a:spAutoFit/>
          </a:bodyPr>
          <a:lstStyle/>
          <a:p>
            <a:pPr marL="285750" indent="-285750">
              <a:buFont typeface="Arial" panose="020B0604020202020204" pitchFamily="34" charset="0"/>
              <a:buChar char="•"/>
            </a:pPr>
            <a:r>
              <a:rPr lang="en-BE" dirty="0"/>
              <a:t>git log</a:t>
            </a:r>
          </a:p>
          <a:p>
            <a:pPr marL="285750" indent="-285750">
              <a:buFont typeface="Arial" panose="020B0604020202020204" pitchFamily="34" charset="0"/>
              <a:buChar char="•"/>
            </a:pPr>
            <a:r>
              <a:rPr lang="en-BE" dirty="0"/>
              <a:t>git log – p</a:t>
            </a:r>
          </a:p>
          <a:p>
            <a:pPr marL="285750" indent="-285750">
              <a:buFont typeface="Arial" panose="020B0604020202020204" pitchFamily="34" charset="0"/>
              <a:buChar char="•"/>
            </a:pPr>
            <a:r>
              <a:rPr lang="en-BE" dirty="0"/>
              <a:t>git log --stat</a:t>
            </a:r>
          </a:p>
          <a:p>
            <a:pPr marL="285750" indent="-285750">
              <a:buFont typeface="Arial" panose="020B0604020202020204" pitchFamily="34" charset="0"/>
              <a:buChar char="•"/>
            </a:pPr>
            <a:r>
              <a:rPr lang="en-GB" dirty="0"/>
              <a:t>g</a:t>
            </a:r>
            <a:r>
              <a:rPr lang="en-BE" dirty="0"/>
              <a:t>it show &lt;commit-ID&gt;</a:t>
            </a:r>
          </a:p>
        </p:txBody>
      </p:sp>
      <p:grpSp>
        <p:nvGrpSpPr>
          <p:cNvPr id="20" name="Group 19">
            <a:extLst>
              <a:ext uri="{FF2B5EF4-FFF2-40B4-BE49-F238E27FC236}">
                <a16:creationId xmlns:a16="http://schemas.microsoft.com/office/drawing/2014/main" id="{79A7B121-F26D-E491-B33C-0BE428E6531A}"/>
              </a:ext>
            </a:extLst>
          </p:cNvPr>
          <p:cNvGrpSpPr/>
          <p:nvPr/>
        </p:nvGrpSpPr>
        <p:grpSpPr>
          <a:xfrm>
            <a:off x="213533" y="2830120"/>
            <a:ext cx="4487832" cy="3489048"/>
            <a:chOff x="365900" y="3095152"/>
            <a:chExt cx="4487832" cy="3489048"/>
          </a:xfrm>
        </p:grpSpPr>
        <p:sp>
          <p:nvSpPr>
            <p:cNvPr id="10" name="TextBox 9">
              <a:extLst>
                <a:ext uri="{FF2B5EF4-FFF2-40B4-BE49-F238E27FC236}">
                  <a16:creationId xmlns:a16="http://schemas.microsoft.com/office/drawing/2014/main" id="{BF575B7A-E187-0783-F29B-C4BD21C2029B}"/>
                </a:ext>
              </a:extLst>
            </p:cNvPr>
            <p:cNvSpPr txBox="1"/>
            <p:nvPr/>
          </p:nvSpPr>
          <p:spPr>
            <a:xfrm>
              <a:off x="1275159" y="3095152"/>
              <a:ext cx="2364582" cy="369332"/>
            </a:xfrm>
            <a:prstGeom prst="rect">
              <a:avLst/>
            </a:prstGeom>
            <a:noFill/>
          </p:spPr>
          <p:txBody>
            <a:bodyPr wrap="square">
              <a:spAutoFit/>
            </a:bodyPr>
            <a:lstStyle/>
            <a:p>
              <a:r>
                <a:rPr lang="en-BE" dirty="0"/>
                <a:t>git log -p</a:t>
              </a:r>
            </a:p>
          </p:txBody>
        </p:sp>
        <p:pic>
          <p:nvPicPr>
            <p:cNvPr id="13" name="Picture 12" descr="Text&#10;&#10;Description automatically generated">
              <a:extLst>
                <a:ext uri="{FF2B5EF4-FFF2-40B4-BE49-F238E27FC236}">
                  <a16:creationId xmlns:a16="http://schemas.microsoft.com/office/drawing/2014/main" id="{364C1337-2E00-6F61-CFAD-6BC7C3BC6532}"/>
                </a:ext>
              </a:extLst>
            </p:cNvPr>
            <p:cNvPicPr>
              <a:picLocks noChangeAspect="1"/>
            </p:cNvPicPr>
            <p:nvPr/>
          </p:nvPicPr>
          <p:blipFill>
            <a:blip r:embed="rId3"/>
            <a:stretch>
              <a:fillRect/>
            </a:stretch>
          </p:blipFill>
          <p:spPr>
            <a:xfrm>
              <a:off x="365900" y="3428999"/>
              <a:ext cx="4487832" cy="3155201"/>
            </a:xfrm>
            <a:prstGeom prst="rect">
              <a:avLst/>
            </a:prstGeom>
          </p:spPr>
        </p:pic>
      </p:grpSp>
      <p:grpSp>
        <p:nvGrpSpPr>
          <p:cNvPr id="19" name="Group 18">
            <a:extLst>
              <a:ext uri="{FF2B5EF4-FFF2-40B4-BE49-F238E27FC236}">
                <a16:creationId xmlns:a16="http://schemas.microsoft.com/office/drawing/2014/main" id="{1B00647E-4C83-E054-7D38-513BF4A04F45}"/>
              </a:ext>
            </a:extLst>
          </p:cNvPr>
          <p:cNvGrpSpPr/>
          <p:nvPr/>
        </p:nvGrpSpPr>
        <p:grpSpPr>
          <a:xfrm>
            <a:off x="6297055" y="2642720"/>
            <a:ext cx="4973686" cy="2040457"/>
            <a:chOff x="6096000" y="3679288"/>
            <a:chExt cx="4973686" cy="2040457"/>
          </a:xfrm>
        </p:grpSpPr>
        <p:pic>
          <p:nvPicPr>
            <p:cNvPr id="7" name="Picture 6" descr="Graphical user interface, text, application&#10;&#10;Description automatically generated">
              <a:extLst>
                <a:ext uri="{FF2B5EF4-FFF2-40B4-BE49-F238E27FC236}">
                  <a16:creationId xmlns:a16="http://schemas.microsoft.com/office/drawing/2014/main" id="{326DBDCD-4FB1-C5C0-02B9-077521EC467A}"/>
                </a:ext>
              </a:extLst>
            </p:cNvPr>
            <p:cNvPicPr>
              <a:picLocks noChangeAspect="1"/>
            </p:cNvPicPr>
            <p:nvPr/>
          </p:nvPicPr>
          <p:blipFill>
            <a:blip r:embed="rId4"/>
            <a:stretch>
              <a:fillRect/>
            </a:stretch>
          </p:blipFill>
          <p:spPr>
            <a:xfrm>
              <a:off x="6096000" y="4054594"/>
              <a:ext cx="4973686" cy="1665151"/>
            </a:xfrm>
            <a:prstGeom prst="rect">
              <a:avLst/>
            </a:prstGeom>
          </p:spPr>
        </p:pic>
        <p:sp>
          <p:nvSpPr>
            <p:cNvPr id="15" name="TextBox 14">
              <a:extLst>
                <a:ext uri="{FF2B5EF4-FFF2-40B4-BE49-F238E27FC236}">
                  <a16:creationId xmlns:a16="http://schemas.microsoft.com/office/drawing/2014/main" id="{B0004D11-C37F-E9E9-FB62-ACD874430062}"/>
                </a:ext>
              </a:extLst>
            </p:cNvPr>
            <p:cNvSpPr txBox="1"/>
            <p:nvPr/>
          </p:nvSpPr>
          <p:spPr>
            <a:xfrm>
              <a:off x="7190184" y="3679288"/>
              <a:ext cx="2364582" cy="369332"/>
            </a:xfrm>
            <a:prstGeom prst="rect">
              <a:avLst/>
            </a:prstGeom>
            <a:noFill/>
          </p:spPr>
          <p:txBody>
            <a:bodyPr wrap="square">
              <a:spAutoFit/>
            </a:bodyPr>
            <a:lstStyle/>
            <a:p>
              <a:r>
                <a:rPr lang="en-BE" dirty="0"/>
                <a:t>git log --stat</a:t>
              </a:r>
            </a:p>
          </p:txBody>
        </p:sp>
      </p:grpSp>
      <p:grpSp>
        <p:nvGrpSpPr>
          <p:cNvPr id="18" name="Group 17">
            <a:extLst>
              <a:ext uri="{FF2B5EF4-FFF2-40B4-BE49-F238E27FC236}">
                <a16:creationId xmlns:a16="http://schemas.microsoft.com/office/drawing/2014/main" id="{4BA79659-80CC-06E6-8918-C35D413C1231}"/>
              </a:ext>
            </a:extLst>
          </p:cNvPr>
          <p:cNvGrpSpPr/>
          <p:nvPr/>
        </p:nvGrpSpPr>
        <p:grpSpPr>
          <a:xfrm>
            <a:off x="6297055" y="915547"/>
            <a:ext cx="5252008" cy="1621375"/>
            <a:chOff x="6101792" y="1372672"/>
            <a:chExt cx="5252008" cy="1621375"/>
          </a:xfrm>
        </p:grpSpPr>
        <p:pic>
          <p:nvPicPr>
            <p:cNvPr id="3" name="Picture 2" descr="Text&#10;&#10;Description automatically generated">
              <a:extLst>
                <a:ext uri="{FF2B5EF4-FFF2-40B4-BE49-F238E27FC236}">
                  <a16:creationId xmlns:a16="http://schemas.microsoft.com/office/drawing/2014/main" id="{F68130F6-B6F7-BF39-8438-33644A0B4774}"/>
                </a:ext>
              </a:extLst>
            </p:cNvPr>
            <p:cNvPicPr>
              <a:picLocks noChangeAspect="1"/>
            </p:cNvPicPr>
            <p:nvPr/>
          </p:nvPicPr>
          <p:blipFill rotWithShape="1">
            <a:blip r:embed="rId5"/>
            <a:srcRect t="36217"/>
            <a:stretch/>
          </p:blipFill>
          <p:spPr>
            <a:xfrm>
              <a:off x="6101792" y="1728691"/>
              <a:ext cx="5252008" cy="1265356"/>
            </a:xfrm>
            <a:prstGeom prst="rect">
              <a:avLst/>
            </a:prstGeom>
          </p:spPr>
        </p:pic>
        <p:sp>
          <p:nvSpPr>
            <p:cNvPr id="17" name="TextBox 16">
              <a:extLst>
                <a:ext uri="{FF2B5EF4-FFF2-40B4-BE49-F238E27FC236}">
                  <a16:creationId xmlns:a16="http://schemas.microsoft.com/office/drawing/2014/main" id="{3D594C73-0E47-9B44-63E0-E8BA0DF52B76}"/>
                </a:ext>
              </a:extLst>
            </p:cNvPr>
            <p:cNvSpPr txBox="1"/>
            <p:nvPr/>
          </p:nvSpPr>
          <p:spPr>
            <a:xfrm>
              <a:off x="7400552" y="1372672"/>
              <a:ext cx="971923" cy="369332"/>
            </a:xfrm>
            <a:prstGeom prst="rect">
              <a:avLst/>
            </a:prstGeom>
            <a:noFill/>
          </p:spPr>
          <p:txBody>
            <a:bodyPr wrap="square">
              <a:spAutoFit/>
            </a:bodyPr>
            <a:lstStyle/>
            <a:p>
              <a:r>
                <a:rPr lang="en-BE" dirty="0"/>
                <a:t>git log </a:t>
              </a:r>
            </a:p>
          </p:txBody>
        </p:sp>
      </p:grpSp>
      <p:grpSp>
        <p:nvGrpSpPr>
          <p:cNvPr id="8" name="Group 7">
            <a:extLst>
              <a:ext uri="{FF2B5EF4-FFF2-40B4-BE49-F238E27FC236}">
                <a16:creationId xmlns:a16="http://schemas.microsoft.com/office/drawing/2014/main" id="{BFF7AF97-68E7-4EE8-FDD2-A086A378FB27}"/>
              </a:ext>
            </a:extLst>
          </p:cNvPr>
          <p:cNvGrpSpPr/>
          <p:nvPr/>
        </p:nvGrpSpPr>
        <p:grpSpPr>
          <a:xfrm>
            <a:off x="4271962" y="4835647"/>
            <a:ext cx="4707915" cy="1958378"/>
            <a:chOff x="4271962" y="4835647"/>
            <a:chExt cx="4707915" cy="1958378"/>
          </a:xfrm>
        </p:grpSpPr>
        <p:grpSp>
          <p:nvGrpSpPr>
            <p:cNvPr id="23" name="Group 22">
              <a:extLst>
                <a:ext uri="{FF2B5EF4-FFF2-40B4-BE49-F238E27FC236}">
                  <a16:creationId xmlns:a16="http://schemas.microsoft.com/office/drawing/2014/main" id="{A99E6DDE-F8BD-6A31-A0D2-DA04B13BB318}"/>
                </a:ext>
              </a:extLst>
            </p:cNvPr>
            <p:cNvGrpSpPr/>
            <p:nvPr/>
          </p:nvGrpSpPr>
          <p:grpSpPr>
            <a:xfrm>
              <a:off x="5866108" y="4835647"/>
              <a:ext cx="1472162" cy="1668644"/>
              <a:chOff x="3078956" y="1116229"/>
              <a:chExt cx="2346722" cy="2645903"/>
            </a:xfrm>
          </p:grpSpPr>
          <p:sp>
            <p:nvSpPr>
              <p:cNvPr id="26" name="TextBox 25">
                <a:extLst>
                  <a:ext uri="{FF2B5EF4-FFF2-40B4-BE49-F238E27FC236}">
                    <a16:creationId xmlns:a16="http://schemas.microsoft.com/office/drawing/2014/main" id="{72C9440A-BF35-05B5-3672-6FB4E187C536}"/>
                  </a:ext>
                </a:extLst>
              </p:cNvPr>
              <p:cNvSpPr txBox="1"/>
              <p:nvPr/>
            </p:nvSpPr>
            <p:spPr>
              <a:xfrm>
                <a:off x="3078956" y="1566000"/>
                <a:ext cx="2346722"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dirty="0">
                    <a:solidFill>
                      <a:srgbClr val="000000"/>
                    </a:solidFill>
                    <a:latin typeface="Menlo" panose="020B0609030804020204" pitchFamily="49" charset="0"/>
                  </a:rPr>
                  <a:t>Grapes</a:t>
                </a:r>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Strawberries</a:t>
                </a:r>
              </a:p>
            </p:txBody>
          </p:sp>
          <p:sp>
            <p:nvSpPr>
              <p:cNvPr id="27" name="TextBox 26">
                <a:extLst>
                  <a:ext uri="{FF2B5EF4-FFF2-40B4-BE49-F238E27FC236}">
                    <a16:creationId xmlns:a16="http://schemas.microsoft.com/office/drawing/2014/main" id="{D10FC1AB-DA22-4042-5D58-59345D16806B}"/>
                  </a:ext>
                </a:extLst>
              </p:cNvPr>
              <p:cNvSpPr txBox="1"/>
              <p:nvPr/>
            </p:nvSpPr>
            <p:spPr>
              <a:xfrm>
                <a:off x="3361134" y="1116229"/>
                <a:ext cx="2064544" cy="536832"/>
              </a:xfrm>
              <a:prstGeom prst="rect">
                <a:avLst/>
              </a:prstGeom>
              <a:noFill/>
            </p:spPr>
            <p:txBody>
              <a:bodyPr wrap="square" rtlCol="0">
                <a:spAutoFit/>
              </a:bodyPr>
              <a:lstStyle/>
              <a:p>
                <a:r>
                  <a:rPr lang="en-GB" sz="1600" b="1" dirty="0"/>
                  <a:t>m</a:t>
                </a:r>
                <a:r>
                  <a:rPr lang="en-BE" sz="1600" b="1" dirty="0"/>
                  <a:t>enu1.txt</a:t>
                </a:r>
              </a:p>
            </p:txBody>
          </p:sp>
        </p:grpSp>
        <p:sp>
          <p:nvSpPr>
            <p:cNvPr id="6" name="TextBox 5">
              <a:extLst>
                <a:ext uri="{FF2B5EF4-FFF2-40B4-BE49-F238E27FC236}">
                  <a16:creationId xmlns:a16="http://schemas.microsoft.com/office/drawing/2014/main" id="{D04C95E7-AED9-391A-7A47-F4CB99E73D90}"/>
                </a:ext>
              </a:extLst>
            </p:cNvPr>
            <p:cNvSpPr txBox="1"/>
            <p:nvPr/>
          </p:nvSpPr>
          <p:spPr>
            <a:xfrm>
              <a:off x="4271962" y="6455471"/>
              <a:ext cx="4707915" cy="338554"/>
            </a:xfrm>
            <a:prstGeom prst="rect">
              <a:avLst/>
            </a:prstGeom>
            <a:noFill/>
          </p:spPr>
          <p:txBody>
            <a:bodyPr wrap="square">
              <a:spAutoFit/>
            </a:bodyPr>
            <a:lstStyle/>
            <a:p>
              <a:r>
                <a:rPr lang="en-GB" sz="1600" b="0" i="0" dirty="0">
                  <a:solidFill>
                    <a:srgbClr val="1F1F1F"/>
                  </a:solidFill>
                  <a:effectLst/>
                  <a:latin typeface="Source Sans Pro" panose="020B0503030403020204" pitchFamily="34" charset="0"/>
                </a:rPr>
                <a:t>Recall that we have one commit in our git repository </a:t>
              </a:r>
              <a:endParaRPr lang="en-US" sz="1600" dirty="0"/>
            </a:p>
          </p:txBody>
        </p:sp>
      </p:grpSp>
    </p:spTree>
    <p:extLst>
      <p:ext uri="{BB962C8B-B14F-4D97-AF65-F5344CB8AC3E}">
        <p14:creationId xmlns:p14="http://schemas.microsoft.com/office/powerpoint/2010/main" val="310461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dissolv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normAutofit/>
          </a:bodyPr>
          <a:lstStyle/>
          <a:p>
            <a:pPr algn="l"/>
            <a:r>
              <a:rPr lang="en-GB" sz="3200" b="0" i="0" dirty="0">
                <a:solidFill>
                  <a:srgbClr val="1F1F1F"/>
                </a:solidFill>
                <a:effectLst/>
                <a:latin typeface="Source Sans Pro" panose="020B0503030403020204" pitchFamily="34" charset="0"/>
              </a:rPr>
              <a:t>Getting More Information About Our Changes</a:t>
            </a:r>
          </a:p>
        </p:txBody>
      </p:sp>
      <p:grpSp>
        <p:nvGrpSpPr>
          <p:cNvPr id="12" name="Group 11">
            <a:extLst>
              <a:ext uri="{FF2B5EF4-FFF2-40B4-BE49-F238E27FC236}">
                <a16:creationId xmlns:a16="http://schemas.microsoft.com/office/drawing/2014/main" id="{983A160D-C031-6EE3-048A-A4F9CFC5D554}"/>
              </a:ext>
            </a:extLst>
          </p:cNvPr>
          <p:cNvGrpSpPr/>
          <p:nvPr/>
        </p:nvGrpSpPr>
        <p:grpSpPr>
          <a:xfrm>
            <a:off x="6069692" y="1237889"/>
            <a:ext cx="5284107" cy="1671687"/>
            <a:chOff x="6069692" y="1237889"/>
            <a:chExt cx="5284107" cy="1671687"/>
          </a:xfrm>
        </p:grpSpPr>
        <p:grpSp>
          <p:nvGrpSpPr>
            <p:cNvPr id="23" name="Group 22">
              <a:extLst>
                <a:ext uri="{FF2B5EF4-FFF2-40B4-BE49-F238E27FC236}">
                  <a16:creationId xmlns:a16="http://schemas.microsoft.com/office/drawing/2014/main" id="{A99E6DDE-F8BD-6A31-A0D2-DA04B13BB318}"/>
                </a:ext>
              </a:extLst>
            </p:cNvPr>
            <p:cNvGrpSpPr/>
            <p:nvPr/>
          </p:nvGrpSpPr>
          <p:grpSpPr>
            <a:xfrm>
              <a:off x="6069692" y="1240932"/>
              <a:ext cx="1472162" cy="1668644"/>
              <a:chOff x="3585681" y="1110960"/>
              <a:chExt cx="2346721" cy="2645903"/>
            </a:xfrm>
          </p:grpSpPr>
          <p:sp>
            <p:nvSpPr>
              <p:cNvPr id="26" name="TextBox 25">
                <a:extLst>
                  <a:ext uri="{FF2B5EF4-FFF2-40B4-BE49-F238E27FC236}">
                    <a16:creationId xmlns:a16="http://schemas.microsoft.com/office/drawing/2014/main" id="{72C9440A-BF35-05B5-3672-6FB4E187C536}"/>
                  </a:ext>
                </a:extLst>
              </p:cNvPr>
              <p:cNvSpPr txBox="1"/>
              <p:nvPr/>
            </p:nvSpPr>
            <p:spPr>
              <a:xfrm>
                <a:off x="3585681" y="1560731"/>
                <a:ext cx="2064544"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Menu1:</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Oranges</a:t>
                </a:r>
              </a:p>
              <a:p>
                <a:r>
                  <a:rPr lang="en-GB" sz="1400" b="0" dirty="0">
                    <a:solidFill>
                      <a:srgbClr val="000000"/>
                    </a:solidFill>
                    <a:effectLst/>
                    <a:latin typeface="Menlo" panose="020B0609030804020204" pitchFamily="49" charset="0"/>
                  </a:rPr>
                  <a:t>Pears</a:t>
                </a:r>
              </a:p>
            </p:txBody>
          </p:sp>
          <p:sp>
            <p:nvSpPr>
              <p:cNvPr id="27" name="TextBox 26">
                <a:extLst>
                  <a:ext uri="{FF2B5EF4-FFF2-40B4-BE49-F238E27FC236}">
                    <a16:creationId xmlns:a16="http://schemas.microsoft.com/office/drawing/2014/main" id="{D10FC1AB-DA22-4042-5D58-59345D16806B}"/>
                  </a:ext>
                </a:extLst>
              </p:cNvPr>
              <p:cNvSpPr txBox="1"/>
              <p:nvPr/>
            </p:nvSpPr>
            <p:spPr>
              <a:xfrm>
                <a:off x="3867857" y="1110960"/>
                <a:ext cx="2064545" cy="536832"/>
              </a:xfrm>
              <a:prstGeom prst="rect">
                <a:avLst/>
              </a:prstGeom>
              <a:noFill/>
            </p:spPr>
            <p:txBody>
              <a:bodyPr wrap="square" rtlCol="0">
                <a:spAutoFit/>
              </a:bodyPr>
              <a:lstStyle/>
              <a:p>
                <a:r>
                  <a:rPr lang="en-GB" sz="1600" b="1" dirty="0"/>
                  <a:t>m</a:t>
                </a:r>
                <a:r>
                  <a:rPr lang="en-BE" sz="1600" b="1" dirty="0"/>
                  <a:t>enu1.txt</a:t>
                </a:r>
              </a:p>
            </p:txBody>
          </p:sp>
        </p:grpSp>
        <p:grpSp>
          <p:nvGrpSpPr>
            <p:cNvPr id="6" name="Group 5">
              <a:extLst>
                <a:ext uri="{FF2B5EF4-FFF2-40B4-BE49-F238E27FC236}">
                  <a16:creationId xmlns:a16="http://schemas.microsoft.com/office/drawing/2014/main" id="{DA1F13BC-B208-BD2B-58FD-BF1B37407568}"/>
                </a:ext>
              </a:extLst>
            </p:cNvPr>
            <p:cNvGrpSpPr/>
            <p:nvPr/>
          </p:nvGrpSpPr>
          <p:grpSpPr>
            <a:xfrm>
              <a:off x="9162562" y="1237889"/>
              <a:ext cx="2191237" cy="1668644"/>
              <a:chOff x="3078954" y="1116229"/>
              <a:chExt cx="3492974" cy="2645903"/>
            </a:xfrm>
          </p:grpSpPr>
          <p:sp>
            <p:nvSpPr>
              <p:cNvPr id="8" name="TextBox 7">
                <a:extLst>
                  <a:ext uri="{FF2B5EF4-FFF2-40B4-BE49-F238E27FC236}">
                    <a16:creationId xmlns:a16="http://schemas.microsoft.com/office/drawing/2014/main" id="{20FAEC6C-783A-7FA0-20C3-575261A7331D}"/>
                  </a:ext>
                </a:extLst>
              </p:cNvPr>
              <p:cNvSpPr txBox="1"/>
              <p:nvPr/>
            </p:nvSpPr>
            <p:spPr>
              <a:xfrm>
                <a:off x="3078954" y="1566000"/>
                <a:ext cx="3492974"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Menu1:</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Oranges</a:t>
                </a:r>
              </a:p>
              <a:p>
                <a:r>
                  <a:rPr lang="en-GB" sz="1400" b="0" dirty="0">
                    <a:solidFill>
                      <a:srgbClr val="000000"/>
                    </a:solidFill>
                    <a:effectLst/>
                    <a:latin typeface="Menlo" panose="020B0609030804020204" pitchFamily="49" charset="0"/>
                  </a:rPr>
                  <a:t>Strawberry </a:t>
                </a:r>
                <a:r>
                  <a:rPr lang="en-GB" sz="1400" b="0" strike="sngStrike" dirty="0">
                    <a:solidFill>
                      <a:srgbClr val="C00000"/>
                    </a:solidFill>
                    <a:effectLst/>
                    <a:latin typeface="Menlo" panose="020B0609030804020204" pitchFamily="49" charset="0"/>
                  </a:rPr>
                  <a:t>Pears</a:t>
                </a:r>
                <a:endParaRPr lang="en-GB" sz="1400" b="0" dirty="0">
                  <a:solidFill>
                    <a:srgbClr val="000000"/>
                  </a:solidFill>
                  <a:effectLst/>
                  <a:latin typeface="Menlo" panose="020B0609030804020204" pitchFamily="49" charset="0"/>
                </a:endParaRPr>
              </a:p>
            </p:txBody>
          </p:sp>
          <p:sp>
            <p:nvSpPr>
              <p:cNvPr id="9" name="TextBox 8">
                <a:extLst>
                  <a:ext uri="{FF2B5EF4-FFF2-40B4-BE49-F238E27FC236}">
                    <a16:creationId xmlns:a16="http://schemas.microsoft.com/office/drawing/2014/main" id="{16D32D3F-94D1-45D6-CA3B-4DDFF5A8906C}"/>
                  </a:ext>
                </a:extLst>
              </p:cNvPr>
              <p:cNvSpPr txBox="1"/>
              <p:nvPr/>
            </p:nvSpPr>
            <p:spPr>
              <a:xfrm>
                <a:off x="3361134" y="1116229"/>
                <a:ext cx="2064544" cy="536832"/>
              </a:xfrm>
              <a:prstGeom prst="rect">
                <a:avLst/>
              </a:prstGeom>
              <a:noFill/>
            </p:spPr>
            <p:txBody>
              <a:bodyPr wrap="square" rtlCol="0">
                <a:spAutoFit/>
              </a:bodyPr>
              <a:lstStyle/>
              <a:p>
                <a:r>
                  <a:rPr lang="en-GB" sz="1600" b="1" dirty="0"/>
                  <a:t>m</a:t>
                </a:r>
                <a:r>
                  <a:rPr lang="en-BE" sz="1600" b="1" dirty="0"/>
                  <a:t>enu1.txt</a:t>
                </a:r>
              </a:p>
            </p:txBody>
          </p:sp>
        </p:grpSp>
        <p:sp>
          <p:nvSpPr>
            <p:cNvPr id="11" name="Right Arrow 10">
              <a:extLst>
                <a:ext uri="{FF2B5EF4-FFF2-40B4-BE49-F238E27FC236}">
                  <a16:creationId xmlns:a16="http://schemas.microsoft.com/office/drawing/2014/main" id="{CCA407F1-E3C1-16B6-8AD6-3EFC97F80F06}"/>
                </a:ext>
              </a:extLst>
            </p:cNvPr>
            <p:cNvSpPr/>
            <p:nvPr/>
          </p:nvSpPr>
          <p:spPr>
            <a:xfrm>
              <a:off x="7472363" y="2022459"/>
              <a:ext cx="1513182" cy="377841"/>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4" name="Picture 13" descr="Text&#10;&#10;Description automatically generated">
            <a:extLst>
              <a:ext uri="{FF2B5EF4-FFF2-40B4-BE49-F238E27FC236}">
                <a16:creationId xmlns:a16="http://schemas.microsoft.com/office/drawing/2014/main" id="{E06ABC58-44EB-8D15-4D17-F0C814343ABE}"/>
              </a:ext>
            </a:extLst>
          </p:cNvPr>
          <p:cNvPicPr>
            <a:picLocks noChangeAspect="1"/>
          </p:cNvPicPr>
          <p:nvPr/>
        </p:nvPicPr>
        <p:blipFill>
          <a:blip r:embed="rId3"/>
          <a:stretch>
            <a:fillRect/>
          </a:stretch>
        </p:blipFill>
        <p:spPr>
          <a:xfrm>
            <a:off x="6651119" y="3429000"/>
            <a:ext cx="5022885" cy="2852877"/>
          </a:xfrm>
          <a:prstGeom prst="rect">
            <a:avLst/>
          </a:prstGeom>
        </p:spPr>
      </p:pic>
      <p:grpSp>
        <p:nvGrpSpPr>
          <p:cNvPr id="22" name="Group 21">
            <a:extLst>
              <a:ext uri="{FF2B5EF4-FFF2-40B4-BE49-F238E27FC236}">
                <a16:creationId xmlns:a16="http://schemas.microsoft.com/office/drawing/2014/main" id="{AC4381EA-6631-58A9-FF89-F25398FF2133}"/>
              </a:ext>
            </a:extLst>
          </p:cNvPr>
          <p:cNvGrpSpPr/>
          <p:nvPr/>
        </p:nvGrpSpPr>
        <p:grpSpPr>
          <a:xfrm>
            <a:off x="630790" y="2471740"/>
            <a:ext cx="3655460" cy="372606"/>
            <a:chOff x="616502" y="2400300"/>
            <a:chExt cx="3655460" cy="372606"/>
          </a:xfrm>
        </p:grpSpPr>
        <p:sp>
          <p:nvSpPr>
            <p:cNvPr id="5" name="Rounded Rectangle 4">
              <a:extLst>
                <a:ext uri="{FF2B5EF4-FFF2-40B4-BE49-F238E27FC236}">
                  <a16:creationId xmlns:a16="http://schemas.microsoft.com/office/drawing/2014/main" id="{59777A21-86D9-6B05-3BA0-85D8AE3EFB0F}"/>
                </a:ext>
              </a:extLst>
            </p:cNvPr>
            <p:cNvSpPr/>
            <p:nvPr/>
          </p:nvSpPr>
          <p:spPr>
            <a:xfrm>
              <a:off x="642937" y="2400300"/>
              <a:ext cx="3357563" cy="36082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TextBox 20">
              <a:extLst>
                <a:ext uri="{FF2B5EF4-FFF2-40B4-BE49-F238E27FC236}">
                  <a16:creationId xmlns:a16="http://schemas.microsoft.com/office/drawing/2014/main" id="{ECDFD42A-2E0E-5B32-354B-CBDCFD1800C9}"/>
                </a:ext>
              </a:extLst>
            </p:cNvPr>
            <p:cNvSpPr txBox="1"/>
            <p:nvPr/>
          </p:nvSpPr>
          <p:spPr>
            <a:xfrm>
              <a:off x="616502" y="2403574"/>
              <a:ext cx="3655460" cy="369332"/>
            </a:xfrm>
            <a:prstGeom prst="rect">
              <a:avLst/>
            </a:prstGeom>
            <a:noFill/>
          </p:spPr>
          <p:txBody>
            <a:bodyPr wrap="square">
              <a:spAutoFit/>
            </a:bodyPr>
            <a:lstStyle/>
            <a:p>
              <a:pPr marL="285750" indent="-285750">
                <a:buFont typeface="Arial" panose="020B0604020202020204" pitchFamily="34" charset="0"/>
                <a:buChar char="•"/>
              </a:pPr>
              <a:r>
                <a:rPr lang="en-BE" dirty="0"/>
                <a:t>git diff (changes not yet staged)</a:t>
              </a:r>
            </a:p>
          </p:txBody>
        </p:sp>
      </p:grpSp>
      <p:grpSp>
        <p:nvGrpSpPr>
          <p:cNvPr id="10" name="Group 9">
            <a:extLst>
              <a:ext uri="{FF2B5EF4-FFF2-40B4-BE49-F238E27FC236}">
                <a16:creationId xmlns:a16="http://schemas.microsoft.com/office/drawing/2014/main" id="{E65938E5-9D9E-1D4A-F06B-7BCF091D96CC}"/>
              </a:ext>
            </a:extLst>
          </p:cNvPr>
          <p:cNvGrpSpPr/>
          <p:nvPr/>
        </p:nvGrpSpPr>
        <p:grpSpPr>
          <a:xfrm>
            <a:off x="3042872" y="1102344"/>
            <a:ext cx="2534233" cy="1277481"/>
            <a:chOff x="4109130" y="1035187"/>
            <a:chExt cx="2534233" cy="1277481"/>
          </a:xfrm>
        </p:grpSpPr>
        <p:grpSp>
          <p:nvGrpSpPr>
            <p:cNvPr id="30" name="Group 29">
              <a:extLst>
                <a:ext uri="{FF2B5EF4-FFF2-40B4-BE49-F238E27FC236}">
                  <a16:creationId xmlns:a16="http://schemas.microsoft.com/office/drawing/2014/main" id="{85D654B3-DCF4-1776-88D4-7424D3BB280F}"/>
                </a:ext>
              </a:extLst>
            </p:cNvPr>
            <p:cNvGrpSpPr/>
            <p:nvPr/>
          </p:nvGrpSpPr>
          <p:grpSpPr>
            <a:xfrm>
              <a:off x="4109130" y="1035187"/>
              <a:ext cx="2534233" cy="1277481"/>
              <a:chOff x="3300414" y="1035187"/>
              <a:chExt cx="2534233" cy="1277481"/>
            </a:xfrm>
          </p:grpSpPr>
          <p:sp>
            <p:nvSpPr>
              <p:cNvPr id="24" name="Right Brace 23">
                <a:extLst>
                  <a:ext uri="{FF2B5EF4-FFF2-40B4-BE49-F238E27FC236}">
                    <a16:creationId xmlns:a16="http://schemas.microsoft.com/office/drawing/2014/main" id="{7DF02BB3-D4C7-1D01-6653-79DAA5D8E4EE}"/>
                  </a:ext>
                </a:extLst>
              </p:cNvPr>
              <p:cNvSpPr/>
              <p:nvPr/>
            </p:nvSpPr>
            <p:spPr>
              <a:xfrm>
                <a:off x="3300414" y="1035187"/>
                <a:ext cx="157162" cy="1277481"/>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5" name="TextBox 24">
                <a:extLst>
                  <a:ext uri="{FF2B5EF4-FFF2-40B4-BE49-F238E27FC236}">
                    <a16:creationId xmlns:a16="http://schemas.microsoft.com/office/drawing/2014/main" id="{C54CFAC9-4750-7A84-A3E8-233733C6F348}"/>
                  </a:ext>
                </a:extLst>
              </p:cNvPr>
              <p:cNvSpPr txBox="1"/>
              <p:nvPr/>
            </p:nvSpPr>
            <p:spPr>
              <a:xfrm>
                <a:off x="3983921" y="1218478"/>
                <a:ext cx="1850726" cy="923330"/>
              </a:xfrm>
              <a:prstGeom prst="rect">
                <a:avLst/>
              </a:prstGeom>
              <a:noFill/>
              <a:ln w="28575">
                <a:solidFill>
                  <a:srgbClr val="C00000"/>
                </a:solidFill>
              </a:ln>
            </p:spPr>
            <p:txBody>
              <a:bodyPr wrap="square" rtlCol="0">
                <a:spAutoFit/>
              </a:bodyPr>
              <a:lstStyle/>
              <a:p>
                <a:r>
                  <a:rPr lang="en-GB" dirty="0"/>
                  <a:t>C</a:t>
                </a:r>
                <a:r>
                  <a:rPr lang="en-BE" dirty="0"/>
                  <a:t>hanges</a:t>
                </a:r>
              </a:p>
              <a:p>
                <a:pPr marL="285750" indent="-285750">
                  <a:buFont typeface="Arial" panose="020B0604020202020204" pitchFamily="34" charset="0"/>
                  <a:buChar char="•"/>
                </a:pPr>
                <a:r>
                  <a:rPr lang="en-GB" dirty="0"/>
                  <a:t>S</a:t>
                </a:r>
                <a:r>
                  <a:rPr lang="en-BE" dirty="0"/>
                  <a:t>taged/</a:t>
                </a:r>
              </a:p>
              <a:p>
                <a:pPr marL="285750" indent="-285750">
                  <a:buFont typeface="Arial" panose="020B0604020202020204" pitchFamily="34" charset="0"/>
                  <a:buChar char="•"/>
                </a:pPr>
                <a:r>
                  <a:rPr lang="en-BE" dirty="0"/>
                  <a:t>committed</a:t>
                </a:r>
              </a:p>
            </p:txBody>
          </p:sp>
        </p:grpSp>
        <p:cxnSp>
          <p:nvCxnSpPr>
            <p:cNvPr id="29" name="Straight Arrow Connector 28">
              <a:extLst>
                <a:ext uri="{FF2B5EF4-FFF2-40B4-BE49-F238E27FC236}">
                  <a16:creationId xmlns:a16="http://schemas.microsoft.com/office/drawing/2014/main" id="{B93837C6-4760-EF67-CA55-F1F181C2E744}"/>
                </a:ext>
              </a:extLst>
            </p:cNvPr>
            <p:cNvCxnSpPr>
              <a:cxnSpLocks/>
              <a:stCxn id="25" idx="1"/>
            </p:cNvCxnSpPr>
            <p:nvPr/>
          </p:nvCxnSpPr>
          <p:spPr>
            <a:xfrm flipH="1" flipV="1">
              <a:off x="4266292" y="1521538"/>
              <a:ext cx="526345" cy="15860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E49FB326-27A8-EDC6-FCFB-3D6A6DD29222}"/>
              </a:ext>
            </a:extLst>
          </p:cNvPr>
          <p:cNvSpPr txBox="1"/>
          <p:nvPr/>
        </p:nvSpPr>
        <p:spPr>
          <a:xfrm>
            <a:off x="642937" y="1283795"/>
            <a:ext cx="3629025" cy="1200329"/>
          </a:xfrm>
          <a:prstGeom prst="rect">
            <a:avLst/>
          </a:prstGeom>
          <a:noFill/>
        </p:spPr>
        <p:txBody>
          <a:bodyPr wrap="square" rtlCol="0">
            <a:spAutoFit/>
          </a:bodyPr>
          <a:lstStyle/>
          <a:p>
            <a:pPr marL="285750" indent="-285750">
              <a:buFont typeface="Arial" panose="020B0604020202020204" pitchFamily="34" charset="0"/>
              <a:buChar char="•"/>
            </a:pPr>
            <a:r>
              <a:rPr lang="en-BE" dirty="0"/>
              <a:t>git log</a:t>
            </a:r>
          </a:p>
          <a:p>
            <a:pPr marL="285750" indent="-285750">
              <a:buFont typeface="Arial" panose="020B0604020202020204" pitchFamily="34" charset="0"/>
              <a:buChar char="•"/>
            </a:pPr>
            <a:r>
              <a:rPr lang="en-BE" dirty="0"/>
              <a:t>git log – p</a:t>
            </a:r>
          </a:p>
          <a:p>
            <a:pPr marL="285750" indent="-285750">
              <a:buFont typeface="Arial" panose="020B0604020202020204" pitchFamily="34" charset="0"/>
              <a:buChar char="•"/>
            </a:pPr>
            <a:r>
              <a:rPr lang="en-BE" dirty="0"/>
              <a:t>git log --stat</a:t>
            </a:r>
          </a:p>
          <a:p>
            <a:pPr marL="285750" indent="-285750">
              <a:buFont typeface="Arial" panose="020B0604020202020204" pitchFamily="34" charset="0"/>
              <a:buChar char="•"/>
            </a:pPr>
            <a:r>
              <a:rPr lang="en-GB" dirty="0"/>
              <a:t>g</a:t>
            </a:r>
            <a:r>
              <a:rPr lang="en-BE" dirty="0"/>
              <a:t>it show &lt;commit-ID&gt;</a:t>
            </a:r>
          </a:p>
        </p:txBody>
      </p:sp>
      <p:sp>
        <p:nvSpPr>
          <p:cNvPr id="2" name="TextBox 1">
            <a:extLst>
              <a:ext uri="{FF2B5EF4-FFF2-40B4-BE49-F238E27FC236}">
                <a16:creationId xmlns:a16="http://schemas.microsoft.com/office/drawing/2014/main" id="{FDE473C5-DE3F-4E32-9944-B9168BF5C20A}"/>
              </a:ext>
            </a:extLst>
          </p:cNvPr>
          <p:cNvSpPr txBox="1"/>
          <p:nvPr/>
        </p:nvSpPr>
        <p:spPr>
          <a:xfrm>
            <a:off x="9339581" y="2906533"/>
            <a:ext cx="2014218" cy="369332"/>
          </a:xfrm>
          <a:prstGeom prst="rect">
            <a:avLst/>
          </a:prstGeom>
          <a:noFill/>
        </p:spPr>
        <p:txBody>
          <a:bodyPr wrap="square" rtlCol="0">
            <a:spAutoFit/>
          </a:bodyPr>
          <a:lstStyle/>
          <a:p>
            <a:r>
              <a:rPr lang="en-GB" b="1" dirty="0"/>
              <a:t>U</a:t>
            </a:r>
            <a:r>
              <a:rPr lang="en-BE" b="1" dirty="0"/>
              <a:t>nstaged changes</a:t>
            </a:r>
          </a:p>
        </p:txBody>
      </p:sp>
      <p:grpSp>
        <p:nvGrpSpPr>
          <p:cNvPr id="16" name="Group 15">
            <a:extLst>
              <a:ext uri="{FF2B5EF4-FFF2-40B4-BE49-F238E27FC236}">
                <a16:creationId xmlns:a16="http://schemas.microsoft.com/office/drawing/2014/main" id="{4F525B5F-DD44-3ED0-10CC-B76C45C57560}"/>
              </a:ext>
            </a:extLst>
          </p:cNvPr>
          <p:cNvGrpSpPr/>
          <p:nvPr/>
        </p:nvGrpSpPr>
        <p:grpSpPr>
          <a:xfrm>
            <a:off x="1083046" y="5045223"/>
            <a:ext cx="4076814" cy="1581391"/>
            <a:chOff x="370647" y="4847061"/>
            <a:chExt cx="4076814" cy="1581391"/>
          </a:xfrm>
        </p:grpSpPr>
        <p:pic>
          <p:nvPicPr>
            <p:cNvPr id="2052" name="Picture 4" descr="Definition of a test case – Bartek Rohard Warszawski">
              <a:extLst>
                <a:ext uri="{FF2B5EF4-FFF2-40B4-BE49-F238E27FC236}">
                  <a16:creationId xmlns:a16="http://schemas.microsoft.com/office/drawing/2014/main" id="{FFB09F5D-A999-CE5A-F5D6-FF7627A4B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756535">
              <a:off x="3061108" y="4847061"/>
              <a:ext cx="1386353" cy="158139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software developer Icon - Free PNG &amp; SVG 1864895 - Noun Project">
              <a:extLst>
                <a:ext uri="{FF2B5EF4-FFF2-40B4-BE49-F238E27FC236}">
                  <a16:creationId xmlns:a16="http://schemas.microsoft.com/office/drawing/2014/main" id="{923F5814-F228-D6E6-169E-C2B2A922B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647" y="5021626"/>
              <a:ext cx="1288238" cy="128823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Two Arrows Svg Png Icon Free Download (#71930) - OnlineWebFonts.COM">
              <a:extLst>
                <a:ext uri="{FF2B5EF4-FFF2-40B4-BE49-F238E27FC236}">
                  <a16:creationId xmlns:a16="http://schemas.microsoft.com/office/drawing/2014/main" id="{E085E374-22CC-C9AF-27B3-14A1F05BFD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8045" y="5365956"/>
              <a:ext cx="915921" cy="9159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6" name="Group 45">
            <a:extLst>
              <a:ext uri="{FF2B5EF4-FFF2-40B4-BE49-F238E27FC236}">
                <a16:creationId xmlns:a16="http://schemas.microsoft.com/office/drawing/2014/main" id="{37F5CB38-FD1F-79BD-022F-694F0F2E16BA}"/>
              </a:ext>
            </a:extLst>
          </p:cNvPr>
          <p:cNvGrpSpPr/>
          <p:nvPr/>
        </p:nvGrpSpPr>
        <p:grpSpPr>
          <a:xfrm>
            <a:off x="214668" y="3325413"/>
            <a:ext cx="5688632" cy="1385639"/>
            <a:chOff x="214668" y="3325413"/>
            <a:chExt cx="5688632" cy="1385639"/>
          </a:xfrm>
        </p:grpSpPr>
        <p:grpSp>
          <p:nvGrpSpPr>
            <p:cNvPr id="13" name="Group 12">
              <a:extLst>
                <a:ext uri="{FF2B5EF4-FFF2-40B4-BE49-F238E27FC236}">
                  <a16:creationId xmlns:a16="http://schemas.microsoft.com/office/drawing/2014/main" id="{E726DCD5-A2CB-8610-8186-CA619653AC7B}"/>
                </a:ext>
              </a:extLst>
            </p:cNvPr>
            <p:cNvGrpSpPr/>
            <p:nvPr/>
          </p:nvGrpSpPr>
          <p:grpSpPr>
            <a:xfrm>
              <a:off x="214668" y="3325413"/>
              <a:ext cx="1600196" cy="1385639"/>
              <a:chOff x="1285214" y="3110395"/>
              <a:chExt cx="1600196" cy="1385639"/>
            </a:xfrm>
          </p:grpSpPr>
          <p:pic>
            <p:nvPicPr>
              <p:cNvPr id="2060" name="Picture 12" descr="use case Icon - Free PNG &amp; SVG 4296729 - Noun Project">
                <a:extLst>
                  <a:ext uri="{FF2B5EF4-FFF2-40B4-BE49-F238E27FC236}">
                    <a16:creationId xmlns:a16="http://schemas.microsoft.com/office/drawing/2014/main" id="{0496B294-DFE7-F477-1CD5-B3A373B617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6074" y="3110395"/>
                <a:ext cx="1200329" cy="12003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F4B224-80D7-E817-C822-0614AE333D51}"/>
                  </a:ext>
                </a:extLst>
              </p:cNvPr>
              <p:cNvSpPr txBox="1"/>
              <p:nvPr/>
            </p:nvSpPr>
            <p:spPr>
              <a:xfrm>
                <a:off x="1285214" y="4188257"/>
                <a:ext cx="1600196" cy="307777"/>
              </a:xfrm>
              <a:prstGeom prst="rect">
                <a:avLst/>
              </a:prstGeom>
              <a:noFill/>
            </p:spPr>
            <p:txBody>
              <a:bodyPr wrap="square" rtlCol="0">
                <a:spAutoFit/>
              </a:bodyPr>
              <a:lstStyle/>
              <a:p>
                <a:r>
                  <a:rPr lang="en-BE" sz="1400" dirty="0"/>
                  <a:t>Involving Use-case</a:t>
                </a:r>
              </a:p>
            </p:txBody>
          </p:sp>
        </p:grpSp>
        <p:grpSp>
          <p:nvGrpSpPr>
            <p:cNvPr id="35" name="Group 34">
              <a:extLst>
                <a:ext uri="{FF2B5EF4-FFF2-40B4-BE49-F238E27FC236}">
                  <a16:creationId xmlns:a16="http://schemas.microsoft.com/office/drawing/2014/main" id="{A6CAA31D-4CF7-F61C-2183-E66CAB985C53}"/>
                </a:ext>
              </a:extLst>
            </p:cNvPr>
            <p:cNvGrpSpPr/>
            <p:nvPr/>
          </p:nvGrpSpPr>
          <p:grpSpPr>
            <a:xfrm>
              <a:off x="2126276" y="3742157"/>
              <a:ext cx="3777024" cy="596982"/>
              <a:chOff x="1312960" y="5286673"/>
              <a:chExt cx="3777024" cy="596982"/>
            </a:xfrm>
          </p:grpSpPr>
          <p:grpSp>
            <p:nvGrpSpPr>
              <p:cNvPr id="36" name="Group 35">
                <a:extLst>
                  <a:ext uri="{FF2B5EF4-FFF2-40B4-BE49-F238E27FC236}">
                    <a16:creationId xmlns:a16="http://schemas.microsoft.com/office/drawing/2014/main" id="{B8E93211-420C-357C-BA82-721303B08373}"/>
                  </a:ext>
                </a:extLst>
              </p:cNvPr>
              <p:cNvGrpSpPr/>
              <p:nvPr/>
            </p:nvGrpSpPr>
            <p:grpSpPr>
              <a:xfrm>
                <a:off x="1312960" y="5286673"/>
                <a:ext cx="3777024" cy="254834"/>
                <a:chOff x="-154688" y="4354276"/>
                <a:chExt cx="3777024" cy="254834"/>
              </a:xfrm>
            </p:grpSpPr>
            <p:cxnSp>
              <p:nvCxnSpPr>
                <p:cNvPr id="42" name="Straight Connector 41">
                  <a:extLst>
                    <a:ext uri="{FF2B5EF4-FFF2-40B4-BE49-F238E27FC236}">
                      <a16:creationId xmlns:a16="http://schemas.microsoft.com/office/drawing/2014/main" id="{7293A956-0039-6457-CC3F-484056544CA8}"/>
                    </a:ext>
                  </a:extLst>
                </p:cNvPr>
                <p:cNvCxnSpPr>
                  <a:cxnSpLocks/>
                  <a:stCxn id="43" idx="6"/>
                </p:cNvCxnSpPr>
                <p:nvPr/>
              </p:nvCxnSpPr>
              <p:spPr>
                <a:xfrm flipV="1">
                  <a:off x="130125" y="4474815"/>
                  <a:ext cx="3492211" cy="6878"/>
                </a:xfrm>
                <a:prstGeom prst="line">
                  <a:avLst/>
                </a:prstGeom>
                <a:ln w="57150" cap="flat" cmpd="sng" algn="ctr">
                  <a:solidFill>
                    <a:srgbClr val="0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Oval 42">
                  <a:extLst>
                    <a:ext uri="{FF2B5EF4-FFF2-40B4-BE49-F238E27FC236}">
                      <a16:creationId xmlns:a16="http://schemas.microsoft.com/office/drawing/2014/main" id="{28E9030F-BB28-A89A-DC75-AF31BC34E377}"/>
                    </a:ext>
                  </a:extLst>
                </p:cNvPr>
                <p:cNvSpPr/>
                <p:nvPr/>
              </p:nvSpPr>
              <p:spPr>
                <a:xfrm>
                  <a:off x="-154688" y="4354276"/>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37" name="Oval 36">
                <a:extLst>
                  <a:ext uri="{FF2B5EF4-FFF2-40B4-BE49-F238E27FC236}">
                    <a16:creationId xmlns:a16="http://schemas.microsoft.com/office/drawing/2014/main" id="{DFA0708D-20D2-C216-BA94-9AA7102D2783}"/>
                  </a:ext>
                </a:extLst>
              </p:cNvPr>
              <p:cNvSpPr/>
              <p:nvPr/>
            </p:nvSpPr>
            <p:spPr>
              <a:xfrm>
                <a:off x="1906866" y="5292447"/>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8" name="Oval 37">
                <a:extLst>
                  <a:ext uri="{FF2B5EF4-FFF2-40B4-BE49-F238E27FC236}">
                    <a16:creationId xmlns:a16="http://schemas.microsoft.com/office/drawing/2014/main" id="{3001F0C2-2B70-435B-A167-C0DAAEBBEA60}"/>
                  </a:ext>
                </a:extLst>
              </p:cNvPr>
              <p:cNvSpPr/>
              <p:nvPr/>
            </p:nvSpPr>
            <p:spPr>
              <a:xfrm>
                <a:off x="2495959" y="5286673"/>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9" name="TextBox 38">
                <a:extLst>
                  <a:ext uri="{FF2B5EF4-FFF2-40B4-BE49-F238E27FC236}">
                    <a16:creationId xmlns:a16="http://schemas.microsoft.com/office/drawing/2014/main" id="{1756E332-69D7-19A9-31A9-6E586BC4204E}"/>
                  </a:ext>
                </a:extLst>
              </p:cNvPr>
              <p:cNvSpPr txBox="1"/>
              <p:nvPr/>
            </p:nvSpPr>
            <p:spPr>
              <a:xfrm>
                <a:off x="1551577" y="5568946"/>
                <a:ext cx="1148215" cy="307777"/>
              </a:xfrm>
              <a:prstGeom prst="rect">
                <a:avLst/>
              </a:prstGeom>
              <a:noFill/>
              <a:ln>
                <a:noFill/>
              </a:ln>
            </p:spPr>
            <p:txBody>
              <a:bodyPr wrap="square" rtlCol="0">
                <a:spAutoFit/>
              </a:bodyPr>
              <a:lstStyle/>
              <a:p>
                <a:r>
                  <a:rPr lang="en-BE" sz="1400" dirty="0">
                    <a:solidFill>
                      <a:srgbClr val="000000"/>
                    </a:solidFill>
                  </a:rPr>
                  <a:t>Commits</a:t>
                </a:r>
              </a:p>
            </p:txBody>
          </p:sp>
          <p:cxnSp>
            <p:nvCxnSpPr>
              <p:cNvPr id="40" name="Straight Arrow Connector 39">
                <a:extLst>
                  <a:ext uri="{FF2B5EF4-FFF2-40B4-BE49-F238E27FC236}">
                    <a16:creationId xmlns:a16="http://schemas.microsoft.com/office/drawing/2014/main" id="{743EBE3C-3BA1-50A7-E5E1-174FD25A22F3}"/>
                  </a:ext>
                </a:extLst>
              </p:cNvPr>
              <p:cNvCxnSpPr>
                <a:cxnSpLocks/>
              </p:cNvCxnSpPr>
              <p:nvPr/>
            </p:nvCxnSpPr>
            <p:spPr bwMode="auto">
              <a:xfrm>
                <a:off x="2933356" y="5583482"/>
                <a:ext cx="1687437" cy="0"/>
              </a:xfrm>
              <a:prstGeom prst="straightConnector1">
                <a:avLst/>
              </a:prstGeom>
              <a:solidFill>
                <a:schemeClr val="accent1"/>
              </a:solidFill>
              <a:ln w="28575" cap="flat" cmpd="sng" algn="ctr">
                <a:solidFill>
                  <a:srgbClr val="000000"/>
                </a:solidFill>
                <a:prstDash val="solid"/>
                <a:round/>
                <a:headEnd type="triangle"/>
                <a:tailEnd type="triangle"/>
              </a:ln>
              <a:effectLst/>
            </p:spPr>
          </p:cxnSp>
          <p:sp>
            <p:nvSpPr>
              <p:cNvPr id="41" name="TextBox 40">
                <a:extLst>
                  <a:ext uri="{FF2B5EF4-FFF2-40B4-BE49-F238E27FC236}">
                    <a16:creationId xmlns:a16="http://schemas.microsoft.com/office/drawing/2014/main" id="{EF462553-07CB-C78B-ABF4-CE554928FA1F}"/>
                  </a:ext>
                </a:extLst>
              </p:cNvPr>
              <p:cNvSpPr txBox="1"/>
              <p:nvPr/>
            </p:nvSpPr>
            <p:spPr>
              <a:xfrm>
                <a:off x="3178854" y="5575878"/>
                <a:ext cx="1290001" cy="307777"/>
              </a:xfrm>
              <a:prstGeom prst="rect">
                <a:avLst/>
              </a:prstGeom>
              <a:noFill/>
              <a:ln>
                <a:noFill/>
              </a:ln>
            </p:spPr>
            <p:txBody>
              <a:bodyPr wrap="square" rtlCol="0">
                <a:spAutoFit/>
              </a:bodyPr>
              <a:lstStyle/>
              <a:p>
                <a:r>
                  <a:rPr lang="en-BE" sz="1400" dirty="0">
                    <a:solidFill>
                      <a:srgbClr val="000000"/>
                    </a:solidFill>
                  </a:rPr>
                  <a:t>Next commit?</a:t>
                </a:r>
              </a:p>
            </p:txBody>
          </p:sp>
        </p:grpSp>
      </p:grpSp>
      <p:grpSp>
        <p:nvGrpSpPr>
          <p:cNvPr id="61" name="Group 60">
            <a:extLst>
              <a:ext uri="{FF2B5EF4-FFF2-40B4-BE49-F238E27FC236}">
                <a16:creationId xmlns:a16="http://schemas.microsoft.com/office/drawing/2014/main" id="{F158510C-EA96-B584-B19F-BD2F28F985B3}"/>
              </a:ext>
            </a:extLst>
          </p:cNvPr>
          <p:cNvGrpSpPr/>
          <p:nvPr/>
        </p:nvGrpSpPr>
        <p:grpSpPr>
          <a:xfrm>
            <a:off x="3643092" y="2290115"/>
            <a:ext cx="1934014" cy="1490956"/>
            <a:chOff x="3643092" y="2290115"/>
            <a:chExt cx="1934014" cy="1490956"/>
          </a:xfrm>
        </p:grpSpPr>
        <p:grpSp>
          <p:nvGrpSpPr>
            <p:cNvPr id="55" name="Group 54">
              <a:extLst>
                <a:ext uri="{FF2B5EF4-FFF2-40B4-BE49-F238E27FC236}">
                  <a16:creationId xmlns:a16="http://schemas.microsoft.com/office/drawing/2014/main" id="{6BD450BF-9F09-8A39-3DA5-443F29E9CC03}"/>
                </a:ext>
              </a:extLst>
            </p:cNvPr>
            <p:cNvGrpSpPr/>
            <p:nvPr/>
          </p:nvGrpSpPr>
          <p:grpSpPr>
            <a:xfrm>
              <a:off x="4466681" y="2290115"/>
              <a:ext cx="1062156" cy="1205018"/>
              <a:chOff x="4220015" y="2563722"/>
              <a:chExt cx="1062156" cy="1205018"/>
            </a:xfrm>
          </p:grpSpPr>
          <p:grpSp>
            <p:nvGrpSpPr>
              <p:cNvPr id="50" name="Group 49">
                <a:extLst>
                  <a:ext uri="{FF2B5EF4-FFF2-40B4-BE49-F238E27FC236}">
                    <a16:creationId xmlns:a16="http://schemas.microsoft.com/office/drawing/2014/main" id="{9E8C5956-93CF-1DE0-6543-2AE0A607F11D}"/>
                  </a:ext>
                </a:extLst>
              </p:cNvPr>
              <p:cNvGrpSpPr/>
              <p:nvPr/>
            </p:nvGrpSpPr>
            <p:grpSpPr>
              <a:xfrm>
                <a:off x="4220015" y="2563722"/>
                <a:ext cx="1062156" cy="1205018"/>
                <a:chOff x="4220015" y="2563722"/>
                <a:chExt cx="1062156" cy="1205018"/>
              </a:xfrm>
            </p:grpSpPr>
            <p:pic>
              <p:nvPicPr>
                <p:cNvPr id="1032" name="Picture 8">
                  <a:extLst>
                    <a:ext uri="{FF2B5EF4-FFF2-40B4-BE49-F238E27FC236}">
                      <a16:creationId xmlns:a16="http://schemas.microsoft.com/office/drawing/2014/main" id="{9CA8CC60-9230-F410-C9A7-66800227BD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5132" y="2871268"/>
                  <a:ext cx="308489" cy="259729"/>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7C41C5A3-A154-F648-89AF-5FC6B6C3962C}"/>
                    </a:ext>
                  </a:extLst>
                </p:cNvPr>
                <p:cNvGrpSpPr/>
                <p:nvPr/>
              </p:nvGrpSpPr>
              <p:grpSpPr>
                <a:xfrm>
                  <a:off x="4220015" y="3177403"/>
                  <a:ext cx="481715" cy="591337"/>
                  <a:chOff x="5095390" y="5219788"/>
                  <a:chExt cx="922018" cy="1161416"/>
                </a:xfrm>
              </p:grpSpPr>
              <p:pic>
                <p:nvPicPr>
                  <p:cNvPr id="45" name="Picture 14" descr="software developer Icon - Free PNG &amp; SVG 1864895 - Noun Project">
                    <a:extLst>
                      <a:ext uri="{FF2B5EF4-FFF2-40B4-BE49-F238E27FC236}">
                        <a16:creationId xmlns:a16="http://schemas.microsoft.com/office/drawing/2014/main" id="{13F4E5E1-FDF9-B51A-404A-25A5E126653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980" r="28428"/>
                  <a:stretch/>
                </p:blipFill>
                <p:spPr bwMode="auto">
                  <a:xfrm>
                    <a:off x="5095390" y="5247300"/>
                    <a:ext cx="922018" cy="1133904"/>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CA110373-E666-4D92-BD4A-70CF38046F03}"/>
                      </a:ext>
                    </a:extLst>
                  </p:cNvPr>
                  <p:cNvSpPr/>
                  <p:nvPr/>
                </p:nvSpPr>
                <p:spPr>
                  <a:xfrm>
                    <a:off x="5779477" y="5219788"/>
                    <a:ext cx="237931" cy="3443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9" name="Picture 6" descr="Message Icons - Free SVG &amp; PNG Message Images - Noun Project">
                  <a:extLst>
                    <a:ext uri="{FF2B5EF4-FFF2-40B4-BE49-F238E27FC236}">
                      <a16:creationId xmlns:a16="http://schemas.microsoft.com/office/drawing/2014/main" id="{0AAAB9FC-F07C-DC4E-951F-BDE10211971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7212" y="2563722"/>
                  <a:ext cx="834959" cy="834959"/>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TextBox 53">
                <a:extLst>
                  <a:ext uri="{FF2B5EF4-FFF2-40B4-BE49-F238E27FC236}">
                    <a16:creationId xmlns:a16="http://schemas.microsoft.com/office/drawing/2014/main" id="{14839EFF-E20C-E5D9-0A08-7A65C999F549}"/>
                  </a:ext>
                </a:extLst>
              </p:cNvPr>
              <p:cNvSpPr txBox="1"/>
              <p:nvPr/>
            </p:nvSpPr>
            <p:spPr>
              <a:xfrm>
                <a:off x="4558798" y="2686146"/>
                <a:ext cx="700540" cy="276999"/>
              </a:xfrm>
              <a:prstGeom prst="rect">
                <a:avLst/>
              </a:prstGeom>
              <a:noFill/>
            </p:spPr>
            <p:txBody>
              <a:bodyPr wrap="square" rtlCol="0">
                <a:spAutoFit/>
              </a:bodyPr>
              <a:lstStyle/>
              <a:p>
                <a:r>
                  <a:rPr lang="en-US" sz="1200" dirty="0"/>
                  <a:t>changes</a:t>
                </a:r>
              </a:p>
            </p:txBody>
          </p:sp>
        </p:grpSp>
        <p:sp>
          <p:nvSpPr>
            <p:cNvPr id="60" name="Right Brace 59">
              <a:extLst>
                <a:ext uri="{FF2B5EF4-FFF2-40B4-BE49-F238E27FC236}">
                  <a16:creationId xmlns:a16="http://schemas.microsoft.com/office/drawing/2014/main" id="{EAED20F5-499A-BFD6-8043-662160D6B396}"/>
                </a:ext>
              </a:extLst>
            </p:cNvPr>
            <p:cNvSpPr/>
            <p:nvPr/>
          </p:nvSpPr>
          <p:spPr>
            <a:xfrm rot="16200000">
              <a:off x="4507704" y="2711670"/>
              <a:ext cx="204789" cy="193401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93165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dissolve">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dissolve">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dissolve">
                                      <p:cBhvr>
                                        <p:cTn id="36" dur="500"/>
                                        <p:tgtEl>
                                          <p:spTgt spid="22"/>
                                        </p:tgtEl>
                                      </p:cBhvr>
                                    </p:animEffect>
                                  </p:childTnLst>
                                </p:cTn>
                              </p:par>
                              <p:par>
                                <p:cTn id="37" presetID="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r>
              <a:rPr lang="en-GB" dirty="0">
                <a:solidFill>
                  <a:srgbClr val="1F1F1F"/>
                </a:solidFill>
                <a:latin typeface="Source Sans Pro" panose="020B0503030403020204" pitchFamily="34" charset="0"/>
              </a:rPr>
              <a:t>Undoing Changes</a:t>
            </a:r>
            <a:endParaRPr lang="en-GB" b="0" i="0" dirty="0">
              <a:solidFill>
                <a:srgbClr val="1F1F1F"/>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07FADCDE-2816-8213-E1C5-5F902F90B678}"/>
              </a:ext>
            </a:extLst>
          </p:cNvPr>
          <p:cNvSpPr txBox="1"/>
          <p:nvPr/>
        </p:nvSpPr>
        <p:spPr>
          <a:xfrm>
            <a:off x="392465" y="1078666"/>
            <a:ext cx="5112224" cy="646331"/>
          </a:xfrm>
          <a:prstGeom prst="rect">
            <a:avLst/>
          </a:prstGeom>
          <a:noFill/>
          <a:ln>
            <a:solidFill>
              <a:srgbClr val="1D15C5"/>
            </a:solidFill>
          </a:ln>
        </p:spPr>
        <p:txBody>
          <a:bodyPr wrap="square" rtlCol="0">
            <a:spAutoFit/>
          </a:bodyPr>
          <a:lstStyle/>
          <a:p>
            <a:pPr marL="285750" indent="-285750">
              <a:buFont typeface="Arial" panose="020B0604020202020204" pitchFamily="34" charset="0"/>
              <a:buChar char="•"/>
            </a:pPr>
            <a:r>
              <a:rPr lang="en-BE" dirty="0">
                <a:solidFill>
                  <a:srgbClr val="166623"/>
                </a:solidFill>
              </a:rPr>
              <a:t>git checkout/restore (reverting unstaged changes)</a:t>
            </a:r>
          </a:p>
          <a:p>
            <a:pPr marL="285750" indent="-285750">
              <a:buFont typeface="Arial" panose="020B0604020202020204" pitchFamily="34" charset="0"/>
              <a:buChar char="•"/>
            </a:pPr>
            <a:r>
              <a:rPr lang="en-BE" dirty="0">
                <a:solidFill>
                  <a:srgbClr val="18827F"/>
                </a:solidFill>
              </a:rPr>
              <a:t>git reset/restore (reverting staged changes)</a:t>
            </a:r>
          </a:p>
        </p:txBody>
      </p:sp>
      <p:grpSp>
        <p:nvGrpSpPr>
          <p:cNvPr id="2" name="Group 1">
            <a:extLst>
              <a:ext uri="{FF2B5EF4-FFF2-40B4-BE49-F238E27FC236}">
                <a16:creationId xmlns:a16="http://schemas.microsoft.com/office/drawing/2014/main" id="{9FBC637E-2826-B33A-27E8-CB6AB8798375}"/>
              </a:ext>
            </a:extLst>
          </p:cNvPr>
          <p:cNvGrpSpPr/>
          <p:nvPr/>
        </p:nvGrpSpPr>
        <p:grpSpPr>
          <a:xfrm>
            <a:off x="5594034" y="1057326"/>
            <a:ext cx="1613914" cy="1672887"/>
            <a:chOff x="7150893" y="1196668"/>
            <a:chExt cx="2064544" cy="1779988"/>
          </a:xfrm>
        </p:grpSpPr>
        <p:sp>
          <p:nvSpPr>
            <p:cNvPr id="3" name="TextBox 2">
              <a:extLst>
                <a:ext uri="{FF2B5EF4-FFF2-40B4-BE49-F238E27FC236}">
                  <a16:creationId xmlns:a16="http://schemas.microsoft.com/office/drawing/2014/main" id="{84FD2401-2D10-C665-16B7-863E24DD76B9}"/>
                </a:ext>
              </a:extLst>
            </p:cNvPr>
            <p:cNvSpPr txBox="1"/>
            <p:nvPr/>
          </p:nvSpPr>
          <p:spPr>
            <a:xfrm>
              <a:off x="7150893" y="1566000"/>
              <a:ext cx="2064544" cy="1410656"/>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5" name="TextBox 4">
              <a:extLst>
                <a:ext uri="{FF2B5EF4-FFF2-40B4-BE49-F238E27FC236}">
                  <a16:creationId xmlns:a16="http://schemas.microsoft.com/office/drawing/2014/main" id="{047F1FD1-66C6-232B-0D8A-822EF390364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grpSp>
        <p:nvGrpSpPr>
          <p:cNvPr id="60" name="Group 59">
            <a:extLst>
              <a:ext uri="{FF2B5EF4-FFF2-40B4-BE49-F238E27FC236}">
                <a16:creationId xmlns:a16="http://schemas.microsoft.com/office/drawing/2014/main" id="{5B2F5475-B2A8-F949-14A8-ED809837521E}"/>
              </a:ext>
            </a:extLst>
          </p:cNvPr>
          <p:cNvGrpSpPr/>
          <p:nvPr/>
        </p:nvGrpSpPr>
        <p:grpSpPr>
          <a:xfrm>
            <a:off x="7297293" y="1039939"/>
            <a:ext cx="2891980" cy="1732104"/>
            <a:chOff x="7297293" y="1039939"/>
            <a:chExt cx="2891980" cy="1732104"/>
          </a:xfrm>
        </p:grpSpPr>
        <p:grpSp>
          <p:nvGrpSpPr>
            <p:cNvPr id="8" name="Group 7">
              <a:extLst>
                <a:ext uri="{FF2B5EF4-FFF2-40B4-BE49-F238E27FC236}">
                  <a16:creationId xmlns:a16="http://schemas.microsoft.com/office/drawing/2014/main" id="{F32DDD80-AB4F-8561-924C-DEF926C9A36E}"/>
                </a:ext>
              </a:extLst>
            </p:cNvPr>
            <p:cNvGrpSpPr/>
            <p:nvPr/>
          </p:nvGrpSpPr>
          <p:grpSpPr>
            <a:xfrm>
              <a:off x="8575359" y="1039939"/>
              <a:ext cx="1613914" cy="1732104"/>
              <a:chOff x="7150893" y="1196668"/>
              <a:chExt cx="2064544" cy="1842996"/>
            </a:xfrm>
          </p:grpSpPr>
          <p:sp>
            <p:nvSpPr>
              <p:cNvPr id="9" name="TextBox 8">
                <a:extLst>
                  <a:ext uri="{FF2B5EF4-FFF2-40B4-BE49-F238E27FC236}">
                    <a16:creationId xmlns:a16="http://schemas.microsoft.com/office/drawing/2014/main" id="{8384407F-0C55-7315-652E-DA25C217CE64}"/>
                  </a:ext>
                </a:extLst>
              </p:cNvPr>
              <p:cNvSpPr txBox="1"/>
              <p:nvPr/>
            </p:nvSpPr>
            <p:spPr>
              <a:xfrm>
                <a:off x="7150893" y="1565999"/>
                <a:ext cx="2064544" cy="1473665"/>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strike="sngStrike"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10" name="TextBox 9">
                <a:extLst>
                  <a:ext uri="{FF2B5EF4-FFF2-40B4-BE49-F238E27FC236}">
                    <a16:creationId xmlns:a16="http://schemas.microsoft.com/office/drawing/2014/main" id="{09FDDC07-4A7F-7176-3BC1-A70B04F9E22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sp>
          <p:nvSpPr>
            <p:cNvPr id="11" name="Right Arrow 10">
              <a:extLst>
                <a:ext uri="{FF2B5EF4-FFF2-40B4-BE49-F238E27FC236}">
                  <a16:creationId xmlns:a16="http://schemas.microsoft.com/office/drawing/2014/main" id="{D77A6557-5D16-EC7A-B0BB-C17907DDEFC2}"/>
                </a:ext>
              </a:extLst>
            </p:cNvPr>
            <p:cNvSpPr/>
            <p:nvPr/>
          </p:nvSpPr>
          <p:spPr>
            <a:xfrm>
              <a:off x="7297293" y="2027025"/>
              <a:ext cx="1188721" cy="3595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2" name="Group 11">
            <a:extLst>
              <a:ext uri="{FF2B5EF4-FFF2-40B4-BE49-F238E27FC236}">
                <a16:creationId xmlns:a16="http://schemas.microsoft.com/office/drawing/2014/main" id="{03EB779B-1BCD-C5A4-499C-BBBC27909409}"/>
              </a:ext>
            </a:extLst>
          </p:cNvPr>
          <p:cNvGrpSpPr/>
          <p:nvPr/>
        </p:nvGrpSpPr>
        <p:grpSpPr>
          <a:xfrm>
            <a:off x="10423592" y="1054723"/>
            <a:ext cx="1393328" cy="1085774"/>
            <a:chOff x="7150893" y="1196668"/>
            <a:chExt cx="1782367" cy="1155287"/>
          </a:xfrm>
        </p:grpSpPr>
        <p:sp>
          <p:nvSpPr>
            <p:cNvPr id="13" name="TextBox 12">
              <a:extLst>
                <a:ext uri="{FF2B5EF4-FFF2-40B4-BE49-F238E27FC236}">
                  <a16:creationId xmlns:a16="http://schemas.microsoft.com/office/drawing/2014/main" id="{7C7C9963-A644-2329-D1EC-AB0C22EC57DA}"/>
                </a:ext>
              </a:extLst>
            </p:cNvPr>
            <p:cNvSpPr txBox="1"/>
            <p:nvPr/>
          </p:nvSpPr>
          <p:spPr>
            <a:xfrm>
              <a:off x="7150893" y="1565999"/>
              <a:ext cx="1695842" cy="785956"/>
            </a:xfrm>
            <a:prstGeom prst="rect">
              <a:avLst/>
            </a:prstGeom>
            <a:noFill/>
            <a:ln w="28575">
              <a:solidFill>
                <a:srgbClr val="18827F"/>
              </a:solidFill>
            </a:ln>
          </p:spPr>
          <p:txBody>
            <a:bodyPr wrap="square">
              <a:spAutoFit/>
            </a:bodyPr>
            <a:lstStyle/>
            <a:p>
              <a:r>
                <a:rPr lang="en-GB" sz="1400" b="0" dirty="0">
                  <a:solidFill>
                    <a:srgbClr val="000000"/>
                  </a:solidFill>
                  <a:effectLst/>
                  <a:latin typeface="Menlo" panose="020B0609030804020204" pitchFamily="49" charset="0"/>
                </a:rPr>
                <a:t>Menu Temp:</a:t>
              </a:r>
            </a:p>
            <a:p>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Pears</a:t>
              </a:r>
            </a:p>
          </p:txBody>
        </p:sp>
        <p:sp>
          <p:nvSpPr>
            <p:cNvPr id="14" name="TextBox 13">
              <a:extLst>
                <a:ext uri="{FF2B5EF4-FFF2-40B4-BE49-F238E27FC236}">
                  <a16:creationId xmlns:a16="http://schemas.microsoft.com/office/drawing/2014/main" id="{2A8A1333-8599-0BF8-2E4A-D798315DA5FE}"/>
                </a:ext>
              </a:extLst>
            </p:cNvPr>
            <p:cNvSpPr txBox="1"/>
            <p:nvPr/>
          </p:nvSpPr>
          <p:spPr>
            <a:xfrm>
              <a:off x="7433071" y="1196668"/>
              <a:ext cx="1500189" cy="360229"/>
            </a:xfrm>
            <a:prstGeom prst="rect">
              <a:avLst/>
            </a:prstGeom>
            <a:noFill/>
          </p:spPr>
          <p:txBody>
            <a:bodyPr wrap="square" rtlCol="0">
              <a:spAutoFit/>
            </a:bodyPr>
            <a:lstStyle/>
            <a:p>
              <a:r>
                <a:rPr lang="en-BE" sz="1600" b="1" dirty="0"/>
                <a:t>temp.txt</a:t>
              </a:r>
            </a:p>
          </p:txBody>
        </p:sp>
      </p:grpSp>
      <p:pic>
        <p:nvPicPr>
          <p:cNvPr id="17" name="Picture 16" descr="Text&#10;&#10;Description automatically generated">
            <a:extLst>
              <a:ext uri="{FF2B5EF4-FFF2-40B4-BE49-F238E27FC236}">
                <a16:creationId xmlns:a16="http://schemas.microsoft.com/office/drawing/2014/main" id="{E19E3564-BA9A-5A40-CA23-467EC0406DEE}"/>
              </a:ext>
            </a:extLst>
          </p:cNvPr>
          <p:cNvPicPr>
            <a:picLocks noChangeAspect="1"/>
          </p:cNvPicPr>
          <p:nvPr/>
        </p:nvPicPr>
        <p:blipFill rotWithShape="1">
          <a:blip r:embed="rId3"/>
          <a:srcRect b="54951"/>
          <a:stretch/>
        </p:blipFill>
        <p:spPr>
          <a:xfrm>
            <a:off x="411673" y="2027025"/>
            <a:ext cx="4986654" cy="2087775"/>
          </a:xfrm>
          <a:prstGeom prst="rect">
            <a:avLst/>
          </a:prstGeom>
        </p:spPr>
      </p:pic>
      <p:pic>
        <p:nvPicPr>
          <p:cNvPr id="18" name="Picture 17" descr="Text&#10;&#10;Description automatically generated">
            <a:extLst>
              <a:ext uri="{FF2B5EF4-FFF2-40B4-BE49-F238E27FC236}">
                <a16:creationId xmlns:a16="http://schemas.microsoft.com/office/drawing/2014/main" id="{62E07217-F55D-A449-D82D-4A3C7F1570A6}"/>
              </a:ext>
            </a:extLst>
          </p:cNvPr>
          <p:cNvPicPr>
            <a:picLocks noChangeAspect="1"/>
          </p:cNvPicPr>
          <p:nvPr/>
        </p:nvPicPr>
        <p:blipFill rotWithShape="1">
          <a:blip r:embed="rId3"/>
          <a:srcRect t="45050" b="-1"/>
          <a:stretch/>
        </p:blipFill>
        <p:spPr>
          <a:xfrm>
            <a:off x="414143" y="4157664"/>
            <a:ext cx="4986654" cy="2546662"/>
          </a:xfrm>
          <a:prstGeom prst="rect">
            <a:avLst/>
          </a:prstGeom>
        </p:spPr>
      </p:pic>
      <p:grpSp>
        <p:nvGrpSpPr>
          <p:cNvPr id="64" name="Group 63">
            <a:extLst>
              <a:ext uri="{FF2B5EF4-FFF2-40B4-BE49-F238E27FC236}">
                <a16:creationId xmlns:a16="http://schemas.microsoft.com/office/drawing/2014/main" id="{B114A464-4213-4468-FC8F-48C3A2D00814}"/>
              </a:ext>
            </a:extLst>
          </p:cNvPr>
          <p:cNvGrpSpPr/>
          <p:nvPr/>
        </p:nvGrpSpPr>
        <p:grpSpPr>
          <a:xfrm>
            <a:off x="530332" y="2326354"/>
            <a:ext cx="4752548" cy="614976"/>
            <a:chOff x="530332" y="2326354"/>
            <a:chExt cx="4752548" cy="614976"/>
          </a:xfrm>
        </p:grpSpPr>
        <p:grpSp>
          <p:nvGrpSpPr>
            <p:cNvPr id="62" name="Group 61">
              <a:extLst>
                <a:ext uri="{FF2B5EF4-FFF2-40B4-BE49-F238E27FC236}">
                  <a16:creationId xmlns:a16="http://schemas.microsoft.com/office/drawing/2014/main" id="{6B0CA397-E472-6919-0D25-110BB315A094}"/>
                </a:ext>
              </a:extLst>
            </p:cNvPr>
            <p:cNvGrpSpPr/>
            <p:nvPr/>
          </p:nvGrpSpPr>
          <p:grpSpPr>
            <a:xfrm>
              <a:off x="530332" y="2326354"/>
              <a:ext cx="4752548" cy="466471"/>
              <a:chOff x="530332" y="2326354"/>
              <a:chExt cx="4752548" cy="466471"/>
            </a:xfrm>
          </p:grpSpPr>
          <p:sp>
            <p:nvSpPr>
              <p:cNvPr id="56" name="Left Arrow 55">
                <a:extLst>
                  <a:ext uri="{FF2B5EF4-FFF2-40B4-BE49-F238E27FC236}">
                    <a16:creationId xmlns:a16="http://schemas.microsoft.com/office/drawing/2014/main" id="{DD8AD4AE-3611-76A5-E49F-36C06D8B59AD}"/>
                  </a:ext>
                </a:extLst>
              </p:cNvPr>
              <p:cNvSpPr/>
              <p:nvPr/>
            </p:nvSpPr>
            <p:spPr>
              <a:xfrm>
                <a:off x="4597080" y="2326354"/>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1" name="Rounded Rectangle 60">
                <a:extLst>
                  <a:ext uri="{FF2B5EF4-FFF2-40B4-BE49-F238E27FC236}">
                    <a16:creationId xmlns:a16="http://schemas.microsoft.com/office/drawing/2014/main" id="{AB3E1D77-F9D0-BDCA-6BDC-C11920AEDC13}"/>
                  </a:ext>
                </a:extLst>
              </p:cNvPr>
              <p:cNvSpPr/>
              <p:nvPr/>
            </p:nvSpPr>
            <p:spPr>
              <a:xfrm>
                <a:off x="530332" y="2504209"/>
                <a:ext cx="1652155" cy="288616"/>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3" name="Left Arrow 62">
              <a:extLst>
                <a:ext uri="{FF2B5EF4-FFF2-40B4-BE49-F238E27FC236}">
                  <a16:creationId xmlns:a16="http://schemas.microsoft.com/office/drawing/2014/main" id="{FC943B5A-431D-6A9E-0522-931A5C3E3330}"/>
                </a:ext>
              </a:extLst>
            </p:cNvPr>
            <p:cNvSpPr/>
            <p:nvPr/>
          </p:nvSpPr>
          <p:spPr>
            <a:xfrm flipV="1">
              <a:off x="2359571" y="2854048"/>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6" name="Group 65">
            <a:extLst>
              <a:ext uri="{FF2B5EF4-FFF2-40B4-BE49-F238E27FC236}">
                <a16:creationId xmlns:a16="http://schemas.microsoft.com/office/drawing/2014/main" id="{0BF1E37E-7B37-195E-0B00-107B5D5E9741}"/>
              </a:ext>
            </a:extLst>
          </p:cNvPr>
          <p:cNvGrpSpPr/>
          <p:nvPr/>
        </p:nvGrpSpPr>
        <p:grpSpPr>
          <a:xfrm>
            <a:off x="207818" y="3567345"/>
            <a:ext cx="5008418" cy="437345"/>
            <a:chOff x="207818" y="3567345"/>
            <a:chExt cx="5008418" cy="437345"/>
          </a:xfrm>
        </p:grpSpPr>
        <p:sp>
          <p:nvSpPr>
            <p:cNvPr id="57" name="Left Arrow 56">
              <a:extLst>
                <a:ext uri="{FF2B5EF4-FFF2-40B4-BE49-F238E27FC236}">
                  <a16:creationId xmlns:a16="http://schemas.microsoft.com/office/drawing/2014/main" id="{DDC85CC1-EE2C-AD14-C761-78C3F6D54641}"/>
                </a:ext>
              </a:extLst>
            </p:cNvPr>
            <p:cNvSpPr/>
            <p:nvPr/>
          </p:nvSpPr>
          <p:spPr>
            <a:xfrm>
              <a:off x="4530436" y="3567345"/>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5" name="Right Arrow 64">
              <a:extLst>
                <a:ext uri="{FF2B5EF4-FFF2-40B4-BE49-F238E27FC236}">
                  <a16:creationId xmlns:a16="http://schemas.microsoft.com/office/drawing/2014/main" id="{734C6DCF-DFA2-3A2E-7DE3-06C2558594B4}"/>
                </a:ext>
              </a:extLst>
            </p:cNvPr>
            <p:cNvSpPr/>
            <p:nvPr/>
          </p:nvSpPr>
          <p:spPr>
            <a:xfrm>
              <a:off x="207818" y="3830429"/>
              <a:ext cx="203855" cy="174261"/>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8" name="Group 67">
            <a:extLst>
              <a:ext uri="{FF2B5EF4-FFF2-40B4-BE49-F238E27FC236}">
                <a16:creationId xmlns:a16="http://schemas.microsoft.com/office/drawing/2014/main" id="{03216739-F4BB-717D-14B5-98B74340172A}"/>
              </a:ext>
            </a:extLst>
          </p:cNvPr>
          <p:cNvGrpSpPr/>
          <p:nvPr/>
        </p:nvGrpSpPr>
        <p:grpSpPr>
          <a:xfrm>
            <a:off x="2359571" y="4309129"/>
            <a:ext cx="3535814" cy="883565"/>
            <a:chOff x="2359571" y="4309129"/>
            <a:chExt cx="3535814" cy="883565"/>
          </a:xfrm>
        </p:grpSpPr>
        <p:sp>
          <p:nvSpPr>
            <p:cNvPr id="58" name="Left Arrow 57">
              <a:extLst>
                <a:ext uri="{FF2B5EF4-FFF2-40B4-BE49-F238E27FC236}">
                  <a16:creationId xmlns:a16="http://schemas.microsoft.com/office/drawing/2014/main" id="{64FF5EF1-BA80-7B62-82DB-15AA23616030}"/>
                </a:ext>
              </a:extLst>
            </p:cNvPr>
            <p:cNvSpPr/>
            <p:nvPr/>
          </p:nvSpPr>
          <p:spPr>
            <a:xfrm>
              <a:off x="5209585" y="4309129"/>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b="1" dirty="0"/>
            </a:p>
          </p:txBody>
        </p:sp>
        <p:sp>
          <p:nvSpPr>
            <p:cNvPr id="67" name="Left Arrow 66">
              <a:extLst>
                <a:ext uri="{FF2B5EF4-FFF2-40B4-BE49-F238E27FC236}">
                  <a16:creationId xmlns:a16="http://schemas.microsoft.com/office/drawing/2014/main" id="{74E93892-BC8F-2014-5154-92F3A8AF3656}"/>
                </a:ext>
              </a:extLst>
            </p:cNvPr>
            <p:cNvSpPr/>
            <p:nvPr/>
          </p:nvSpPr>
          <p:spPr>
            <a:xfrm flipV="1">
              <a:off x="2359571" y="5105412"/>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70" name="Group 69">
            <a:extLst>
              <a:ext uri="{FF2B5EF4-FFF2-40B4-BE49-F238E27FC236}">
                <a16:creationId xmlns:a16="http://schemas.microsoft.com/office/drawing/2014/main" id="{DEE6F563-3E9A-5BDE-4AD0-DEEF69F2D6CE}"/>
              </a:ext>
            </a:extLst>
          </p:cNvPr>
          <p:cNvGrpSpPr/>
          <p:nvPr/>
        </p:nvGrpSpPr>
        <p:grpSpPr>
          <a:xfrm>
            <a:off x="1607962" y="5647792"/>
            <a:ext cx="3608274" cy="663656"/>
            <a:chOff x="1607962" y="5647792"/>
            <a:chExt cx="3608274" cy="663656"/>
          </a:xfrm>
        </p:grpSpPr>
        <p:sp>
          <p:nvSpPr>
            <p:cNvPr id="59" name="Left Arrow 58">
              <a:extLst>
                <a:ext uri="{FF2B5EF4-FFF2-40B4-BE49-F238E27FC236}">
                  <a16:creationId xmlns:a16="http://schemas.microsoft.com/office/drawing/2014/main" id="{51401F6B-C296-9519-5A04-263D1BE6B5A9}"/>
                </a:ext>
              </a:extLst>
            </p:cNvPr>
            <p:cNvSpPr/>
            <p:nvPr/>
          </p:nvSpPr>
          <p:spPr>
            <a:xfrm>
              <a:off x="4530436" y="5647792"/>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b="1" dirty="0"/>
            </a:p>
          </p:txBody>
        </p:sp>
        <p:sp>
          <p:nvSpPr>
            <p:cNvPr id="69" name="Left Arrow 68">
              <a:extLst>
                <a:ext uri="{FF2B5EF4-FFF2-40B4-BE49-F238E27FC236}">
                  <a16:creationId xmlns:a16="http://schemas.microsoft.com/office/drawing/2014/main" id="{946968A9-AFB2-9330-CF90-9D4AA1DC969C}"/>
                </a:ext>
              </a:extLst>
            </p:cNvPr>
            <p:cNvSpPr/>
            <p:nvPr/>
          </p:nvSpPr>
          <p:spPr>
            <a:xfrm flipV="1">
              <a:off x="1607962" y="6224166"/>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5" name="Picture 14" descr="Diagram&#10;&#10;Description automatically generated">
            <a:extLst>
              <a:ext uri="{FF2B5EF4-FFF2-40B4-BE49-F238E27FC236}">
                <a16:creationId xmlns:a16="http://schemas.microsoft.com/office/drawing/2014/main" id="{9E0E2386-9D6C-6D94-DC66-7E2A0C9FEF84}"/>
              </a:ext>
            </a:extLst>
          </p:cNvPr>
          <p:cNvPicPr>
            <a:picLocks noChangeAspect="1"/>
          </p:cNvPicPr>
          <p:nvPr/>
        </p:nvPicPr>
        <p:blipFill rotWithShape="1">
          <a:blip r:embed="rId4"/>
          <a:srcRect l="56425"/>
          <a:stretch/>
        </p:blipFill>
        <p:spPr>
          <a:xfrm>
            <a:off x="9323216" y="4286586"/>
            <a:ext cx="2641926" cy="1889501"/>
          </a:xfrm>
          <a:prstGeom prst="rect">
            <a:avLst/>
          </a:prstGeom>
        </p:spPr>
      </p:pic>
      <p:pic>
        <p:nvPicPr>
          <p:cNvPr id="16" name="Picture 15" descr="Diagram&#10;&#10;Description automatically generated">
            <a:extLst>
              <a:ext uri="{FF2B5EF4-FFF2-40B4-BE49-F238E27FC236}">
                <a16:creationId xmlns:a16="http://schemas.microsoft.com/office/drawing/2014/main" id="{E85BD014-8979-DB37-C859-AB0524A643C9}"/>
              </a:ext>
            </a:extLst>
          </p:cNvPr>
          <p:cNvPicPr>
            <a:picLocks noChangeAspect="1"/>
          </p:cNvPicPr>
          <p:nvPr/>
        </p:nvPicPr>
        <p:blipFill rotWithShape="1">
          <a:blip r:embed="rId4"/>
          <a:srcRect r="43615"/>
          <a:stretch/>
        </p:blipFill>
        <p:spPr>
          <a:xfrm>
            <a:off x="5814621" y="4330063"/>
            <a:ext cx="3418620" cy="1889501"/>
          </a:xfrm>
          <a:prstGeom prst="rect">
            <a:avLst/>
          </a:prstGeom>
        </p:spPr>
      </p:pic>
      <p:sp>
        <p:nvSpPr>
          <p:cNvPr id="6" name="TextBox 5">
            <a:extLst>
              <a:ext uri="{FF2B5EF4-FFF2-40B4-BE49-F238E27FC236}">
                <a16:creationId xmlns:a16="http://schemas.microsoft.com/office/drawing/2014/main" id="{0D610DA7-8933-A136-57A5-AC55A75657A0}"/>
              </a:ext>
            </a:extLst>
          </p:cNvPr>
          <p:cNvSpPr txBox="1"/>
          <p:nvPr/>
        </p:nvSpPr>
        <p:spPr>
          <a:xfrm>
            <a:off x="3446737" y="4237413"/>
            <a:ext cx="1770674" cy="261610"/>
          </a:xfrm>
          <a:prstGeom prst="rect">
            <a:avLst/>
          </a:prstGeom>
          <a:noFill/>
        </p:spPr>
        <p:txBody>
          <a:bodyPr wrap="square" rtlCol="0">
            <a:spAutoFit/>
          </a:bodyPr>
          <a:lstStyle/>
          <a:p>
            <a:r>
              <a:rPr lang="en-US" sz="1100" dirty="0">
                <a:solidFill>
                  <a:srgbClr val="C00000"/>
                </a:solidFill>
              </a:rPr>
              <a:t>meant not to be tracked</a:t>
            </a:r>
          </a:p>
        </p:txBody>
      </p:sp>
      <p:sp>
        <p:nvSpPr>
          <p:cNvPr id="20" name="TextBox 19">
            <a:extLst>
              <a:ext uri="{FF2B5EF4-FFF2-40B4-BE49-F238E27FC236}">
                <a16:creationId xmlns:a16="http://schemas.microsoft.com/office/drawing/2014/main" id="{C1137728-C9D5-D57E-2B40-4340021036AF}"/>
              </a:ext>
            </a:extLst>
          </p:cNvPr>
          <p:cNvSpPr txBox="1"/>
          <p:nvPr/>
        </p:nvSpPr>
        <p:spPr>
          <a:xfrm>
            <a:off x="2960296" y="5018248"/>
            <a:ext cx="1188721" cy="261610"/>
          </a:xfrm>
          <a:prstGeom prst="rect">
            <a:avLst/>
          </a:prstGeom>
          <a:noFill/>
        </p:spPr>
        <p:txBody>
          <a:bodyPr wrap="square" rtlCol="0">
            <a:spAutoFit/>
          </a:bodyPr>
          <a:lstStyle/>
          <a:p>
            <a:r>
              <a:rPr lang="en-US" sz="1100" dirty="0">
                <a:solidFill>
                  <a:srgbClr val="008F00"/>
                </a:solidFill>
              </a:rPr>
              <a:t>Green-&gt;tracked</a:t>
            </a:r>
          </a:p>
        </p:txBody>
      </p:sp>
      <p:sp>
        <p:nvSpPr>
          <p:cNvPr id="21" name="TextBox 20">
            <a:extLst>
              <a:ext uri="{FF2B5EF4-FFF2-40B4-BE49-F238E27FC236}">
                <a16:creationId xmlns:a16="http://schemas.microsoft.com/office/drawing/2014/main" id="{A429B093-1C0D-89AF-6156-576C99718658}"/>
              </a:ext>
            </a:extLst>
          </p:cNvPr>
          <p:cNvSpPr txBox="1"/>
          <p:nvPr/>
        </p:nvSpPr>
        <p:spPr>
          <a:xfrm>
            <a:off x="2483920" y="6132185"/>
            <a:ext cx="1188721" cy="261610"/>
          </a:xfrm>
          <a:prstGeom prst="rect">
            <a:avLst/>
          </a:prstGeom>
          <a:noFill/>
        </p:spPr>
        <p:txBody>
          <a:bodyPr wrap="square" rtlCol="0">
            <a:spAutoFit/>
          </a:bodyPr>
          <a:lstStyle/>
          <a:p>
            <a:r>
              <a:rPr lang="en-US" sz="1100" dirty="0">
                <a:solidFill>
                  <a:srgbClr val="C00000"/>
                </a:solidFill>
              </a:rPr>
              <a:t>Red-&gt;untracked</a:t>
            </a:r>
          </a:p>
        </p:txBody>
      </p:sp>
      <p:sp>
        <p:nvSpPr>
          <p:cNvPr id="22" name="TextBox 21">
            <a:extLst>
              <a:ext uri="{FF2B5EF4-FFF2-40B4-BE49-F238E27FC236}">
                <a16:creationId xmlns:a16="http://schemas.microsoft.com/office/drawing/2014/main" id="{A1F2D1A1-9715-7D72-2C37-4041AF05FD38}"/>
              </a:ext>
            </a:extLst>
          </p:cNvPr>
          <p:cNvSpPr txBox="1"/>
          <p:nvPr/>
        </p:nvSpPr>
        <p:spPr>
          <a:xfrm>
            <a:off x="10384980" y="2187801"/>
            <a:ext cx="1770674" cy="338554"/>
          </a:xfrm>
          <a:prstGeom prst="rect">
            <a:avLst/>
          </a:prstGeom>
          <a:noFill/>
        </p:spPr>
        <p:txBody>
          <a:bodyPr wrap="square" rtlCol="0">
            <a:spAutoFit/>
          </a:bodyPr>
          <a:lstStyle/>
          <a:p>
            <a:r>
              <a:rPr lang="en-US" sz="1600" dirty="0">
                <a:solidFill>
                  <a:srgbClr val="C00000"/>
                </a:solidFill>
              </a:rPr>
              <a:t>Not to be tracked</a:t>
            </a:r>
          </a:p>
        </p:txBody>
      </p:sp>
    </p:spTree>
    <p:extLst>
      <p:ext uri="{BB962C8B-B14F-4D97-AF65-F5344CB8AC3E}">
        <p14:creationId xmlns:p14="http://schemas.microsoft.com/office/powerpoint/2010/main" val="103238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1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par>
                                <p:cTn id="17" presetID="9"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dissolve">
                                      <p:cBhvr>
                                        <p:cTn id="19" dur="5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dissolve">
                                      <p:cBhvr>
                                        <p:cTn id="29" dur="5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64"/>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dissolve">
                                      <p:cBhvr>
                                        <p:cTn id="36" dur="500"/>
                                        <p:tgtEl>
                                          <p:spTgt spid="6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66"/>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dissolve">
                                      <p:cBhvr>
                                        <p:cTn id="43" dur="500"/>
                                        <p:tgtEl>
                                          <p:spTgt spid="12"/>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9" presetClass="entr" presetSubtype="0" fill="hold" nodeType="with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dissolve">
                                      <p:cBhvr>
                                        <p:cTn id="57" dur="500"/>
                                        <p:tgtEl>
                                          <p:spTgt spid="68"/>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68"/>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dissolve">
                                      <p:cBhvr>
                                        <p:cTn id="68" dur="500"/>
                                        <p:tgtEl>
                                          <p:spTgt spid="70"/>
                                        </p:tgtEl>
                                      </p:cBhvr>
                                    </p:animEffect>
                                  </p:childTnLst>
                                </p:cTn>
                              </p:par>
                              <p:par>
                                <p:cTn id="69" presetID="1"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Undoing Changes - </a:t>
            </a:r>
            <a:r>
              <a:rPr lang="en-GB" b="0" i="0" dirty="0" err="1">
                <a:solidFill>
                  <a:srgbClr val="1F1F1F"/>
                </a:solidFill>
                <a:effectLst/>
                <a:latin typeface="Source Sans Pro" panose="020B0503030403020204" pitchFamily="34" charset="0"/>
              </a:rPr>
              <a:t>Rolbacks</a:t>
            </a:r>
            <a:endParaRPr lang="en-GB" b="0" i="0" dirty="0">
              <a:solidFill>
                <a:srgbClr val="1F1F1F"/>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07FADCDE-2816-8213-E1C5-5F902F90B678}"/>
              </a:ext>
            </a:extLst>
          </p:cNvPr>
          <p:cNvSpPr txBox="1"/>
          <p:nvPr/>
        </p:nvSpPr>
        <p:spPr>
          <a:xfrm>
            <a:off x="392465" y="1078666"/>
            <a:ext cx="5112224" cy="1200329"/>
          </a:xfrm>
          <a:prstGeom prst="rect">
            <a:avLst/>
          </a:prstGeom>
          <a:noFill/>
        </p:spPr>
        <p:txBody>
          <a:bodyPr wrap="square" rtlCol="0">
            <a:spAutoFit/>
          </a:bodyPr>
          <a:lstStyle/>
          <a:p>
            <a:pPr marL="285750" indent="-285750">
              <a:buFont typeface="Arial" panose="020B0604020202020204" pitchFamily="34" charset="0"/>
              <a:buChar char="•"/>
            </a:pPr>
            <a:r>
              <a:rPr lang="en-BE" dirty="0">
                <a:solidFill>
                  <a:srgbClr val="166623"/>
                </a:solidFill>
              </a:rPr>
              <a:t>git checkout/restore (reverting unstaged changes)</a:t>
            </a:r>
          </a:p>
          <a:p>
            <a:pPr marL="285750" indent="-285750">
              <a:buFont typeface="Arial" panose="020B0604020202020204" pitchFamily="34" charset="0"/>
              <a:buChar char="•"/>
            </a:pPr>
            <a:r>
              <a:rPr lang="en-BE" dirty="0">
                <a:solidFill>
                  <a:srgbClr val="18827F"/>
                </a:solidFill>
              </a:rPr>
              <a:t>git reset/restore (reverting staged changes)</a:t>
            </a:r>
          </a:p>
          <a:p>
            <a:pPr marL="285750" indent="-285750">
              <a:buFont typeface="Arial" panose="020B0604020202020204" pitchFamily="34" charset="0"/>
              <a:buChar char="•"/>
            </a:pPr>
            <a:r>
              <a:rPr lang="en-BE" dirty="0">
                <a:solidFill>
                  <a:srgbClr val="1D15C5"/>
                </a:solidFill>
              </a:rPr>
              <a:t>git revert commit (undoing committed changes)</a:t>
            </a:r>
          </a:p>
          <a:p>
            <a:pPr marL="742950" lvl="1" indent="-285750">
              <a:buFont typeface="Arial" panose="020B0604020202020204" pitchFamily="34" charset="0"/>
              <a:buChar char="•"/>
            </a:pPr>
            <a:r>
              <a:rPr lang="en-GB" dirty="0">
                <a:solidFill>
                  <a:srgbClr val="1D15C5"/>
                </a:solidFill>
              </a:rPr>
              <a:t>I</a:t>
            </a:r>
            <a:r>
              <a:rPr lang="en-BE" dirty="0">
                <a:solidFill>
                  <a:srgbClr val="1D15C5"/>
                </a:solidFill>
              </a:rPr>
              <a:t>nverse of the commit command</a:t>
            </a:r>
          </a:p>
        </p:txBody>
      </p:sp>
      <p:grpSp>
        <p:nvGrpSpPr>
          <p:cNvPr id="15" name="Group 14">
            <a:extLst>
              <a:ext uri="{FF2B5EF4-FFF2-40B4-BE49-F238E27FC236}">
                <a16:creationId xmlns:a16="http://schemas.microsoft.com/office/drawing/2014/main" id="{5628C06C-9206-E3C9-72BC-B56716CACF6E}"/>
              </a:ext>
            </a:extLst>
          </p:cNvPr>
          <p:cNvGrpSpPr/>
          <p:nvPr/>
        </p:nvGrpSpPr>
        <p:grpSpPr>
          <a:xfrm>
            <a:off x="5594034" y="1039939"/>
            <a:ext cx="4595239" cy="1732104"/>
            <a:chOff x="5594034" y="1039939"/>
            <a:chExt cx="4595239" cy="1732104"/>
          </a:xfrm>
        </p:grpSpPr>
        <p:grpSp>
          <p:nvGrpSpPr>
            <p:cNvPr id="2" name="Group 1">
              <a:extLst>
                <a:ext uri="{FF2B5EF4-FFF2-40B4-BE49-F238E27FC236}">
                  <a16:creationId xmlns:a16="http://schemas.microsoft.com/office/drawing/2014/main" id="{9FBC637E-2826-B33A-27E8-CB6AB8798375}"/>
                </a:ext>
              </a:extLst>
            </p:cNvPr>
            <p:cNvGrpSpPr/>
            <p:nvPr/>
          </p:nvGrpSpPr>
          <p:grpSpPr>
            <a:xfrm>
              <a:off x="5594034" y="1057326"/>
              <a:ext cx="1613914" cy="1672887"/>
              <a:chOff x="7150893" y="1196668"/>
              <a:chExt cx="2064544" cy="1779988"/>
            </a:xfrm>
          </p:grpSpPr>
          <p:sp>
            <p:nvSpPr>
              <p:cNvPr id="3" name="TextBox 2">
                <a:extLst>
                  <a:ext uri="{FF2B5EF4-FFF2-40B4-BE49-F238E27FC236}">
                    <a16:creationId xmlns:a16="http://schemas.microsoft.com/office/drawing/2014/main" id="{84FD2401-2D10-C665-16B7-863E24DD76B9}"/>
                  </a:ext>
                </a:extLst>
              </p:cNvPr>
              <p:cNvSpPr txBox="1"/>
              <p:nvPr/>
            </p:nvSpPr>
            <p:spPr>
              <a:xfrm>
                <a:off x="7150893" y="1566000"/>
                <a:ext cx="2064544" cy="1410656"/>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5" name="TextBox 4">
                <a:extLst>
                  <a:ext uri="{FF2B5EF4-FFF2-40B4-BE49-F238E27FC236}">
                    <a16:creationId xmlns:a16="http://schemas.microsoft.com/office/drawing/2014/main" id="{047F1FD1-66C6-232B-0D8A-822EF390364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grpSp>
          <p:nvGrpSpPr>
            <p:cNvPr id="8" name="Group 7">
              <a:extLst>
                <a:ext uri="{FF2B5EF4-FFF2-40B4-BE49-F238E27FC236}">
                  <a16:creationId xmlns:a16="http://schemas.microsoft.com/office/drawing/2014/main" id="{F32DDD80-AB4F-8561-924C-DEF926C9A36E}"/>
                </a:ext>
              </a:extLst>
            </p:cNvPr>
            <p:cNvGrpSpPr/>
            <p:nvPr/>
          </p:nvGrpSpPr>
          <p:grpSpPr>
            <a:xfrm>
              <a:off x="8575359" y="1039939"/>
              <a:ext cx="1613914" cy="1732104"/>
              <a:chOff x="7150893" y="1196668"/>
              <a:chExt cx="2064544" cy="1842996"/>
            </a:xfrm>
          </p:grpSpPr>
          <p:sp>
            <p:nvSpPr>
              <p:cNvPr id="9" name="TextBox 8">
                <a:extLst>
                  <a:ext uri="{FF2B5EF4-FFF2-40B4-BE49-F238E27FC236}">
                    <a16:creationId xmlns:a16="http://schemas.microsoft.com/office/drawing/2014/main" id="{8384407F-0C55-7315-652E-DA25C217CE64}"/>
                  </a:ext>
                </a:extLst>
              </p:cNvPr>
              <p:cNvSpPr txBox="1"/>
              <p:nvPr/>
            </p:nvSpPr>
            <p:spPr>
              <a:xfrm>
                <a:off x="7150893" y="1565999"/>
                <a:ext cx="2064544" cy="1473665"/>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strike="sngStrike"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10" name="TextBox 9">
                <a:extLst>
                  <a:ext uri="{FF2B5EF4-FFF2-40B4-BE49-F238E27FC236}">
                    <a16:creationId xmlns:a16="http://schemas.microsoft.com/office/drawing/2014/main" id="{09FDDC07-4A7F-7176-3BC1-A70B04F9E22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sp>
          <p:nvSpPr>
            <p:cNvPr id="11" name="Right Arrow 10">
              <a:extLst>
                <a:ext uri="{FF2B5EF4-FFF2-40B4-BE49-F238E27FC236}">
                  <a16:creationId xmlns:a16="http://schemas.microsoft.com/office/drawing/2014/main" id="{D77A6557-5D16-EC7A-B0BB-C17907DDEFC2}"/>
                </a:ext>
              </a:extLst>
            </p:cNvPr>
            <p:cNvSpPr/>
            <p:nvPr/>
          </p:nvSpPr>
          <p:spPr>
            <a:xfrm>
              <a:off x="7297293" y="2027025"/>
              <a:ext cx="1188721" cy="3595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2" name="Group 11">
            <a:extLst>
              <a:ext uri="{FF2B5EF4-FFF2-40B4-BE49-F238E27FC236}">
                <a16:creationId xmlns:a16="http://schemas.microsoft.com/office/drawing/2014/main" id="{03EB779B-1BCD-C5A4-499C-BBBC27909409}"/>
              </a:ext>
            </a:extLst>
          </p:cNvPr>
          <p:cNvGrpSpPr/>
          <p:nvPr/>
        </p:nvGrpSpPr>
        <p:grpSpPr>
          <a:xfrm>
            <a:off x="10423592" y="1054723"/>
            <a:ext cx="1393328" cy="1085774"/>
            <a:chOff x="7150893" y="1196668"/>
            <a:chExt cx="1782367" cy="1155287"/>
          </a:xfrm>
        </p:grpSpPr>
        <p:sp>
          <p:nvSpPr>
            <p:cNvPr id="13" name="TextBox 12">
              <a:extLst>
                <a:ext uri="{FF2B5EF4-FFF2-40B4-BE49-F238E27FC236}">
                  <a16:creationId xmlns:a16="http://schemas.microsoft.com/office/drawing/2014/main" id="{7C7C9963-A644-2329-D1EC-AB0C22EC57DA}"/>
                </a:ext>
              </a:extLst>
            </p:cNvPr>
            <p:cNvSpPr txBox="1"/>
            <p:nvPr/>
          </p:nvSpPr>
          <p:spPr>
            <a:xfrm>
              <a:off x="7150893" y="1565999"/>
              <a:ext cx="1695842" cy="785956"/>
            </a:xfrm>
            <a:prstGeom prst="rect">
              <a:avLst/>
            </a:prstGeom>
            <a:noFill/>
            <a:ln w="28575">
              <a:solidFill>
                <a:srgbClr val="18827F"/>
              </a:solidFill>
            </a:ln>
          </p:spPr>
          <p:txBody>
            <a:bodyPr wrap="square">
              <a:spAutoFit/>
            </a:bodyPr>
            <a:lstStyle/>
            <a:p>
              <a:r>
                <a:rPr lang="en-GB" sz="1400" b="0" dirty="0">
                  <a:solidFill>
                    <a:srgbClr val="000000"/>
                  </a:solidFill>
                  <a:effectLst/>
                  <a:latin typeface="Menlo" panose="020B0609030804020204" pitchFamily="49" charset="0"/>
                </a:rPr>
                <a:t>Menu Temp:</a:t>
              </a:r>
            </a:p>
            <a:p>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Pears</a:t>
              </a:r>
            </a:p>
          </p:txBody>
        </p:sp>
        <p:sp>
          <p:nvSpPr>
            <p:cNvPr id="14" name="TextBox 13">
              <a:extLst>
                <a:ext uri="{FF2B5EF4-FFF2-40B4-BE49-F238E27FC236}">
                  <a16:creationId xmlns:a16="http://schemas.microsoft.com/office/drawing/2014/main" id="{2A8A1333-8599-0BF8-2E4A-D798315DA5FE}"/>
                </a:ext>
              </a:extLst>
            </p:cNvPr>
            <p:cNvSpPr txBox="1"/>
            <p:nvPr/>
          </p:nvSpPr>
          <p:spPr>
            <a:xfrm>
              <a:off x="7433071" y="1196668"/>
              <a:ext cx="1500189" cy="360229"/>
            </a:xfrm>
            <a:prstGeom prst="rect">
              <a:avLst/>
            </a:prstGeom>
            <a:noFill/>
          </p:spPr>
          <p:txBody>
            <a:bodyPr wrap="square" rtlCol="0">
              <a:spAutoFit/>
            </a:bodyPr>
            <a:lstStyle/>
            <a:p>
              <a:r>
                <a:rPr lang="en-BE" sz="1600" b="1" dirty="0"/>
                <a:t>temp.txt</a:t>
              </a:r>
            </a:p>
          </p:txBody>
        </p:sp>
      </p:grpSp>
      <p:grpSp>
        <p:nvGrpSpPr>
          <p:cNvPr id="33" name="Group 32">
            <a:extLst>
              <a:ext uri="{FF2B5EF4-FFF2-40B4-BE49-F238E27FC236}">
                <a16:creationId xmlns:a16="http://schemas.microsoft.com/office/drawing/2014/main" id="{26236E8D-99A2-AD57-AB83-925C88E25F38}"/>
              </a:ext>
            </a:extLst>
          </p:cNvPr>
          <p:cNvGrpSpPr/>
          <p:nvPr/>
        </p:nvGrpSpPr>
        <p:grpSpPr>
          <a:xfrm>
            <a:off x="9272588" y="2149052"/>
            <a:ext cx="1843182" cy="1392105"/>
            <a:chOff x="9272588" y="2149052"/>
            <a:chExt cx="1843182" cy="1392105"/>
          </a:xfrm>
        </p:grpSpPr>
        <p:sp>
          <p:nvSpPr>
            <p:cNvPr id="26" name="TextBox 25">
              <a:extLst>
                <a:ext uri="{FF2B5EF4-FFF2-40B4-BE49-F238E27FC236}">
                  <a16:creationId xmlns:a16="http://schemas.microsoft.com/office/drawing/2014/main" id="{E6F1F4A0-9FA4-D820-97F7-9DBF0A442E74}"/>
                </a:ext>
              </a:extLst>
            </p:cNvPr>
            <p:cNvSpPr txBox="1"/>
            <p:nvPr/>
          </p:nvSpPr>
          <p:spPr>
            <a:xfrm>
              <a:off x="9272588" y="3171825"/>
              <a:ext cx="1757362" cy="369332"/>
            </a:xfrm>
            <a:prstGeom prst="rect">
              <a:avLst/>
            </a:prstGeom>
            <a:noFill/>
            <a:ln w="28575">
              <a:solidFill>
                <a:srgbClr val="1D15C5"/>
              </a:solidFill>
            </a:ln>
          </p:spPr>
          <p:txBody>
            <a:bodyPr wrap="square" rtlCol="0">
              <a:spAutoFit/>
            </a:bodyPr>
            <a:lstStyle/>
            <a:p>
              <a:r>
                <a:rPr lang="en-BE" dirty="0"/>
                <a:t>Commited 2 files</a:t>
              </a:r>
            </a:p>
          </p:txBody>
        </p:sp>
        <p:cxnSp>
          <p:nvCxnSpPr>
            <p:cNvPr id="29" name="Straight Arrow Connector 28">
              <a:extLst>
                <a:ext uri="{FF2B5EF4-FFF2-40B4-BE49-F238E27FC236}">
                  <a16:creationId xmlns:a16="http://schemas.microsoft.com/office/drawing/2014/main" id="{AD706887-3864-C070-1D35-2DE67EE03F24}"/>
                </a:ext>
              </a:extLst>
            </p:cNvPr>
            <p:cNvCxnSpPr>
              <a:stCxn id="9" idx="2"/>
            </p:cNvCxnSpPr>
            <p:nvPr/>
          </p:nvCxnSpPr>
          <p:spPr>
            <a:xfrm>
              <a:off x="9382316" y="2772043"/>
              <a:ext cx="476059" cy="399782"/>
            </a:xfrm>
            <a:prstGeom prst="straightConnector1">
              <a:avLst/>
            </a:prstGeom>
            <a:ln w="28575">
              <a:solidFill>
                <a:srgbClr val="1D15C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7AF4380-6688-1075-0DEF-DE900CED8AF6}"/>
                </a:ext>
              </a:extLst>
            </p:cNvPr>
            <p:cNvCxnSpPr>
              <a:cxnSpLocks/>
              <a:endCxn id="26" idx="0"/>
            </p:cNvCxnSpPr>
            <p:nvPr/>
          </p:nvCxnSpPr>
          <p:spPr>
            <a:xfrm flipH="1">
              <a:off x="10151269" y="2149052"/>
              <a:ext cx="964501" cy="1022773"/>
            </a:xfrm>
            <a:prstGeom prst="straightConnector1">
              <a:avLst/>
            </a:prstGeom>
            <a:ln w="28575">
              <a:solidFill>
                <a:srgbClr val="1D15C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CB14C796-0AE4-C1C0-4475-78CA2802B36A}"/>
              </a:ext>
            </a:extLst>
          </p:cNvPr>
          <p:cNvGrpSpPr/>
          <p:nvPr/>
        </p:nvGrpSpPr>
        <p:grpSpPr>
          <a:xfrm>
            <a:off x="392111" y="2743467"/>
            <a:ext cx="4177311" cy="3849526"/>
            <a:chOff x="392111" y="2743467"/>
            <a:chExt cx="4177311" cy="3849526"/>
          </a:xfrm>
        </p:grpSpPr>
        <p:grpSp>
          <p:nvGrpSpPr>
            <p:cNvPr id="44" name="Group 43">
              <a:extLst>
                <a:ext uri="{FF2B5EF4-FFF2-40B4-BE49-F238E27FC236}">
                  <a16:creationId xmlns:a16="http://schemas.microsoft.com/office/drawing/2014/main" id="{0D63FF52-D408-E590-CFA0-90B1D64258C8}"/>
                </a:ext>
              </a:extLst>
            </p:cNvPr>
            <p:cNvGrpSpPr/>
            <p:nvPr/>
          </p:nvGrpSpPr>
          <p:grpSpPr>
            <a:xfrm>
              <a:off x="392111" y="2832992"/>
              <a:ext cx="3883027" cy="3760001"/>
              <a:chOff x="392111" y="2832992"/>
              <a:chExt cx="3883027" cy="3760001"/>
            </a:xfrm>
          </p:grpSpPr>
          <p:pic>
            <p:nvPicPr>
              <p:cNvPr id="32" name="Picture 31" descr="Text&#10;&#10;Description automatically generated">
                <a:extLst>
                  <a:ext uri="{FF2B5EF4-FFF2-40B4-BE49-F238E27FC236}">
                    <a16:creationId xmlns:a16="http://schemas.microsoft.com/office/drawing/2014/main" id="{FED80AB1-ACAB-F2A5-2061-787B1D5BECC4}"/>
                  </a:ext>
                </a:extLst>
              </p:cNvPr>
              <p:cNvPicPr>
                <a:picLocks noChangeAspect="1"/>
              </p:cNvPicPr>
              <p:nvPr/>
            </p:nvPicPr>
            <p:blipFill>
              <a:blip r:embed="rId3"/>
              <a:stretch>
                <a:fillRect/>
              </a:stretch>
            </p:blipFill>
            <p:spPr>
              <a:xfrm>
                <a:off x="461068" y="2832992"/>
                <a:ext cx="3745114" cy="653808"/>
              </a:xfrm>
              <a:prstGeom prst="rect">
                <a:avLst/>
              </a:prstGeom>
            </p:spPr>
          </p:pic>
          <p:pic>
            <p:nvPicPr>
              <p:cNvPr id="36" name="Picture 35" descr="Text&#10;&#10;Description automatically generated">
                <a:extLst>
                  <a:ext uri="{FF2B5EF4-FFF2-40B4-BE49-F238E27FC236}">
                    <a16:creationId xmlns:a16="http://schemas.microsoft.com/office/drawing/2014/main" id="{B2F7CDFF-0B3B-2448-E0ED-035733783CDA}"/>
                  </a:ext>
                </a:extLst>
              </p:cNvPr>
              <p:cNvPicPr>
                <a:picLocks noChangeAspect="1"/>
              </p:cNvPicPr>
              <p:nvPr/>
            </p:nvPicPr>
            <p:blipFill>
              <a:blip r:embed="rId4"/>
              <a:stretch>
                <a:fillRect/>
              </a:stretch>
            </p:blipFill>
            <p:spPr>
              <a:xfrm>
                <a:off x="392111" y="3541157"/>
                <a:ext cx="3883027" cy="3051836"/>
              </a:xfrm>
              <a:prstGeom prst="rect">
                <a:avLst/>
              </a:prstGeom>
            </p:spPr>
          </p:pic>
        </p:grpSp>
        <p:sp>
          <p:nvSpPr>
            <p:cNvPr id="46" name="Left Arrow 45">
              <a:extLst>
                <a:ext uri="{FF2B5EF4-FFF2-40B4-BE49-F238E27FC236}">
                  <a16:creationId xmlns:a16="http://schemas.microsoft.com/office/drawing/2014/main" id="{8D70AF3A-A266-2919-87A6-64A4840E16F9}"/>
                </a:ext>
              </a:extLst>
            </p:cNvPr>
            <p:cNvSpPr/>
            <p:nvPr/>
          </p:nvSpPr>
          <p:spPr>
            <a:xfrm>
              <a:off x="4057650" y="2743467"/>
              <a:ext cx="44142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sp>
          <p:nvSpPr>
            <p:cNvPr id="47" name="Left Arrow 46">
              <a:extLst>
                <a:ext uri="{FF2B5EF4-FFF2-40B4-BE49-F238E27FC236}">
                  <a16:creationId xmlns:a16="http://schemas.microsoft.com/office/drawing/2014/main" id="{2D1666C1-A968-0DA7-5744-D5B1CCC8DA81}"/>
                </a:ext>
              </a:extLst>
            </p:cNvPr>
            <p:cNvSpPr/>
            <p:nvPr/>
          </p:nvSpPr>
          <p:spPr>
            <a:xfrm>
              <a:off x="4195766" y="3451632"/>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grpSp>
      <p:grpSp>
        <p:nvGrpSpPr>
          <p:cNvPr id="55" name="Group 54">
            <a:extLst>
              <a:ext uri="{FF2B5EF4-FFF2-40B4-BE49-F238E27FC236}">
                <a16:creationId xmlns:a16="http://schemas.microsoft.com/office/drawing/2014/main" id="{650C1CCA-4BE6-8FA7-BF74-FE5F478BAE13}"/>
              </a:ext>
            </a:extLst>
          </p:cNvPr>
          <p:cNvGrpSpPr/>
          <p:nvPr/>
        </p:nvGrpSpPr>
        <p:grpSpPr>
          <a:xfrm>
            <a:off x="4781472" y="2802645"/>
            <a:ext cx="3547941" cy="3822836"/>
            <a:chOff x="4781472" y="2802645"/>
            <a:chExt cx="3547941" cy="3822836"/>
          </a:xfrm>
        </p:grpSpPr>
        <p:grpSp>
          <p:nvGrpSpPr>
            <p:cNvPr id="45" name="Group 44">
              <a:extLst>
                <a:ext uri="{FF2B5EF4-FFF2-40B4-BE49-F238E27FC236}">
                  <a16:creationId xmlns:a16="http://schemas.microsoft.com/office/drawing/2014/main" id="{5879766F-5B37-6FC6-4D5E-1AD55F082616}"/>
                </a:ext>
              </a:extLst>
            </p:cNvPr>
            <p:cNvGrpSpPr/>
            <p:nvPr/>
          </p:nvGrpSpPr>
          <p:grpSpPr>
            <a:xfrm>
              <a:off x="4781472" y="2862544"/>
              <a:ext cx="3239038" cy="3762937"/>
              <a:chOff x="4781472" y="2862544"/>
              <a:chExt cx="3239038" cy="3762937"/>
            </a:xfrm>
          </p:grpSpPr>
          <p:pic>
            <p:nvPicPr>
              <p:cNvPr id="39" name="Picture 38" descr="Text&#10;&#10;Description automatically generated">
                <a:extLst>
                  <a:ext uri="{FF2B5EF4-FFF2-40B4-BE49-F238E27FC236}">
                    <a16:creationId xmlns:a16="http://schemas.microsoft.com/office/drawing/2014/main" id="{1758F1E1-36D2-CA1F-7C3D-C97BF87E0870}"/>
                  </a:ext>
                </a:extLst>
              </p:cNvPr>
              <p:cNvPicPr>
                <a:picLocks noChangeAspect="1"/>
              </p:cNvPicPr>
              <p:nvPr/>
            </p:nvPicPr>
            <p:blipFill>
              <a:blip r:embed="rId5"/>
              <a:stretch>
                <a:fillRect/>
              </a:stretch>
            </p:blipFill>
            <p:spPr>
              <a:xfrm>
                <a:off x="4781472" y="3624998"/>
                <a:ext cx="3239038" cy="3000483"/>
              </a:xfrm>
              <a:prstGeom prst="rect">
                <a:avLst/>
              </a:prstGeom>
            </p:spPr>
          </p:pic>
          <p:pic>
            <p:nvPicPr>
              <p:cNvPr id="42" name="Picture 41" descr="Text&#10;&#10;Description automatically generated">
                <a:extLst>
                  <a:ext uri="{FF2B5EF4-FFF2-40B4-BE49-F238E27FC236}">
                    <a16:creationId xmlns:a16="http://schemas.microsoft.com/office/drawing/2014/main" id="{F12EEB51-9966-6264-2DF1-2757C3D59F5B}"/>
                  </a:ext>
                </a:extLst>
              </p:cNvPr>
              <p:cNvPicPr>
                <a:picLocks noChangeAspect="1"/>
              </p:cNvPicPr>
              <p:nvPr/>
            </p:nvPicPr>
            <p:blipFill>
              <a:blip r:embed="rId6"/>
              <a:stretch>
                <a:fillRect/>
              </a:stretch>
            </p:blipFill>
            <p:spPr>
              <a:xfrm>
                <a:off x="4793360" y="2862544"/>
                <a:ext cx="3178171" cy="720752"/>
              </a:xfrm>
              <a:prstGeom prst="rect">
                <a:avLst/>
              </a:prstGeom>
            </p:spPr>
          </p:pic>
        </p:grpSp>
        <p:sp>
          <p:nvSpPr>
            <p:cNvPr id="48" name="Left Arrow 47">
              <a:extLst>
                <a:ext uri="{FF2B5EF4-FFF2-40B4-BE49-F238E27FC236}">
                  <a16:creationId xmlns:a16="http://schemas.microsoft.com/office/drawing/2014/main" id="{A2F1BE99-5B4E-39B0-9657-3ADDB08167B3}"/>
                </a:ext>
              </a:extLst>
            </p:cNvPr>
            <p:cNvSpPr/>
            <p:nvPr/>
          </p:nvSpPr>
          <p:spPr>
            <a:xfrm>
              <a:off x="7955757" y="3549487"/>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sp>
          <p:nvSpPr>
            <p:cNvPr id="50" name="Left Arrow 49">
              <a:extLst>
                <a:ext uri="{FF2B5EF4-FFF2-40B4-BE49-F238E27FC236}">
                  <a16:creationId xmlns:a16="http://schemas.microsoft.com/office/drawing/2014/main" id="{0D6F50BD-D6F2-B4BD-D152-8DF4ED9CD875}"/>
                </a:ext>
              </a:extLst>
            </p:cNvPr>
            <p:cNvSpPr/>
            <p:nvPr/>
          </p:nvSpPr>
          <p:spPr>
            <a:xfrm>
              <a:off x="7894431" y="2802645"/>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grpSp>
      <p:pic>
        <p:nvPicPr>
          <p:cNvPr id="16386" name="Picture 2" descr="Data Transfer Arrows Icon - 6472 - Dryicons">
            <a:extLst>
              <a:ext uri="{FF2B5EF4-FFF2-40B4-BE49-F238E27FC236}">
                <a16:creationId xmlns:a16="http://schemas.microsoft.com/office/drawing/2014/main" id="{282A05D5-F620-6BD3-ACFE-25A7ED06C64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778" b="89778" l="6667" r="95111">
                        <a14:foregroundMark x1="7111" y1="46222" x2="7111" y2="46222"/>
                        <a14:foregroundMark x1="8889" y1="33333" x2="61333" y2="35556"/>
                        <a14:foregroundMark x1="32000" y1="67111" x2="78222" y2="52444"/>
                        <a14:foregroundMark x1="65778" y1="67111" x2="78222" y2="46222"/>
                        <a14:foregroundMark x1="69778" y1="79556" x2="78222" y2="50222"/>
                        <a14:foregroundMark x1="78222" y1="60889" x2="80444" y2="75556"/>
                        <a14:foregroundMark x1="88889" y1="67111" x2="88889" y2="67111"/>
                        <a14:foregroundMark x1="82667" y1="67111" x2="82667" y2="67111"/>
                        <a14:foregroundMark x1="78222" y1="71111" x2="95111" y2="68889"/>
                        <a14:foregroundMark x1="7111" y1="41778" x2="7111" y2="41778"/>
                        <a14:foregroundMark x1="8889" y1="41778" x2="8889"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3314700" y="5007509"/>
            <a:ext cx="1429422" cy="68084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Data Transfer Arrows Icon - 6472 - Dryicons">
            <a:extLst>
              <a:ext uri="{FF2B5EF4-FFF2-40B4-BE49-F238E27FC236}">
                <a16:creationId xmlns:a16="http://schemas.microsoft.com/office/drawing/2014/main" id="{0978D4FD-0DA9-38F9-F47B-AAEC131FC8CD}"/>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778" b="89778" l="6667" r="95111">
                        <a14:foregroundMark x1="7111" y1="46222" x2="7111" y2="46222"/>
                        <a14:foregroundMark x1="8889" y1="33333" x2="61333" y2="35556"/>
                        <a14:foregroundMark x1="32000" y1="67111" x2="78222" y2="52444"/>
                        <a14:foregroundMark x1="65778" y1="67111" x2="78222" y2="46222"/>
                        <a14:foregroundMark x1="69778" y1="79556" x2="78222" y2="50222"/>
                        <a14:foregroundMark x1="78222" y1="60889" x2="80444" y2="75556"/>
                        <a14:foregroundMark x1="88889" y1="67111" x2="88889" y2="67111"/>
                        <a14:foregroundMark x1="82667" y1="67111" x2="82667" y2="67111"/>
                        <a14:foregroundMark x1="78222" y1="71111" x2="95111" y2="68889"/>
                        <a14:foregroundMark x1="7111" y1="41778" x2="7111" y2="41778"/>
                        <a14:foregroundMark x1="8889" y1="41778" x2="8889"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3314700" y="5944637"/>
            <a:ext cx="1392071" cy="680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202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par>
                                <p:cTn id="18" presetID="9" presetClass="entr" presetSubtype="0" fill="hold" nodeType="withEffect">
                                  <p:stCondLst>
                                    <p:cond delay="0"/>
                                  </p:stCondLst>
                                  <p:childTnLst>
                                    <p:set>
                                      <p:cBhvr>
                                        <p:cTn id="19" dur="1" fill="hold">
                                          <p:stCondLst>
                                            <p:cond delay="0"/>
                                          </p:stCondLst>
                                        </p:cTn>
                                        <p:tgtEl>
                                          <p:spTgt spid="16386"/>
                                        </p:tgtEl>
                                        <p:attrNameLst>
                                          <p:attrName>style.visibility</p:attrName>
                                        </p:attrNameLst>
                                      </p:cBhvr>
                                      <p:to>
                                        <p:strVal val="visible"/>
                                      </p:to>
                                    </p:set>
                                    <p:animEffect transition="in" filter="dissolve">
                                      <p:cBhvr>
                                        <p:cTn id="20"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511" name="Curved Connector 33"/>
          <p:cNvCxnSpPr/>
          <p:nvPr/>
        </p:nvCxnSpPr>
        <p:spPr>
          <a:xfrm>
            <a:off x="1879693" y="2394884"/>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36B3C66-B2B2-1C57-4233-0A486C67CF50}"/>
              </a:ext>
            </a:extLst>
          </p:cNvPr>
          <p:cNvSpPr>
            <a:spLocks noGrp="1"/>
          </p:cNvSpPr>
          <p:nvPr/>
        </p:nvSpPr>
        <p:spPr>
          <a:xfrm>
            <a:off x="3146941" y="3265513"/>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13" name="Picture 4"/>
          <p:cNvPicPr>
            <a:picLocks noChangeAspect="1"/>
          </p:cNvPicPr>
          <p:nvPr/>
        </p:nvPicPr>
        <p:blipFill>
          <a:blip r:embed="rId3"/>
          <a:srcRect/>
          <a:stretch>
            <a:fillRect/>
          </a:stretch>
        </p:blipFill>
        <p:spPr>
          <a:xfrm>
            <a:off x="1879367" y="2587631"/>
            <a:ext cx="339379" cy="339379"/>
          </a:xfrm>
          <a:prstGeom prst="rect">
            <a:avLst/>
          </a:prstGeom>
        </p:spPr>
      </p:pic>
      <p:sp>
        <p:nvSpPr>
          <p:cNvPr id="18439" name="TextBox 18438">
            <a:extLst>
              <a:ext uri="{FF2B5EF4-FFF2-40B4-BE49-F238E27FC236}">
                <a16:creationId xmlns:a16="http://schemas.microsoft.com/office/drawing/2014/main" id="{04AE0B45-5247-A4E3-B445-9053CD60B27F}"/>
              </a:ext>
            </a:extLst>
          </p:cNvPr>
          <p:cNvSpPr>
            <a:spLocks noGrp="1"/>
          </p:cNvSpPr>
          <p:nvPr/>
        </p:nvSpPr>
        <p:spPr>
          <a:xfrm>
            <a:off x="1447393" y="3213900"/>
            <a:ext cx="1956828" cy="369332"/>
          </a:xfrm>
          <a:prstGeom prst="rect">
            <a:avLst/>
          </a:prstGeom>
          <a:noFill/>
        </p:spPr>
        <p:txBody>
          <a:bodyPr wrap="square">
            <a:spAutoFit/>
          </a:bodyPr>
          <a:lstStyle/>
          <a:p>
            <a:r>
              <a:t>bugfix branch</a:t>
            </a:r>
          </a:p>
        </p:txBody>
      </p:sp>
      <p:sp>
        <p:nvSpPr>
          <p:cNvPr id="51" name="Straight Connector 50">
            <a:extLst>
              <a:ext uri="{FF2B5EF4-FFF2-40B4-BE49-F238E27FC236}">
                <a16:creationId xmlns:a16="http://schemas.microsoft.com/office/drawing/2014/main" id="{DA16DCA8-2D6F-4975-9769-136F6A2290B5}"/>
              </a:ext>
            </a:extLst>
          </p:cNvPr>
          <p:cNvSpPr>
            <a:spLocks noGrp="1"/>
          </p:cNvSpPr>
          <p:nvPr/>
        </p:nvSpPr>
        <p:spPr>
          <a:xfrm>
            <a:off x="1618983" y="2396453"/>
            <a:ext cx="3083850" cy="0"/>
          </a:xfrm>
          <a:prstGeom prst="line">
            <a:avLst/>
          </a:prstGeom>
          <a:ln w="101600">
            <a:solidFill>
              <a:schemeClr val="dk1"/>
            </a:solidFill>
            <a:prstDash val="soli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53" name="Oval 52">
            <a:extLst>
              <a:ext uri="{FF2B5EF4-FFF2-40B4-BE49-F238E27FC236}">
                <a16:creationId xmlns:a16="http://schemas.microsoft.com/office/drawing/2014/main" id="{E497271E-EB1F-EB08-85C1-1B1CADA1CD26}"/>
              </a:ext>
            </a:extLst>
          </p:cNvPr>
          <p:cNvSpPr>
            <a:spLocks noGrp="1"/>
          </p:cNvSpPr>
          <p:nvPr/>
        </p:nvSpPr>
        <p:spPr>
          <a:xfrm>
            <a:off x="1304987" y="2267467"/>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A32533C7-6CE3-960D-08B4-4EA7701C8CB6}"/>
              </a:ext>
            </a:extLst>
          </p:cNvPr>
          <p:cNvSpPr>
            <a:spLocks noGrp="1"/>
          </p:cNvSpPr>
          <p:nvPr/>
        </p:nvSpPr>
        <p:spPr>
          <a:xfrm>
            <a:off x="700019" y="1900189"/>
            <a:ext cx="2157874" cy="369332"/>
          </a:xfrm>
          <a:prstGeom prst="rect">
            <a:avLst/>
          </a:prstGeom>
          <a:noFill/>
        </p:spPr>
        <p:txBody>
          <a:bodyPr wrap="square">
            <a:spAutoFit/>
          </a:bodyPr>
          <a:lstStyle/>
          <a:p>
            <a:r>
              <a:t>Master/main branch</a:t>
            </a:r>
          </a:p>
        </p:txBody>
      </p:sp>
      <p:sp>
        <p:nvSpPr>
          <p:cNvPr id="18441" name="Oval 18440">
            <a:extLst>
              <a:ext uri="{FF2B5EF4-FFF2-40B4-BE49-F238E27FC236}">
                <a16:creationId xmlns:a16="http://schemas.microsoft.com/office/drawing/2014/main" id="{C6396DAB-250F-9BCA-8D82-827AE95BE793}"/>
              </a:ext>
            </a:extLst>
          </p:cNvPr>
          <p:cNvSpPr>
            <a:spLocks noGrp="1"/>
          </p:cNvSpPr>
          <p:nvPr/>
        </p:nvSpPr>
        <p:spPr>
          <a:xfrm>
            <a:off x="1914599" y="226270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Branching and Merging</a:t>
            </a:r>
          </a:p>
        </p:txBody>
      </p:sp>
      <p:sp>
        <p:nvSpPr>
          <p:cNvPr id="58" name="Oval 57">
            <a:extLst>
              <a:ext uri="{FF2B5EF4-FFF2-40B4-BE49-F238E27FC236}">
                <a16:creationId xmlns:a16="http://schemas.microsoft.com/office/drawing/2014/main" id="{E00CD0B0-8DEC-4650-6E73-F6DED0663EA1}"/>
              </a:ext>
            </a:extLst>
          </p:cNvPr>
          <p:cNvSpPr>
            <a:spLocks noGrp="1"/>
          </p:cNvSpPr>
          <p:nvPr/>
        </p:nvSpPr>
        <p:spPr>
          <a:xfrm>
            <a:off x="3164686" y="2291774"/>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21" name="Straight Arrow Connector 58"/>
          <p:cNvCxnSpPr>
            <a:stCxn id="35" idx="0"/>
            <a:endCxn id="58" idx="4"/>
          </p:cNvCxnSpPr>
          <p:nvPr/>
        </p:nvCxnSpPr>
        <p:spPr>
          <a:xfrm flipV="1">
            <a:off x="3289348" y="2546608"/>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522" name="Picture 16"/>
          <p:cNvPicPr>
            <a:picLocks noChangeAspect="1"/>
          </p:cNvPicPr>
          <p:nvPr/>
        </p:nvPicPr>
        <p:blipFill>
          <a:blip r:embed="rId4"/>
          <a:srcRect/>
          <a:stretch>
            <a:fillRect/>
          </a:stretch>
        </p:blipFill>
        <p:spPr>
          <a:xfrm>
            <a:off x="3371563" y="2848285"/>
            <a:ext cx="314945" cy="314945"/>
          </a:xfrm>
          <a:prstGeom prst="rect">
            <a:avLst/>
          </a:prstGeom>
        </p:spPr>
      </p:pic>
      <p:cxnSp>
        <p:nvCxnSpPr>
          <p:cNvPr id="18523" name="Straight Arrow Connector 59"/>
          <p:cNvCxnSpPr>
            <a:stCxn id="41" idx="4"/>
            <a:endCxn id="61" idx="0"/>
          </p:cNvCxnSpPr>
          <p:nvPr/>
        </p:nvCxnSpPr>
        <p:spPr>
          <a:xfrm>
            <a:off x="4001897" y="1616709"/>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CAE3CEB-DD55-D76A-5430-B316E05F7DBE}"/>
              </a:ext>
            </a:extLst>
          </p:cNvPr>
          <p:cNvSpPr>
            <a:spLocks noGrp="1"/>
          </p:cNvSpPr>
          <p:nvPr/>
        </p:nvSpPr>
        <p:spPr>
          <a:xfrm>
            <a:off x="3894920" y="2273486"/>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25" name="Picture 20"/>
          <p:cNvPicPr>
            <a:picLocks noChangeAspect="1"/>
          </p:cNvPicPr>
          <p:nvPr/>
        </p:nvPicPr>
        <p:blipFill>
          <a:blip r:embed="rId5"/>
          <a:srcRect/>
          <a:stretch>
            <a:fillRect/>
          </a:stretch>
        </p:blipFill>
        <p:spPr>
          <a:xfrm>
            <a:off x="4124023" y="1696393"/>
            <a:ext cx="292463" cy="292463"/>
          </a:xfrm>
          <a:prstGeom prst="rect">
            <a:avLst/>
          </a:prstGeom>
        </p:spPr>
      </p:pic>
      <p:cxnSp>
        <p:nvCxnSpPr>
          <p:cNvPr id="18526" name="Curved Connector 39"/>
          <p:cNvCxnSpPr/>
          <p:nvPr/>
        </p:nvCxnSpPr>
        <p:spPr>
          <a:xfrm rot="5400000" flipH="1" flipV="1">
            <a:off x="2997378" y="1527762"/>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6F26136-3801-9AD7-BECB-D2EDC8E2D0B0}"/>
              </a:ext>
            </a:extLst>
          </p:cNvPr>
          <p:cNvSpPr>
            <a:spLocks noGrp="1"/>
          </p:cNvSpPr>
          <p:nvPr/>
        </p:nvSpPr>
        <p:spPr>
          <a:xfrm>
            <a:off x="3859490" y="1361875"/>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E954EEE-9369-EFE8-75D4-8CDCCDE6395D}"/>
              </a:ext>
            </a:extLst>
          </p:cNvPr>
          <p:cNvSpPr>
            <a:spLocks noGrp="1"/>
          </p:cNvSpPr>
          <p:nvPr/>
        </p:nvSpPr>
        <p:spPr>
          <a:xfrm>
            <a:off x="2227487" y="1099820"/>
            <a:ext cx="1700830" cy="369332"/>
          </a:xfrm>
          <a:prstGeom prst="rect">
            <a:avLst/>
          </a:prstGeom>
          <a:noFill/>
        </p:spPr>
        <p:txBody>
          <a:bodyPr wrap="square">
            <a:spAutoFit/>
          </a:bodyPr>
          <a:lstStyle/>
          <a:p>
            <a:r>
              <a:t>Feature branch</a:t>
            </a:r>
          </a:p>
        </p:txBody>
      </p:sp>
      <p:sp>
        <p:nvSpPr>
          <p:cNvPr id="18442" name="Oval 18441">
            <a:extLst>
              <a:ext uri="{FF2B5EF4-FFF2-40B4-BE49-F238E27FC236}">
                <a16:creationId xmlns:a16="http://schemas.microsoft.com/office/drawing/2014/main" id="{AEC9E779-216D-37F3-0A52-5F453490FF41}"/>
              </a:ext>
            </a:extLst>
          </p:cNvPr>
          <p:cNvSpPr>
            <a:spLocks noGrp="1"/>
          </p:cNvSpPr>
          <p:nvPr/>
        </p:nvSpPr>
        <p:spPr>
          <a:xfrm>
            <a:off x="2595647" y="227222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30" name="Picture 18454"/>
          <p:cNvPicPr>
            <a:picLocks noChangeAspect="1"/>
          </p:cNvPicPr>
          <p:nvPr/>
        </p:nvPicPr>
        <p:blipFill rotWithShape="1">
          <a:blip r:embed="rId6"/>
          <a:srcRect r="5860"/>
          <a:stretch/>
        </p:blipFill>
        <p:spPr>
          <a:xfrm>
            <a:off x="6514925" y="503625"/>
            <a:ext cx="4753770" cy="3069614"/>
          </a:xfrm>
          <a:prstGeom prst="rect">
            <a:avLst/>
          </a:prstGeom>
        </p:spPr>
      </p:pic>
      <p:pic>
        <p:nvPicPr>
          <p:cNvPr id="18531" name="Picture 18456"/>
          <p:cNvPicPr>
            <a:picLocks noChangeAspect="1"/>
          </p:cNvPicPr>
          <p:nvPr/>
        </p:nvPicPr>
        <p:blipFill>
          <a:blip r:embed="rId7"/>
          <a:stretch>
            <a:fillRect/>
          </a:stretch>
        </p:blipFill>
        <p:spPr>
          <a:xfrm>
            <a:off x="6514925" y="3653836"/>
            <a:ext cx="4837768" cy="2860752"/>
          </a:xfrm>
          <a:prstGeom prst="rect">
            <a:avLst/>
          </a:prstGeom>
        </p:spPr>
      </p:pic>
      <p:cxnSp>
        <p:nvCxnSpPr>
          <p:cNvPr id="18532" name="Straight Arrow Connector 18458"/>
          <p:cNvCxnSpPr/>
          <p:nvPr/>
        </p:nvCxnSpPr>
        <p:spPr>
          <a:xfrm flipH="1">
            <a:off x="11072812" y="681036"/>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3" name="Straight Arrow Connector 18462"/>
          <p:cNvCxnSpPr/>
          <p:nvPr/>
        </p:nvCxnSpPr>
        <p:spPr>
          <a:xfrm flipH="1">
            <a:off x="11005030" y="133349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4" name="Straight Arrow Connector 18463"/>
          <p:cNvCxnSpPr/>
          <p:nvPr/>
        </p:nvCxnSpPr>
        <p:spPr>
          <a:xfrm flipH="1">
            <a:off x="11005030" y="165417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5" name="Straight Arrow Connector 18464"/>
          <p:cNvCxnSpPr/>
          <p:nvPr/>
        </p:nvCxnSpPr>
        <p:spPr>
          <a:xfrm flipH="1">
            <a:off x="11005029" y="223883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6" name="Straight Arrow Connector 18465"/>
          <p:cNvCxnSpPr/>
          <p:nvPr/>
        </p:nvCxnSpPr>
        <p:spPr>
          <a:xfrm flipH="1">
            <a:off x="11072812" y="2989526"/>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7" name="Straight Arrow Connector 18466"/>
          <p:cNvCxnSpPr/>
          <p:nvPr/>
        </p:nvCxnSpPr>
        <p:spPr>
          <a:xfrm flipH="1">
            <a:off x="11072811" y="4111307"/>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8" name="Straight Arrow Connector 18468"/>
          <p:cNvCxnSpPr/>
          <p:nvPr/>
        </p:nvCxnSpPr>
        <p:spPr>
          <a:xfrm flipH="1" flipV="1">
            <a:off x="11072811" y="5214938"/>
            <a:ext cx="694219" cy="3429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39" name="Straight Arrow Connector 18470"/>
          <p:cNvCxnSpPr/>
          <p:nvPr/>
        </p:nvCxnSpPr>
        <p:spPr>
          <a:xfrm flipH="1">
            <a:off x="10921585" y="5524502"/>
            <a:ext cx="845445" cy="48697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0CA57E5-402B-64F3-302E-331BD8C67C61}"/>
              </a:ext>
            </a:extLst>
          </p:cNvPr>
          <p:cNvSpPr>
            <a:spLocks noGrp="1"/>
          </p:cNvSpPr>
          <p:nvPr/>
        </p:nvSpPr>
        <p:spPr>
          <a:xfrm>
            <a:off x="111548" y="4895960"/>
            <a:ext cx="6125966" cy="1477328"/>
          </a:xfrm>
          <a:prstGeom prst="rect">
            <a:avLst/>
          </a:prstGeom>
          <a:noFill/>
          <a:ln w="28575">
            <a:solidFill>
              <a:srgbClr val="008F00"/>
            </a:solidFill>
          </a:ln>
        </p:spPr>
        <p:txBody>
          <a:bodyPr wrap="square">
            <a:spAutoFit/>
          </a:bodyPr>
          <a:lstStyle/>
          <a:p>
            <a:r>
              <a:rPr b="0" i="0">
                <a:solidFill>
                  <a:srgbClr val="1F1F1F"/>
                </a:solidFill>
                <a:latin typeface="Source Sans Pro"/>
                <a:ea typeface="Source Sans Pro"/>
                <a:cs typeface="Source Sans Pro"/>
              </a:rPr>
              <a:t>Branches are an important part of the Git workflow. </a:t>
            </a:r>
          </a:p>
          <a:p>
            <a:r>
              <a:rPr b="0" i="0">
                <a:solidFill>
                  <a:srgbClr val="1F1F1F"/>
                </a:solidFill>
                <a:latin typeface="Source Sans Pro"/>
                <a:ea typeface="Source Sans Pro"/>
                <a:cs typeface="Source Sans Pro"/>
              </a:rPr>
              <a:t>What is a branch? </a:t>
            </a:r>
          </a:p>
          <a:p>
            <a:pPr marL="285750" indent="-285750">
              <a:buFont typeface="Arial"/>
              <a:buChar char="•"/>
            </a:pPr>
            <a:r>
              <a:rPr b="0" i="0">
                <a:solidFill>
                  <a:srgbClr val="1F1F1F"/>
                </a:solidFill>
                <a:latin typeface="Source Sans Pro"/>
                <a:ea typeface="Source Sans Pro"/>
                <a:cs typeface="Source Sans Pro"/>
              </a:rPr>
              <a:t>A branch represents an independent line of development in a project. </a:t>
            </a:r>
          </a:p>
          <a:p>
            <a:pPr marL="285750" indent="-285750">
              <a:buFont typeface="Arial"/>
              <a:buChar char="•"/>
            </a:pPr>
            <a:r>
              <a:rPr b="0" i="0">
                <a:solidFill>
                  <a:srgbClr val="1F1F1F"/>
                </a:solidFill>
                <a:latin typeface="Source Sans Pro"/>
                <a:ea typeface="Source Sans Pro"/>
                <a:cs typeface="Source Sans Pro"/>
              </a:rPr>
              <a:t>Branching is a common practice in software development. </a:t>
            </a:r>
          </a:p>
        </p:txBody>
      </p:sp>
    </p:spTree>
    <p:extLst>
      <p:ext uri="{BB962C8B-B14F-4D97-AF65-F5344CB8AC3E}">
        <p14:creationId xmlns:p14="http://schemas.microsoft.com/office/powerpoint/2010/main" val="1518040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540" name="Curved Connector 33"/>
          <p:cNvCxnSpPr/>
          <p:nvPr/>
        </p:nvCxnSpPr>
        <p:spPr>
          <a:xfrm>
            <a:off x="1879693" y="2394884"/>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36B3C66-B2B2-1C57-4233-0A486C67CF50}"/>
              </a:ext>
            </a:extLst>
          </p:cNvPr>
          <p:cNvSpPr>
            <a:spLocks noGrp="1"/>
          </p:cNvSpPr>
          <p:nvPr/>
        </p:nvSpPr>
        <p:spPr>
          <a:xfrm>
            <a:off x="3146941" y="3265513"/>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42" name="Picture 4"/>
          <p:cNvPicPr>
            <a:picLocks noChangeAspect="1"/>
          </p:cNvPicPr>
          <p:nvPr/>
        </p:nvPicPr>
        <p:blipFill>
          <a:blip r:embed="rId3"/>
          <a:srcRect/>
          <a:stretch>
            <a:fillRect/>
          </a:stretch>
        </p:blipFill>
        <p:spPr>
          <a:xfrm>
            <a:off x="1879367" y="2587631"/>
            <a:ext cx="339379" cy="339379"/>
          </a:xfrm>
          <a:prstGeom prst="rect">
            <a:avLst/>
          </a:prstGeom>
        </p:spPr>
      </p:pic>
      <p:sp>
        <p:nvSpPr>
          <p:cNvPr id="18439" name="TextBox 18438">
            <a:extLst>
              <a:ext uri="{FF2B5EF4-FFF2-40B4-BE49-F238E27FC236}">
                <a16:creationId xmlns:a16="http://schemas.microsoft.com/office/drawing/2014/main" id="{04AE0B45-5247-A4E3-B445-9053CD60B27F}"/>
              </a:ext>
            </a:extLst>
          </p:cNvPr>
          <p:cNvSpPr>
            <a:spLocks noGrp="1"/>
          </p:cNvSpPr>
          <p:nvPr/>
        </p:nvSpPr>
        <p:spPr>
          <a:xfrm>
            <a:off x="1447393" y="3213900"/>
            <a:ext cx="1956828" cy="369332"/>
          </a:xfrm>
          <a:prstGeom prst="rect">
            <a:avLst/>
          </a:prstGeom>
          <a:noFill/>
        </p:spPr>
        <p:txBody>
          <a:bodyPr wrap="square">
            <a:spAutoFit/>
          </a:bodyPr>
          <a:lstStyle/>
          <a:p>
            <a:r>
              <a:t>bugfix branch</a:t>
            </a:r>
          </a:p>
        </p:txBody>
      </p:sp>
      <p:sp>
        <p:nvSpPr>
          <p:cNvPr id="51" name="Straight Connector 50">
            <a:extLst>
              <a:ext uri="{FF2B5EF4-FFF2-40B4-BE49-F238E27FC236}">
                <a16:creationId xmlns:a16="http://schemas.microsoft.com/office/drawing/2014/main" id="{0D85F689-AAC8-4B16-B477-061D75415C4F}"/>
              </a:ext>
            </a:extLst>
          </p:cNvPr>
          <p:cNvSpPr>
            <a:spLocks noGrp="1"/>
          </p:cNvSpPr>
          <p:nvPr/>
        </p:nvSpPr>
        <p:spPr>
          <a:xfrm>
            <a:off x="1618983" y="2396453"/>
            <a:ext cx="3083850" cy="0"/>
          </a:xfrm>
          <a:prstGeom prst="line">
            <a:avLst/>
          </a:prstGeom>
          <a:ln w="101600">
            <a:solidFill>
              <a:schemeClr val="dk1"/>
            </a:solidFill>
            <a:prstDash val="soli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53" name="Oval 52">
            <a:extLst>
              <a:ext uri="{FF2B5EF4-FFF2-40B4-BE49-F238E27FC236}">
                <a16:creationId xmlns:a16="http://schemas.microsoft.com/office/drawing/2014/main" id="{E497271E-EB1F-EB08-85C1-1B1CADA1CD26}"/>
              </a:ext>
            </a:extLst>
          </p:cNvPr>
          <p:cNvSpPr>
            <a:spLocks noGrp="1"/>
          </p:cNvSpPr>
          <p:nvPr/>
        </p:nvSpPr>
        <p:spPr>
          <a:xfrm>
            <a:off x="1304987" y="2267467"/>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A32533C7-6CE3-960D-08B4-4EA7701C8CB6}"/>
              </a:ext>
            </a:extLst>
          </p:cNvPr>
          <p:cNvSpPr>
            <a:spLocks noGrp="1"/>
          </p:cNvSpPr>
          <p:nvPr/>
        </p:nvSpPr>
        <p:spPr>
          <a:xfrm>
            <a:off x="700019" y="1900189"/>
            <a:ext cx="2157874" cy="369332"/>
          </a:xfrm>
          <a:prstGeom prst="rect">
            <a:avLst/>
          </a:prstGeom>
          <a:noFill/>
        </p:spPr>
        <p:txBody>
          <a:bodyPr wrap="square">
            <a:spAutoFit/>
          </a:bodyPr>
          <a:lstStyle/>
          <a:p>
            <a:r>
              <a:t>Master/main branch</a:t>
            </a:r>
          </a:p>
        </p:txBody>
      </p:sp>
      <p:sp>
        <p:nvSpPr>
          <p:cNvPr id="18441" name="Oval 18440">
            <a:extLst>
              <a:ext uri="{FF2B5EF4-FFF2-40B4-BE49-F238E27FC236}">
                <a16:creationId xmlns:a16="http://schemas.microsoft.com/office/drawing/2014/main" id="{C6396DAB-250F-9BCA-8D82-827AE95BE793}"/>
              </a:ext>
            </a:extLst>
          </p:cNvPr>
          <p:cNvSpPr>
            <a:spLocks noGrp="1"/>
          </p:cNvSpPr>
          <p:nvPr/>
        </p:nvSpPr>
        <p:spPr>
          <a:xfrm>
            <a:off x="1914599" y="226270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Branching and Merging</a:t>
            </a:r>
          </a:p>
        </p:txBody>
      </p:sp>
      <p:sp>
        <p:nvSpPr>
          <p:cNvPr id="58" name="Oval 57">
            <a:extLst>
              <a:ext uri="{FF2B5EF4-FFF2-40B4-BE49-F238E27FC236}">
                <a16:creationId xmlns:a16="http://schemas.microsoft.com/office/drawing/2014/main" id="{E00CD0B0-8DEC-4650-6E73-F6DED0663EA1}"/>
              </a:ext>
            </a:extLst>
          </p:cNvPr>
          <p:cNvSpPr>
            <a:spLocks noGrp="1"/>
          </p:cNvSpPr>
          <p:nvPr/>
        </p:nvSpPr>
        <p:spPr>
          <a:xfrm>
            <a:off x="3164686" y="2291774"/>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50" name="Straight Arrow Connector 58"/>
          <p:cNvCxnSpPr>
            <a:stCxn id="35" idx="0"/>
            <a:endCxn id="58" idx="4"/>
          </p:cNvCxnSpPr>
          <p:nvPr/>
        </p:nvCxnSpPr>
        <p:spPr>
          <a:xfrm flipV="1">
            <a:off x="3289348" y="2546608"/>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551" name="Picture 16"/>
          <p:cNvPicPr>
            <a:picLocks noChangeAspect="1"/>
          </p:cNvPicPr>
          <p:nvPr/>
        </p:nvPicPr>
        <p:blipFill>
          <a:blip r:embed="rId4"/>
          <a:srcRect/>
          <a:stretch>
            <a:fillRect/>
          </a:stretch>
        </p:blipFill>
        <p:spPr>
          <a:xfrm>
            <a:off x="3371563" y="2848285"/>
            <a:ext cx="314945" cy="314945"/>
          </a:xfrm>
          <a:prstGeom prst="rect">
            <a:avLst/>
          </a:prstGeom>
        </p:spPr>
      </p:pic>
      <p:cxnSp>
        <p:nvCxnSpPr>
          <p:cNvPr id="18552" name="Straight Arrow Connector 59"/>
          <p:cNvCxnSpPr>
            <a:stCxn id="41" idx="4"/>
            <a:endCxn id="61" idx="0"/>
          </p:cNvCxnSpPr>
          <p:nvPr/>
        </p:nvCxnSpPr>
        <p:spPr>
          <a:xfrm>
            <a:off x="4001897" y="1616709"/>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CAE3CEB-DD55-D76A-5430-B316E05F7DBE}"/>
              </a:ext>
            </a:extLst>
          </p:cNvPr>
          <p:cNvSpPr>
            <a:spLocks noGrp="1"/>
          </p:cNvSpPr>
          <p:nvPr/>
        </p:nvSpPr>
        <p:spPr>
          <a:xfrm>
            <a:off x="3894920" y="2273486"/>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54" name="Picture 20"/>
          <p:cNvPicPr>
            <a:picLocks noChangeAspect="1"/>
          </p:cNvPicPr>
          <p:nvPr/>
        </p:nvPicPr>
        <p:blipFill>
          <a:blip r:embed="rId5"/>
          <a:srcRect/>
          <a:stretch>
            <a:fillRect/>
          </a:stretch>
        </p:blipFill>
        <p:spPr>
          <a:xfrm>
            <a:off x="4124023" y="1696393"/>
            <a:ext cx="292463" cy="292463"/>
          </a:xfrm>
          <a:prstGeom prst="rect">
            <a:avLst/>
          </a:prstGeom>
        </p:spPr>
      </p:pic>
      <p:cxnSp>
        <p:nvCxnSpPr>
          <p:cNvPr id="18555" name="Curved Connector 39"/>
          <p:cNvCxnSpPr/>
          <p:nvPr/>
        </p:nvCxnSpPr>
        <p:spPr>
          <a:xfrm rot="5400000" flipH="1" flipV="1">
            <a:off x="2997378" y="1527762"/>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6F26136-3801-9AD7-BECB-D2EDC8E2D0B0}"/>
              </a:ext>
            </a:extLst>
          </p:cNvPr>
          <p:cNvSpPr>
            <a:spLocks noGrp="1"/>
          </p:cNvSpPr>
          <p:nvPr/>
        </p:nvSpPr>
        <p:spPr>
          <a:xfrm>
            <a:off x="3859490" y="1361875"/>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E954EEE-9369-EFE8-75D4-8CDCCDE6395D}"/>
              </a:ext>
            </a:extLst>
          </p:cNvPr>
          <p:cNvSpPr>
            <a:spLocks noGrp="1"/>
          </p:cNvSpPr>
          <p:nvPr/>
        </p:nvSpPr>
        <p:spPr>
          <a:xfrm>
            <a:off x="2227487" y="1099820"/>
            <a:ext cx="1700830" cy="369332"/>
          </a:xfrm>
          <a:prstGeom prst="rect">
            <a:avLst/>
          </a:prstGeom>
          <a:noFill/>
        </p:spPr>
        <p:txBody>
          <a:bodyPr wrap="square">
            <a:spAutoFit/>
          </a:bodyPr>
          <a:lstStyle/>
          <a:p>
            <a:r>
              <a:t>Feature branch</a:t>
            </a:r>
          </a:p>
        </p:txBody>
      </p:sp>
      <p:sp>
        <p:nvSpPr>
          <p:cNvPr id="18442" name="Oval 18441">
            <a:extLst>
              <a:ext uri="{FF2B5EF4-FFF2-40B4-BE49-F238E27FC236}">
                <a16:creationId xmlns:a16="http://schemas.microsoft.com/office/drawing/2014/main" id="{AEC9E779-216D-37F3-0A52-5F453490FF41}"/>
              </a:ext>
            </a:extLst>
          </p:cNvPr>
          <p:cNvSpPr>
            <a:spLocks noGrp="1"/>
          </p:cNvSpPr>
          <p:nvPr/>
        </p:nvSpPr>
        <p:spPr>
          <a:xfrm>
            <a:off x="2595647" y="227222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C6FE829-EE7E-E615-04A4-9708E3028508}"/>
              </a:ext>
            </a:extLst>
          </p:cNvPr>
          <p:cNvSpPr>
            <a:spLocks noGrp="1"/>
          </p:cNvSpPr>
          <p:nvPr/>
        </p:nvSpPr>
        <p:spPr>
          <a:xfrm>
            <a:off x="7301726" y="2692172"/>
            <a:ext cx="3437190" cy="1077218"/>
          </a:xfrm>
          <a:prstGeom prst="rect">
            <a:avLst/>
          </a:prstGeom>
          <a:noFill/>
          <a:ln w="38100">
            <a:solidFill>
              <a:srgbClr val="C00000"/>
            </a:solidFill>
          </a:ln>
        </p:spPr>
        <p:txBody>
          <a:bodyPr wrap="square">
            <a:spAutoFit/>
          </a:bodyPr>
          <a:lstStyle/>
          <a:p>
            <a:r>
              <a:rPr sz="2400"/>
              <a:t>Merge Algorithm</a:t>
            </a:r>
            <a:r>
              <a:rPr sz="2800"/>
              <a:t>s</a:t>
            </a:r>
          </a:p>
          <a:p>
            <a:pPr marL="285750" indent="-285750">
              <a:buFont typeface="Arial"/>
              <a:buChar char="•"/>
            </a:pPr>
            <a:r>
              <a:t>Fast-forward – not diverged</a:t>
            </a:r>
          </a:p>
          <a:p>
            <a:pPr marL="285750" indent="-285750">
              <a:buFont typeface="Arial"/>
              <a:buChar char="•"/>
            </a:pPr>
            <a:r>
              <a:t>Three-way merge - diverged</a:t>
            </a:r>
          </a:p>
        </p:txBody>
      </p:sp>
      <p:sp>
        <p:nvSpPr>
          <p:cNvPr id="8" name="Oval 7">
            <a:extLst>
              <a:ext uri="{FF2B5EF4-FFF2-40B4-BE49-F238E27FC236}">
                <a16:creationId xmlns:a16="http://schemas.microsoft.com/office/drawing/2014/main" id="{B22C4C64-6AC5-C282-7C94-28359E603B6D}"/>
              </a:ext>
            </a:extLst>
          </p:cNvPr>
          <p:cNvSpPr>
            <a:spLocks noGrp="1"/>
          </p:cNvSpPr>
          <p:nvPr/>
        </p:nvSpPr>
        <p:spPr>
          <a:xfrm>
            <a:off x="9317920" y="496657"/>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7C3D0A1D-5F06-521E-FB52-8A12ED7C712B}"/>
              </a:ext>
            </a:extLst>
          </p:cNvPr>
          <p:cNvSpPr>
            <a:spLocks noGrp="1"/>
          </p:cNvSpPr>
          <p:nvPr/>
        </p:nvSpPr>
        <p:spPr>
          <a:xfrm>
            <a:off x="9317920" y="1004001"/>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62" name="Straight Arrow Connector 12"/>
          <p:cNvCxnSpPr>
            <a:stCxn id="8" idx="4"/>
            <a:endCxn id="9" idx="0"/>
          </p:cNvCxnSpPr>
          <p:nvPr/>
        </p:nvCxnSpPr>
        <p:spPr>
          <a:xfrm>
            <a:off x="9448275" y="751491"/>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6DF4ECDF-DBB5-15FA-1DAB-A3DCC6DFA6D4}"/>
              </a:ext>
            </a:extLst>
          </p:cNvPr>
          <p:cNvSpPr>
            <a:spLocks noGrp="1"/>
          </p:cNvSpPr>
          <p:nvPr/>
        </p:nvSpPr>
        <p:spPr>
          <a:xfrm>
            <a:off x="9578630" y="583976"/>
            <a:ext cx="721103" cy="307777"/>
          </a:xfrm>
          <a:prstGeom prst="rect">
            <a:avLst/>
          </a:prstGeom>
          <a:noFill/>
        </p:spPr>
        <p:txBody>
          <a:bodyPr wrap="square">
            <a:spAutoFit/>
          </a:bodyPr>
          <a:lstStyle/>
          <a:p>
            <a:r>
              <a:rPr sz="1400"/>
              <a:t>master</a:t>
            </a:r>
          </a:p>
        </p:txBody>
      </p:sp>
      <p:sp>
        <p:nvSpPr>
          <p:cNvPr id="15" name="Oval 14">
            <a:extLst>
              <a:ext uri="{FF2B5EF4-FFF2-40B4-BE49-F238E27FC236}">
                <a16:creationId xmlns:a16="http://schemas.microsoft.com/office/drawing/2014/main" id="{F2038D1E-C4E2-77E8-E26B-B0FCAF52923E}"/>
              </a:ext>
            </a:extLst>
          </p:cNvPr>
          <p:cNvSpPr>
            <a:spLocks noGrp="1"/>
          </p:cNvSpPr>
          <p:nvPr/>
        </p:nvSpPr>
        <p:spPr>
          <a:xfrm>
            <a:off x="8727176" y="1193604"/>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Oval 16">
            <a:extLst>
              <a:ext uri="{FF2B5EF4-FFF2-40B4-BE49-F238E27FC236}">
                <a16:creationId xmlns:a16="http://schemas.microsoft.com/office/drawing/2014/main" id="{12DE289E-E563-DE76-1090-CF5FA4EE586A}"/>
              </a:ext>
            </a:extLst>
          </p:cNvPr>
          <p:cNvSpPr>
            <a:spLocks noGrp="1"/>
          </p:cNvSpPr>
          <p:nvPr/>
        </p:nvSpPr>
        <p:spPr>
          <a:xfrm>
            <a:off x="8727176" y="1682263"/>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Oval 18">
            <a:extLst>
              <a:ext uri="{FF2B5EF4-FFF2-40B4-BE49-F238E27FC236}">
                <a16:creationId xmlns:a16="http://schemas.microsoft.com/office/drawing/2014/main" id="{91E931FA-D160-CDB2-DEF3-6CFC725AE10F}"/>
              </a:ext>
            </a:extLst>
          </p:cNvPr>
          <p:cNvSpPr>
            <a:spLocks noGrp="1"/>
          </p:cNvSpPr>
          <p:nvPr/>
        </p:nvSpPr>
        <p:spPr>
          <a:xfrm>
            <a:off x="8727176" y="2205437"/>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67" name="Straight Arrow Connector 20"/>
          <p:cNvCxnSpPr/>
          <p:nvPr/>
        </p:nvCxnSpPr>
        <p:spPr>
          <a:xfrm>
            <a:off x="8845808" y="1440988"/>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68" name="Straight Arrow Connector 22"/>
          <p:cNvCxnSpPr/>
          <p:nvPr/>
        </p:nvCxnSpPr>
        <p:spPr>
          <a:xfrm>
            <a:off x="8857531" y="1946578"/>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69" name="Straight Arrow Connector 23"/>
          <p:cNvCxnSpPr/>
          <p:nvPr/>
        </p:nvCxnSpPr>
        <p:spPr>
          <a:xfrm flipH="1">
            <a:off x="8987886" y="1132500"/>
            <a:ext cx="324924" cy="1533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B0DDD373-8AA3-7C5D-5879-24F98A3BC65C}"/>
              </a:ext>
            </a:extLst>
          </p:cNvPr>
          <p:cNvSpPr>
            <a:spLocks noGrp="1"/>
          </p:cNvSpPr>
          <p:nvPr/>
        </p:nvSpPr>
        <p:spPr>
          <a:xfrm>
            <a:off x="7666889" y="1656229"/>
            <a:ext cx="1166182" cy="307777"/>
          </a:xfrm>
          <a:prstGeom prst="rect">
            <a:avLst/>
          </a:prstGeom>
          <a:noFill/>
        </p:spPr>
        <p:txBody>
          <a:bodyPr wrap="square">
            <a:spAutoFit/>
          </a:bodyPr>
          <a:lstStyle/>
          <a:p>
            <a:r>
              <a:rPr sz="1400"/>
              <a:t>new-feature</a:t>
            </a:r>
          </a:p>
        </p:txBody>
      </p:sp>
      <p:pic>
        <p:nvPicPr>
          <p:cNvPr id="18571" name="Picture 54"/>
          <p:cNvPicPr>
            <a:picLocks noChangeAspect="1"/>
          </p:cNvPicPr>
          <p:nvPr/>
        </p:nvPicPr>
        <p:blipFill>
          <a:blip r:embed="rId6"/>
          <a:stretch>
            <a:fillRect/>
          </a:stretch>
        </p:blipFill>
        <p:spPr>
          <a:xfrm>
            <a:off x="5732860" y="4690906"/>
            <a:ext cx="6268216" cy="1982452"/>
          </a:xfrm>
          <a:prstGeom prst="rect">
            <a:avLst/>
          </a:prstGeom>
        </p:spPr>
      </p:pic>
      <p:sp>
        <p:nvSpPr>
          <p:cNvPr id="5" name="TextBox 4">
            <a:extLst>
              <a:ext uri="{FF2B5EF4-FFF2-40B4-BE49-F238E27FC236}">
                <a16:creationId xmlns:a16="http://schemas.microsoft.com/office/drawing/2014/main" id="{5A9554AA-A751-A13A-0392-1DB36E8E8BD4}"/>
              </a:ext>
            </a:extLst>
          </p:cNvPr>
          <p:cNvSpPr>
            <a:spLocks noGrp="1"/>
          </p:cNvSpPr>
          <p:nvPr/>
        </p:nvSpPr>
        <p:spPr>
          <a:xfrm>
            <a:off x="7301726" y="4339537"/>
            <a:ext cx="2011084" cy="461665"/>
          </a:xfrm>
          <a:prstGeom prst="rect">
            <a:avLst/>
          </a:prstGeom>
          <a:noFill/>
        </p:spPr>
        <p:txBody>
          <a:bodyPr wrap="square">
            <a:spAutoFit/>
          </a:bodyPr>
          <a:lstStyle/>
          <a:p>
            <a:r>
              <a:rPr sz="2400"/>
              <a:t>Fast-forward</a:t>
            </a:r>
          </a:p>
        </p:txBody>
      </p:sp>
      <p:cxnSp>
        <p:nvCxnSpPr>
          <p:cNvPr id="18573" name="Straight Arrow Connector 11"/>
          <p:cNvCxnSpPr/>
          <p:nvPr/>
        </p:nvCxnSpPr>
        <p:spPr>
          <a:xfrm flipH="1" flipV="1">
            <a:off x="4919231" y="1843675"/>
            <a:ext cx="864486" cy="392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674D737-B5A6-6711-8AF6-422B403AFCB7}"/>
              </a:ext>
            </a:extLst>
          </p:cNvPr>
          <p:cNvSpPr>
            <a:spLocks noGrp="1"/>
          </p:cNvSpPr>
          <p:nvPr/>
        </p:nvSpPr>
        <p:spPr>
          <a:xfrm>
            <a:off x="4530597" y="1992856"/>
            <a:ext cx="2298976" cy="369332"/>
          </a:xfrm>
          <a:prstGeom prst="rect">
            <a:avLst/>
          </a:prstGeom>
          <a:noFill/>
        </p:spPr>
        <p:txBody>
          <a:bodyPr wrap="square">
            <a:spAutoFit/>
          </a:bodyPr>
          <a:lstStyle/>
          <a:p>
            <a:r>
              <a:t>Integrating the feature</a:t>
            </a:r>
          </a:p>
        </p:txBody>
      </p:sp>
      <p:sp>
        <p:nvSpPr>
          <p:cNvPr id="14" name="TextBox 13">
            <a:extLst>
              <a:ext uri="{FF2B5EF4-FFF2-40B4-BE49-F238E27FC236}">
                <a16:creationId xmlns:a16="http://schemas.microsoft.com/office/drawing/2014/main" id="{C9F39999-D555-32CD-A7B6-552550BB0064}"/>
              </a:ext>
            </a:extLst>
          </p:cNvPr>
          <p:cNvSpPr>
            <a:spLocks noGrp="1"/>
          </p:cNvSpPr>
          <p:nvPr/>
        </p:nvSpPr>
        <p:spPr>
          <a:xfrm>
            <a:off x="7141929" y="2224602"/>
            <a:ext cx="1328972" cy="276999"/>
          </a:xfrm>
          <a:prstGeom prst="rect">
            <a:avLst/>
          </a:prstGeom>
          <a:noFill/>
          <a:ln w="28575">
            <a:solidFill>
              <a:srgbClr val="C00000"/>
            </a:solidFill>
          </a:ln>
        </p:spPr>
        <p:txBody>
          <a:bodyPr wrap="square">
            <a:spAutoFit/>
          </a:bodyPr>
          <a:lstStyle/>
          <a:p>
            <a:r>
              <a:rPr sz="1200"/>
              <a:t>new-feature head</a:t>
            </a:r>
          </a:p>
        </p:txBody>
      </p:sp>
      <p:cxnSp>
        <p:nvCxnSpPr>
          <p:cNvPr id="18576" name="Straight Arrow Connector 19"/>
          <p:cNvCxnSpPr>
            <a:stCxn id="14" idx="3"/>
            <a:endCxn id="19" idx="2"/>
          </p:cNvCxnSpPr>
          <p:nvPr/>
        </p:nvCxnSpPr>
        <p:spPr>
          <a:xfrm flipV="1">
            <a:off x="8470901" y="2332854"/>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AF97CF5-1600-DC32-8DCA-485A6C1A6757}"/>
              </a:ext>
            </a:extLst>
          </p:cNvPr>
          <p:cNvSpPr>
            <a:spLocks noGrp="1"/>
          </p:cNvSpPr>
          <p:nvPr/>
        </p:nvSpPr>
        <p:spPr>
          <a:xfrm>
            <a:off x="10011678" y="1031340"/>
            <a:ext cx="961122" cy="276999"/>
          </a:xfrm>
          <a:prstGeom prst="rect">
            <a:avLst/>
          </a:prstGeom>
          <a:noFill/>
          <a:ln w="28575">
            <a:solidFill>
              <a:srgbClr val="C00000"/>
            </a:solidFill>
          </a:ln>
        </p:spPr>
        <p:txBody>
          <a:bodyPr wrap="square">
            <a:spAutoFit/>
          </a:bodyPr>
          <a:lstStyle/>
          <a:p>
            <a:r>
              <a:rPr sz="1200"/>
              <a:t>master head</a:t>
            </a:r>
          </a:p>
        </p:txBody>
      </p:sp>
      <p:cxnSp>
        <p:nvCxnSpPr>
          <p:cNvPr id="18578" name="Straight Arrow Connector 25"/>
          <p:cNvCxnSpPr>
            <a:stCxn id="22" idx="1"/>
            <a:endCxn id="9" idx="6"/>
          </p:cNvCxnSpPr>
          <p:nvPr/>
        </p:nvCxnSpPr>
        <p:spPr>
          <a:xfrm flipH="1" flipV="1">
            <a:off x="9578630" y="1131418"/>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579" name="Straight Arrow Connector 18435"/>
          <p:cNvCxnSpPr>
            <a:stCxn id="18435" idx="3"/>
          </p:cNvCxnSpPr>
          <p:nvPr/>
        </p:nvCxnSpPr>
        <p:spPr>
          <a:xfrm flipV="1">
            <a:off x="2535717" y="6099043"/>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E4B40BD3-5149-B9B7-08CF-8EB89E295A9F}"/>
              </a:ext>
            </a:extLst>
          </p:cNvPr>
          <p:cNvSpPr>
            <a:spLocks noGrp="1"/>
          </p:cNvSpPr>
          <p:nvPr/>
        </p:nvSpPr>
        <p:spPr>
          <a:xfrm>
            <a:off x="3400406" y="4247156"/>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Oval 32">
            <a:extLst>
              <a:ext uri="{FF2B5EF4-FFF2-40B4-BE49-F238E27FC236}">
                <a16:creationId xmlns:a16="http://schemas.microsoft.com/office/drawing/2014/main" id="{80C82119-9981-8F2C-DEB8-4A296702E6FF}"/>
              </a:ext>
            </a:extLst>
          </p:cNvPr>
          <p:cNvSpPr>
            <a:spLocks noGrp="1"/>
          </p:cNvSpPr>
          <p:nvPr/>
        </p:nvSpPr>
        <p:spPr>
          <a:xfrm>
            <a:off x="3400406" y="4754500"/>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82" name="Straight Arrow Connector 35"/>
          <p:cNvCxnSpPr>
            <a:stCxn id="30" idx="4"/>
            <a:endCxn id="33" idx="0"/>
          </p:cNvCxnSpPr>
          <p:nvPr/>
        </p:nvCxnSpPr>
        <p:spPr>
          <a:xfrm>
            <a:off x="3530761" y="450199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4C68D9F9-EE7C-70B7-362F-D13596161017}"/>
              </a:ext>
            </a:extLst>
          </p:cNvPr>
          <p:cNvSpPr>
            <a:spLocks noGrp="1"/>
          </p:cNvSpPr>
          <p:nvPr/>
        </p:nvSpPr>
        <p:spPr>
          <a:xfrm>
            <a:off x="3661116" y="4334475"/>
            <a:ext cx="721103" cy="307777"/>
          </a:xfrm>
          <a:prstGeom prst="rect">
            <a:avLst/>
          </a:prstGeom>
          <a:noFill/>
        </p:spPr>
        <p:txBody>
          <a:bodyPr wrap="square">
            <a:spAutoFit/>
          </a:bodyPr>
          <a:lstStyle/>
          <a:p>
            <a:r>
              <a:rPr sz="1400"/>
              <a:t>master</a:t>
            </a:r>
          </a:p>
        </p:txBody>
      </p:sp>
      <p:sp>
        <p:nvSpPr>
          <p:cNvPr id="39" name="Oval 38">
            <a:extLst>
              <a:ext uri="{FF2B5EF4-FFF2-40B4-BE49-F238E27FC236}">
                <a16:creationId xmlns:a16="http://schemas.microsoft.com/office/drawing/2014/main" id="{E83FB4A7-5FEC-E148-A27C-14D7E97D444C}"/>
              </a:ext>
            </a:extLst>
          </p:cNvPr>
          <p:cNvSpPr>
            <a:spLocks noGrp="1"/>
          </p:cNvSpPr>
          <p:nvPr/>
        </p:nvSpPr>
        <p:spPr>
          <a:xfrm>
            <a:off x="2809662" y="4944103"/>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2" name="Oval 41">
            <a:extLst>
              <a:ext uri="{FF2B5EF4-FFF2-40B4-BE49-F238E27FC236}">
                <a16:creationId xmlns:a16="http://schemas.microsoft.com/office/drawing/2014/main" id="{E1C35066-B6AC-25EB-6F7E-F8D076091D4D}"/>
              </a:ext>
            </a:extLst>
          </p:cNvPr>
          <p:cNvSpPr>
            <a:spLocks noGrp="1"/>
          </p:cNvSpPr>
          <p:nvPr/>
        </p:nvSpPr>
        <p:spPr>
          <a:xfrm>
            <a:off x="2809662" y="5432762"/>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Oval 43">
            <a:extLst>
              <a:ext uri="{FF2B5EF4-FFF2-40B4-BE49-F238E27FC236}">
                <a16:creationId xmlns:a16="http://schemas.microsoft.com/office/drawing/2014/main" id="{3B3D2990-5920-39ED-54E1-021ECA4CE523}"/>
              </a:ext>
            </a:extLst>
          </p:cNvPr>
          <p:cNvSpPr>
            <a:spLocks noGrp="1"/>
          </p:cNvSpPr>
          <p:nvPr/>
        </p:nvSpPr>
        <p:spPr>
          <a:xfrm>
            <a:off x="2809662" y="595593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87" name="Straight Arrow Connector 44"/>
          <p:cNvCxnSpPr/>
          <p:nvPr/>
        </p:nvCxnSpPr>
        <p:spPr>
          <a:xfrm>
            <a:off x="2928294" y="5191487"/>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88" name="Straight Arrow Connector 45"/>
          <p:cNvCxnSpPr/>
          <p:nvPr/>
        </p:nvCxnSpPr>
        <p:spPr>
          <a:xfrm>
            <a:off x="2940017" y="5697077"/>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89" name="Straight Arrow Connector 47"/>
          <p:cNvCxnSpPr/>
          <p:nvPr/>
        </p:nvCxnSpPr>
        <p:spPr>
          <a:xfrm flipH="1">
            <a:off x="3070372" y="4882999"/>
            <a:ext cx="324924" cy="1533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56153F93-7E28-F7EF-519D-FE7214468EAB}"/>
              </a:ext>
            </a:extLst>
          </p:cNvPr>
          <p:cNvSpPr>
            <a:spLocks noGrp="1"/>
          </p:cNvSpPr>
          <p:nvPr/>
        </p:nvSpPr>
        <p:spPr>
          <a:xfrm>
            <a:off x="1749375" y="5406728"/>
            <a:ext cx="1166182" cy="307777"/>
          </a:xfrm>
          <a:prstGeom prst="rect">
            <a:avLst/>
          </a:prstGeom>
          <a:noFill/>
        </p:spPr>
        <p:txBody>
          <a:bodyPr wrap="square">
            <a:spAutoFit/>
          </a:bodyPr>
          <a:lstStyle/>
          <a:p>
            <a:r>
              <a:rPr sz="1400"/>
              <a:t>new-feature</a:t>
            </a:r>
          </a:p>
        </p:txBody>
      </p:sp>
      <p:sp>
        <p:nvSpPr>
          <p:cNvPr id="18434" name="TextBox 18433">
            <a:extLst>
              <a:ext uri="{FF2B5EF4-FFF2-40B4-BE49-F238E27FC236}">
                <a16:creationId xmlns:a16="http://schemas.microsoft.com/office/drawing/2014/main" id="{01175CCD-E036-B9F1-23C3-0911ECB89DB0}"/>
              </a:ext>
            </a:extLst>
          </p:cNvPr>
          <p:cNvSpPr>
            <a:spLocks noGrp="1"/>
          </p:cNvSpPr>
          <p:nvPr/>
        </p:nvSpPr>
        <p:spPr>
          <a:xfrm>
            <a:off x="1531756" y="6384890"/>
            <a:ext cx="2592267" cy="369332"/>
          </a:xfrm>
          <a:prstGeom prst="rect">
            <a:avLst/>
          </a:prstGeom>
          <a:noFill/>
        </p:spPr>
        <p:txBody>
          <a:bodyPr wrap="square">
            <a:spAutoFit/>
          </a:bodyPr>
          <a:lstStyle/>
          <a:p>
            <a:r>
              <a:rPr sz="1800"/>
              <a:t>After Fast-forward merge </a:t>
            </a:r>
            <a:endParaRPr/>
          </a:p>
        </p:txBody>
      </p:sp>
      <p:sp>
        <p:nvSpPr>
          <p:cNvPr id="18435" name="TextBox 18434">
            <a:extLst>
              <a:ext uri="{FF2B5EF4-FFF2-40B4-BE49-F238E27FC236}">
                <a16:creationId xmlns:a16="http://schemas.microsoft.com/office/drawing/2014/main" id="{9029DE6E-7FF6-5DFC-7600-04738BC74C99}"/>
              </a:ext>
            </a:extLst>
          </p:cNvPr>
          <p:cNvSpPr>
            <a:spLocks noGrp="1"/>
          </p:cNvSpPr>
          <p:nvPr/>
        </p:nvSpPr>
        <p:spPr>
          <a:xfrm>
            <a:off x="1206745" y="5990791"/>
            <a:ext cx="1328972" cy="276999"/>
          </a:xfrm>
          <a:prstGeom prst="rect">
            <a:avLst/>
          </a:prstGeom>
          <a:noFill/>
          <a:ln w="28575">
            <a:solidFill>
              <a:srgbClr val="C00000"/>
            </a:solidFill>
          </a:ln>
        </p:spPr>
        <p:txBody>
          <a:bodyPr wrap="square">
            <a:spAutoFit/>
          </a:bodyPr>
          <a:lstStyle/>
          <a:p>
            <a:r>
              <a:rPr sz="1200"/>
              <a:t>new-feature head</a:t>
            </a:r>
          </a:p>
        </p:txBody>
      </p:sp>
      <p:sp>
        <p:nvSpPr>
          <p:cNvPr id="18437" name="TextBox 18436">
            <a:extLst>
              <a:ext uri="{FF2B5EF4-FFF2-40B4-BE49-F238E27FC236}">
                <a16:creationId xmlns:a16="http://schemas.microsoft.com/office/drawing/2014/main" id="{C9D8DE66-73FE-AFC6-4831-A732CFCC5B18}"/>
              </a:ext>
            </a:extLst>
          </p:cNvPr>
          <p:cNvSpPr>
            <a:spLocks noGrp="1"/>
          </p:cNvSpPr>
          <p:nvPr/>
        </p:nvSpPr>
        <p:spPr>
          <a:xfrm>
            <a:off x="3544714" y="5990791"/>
            <a:ext cx="961122" cy="276999"/>
          </a:xfrm>
          <a:prstGeom prst="rect">
            <a:avLst/>
          </a:prstGeom>
          <a:noFill/>
          <a:ln w="28575">
            <a:solidFill>
              <a:srgbClr val="C00000"/>
            </a:solidFill>
          </a:ln>
        </p:spPr>
        <p:txBody>
          <a:bodyPr wrap="square">
            <a:spAutoFit/>
          </a:bodyPr>
          <a:lstStyle/>
          <a:p>
            <a:r>
              <a:rPr sz="1200"/>
              <a:t>master head</a:t>
            </a:r>
          </a:p>
        </p:txBody>
      </p:sp>
      <p:cxnSp>
        <p:nvCxnSpPr>
          <p:cNvPr id="18594" name="Straight Arrow Connector 18437"/>
          <p:cNvCxnSpPr>
            <a:stCxn id="18437" idx="1"/>
          </p:cNvCxnSpPr>
          <p:nvPr/>
        </p:nvCxnSpPr>
        <p:spPr>
          <a:xfrm flipH="1" flipV="1">
            <a:off x="3111666" y="6090869"/>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471" name="TextBox 18470">
            <a:extLst>
              <a:ext uri="{FF2B5EF4-FFF2-40B4-BE49-F238E27FC236}">
                <a16:creationId xmlns:a16="http://schemas.microsoft.com/office/drawing/2014/main" id="{0CE08F47-BD17-54B7-1DD0-340E8736956C}"/>
              </a:ext>
            </a:extLst>
          </p:cNvPr>
          <p:cNvSpPr>
            <a:spLocks noGrp="1"/>
          </p:cNvSpPr>
          <p:nvPr/>
        </p:nvSpPr>
        <p:spPr>
          <a:xfrm>
            <a:off x="3872648" y="5237916"/>
            <a:ext cx="1518326" cy="369332"/>
          </a:xfrm>
          <a:prstGeom prst="rect">
            <a:avLst/>
          </a:prstGeom>
          <a:noFill/>
          <a:ln w="28575">
            <a:solidFill>
              <a:srgbClr val="C00000"/>
            </a:solidFill>
          </a:ln>
        </p:spPr>
        <p:txBody>
          <a:bodyPr wrap="square">
            <a:spAutoFit/>
          </a:bodyPr>
          <a:lstStyle/>
          <a:p>
            <a:r>
              <a:t>Linear history</a:t>
            </a:r>
          </a:p>
        </p:txBody>
      </p:sp>
      <p:cxnSp>
        <p:nvCxnSpPr>
          <p:cNvPr id="18596" name="Straight Arrow Connector 18471"/>
          <p:cNvCxnSpPr/>
          <p:nvPr/>
        </p:nvCxnSpPr>
        <p:spPr>
          <a:xfrm flipH="1">
            <a:off x="3257443" y="5481034"/>
            <a:ext cx="612092" cy="23259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8597" name="Picture 1"/>
          <p:cNvPicPr>
            <a:picLocks noChangeAspect="1"/>
          </p:cNvPicPr>
          <p:nvPr/>
        </p:nvPicPr>
        <p:blipFill>
          <a:blip r:embed="rId7"/>
          <a:stretch>
            <a:fillRect/>
          </a:stretch>
        </p:blipFill>
        <p:spPr>
          <a:xfrm>
            <a:off x="5146596" y="3005757"/>
            <a:ext cx="1214667" cy="788913"/>
          </a:xfrm>
          <a:prstGeom prst="rect">
            <a:avLst/>
          </a:prstGeom>
        </p:spPr>
      </p:pic>
      <p:sp>
        <p:nvSpPr>
          <p:cNvPr id="7" name="Straight Connector 6">
            <a:extLst>
              <a:ext uri="{FF2B5EF4-FFF2-40B4-BE49-F238E27FC236}">
                <a16:creationId xmlns:a16="http://schemas.microsoft.com/office/drawing/2014/main" id="{18F9C0A7-6D39-499E-BB2F-04D7E0527FD0}"/>
              </a:ext>
            </a:extLst>
          </p:cNvPr>
          <p:cNvSpPr>
            <a:spLocks noGrp="1"/>
          </p:cNvSpPr>
          <p:nvPr/>
        </p:nvSpPr>
        <p:spPr>
          <a:xfrm flipH="1">
            <a:off x="4890275" y="2692172"/>
            <a:ext cx="1392538" cy="155498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25" name="Straight Connector 24">
            <a:extLst>
              <a:ext uri="{FF2B5EF4-FFF2-40B4-BE49-F238E27FC236}">
                <a16:creationId xmlns:a16="http://schemas.microsoft.com/office/drawing/2014/main" id="{35A28183-FA7F-4105-A684-00D498212371}"/>
              </a:ext>
            </a:extLst>
          </p:cNvPr>
          <p:cNvSpPr>
            <a:spLocks noGrp="1"/>
          </p:cNvSpPr>
          <p:nvPr/>
        </p:nvSpPr>
        <p:spPr>
          <a:xfrm>
            <a:off x="5250426" y="2692172"/>
            <a:ext cx="1253613" cy="164230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21496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Branching and Merging</a:t>
            </a:r>
          </a:p>
        </p:txBody>
      </p:sp>
      <p:cxnSp>
        <p:nvCxnSpPr>
          <p:cNvPr id="18574" name="Curved Connector 22"/>
          <p:cNvCxnSpPr/>
          <p:nvPr/>
        </p:nvCxnSpPr>
        <p:spPr>
          <a:xfrm>
            <a:off x="1879693" y="2394884"/>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D9DF29CD-3BED-F991-E5A7-5751DD5347B3}"/>
              </a:ext>
            </a:extLst>
          </p:cNvPr>
          <p:cNvSpPr>
            <a:spLocks noGrp="1"/>
          </p:cNvSpPr>
          <p:nvPr/>
        </p:nvSpPr>
        <p:spPr>
          <a:xfrm>
            <a:off x="3146941" y="3265513"/>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76" name="Picture 4"/>
          <p:cNvPicPr>
            <a:picLocks noChangeAspect="1"/>
          </p:cNvPicPr>
          <p:nvPr/>
        </p:nvPicPr>
        <p:blipFill>
          <a:blip r:embed="rId3"/>
          <a:srcRect/>
          <a:stretch>
            <a:fillRect/>
          </a:stretch>
        </p:blipFill>
        <p:spPr>
          <a:xfrm>
            <a:off x="1879367" y="2587631"/>
            <a:ext cx="339379" cy="339379"/>
          </a:xfrm>
          <a:prstGeom prst="rect">
            <a:avLst/>
          </a:prstGeom>
        </p:spPr>
      </p:pic>
      <p:sp>
        <p:nvSpPr>
          <p:cNvPr id="11" name="TextBox 10">
            <a:extLst>
              <a:ext uri="{FF2B5EF4-FFF2-40B4-BE49-F238E27FC236}">
                <a16:creationId xmlns:a16="http://schemas.microsoft.com/office/drawing/2014/main" id="{56D57C96-FDCE-80B8-39CC-64498CA041F7}"/>
              </a:ext>
            </a:extLst>
          </p:cNvPr>
          <p:cNvSpPr>
            <a:spLocks noGrp="1"/>
          </p:cNvSpPr>
          <p:nvPr/>
        </p:nvSpPr>
        <p:spPr>
          <a:xfrm>
            <a:off x="1447393" y="3213900"/>
            <a:ext cx="1956828" cy="369332"/>
          </a:xfrm>
          <a:prstGeom prst="rect">
            <a:avLst/>
          </a:prstGeom>
          <a:noFill/>
        </p:spPr>
        <p:txBody>
          <a:bodyPr wrap="square">
            <a:spAutoFit/>
          </a:bodyPr>
          <a:lstStyle/>
          <a:p>
            <a:r>
              <a:t>bugfix branch</a:t>
            </a:r>
          </a:p>
        </p:txBody>
      </p:sp>
      <p:sp>
        <p:nvSpPr>
          <p:cNvPr id="54" name="Straight Connector 53">
            <a:extLst>
              <a:ext uri="{FF2B5EF4-FFF2-40B4-BE49-F238E27FC236}">
                <a16:creationId xmlns:a16="http://schemas.microsoft.com/office/drawing/2014/main" id="{4B6A08A4-1EBB-467F-8841-BF7B070C9F9A}"/>
              </a:ext>
            </a:extLst>
          </p:cNvPr>
          <p:cNvSpPr>
            <a:spLocks noGrp="1"/>
          </p:cNvSpPr>
          <p:nvPr/>
        </p:nvSpPr>
        <p:spPr>
          <a:xfrm>
            <a:off x="1618983" y="2396453"/>
            <a:ext cx="3083850" cy="0"/>
          </a:xfrm>
          <a:prstGeom prst="line">
            <a:avLst/>
          </a:prstGeom>
          <a:ln w="101600">
            <a:solidFill>
              <a:schemeClr val="dk1"/>
            </a:solidFill>
            <a:prstDash val="soli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55" name="Oval 54">
            <a:extLst>
              <a:ext uri="{FF2B5EF4-FFF2-40B4-BE49-F238E27FC236}">
                <a16:creationId xmlns:a16="http://schemas.microsoft.com/office/drawing/2014/main" id="{B471472F-9871-55BA-AE67-695884C883FE}"/>
              </a:ext>
            </a:extLst>
          </p:cNvPr>
          <p:cNvSpPr>
            <a:spLocks noGrp="1"/>
          </p:cNvSpPr>
          <p:nvPr/>
        </p:nvSpPr>
        <p:spPr>
          <a:xfrm>
            <a:off x="1304987" y="2267467"/>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53602AD-3A2D-EAF0-C61D-4FA3E247AB21}"/>
              </a:ext>
            </a:extLst>
          </p:cNvPr>
          <p:cNvSpPr>
            <a:spLocks noGrp="1"/>
          </p:cNvSpPr>
          <p:nvPr/>
        </p:nvSpPr>
        <p:spPr>
          <a:xfrm>
            <a:off x="700019" y="1900189"/>
            <a:ext cx="2157874" cy="369332"/>
          </a:xfrm>
          <a:prstGeom prst="rect">
            <a:avLst/>
          </a:prstGeom>
          <a:noFill/>
        </p:spPr>
        <p:txBody>
          <a:bodyPr wrap="square">
            <a:spAutoFit/>
          </a:bodyPr>
          <a:lstStyle/>
          <a:p>
            <a:r>
              <a:t>Master/main branch</a:t>
            </a:r>
          </a:p>
        </p:txBody>
      </p:sp>
      <p:sp>
        <p:nvSpPr>
          <p:cNvPr id="48" name="Oval 47">
            <a:extLst>
              <a:ext uri="{FF2B5EF4-FFF2-40B4-BE49-F238E27FC236}">
                <a16:creationId xmlns:a16="http://schemas.microsoft.com/office/drawing/2014/main" id="{6427EDAE-792A-4279-AA2C-A4824CDBCEAE}"/>
              </a:ext>
            </a:extLst>
          </p:cNvPr>
          <p:cNvSpPr>
            <a:spLocks noGrp="1"/>
          </p:cNvSpPr>
          <p:nvPr/>
        </p:nvSpPr>
        <p:spPr>
          <a:xfrm>
            <a:off x="1914599" y="226270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434" name="Oval 18433">
            <a:extLst>
              <a:ext uri="{FF2B5EF4-FFF2-40B4-BE49-F238E27FC236}">
                <a16:creationId xmlns:a16="http://schemas.microsoft.com/office/drawing/2014/main" id="{C4D9A1C7-7CA5-B5B9-5CDC-8B81E0432EFE}"/>
              </a:ext>
            </a:extLst>
          </p:cNvPr>
          <p:cNvSpPr>
            <a:spLocks noGrp="1"/>
          </p:cNvSpPr>
          <p:nvPr/>
        </p:nvSpPr>
        <p:spPr>
          <a:xfrm>
            <a:off x="3164686" y="2291774"/>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83" name="Straight Arrow Connector 18434"/>
          <p:cNvCxnSpPr>
            <a:stCxn id="24" idx="0"/>
            <a:endCxn id="18434" idx="4"/>
          </p:cNvCxnSpPr>
          <p:nvPr/>
        </p:nvCxnSpPr>
        <p:spPr>
          <a:xfrm flipV="1">
            <a:off x="3289348" y="2546608"/>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584" name="Picture 16"/>
          <p:cNvPicPr>
            <a:picLocks noChangeAspect="1"/>
          </p:cNvPicPr>
          <p:nvPr/>
        </p:nvPicPr>
        <p:blipFill>
          <a:blip r:embed="rId4"/>
          <a:srcRect/>
          <a:stretch>
            <a:fillRect/>
          </a:stretch>
        </p:blipFill>
        <p:spPr>
          <a:xfrm>
            <a:off x="3371563" y="2848285"/>
            <a:ext cx="314945" cy="314945"/>
          </a:xfrm>
          <a:prstGeom prst="rect">
            <a:avLst/>
          </a:prstGeom>
        </p:spPr>
      </p:pic>
      <p:cxnSp>
        <p:nvCxnSpPr>
          <p:cNvPr id="18585" name="Straight Arrow Connector 18437"/>
          <p:cNvCxnSpPr>
            <a:stCxn id="18455" idx="4"/>
            <a:endCxn id="18443" idx="0"/>
          </p:cNvCxnSpPr>
          <p:nvPr/>
        </p:nvCxnSpPr>
        <p:spPr>
          <a:xfrm>
            <a:off x="4001897" y="1616709"/>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43" name="Oval 18442">
            <a:extLst>
              <a:ext uri="{FF2B5EF4-FFF2-40B4-BE49-F238E27FC236}">
                <a16:creationId xmlns:a16="http://schemas.microsoft.com/office/drawing/2014/main" id="{452EBF23-5831-7132-450F-8BCAD78D02A3}"/>
              </a:ext>
            </a:extLst>
          </p:cNvPr>
          <p:cNvSpPr>
            <a:spLocks noGrp="1"/>
          </p:cNvSpPr>
          <p:nvPr/>
        </p:nvSpPr>
        <p:spPr>
          <a:xfrm>
            <a:off x="3894920" y="2273486"/>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587" name="Picture 20"/>
          <p:cNvPicPr>
            <a:picLocks noChangeAspect="1"/>
          </p:cNvPicPr>
          <p:nvPr/>
        </p:nvPicPr>
        <p:blipFill>
          <a:blip r:embed="rId5"/>
          <a:srcRect/>
          <a:stretch>
            <a:fillRect/>
          </a:stretch>
        </p:blipFill>
        <p:spPr>
          <a:xfrm>
            <a:off x="4124023" y="1696393"/>
            <a:ext cx="292463" cy="292463"/>
          </a:xfrm>
          <a:prstGeom prst="rect">
            <a:avLst/>
          </a:prstGeom>
        </p:spPr>
      </p:pic>
      <p:cxnSp>
        <p:nvCxnSpPr>
          <p:cNvPr id="18588" name="Curved Connector 18453"/>
          <p:cNvCxnSpPr/>
          <p:nvPr/>
        </p:nvCxnSpPr>
        <p:spPr>
          <a:xfrm rot="5400000" flipH="1" flipV="1">
            <a:off x="2997378" y="1527762"/>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18455" name="Oval 18454">
            <a:extLst>
              <a:ext uri="{FF2B5EF4-FFF2-40B4-BE49-F238E27FC236}">
                <a16:creationId xmlns:a16="http://schemas.microsoft.com/office/drawing/2014/main" id="{6A2A332C-7BAE-D08E-8E99-1430CF006CBD}"/>
              </a:ext>
            </a:extLst>
          </p:cNvPr>
          <p:cNvSpPr>
            <a:spLocks noGrp="1"/>
          </p:cNvSpPr>
          <p:nvPr/>
        </p:nvSpPr>
        <p:spPr>
          <a:xfrm>
            <a:off x="3859490" y="1361875"/>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456" name="TextBox 18455">
            <a:extLst>
              <a:ext uri="{FF2B5EF4-FFF2-40B4-BE49-F238E27FC236}">
                <a16:creationId xmlns:a16="http://schemas.microsoft.com/office/drawing/2014/main" id="{B7D1BA39-60C8-7A06-7F51-DB74D20D9738}"/>
              </a:ext>
            </a:extLst>
          </p:cNvPr>
          <p:cNvSpPr>
            <a:spLocks noGrp="1"/>
          </p:cNvSpPr>
          <p:nvPr/>
        </p:nvSpPr>
        <p:spPr>
          <a:xfrm>
            <a:off x="2227487" y="1099820"/>
            <a:ext cx="1700830" cy="369332"/>
          </a:xfrm>
          <a:prstGeom prst="rect">
            <a:avLst/>
          </a:prstGeom>
          <a:noFill/>
        </p:spPr>
        <p:txBody>
          <a:bodyPr wrap="square">
            <a:spAutoFit/>
          </a:bodyPr>
          <a:lstStyle/>
          <a:p>
            <a:r>
              <a:t>Feature branch</a:t>
            </a:r>
          </a:p>
        </p:txBody>
      </p:sp>
      <p:sp>
        <p:nvSpPr>
          <p:cNvPr id="18447" name="Oval 18446">
            <a:extLst>
              <a:ext uri="{FF2B5EF4-FFF2-40B4-BE49-F238E27FC236}">
                <a16:creationId xmlns:a16="http://schemas.microsoft.com/office/drawing/2014/main" id="{BFF5DE5A-445D-B45E-8712-DC611AE1F0E8}"/>
              </a:ext>
            </a:extLst>
          </p:cNvPr>
          <p:cNvSpPr>
            <a:spLocks noGrp="1"/>
          </p:cNvSpPr>
          <p:nvPr/>
        </p:nvSpPr>
        <p:spPr>
          <a:xfrm>
            <a:off x="2595647" y="227222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92" name="Straight Arrow Connector 18459"/>
          <p:cNvCxnSpPr/>
          <p:nvPr/>
        </p:nvCxnSpPr>
        <p:spPr>
          <a:xfrm flipH="1" flipV="1">
            <a:off x="4515234" y="1905391"/>
            <a:ext cx="864486" cy="392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94A3913-3318-8341-7534-A582E69D5F6E}"/>
              </a:ext>
            </a:extLst>
          </p:cNvPr>
          <p:cNvSpPr>
            <a:spLocks noGrp="1"/>
          </p:cNvSpPr>
          <p:nvPr/>
        </p:nvSpPr>
        <p:spPr>
          <a:xfrm>
            <a:off x="9317920" y="496657"/>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79BD9275-BFA9-4A96-FC4A-BE94E2A99D2E}"/>
              </a:ext>
            </a:extLst>
          </p:cNvPr>
          <p:cNvSpPr>
            <a:spLocks noGrp="1"/>
          </p:cNvSpPr>
          <p:nvPr/>
        </p:nvSpPr>
        <p:spPr>
          <a:xfrm>
            <a:off x="9317920" y="1004001"/>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595" name="Straight Arrow Connector 9"/>
          <p:cNvCxnSpPr>
            <a:stCxn id="8" idx="4"/>
            <a:endCxn id="9" idx="0"/>
          </p:cNvCxnSpPr>
          <p:nvPr/>
        </p:nvCxnSpPr>
        <p:spPr>
          <a:xfrm>
            <a:off x="9448275" y="751491"/>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A2D67BF-CFEA-1464-7102-C8CDFA6DC9B8}"/>
              </a:ext>
            </a:extLst>
          </p:cNvPr>
          <p:cNvSpPr>
            <a:spLocks noGrp="1"/>
          </p:cNvSpPr>
          <p:nvPr/>
        </p:nvSpPr>
        <p:spPr>
          <a:xfrm>
            <a:off x="9578630" y="583976"/>
            <a:ext cx="721103" cy="307777"/>
          </a:xfrm>
          <a:prstGeom prst="rect">
            <a:avLst/>
          </a:prstGeom>
          <a:noFill/>
        </p:spPr>
        <p:txBody>
          <a:bodyPr wrap="square">
            <a:spAutoFit/>
          </a:bodyPr>
          <a:lstStyle/>
          <a:p>
            <a:r>
              <a:rPr sz="1400"/>
              <a:t>master</a:t>
            </a:r>
          </a:p>
        </p:txBody>
      </p:sp>
      <p:sp>
        <p:nvSpPr>
          <p:cNvPr id="14" name="Oval 13">
            <a:extLst>
              <a:ext uri="{FF2B5EF4-FFF2-40B4-BE49-F238E27FC236}">
                <a16:creationId xmlns:a16="http://schemas.microsoft.com/office/drawing/2014/main" id="{7FCBCBC1-ABCD-E8E2-3E87-729466A852DF}"/>
              </a:ext>
            </a:extLst>
          </p:cNvPr>
          <p:cNvSpPr>
            <a:spLocks noGrp="1"/>
          </p:cNvSpPr>
          <p:nvPr/>
        </p:nvSpPr>
        <p:spPr>
          <a:xfrm>
            <a:off x="8727176" y="1193604"/>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F027AFC8-7512-8B4E-866B-17AD646EF643}"/>
              </a:ext>
            </a:extLst>
          </p:cNvPr>
          <p:cNvSpPr>
            <a:spLocks noGrp="1"/>
          </p:cNvSpPr>
          <p:nvPr/>
        </p:nvSpPr>
        <p:spPr>
          <a:xfrm>
            <a:off x="8727176" y="1682263"/>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Oval 16">
            <a:extLst>
              <a:ext uri="{FF2B5EF4-FFF2-40B4-BE49-F238E27FC236}">
                <a16:creationId xmlns:a16="http://schemas.microsoft.com/office/drawing/2014/main" id="{47B9540A-DF8A-77C8-9A50-A4BB9CE36454}"/>
              </a:ext>
            </a:extLst>
          </p:cNvPr>
          <p:cNvSpPr>
            <a:spLocks noGrp="1"/>
          </p:cNvSpPr>
          <p:nvPr/>
        </p:nvSpPr>
        <p:spPr>
          <a:xfrm>
            <a:off x="8727176" y="2205437"/>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600" name="Straight Arrow Connector 17"/>
          <p:cNvCxnSpPr/>
          <p:nvPr/>
        </p:nvCxnSpPr>
        <p:spPr>
          <a:xfrm>
            <a:off x="8845808" y="1440988"/>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601" name="Straight Arrow Connector 18"/>
          <p:cNvCxnSpPr/>
          <p:nvPr/>
        </p:nvCxnSpPr>
        <p:spPr>
          <a:xfrm>
            <a:off x="8857531" y="1946578"/>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602" name="Straight Arrow Connector 19"/>
          <p:cNvCxnSpPr/>
          <p:nvPr/>
        </p:nvCxnSpPr>
        <p:spPr>
          <a:xfrm flipH="1">
            <a:off x="8987886" y="1132500"/>
            <a:ext cx="324924" cy="15335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1A326777-F0A3-0C2F-D907-DF9103CC3F8F}"/>
              </a:ext>
            </a:extLst>
          </p:cNvPr>
          <p:cNvSpPr>
            <a:spLocks noGrp="1"/>
          </p:cNvSpPr>
          <p:nvPr/>
        </p:nvSpPr>
        <p:spPr>
          <a:xfrm>
            <a:off x="7666889" y="1656229"/>
            <a:ext cx="1166182" cy="307777"/>
          </a:xfrm>
          <a:prstGeom prst="rect">
            <a:avLst/>
          </a:prstGeom>
          <a:noFill/>
        </p:spPr>
        <p:txBody>
          <a:bodyPr wrap="square">
            <a:spAutoFit/>
          </a:bodyPr>
          <a:lstStyle/>
          <a:p>
            <a:r>
              <a:rPr sz="1400"/>
              <a:t>new-feature</a:t>
            </a:r>
          </a:p>
        </p:txBody>
      </p:sp>
      <p:sp>
        <p:nvSpPr>
          <p:cNvPr id="25" name="TextBox 24">
            <a:extLst>
              <a:ext uri="{FF2B5EF4-FFF2-40B4-BE49-F238E27FC236}">
                <a16:creationId xmlns:a16="http://schemas.microsoft.com/office/drawing/2014/main" id="{1761E89C-2711-F588-37B8-AD36BABA8B4C}"/>
              </a:ext>
            </a:extLst>
          </p:cNvPr>
          <p:cNvSpPr>
            <a:spLocks noGrp="1"/>
          </p:cNvSpPr>
          <p:nvPr/>
        </p:nvSpPr>
        <p:spPr>
          <a:xfrm>
            <a:off x="7141929" y="2224602"/>
            <a:ext cx="1328972" cy="276999"/>
          </a:xfrm>
          <a:prstGeom prst="rect">
            <a:avLst/>
          </a:prstGeom>
          <a:noFill/>
          <a:ln w="28575">
            <a:solidFill>
              <a:srgbClr val="C00000"/>
            </a:solidFill>
          </a:ln>
        </p:spPr>
        <p:txBody>
          <a:bodyPr wrap="square">
            <a:spAutoFit/>
          </a:bodyPr>
          <a:lstStyle/>
          <a:p>
            <a:r>
              <a:rPr sz="1200"/>
              <a:t>new-feature head</a:t>
            </a:r>
          </a:p>
        </p:txBody>
      </p:sp>
      <p:cxnSp>
        <p:nvCxnSpPr>
          <p:cNvPr id="18605" name="Straight Arrow Connector 26"/>
          <p:cNvCxnSpPr>
            <a:stCxn id="25" idx="3"/>
            <a:endCxn id="17" idx="2"/>
          </p:cNvCxnSpPr>
          <p:nvPr/>
        </p:nvCxnSpPr>
        <p:spPr>
          <a:xfrm flipV="1">
            <a:off x="8470901" y="2332854"/>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54A6DC-6C68-7DE2-2121-3E504DEB7A43}"/>
              </a:ext>
            </a:extLst>
          </p:cNvPr>
          <p:cNvSpPr>
            <a:spLocks noGrp="1"/>
          </p:cNvSpPr>
          <p:nvPr/>
        </p:nvSpPr>
        <p:spPr>
          <a:xfrm>
            <a:off x="10011678" y="1587933"/>
            <a:ext cx="961122" cy="276999"/>
          </a:xfrm>
          <a:prstGeom prst="rect">
            <a:avLst/>
          </a:prstGeom>
          <a:noFill/>
          <a:ln w="28575">
            <a:solidFill>
              <a:srgbClr val="C00000"/>
            </a:solidFill>
          </a:ln>
        </p:spPr>
        <p:txBody>
          <a:bodyPr wrap="square">
            <a:spAutoFit/>
          </a:bodyPr>
          <a:lstStyle/>
          <a:p>
            <a:r>
              <a:rPr sz="1200"/>
              <a:t>master head</a:t>
            </a:r>
          </a:p>
        </p:txBody>
      </p:sp>
      <p:cxnSp>
        <p:nvCxnSpPr>
          <p:cNvPr id="18607" name="Straight Arrow Connector 28"/>
          <p:cNvCxnSpPr>
            <a:stCxn id="28" idx="1"/>
          </p:cNvCxnSpPr>
          <p:nvPr/>
        </p:nvCxnSpPr>
        <p:spPr>
          <a:xfrm flipH="1" flipV="1">
            <a:off x="9578630" y="1688011"/>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03EBDCD7-0B4F-81F7-1BCB-9F4E2E68D29C}"/>
              </a:ext>
            </a:extLst>
          </p:cNvPr>
          <p:cNvSpPr>
            <a:spLocks noGrp="1"/>
          </p:cNvSpPr>
          <p:nvPr/>
        </p:nvSpPr>
        <p:spPr>
          <a:xfrm>
            <a:off x="9312810" y="1528342"/>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609" name="Straight Arrow Connector 30"/>
          <p:cNvCxnSpPr/>
          <p:nvPr/>
        </p:nvCxnSpPr>
        <p:spPr>
          <a:xfrm>
            <a:off x="9443165" y="1257982"/>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Oval 35">
            <a:extLst>
              <a:ext uri="{FF2B5EF4-FFF2-40B4-BE49-F238E27FC236}">
                <a16:creationId xmlns:a16="http://schemas.microsoft.com/office/drawing/2014/main" id="{331EF8ED-DC7B-55B0-B1B8-1C2C37F0CD36}"/>
              </a:ext>
            </a:extLst>
          </p:cNvPr>
          <p:cNvSpPr>
            <a:spLocks noGrp="1"/>
          </p:cNvSpPr>
          <p:nvPr/>
        </p:nvSpPr>
        <p:spPr>
          <a:xfrm>
            <a:off x="3307643" y="3825408"/>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7" name="Oval 36">
            <a:extLst>
              <a:ext uri="{FF2B5EF4-FFF2-40B4-BE49-F238E27FC236}">
                <a16:creationId xmlns:a16="http://schemas.microsoft.com/office/drawing/2014/main" id="{4C7D9C31-A9D0-FE56-B8ED-6BBBFF67B79D}"/>
              </a:ext>
            </a:extLst>
          </p:cNvPr>
          <p:cNvSpPr>
            <a:spLocks noGrp="1"/>
          </p:cNvSpPr>
          <p:nvPr/>
        </p:nvSpPr>
        <p:spPr>
          <a:xfrm>
            <a:off x="3307643" y="4332752"/>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612" name="Straight Arrow Connector 37"/>
          <p:cNvCxnSpPr>
            <a:stCxn id="36" idx="4"/>
            <a:endCxn id="37" idx="0"/>
          </p:cNvCxnSpPr>
          <p:nvPr/>
        </p:nvCxnSpPr>
        <p:spPr>
          <a:xfrm>
            <a:off x="3437998" y="4080242"/>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76CE5D8E-04F5-55AC-BA0B-21101FD2E2A3}"/>
              </a:ext>
            </a:extLst>
          </p:cNvPr>
          <p:cNvSpPr>
            <a:spLocks noGrp="1"/>
          </p:cNvSpPr>
          <p:nvPr/>
        </p:nvSpPr>
        <p:spPr>
          <a:xfrm>
            <a:off x="3568353" y="3912727"/>
            <a:ext cx="721103" cy="307777"/>
          </a:xfrm>
          <a:prstGeom prst="rect">
            <a:avLst/>
          </a:prstGeom>
          <a:noFill/>
        </p:spPr>
        <p:txBody>
          <a:bodyPr wrap="square">
            <a:spAutoFit/>
          </a:bodyPr>
          <a:lstStyle/>
          <a:p>
            <a:r>
              <a:rPr sz="1400"/>
              <a:t>master</a:t>
            </a:r>
          </a:p>
        </p:txBody>
      </p:sp>
      <p:sp>
        <p:nvSpPr>
          <p:cNvPr id="40" name="Oval 39">
            <a:extLst>
              <a:ext uri="{FF2B5EF4-FFF2-40B4-BE49-F238E27FC236}">
                <a16:creationId xmlns:a16="http://schemas.microsoft.com/office/drawing/2014/main" id="{33198D72-568C-8538-7AAD-8147722F9A79}"/>
              </a:ext>
            </a:extLst>
          </p:cNvPr>
          <p:cNvSpPr>
            <a:spLocks noGrp="1"/>
          </p:cNvSpPr>
          <p:nvPr/>
        </p:nvSpPr>
        <p:spPr>
          <a:xfrm>
            <a:off x="2716899" y="452235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1" name="Oval 40">
            <a:extLst>
              <a:ext uri="{FF2B5EF4-FFF2-40B4-BE49-F238E27FC236}">
                <a16:creationId xmlns:a16="http://schemas.microsoft.com/office/drawing/2014/main" id="{5C0D48C6-D115-5939-93CB-19BA96CD0B57}"/>
              </a:ext>
            </a:extLst>
          </p:cNvPr>
          <p:cNvSpPr>
            <a:spLocks noGrp="1"/>
          </p:cNvSpPr>
          <p:nvPr/>
        </p:nvSpPr>
        <p:spPr>
          <a:xfrm>
            <a:off x="2716899" y="5011014"/>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3" name="Oval 42">
            <a:extLst>
              <a:ext uri="{FF2B5EF4-FFF2-40B4-BE49-F238E27FC236}">
                <a16:creationId xmlns:a16="http://schemas.microsoft.com/office/drawing/2014/main" id="{26106BA9-518D-DA5E-0840-DCEFB508D4DB}"/>
              </a:ext>
            </a:extLst>
          </p:cNvPr>
          <p:cNvSpPr>
            <a:spLocks noGrp="1"/>
          </p:cNvSpPr>
          <p:nvPr/>
        </p:nvSpPr>
        <p:spPr>
          <a:xfrm>
            <a:off x="2716899" y="5534188"/>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617" name="Straight Arrow Connector 43"/>
          <p:cNvCxnSpPr/>
          <p:nvPr/>
        </p:nvCxnSpPr>
        <p:spPr>
          <a:xfrm>
            <a:off x="2835531" y="4769739"/>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618" name="Straight Arrow Connector 44"/>
          <p:cNvCxnSpPr/>
          <p:nvPr/>
        </p:nvCxnSpPr>
        <p:spPr>
          <a:xfrm>
            <a:off x="2847254" y="5275329"/>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619" name="Straight Arrow Connector 45"/>
          <p:cNvCxnSpPr/>
          <p:nvPr/>
        </p:nvCxnSpPr>
        <p:spPr>
          <a:xfrm flipH="1">
            <a:off x="2977609" y="4461251"/>
            <a:ext cx="324924" cy="15335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7B480288-E338-7805-4EB8-54545F8650A1}"/>
              </a:ext>
            </a:extLst>
          </p:cNvPr>
          <p:cNvSpPr>
            <a:spLocks noGrp="1"/>
          </p:cNvSpPr>
          <p:nvPr/>
        </p:nvSpPr>
        <p:spPr>
          <a:xfrm>
            <a:off x="1656612" y="4984980"/>
            <a:ext cx="1166182" cy="307777"/>
          </a:xfrm>
          <a:prstGeom prst="rect">
            <a:avLst/>
          </a:prstGeom>
          <a:noFill/>
        </p:spPr>
        <p:txBody>
          <a:bodyPr wrap="square">
            <a:spAutoFit/>
          </a:bodyPr>
          <a:lstStyle/>
          <a:p>
            <a:r>
              <a:rPr sz="1400"/>
              <a:t>new-feature</a:t>
            </a:r>
          </a:p>
        </p:txBody>
      </p:sp>
      <p:sp>
        <p:nvSpPr>
          <p:cNvPr id="49" name="TextBox 48">
            <a:extLst>
              <a:ext uri="{FF2B5EF4-FFF2-40B4-BE49-F238E27FC236}">
                <a16:creationId xmlns:a16="http://schemas.microsoft.com/office/drawing/2014/main" id="{A1ACF3DE-6F84-6269-6CB7-D8E98E56E60E}"/>
              </a:ext>
            </a:extLst>
          </p:cNvPr>
          <p:cNvSpPr>
            <a:spLocks noGrp="1"/>
          </p:cNvSpPr>
          <p:nvPr/>
        </p:nvSpPr>
        <p:spPr>
          <a:xfrm>
            <a:off x="1131652" y="5553353"/>
            <a:ext cx="1328972" cy="276999"/>
          </a:xfrm>
          <a:prstGeom prst="rect">
            <a:avLst/>
          </a:prstGeom>
          <a:noFill/>
          <a:ln w="28575">
            <a:solidFill>
              <a:srgbClr val="C00000"/>
            </a:solidFill>
          </a:ln>
        </p:spPr>
        <p:txBody>
          <a:bodyPr wrap="square">
            <a:spAutoFit/>
          </a:bodyPr>
          <a:lstStyle/>
          <a:p>
            <a:r>
              <a:rPr sz="1200"/>
              <a:t>new-feature head</a:t>
            </a:r>
          </a:p>
        </p:txBody>
      </p:sp>
      <p:cxnSp>
        <p:nvCxnSpPr>
          <p:cNvPr id="18622" name="Straight Arrow Connector 49"/>
          <p:cNvCxnSpPr>
            <a:stCxn id="49" idx="3"/>
            <a:endCxn id="43" idx="2"/>
          </p:cNvCxnSpPr>
          <p:nvPr/>
        </p:nvCxnSpPr>
        <p:spPr>
          <a:xfrm flipV="1">
            <a:off x="2460624" y="5661605"/>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95A3E1A-F218-0E55-DE52-8337F21C08BA}"/>
              </a:ext>
            </a:extLst>
          </p:cNvPr>
          <p:cNvSpPr>
            <a:spLocks noGrp="1"/>
          </p:cNvSpPr>
          <p:nvPr/>
        </p:nvSpPr>
        <p:spPr>
          <a:xfrm>
            <a:off x="4123593" y="5914177"/>
            <a:ext cx="961122" cy="276999"/>
          </a:xfrm>
          <a:prstGeom prst="rect">
            <a:avLst/>
          </a:prstGeom>
          <a:noFill/>
          <a:ln w="28575">
            <a:solidFill>
              <a:srgbClr val="C00000"/>
            </a:solidFill>
          </a:ln>
        </p:spPr>
        <p:txBody>
          <a:bodyPr wrap="square">
            <a:spAutoFit/>
          </a:bodyPr>
          <a:lstStyle/>
          <a:p>
            <a:r>
              <a:rPr sz="1200"/>
              <a:t>master head</a:t>
            </a:r>
          </a:p>
        </p:txBody>
      </p:sp>
      <p:cxnSp>
        <p:nvCxnSpPr>
          <p:cNvPr id="18624" name="Straight Arrow Connector 51"/>
          <p:cNvCxnSpPr>
            <a:stCxn id="51" idx="1"/>
          </p:cNvCxnSpPr>
          <p:nvPr/>
        </p:nvCxnSpPr>
        <p:spPr>
          <a:xfrm flipH="1">
            <a:off x="3629503" y="6052677"/>
            <a:ext cx="4940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28DC6341-5F70-4A52-F57A-D84A69A28DDC}"/>
              </a:ext>
            </a:extLst>
          </p:cNvPr>
          <p:cNvSpPr>
            <a:spLocks noGrp="1"/>
          </p:cNvSpPr>
          <p:nvPr/>
        </p:nvSpPr>
        <p:spPr>
          <a:xfrm>
            <a:off x="3302533" y="5925260"/>
            <a:ext cx="260710" cy="254834"/>
          </a:xfrm>
          <a:prstGeom prst="ellipse">
            <a:avLst/>
          </a:prstGeom>
          <a:solidFill>
            <a:srgbClr val="94165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t>           </a:t>
            </a:r>
          </a:p>
        </p:txBody>
      </p:sp>
      <p:cxnSp>
        <p:nvCxnSpPr>
          <p:cNvPr id="18626" name="Straight Arrow Connector 57"/>
          <p:cNvCxnSpPr>
            <a:stCxn id="53" idx="4"/>
            <a:endCxn id="57" idx="0"/>
          </p:cNvCxnSpPr>
          <p:nvPr/>
        </p:nvCxnSpPr>
        <p:spPr>
          <a:xfrm>
            <a:off x="3432888" y="5111927"/>
            <a:ext cx="0" cy="81333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627" name="Straight Arrow Connector 61"/>
          <p:cNvCxnSpPr>
            <a:stCxn id="43" idx="5"/>
            <a:endCxn id="57" idx="2"/>
          </p:cNvCxnSpPr>
          <p:nvPr/>
        </p:nvCxnSpPr>
        <p:spPr>
          <a:xfrm>
            <a:off x="2939429" y="5751702"/>
            <a:ext cx="363104" cy="3009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49" name="TextBox 18448">
            <a:extLst>
              <a:ext uri="{FF2B5EF4-FFF2-40B4-BE49-F238E27FC236}">
                <a16:creationId xmlns:a16="http://schemas.microsoft.com/office/drawing/2014/main" id="{9A431245-7D34-7E86-D27F-2CCFBCF95803}"/>
              </a:ext>
            </a:extLst>
          </p:cNvPr>
          <p:cNvSpPr>
            <a:spLocks noGrp="1"/>
          </p:cNvSpPr>
          <p:nvPr/>
        </p:nvSpPr>
        <p:spPr>
          <a:xfrm>
            <a:off x="9272463" y="2158495"/>
            <a:ext cx="2528352" cy="461665"/>
          </a:xfrm>
          <a:prstGeom prst="rect">
            <a:avLst/>
          </a:prstGeom>
          <a:noFill/>
        </p:spPr>
        <p:txBody>
          <a:bodyPr wrap="square">
            <a:spAutoFit/>
          </a:bodyPr>
          <a:lstStyle/>
          <a:p>
            <a:r>
              <a:rPr sz="2400"/>
              <a:t>Three-way merge</a:t>
            </a:r>
          </a:p>
        </p:txBody>
      </p:sp>
      <p:sp>
        <p:nvSpPr>
          <p:cNvPr id="18450" name="TextBox 18449">
            <a:extLst>
              <a:ext uri="{FF2B5EF4-FFF2-40B4-BE49-F238E27FC236}">
                <a16:creationId xmlns:a16="http://schemas.microsoft.com/office/drawing/2014/main" id="{6366529C-10C1-EE68-225C-7F1E593A59C1}"/>
              </a:ext>
            </a:extLst>
          </p:cNvPr>
          <p:cNvSpPr>
            <a:spLocks noGrp="1"/>
          </p:cNvSpPr>
          <p:nvPr/>
        </p:nvSpPr>
        <p:spPr>
          <a:xfrm>
            <a:off x="1550535" y="6392352"/>
            <a:ext cx="2621490" cy="369332"/>
          </a:xfrm>
          <a:prstGeom prst="rect">
            <a:avLst/>
          </a:prstGeom>
          <a:noFill/>
        </p:spPr>
        <p:txBody>
          <a:bodyPr wrap="square">
            <a:spAutoFit/>
          </a:bodyPr>
          <a:lstStyle/>
          <a:p>
            <a:r>
              <a:t>After Three-way merge</a:t>
            </a:r>
          </a:p>
        </p:txBody>
      </p:sp>
      <p:pic>
        <p:nvPicPr>
          <p:cNvPr id="18630" name="Picture 31"/>
          <p:cNvPicPr>
            <a:picLocks noChangeAspect="1"/>
          </p:cNvPicPr>
          <p:nvPr/>
        </p:nvPicPr>
        <p:blipFill>
          <a:blip r:embed="rId6"/>
          <a:stretch>
            <a:fillRect/>
          </a:stretch>
        </p:blipFill>
        <p:spPr>
          <a:xfrm>
            <a:off x="5146596" y="3005757"/>
            <a:ext cx="1214667" cy="788913"/>
          </a:xfrm>
          <a:prstGeom prst="rect">
            <a:avLst/>
          </a:prstGeom>
        </p:spPr>
      </p:pic>
      <p:cxnSp>
        <p:nvCxnSpPr>
          <p:cNvPr id="18631" name="Straight Arrow Connector 18456"/>
          <p:cNvCxnSpPr/>
          <p:nvPr/>
        </p:nvCxnSpPr>
        <p:spPr>
          <a:xfrm flipH="1">
            <a:off x="4281413" y="3794670"/>
            <a:ext cx="864486" cy="57177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485" name="TextBox 18484">
            <a:extLst>
              <a:ext uri="{FF2B5EF4-FFF2-40B4-BE49-F238E27FC236}">
                <a16:creationId xmlns:a16="http://schemas.microsoft.com/office/drawing/2014/main" id="{399AE504-C9AB-624A-2A8B-C37ECFA08A8E}"/>
              </a:ext>
            </a:extLst>
          </p:cNvPr>
          <p:cNvSpPr>
            <a:spLocks noGrp="1"/>
          </p:cNvSpPr>
          <p:nvPr/>
        </p:nvSpPr>
        <p:spPr>
          <a:xfrm>
            <a:off x="7301726" y="2692172"/>
            <a:ext cx="3437190" cy="1077218"/>
          </a:xfrm>
          <a:prstGeom prst="rect">
            <a:avLst/>
          </a:prstGeom>
          <a:noFill/>
          <a:ln w="38100">
            <a:solidFill>
              <a:srgbClr val="C00000"/>
            </a:solidFill>
          </a:ln>
        </p:spPr>
        <p:txBody>
          <a:bodyPr wrap="square">
            <a:spAutoFit/>
          </a:bodyPr>
          <a:lstStyle/>
          <a:p>
            <a:r>
              <a:rPr sz="2400"/>
              <a:t>Merge Algorithm</a:t>
            </a:r>
            <a:r>
              <a:rPr sz="2800"/>
              <a:t>s</a:t>
            </a:r>
          </a:p>
          <a:p>
            <a:pPr marL="285750" indent="-285750">
              <a:buFont typeface="Arial"/>
              <a:buChar char="•"/>
            </a:pPr>
            <a:r>
              <a:t>Fast-forward – not diverged</a:t>
            </a:r>
          </a:p>
          <a:p>
            <a:pPr marL="285750" indent="-285750">
              <a:buFont typeface="Arial"/>
              <a:buChar char="•"/>
            </a:pPr>
            <a:r>
              <a:t>Three-way merge - diverged</a:t>
            </a:r>
          </a:p>
        </p:txBody>
      </p:sp>
      <p:sp>
        <p:nvSpPr>
          <p:cNvPr id="18486" name="TextBox 18485">
            <a:extLst>
              <a:ext uri="{FF2B5EF4-FFF2-40B4-BE49-F238E27FC236}">
                <a16:creationId xmlns:a16="http://schemas.microsoft.com/office/drawing/2014/main" id="{35E7B80F-D48F-8E68-300A-46579FFB7A0E}"/>
              </a:ext>
            </a:extLst>
          </p:cNvPr>
          <p:cNvSpPr>
            <a:spLocks noGrp="1"/>
          </p:cNvSpPr>
          <p:nvPr/>
        </p:nvSpPr>
        <p:spPr>
          <a:xfrm>
            <a:off x="7793163" y="3986244"/>
            <a:ext cx="2621490" cy="461665"/>
          </a:xfrm>
          <a:prstGeom prst="rect">
            <a:avLst/>
          </a:prstGeom>
          <a:noFill/>
        </p:spPr>
        <p:txBody>
          <a:bodyPr wrap="square">
            <a:spAutoFit/>
          </a:bodyPr>
          <a:lstStyle/>
          <a:p>
            <a:r>
              <a:rPr sz="2400"/>
              <a:t>Three-way merge</a:t>
            </a:r>
          </a:p>
        </p:txBody>
      </p:sp>
      <p:pic>
        <p:nvPicPr>
          <p:cNvPr id="18634" name="Picture 18438"/>
          <p:cNvPicPr>
            <a:picLocks noChangeAspect="1"/>
          </p:cNvPicPr>
          <p:nvPr/>
        </p:nvPicPr>
        <p:blipFill rotWithShape="1">
          <a:blip r:embed="rId7"/>
          <a:srcRect t="61186"/>
          <a:stretch/>
        </p:blipFill>
        <p:spPr>
          <a:xfrm>
            <a:off x="6366959" y="5497884"/>
            <a:ext cx="5029903" cy="1297357"/>
          </a:xfrm>
          <a:prstGeom prst="rect">
            <a:avLst/>
          </a:prstGeom>
        </p:spPr>
      </p:pic>
      <p:pic>
        <p:nvPicPr>
          <p:cNvPr id="18635" name="Picture 18478"/>
          <p:cNvPicPr>
            <a:picLocks noChangeAspect="1"/>
          </p:cNvPicPr>
          <p:nvPr/>
        </p:nvPicPr>
        <p:blipFill rotWithShape="1">
          <a:blip r:embed="rId8"/>
          <a:srcRect t="48644" b="20510"/>
          <a:stretch/>
        </p:blipFill>
        <p:spPr>
          <a:xfrm>
            <a:off x="6366961" y="5011014"/>
            <a:ext cx="5029906" cy="490710"/>
          </a:xfrm>
          <a:prstGeom prst="rect">
            <a:avLst/>
          </a:prstGeom>
        </p:spPr>
      </p:pic>
      <p:pic>
        <p:nvPicPr>
          <p:cNvPr id="18636" name="Picture 4102"/>
          <p:cNvPicPr>
            <a:picLocks noChangeAspect="1"/>
          </p:cNvPicPr>
          <p:nvPr/>
        </p:nvPicPr>
        <p:blipFill rotWithShape="1">
          <a:blip r:embed="rId8"/>
          <a:srcRect b="59737"/>
          <a:stretch/>
        </p:blipFill>
        <p:spPr>
          <a:xfrm>
            <a:off x="6366956" y="4379695"/>
            <a:ext cx="5029906" cy="640515"/>
          </a:xfrm>
          <a:prstGeom prst="rect">
            <a:avLst/>
          </a:prstGeom>
        </p:spPr>
      </p:pic>
      <p:cxnSp>
        <p:nvCxnSpPr>
          <p:cNvPr id="18637" name="Straight Arrow Connector 4103"/>
          <p:cNvCxnSpPr/>
          <p:nvPr/>
        </p:nvCxnSpPr>
        <p:spPr>
          <a:xfrm flipH="1">
            <a:off x="10492239" y="5052708"/>
            <a:ext cx="1293804" cy="44112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06" name="TextBox 4105">
            <a:extLst>
              <a:ext uri="{FF2B5EF4-FFF2-40B4-BE49-F238E27FC236}">
                <a16:creationId xmlns:a16="http://schemas.microsoft.com/office/drawing/2014/main" id="{AFE04D4C-C414-5816-A61C-6F819C2EC790}"/>
              </a:ext>
            </a:extLst>
          </p:cNvPr>
          <p:cNvSpPr>
            <a:spLocks noGrp="1"/>
          </p:cNvSpPr>
          <p:nvPr/>
        </p:nvSpPr>
        <p:spPr>
          <a:xfrm>
            <a:off x="915178" y="4519314"/>
            <a:ext cx="1518326" cy="369332"/>
          </a:xfrm>
          <a:prstGeom prst="rect">
            <a:avLst/>
          </a:prstGeom>
          <a:noFill/>
          <a:ln w="28575">
            <a:solidFill>
              <a:srgbClr val="C00000"/>
            </a:solidFill>
          </a:ln>
        </p:spPr>
        <p:txBody>
          <a:bodyPr wrap="square">
            <a:spAutoFit/>
          </a:bodyPr>
          <a:lstStyle/>
          <a:p>
            <a:r>
              <a:t>Split history</a:t>
            </a:r>
          </a:p>
        </p:txBody>
      </p:sp>
      <p:cxnSp>
        <p:nvCxnSpPr>
          <p:cNvPr id="18639" name="Straight Arrow Connector 4106"/>
          <p:cNvCxnSpPr>
            <a:stCxn id="4106" idx="3"/>
          </p:cNvCxnSpPr>
          <p:nvPr/>
        </p:nvCxnSpPr>
        <p:spPr>
          <a:xfrm>
            <a:off x="2433504" y="4703980"/>
            <a:ext cx="687477" cy="3029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50CF8DE1-5837-2E9B-C6D3-9077A7DA272E}"/>
              </a:ext>
            </a:extLst>
          </p:cNvPr>
          <p:cNvSpPr>
            <a:spLocks noGrp="1"/>
          </p:cNvSpPr>
          <p:nvPr/>
        </p:nvSpPr>
        <p:spPr>
          <a:xfrm>
            <a:off x="3302533" y="485709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18641" name="Straight Arrow Connector 55"/>
          <p:cNvCxnSpPr/>
          <p:nvPr/>
        </p:nvCxnSpPr>
        <p:spPr>
          <a:xfrm>
            <a:off x="3432888" y="4586733"/>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109" name="TextBox 4108">
            <a:extLst>
              <a:ext uri="{FF2B5EF4-FFF2-40B4-BE49-F238E27FC236}">
                <a16:creationId xmlns:a16="http://schemas.microsoft.com/office/drawing/2014/main" id="{B9B57726-9414-4C12-7104-B96E4E7F91AF}"/>
              </a:ext>
            </a:extLst>
          </p:cNvPr>
          <p:cNvSpPr>
            <a:spLocks noGrp="1"/>
          </p:cNvSpPr>
          <p:nvPr/>
        </p:nvSpPr>
        <p:spPr>
          <a:xfrm>
            <a:off x="4120683" y="4884608"/>
            <a:ext cx="961122" cy="276999"/>
          </a:xfrm>
          <a:prstGeom prst="rect">
            <a:avLst/>
          </a:prstGeom>
          <a:noFill/>
          <a:ln w="28575">
            <a:solidFill>
              <a:srgbClr val="C00000"/>
            </a:solidFill>
          </a:ln>
        </p:spPr>
        <p:txBody>
          <a:bodyPr wrap="square">
            <a:spAutoFit/>
          </a:bodyPr>
          <a:lstStyle/>
          <a:p>
            <a:r>
              <a:rPr sz="1200"/>
              <a:t>master head</a:t>
            </a:r>
          </a:p>
        </p:txBody>
      </p:sp>
      <p:cxnSp>
        <p:nvCxnSpPr>
          <p:cNvPr id="18643" name="Straight Arrow Connector 4109"/>
          <p:cNvCxnSpPr>
            <a:stCxn id="4109" idx="1"/>
          </p:cNvCxnSpPr>
          <p:nvPr/>
        </p:nvCxnSpPr>
        <p:spPr>
          <a:xfrm flipH="1">
            <a:off x="3626593" y="5023108"/>
            <a:ext cx="4940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644" name="Straight Arrow Connector 4116"/>
          <p:cNvCxnSpPr>
            <a:stCxn id="4109" idx="2"/>
            <a:endCxn id="51" idx="0"/>
          </p:cNvCxnSpPr>
          <p:nvPr/>
        </p:nvCxnSpPr>
        <p:spPr>
          <a:xfrm>
            <a:off x="4601244" y="5161607"/>
            <a:ext cx="2910" cy="752570"/>
          </a:xfrm>
          <a:prstGeom prst="straightConnector1">
            <a:avLst/>
          </a:prstGeom>
          <a:ln w="28575">
            <a:solidFill>
              <a:srgbClr val="C0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149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Merge Conflicts</a:t>
            </a:r>
          </a:p>
        </p:txBody>
      </p:sp>
      <p:pic>
        <p:nvPicPr>
          <p:cNvPr id="35" name="Picture 2"/>
          <p:cNvPicPr>
            <a:picLocks noChangeAspect="1"/>
          </p:cNvPicPr>
          <p:nvPr/>
        </p:nvPicPr>
        <p:blipFill>
          <a:blip r:embed="rId3"/>
          <a:stretch>
            <a:fillRect/>
          </a:stretch>
        </p:blipFill>
        <p:spPr>
          <a:xfrm>
            <a:off x="326764" y="1188075"/>
            <a:ext cx="6438955" cy="3249014"/>
          </a:xfrm>
          <a:prstGeom prst="rect">
            <a:avLst/>
          </a:prstGeom>
        </p:spPr>
      </p:pic>
      <p:pic>
        <p:nvPicPr>
          <p:cNvPr id="36" name="Picture 5"/>
          <p:cNvPicPr>
            <a:picLocks noChangeAspect="1"/>
          </p:cNvPicPr>
          <p:nvPr/>
        </p:nvPicPr>
        <p:blipFill>
          <a:blip r:embed="rId4"/>
          <a:stretch>
            <a:fillRect/>
          </a:stretch>
        </p:blipFill>
        <p:spPr>
          <a:xfrm>
            <a:off x="6917441" y="588469"/>
            <a:ext cx="4947795" cy="1694187"/>
          </a:xfrm>
          <a:prstGeom prst="rect">
            <a:avLst/>
          </a:prstGeom>
        </p:spPr>
      </p:pic>
      <p:sp>
        <p:nvSpPr>
          <p:cNvPr id="7" name="TextBox 6">
            <a:extLst>
              <a:ext uri="{FF2B5EF4-FFF2-40B4-BE49-F238E27FC236}">
                <a16:creationId xmlns:a16="http://schemas.microsoft.com/office/drawing/2014/main" id="{ABAB39BE-DB47-14DF-0B08-20EAD0090F99}"/>
              </a:ext>
            </a:extLst>
          </p:cNvPr>
          <p:cNvSpPr>
            <a:spLocks noGrp="1"/>
          </p:cNvSpPr>
          <p:nvPr/>
        </p:nvSpPr>
        <p:spPr>
          <a:xfrm>
            <a:off x="7360171" y="142693"/>
            <a:ext cx="3207895" cy="461665"/>
          </a:xfrm>
          <a:prstGeom prst="rect">
            <a:avLst/>
          </a:prstGeom>
          <a:noFill/>
        </p:spPr>
        <p:txBody>
          <a:bodyPr wrap="square">
            <a:spAutoFit/>
          </a:bodyPr>
          <a:lstStyle/>
          <a:p>
            <a:r>
              <a:rPr sz="2400"/>
              <a:t>memory.py (at master)</a:t>
            </a:r>
          </a:p>
        </p:txBody>
      </p:sp>
      <p:pic>
        <p:nvPicPr>
          <p:cNvPr id="38" name="Picture 9"/>
          <p:cNvPicPr>
            <a:picLocks noChangeAspect="1"/>
          </p:cNvPicPr>
          <p:nvPr/>
        </p:nvPicPr>
        <p:blipFill>
          <a:blip r:embed="rId5"/>
          <a:stretch>
            <a:fillRect/>
          </a:stretch>
        </p:blipFill>
        <p:spPr>
          <a:xfrm>
            <a:off x="6917440" y="2829394"/>
            <a:ext cx="4947795" cy="750833"/>
          </a:xfrm>
          <a:prstGeom prst="rect">
            <a:avLst/>
          </a:prstGeom>
        </p:spPr>
      </p:pic>
      <p:sp>
        <p:nvSpPr>
          <p:cNvPr id="11" name="Down Arrow 10">
            <a:extLst>
              <a:ext uri="{FF2B5EF4-FFF2-40B4-BE49-F238E27FC236}">
                <a16:creationId xmlns:a16="http://schemas.microsoft.com/office/drawing/2014/main" id="{5A3E9FCE-6196-3219-07F3-9A6C45E2A373}"/>
              </a:ext>
            </a:extLst>
          </p:cNvPr>
          <p:cNvSpPr>
            <a:spLocks noGrp="1"/>
          </p:cNvSpPr>
          <p:nvPr/>
        </p:nvSpPr>
        <p:spPr>
          <a:xfrm>
            <a:off x="8964118" y="2398427"/>
            <a:ext cx="284813" cy="430967"/>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0" name="Picture 13"/>
          <p:cNvPicPr>
            <a:picLocks noChangeAspect="1"/>
          </p:cNvPicPr>
          <p:nvPr/>
        </p:nvPicPr>
        <p:blipFill>
          <a:blip r:embed="rId6"/>
          <a:stretch>
            <a:fillRect/>
          </a:stretch>
        </p:blipFill>
        <p:spPr>
          <a:xfrm>
            <a:off x="326764" y="4589723"/>
            <a:ext cx="4889813" cy="1941391"/>
          </a:xfrm>
          <a:prstGeom prst="rect">
            <a:avLst/>
          </a:prstGeom>
        </p:spPr>
      </p:pic>
      <p:sp>
        <p:nvSpPr>
          <p:cNvPr id="15" name="Left Arrow 14">
            <a:extLst>
              <a:ext uri="{FF2B5EF4-FFF2-40B4-BE49-F238E27FC236}">
                <a16:creationId xmlns:a16="http://schemas.microsoft.com/office/drawing/2014/main" id="{03EE56AC-61DD-22C3-E601-15B21D256448}"/>
              </a:ext>
            </a:extLst>
          </p:cNvPr>
          <p:cNvSpPr>
            <a:spLocks noGrp="1"/>
          </p:cNvSpPr>
          <p:nvPr/>
        </p:nvSpPr>
        <p:spPr>
          <a:xfrm>
            <a:off x="5216577" y="1188075"/>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Left Arrow 15">
            <a:extLst>
              <a:ext uri="{FF2B5EF4-FFF2-40B4-BE49-F238E27FC236}">
                <a16:creationId xmlns:a16="http://schemas.microsoft.com/office/drawing/2014/main" id="{100210FE-4C13-C189-83FC-982E34E7A8A7}"/>
              </a:ext>
            </a:extLst>
          </p:cNvPr>
          <p:cNvSpPr>
            <a:spLocks noGrp="1"/>
          </p:cNvSpPr>
          <p:nvPr/>
        </p:nvSpPr>
        <p:spPr>
          <a:xfrm>
            <a:off x="5216577" y="1769197"/>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Left Arrow 16">
            <a:extLst>
              <a:ext uri="{FF2B5EF4-FFF2-40B4-BE49-F238E27FC236}">
                <a16:creationId xmlns:a16="http://schemas.microsoft.com/office/drawing/2014/main" id="{2B6C33E7-F953-FA3E-43C7-5A91A3D20101}"/>
              </a:ext>
            </a:extLst>
          </p:cNvPr>
          <p:cNvSpPr>
            <a:spLocks noGrp="1"/>
          </p:cNvSpPr>
          <p:nvPr/>
        </p:nvSpPr>
        <p:spPr>
          <a:xfrm>
            <a:off x="5568846" y="2060118"/>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Left Arrow 17">
            <a:extLst>
              <a:ext uri="{FF2B5EF4-FFF2-40B4-BE49-F238E27FC236}">
                <a16:creationId xmlns:a16="http://schemas.microsoft.com/office/drawing/2014/main" id="{A71F713A-2040-A2B1-0455-429B208F06B2}"/>
              </a:ext>
            </a:extLst>
          </p:cNvPr>
          <p:cNvSpPr>
            <a:spLocks noGrp="1"/>
          </p:cNvSpPr>
          <p:nvPr/>
        </p:nvSpPr>
        <p:spPr>
          <a:xfrm>
            <a:off x="5568846" y="2435230"/>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Left Arrow 18">
            <a:extLst>
              <a:ext uri="{FF2B5EF4-FFF2-40B4-BE49-F238E27FC236}">
                <a16:creationId xmlns:a16="http://schemas.microsoft.com/office/drawing/2014/main" id="{94DEF290-779E-E948-ABB0-733B9F664D3C}"/>
              </a:ext>
            </a:extLst>
          </p:cNvPr>
          <p:cNvSpPr>
            <a:spLocks noGrp="1"/>
          </p:cNvSpPr>
          <p:nvPr/>
        </p:nvSpPr>
        <p:spPr>
          <a:xfrm>
            <a:off x="5202497" y="2890162"/>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Left Arrow 19">
            <a:extLst>
              <a:ext uri="{FF2B5EF4-FFF2-40B4-BE49-F238E27FC236}">
                <a16:creationId xmlns:a16="http://schemas.microsoft.com/office/drawing/2014/main" id="{66BAF0F5-69FE-FA1C-6649-A44120AABC23}"/>
              </a:ext>
            </a:extLst>
          </p:cNvPr>
          <p:cNvSpPr>
            <a:spLocks noGrp="1"/>
          </p:cNvSpPr>
          <p:nvPr/>
        </p:nvSpPr>
        <p:spPr>
          <a:xfrm flipV="1">
            <a:off x="5354897" y="3248572"/>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Left Arrow 20">
            <a:extLst>
              <a:ext uri="{FF2B5EF4-FFF2-40B4-BE49-F238E27FC236}">
                <a16:creationId xmlns:a16="http://schemas.microsoft.com/office/drawing/2014/main" id="{948CA6A2-4141-F6DA-A7C5-2C3A75BA659E}"/>
              </a:ext>
            </a:extLst>
          </p:cNvPr>
          <p:cNvSpPr>
            <a:spLocks noGrp="1"/>
          </p:cNvSpPr>
          <p:nvPr/>
        </p:nvSpPr>
        <p:spPr>
          <a:xfrm flipV="1">
            <a:off x="5391462" y="3629992"/>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Left Arrow 21">
            <a:extLst>
              <a:ext uri="{FF2B5EF4-FFF2-40B4-BE49-F238E27FC236}">
                <a16:creationId xmlns:a16="http://schemas.microsoft.com/office/drawing/2014/main" id="{6AF4C0D1-2714-A20C-62D9-6B06C3ED20D5}"/>
              </a:ext>
            </a:extLst>
          </p:cNvPr>
          <p:cNvSpPr>
            <a:spLocks noGrp="1"/>
          </p:cNvSpPr>
          <p:nvPr/>
        </p:nvSpPr>
        <p:spPr>
          <a:xfrm flipV="1">
            <a:off x="5264956" y="3971505"/>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9" name="Picture 23"/>
          <p:cNvPicPr>
            <a:picLocks noChangeAspect="1"/>
          </p:cNvPicPr>
          <p:nvPr/>
        </p:nvPicPr>
        <p:blipFill>
          <a:blip r:embed="rId7"/>
          <a:stretch>
            <a:fillRect/>
          </a:stretch>
        </p:blipFill>
        <p:spPr>
          <a:xfrm>
            <a:off x="7225903" y="3664919"/>
            <a:ext cx="4478008" cy="2975770"/>
          </a:xfrm>
          <a:prstGeom prst="rect">
            <a:avLst/>
          </a:prstGeom>
        </p:spPr>
      </p:pic>
      <p:sp>
        <p:nvSpPr>
          <p:cNvPr id="25" name="Left Arrow 24">
            <a:extLst>
              <a:ext uri="{FF2B5EF4-FFF2-40B4-BE49-F238E27FC236}">
                <a16:creationId xmlns:a16="http://schemas.microsoft.com/office/drawing/2014/main" id="{E511779B-67C6-AE7A-75DB-BE2481E20C6C}"/>
              </a:ext>
            </a:extLst>
          </p:cNvPr>
          <p:cNvSpPr>
            <a:spLocks noGrp="1"/>
          </p:cNvSpPr>
          <p:nvPr/>
        </p:nvSpPr>
        <p:spPr>
          <a:xfrm flipV="1">
            <a:off x="3933330" y="5669925"/>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Left Arrow 25">
            <a:extLst>
              <a:ext uri="{FF2B5EF4-FFF2-40B4-BE49-F238E27FC236}">
                <a16:creationId xmlns:a16="http://schemas.microsoft.com/office/drawing/2014/main" id="{A936C9E3-AE6F-170F-420A-2D394B98C4DA}"/>
              </a:ext>
            </a:extLst>
          </p:cNvPr>
          <p:cNvSpPr>
            <a:spLocks noGrp="1"/>
          </p:cNvSpPr>
          <p:nvPr/>
        </p:nvSpPr>
        <p:spPr>
          <a:xfrm flipV="1">
            <a:off x="10568066" y="4245860"/>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Left Arrow 26">
            <a:extLst>
              <a:ext uri="{FF2B5EF4-FFF2-40B4-BE49-F238E27FC236}">
                <a16:creationId xmlns:a16="http://schemas.microsoft.com/office/drawing/2014/main" id="{F22D905E-AD58-EB44-65BA-EEEB40CB3C83}"/>
              </a:ext>
            </a:extLst>
          </p:cNvPr>
          <p:cNvSpPr>
            <a:spLocks noGrp="1"/>
          </p:cNvSpPr>
          <p:nvPr/>
        </p:nvSpPr>
        <p:spPr>
          <a:xfrm rot="19552461" flipV="1">
            <a:off x="10578112" y="5170968"/>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 name="Left Arrow 27">
            <a:extLst>
              <a:ext uri="{FF2B5EF4-FFF2-40B4-BE49-F238E27FC236}">
                <a16:creationId xmlns:a16="http://schemas.microsoft.com/office/drawing/2014/main" id="{41F759FB-963F-4DA5-7BB1-72340F7B75E5}"/>
              </a:ext>
            </a:extLst>
          </p:cNvPr>
          <p:cNvSpPr>
            <a:spLocks noGrp="1"/>
          </p:cNvSpPr>
          <p:nvPr/>
        </p:nvSpPr>
        <p:spPr>
          <a:xfrm flipV="1">
            <a:off x="10568066" y="6096076"/>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9205F7CA-7553-522C-21F7-BB4680BD3CE4}"/>
              </a:ext>
            </a:extLst>
          </p:cNvPr>
          <p:cNvSpPr>
            <a:spLocks noGrp="1"/>
          </p:cNvSpPr>
          <p:nvPr/>
        </p:nvSpPr>
        <p:spPr>
          <a:xfrm>
            <a:off x="9248931" y="2522576"/>
            <a:ext cx="1848385" cy="369332"/>
          </a:xfrm>
          <a:prstGeom prst="rect">
            <a:avLst/>
          </a:prstGeom>
          <a:noFill/>
        </p:spPr>
        <p:txBody>
          <a:bodyPr wrap="square">
            <a:spAutoFit/>
          </a:bodyPr>
          <a:lstStyle/>
          <a:p>
            <a:r>
              <a:t>Keep both</a:t>
            </a:r>
          </a:p>
        </p:txBody>
      </p:sp>
    </p:spTree>
    <p:extLst>
      <p:ext uri="{BB962C8B-B14F-4D97-AF65-F5344CB8AC3E}">
        <p14:creationId xmlns:p14="http://schemas.microsoft.com/office/powerpoint/2010/main" val="1297854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Intro to GitHub</a:t>
            </a:r>
          </a:p>
        </p:txBody>
      </p:sp>
      <p:pic>
        <p:nvPicPr>
          <p:cNvPr id="16" name="Picture 16"/>
          <p:cNvPicPr>
            <a:picLocks noChangeAspect="1"/>
          </p:cNvPicPr>
          <p:nvPr/>
        </p:nvPicPr>
        <p:blipFill rotWithShape="1">
          <a:blip r:embed="rId3"/>
          <a:srcRect l="10505" t="26224" r="10619" b="25997"/>
          <a:stretch/>
        </p:blipFill>
        <p:spPr>
          <a:xfrm>
            <a:off x="1981432" y="1445884"/>
            <a:ext cx="2340409" cy="1063278"/>
          </a:xfrm>
          <a:prstGeom prst="rect">
            <a:avLst/>
          </a:prstGeom>
        </p:spPr>
      </p:pic>
      <p:pic>
        <p:nvPicPr>
          <p:cNvPr id="17" name="Picture 6"/>
          <p:cNvPicPr>
            <a:picLocks noChangeAspect="1"/>
          </p:cNvPicPr>
          <p:nvPr/>
        </p:nvPicPr>
        <p:blipFill>
          <a:blip r:embed="rId4"/>
          <a:srcRect/>
          <a:stretch>
            <a:fillRect/>
          </a:stretch>
        </p:blipFill>
        <p:spPr>
          <a:xfrm>
            <a:off x="1233389" y="4453667"/>
            <a:ext cx="4281504" cy="1589954"/>
          </a:xfrm>
          <a:prstGeom prst="rect">
            <a:avLst/>
          </a:prstGeom>
        </p:spPr>
      </p:pic>
      <p:pic>
        <p:nvPicPr>
          <p:cNvPr id="18" name="Picture 8"/>
          <p:cNvPicPr>
            <a:picLocks noChangeAspect="1"/>
          </p:cNvPicPr>
          <p:nvPr/>
        </p:nvPicPr>
        <p:blipFill>
          <a:blip r:embed="rId5"/>
          <a:srcRect/>
          <a:stretch>
            <a:fillRect/>
          </a:stretch>
        </p:blipFill>
        <p:spPr>
          <a:xfrm>
            <a:off x="6848633" y="4894494"/>
            <a:ext cx="3238609" cy="708300"/>
          </a:xfrm>
          <a:prstGeom prst="rect">
            <a:avLst/>
          </a:prstGeom>
        </p:spPr>
      </p:pic>
      <p:pic>
        <p:nvPicPr>
          <p:cNvPr id="19" name="Picture 2"/>
          <p:cNvPicPr>
            <a:picLocks noChangeAspect="1"/>
          </p:cNvPicPr>
          <p:nvPr/>
        </p:nvPicPr>
        <p:blipFill>
          <a:blip r:embed="rId6"/>
          <a:srcRect/>
          <a:stretch>
            <a:fillRect/>
          </a:stretch>
        </p:blipFill>
        <p:spPr>
          <a:xfrm>
            <a:off x="7150131" y="1329541"/>
            <a:ext cx="1602824" cy="926438"/>
          </a:xfrm>
          <a:prstGeom prst="rect">
            <a:avLst/>
          </a:prstGeom>
        </p:spPr>
      </p:pic>
      <p:pic>
        <p:nvPicPr>
          <p:cNvPr id="20" name="Picture 2"/>
          <p:cNvPicPr>
            <a:picLocks noChangeAspect="1"/>
          </p:cNvPicPr>
          <p:nvPr/>
        </p:nvPicPr>
        <p:blipFill>
          <a:blip r:embed="rId7"/>
          <a:srcRect/>
          <a:stretch>
            <a:fillRect/>
          </a:stretch>
        </p:blipFill>
        <p:spPr>
          <a:xfrm>
            <a:off x="6632590" y="608591"/>
            <a:ext cx="2221155" cy="2221155"/>
          </a:xfrm>
          <a:prstGeom prst="rect">
            <a:avLst/>
          </a:prstGeom>
        </p:spPr>
      </p:pic>
      <p:sp>
        <p:nvSpPr>
          <p:cNvPr id="6" name="Left Arrow 5">
            <a:extLst>
              <a:ext uri="{FF2B5EF4-FFF2-40B4-BE49-F238E27FC236}">
                <a16:creationId xmlns:a16="http://schemas.microsoft.com/office/drawing/2014/main" id="{2857E068-76D3-EE31-B408-C471362189A5}"/>
              </a:ext>
            </a:extLst>
          </p:cNvPr>
          <p:cNvSpPr>
            <a:spLocks noGrp="1"/>
          </p:cNvSpPr>
          <p:nvPr/>
        </p:nvSpPr>
        <p:spPr>
          <a:xfrm>
            <a:off x="4555776" y="1812391"/>
            <a:ext cx="1818043" cy="369527"/>
          </a:xfrm>
          <a:prstGeom prst="leftArrow">
            <a:avLst/>
          </a:prstGeom>
        </p:spPr>
        <p:style>
          <a:lnRef idx="2">
            <a:schemeClr val="dk1">
              <a:shade val="15000"/>
            </a:schemeClr>
          </a:lnRef>
          <a:fillRef idx="1">
            <a:schemeClr val="dk1"/>
          </a:fillRef>
          <a:effectRef idx="0">
            <a:schemeClr val="dk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96B3E08-9713-C2AB-A80D-385F8E1B282D}"/>
              </a:ext>
            </a:extLst>
          </p:cNvPr>
          <p:cNvSpPr>
            <a:spLocks noGrp="1"/>
          </p:cNvSpPr>
          <p:nvPr/>
        </p:nvSpPr>
        <p:spPr>
          <a:xfrm>
            <a:off x="5077609" y="1413610"/>
            <a:ext cx="1296210" cy="954107"/>
          </a:xfrm>
          <a:prstGeom prst="rect">
            <a:avLst/>
          </a:prstGeom>
          <a:noFill/>
        </p:spPr>
        <p:txBody>
          <a:bodyPr wrap="square">
            <a:spAutoFit/>
          </a:bodyPr>
          <a:lstStyle/>
          <a:p>
            <a:r>
              <a:rPr sz="1400"/>
              <a:t>Remote repository</a:t>
            </a:r>
          </a:p>
          <a:p>
            <a:endParaRPr sz="1400"/>
          </a:p>
          <a:p>
            <a:r>
              <a:rPr sz="1400"/>
              <a:t> hosting</a:t>
            </a:r>
          </a:p>
        </p:txBody>
      </p:sp>
    </p:spTree>
    <p:extLst>
      <p:ext uri="{BB962C8B-B14F-4D97-AF65-F5344CB8AC3E}">
        <p14:creationId xmlns:p14="http://schemas.microsoft.com/office/powerpoint/2010/main" val="4117667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Interacting with GitHub</a:t>
            </a:r>
          </a:p>
        </p:txBody>
      </p:sp>
      <p:pic>
        <p:nvPicPr>
          <p:cNvPr id="12" name="Picture 8"/>
          <p:cNvPicPr>
            <a:picLocks noChangeAspect="1"/>
          </p:cNvPicPr>
          <p:nvPr/>
        </p:nvPicPr>
        <p:blipFill>
          <a:blip r:embed="rId3"/>
          <a:stretch>
            <a:fillRect/>
          </a:stretch>
        </p:blipFill>
        <p:spPr>
          <a:xfrm>
            <a:off x="2408940" y="1263695"/>
            <a:ext cx="3317303" cy="2021198"/>
          </a:xfrm>
          <a:prstGeom prst="rect">
            <a:avLst/>
          </a:prstGeom>
          <a:ln>
            <a:solidFill>
              <a:schemeClr val="tx1"/>
            </a:solidFill>
          </a:ln>
        </p:spPr>
      </p:pic>
      <p:pic>
        <p:nvPicPr>
          <p:cNvPr id="13" name="Picture 10"/>
          <p:cNvPicPr>
            <a:picLocks noChangeAspect="1"/>
          </p:cNvPicPr>
          <p:nvPr/>
        </p:nvPicPr>
        <p:blipFill>
          <a:blip r:embed="rId4"/>
          <a:stretch>
            <a:fillRect/>
          </a:stretch>
        </p:blipFill>
        <p:spPr>
          <a:xfrm>
            <a:off x="838200" y="3513401"/>
            <a:ext cx="3568907" cy="1331075"/>
          </a:xfrm>
          <a:prstGeom prst="rect">
            <a:avLst/>
          </a:prstGeom>
          <a:ln>
            <a:solidFill>
              <a:schemeClr val="tx1"/>
            </a:solidFill>
          </a:ln>
        </p:spPr>
      </p:pic>
      <p:pic>
        <p:nvPicPr>
          <p:cNvPr id="14" name="Picture 14"/>
          <p:cNvPicPr>
            <a:picLocks noChangeAspect="1"/>
          </p:cNvPicPr>
          <p:nvPr/>
        </p:nvPicPr>
        <p:blipFill rotWithShape="1">
          <a:blip r:embed="rId5"/>
          <a:srcRect t="-68"/>
          <a:stretch/>
        </p:blipFill>
        <p:spPr>
          <a:xfrm>
            <a:off x="6609847" y="694482"/>
            <a:ext cx="5314636" cy="3341278"/>
          </a:xfrm>
          <a:prstGeom prst="rect">
            <a:avLst/>
          </a:prstGeom>
        </p:spPr>
      </p:pic>
      <p:pic>
        <p:nvPicPr>
          <p:cNvPr id="15" name="Picture 16"/>
          <p:cNvPicPr>
            <a:picLocks noChangeAspect="1"/>
          </p:cNvPicPr>
          <p:nvPr/>
        </p:nvPicPr>
        <p:blipFill>
          <a:blip r:embed="rId6"/>
          <a:stretch>
            <a:fillRect/>
          </a:stretch>
        </p:blipFill>
        <p:spPr>
          <a:xfrm>
            <a:off x="6096000" y="4405637"/>
            <a:ext cx="5757158" cy="2023098"/>
          </a:xfrm>
          <a:prstGeom prst="rect">
            <a:avLst/>
          </a:prstGeom>
          <a:ln>
            <a:solidFill>
              <a:schemeClr val="tx1"/>
            </a:solidFill>
          </a:ln>
        </p:spPr>
      </p:pic>
      <p:sp>
        <p:nvSpPr>
          <p:cNvPr id="2" name="TextBox 1">
            <a:extLst>
              <a:ext uri="{FF2B5EF4-FFF2-40B4-BE49-F238E27FC236}">
                <a16:creationId xmlns:a16="http://schemas.microsoft.com/office/drawing/2014/main" id="{C1DCF78D-B084-36DC-4480-733E63EF79F5}"/>
              </a:ext>
            </a:extLst>
          </p:cNvPr>
          <p:cNvSpPr>
            <a:spLocks noGrp="1"/>
          </p:cNvSpPr>
          <p:nvPr/>
        </p:nvSpPr>
        <p:spPr>
          <a:xfrm>
            <a:off x="296528" y="1334125"/>
            <a:ext cx="2457685" cy="954107"/>
          </a:xfrm>
          <a:prstGeom prst="rect">
            <a:avLst/>
          </a:prstGeom>
          <a:noFill/>
        </p:spPr>
        <p:txBody>
          <a:bodyPr wrap="square">
            <a:spAutoFit/>
          </a:bodyPr>
          <a:lstStyle/>
          <a:p>
            <a:pPr marL="457200" indent="-457200">
              <a:buFont typeface="Arial"/>
              <a:buChar char="•"/>
            </a:pPr>
            <a:r>
              <a:rPr sz="2800"/>
              <a:t>git init</a:t>
            </a:r>
          </a:p>
          <a:p>
            <a:pPr marL="457200" indent="-457200">
              <a:buFont typeface="Arial"/>
              <a:buChar char="•"/>
            </a:pPr>
            <a:r>
              <a:rPr sz="2800"/>
              <a:t>git clone</a:t>
            </a:r>
          </a:p>
        </p:txBody>
      </p:sp>
      <p:sp>
        <p:nvSpPr>
          <p:cNvPr id="3" name="Rounded Rectangle 2">
            <a:extLst>
              <a:ext uri="{FF2B5EF4-FFF2-40B4-BE49-F238E27FC236}">
                <a16:creationId xmlns:a16="http://schemas.microsoft.com/office/drawing/2014/main" id="{BFA8E98D-B19E-7BC0-3F77-500E379758DB}"/>
              </a:ext>
            </a:extLst>
          </p:cNvPr>
          <p:cNvSpPr>
            <a:spLocks noGrp="1"/>
          </p:cNvSpPr>
          <p:nvPr/>
        </p:nvSpPr>
        <p:spPr>
          <a:xfrm>
            <a:off x="296528" y="1856745"/>
            <a:ext cx="1862055" cy="368140"/>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9230D2B-6CC6-8869-33BA-E65BC714B095}"/>
              </a:ext>
            </a:extLst>
          </p:cNvPr>
          <p:cNvSpPr>
            <a:spLocks noGrp="1"/>
          </p:cNvSpPr>
          <p:nvPr/>
        </p:nvSpPr>
        <p:spPr>
          <a:xfrm>
            <a:off x="3177916" y="1948722"/>
            <a:ext cx="643375" cy="184666"/>
          </a:xfrm>
          <a:prstGeom prst="rect">
            <a:avLst/>
          </a:prstGeom>
          <a:solidFill>
            <a:schemeClr val="bg1">
              <a:lumMod val="95000"/>
            </a:schemeClr>
          </a:solidFill>
        </p:spPr>
        <p:txBody>
          <a:bodyPr wrap="square">
            <a:spAutoFit/>
          </a:bodyPr>
          <a:lstStyle/>
          <a:p>
            <a:r>
              <a:rPr sz="600">
                <a:solidFill>
                  <a:schemeClr val="tx1">
                    <a:lumMod val="75000"/>
                    <a:lumOff val="25000"/>
                  </a:schemeClr>
                </a:solidFill>
              </a:rPr>
              <a:t>472-2023</a:t>
            </a:r>
          </a:p>
        </p:txBody>
      </p:sp>
    </p:spTree>
    <p:extLst>
      <p:ext uri="{BB962C8B-B14F-4D97-AF65-F5344CB8AC3E}">
        <p14:creationId xmlns:p14="http://schemas.microsoft.com/office/powerpoint/2010/main" val="95613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One Repository for the Whole Team</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t>All team members clone the same team repository.</a:t>
            </a:r>
          </a:p>
          <a:p>
            <a:r>
              <a:t>The main branch represents the integrated and stable project.</a:t>
            </a:r>
          </a:p>
          <a:p>
            <a:r>
              <a:t>Each task is completed on a separate branch.</a:t>
            </a:r>
          </a:p>
          <a:p>
            <a:r>
              <a:t>Unfinished work remains off main.</a:t>
            </a:r>
          </a:p>
          <a:p>
            <a:r>
              <a:t>Branch protection prevents uncontrolled integration.</a:t>
            </a:r>
          </a:p>
        </p:txBody>
      </p:sp>
    </p:spTree>
    <p:extLst>
      <p:ext uri="{BB962C8B-B14F-4D97-AF65-F5344CB8AC3E}">
        <p14:creationId xmlns:p14="http://schemas.microsoft.com/office/powerpoint/2010/main" val="990315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The Team Contribution Workflow</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fontScale="92500" lnSpcReduction="20000"/>
          </a:bodyPr>
          <a:lstStyle/>
          <a:p>
            <a:r>
              <a:rPr dirty="0"/>
              <a:t>Issue </a:t>
            </a:r>
            <a:r>
              <a:rPr lang="en-BE" dirty="0"/>
              <a:t>→ Synchronize fork </a:t>
            </a:r>
            <a:r>
              <a:rPr dirty="0"/>
              <a:t>→ Branch → Focused commits → Push → Pull request → Review → Revision → Merge</a:t>
            </a:r>
          </a:p>
          <a:p>
            <a:endParaRPr dirty="0"/>
          </a:p>
          <a:p>
            <a:pPr lvl="0"/>
            <a:r>
              <a:rPr lang="en-BE" dirty="0"/>
              <a:t>The issue defines the expected result and identifies the contributor. </a:t>
            </a:r>
          </a:p>
          <a:p>
            <a:pPr lvl="0"/>
            <a:r>
              <a:rPr lang="en-BE" dirty="0"/>
              <a:t>The team member synchronizes their fork with the upstream team repository. </a:t>
            </a:r>
          </a:p>
          <a:p>
            <a:pPr lvl="0"/>
            <a:r>
              <a:rPr lang="en-BE" dirty="0"/>
              <a:t>A branch in the member’s fork isolates the implementation. </a:t>
            </a:r>
          </a:p>
          <a:p>
            <a:pPr lvl="0"/>
            <a:r>
              <a:rPr lang="en-BE" dirty="0"/>
              <a:t>Focused commits provide a clear and reviewable history. </a:t>
            </a:r>
          </a:p>
          <a:p>
            <a:pPr lvl="0"/>
            <a:r>
              <a:rPr lang="en-BE" dirty="0"/>
              <a:t>The pull request proposes integrating the contribution into the upstream repository. </a:t>
            </a:r>
          </a:p>
          <a:p>
            <a:pPr lvl="0"/>
            <a:r>
              <a:rPr lang="en-BE" dirty="0"/>
              <a:t>Review and revision occur before the maintainers merge the contribution into main.</a:t>
            </a:r>
          </a:p>
        </p:txBody>
      </p:sp>
    </p:spTree>
    <p:extLst>
      <p:ext uri="{BB962C8B-B14F-4D97-AF65-F5344CB8AC3E}">
        <p14:creationId xmlns:p14="http://schemas.microsoft.com/office/powerpoint/2010/main" val="99031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Pull Requests Control Integration</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rPr dirty="0"/>
              <a:t>A pull request should identify the related issue.</a:t>
            </a:r>
          </a:p>
          <a:p>
            <a:r>
              <a:rPr dirty="0"/>
              <a:t>The author explains what changed and how it was tested.</a:t>
            </a:r>
          </a:p>
          <a:p>
            <a:r>
              <a:rPr dirty="0"/>
              <a:t>A teammate reviews the contribution against the issue and project requirements.</a:t>
            </a:r>
          </a:p>
          <a:p>
            <a:r>
              <a:rPr dirty="0"/>
              <a:t>The author responds to comments and updates the same branch.</a:t>
            </a:r>
          </a:p>
          <a:p>
            <a:r>
              <a:rPr dirty="0"/>
              <a:t>The change is merged only after approval and required checks.</a:t>
            </a:r>
          </a:p>
        </p:txBody>
      </p:sp>
    </p:spTree>
    <p:extLst>
      <p:ext uri="{BB962C8B-B14F-4D97-AF65-F5344CB8AC3E}">
        <p14:creationId xmlns:p14="http://schemas.microsoft.com/office/powerpoint/2010/main" val="990315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sz="3600" b="0" i="0" dirty="0">
                <a:solidFill>
                  <a:srgbClr val="1F1F1F"/>
                </a:solidFill>
                <a:effectLst/>
                <a:latin typeface="Source Sans Pro" panose="020B0503030403020204" pitchFamily="34" charset="0"/>
              </a:rPr>
              <a:t>Collaboration on GitHub - </a:t>
            </a:r>
            <a:r>
              <a:rPr lang="en-BE" sz="2800" dirty="0"/>
              <a:t>Pull request – Fork Workflow</a:t>
            </a:r>
            <a:endParaRPr lang="en-GB" sz="2800" b="0" i="0" dirty="0">
              <a:solidFill>
                <a:srgbClr val="1F1F1F"/>
              </a:solidFill>
              <a:effectLst/>
              <a:latin typeface="Source Sans Pro" panose="020B0503030403020204" pitchFamily="34" charset="0"/>
            </a:endParaRP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pic>
        <p:nvPicPr>
          <p:cNvPr id="16" name="Picture 15" descr="Graphical user interface, text, application, email&#10;&#10;Description automatically generated">
            <a:extLst>
              <a:ext uri="{FF2B5EF4-FFF2-40B4-BE49-F238E27FC236}">
                <a16:creationId xmlns:a16="http://schemas.microsoft.com/office/drawing/2014/main" id="{E77CD1B1-8B97-AE0E-E0CD-734DFFC306CA}"/>
              </a:ext>
            </a:extLst>
          </p:cNvPr>
          <p:cNvPicPr>
            <a:picLocks noChangeAspect="1"/>
          </p:cNvPicPr>
          <p:nvPr/>
        </p:nvPicPr>
        <p:blipFill rotWithShape="1">
          <a:blip r:embed="rId3"/>
          <a:srcRect r="19141"/>
          <a:stretch/>
        </p:blipFill>
        <p:spPr>
          <a:xfrm>
            <a:off x="838200" y="1279034"/>
            <a:ext cx="5952344" cy="2542689"/>
          </a:xfrm>
          <a:prstGeom prst="rect">
            <a:avLst/>
          </a:prstGeom>
          <a:ln>
            <a:solidFill>
              <a:schemeClr val="tx1"/>
            </a:solidFill>
          </a:ln>
        </p:spPr>
      </p:pic>
      <p:pic>
        <p:nvPicPr>
          <p:cNvPr id="18" name="Picture 17" descr="Graphical user interface, text, application, email&#10;&#10;Description automatically generated">
            <a:extLst>
              <a:ext uri="{FF2B5EF4-FFF2-40B4-BE49-F238E27FC236}">
                <a16:creationId xmlns:a16="http://schemas.microsoft.com/office/drawing/2014/main" id="{178F0F12-42B7-07C2-F3A8-87FA5F901523}"/>
              </a:ext>
            </a:extLst>
          </p:cNvPr>
          <p:cNvPicPr>
            <a:picLocks noChangeAspect="1"/>
          </p:cNvPicPr>
          <p:nvPr/>
        </p:nvPicPr>
        <p:blipFill>
          <a:blip r:embed="rId4"/>
          <a:stretch>
            <a:fillRect/>
          </a:stretch>
        </p:blipFill>
        <p:spPr>
          <a:xfrm>
            <a:off x="838200" y="3988425"/>
            <a:ext cx="5097905" cy="2524521"/>
          </a:xfrm>
          <a:prstGeom prst="rect">
            <a:avLst/>
          </a:prstGeom>
          <a:ln>
            <a:solidFill>
              <a:schemeClr val="tx1"/>
            </a:solidFill>
          </a:ln>
        </p:spPr>
      </p:pic>
      <p:sp>
        <p:nvSpPr>
          <p:cNvPr id="19" name="Right Arrow 18">
            <a:extLst>
              <a:ext uri="{FF2B5EF4-FFF2-40B4-BE49-F238E27FC236}">
                <a16:creationId xmlns:a16="http://schemas.microsoft.com/office/drawing/2014/main" id="{E9DBA8A5-370E-7CBE-6FC4-D5A3DBEF0444}"/>
              </a:ext>
            </a:extLst>
          </p:cNvPr>
          <p:cNvSpPr/>
          <p:nvPr/>
        </p:nvSpPr>
        <p:spPr>
          <a:xfrm>
            <a:off x="209862" y="3988425"/>
            <a:ext cx="479686" cy="32874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350663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sz="3600" b="0" i="0" dirty="0">
                <a:solidFill>
                  <a:srgbClr val="1F1F1F"/>
                </a:solidFill>
                <a:effectLst/>
                <a:latin typeface="Source Sans Pro" panose="020B0503030403020204" pitchFamily="34" charset="0"/>
              </a:rPr>
              <a:t>Collaboration on GitHub - </a:t>
            </a:r>
            <a:r>
              <a:rPr lang="en-BE" sz="2800" dirty="0"/>
              <a:t>Pull request – Fork Workflow</a:t>
            </a:r>
            <a:endParaRPr lang="en-GB" sz="2800" b="0" i="0" dirty="0">
              <a:solidFill>
                <a:srgbClr val="1F1F1F"/>
              </a:solidFill>
              <a:effectLst/>
              <a:latin typeface="Source Sans Pro" panose="020B0503030403020204" pitchFamily="34" charset="0"/>
            </a:endParaRP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pic>
        <p:nvPicPr>
          <p:cNvPr id="3" name="Picture 2" descr="Text&#10;&#10;Description automatically generated">
            <a:extLst>
              <a:ext uri="{FF2B5EF4-FFF2-40B4-BE49-F238E27FC236}">
                <a16:creationId xmlns:a16="http://schemas.microsoft.com/office/drawing/2014/main" id="{FD76D1D3-9A50-6F4C-586F-0C5F63683279}"/>
              </a:ext>
            </a:extLst>
          </p:cNvPr>
          <p:cNvPicPr>
            <a:picLocks noChangeAspect="1"/>
          </p:cNvPicPr>
          <p:nvPr/>
        </p:nvPicPr>
        <p:blipFill>
          <a:blip r:embed="rId3"/>
          <a:stretch>
            <a:fillRect/>
          </a:stretch>
        </p:blipFill>
        <p:spPr>
          <a:xfrm>
            <a:off x="662274" y="991891"/>
            <a:ext cx="6637936" cy="1333990"/>
          </a:xfrm>
          <a:prstGeom prst="rect">
            <a:avLst/>
          </a:prstGeom>
        </p:spPr>
      </p:pic>
      <p:pic>
        <p:nvPicPr>
          <p:cNvPr id="6" name="Picture 5" descr="Text&#10;&#10;Description automatically generated">
            <a:extLst>
              <a:ext uri="{FF2B5EF4-FFF2-40B4-BE49-F238E27FC236}">
                <a16:creationId xmlns:a16="http://schemas.microsoft.com/office/drawing/2014/main" id="{BA04AB81-700A-0608-66FF-D66F32BF544A}"/>
              </a:ext>
            </a:extLst>
          </p:cNvPr>
          <p:cNvPicPr>
            <a:picLocks noChangeAspect="1"/>
          </p:cNvPicPr>
          <p:nvPr/>
        </p:nvPicPr>
        <p:blipFill>
          <a:blip r:embed="rId4"/>
          <a:stretch>
            <a:fillRect/>
          </a:stretch>
        </p:blipFill>
        <p:spPr>
          <a:xfrm>
            <a:off x="662273" y="2383193"/>
            <a:ext cx="6721371" cy="4147921"/>
          </a:xfrm>
          <a:prstGeom prst="rect">
            <a:avLst/>
          </a:prstGeom>
        </p:spPr>
      </p:pic>
      <p:grpSp>
        <p:nvGrpSpPr>
          <p:cNvPr id="10" name="Group 9">
            <a:extLst>
              <a:ext uri="{FF2B5EF4-FFF2-40B4-BE49-F238E27FC236}">
                <a16:creationId xmlns:a16="http://schemas.microsoft.com/office/drawing/2014/main" id="{EC1A8948-A973-472F-44C1-005A9723A257}"/>
              </a:ext>
            </a:extLst>
          </p:cNvPr>
          <p:cNvGrpSpPr/>
          <p:nvPr/>
        </p:nvGrpSpPr>
        <p:grpSpPr>
          <a:xfrm>
            <a:off x="7030387" y="2277894"/>
            <a:ext cx="3702571" cy="369332"/>
            <a:chOff x="7030387" y="2277894"/>
            <a:chExt cx="3702571" cy="369332"/>
          </a:xfrm>
        </p:grpSpPr>
        <p:sp>
          <p:nvSpPr>
            <p:cNvPr id="7" name="TextBox 6">
              <a:extLst>
                <a:ext uri="{FF2B5EF4-FFF2-40B4-BE49-F238E27FC236}">
                  <a16:creationId xmlns:a16="http://schemas.microsoft.com/office/drawing/2014/main" id="{BF1B3EE2-2A7F-2FDA-DB23-5442AF70D2BC}"/>
                </a:ext>
              </a:extLst>
            </p:cNvPr>
            <p:cNvSpPr txBox="1"/>
            <p:nvPr/>
          </p:nvSpPr>
          <p:spPr>
            <a:xfrm>
              <a:off x="8679306" y="2277894"/>
              <a:ext cx="2053652" cy="369332"/>
            </a:xfrm>
            <a:prstGeom prst="rect">
              <a:avLst/>
            </a:prstGeom>
            <a:noFill/>
            <a:ln w="28575">
              <a:solidFill>
                <a:srgbClr val="C00000"/>
              </a:solidFill>
            </a:ln>
          </p:spPr>
          <p:txBody>
            <a:bodyPr wrap="square" rtlCol="0">
              <a:spAutoFit/>
            </a:bodyPr>
            <a:lstStyle/>
            <a:p>
              <a:r>
                <a:rPr lang="en-GB" dirty="0"/>
                <a:t>C</a:t>
              </a:r>
              <a:r>
                <a:rPr lang="en-BE" dirty="0"/>
                <a:t>reate local branch</a:t>
              </a:r>
            </a:p>
          </p:txBody>
        </p:sp>
        <p:cxnSp>
          <p:nvCxnSpPr>
            <p:cNvPr id="9" name="Straight Arrow Connector 8">
              <a:extLst>
                <a:ext uri="{FF2B5EF4-FFF2-40B4-BE49-F238E27FC236}">
                  <a16:creationId xmlns:a16="http://schemas.microsoft.com/office/drawing/2014/main" id="{487CCC4D-8B2D-2CEC-00AB-04CEEBE928BC}"/>
                </a:ext>
              </a:extLst>
            </p:cNvPr>
            <p:cNvCxnSpPr>
              <a:stCxn id="7" idx="1"/>
            </p:cNvCxnSpPr>
            <p:nvPr/>
          </p:nvCxnSpPr>
          <p:spPr>
            <a:xfrm flipH="1">
              <a:off x="7030387" y="2462560"/>
              <a:ext cx="1648919" cy="1680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EE7253BD-A0C2-FEB2-696D-F0166CB28332}"/>
              </a:ext>
            </a:extLst>
          </p:cNvPr>
          <p:cNvGrpSpPr/>
          <p:nvPr/>
        </p:nvGrpSpPr>
        <p:grpSpPr>
          <a:xfrm>
            <a:off x="7030387" y="3400726"/>
            <a:ext cx="3702571" cy="646331"/>
            <a:chOff x="7030387" y="2277894"/>
            <a:chExt cx="3702571" cy="646331"/>
          </a:xfrm>
        </p:grpSpPr>
        <p:sp>
          <p:nvSpPr>
            <p:cNvPr id="12" name="TextBox 11">
              <a:extLst>
                <a:ext uri="{FF2B5EF4-FFF2-40B4-BE49-F238E27FC236}">
                  <a16:creationId xmlns:a16="http://schemas.microsoft.com/office/drawing/2014/main" id="{EB06E5A3-CE1B-DCB4-929A-96B42D2931B3}"/>
                </a:ext>
              </a:extLst>
            </p:cNvPr>
            <p:cNvSpPr txBox="1"/>
            <p:nvPr/>
          </p:nvSpPr>
          <p:spPr>
            <a:xfrm>
              <a:off x="8679306" y="2277894"/>
              <a:ext cx="2053652" cy="646331"/>
            </a:xfrm>
            <a:prstGeom prst="rect">
              <a:avLst/>
            </a:prstGeom>
            <a:noFill/>
            <a:ln w="28575">
              <a:solidFill>
                <a:srgbClr val="C00000"/>
              </a:solidFill>
            </a:ln>
          </p:spPr>
          <p:txBody>
            <a:bodyPr wrap="square" rtlCol="0">
              <a:spAutoFit/>
            </a:bodyPr>
            <a:lstStyle/>
            <a:p>
              <a:r>
                <a:rPr lang="en-GB" dirty="0"/>
                <a:t>C</a:t>
              </a:r>
              <a:r>
                <a:rPr lang="en-BE" dirty="0"/>
                <a:t>reate remote branch -&gt; push</a:t>
              </a:r>
            </a:p>
          </p:txBody>
        </p:sp>
        <p:cxnSp>
          <p:nvCxnSpPr>
            <p:cNvPr id="13" name="Straight Arrow Connector 12">
              <a:extLst>
                <a:ext uri="{FF2B5EF4-FFF2-40B4-BE49-F238E27FC236}">
                  <a16:creationId xmlns:a16="http://schemas.microsoft.com/office/drawing/2014/main" id="{82E852F5-DD86-2469-BE37-71E3265DC7FD}"/>
                </a:ext>
              </a:extLst>
            </p:cNvPr>
            <p:cNvCxnSpPr>
              <a:cxnSpLocks/>
              <a:stCxn id="12" idx="1"/>
            </p:cNvCxnSpPr>
            <p:nvPr/>
          </p:nvCxnSpPr>
          <p:spPr>
            <a:xfrm flipH="1" flipV="1">
              <a:off x="7030387" y="2601059"/>
              <a:ext cx="1648919" cy="1"/>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Rounded Rectangle 14">
            <a:extLst>
              <a:ext uri="{FF2B5EF4-FFF2-40B4-BE49-F238E27FC236}">
                <a16:creationId xmlns:a16="http://schemas.microsoft.com/office/drawing/2014/main" id="{1BDF517A-ECE7-BB67-FB74-5B36DE84B3D4}"/>
              </a:ext>
            </a:extLst>
          </p:cNvPr>
          <p:cNvSpPr/>
          <p:nvPr/>
        </p:nvSpPr>
        <p:spPr>
          <a:xfrm>
            <a:off x="662273" y="5351488"/>
            <a:ext cx="5213871" cy="42536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428407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sz="3600" b="0" i="0" dirty="0">
                <a:solidFill>
                  <a:srgbClr val="1F1F1F"/>
                </a:solidFill>
                <a:effectLst/>
                <a:latin typeface="Source Sans Pro" panose="020B0503030403020204" pitchFamily="34" charset="0"/>
              </a:rPr>
              <a:t>Collaboration on GitHub - </a:t>
            </a:r>
            <a:r>
              <a:rPr lang="en-BE" sz="2800" dirty="0"/>
              <a:t>Pull request – Fork Workflow</a:t>
            </a:r>
            <a:endParaRPr lang="en-GB" sz="2800" b="0" i="0" dirty="0">
              <a:solidFill>
                <a:srgbClr val="1F1F1F"/>
              </a:solidFill>
              <a:effectLst/>
              <a:latin typeface="Source Sans Pro" panose="020B0503030403020204" pitchFamily="34" charset="0"/>
            </a:endParaRPr>
          </a:p>
        </p:txBody>
      </p:sp>
      <p:pic>
        <p:nvPicPr>
          <p:cNvPr id="16" name="Picture 15" descr="Graphical user interface, text, application&#10;&#10;Description automatically generated">
            <a:extLst>
              <a:ext uri="{FF2B5EF4-FFF2-40B4-BE49-F238E27FC236}">
                <a16:creationId xmlns:a16="http://schemas.microsoft.com/office/drawing/2014/main" id="{4E83CFDD-5BD5-308D-E2DE-73A26DE84022}"/>
              </a:ext>
            </a:extLst>
          </p:cNvPr>
          <p:cNvPicPr>
            <a:picLocks noChangeAspect="1"/>
          </p:cNvPicPr>
          <p:nvPr/>
        </p:nvPicPr>
        <p:blipFill>
          <a:blip r:embed="rId3"/>
          <a:stretch>
            <a:fillRect/>
          </a:stretch>
        </p:blipFill>
        <p:spPr>
          <a:xfrm>
            <a:off x="1590903" y="1098140"/>
            <a:ext cx="7702998" cy="4970672"/>
          </a:xfrm>
          <a:prstGeom prst="rect">
            <a:avLst/>
          </a:prstGeom>
          <a:ln>
            <a:solidFill>
              <a:schemeClr val="tx1"/>
            </a:solidFill>
          </a:ln>
        </p:spPr>
      </p:pic>
      <p:sp>
        <p:nvSpPr>
          <p:cNvPr id="17" name="Rounded Rectangle 16">
            <a:extLst>
              <a:ext uri="{FF2B5EF4-FFF2-40B4-BE49-F238E27FC236}">
                <a16:creationId xmlns:a16="http://schemas.microsoft.com/office/drawing/2014/main" id="{B52F573C-3A02-25FC-4D6A-EAB66AB228D6}"/>
              </a:ext>
            </a:extLst>
          </p:cNvPr>
          <p:cNvSpPr/>
          <p:nvPr/>
        </p:nvSpPr>
        <p:spPr>
          <a:xfrm>
            <a:off x="1690840" y="2347446"/>
            <a:ext cx="3011077" cy="29381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Right Arrow 17">
            <a:extLst>
              <a:ext uri="{FF2B5EF4-FFF2-40B4-BE49-F238E27FC236}">
                <a16:creationId xmlns:a16="http://schemas.microsoft.com/office/drawing/2014/main" id="{4FBC4ABF-AA62-668C-76CD-29EC45C6217E}"/>
              </a:ext>
            </a:extLst>
          </p:cNvPr>
          <p:cNvSpPr/>
          <p:nvPr/>
        </p:nvSpPr>
        <p:spPr>
          <a:xfrm>
            <a:off x="1022737" y="1828800"/>
            <a:ext cx="526601" cy="2812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TextBox 2">
            <a:extLst>
              <a:ext uri="{FF2B5EF4-FFF2-40B4-BE49-F238E27FC236}">
                <a16:creationId xmlns:a16="http://schemas.microsoft.com/office/drawing/2014/main" id="{4B3F221F-B1FC-9D97-3E30-89DF05C9FA02}"/>
              </a:ext>
            </a:extLst>
          </p:cNvPr>
          <p:cNvSpPr txBox="1"/>
          <p:nvPr/>
        </p:nvSpPr>
        <p:spPr>
          <a:xfrm>
            <a:off x="838200" y="6022121"/>
            <a:ext cx="10764864" cy="830997"/>
          </a:xfrm>
          <a:prstGeom prst="rect">
            <a:avLst/>
          </a:prstGeom>
          <a:noFill/>
        </p:spPr>
        <p:txBody>
          <a:bodyPr wrap="square">
            <a:spAutoFit/>
          </a:bodyPr>
          <a:lstStyle/>
          <a:p>
            <a:pPr marL="171450" indent="-171450">
              <a:buFont typeface="Arial" panose="020B0604020202020204" pitchFamily="34" charset="0"/>
              <a:buChar char="•"/>
            </a:pPr>
            <a:r>
              <a:rPr lang="en-GB" sz="2400" b="0" i="0" dirty="0">
                <a:solidFill>
                  <a:srgbClr val="333333"/>
                </a:solidFill>
                <a:effectLst/>
                <a:latin typeface="OpenSans"/>
              </a:rPr>
              <a:t>A pull request is a commit or series of commits that you send to the owner of the repository so that they incorporate it into their tree.</a:t>
            </a:r>
          </a:p>
        </p:txBody>
      </p:sp>
    </p:spTree>
    <p:extLst>
      <p:ext uri="{BB962C8B-B14F-4D97-AF65-F5344CB8AC3E}">
        <p14:creationId xmlns:p14="http://schemas.microsoft.com/office/powerpoint/2010/main" val="397153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8"/>
                                        </p:tgtEl>
                                        <p:attrNameLst>
                                          <p:attrName>style.visibility</p:attrName>
                                        </p:attrNameLst>
                                      </p:cBhvr>
                                      <p:to>
                                        <p:strVal val="hidden"/>
                                      </p:to>
                                    </p:set>
                                  </p:childTnLst>
                                </p:cTn>
                              </p:par>
                              <p:par>
                                <p:cTn id="12" presetID="9"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dissolve">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8" grpId="1" animBg="1"/>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sz="3600" b="0" i="0" dirty="0">
                <a:solidFill>
                  <a:srgbClr val="1F1F1F"/>
                </a:solidFill>
                <a:effectLst/>
                <a:latin typeface="Source Sans Pro" panose="020B0503030403020204" pitchFamily="34" charset="0"/>
              </a:rPr>
              <a:t>Collaboration on GitHub - </a:t>
            </a:r>
            <a:r>
              <a:rPr lang="en-BE" sz="2800" dirty="0"/>
              <a:t>Pull request – Fork Workflow</a:t>
            </a:r>
            <a:endParaRPr lang="en-GB" sz="2800" b="0" i="0" dirty="0">
              <a:solidFill>
                <a:srgbClr val="1F1F1F"/>
              </a:solidFill>
              <a:effectLst/>
              <a:latin typeface="Source Sans Pro" panose="020B0503030403020204" pitchFamily="34" charset="0"/>
            </a:endParaRP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pic>
        <p:nvPicPr>
          <p:cNvPr id="20" name="Picture 19" descr="Graphical user interface, text, application, email&#10;&#10;Description automatically generated">
            <a:extLst>
              <a:ext uri="{FF2B5EF4-FFF2-40B4-BE49-F238E27FC236}">
                <a16:creationId xmlns:a16="http://schemas.microsoft.com/office/drawing/2014/main" id="{92B6BBE8-E3DC-834F-A323-47410FA9D941}"/>
              </a:ext>
            </a:extLst>
          </p:cNvPr>
          <p:cNvPicPr>
            <a:picLocks noChangeAspect="1"/>
          </p:cNvPicPr>
          <p:nvPr/>
        </p:nvPicPr>
        <p:blipFill>
          <a:blip r:embed="rId3"/>
          <a:stretch>
            <a:fillRect/>
          </a:stretch>
        </p:blipFill>
        <p:spPr>
          <a:xfrm>
            <a:off x="1335583" y="1035187"/>
            <a:ext cx="5964628" cy="3705480"/>
          </a:xfrm>
          <a:prstGeom prst="rect">
            <a:avLst/>
          </a:prstGeom>
          <a:ln>
            <a:solidFill>
              <a:schemeClr val="tx1"/>
            </a:solidFill>
          </a:ln>
        </p:spPr>
      </p:pic>
      <p:sp>
        <p:nvSpPr>
          <p:cNvPr id="2" name="Rounded Rectangle 1">
            <a:extLst>
              <a:ext uri="{FF2B5EF4-FFF2-40B4-BE49-F238E27FC236}">
                <a16:creationId xmlns:a16="http://schemas.microsoft.com/office/drawing/2014/main" id="{8C987095-86DE-D548-D2E1-76A356E2D64A}"/>
              </a:ext>
            </a:extLst>
          </p:cNvPr>
          <p:cNvSpPr/>
          <p:nvPr/>
        </p:nvSpPr>
        <p:spPr>
          <a:xfrm>
            <a:off x="1573968" y="1789229"/>
            <a:ext cx="3117954" cy="28123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Right Arrow 2">
            <a:extLst>
              <a:ext uri="{FF2B5EF4-FFF2-40B4-BE49-F238E27FC236}">
                <a16:creationId xmlns:a16="http://schemas.microsoft.com/office/drawing/2014/main" id="{81AA1A2E-F221-F46A-A9E7-0C69CB37E8A3}"/>
              </a:ext>
            </a:extLst>
          </p:cNvPr>
          <p:cNvSpPr/>
          <p:nvPr/>
        </p:nvSpPr>
        <p:spPr>
          <a:xfrm>
            <a:off x="1229193" y="2839443"/>
            <a:ext cx="526601" cy="2812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extBox 4">
            <a:extLst>
              <a:ext uri="{FF2B5EF4-FFF2-40B4-BE49-F238E27FC236}">
                <a16:creationId xmlns:a16="http://schemas.microsoft.com/office/drawing/2014/main" id="{F4DA96C7-766E-7A91-DF22-B5FD946567BB}"/>
              </a:ext>
            </a:extLst>
          </p:cNvPr>
          <p:cNvSpPr txBox="1"/>
          <p:nvPr/>
        </p:nvSpPr>
        <p:spPr>
          <a:xfrm>
            <a:off x="1785776" y="2980059"/>
            <a:ext cx="5514435" cy="307777"/>
          </a:xfrm>
          <a:prstGeom prst="rect">
            <a:avLst/>
          </a:prstGeom>
          <a:noFill/>
        </p:spPr>
        <p:txBody>
          <a:bodyPr wrap="square" rtlCol="0">
            <a:spAutoFit/>
          </a:bodyPr>
          <a:lstStyle/>
          <a:p>
            <a:r>
              <a:rPr lang="en-BE" sz="1400" dirty="0"/>
              <a:t>Added a description to the README.md that was missing in the project</a:t>
            </a:r>
          </a:p>
        </p:txBody>
      </p:sp>
      <p:pic>
        <p:nvPicPr>
          <p:cNvPr id="7" name="Picture 6" descr="Background pattern&#10;&#10;Description automatically generated">
            <a:extLst>
              <a:ext uri="{FF2B5EF4-FFF2-40B4-BE49-F238E27FC236}">
                <a16:creationId xmlns:a16="http://schemas.microsoft.com/office/drawing/2014/main" id="{988ABB6F-8C51-0482-8FFE-02E51BA2F4EC}"/>
              </a:ext>
            </a:extLst>
          </p:cNvPr>
          <p:cNvPicPr>
            <a:picLocks noChangeAspect="1"/>
          </p:cNvPicPr>
          <p:nvPr/>
        </p:nvPicPr>
        <p:blipFill>
          <a:blip r:embed="rId4"/>
          <a:stretch>
            <a:fillRect/>
          </a:stretch>
        </p:blipFill>
        <p:spPr>
          <a:xfrm>
            <a:off x="1335583" y="4800363"/>
            <a:ext cx="5964628" cy="799863"/>
          </a:xfrm>
          <a:prstGeom prst="rect">
            <a:avLst/>
          </a:prstGeom>
          <a:ln>
            <a:solidFill>
              <a:schemeClr val="tx1"/>
            </a:solidFill>
          </a:ln>
        </p:spPr>
      </p:pic>
      <p:pic>
        <p:nvPicPr>
          <p:cNvPr id="9" name="Picture 8" descr="Text&#10;&#10;Description automatically generated with medium confidence">
            <a:extLst>
              <a:ext uri="{FF2B5EF4-FFF2-40B4-BE49-F238E27FC236}">
                <a16:creationId xmlns:a16="http://schemas.microsoft.com/office/drawing/2014/main" id="{A4D65D4E-8C1F-B759-4940-6F76949671D2}"/>
              </a:ext>
            </a:extLst>
          </p:cNvPr>
          <p:cNvPicPr>
            <a:picLocks noChangeAspect="1"/>
          </p:cNvPicPr>
          <p:nvPr/>
        </p:nvPicPr>
        <p:blipFill rotWithShape="1">
          <a:blip r:embed="rId5"/>
          <a:srcRect b="13175"/>
          <a:stretch/>
        </p:blipFill>
        <p:spPr>
          <a:xfrm>
            <a:off x="1229193" y="5730227"/>
            <a:ext cx="6071018" cy="846894"/>
          </a:xfrm>
          <a:prstGeom prst="rect">
            <a:avLst/>
          </a:prstGeom>
          <a:ln>
            <a:solidFill>
              <a:schemeClr val="tx1"/>
            </a:solidFill>
          </a:ln>
        </p:spPr>
      </p:pic>
      <p:sp>
        <p:nvSpPr>
          <p:cNvPr id="10" name="Right Arrow 9">
            <a:extLst>
              <a:ext uri="{FF2B5EF4-FFF2-40B4-BE49-F238E27FC236}">
                <a16:creationId xmlns:a16="http://schemas.microsoft.com/office/drawing/2014/main" id="{4411DAE9-139E-32CD-E81E-6AC4E8648AA5}"/>
              </a:ext>
            </a:extLst>
          </p:cNvPr>
          <p:cNvSpPr/>
          <p:nvPr/>
        </p:nvSpPr>
        <p:spPr>
          <a:xfrm rot="10800000">
            <a:off x="6568190" y="5781652"/>
            <a:ext cx="526601" cy="2812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6" name="Picture 5" descr="Graphical user interface, text, application, email&#10;&#10;Description automatically generated">
            <a:extLst>
              <a:ext uri="{FF2B5EF4-FFF2-40B4-BE49-F238E27FC236}">
                <a16:creationId xmlns:a16="http://schemas.microsoft.com/office/drawing/2014/main" id="{98EB3516-EC81-C91C-92B9-D4DBCDCEFE9B}"/>
              </a:ext>
            </a:extLst>
          </p:cNvPr>
          <p:cNvPicPr>
            <a:picLocks noChangeAspect="1"/>
          </p:cNvPicPr>
          <p:nvPr/>
        </p:nvPicPr>
        <p:blipFill>
          <a:blip r:embed="rId6"/>
          <a:srcRect r="38385" b="17154"/>
          <a:stretch/>
        </p:blipFill>
        <p:spPr>
          <a:xfrm>
            <a:off x="7830560" y="1336787"/>
            <a:ext cx="3523240" cy="4263439"/>
          </a:xfrm>
          <a:prstGeom prst="rect">
            <a:avLst/>
          </a:prstGeom>
          <a:ln>
            <a:solidFill>
              <a:schemeClr val="tx1"/>
            </a:solidFill>
          </a:ln>
        </p:spPr>
      </p:pic>
    </p:spTree>
    <p:extLst>
      <p:ext uri="{BB962C8B-B14F-4D97-AF65-F5344CB8AC3E}">
        <p14:creationId xmlns:p14="http://schemas.microsoft.com/office/powerpoint/2010/main" val="312685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par>
                                <p:cTn id="12" presetID="9"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dissolv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9"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par>
                                <p:cTn id="22" presetID="9"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dissolv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dissolv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dissolve">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b="0" i="0" dirty="0">
                <a:solidFill>
                  <a:srgbClr val="1F1F1F"/>
                </a:solidFill>
                <a:effectLst/>
                <a:latin typeface="Source Sans Pro" panose="020B0503030403020204" pitchFamily="34" charset="0"/>
              </a:rPr>
              <a:t>Updating an Existing Pull Request</a:t>
            </a: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pic>
        <p:nvPicPr>
          <p:cNvPr id="8" name="Picture 7" descr="Graphical user interface, text, application, email&#10;&#10;Description automatically generated">
            <a:extLst>
              <a:ext uri="{FF2B5EF4-FFF2-40B4-BE49-F238E27FC236}">
                <a16:creationId xmlns:a16="http://schemas.microsoft.com/office/drawing/2014/main" id="{99656876-E731-1FBD-3565-CA2913260E4A}"/>
              </a:ext>
            </a:extLst>
          </p:cNvPr>
          <p:cNvPicPr>
            <a:picLocks noChangeAspect="1"/>
          </p:cNvPicPr>
          <p:nvPr/>
        </p:nvPicPr>
        <p:blipFill>
          <a:blip r:embed="rId3"/>
          <a:stretch>
            <a:fillRect/>
          </a:stretch>
        </p:blipFill>
        <p:spPr>
          <a:xfrm>
            <a:off x="838200" y="1421982"/>
            <a:ext cx="6143989" cy="2769122"/>
          </a:xfrm>
          <a:prstGeom prst="rect">
            <a:avLst/>
          </a:prstGeom>
          <a:ln>
            <a:solidFill>
              <a:schemeClr val="tx1"/>
            </a:solidFill>
          </a:ln>
        </p:spPr>
      </p:pic>
      <p:sp>
        <p:nvSpPr>
          <p:cNvPr id="11" name="Left Arrow 10">
            <a:extLst>
              <a:ext uri="{FF2B5EF4-FFF2-40B4-BE49-F238E27FC236}">
                <a16:creationId xmlns:a16="http://schemas.microsoft.com/office/drawing/2014/main" id="{DCFCBDA9-7990-3979-7666-9E9A12F3C6FA}"/>
              </a:ext>
            </a:extLst>
          </p:cNvPr>
          <p:cNvSpPr/>
          <p:nvPr/>
        </p:nvSpPr>
        <p:spPr>
          <a:xfrm>
            <a:off x="6429166" y="3852472"/>
            <a:ext cx="1106045" cy="33863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3" name="Picture 12" descr="Text&#10;&#10;Description automatically generated">
            <a:extLst>
              <a:ext uri="{FF2B5EF4-FFF2-40B4-BE49-F238E27FC236}">
                <a16:creationId xmlns:a16="http://schemas.microsoft.com/office/drawing/2014/main" id="{63949BB8-4CA4-19DD-6B28-A8D0FCA4D1D5}"/>
              </a:ext>
            </a:extLst>
          </p:cNvPr>
          <p:cNvPicPr>
            <a:picLocks noChangeAspect="1"/>
          </p:cNvPicPr>
          <p:nvPr/>
        </p:nvPicPr>
        <p:blipFill>
          <a:blip r:embed="rId4"/>
          <a:stretch>
            <a:fillRect/>
          </a:stretch>
        </p:blipFill>
        <p:spPr>
          <a:xfrm>
            <a:off x="838200" y="4381180"/>
            <a:ext cx="6697011" cy="2159316"/>
          </a:xfrm>
          <a:prstGeom prst="rect">
            <a:avLst/>
          </a:prstGeom>
        </p:spPr>
      </p:pic>
      <p:sp>
        <p:nvSpPr>
          <p:cNvPr id="14" name="Left Arrow 13">
            <a:extLst>
              <a:ext uri="{FF2B5EF4-FFF2-40B4-BE49-F238E27FC236}">
                <a16:creationId xmlns:a16="http://schemas.microsoft.com/office/drawing/2014/main" id="{71354A8E-FE10-4B12-DD02-D02C3C8C0C77}"/>
              </a:ext>
            </a:extLst>
          </p:cNvPr>
          <p:cNvSpPr/>
          <p:nvPr/>
        </p:nvSpPr>
        <p:spPr>
          <a:xfrm>
            <a:off x="6429166" y="4814341"/>
            <a:ext cx="1106045" cy="33863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2907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1"/>
                                        </p:tgtEl>
                                        <p:attrNameLst>
                                          <p:attrName>style.visibility</p:attrName>
                                        </p:attrNameLst>
                                      </p:cBhvr>
                                      <p:to>
                                        <p:strVal val="hidden"/>
                                      </p:to>
                                    </p:set>
                                  </p:childTnLst>
                                </p:cTn>
                              </p:par>
                              <p:par>
                                <p:cTn id="12" presetID="9"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ssolv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dissolv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4" grpId="0" animBg="1"/>
      <p:bldP spid="14"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b="0" i="0" dirty="0">
                <a:solidFill>
                  <a:srgbClr val="1F1F1F"/>
                </a:solidFill>
                <a:effectLst/>
                <a:latin typeface="Source Sans Pro" panose="020B0503030403020204" pitchFamily="34" charset="0"/>
              </a:rPr>
              <a:t>Updating an Existing Pull Request</a:t>
            </a: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pic>
        <p:nvPicPr>
          <p:cNvPr id="5" name="Picture 4" descr="Graphical user interface, text, application, email&#10;&#10;Description automatically generated">
            <a:extLst>
              <a:ext uri="{FF2B5EF4-FFF2-40B4-BE49-F238E27FC236}">
                <a16:creationId xmlns:a16="http://schemas.microsoft.com/office/drawing/2014/main" id="{698B806A-52BD-54AC-19A9-B649544E0BC1}"/>
              </a:ext>
            </a:extLst>
          </p:cNvPr>
          <p:cNvPicPr>
            <a:picLocks noChangeAspect="1"/>
          </p:cNvPicPr>
          <p:nvPr/>
        </p:nvPicPr>
        <p:blipFill rotWithShape="1">
          <a:blip r:embed="rId3"/>
          <a:srcRect b="10319"/>
          <a:stretch/>
        </p:blipFill>
        <p:spPr>
          <a:xfrm>
            <a:off x="571572" y="1424378"/>
            <a:ext cx="6278934" cy="3222573"/>
          </a:xfrm>
          <a:prstGeom prst="rect">
            <a:avLst/>
          </a:prstGeom>
          <a:ln>
            <a:solidFill>
              <a:schemeClr val="bg1">
                <a:lumMod val="65000"/>
              </a:schemeClr>
            </a:solidFill>
          </a:ln>
        </p:spPr>
      </p:pic>
      <p:sp>
        <p:nvSpPr>
          <p:cNvPr id="6" name="Left Arrow 5">
            <a:extLst>
              <a:ext uri="{FF2B5EF4-FFF2-40B4-BE49-F238E27FC236}">
                <a16:creationId xmlns:a16="http://schemas.microsoft.com/office/drawing/2014/main" id="{7F08FB06-F281-2D4E-823C-D72DD3FBE68D}"/>
              </a:ext>
            </a:extLst>
          </p:cNvPr>
          <p:cNvSpPr/>
          <p:nvPr/>
        </p:nvSpPr>
        <p:spPr>
          <a:xfrm rot="2980000" flipV="1">
            <a:off x="2388245" y="2417339"/>
            <a:ext cx="443562" cy="2631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Left Arrow 17">
            <a:extLst>
              <a:ext uri="{FF2B5EF4-FFF2-40B4-BE49-F238E27FC236}">
                <a16:creationId xmlns:a16="http://schemas.microsoft.com/office/drawing/2014/main" id="{6E1815C4-B201-F299-EEB3-1C61A4650339}"/>
              </a:ext>
            </a:extLst>
          </p:cNvPr>
          <p:cNvSpPr/>
          <p:nvPr/>
        </p:nvSpPr>
        <p:spPr>
          <a:xfrm rot="2980000" flipV="1">
            <a:off x="4182844" y="2417339"/>
            <a:ext cx="443562" cy="2631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0" name="Picture 19" descr="Graphical user interface, text, application, email&#10;&#10;Description automatically generated">
            <a:extLst>
              <a:ext uri="{FF2B5EF4-FFF2-40B4-BE49-F238E27FC236}">
                <a16:creationId xmlns:a16="http://schemas.microsoft.com/office/drawing/2014/main" id="{056CE8CA-4F8D-AF3E-7095-ADF62CD7A55C}"/>
              </a:ext>
            </a:extLst>
          </p:cNvPr>
          <p:cNvPicPr>
            <a:picLocks noChangeAspect="1"/>
          </p:cNvPicPr>
          <p:nvPr/>
        </p:nvPicPr>
        <p:blipFill>
          <a:blip r:embed="rId4"/>
          <a:stretch>
            <a:fillRect/>
          </a:stretch>
        </p:blipFill>
        <p:spPr>
          <a:xfrm>
            <a:off x="1289154" y="4699104"/>
            <a:ext cx="4348329" cy="1813681"/>
          </a:xfrm>
          <a:prstGeom prst="rect">
            <a:avLst/>
          </a:prstGeom>
          <a:ln>
            <a:solidFill>
              <a:schemeClr val="bg1">
                <a:lumMod val="65000"/>
              </a:schemeClr>
            </a:solidFill>
          </a:ln>
        </p:spPr>
      </p:pic>
      <p:sp>
        <p:nvSpPr>
          <p:cNvPr id="3" name="TextBox 2">
            <a:extLst>
              <a:ext uri="{FF2B5EF4-FFF2-40B4-BE49-F238E27FC236}">
                <a16:creationId xmlns:a16="http://schemas.microsoft.com/office/drawing/2014/main" id="{5647E5D0-4A8D-C357-3B8F-4745707CF5AE}"/>
              </a:ext>
            </a:extLst>
          </p:cNvPr>
          <p:cNvSpPr txBox="1"/>
          <p:nvPr/>
        </p:nvSpPr>
        <p:spPr>
          <a:xfrm>
            <a:off x="6096001" y="4959613"/>
            <a:ext cx="5446954" cy="1569660"/>
          </a:xfrm>
          <a:prstGeom prst="rect">
            <a:avLst/>
          </a:prstGeom>
          <a:noFill/>
          <a:ln w="28575">
            <a:solidFill>
              <a:srgbClr val="1D15C5"/>
            </a:solidFill>
          </a:ln>
        </p:spPr>
        <p:txBody>
          <a:bodyPr wrap="square">
            <a:spAutoFit/>
          </a:bodyPr>
          <a:lstStyle/>
          <a:p>
            <a:r>
              <a:rPr lang="en-GB" sz="3200" dirty="0"/>
              <a:t>Some projects may ask you to have only one commit in your pull requests</a:t>
            </a:r>
          </a:p>
        </p:txBody>
      </p:sp>
    </p:spTree>
    <p:extLst>
      <p:ext uri="{BB962C8B-B14F-4D97-AF65-F5344CB8AC3E}">
        <p14:creationId xmlns:p14="http://schemas.microsoft.com/office/powerpoint/2010/main" val="74726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hidden"/>
                                      </p:to>
                                    </p:set>
                                  </p:childTnLst>
                                </p:cTn>
                              </p:par>
                              <p:par>
                                <p:cTn id="12" presetID="9"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dissolv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8"/>
                                        </p:tgtEl>
                                        <p:attrNameLst>
                                          <p:attrName>style.visibility</p:attrName>
                                        </p:attrNameLst>
                                      </p:cBhvr>
                                      <p:to>
                                        <p:strVal val="hidden"/>
                                      </p:to>
                                    </p:set>
                                  </p:childTnLst>
                                </p:cTn>
                              </p:par>
                            </p:childTnLst>
                          </p:cTn>
                        </p:par>
                        <p:par>
                          <p:cTn id="19" fill="hold">
                            <p:stCondLst>
                              <p:cond delay="0"/>
                            </p:stCondLst>
                            <p:childTnLst>
                              <p:par>
                                <p:cTn id="20" presetID="9" presetClass="entr" presetSubtype="0"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8" grpId="0" animBg="1"/>
      <p:bldP spid="18" grpId="1"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Best Practices for Collaboration</a:t>
            </a: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sp>
        <p:nvSpPr>
          <p:cNvPr id="11" name="TextBox 10">
            <a:extLst>
              <a:ext uri="{FF2B5EF4-FFF2-40B4-BE49-F238E27FC236}">
                <a16:creationId xmlns:a16="http://schemas.microsoft.com/office/drawing/2014/main" id="{ABF928C8-BC6E-EF66-9D88-AEE47D790836}"/>
              </a:ext>
            </a:extLst>
          </p:cNvPr>
          <p:cNvSpPr txBox="1"/>
          <p:nvPr/>
        </p:nvSpPr>
        <p:spPr>
          <a:xfrm>
            <a:off x="838200" y="1833033"/>
            <a:ext cx="9385092" cy="2923877"/>
          </a:xfrm>
          <a:prstGeom prst="rect">
            <a:avLst/>
          </a:prstGeom>
          <a:noFill/>
          <a:ln w="38100">
            <a:solidFill>
              <a:srgbClr val="166623"/>
            </a:solidFill>
          </a:ln>
        </p:spPr>
        <p:txBody>
          <a:bodyPr wrap="square">
            <a:spAutoFit/>
          </a:bodyPr>
          <a:lstStyle/>
          <a:p>
            <a:pPr marL="285750" indent="-285750">
              <a:buFont typeface="Arial" panose="020B0604020202020204" pitchFamily="34" charset="0"/>
              <a:buChar char="•"/>
            </a:pPr>
            <a:r>
              <a:rPr lang="en-GB" sz="2400" b="0" i="0" dirty="0">
                <a:solidFill>
                  <a:srgbClr val="1F1F1F"/>
                </a:solidFill>
                <a:effectLst/>
                <a:latin typeface="Source Sans Pro" panose="020B0503030403020204" pitchFamily="34" charset="0"/>
              </a:rPr>
              <a:t>It's a good idea to always synchronize your branches before starting any work on your own.</a:t>
            </a:r>
          </a:p>
          <a:p>
            <a:pPr marL="285750" indent="-285750">
              <a:buFont typeface="Arial" panose="020B0604020202020204" pitchFamily="34" charset="0"/>
              <a:buChar char="•"/>
            </a:pPr>
            <a:r>
              <a:rPr lang="en-GB" sz="2400" dirty="0">
                <a:solidFill>
                  <a:srgbClr val="1F1F1F"/>
                </a:solidFill>
                <a:latin typeface="Source Sans Pro" panose="020B0503030403020204" pitchFamily="34" charset="0"/>
              </a:rPr>
              <a:t>A</a:t>
            </a:r>
            <a:r>
              <a:rPr lang="en-GB" sz="2400" b="0" i="0" dirty="0">
                <a:solidFill>
                  <a:srgbClr val="1F1F1F"/>
                </a:solidFill>
                <a:effectLst/>
                <a:latin typeface="Source Sans Pro" panose="020B0503030403020204" pitchFamily="34" charset="0"/>
              </a:rPr>
              <a:t>void having very large changes that modify a lot of different things.</a:t>
            </a:r>
          </a:p>
          <a:p>
            <a:pPr marL="285750" indent="-285750">
              <a:buFont typeface="Arial" panose="020B0604020202020204" pitchFamily="34" charset="0"/>
              <a:buChar char="•"/>
            </a:pPr>
            <a:r>
              <a:rPr lang="en-GB" sz="2400" dirty="0">
                <a:solidFill>
                  <a:srgbClr val="333333"/>
                </a:solidFill>
                <a:latin typeface="OpenSans"/>
              </a:rPr>
              <a:t>W</a:t>
            </a:r>
            <a:r>
              <a:rPr lang="en-GB" sz="2400" b="0" i="0" dirty="0">
                <a:solidFill>
                  <a:srgbClr val="333333"/>
                </a:solidFill>
                <a:effectLst/>
                <a:latin typeface="OpenSans"/>
              </a:rPr>
              <a:t>hen working on a big change, it makes sense to have a separate feature branch.</a:t>
            </a:r>
          </a:p>
          <a:p>
            <a:pPr marL="742950" lvl="1" indent="-285750">
              <a:buFont typeface="Arial" panose="020B0604020202020204" pitchFamily="34" charset="0"/>
              <a:buChar char="•"/>
            </a:pPr>
            <a:r>
              <a:rPr lang="en-GB" sz="2000" b="0" i="0" dirty="0">
                <a:solidFill>
                  <a:srgbClr val="333333"/>
                </a:solidFill>
                <a:effectLst/>
                <a:latin typeface="OpenSans"/>
              </a:rPr>
              <a:t>To make the final merge of the feature branch easier, it makes sense to regularly merge changes made on the master branch back onto the feature branch.</a:t>
            </a:r>
            <a:endParaRPr lang="en-GB" sz="2000" dirty="0">
              <a:solidFill>
                <a:srgbClr val="333333"/>
              </a:solidFill>
              <a:latin typeface="OpenSans"/>
            </a:endParaRPr>
          </a:p>
          <a:p>
            <a:pPr marL="285750" indent="-285750">
              <a:buFont typeface="Arial" panose="020B0604020202020204" pitchFamily="34" charset="0"/>
              <a:buChar char="•"/>
            </a:pPr>
            <a:r>
              <a:rPr lang="en-GB" sz="2400" b="0" i="0" dirty="0">
                <a:solidFill>
                  <a:srgbClr val="333333"/>
                </a:solidFill>
                <a:effectLst/>
                <a:latin typeface="OpenSans"/>
              </a:rPr>
              <a:t>Avoid rebasing on public repository</a:t>
            </a:r>
          </a:p>
        </p:txBody>
      </p:sp>
      <p:sp>
        <p:nvSpPr>
          <p:cNvPr id="13" name="TextBox 12">
            <a:extLst>
              <a:ext uri="{FF2B5EF4-FFF2-40B4-BE49-F238E27FC236}">
                <a16:creationId xmlns:a16="http://schemas.microsoft.com/office/drawing/2014/main" id="{A987BBAE-D19D-9F31-B82F-78C20A73A11D}"/>
              </a:ext>
            </a:extLst>
          </p:cNvPr>
          <p:cNvSpPr txBox="1"/>
          <p:nvPr/>
        </p:nvSpPr>
        <p:spPr>
          <a:xfrm>
            <a:off x="389744" y="5370090"/>
            <a:ext cx="10702977" cy="923330"/>
          </a:xfrm>
          <a:prstGeom prst="rect">
            <a:avLst/>
          </a:prstGeom>
          <a:noFill/>
        </p:spPr>
        <p:txBody>
          <a:bodyPr wrap="square">
            <a:spAutoFit/>
          </a:bodyPr>
          <a:lstStyle/>
          <a:p>
            <a:pPr marL="285750" indent="-285750" algn="l">
              <a:buFont typeface="Arial" panose="020B0604020202020204" pitchFamily="34" charset="0"/>
              <a:buChar char="•"/>
            </a:pPr>
            <a:r>
              <a:rPr lang="en-GB" b="0" i="0" u="sng" dirty="0">
                <a:solidFill>
                  <a:srgbClr val="0056D2"/>
                </a:solidFill>
                <a:effectLst/>
                <a:latin typeface="Source Sans Pro" panose="020B0503030403020204" pitchFamily="34" charset="0"/>
                <a:hlinkClick r:id="rId3"/>
              </a:rPr>
              <a:t>https://help.github.com/en/github/collaborating-with-issues-and-pull-requests/about-merge-conflicts</a:t>
            </a:r>
            <a:endParaRPr lang="en-GB" b="0" i="0" dirty="0">
              <a:solidFill>
                <a:srgbClr val="1F1F1F"/>
              </a:solidFill>
              <a:effectLst/>
              <a:latin typeface="Source Sans Pro" panose="020B0503030403020204" pitchFamily="34" charset="0"/>
            </a:endParaRPr>
          </a:p>
          <a:p>
            <a:pPr marL="285750" indent="-285750" algn="l">
              <a:buFont typeface="Arial" panose="020B0604020202020204" pitchFamily="34" charset="0"/>
              <a:buChar char="•"/>
            </a:pPr>
            <a:r>
              <a:rPr lang="en-GB" b="0" i="0" u="sng" dirty="0">
                <a:solidFill>
                  <a:srgbClr val="0056D2"/>
                </a:solidFill>
                <a:effectLst/>
                <a:latin typeface="Source Sans Pro" panose="020B0503030403020204" pitchFamily="34" charset="0"/>
                <a:hlinkClick r:id="rId4"/>
              </a:rPr>
              <a:t>https://help.github.com/en/github/collaborating-with-issues-and-pull-requests/resolving-a-merge-conflict-using-the-command-line</a:t>
            </a:r>
            <a:endParaRPr lang="en-GB" b="0" i="0" u="sng" dirty="0">
              <a:solidFill>
                <a:srgbClr val="0056D2"/>
              </a:solidFill>
              <a:effectLst/>
              <a:latin typeface="Source Sans Pro" panose="020B0503030403020204" pitchFamily="34" charset="0"/>
            </a:endParaRPr>
          </a:p>
        </p:txBody>
      </p:sp>
    </p:spTree>
    <p:extLst>
      <p:ext uri="{BB962C8B-B14F-4D97-AF65-F5344CB8AC3E}">
        <p14:creationId xmlns:p14="http://schemas.microsoft.com/office/powerpoint/2010/main" val="1075543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r>
              <a:rPr lang="en-GB" b="0" i="0" dirty="0">
                <a:solidFill>
                  <a:srgbClr val="1F1F1F"/>
                </a:solidFill>
                <a:effectLst/>
                <a:latin typeface="Source Sans Pro" panose="020B0503030403020204" pitchFamily="34" charset="0"/>
              </a:rPr>
              <a:t>Code Reviews</a:t>
            </a:r>
            <a:endParaRPr lang="en-GB" b="0" i="0" dirty="0">
              <a:solidFill>
                <a:srgbClr val="1F1F1F"/>
              </a:solidFill>
              <a:effectLst/>
              <a:latin typeface="OpenSans"/>
            </a:endParaRPr>
          </a:p>
        </p:txBody>
      </p:sp>
      <p:sp>
        <p:nvSpPr>
          <p:cNvPr id="14" name="TextBox 13">
            <a:extLst>
              <a:ext uri="{FF2B5EF4-FFF2-40B4-BE49-F238E27FC236}">
                <a16:creationId xmlns:a16="http://schemas.microsoft.com/office/drawing/2014/main" id="{7FD9351F-F33A-4684-3877-C7CBE7168D46}"/>
              </a:ext>
            </a:extLst>
          </p:cNvPr>
          <p:cNvSpPr txBox="1"/>
          <p:nvPr/>
        </p:nvSpPr>
        <p:spPr>
          <a:xfrm>
            <a:off x="8193506" y="4677337"/>
            <a:ext cx="3160294" cy="1815882"/>
          </a:xfrm>
          <a:prstGeom prst="rect">
            <a:avLst/>
          </a:prstGeom>
          <a:noFill/>
          <a:ln w="38100">
            <a:solidFill>
              <a:srgbClr val="166623"/>
            </a:solidFill>
          </a:ln>
        </p:spPr>
        <p:txBody>
          <a:bodyPr wrap="square" rtlCol="0">
            <a:spAutoFit/>
          </a:bodyPr>
          <a:lstStyle/>
          <a:p>
            <a:pPr marL="285750" indent="-285750">
              <a:buFont typeface="Arial" panose="020B0604020202020204" pitchFamily="34" charset="0"/>
              <a:buChar char="•"/>
            </a:pPr>
            <a:r>
              <a:rPr lang="en-BE" sz="2800" dirty="0"/>
              <a:t>Documentation</a:t>
            </a:r>
          </a:p>
          <a:p>
            <a:pPr marL="285750" indent="-285750">
              <a:buFont typeface="Arial" panose="020B0604020202020204" pitchFamily="34" charset="0"/>
              <a:buChar char="•"/>
            </a:pPr>
            <a:r>
              <a:rPr lang="en-BE" sz="2800" dirty="0"/>
              <a:t>Configurations</a:t>
            </a:r>
          </a:p>
          <a:p>
            <a:pPr marL="285750" indent="-285750">
              <a:buFont typeface="Arial" panose="020B0604020202020204" pitchFamily="34" charset="0"/>
              <a:buChar char="•"/>
            </a:pPr>
            <a:r>
              <a:rPr lang="en-BE" sz="2800" dirty="0"/>
              <a:t>Code</a:t>
            </a:r>
          </a:p>
          <a:p>
            <a:pPr marL="285750" indent="-285750">
              <a:buFont typeface="Arial" panose="020B0604020202020204" pitchFamily="34" charset="0"/>
              <a:buChar char="•"/>
            </a:pPr>
            <a:r>
              <a:rPr lang="en-BE" sz="2800" dirty="0"/>
              <a:t>Design Diagrams</a:t>
            </a:r>
          </a:p>
        </p:txBody>
      </p:sp>
      <p:sp>
        <p:nvSpPr>
          <p:cNvPr id="3" name="TextBox 2">
            <a:extLst>
              <a:ext uri="{FF2B5EF4-FFF2-40B4-BE49-F238E27FC236}">
                <a16:creationId xmlns:a16="http://schemas.microsoft.com/office/drawing/2014/main" id="{CEAA58F6-C4D2-C243-95B1-7AE91C79EE4A}"/>
              </a:ext>
            </a:extLst>
          </p:cNvPr>
          <p:cNvSpPr txBox="1"/>
          <p:nvPr/>
        </p:nvSpPr>
        <p:spPr>
          <a:xfrm>
            <a:off x="1030147" y="1780674"/>
            <a:ext cx="9641711" cy="2246769"/>
          </a:xfrm>
          <a:prstGeom prst="rect">
            <a:avLst/>
          </a:prstGeom>
          <a:noFill/>
          <a:ln w="38100">
            <a:solidFill>
              <a:srgbClr val="166623"/>
            </a:solidFill>
          </a:ln>
        </p:spPr>
        <p:txBody>
          <a:bodyPr wrap="square">
            <a:spAutoFit/>
          </a:bodyPr>
          <a:lstStyle/>
          <a:p>
            <a:pPr algn="just"/>
            <a:r>
              <a:rPr lang="en-GB" sz="2000" b="1" i="0" dirty="0">
                <a:solidFill>
                  <a:srgbClr val="202122"/>
                </a:solidFill>
                <a:effectLst/>
                <a:latin typeface="Arial" panose="020B0604020202020204" pitchFamily="34" charset="0"/>
              </a:rPr>
              <a:t>Code review </a:t>
            </a:r>
            <a:r>
              <a:rPr lang="en-GB" sz="2000" i="0" dirty="0">
                <a:solidFill>
                  <a:srgbClr val="202122"/>
                </a:solidFill>
                <a:effectLst/>
                <a:latin typeface="Arial" panose="020B0604020202020204" pitchFamily="34" charset="0"/>
              </a:rPr>
              <a:t>(sometimes referred to as peer review) is a software quality assurance activity in which </a:t>
            </a:r>
            <a:r>
              <a:rPr lang="en-GB" sz="2000" b="1" i="0" dirty="0">
                <a:solidFill>
                  <a:srgbClr val="202122"/>
                </a:solidFill>
                <a:effectLst/>
                <a:latin typeface="Arial" panose="020B0604020202020204" pitchFamily="34" charset="0"/>
              </a:rPr>
              <a:t>one</a:t>
            </a:r>
            <a:r>
              <a:rPr lang="en-GB" sz="2000" i="0" dirty="0">
                <a:solidFill>
                  <a:srgbClr val="202122"/>
                </a:solidFill>
                <a:effectLst/>
                <a:latin typeface="Arial" panose="020B0604020202020204" pitchFamily="34" charset="0"/>
              </a:rPr>
              <a:t> or </a:t>
            </a:r>
            <a:r>
              <a:rPr lang="en-GB" sz="2000" b="1" i="0" dirty="0">
                <a:solidFill>
                  <a:srgbClr val="202122"/>
                </a:solidFill>
                <a:effectLst/>
                <a:latin typeface="Arial" panose="020B0604020202020204" pitchFamily="34" charset="0"/>
              </a:rPr>
              <a:t>several people </a:t>
            </a:r>
            <a:r>
              <a:rPr lang="en-GB" sz="2000" i="0" dirty="0">
                <a:solidFill>
                  <a:srgbClr val="202122"/>
                </a:solidFill>
                <a:effectLst/>
                <a:latin typeface="Arial" panose="020B0604020202020204" pitchFamily="34" charset="0"/>
              </a:rPr>
              <a:t>check a program mainly by viewing and reading parts of its source code, and they do so after implementation or as an interruption of implementation. </a:t>
            </a:r>
          </a:p>
          <a:p>
            <a:pPr marL="342900" indent="-342900" algn="just">
              <a:buFont typeface="Arial" panose="020B0604020202020204" pitchFamily="34" charset="0"/>
              <a:buChar char="•"/>
            </a:pPr>
            <a:r>
              <a:rPr lang="en-GB" sz="2000" i="0" dirty="0">
                <a:solidFill>
                  <a:srgbClr val="202122"/>
                </a:solidFill>
                <a:effectLst/>
                <a:latin typeface="Arial" panose="020B0604020202020204" pitchFamily="34" charset="0"/>
              </a:rPr>
              <a:t>At least one of the persons must not be the code's author. </a:t>
            </a:r>
          </a:p>
          <a:p>
            <a:pPr marL="342900" indent="-342900" algn="just">
              <a:buFont typeface="Arial" panose="020B0604020202020204" pitchFamily="34" charset="0"/>
              <a:buChar char="•"/>
            </a:pPr>
            <a:r>
              <a:rPr lang="en-GB" sz="2000" i="0" dirty="0">
                <a:solidFill>
                  <a:srgbClr val="202122"/>
                </a:solidFill>
                <a:effectLst/>
                <a:latin typeface="Arial" panose="020B0604020202020204" pitchFamily="34" charset="0"/>
              </a:rPr>
              <a:t>The persons performing the checking, excluding the </a:t>
            </a:r>
            <a:r>
              <a:rPr lang="en-GB" sz="2000" b="1" i="0" dirty="0">
                <a:solidFill>
                  <a:srgbClr val="202122"/>
                </a:solidFill>
                <a:effectLst/>
                <a:latin typeface="Arial" panose="020B0604020202020204" pitchFamily="34" charset="0"/>
              </a:rPr>
              <a:t>author</a:t>
            </a:r>
            <a:r>
              <a:rPr lang="en-GB" sz="2000" i="0" dirty="0">
                <a:solidFill>
                  <a:srgbClr val="202122"/>
                </a:solidFill>
                <a:effectLst/>
                <a:latin typeface="Arial" panose="020B0604020202020204" pitchFamily="34" charset="0"/>
              </a:rPr>
              <a:t>, are called "</a:t>
            </a:r>
            <a:r>
              <a:rPr lang="en-GB" sz="2000" b="1" i="0" dirty="0">
                <a:solidFill>
                  <a:srgbClr val="202122"/>
                </a:solidFill>
                <a:effectLst/>
                <a:latin typeface="Arial" panose="020B0604020202020204" pitchFamily="34" charset="0"/>
              </a:rPr>
              <a:t>reviewers</a:t>
            </a:r>
            <a:r>
              <a:rPr lang="en-GB" sz="2000" i="0" dirty="0">
                <a:solidFill>
                  <a:srgbClr val="202122"/>
                </a:solidFill>
                <a:effectLst/>
                <a:latin typeface="Arial" panose="020B0604020202020204" pitchFamily="34" charset="0"/>
              </a:rPr>
              <a:t>".</a:t>
            </a:r>
            <a:endParaRPr lang="en-BE" sz="2000" dirty="0"/>
          </a:p>
        </p:txBody>
      </p:sp>
    </p:spTree>
    <p:extLst>
      <p:ext uri="{BB962C8B-B14F-4D97-AF65-F5344CB8AC3E}">
        <p14:creationId xmlns:p14="http://schemas.microsoft.com/office/powerpoint/2010/main" val="211164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79459"/>
            <a:ext cx="10515600" cy="708301"/>
          </a:xfrm>
        </p:spPr>
        <p:txBody>
          <a:bodyPr>
            <a:normAutofit/>
          </a:bodyPr>
          <a:lstStyle/>
          <a:p>
            <a:r>
              <a:rPr lang="en-BE" sz="3600" dirty="0"/>
              <a:t>Why do we need to perform code reviews?</a:t>
            </a:r>
          </a:p>
        </p:txBody>
      </p:sp>
      <p:pic>
        <p:nvPicPr>
          <p:cNvPr id="7" name="Picture 6" descr="Diagram, text&#10;&#10;Description automatically generated">
            <a:extLst>
              <a:ext uri="{FF2B5EF4-FFF2-40B4-BE49-F238E27FC236}">
                <a16:creationId xmlns:a16="http://schemas.microsoft.com/office/drawing/2014/main" id="{0BEB0CAD-776F-E431-FFAA-EB2E8EF8598C}"/>
              </a:ext>
            </a:extLst>
          </p:cNvPr>
          <p:cNvPicPr>
            <a:picLocks noChangeAspect="1"/>
          </p:cNvPicPr>
          <p:nvPr/>
        </p:nvPicPr>
        <p:blipFill rotWithShape="1">
          <a:blip r:embed="rId3"/>
          <a:srcRect r="49604" b="64261"/>
          <a:stretch/>
        </p:blipFill>
        <p:spPr>
          <a:xfrm>
            <a:off x="1418816" y="893108"/>
            <a:ext cx="3044868" cy="1843866"/>
          </a:xfrm>
          <a:prstGeom prst="rect">
            <a:avLst/>
          </a:prstGeom>
        </p:spPr>
      </p:pic>
      <p:pic>
        <p:nvPicPr>
          <p:cNvPr id="9" name="Picture 8" descr="Diagram, text&#10;&#10;Description automatically generated">
            <a:extLst>
              <a:ext uri="{FF2B5EF4-FFF2-40B4-BE49-F238E27FC236}">
                <a16:creationId xmlns:a16="http://schemas.microsoft.com/office/drawing/2014/main" id="{08FE035C-0654-8182-2D78-DEBFB5DF267C}"/>
              </a:ext>
            </a:extLst>
          </p:cNvPr>
          <p:cNvPicPr>
            <a:picLocks noChangeAspect="1"/>
          </p:cNvPicPr>
          <p:nvPr/>
        </p:nvPicPr>
        <p:blipFill rotWithShape="1">
          <a:blip r:embed="rId3"/>
          <a:srcRect l="49604" b="64261"/>
          <a:stretch/>
        </p:blipFill>
        <p:spPr>
          <a:xfrm>
            <a:off x="4279534" y="893109"/>
            <a:ext cx="3044868" cy="1843866"/>
          </a:xfrm>
          <a:prstGeom prst="rect">
            <a:avLst/>
          </a:prstGeom>
        </p:spPr>
      </p:pic>
      <p:pic>
        <p:nvPicPr>
          <p:cNvPr id="10" name="Picture 9" descr="Diagram, text&#10;&#10;Description automatically generated">
            <a:extLst>
              <a:ext uri="{FF2B5EF4-FFF2-40B4-BE49-F238E27FC236}">
                <a16:creationId xmlns:a16="http://schemas.microsoft.com/office/drawing/2014/main" id="{BE06870F-60D8-4335-D8A7-5DDA4722457F}"/>
              </a:ext>
            </a:extLst>
          </p:cNvPr>
          <p:cNvPicPr>
            <a:picLocks noChangeAspect="1"/>
          </p:cNvPicPr>
          <p:nvPr/>
        </p:nvPicPr>
        <p:blipFill rotWithShape="1">
          <a:blip r:embed="rId3"/>
          <a:srcRect t="35739" r="53155" b="28522"/>
          <a:stretch/>
        </p:blipFill>
        <p:spPr>
          <a:xfrm>
            <a:off x="1442816" y="2741160"/>
            <a:ext cx="2830293" cy="1843866"/>
          </a:xfrm>
          <a:prstGeom prst="rect">
            <a:avLst/>
          </a:prstGeom>
        </p:spPr>
      </p:pic>
      <p:pic>
        <p:nvPicPr>
          <p:cNvPr id="11" name="Picture 10" descr="Diagram, text&#10;&#10;Description automatically generated">
            <a:extLst>
              <a:ext uri="{FF2B5EF4-FFF2-40B4-BE49-F238E27FC236}">
                <a16:creationId xmlns:a16="http://schemas.microsoft.com/office/drawing/2014/main" id="{D63497D8-6482-29AB-D614-8E4B10DF2C02}"/>
              </a:ext>
            </a:extLst>
          </p:cNvPr>
          <p:cNvPicPr>
            <a:picLocks noChangeAspect="1"/>
          </p:cNvPicPr>
          <p:nvPr/>
        </p:nvPicPr>
        <p:blipFill rotWithShape="1">
          <a:blip r:embed="rId3"/>
          <a:srcRect l="49604" t="35739" b="28522"/>
          <a:stretch/>
        </p:blipFill>
        <p:spPr>
          <a:xfrm>
            <a:off x="4301603" y="2741160"/>
            <a:ext cx="3044868" cy="1843866"/>
          </a:xfrm>
          <a:prstGeom prst="rect">
            <a:avLst/>
          </a:prstGeom>
        </p:spPr>
      </p:pic>
      <p:pic>
        <p:nvPicPr>
          <p:cNvPr id="12" name="Picture 11" descr="Diagram, text&#10;&#10;Description automatically generated">
            <a:extLst>
              <a:ext uri="{FF2B5EF4-FFF2-40B4-BE49-F238E27FC236}">
                <a16:creationId xmlns:a16="http://schemas.microsoft.com/office/drawing/2014/main" id="{2A312478-8B82-4D13-C515-EFF2649FEAFD}"/>
              </a:ext>
            </a:extLst>
          </p:cNvPr>
          <p:cNvPicPr>
            <a:picLocks noChangeAspect="1"/>
          </p:cNvPicPr>
          <p:nvPr/>
        </p:nvPicPr>
        <p:blipFill rotWithShape="1">
          <a:blip r:embed="rId3"/>
          <a:srcRect t="71478"/>
          <a:stretch/>
        </p:blipFill>
        <p:spPr>
          <a:xfrm>
            <a:off x="1408243" y="4589213"/>
            <a:ext cx="5909653" cy="1439347"/>
          </a:xfrm>
          <a:prstGeom prst="rect">
            <a:avLst/>
          </a:prstGeom>
        </p:spPr>
      </p:pic>
      <p:sp>
        <p:nvSpPr>
          <p:cNvPr id="2" name="TextBox 1">
            <a:extLst>
              <a:ext uri="{FF2B5EF4-FFF2-40B4-BE49-F238E27FC236}">
                <a16:creationId xmlns:a16="http://schemas.microsoft.com/office/drawing/2014/main" id="{24CDB1B2-E5CC-88BD-1385-E9D8C411AFF6}"/>
              </a:ext>
            </a:extLst>
          </p:cNvPr>
          <p:cNvSpPr txBox="1"/>
          <p:nvPr/>
        </p:nvSpPr>
        <p:spPr>
          <a:xfrm>
            <a:off x="7756395" y="4546425"/>
            <a:ext cx="4035488" cy="2031325"/>
          </a:xfrm>
          <a:prstGeom prst="rect">
            <a:avLst/>
          </a:prstGeom>
          <a:noFill/>
          <a:ln w="38100">
            <a:solidFill>
              <a:srgbClr val="166623"/>
            </a:solidFill>
          </a:ln>
        </p:spPr>
        <p:txBody>
          <a:bodyPr wrap="square" rtlCol="0">
            <a:spAutoFit/>
          </a:bodyPr>
          <a:lstStyle/>
          <a:p>
            <a:r>
              <a:rPr lang="en-BE" b="1" dirty="0"/>
              <a:t>Requirements</a:t>
            </a:r>
          </a:p>
          <a:p>
            <a:pPr marL="285750" indent="-285750">
              <a:buFont typeface="Arial" panose="020B0604020202020204" pitchFamily="34" charset="0"/>
              <a:buChar char="•"/>
            </a:pPr>
            <a:r>
              <a:rPr lang="en-GB" dirty="0"/>
              <a:t>Programming language Style Guide</a:t>
            </a:r>
          </a:p>
          <a:p>
            <a:pPr marL="285750" indent="-285750">
              <a:buFont typeface="Arial" panose="020B0604020202020204" pitchFamily="34" charset="0"/>
              <a:buChar char="•"/>
            </a:pPr>
            <a:r>
              <a:rPr lang="en-GB" dirty="0"/>
              <a:t>The code has passed all tests</a:t>
            </a:r>
          </a:p>
          <a:p>
            <a:pPr marL="285750" indent="-285750">
              <a:buFont typeface="Arial" panose="020B0604020202020204" pitchFamily="34" charset="0"/>
              <a:buChar char="•"/>
            </a:pPr>
            <a:r>
              <a:rPr lang="en-GB" dirty="0"/>
              <a:t>Test Coverage (&gt;90)</a:t>
            </a:r>
          </a:p>
          <a:p>
            <a:pPr marL="285750" indent="-285750">
              <a:buFont typeface="Arial" panose="020B0604020202020204" pitchFamily="34" charset="0"/>
              <a:buChar char="•"/>
            </a:pPr>
            <a:r>
              <a:rPr lang="en-GB" dirty="0"/>
              <a:t>Code is well Documented</a:t>
            </a:r>
          </a:p>
          <a:p>
            <a:pPr marL="285750" indent="-285750">
              <a:buFont typeface="Arial" panose="020B0604020202020204" pitchFamily="34" charset="0"/>
              <a:buChar char="•"/>
            </a:pPr>
            <a:r>
              <a:rPr lang="en-GB" dirty="0"/>
              <a:t>Passed CI</a:t>
            </a:r>
          </a:p>
          <a:p>
            <a:pPr marL="285750" indent="-285750">
              <a:buFont typeface="Arial" panose="020B0604020202020204" pitchFamily="34" charset="0"/>
              <a:buChar char="•"/>
            </a:pPr>
            <a:r>
              <a:rPr lang="en-BE" dirty="0"/>
              <a:t>Design Diagrams</a:t>
            </a:r>
          </a:p>
        </p:txBody>
      </p:sp>
      <p:grpSp>
        <p:nvGrpSpPr>
          <p:cNvPr id="18" name="Group 17">
            <a:extLst>
              <a:ext uri="{FF2B5EF4-FFF2-40B4-BE49-F238E27FC236}">
                <a16:creationId xmlns:a16="http://schemas.microsoft.com/office/drawing/2014/main" id="{1EA52319-5409-E3BE-F77C-408CA297E932}"/>
              </a:ext>
            </a:extLst>
          </p:cNvPr>
          <p:cNvGrpSpPr/>
          <p:nvPr/>
        </p:nvGrpSpPr>
        <p:grpSpPr>
          <a:xfrm>
            <a:off x="7950155" y="1235241"/>
            <a:ext cx="2015255" cy="870420"/>
            <a:chOff x="7950155" y="1235241"/>
            <a:chExt cx="2015255" cy="870420"/>
          </a:xfrm>
        </p:grpSpPr>
        <p:sp>
          <p:nvSpPr>
            <p:cNvPr id="3" name="TextBox 2">
              <a:extLst>
                <a:ext uri="{FF2B5EF4-FFF2-40B4-BE49-F238E27FC236}">
                  <a16:creationId xmlns:a16="http://schemas.microsoft.com/office/drawing/2014/main" id="{2149743D-AE59-27F6-37D5-9B4268390F07}"/>
                </a:ext>
              </a:extLst>
            </p:cNvPr>
            <p:cNvSpPr txBox="1"/>
            <p:nvPr/>
          </p:nvSpPr>
          <p:spPr>
            <a:xfrm>
              <a:off x="7950155" y="1235241"/>
              <a:ext cx="1643296" cy="369332"/>
            </a:xfrm>
            <a:prstGeom prst="rect">
              <a:avLst/>
            </a:prstGeom>
            <a:noFill/>
            <a:ln w="28575">
              <a:solidFill>
                <a:srgbClr val="1D15C5"/>
              </a:solidFill>
            </a:ln>
          </p:spPr>
          <p:txBody>
            <a:bodyPr wrap="square" rtlCol="0">
              <a:spAutoFit/>
            </a:bodyPr>
            <a:lstStyle/>
            <a:p>
              <a:r>
                <a:rPr lang="en-BE" dirty="0"/>
                <a:t>Unclear names</a:t>
              </a:r>
            </a:p>
          </p:txBody>
        </p:sp>
        <p:cxnSp>
          <p:nvCxnSpPr>
            <p:cNvPr id="13" name="Straight Connector 12">
              <a:extLst>
                <a:ext uri="{FF2B5EF4-FFF2-40B4-BE49-F238E27FC236}">
                  <a16:creationId xmlns:a16="http://schemas.microsoft.com/office/drawing/2014/main" id="{C489EE8C-8400-3C9A-D8C0-E119122B2D69}"/>
                </a:ext>
              </a:extLst>
            </p:cNvPr>
            <p:cNvCxnSpPr>
              <a:endCxn id="3" idx="2"/>
            </p:cNvCxnSpPr>
            <p:nvPr/>
          </p:nvCxnSpPr>
          <p:spPr>
            <a:xfrm flipH="1" flipV="1">
              <a:off x="8771803" y="1604573"/>
              <a:ext cx="1193607" cy="501088"/>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1E5D5146-EFFF-7F4D-D9C6-70F114E40A63}"/>
              </a:ext>
            </a:extLst>
          </p:cNvPr>
          <p:cNvGrpSpPr/>
          <p:nvPr/>
        </p:nvGrpSpPr>
        <p:grpSpPr>
          <a:xfrm>
            <a:off x="7543060" y="3075835"/>
            <a:ext cx="2254279" cy="1147419"/>
            <a:chOff x="7543060" y="3075835"/>
            <a:chExt cx="2254279" cy="1147419"/>
          </a:xfrm>
        </p:grpSpPr>
        <p:sp>
          <p:nvSpPr>
            <p:cNvPr id="6" name="TextBox 5">
              <a:extLst>
                <a:ext uri="{FF2B5EF4-FFF2-40B4-BE49-F238E27FC236}">
                  <a16:creationId xmlns:a16="http://schemas.microsoft.com/office/drawing/2014/main" id="{97BF1455-5965-3897-E900-903F90E2AC5E}"/>
                </a:ext>
              </a:extLst>
            </p:cNvPr>
            <p:cNvSpPr txBox="1"/>
            <p:nvPr/>
          </p:nvSpPr>
          <p:spPr>
            <a:xfrm>
              <a:off x="7543060" y="3576923"/>
              <a:ext cx="2254279" cy="646331"/>
            </a:xfrm>
            <a:prstGeom prst="rect">
              <a:avLst/>
            </a:prstGeom>
            <a:noFill/>
            <a:ln w="28575">
              <a:solidFill>
                <a:srgbClr val="1D15C5"/>
              </a:solidFill>
            </a:ln>
          </p:spPr>
          <p:txBody>
            <a:bodyPr wrap="square" rtlCol="0">
              <a:spAutoFit/>
            </a:bodyPr>
            <a:lstStyle/>
            <a:p>
              <a:r>
                <a:rPr lang="en-US" dirty="0"/>
                <a:t>Forgetting to handle a specific condition</a:t>
              </a:r>
              <a:endParaRPr lang="en-BE" dirty="0"/>
            </a:p>
          </p:txBody>
        </p:sp>
        <p:cxnSp>
          <p:nvCxnSpPr>
            <p:cNvPr id="14" name="Straight Connector 13">
              <a:extLst>
                <a:ext uri="{FF2B5EF4-FFF2-40B4-BE49-F238E27FC236}">
                  <a16:creationId xmlns:a16="http://schemas.microsoft.com/office/drawing/2014/main" id="{84FC2B88-D91C-0A94-6A7F-ECBB750D35F8}"/>
                </a:ext>
              </a:extLst>
            </p:cNvPr>
            <p:cNvCxnSpPr>
              <a:cxnSpLocks/>
              <a:endCxn id="6" idx="0"/>
            </p:cNvCxnSpPr>
            <p:nvPr/>
          </p:nvCxnSpPr>
          <p:spPr>
            <a:xfrm flipH="1">
              <a:off x="8670200" y="3075835"/>
              <a:ext cx="964640" cy="501088"/>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26B3BC62-CA33-C5B1-A7FE-8C1F9F0AC3AF}"/>
              </a:ext>
            </a:extLst>
          </p:cNvPr>
          <p:cNvGrpSpPr/>
          <p:nvPr/>
        </p:nvGrpSpPr>
        <p:grpSpPr>
          <a:xfrm>
            <a:off x="10153858" y="893108"/>
            <a:ext cx="1854745" cy="1291499"/>
            <a:chOff x="10153858" y="893108"/>
            <a:chExt cx="1854745" cy="1291499"/>
          </a:xfrm>
        </p:grpSpPr>
        <p:sp>
          <p:nvSpPr>
            <p:cNvPr id="5" name="TextBox 4">
              <a:extLst>
                <a:ext uri="{FF2B5EF4-FFF2-40B4-BE49-F238E27FC236}">
                  <a16:creationId xmlns:a16="http://schemas.microsoft.com/office/drawing/2014/main" id="{55E3484E-ED50-4D3B-D12E-5C401AAF1EC5}"/>
                </a:ext>
              </a:extLst>
            </p:cNvPr>
            <p:cNvSpPr txBox="1"/>
            <p:nvPr/>
          </p:nvSpPr>
          <p:spPr>
            <a:xfrm>
              <a:off x="10153858" y="893108"/>
              <a:ext cx="1854745" cy="646331"/>
            </a:xfrm>
            <a:prstGeom prst="rect">
              <a:avLst/>
            </a:prstGeom>
            <a:noFill/>
            <a:ln w="28575">
              <a:solidFill>
                <a:srgbClr val="1D15C5"/>
              </a:solidFill>
            </a:ln>
          </p:spPr>
          <p:txBody>
            <a:bodyPr wrap="square" rtlCol="0">
              <a:spAutoFit/>
            </a:bodyPr>
            <a:lstStyle/>
            <a:p>
              <a:r>
                <a:rPr lang="en-GB" dirty="0"/>
                <a:t>F</a:t>
              </a:r>
              <a:r>
                <a:rPr lang="en-BE" dirty="0"/>
                <a:t>orgetting to add tests</a:t>
              </a:r>
            </a:p>
          </p:txBody>
        </p:sp>
        <p:cxnSp>
          <p:nvCxnSpPr>
            <p:cNvPr id="16" name="Straight Connector 15">
              <a:extLst>
                <a:ext uri="{FF2B5EF4-FFF2-40B4-BE49-F238E27FC236}">
                  <a16:creationId xmlns:a16="http://schemas.microsoft.com/office/drawing/2014/main" id="{65DD166D-EF29-BC9F-D616-590CEF8C16C4}"/>
                </a:ext>
              </a:extLst>
            </p:cNvPr>
            <p:cNvCxnSpPr>
              <a:cxnSpLocks/>
            </p:cNvCxnSpPr>
            <p:nvPr/>
          </p:nvCxnSpPr>
          <p:spPr>
            <a:xfrm flipH="1">
              <a:off x="10810873" y="1536275"/>
              <a:ext cx="405772" cy="648332"/>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20AC7400-F301-1ACB-1F4A-D37B11857F81}"/>
              </a:ext>
            </a:extLst>
          </p:cNvPr>
          <p:cNvGrpSpPr/>
          <p:nvPr/>
        </p:nvGrpSpPr>
        <p:grpSpPr>
          <a:xfrm>
            <a:off x="9606764" y="1976387"/>
            <a:ext cx="1598729" cy="1549536"/>
            <a:chOff x="9606764" y="1976387"/>
            <a:chExt cx="1598729" cy="1549536"/>
          </a:xfrm>
        </p:grpSpPr>
        <p:pic>
          <p:nvPicPr>
            <p:cNvPr id="1026" name="Picture 2" descr="Browser Basic Miscellany Flat icon">
              <a:extLst>
                <a:ext uri="{FF2B5EF4-FFF2-40B4-BE49-F238E27FC236}">
                  <a16:creationId xmlns:a16="http://schemas.microsoft.com/office/drawing/2014/main" id="{77D67201-83C9-7BCC-5F65-EE97965BDD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32" t="21235" r="3973" b="2103"/>
            <a:stretch/>
          </p:blipFill>
          <p:spPr bwMode="auto">
            <a:xfrm>
              <a:off x="9606764" y="1976387"/>
              <a:ext cx="1474466" cy="1228722"/>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9FA14ECE-EBA3-54AF-819F-686A25430C3A}"/>
                </a:ext>
              </a:extLst>
            </p:cNvPr>
            <p:cNvSpPr txBox="1"/>
            <p:nvPr/>
          </p:nvSpPr>
          <p:spPr>
            <a:xfrm>
              <a:off x="9759103" y="3154109"/>
              <a:ext cx="1446390" cy="371814"/>
            </a:xfrm>
            <a:prstGeom prst="rect">
              <a:avLst/>
            </a:prstGeom>
            <a:noFill/>
          </p:spPr>
          <p:txBody>
            <a:bodyPr wrap="square" rtlCol="0">
              <a:spAutoFit/>
            </a:bodyPr>
            <a:lstStyle/>
            <a:p>
              <a:r>
                <a:rPr lang="en-BE" dirty="0"/>
                <a:t>Code issues</a:t>
              </a:r>
            </a:p>
          </p:txBody>
        </p:sp>
      </p:grpSp>
      <p:sp>
        <p:nvSpPr>
          <p:cNvPr id="15" name="TextBox 14">
            <a:extLst>
              <a:ext uri="{FF2B5EF4-FFF2-40B4-BE49-F238E27FC236}">
                <a16:creationId xmlns:a16="http://schemas.microsoft.com/office/drawing/2014/main" id="{90595C95-C62B-7194-AD4C-C23A70EB0B2D}"/>
              </a:ext>
            </a:extLst>
          </p:cNvPr>
          <p:cNvSpPr txBox="1"/>
          <p:nvPr/>
        </p:nvSpPr>
        <p:spPr>
          <a:xfrm>
            <a:off x="1053483" y="6043595"/>
            <a:ext cx="6439251" cy="646331"/>
          </a:xfrm>
          <a:prstGeom prst="rect">
            <a:avLst/>
          </a:prstGeom>
          <a:noFill/>
          <a:ln w="28575">
            <a:solidFill>
              <a:srgbClr val="1D15C5"/>
            </a:solidFill>
          </a:ln>
        </p:spPr>
        <p:txBody>
          <a:bodyPr wrap="square">
            <a:spAutoFit/>
          </a:bodyPr>
          <a:lstStyle/>
          <a:p>
            <a:r>
              <a:rPr lang="en-GB" b="0" i="0" dirty="0">
                <a:solidFill>
                  <a:srgbClr val="333333"/>
                </a:solidFill>
                <a:effectLst/>
                <a:latin typeface="OpenSans"/>
              </a:rPr>
              <a:t>One thing to always remember, code reviews are not about us being good or bad coders, they're about making our code better. </a:t>
            </a:r>
            <a:endParaRPr lang="en-US" dirty="0"/>
          </a:p>
        </p:txBody>
      </p:sp>
    </p:spTree>
    <p:extLst>
      <p:ext uri="{BB962C8B-B14F-4D97-AF65-F5344CB8AC3E}">
        <p14:creationId xmlns:p14="http://schemas.microsoft.com/office/powerpoint/2010/main" val="55746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9"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dissolv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dissolv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dissolv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dissolv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dissolv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dissolv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r>
              <a:rPr lang="en-GB" sz="3600" dirty="0">
                <a:solidFill>
                  <a:srgbClr val="1F1F1F"/>
                </a:solidFill>
                <a:latin typeface="Source Sans Pro" panose="020B0503030403020204" pitchFamily="34" charset="0"/>
              </a:rPr>
              <a:t>Code Reviews on GitHub</a:t>
            </a:r>
            <a:endParaRPr lang="en-GB" sz="3600" b="0" i="0" dirty="0">
              <a:solidFill>
                <a:srgbClr val="1F1F1F"/>
              </a:solidFill>
              <a:effectLst/>
              <a:latin typeface="OpenSans"/>
            </a:endParaRPr>
          </a:p>
        </p:txBody>
      </p:sp>
      <p:pic>
        <p:nvPicPr>
          <p:cNvPr id="12" name="Picture 11" descr="Graphical user interface, text, application, email&#10;&#10;Description automatically generated">
            <a:extLst>
              <a:ext uri="{FF2B5EF4-FFF2-40B4-BE49-F238E27FC236}">
                <a16:creationId xmlns:a16="http://schemas.microsoft.com/office/drawing/2014/main" id="{5802A047-058A-9130-B02A-5656FC1969E1}"/>
              </a:ext>
            </a:extLst>
          </p:cNvPr>
          <p:cNvPicPr>
            <a:picLocks noChangeAspect="1"/>
          </p:cNvPicPr>
          <p:nvPr/>
        </p:nvPicPr>
        <p:blipFill>
          <a:blip r:embed="rId3"/>
          <a:stretch>
            <a:fillRect/>
          </a:stretch>
        </p:blipFill>
        <p:spPr>
          <a:xfrm>
            <a:off x="390322" y="1169232"/>
            <a:ext cx="4993149" cy="5177228"/>
          </a:xfrm>
          <a:prstGeom prst="rect">
            <a:avLst/>
          </a:prstGeom>
          <a:ln>
            <a:solidFill>
              <a:schemeClr val="tx1"/>
            </a:solidFill>
          </a:ln>
        </p:spPr>
      </p:pic>
      <p:pic>
        <p:nvPicPr>
          <p:cNvPr id="19" name="Picture 18" descr="Text&#10;&#10;Description automatically generated">
            <a:extLst>
              <a:ext uri="{FF2B5EF4-FFF2-40B4-BE49-F238E27FC236}">
                <a16:creationId xmlns:a16="http://schemas.microsoft.com/office/drawing/2014/main" id="{7761A13D-5EEE-FDF3-34BD-D20E9B390090}"/>
              </a:ext>
            </a:extLst>
          </p:cNvPr>
          <p:cNvPicPr>
            <a:picLocks noChangeAspect="1"/>
          </p:cNvPicPr>
          <p:nvPr/>
        </p:nvPicPr>
        <p:blipFill>
          <a:blip r:embed="rId4"/>
          <a:stretch>
            <a:fillRect/>
          </a:stretch>
        </p:blipFill>
        <p:spPr>
          <a:xfrm>
            <a:off x="5648122" y="555760"/>
            <a:ext cx="5753561" cy="5177228"/>
          </a:xfrm>
          <a:prstGeom prst="rect">
            <a:avLst/>
          </a:prstGeom>
        </p:spPr>
      </p:pic>
      <p:grpSp>
        <p:nvGrpSpPr>
          <p:cNvPr id="21" name="Group 20">
            <a:extLst>
              <a:ext uri="{FF2B5EF4-FFF2-40B4-BE49-F238E27FC236}">
                <a16:creationId xmlns:a16="http://schemas.microsoft.com/office/drawing/2014/main" id="{CD31E053-7029-5D0F-D103-CEE742CE5ECB}"/>
              </a:ext>
            </a:extLst>
          </p:cNvPr>
          <p:cNvGrpSpPr/>
          <p:nvPr/>
        </p:nvGrpSpPr>
        <p:grpSpPr>
          <a:xfrm>
            <a:off x="3245371" y="4088567"/>
            <a:ext cx="727023" cy="2135582"/>
            <a:chOff x="2540833" y="3980405"/>
            <a:chExt cx="727023" cy="2135582"/>
          </a:xfrm>
        </p:grpSpPr>
        <p:sp>
          <p:nvSpPr>
            <p:cNvPr id="25" name="Left Arrow 24">
              <a:extLst>
                <a:ext uri="{FF2B5EF4-FFF2-40B4-BE49-F238E27FC236}">
                  <a16:creationId xmlns:a16="http://schemas.microsoft.com/office/drawing/2014/main" id="{6706BE51-6998-6EC9-97A8-D96CD7B1BCF7}"/>
                </a:ext>
              </a:extLst>
            </p:cNvPr>
            <p:cNvSpPr/>
            <p:nvPr/>
          </p:nvSpPr>
          <p:spPr>
            <a:xfrm>
              <a:off x="2593298" y="5876144"/>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3" name="Left Arrow 32">
              <a:extLst>
                <a:ext uri="{FF2B5EF4-FFF2-40B4-BE49-F238E27FC236}">
                  <a16:creationId xmlns:a16="http://schemas.microsoft.com/office/drawing/2014/main" id="{DFB9E5A2-3981-9964-BF25-7DFC1D9E1D30}"/>
                </a:ext>
              </a:extLst>
            </p:cNvPr>
            <p:cNvSpPr/>
            <p:nvPr/>
          </p:nvSpPr>
          <p:spPr>
            <a:xfrm>
              <a:off x="2540833" y="3980405"/>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37" name="Left Arrow 36">
            <a:extLst>
              <a:ext uri="{FF2B5EF4-FFF2-40B4-BE49-F238E27FC236}">
                <a16:creationId xmlns:a16="http://schemas.microsoft.com/office/drawing/2014/main" id="{2E4458E5-B411-B902-2336-FC45C4E4EA70}"/>
              </a:ext>
            </a:extLst>
          </p:cNvPr>
          <p:cNvSpPr/>
          <p:nvPr/>
        </p:nvSpPr>
        <p:spPr>
          <a:xfrm>
            <a:off x="9603699" y="555760"/>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8" name="Left Arrow 37">
            <a:extLst>
              <a:ext uri="{FF2B5EF4-FFF2-40B4-BE49-F238E27FC236}">
                <a16:creationId xmlns:a16="http://schemas.microsoft.com/office/drawing/2014/main" id="{AC6CA82E-873C-96A3-8AA9-0B14617F5CC5}"/>
              </a:ext>
            </a:extLst>
          </p:cNvPr>
          <p:cNvSpPr/>
          <p:nvPr/>
        </p:nvSpPr>
        <p:spPr>
          <a:xfrm>
            <a:off x="10231364" y="2366396"/>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9" name="Left Arrow 38">
            <a:extLst>
              <a:ext uri="{FF2B5EF4-FFF2-40B4-BE49-F238E27FC236}">
                <a16:creationId xmlns:a16="http://schemas.microsoft.com/office/drawing/2014/main" id="{8E1F6BFD-4C26-D37B-1EC2-021E6382B0B0}"/>
              </a:ext>
            </a:extLst>
          </p:cNvPr>
          <p:cNvSpPr/>
          <p:nvPr/>
        </p:nvSpPr>
        <p:spPr>
          <a:xfrm>
            <a:off x="9603699" y="3024818"/>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0" name="Rounded Rectangle 39">
            <a:extLst>
              <a:ext uri="{FF2B5EF4-FFF2-40B4-BE49-F238E27FC236}">
                <a16:creationId xmlns:a16="http://schemas.microsoft.com/office/drawing/2014/main" id="{8E53E995-1981-8D1A-8C59-DC86C818F5F9}"/>
              </a:ext>
            </a:extLst>
          </p:cNvPr>
          <p:cNvSpPr/>
          <p:nvPr/>
        </p:nvSpPr>
        <p:spPr>
          <a:xfrm>
            <a:off x="5648122" y="3379795"/>
            <a:ext cx="3955577" cy="51877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Left Arrow 41">
            <a:extLst>
              <a:ext uri="{FF2B5EF4-FFF2-40B4-BE49-F238E27FC236}">
                <a16:creationId xmlns:a16="http://schemas.microsoft.com/office/drawing/2014/main" id="{E9AD0FDF-95EA-BFF9-4AB8-4EB02C153D0D}"/>
              </a:ext>
            </a:extLst>
          </p:cNvPr>
          <p:cNvSpPr/>
          <p:nvPr/>
        </p:nvSpPr>
        <p:spPr>
          <a:xfrm>
            <a:off x="9266420" y="4164079"/>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60" name="Picture 59" descr="Text&#10;&#10;Description automatically generated">
            <a:extLst>
              <a:ext uri="{FF2B5EF4-FFF2-40B4-BE49-F238E27FC236}">
                <a16:creationId xmlns:a16="http://schemas.microsoft.com/office/drawing/2014/main" id="{C66A2871-76EC-50E4-4072-02BB1AA57C5E}"/>
              </a:ext>
            </a:extLst>
          </p:cNvPr>
          <p:cNvPicPr>
            <a:picLocks noChangeAspect="1"/>
          </p:cNvPicPr>
          <p:nvPr/>
        </p:nvPicPr>
        <p:blipFill>
          <a:blip r:embed="rId5"/>
          <a:stretch>
            <a:fillRect/>
          </a:stretch>
        </p:blipFill>
        <p:spPr>
          <a:xfrm>
            <a:off x="6096000" y="5802346"/>
            <a:ext cx="3955577" cy="843606"/>
          </a:xfrm>
          <a:prstGeom prst="rect">
            <a:avLst/>
          </a:prstGeom>
        </p:spPr>
      </p:pic>
      <p:sp>
        <p:nvSpPr>
          <p:cNvPr id="62" name="Rounded Rectangle 61">
            <a:extLst>
              <a:ext uri="{FF2B5EF4-FFF2-40B4-BE49-F238E27FC236}">
                <a16:creationId xmlns:a16="http://schemas.microsoft.com/office/drawing/2014/main" id="{A0144150-60B4-61CB-CDF4-2985B765B959}"/>
              </a:ext>
            </a:extLst>
          </p:cNvPr>
          <p:cNvSpPr/>
          <p:nvPr/>
        </p:nvSpPr>
        <p:spPr>
          <a:xfrm>
            <a:off x="6119150" y="6151567"/>
            <a:ext cx="3507699" cy="15067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289111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37"/>
                                        </p:tgtEl>
                                        <p:attrNameLst>
                                          <p:attrName>style.visibility</p:attrName>
                                        </p:attrNameLst>
                                      </p:cBhvr>
                                      <p:to>
                                        <p:strVal val="hidden"/>
                                      </p:to>
                                    </p:set>
                                  </p:childTnLst>
                                </p:cTn>
                              </p:par>
                              <p:par>
                                <p:cTn id="22" presetID="9" presetClass="entr" presetSubtype="0"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dissolve">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38"/>
                                        </p:tgtEl>
                                        <p:attrNameLst>
                                          <p:attrName>style.visibility</p:attrName>
                                        </p:attrNameLst>
                                      </p:cBhvr>
                                      <p:to>
                                        <p:strVal val="hidden"/>
                                      </p:to>
                                    </p:set>
                                  </p:childTnLst>
                                </p:cTn>
                              </p:par>
                              <p:par>
                                <p:cTn id="29" presetID="9"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39"/>
                                        </p:tgtEl>
                                        <p:attrNameLst>
                                          <p:attrName>style.visibility</p:attrName>
                                        </p:attrNameLst>
                                      </p:cBhvr>
                                      <p:to>
                                        <p:strVal val="hidden"/>
                                      </p:to>
                                    </p:set>
                                  </p:childTnLst>
                                </p:cTn>
                              </p:par>
                              <p:par>
                                <p:cTn id="36" presetID="9" presetClass="entr" presetSubtype="0"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dissolve">
                                      <p:cBhvr>
                                        <p:cTn id="38" dur="500"/>
                                        <p:tgtEl>
                                          <p:spTgt spid="40"/>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40"/>
                                        </p:tgtEl>
                                        <p:attrNameLst>
                                          <p:attrName>style.visibility</p:attrName>
                                        </p:attrNameLst>
                                      </p:cBhvr>
                                      <p:to>
                                        <p:strVal val="hidden"/>
                                      </p:to>
                                    </p:set>
                                  </p:childTnLst>
                                </p:cTn>
                              </p:par>
                              <p:par>
                                <p:cTn id="43" presetID="9"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dissolve">
                                      <p:cBhvr>
                                        <p:cTn id="45" dur="500"/>
                                        <p:tgtEl>
                                          <p:spTgt spid="42"/>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42"/>
                                        </p:tgtEl>
                                        <p:attrNameLst>
                                          <p:attrName>style.visibility</p:attrName>
                                        </p:attrNameLst>
                                      </p:cBhvr>
                                      <p:to>
                                        <p:strVal val="hidden"/>
                                      </p:to>
                                    </p:set>
                                  </p:childTnLst>
                                </p:cTn>
                              </p:par>
                              <p:par>
                                <p:cTn id="50" presetID="1" presetClass="entr" presetSubtype="0" fill="hold" nodeType="withEffect">
                                  <p:stCondLst>
                                    <p:cond delay="0"/>
                                  </p:stCondLst>
                                  <p:childTnLst>
                                    <p:set>
                                      <p:cBhvr>
                                        <p:cTn id="51" dur="1" fill="hold">
                                          <p:stCondLst>
                                            <p:cond delay="0"/>
                                          </p:stCondLst>
                                        </p:cTn>
                                        <p:tgtEl>
                                          <p:spTgt spid="6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dissolve">
                                      <p:cBhvr>
                                        <p:cTn id="56" dur="500"/>
                                        <p:tgtEl>
                                          <p:spTgt spid="62"/>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7" grpId="1" animBg="1"/>
      <p:bldP spid="38" grpId="0" animBg="1"/>
      <p:bldP spid="38" grpId="1" animBg="1"/>
      <p:bldP spid="39" grpId="0" animBg="1"/>
      <p:bldP spid="39" grpId="1" animBg="1"/>
      <p:bldP spid="40" grpId="0" animBg="1"/>
      <p:bldP spid="40" grpId="1" animBg="1"/>
      <p:bldP spid="42" grpId="0" animBg="1"/>
      <p:bldP spid="42" grpId="1" animBg="1"/>
      <p:bldP spid="62" grpId="0" animBg="1"/>
      <p:bldP spid="6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r>
              <a:rPr lang="en-GB" sz="3600" dirty="0">
                <a:solidFill>
                  <a:srgbClr val="1F1F1F"/>
                </a:solidFill>
                <a:latin typeface="Source Sans Pro" panose="020B0503030403020204" pitchFamily="34" charset="0"/>
              </a:rPr>
              <a:t>Code Reviews on GitHub</a:t>
            </a:r>
            <a:endParaRPr lang="en-GB" sz="3600" b="0" i="0" dirty="0">
              <a:solidFill>
                <a:srgbClr val="1F1F1F"/>
              </a:solidFill>
              <a:effectLst/>
              <a:latin typeface="OpenSans"/>
            </a:endParaRPr>
          </a:p>
        </p:txBody>
      </p:sp>
      <p:pic>
        <p:nvPicPr>
          <p:cNvPr id="3" name="Picture 2" descr="Graphical user interface, text, application, email&#10;&#10;Description automatically generated">
            <a:extLst>
              <a:ext uri="{FF2B5EF4-FFF2-40B4-BE49-F238E27FC236}">
                <a16:creationId xmlns:a16="http://schemas.microsoft.com/office/drawing/2014/main" id="{039E8DC7-17BF-8BC5-679E-AF51F19FC6F5}"/>
              </a:ext>
            </a:extLst>
          </p:cNvPr>
          <p:cNvPicPr>
            <a:picLocks noChangeAspect="1"/>
          </p:cNvPicPr>
          <p:nvPr/>
        </p:nvPicPr>
        <p:blipFill>
          <a:blip r:embed="rId3"/>
          <a:stretch>
            <a:fillRect/>
          </a:stretch>
        </p:blipFill>
        <p:spPr>
          <a:xfrm>
            <a:off x="390322" y="1284659"/>
            <a:ext cx="6055448" cy="4951249"/>
          </a:xfrm>
          <a:prstGeom prst="rect">
            <a:avLst/>
          </a:prstGeom>
          <a:ln>
            <a:solidFill>
              <a:schemeClr val="tx1"/>
            </a:solidFill>
          </a:ln>
        </p:spPr>
      </p:pic>
      <p:grpSp>
        <p:nvGrpSpPr>
          <p:cNvPr id="8" name="Group 7">
            <a:extLst>
              <a:ext uri="{FF2B5EF4-FFF2-40B4-BE49-F238E27FC236}">
                <a16:creationId xmlns:a16="http://schemas.microsoft.com/office/drawing/2014/main" id="{649974CE-FD59-363D-ADF6-863E87F2D154}"/>
              </a:ext>
            </a:extLst>
          </p:cNvPr>
          <p:cNvGrpSpPr/>
          <p:nvPr/>
        </p:nvGrpSpPr>
        <p:grpSpPr>
          <a:xfrm>
            <a:off x="1668112" y="2956585"/>
            <a:ext cx="3545491" cy="2788946"/>
            <a:chOff x="1668112" y="2956585"/>
            <a:chExt cx="3545491" cy="2788946"/>
          </a:xfrm>
        </p:grpSpPr>
        <p:sp>
          <p:nvSpPr>
            <p:cNvPr id="5" name="TextBox 4">
              <a:extLst>
                <a:ext uri="{FF2B5EF4-FFF2-40B4-BE49-F238E27FC236}">
                  <a16:creationId xmlns:a16="http://schemas.microsoft.com/office/drawing/2014/main" id="{7EAEB97F-C5E0-CEBB-E0AC-3CF2F5BA9924}"/>
                </a:ext>
              </a:extLst>
            </p:cNvPr>
            <p:cNvSpPr txBox="1"/>
            <p:nvPr/>
          </p:nvSpPr>
          <p:spPr>
            <a:xfrm>
              <a:off x="1668112" y="2956585"/>
              <a:ext cx="3499868" cy="215444"/>
            </a:xfrm>
            <a:prstGeom prst="rect">
              <a:avLst/>
            </a:prstGeom>
            <a:noFill/>
          </p:spPr>
          <p:txBody>
            <a:bodyPr wrap="square" rtlCol="0">
              <a:spAutoFit/>
            </a:bodyPr>
            <a:lstStyle/>
            <a:p>
              <a:r>
                <a:rPr lang="en-BE" sz="800" dirty="0">
                  <a:solidFill>
                    <a:schemeClr val="tx1">
                      <a:lumMod val="75000"/>
                      <a:lumOff val="25000"/>
                    </a:schemeClr>
                  </a:solidFill>
                </a:rPr>
                <a:t>The comment has been resolved. Please take another look.</a:t>
              </a:r>
            </a:p>
          </p:txBody>
        </p:sp>
        <p:sp>
          <p:nvSpPr>
            <p:cNvPr id="6" name="TextBox 5">
              <a:extLst>
                <a:ext uri="{FF2B5EF4-FFF2-40B4-BE49-F238E27FC236}">
                  <a16:creationId xmlns:a16="http://schemas.microsoft.com/office/drawing/2014/main" id="{D81B9C7B-8065-FCA4-D807-097DAA0D608C}"/>
                </a:ext>
              </a:extLst>
            </p:cNvPr>
            <p:cNvSpPr txBox="1"/>
            <p:nvPr/>
          </p:nvSpPr>
          <p:spPr>
            <a:xfrm>
              <a:off x="1713735" y="5530087"/>
              <a:ext cx="3499868" cy="215444"/>
            </a:xfrm>
            <a:prstGeom prst="rect">
              <a:avLst/>
            </a:prstGeom>
            <a:noFill/>
          </p:spPr>
          <p:txBody>
            <a:bodyPr wrap="square" rtlCol="0">
              <a:spAutoFit/>
            </a:bodyPr>
            <a:lstStyle/>
            <a:p>
              <a:r>
                <a:rPr lang="en-BE" sz="800" dirty="0">
                  <a:solidFill>
                    <a:schemeClr val="tx1">
                      <a:lumMod val="75000"/>
                      <a:lumOff val="25000"/>
                    </a:schemeClr>
                  </a:solidFill>
                </a:rPr>
                <a:t>The comment has been resolved. Please take another look.</a:t>
              </a:r>
            </a:p>
          </p:txBody>
        </p:sp>
      </p:grpSp>
      <p:grpSp>
        <p:nvGrpSpPr>
          <p:cNvPr id="11" name="Group 10">
            <a:extLst>
              <a:ext uri="{FF2B5EF4-FFF2-40B4-BE49-F238E27FC236}">
                <a16:creationId xmlns:a16="http://schemas.microsoft.com/office/drawing/2014/main" id="{B07831B7-7E70-0715-ECC6-F26B148CD1C0}"/>
              </a:ext>
            </a:extLst>
          </p:cNvPr>
          <p:cNvGrpSpPr/>
          <p:nvPr/>
        </p:nvGrpSpPr>
        <p:grpSpPr>
          <a:xfrm>
            <a:off x="2593298" y="3320838"/>
            <a:ext cx="674558" cy="2795149"/>
            <a:chOff x="2593298" y="3320838"/>
            <a:chExt cx="674558" cy="2795149"/>
          </a:xfrm>
        </p:grpSpPr>
        <p:sp>
          <p:nvSpPr>
            <p:cNvPr id="9" name="Left Arrow 8">
              <a:extLst>
                <a:ext uri="{FF2B5EF4-FFF2-40B4-BE49-F238E27FC236}">
                  <a16:creationId xmlns:a16="http://schemas.microsoft.com/office/drawing/2014/main" id="{09C2BC88-8AC6-B7D1-7B63-98D2506A7F58}"/>
                </a:ext>
              </a:extLst>
            </p:cNvPr>
            <p:cNvSpPr/>
            <p:nvPr/>
          </p:nvSpPr>
          <p:spPr>
            <a:xfrm>
              <a:off x="2593298" y="5876144"/>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Left Arrow 9">
              <a:extLst>
                <a:ext uri="{FF2B5EF4-FFF2-40B4-BE49-F238E27FC236}">
                  <a16:creationId xmlns:a16="http://schemas.microsoft.com/office/drawing/2014/main" id="{FC064FD6-48BE-F3AC-E7D5-BA830D067475}"/>
                </a:ext>
              </a:extLst>
            </p:cNvPr>
            <p:cNvSpPr/>
            <p:nvPr/>
          </p:nvSpPr>
          <p:spPr>
            <a:xfrm>
              <a:off x="2593298" y="3320838"/>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3" name="Left Arrow 12">
            <a:extLst>
              <a:ext uri="{FF2B5EF4-FFF2-40B4-BE49-F238E27FC236}">
                <a16:creationId xmlns:a16="http://schemas.microsoft.com/office/drawing/2014/main" id="{10C1BEF6-25F1-6918-B60C-A22133BD8C15}"/>
              </a:ext>
            </a:extLst>
          </p:cNvPr>
          <p:cNvSpPr/>
          <p:nvPr/>
        </p:nvSpPr>
        <p:spPr>
          <a:xfrm>
            <a:off x="2256019" y="1705289"/>
            <a:ext cx="674558" cy="198929"/>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5" name="Picture 14" descr="Graphical user interface, text, application, Word, email&#10;&#10;Description automatically generated">
            <a:extLst>
              <a:ext uri="{FF2B5EF4-FFF2-40B4-BE49-F238E27FC236}">
                <a16:creationId xmlns:a16="http://schemas.microsoft.com/office/drawing/2014/main" id="{6BE231CD-45B5-801E-312F-762E408B25A4}"/>
              </a:ext>
            </a:extLst>
          </p:cNvPr>
          <p:cNvPicPr>
            <a:picLocks noChangeAspect="1"/>
          </p:cNvPicPr>
          <p:nvPr/>
        </p:nvPicPr>
        <p:blipFill>
          <a:blip r:embed="rId4"/>
          <a:stretch>
            <a:fillRect/>
          </a:stretch>
        </p:blipFill>
        <p:spPr>
          <a:xfrm>
            <a:off x="6537016" y="1567271"/>
            <a:ext cx="5290601" cy="2053653"/>
          </a:xfrm>
          <a:prstGeom prst="rect">
            <a:avLst/>
          </a:prstGeom>
          <a:ln>
            <a:solidFill>
              <a:schemeClr val="tx1"/>
            </a:solidFill>
          </a:ln>
        </p:spPr>
      </p:pic>
    </p:spTree>
    <p:extLst>
      <p:ext uri="{BB962C8B-B14F-4D97-AF65-F5344CB8AC3E}">
        <p14:creationId xmlns:p14="http://schemas.microsoft.com/office/powerpoint/2010/main" val="362846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Code Reviews on GitHub</a:t>
            </a:r>
            <a:endParaRPr sz="3600" b="0" i="0">
              <a:solidFill>
                <a:srgbClr val="1F1F1F"/>
              </a:solidFill>
              <a:latin typeface="OpenSans"/>
              <a:ea typeface="OpenSans"/>
              <a:cs typeface="OpenSans"/>
            </a:endParaRPr>
          </a:p>
        </p:txBody>
      </p:sp>
      <p:pic>
        <p:nvPicPr>
          <p:cNvPr id="24" name="Picture 16"/>
          <p:cNvPicPr>
            <a:picLocks noChangeAspect="1"/>
          </p:cNvPicPr>
          <p:nvPr/>
        </p:nvPicPr>
        <p:blipFill>
          <a:blip r:embed="rId3"/>
          <a:stretch>
            <a:fillRect/>
          </a:stretch>
        </p:blipFill>
        <p:spPr>
          <a:xfrm>
            <a:off x="211666" y="935390"/>
            <a:ext cx="5718079" cy="5146271"/>
          </a:xfrm>
          <a:prstGeom prst="rect">
            <a:avLst/>
          </a:prstGeom>
          <a:ln>
            <a:solidFill>
              <a:schemeClr val="tx1"/>
            </a:solidFill>
          </a:ln>
        </p:spPr>
      </p:pic>
      <p:pic>
        <p:nvPicPr>
          <p:cNvPr id="25" name="Picture 17"/>
          <p:cNvPicPr>
            <a:picLocks noChangeAspect="1"/>
          </p:cNvPicPr>
          <p:nvPr/>
        </p:nvPicPr>
        <p:blipFill>
          <a:blip r:embed="rId4"/>
          <a:stretch>
            <a:fillRect/>
          </a:stretch>
        </p:blipFill>
        <p:spPr>
          <a:xfrm>
            <a:off x="6055871" y="1619697"/>
            <a:ext cx="5924462" cy="2869176"/>
          </a:xfrm>
          <a:prstGeom prst="rect">
            <a:avLst/>
          </a:prstGeom>
          <a:ln>
            <a:solidFill>
              <a:schemeClr val="tx1"/>
            </a:solidFill>
          </a:ln>
        </p:spPr>
      </p:pic>
      <p:sp>
        <p:nvSpPr>
          <p:cNvPr id="20" name="TextBox 19">
            <a:extLst>
              <a:ext uri="{FF2B5EF4-FFF2-40B4-BE49-F238E27FC236}">
                <a16:creationId xmlns:a16="http://schemas.microsoft.com/office/drawing/2014/main" id="{DDAF2E20-B959-3AE3-34EA-022564FEF992}"/>
              </a:ext>
            </a:extLst>
          </p:cNvPr>
          <p:cNvSpPr>
            <a:spLocks noGrp="1"/>
          </p:cNvSpPr>
          <p:nvPr/>
        </p:nvSpPr>
        <p:spPr>
          <a:xfrm>
            <a:off x="2825262" y="5134708"/>
            <a:ext cx="1242646" cy="646331"/>
          </a:xfrm>
          <a:prstGeom prst="rect">
            <a:avLst/>
          </a:prstGeom>
          <a:noFill/>
          <a:ln w="28575">
            <a:solidFill>
              <a:srgbClr val="C00000"/>
            </a:solidFill>
          </a:ln>
        </p:spPr>
        <p:txBody>
          <a:bodyPr wrap="square">
            <a:spAutoFit/>
          </a:bodyPr>
          <a:lstStyle/>
          <a:p>
            <a:pPr algn="ctr">
              <a:buNone/>
            </a:pPr>
            <a:r>
              <a:t>Markdown Language</a:t>
            </a:r>
          </a:p>
        </p:txBody>
      </p:sp>
    </p:spTree>
    <p:extLst>
      <p:ext uri="{BB962C8B-B14F-4D97-AF65-F5344CB8AC3E}">
        <p14:creationId xmlns:p14="http://schemas.microsoft.com/office/powerpoint/2010/main" val="771907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r>
              <a:rPr lang="en-GB" sz="3600" dirty="0">
                <a:solidFill>
                  <a:srgbClr val="1F1F1F"/>
                </a:solidFill>
                <a:latin typeface="Source Sans Pro" panose="020B0503030403020204" pitchFamily="34" charset="0"/>
              </a:rPr>
              <a:t>Merging PRs – Branch Protection Rules</a:t>
            </a:r>
            <a:endParaRPr lang="en-GB" sz="3600" b="0" i="0" dirty="0">
              <a:solidFill>
                <a:srgbClr val="1F1F1F"/>
              </a:solidFill>
              <a:effectLst/>
              <a:latin typeface="OpenSans"/>
            </a:endParaRPr>
          </a:p>
        </p:txBody>
      </p:sp>
      <p:pic>
        <p:nvPicPr>
          <p:cNvPr id="14" name="Picture 13" descr="Graphical user interface, text, application, email&#10;&#10;Description automatically generated">
            <a:extLst>
              <a:ext uri="{FF2B5EF4-FFF2-40B4-BE49-F238E27FC236}">
                <a16:creationId xmlns:a16="http://schemas.microsoft.com/office/drawing/2014/main" id="{2A4D5EFE-9E60-2452-AB35-C4FDDA9BF61F}"/>
              </a:ext>
            </a:extLst>
          </p:cNvPr>
          <p:cNvPicPr>
            <a:picLocks noChangeAspect="1"/>
          </p:cNvPicPr>
          <p:nvPr/>
        </p:nvPicPr>
        <p:blipFill>
          <a:blip r:embed="rId3"/>
          <a:stretch>
            <a:fillRect/>
          </a:stretch>
        </p:blipFill>
        <p:spPr>
          <a:xfrm>
            <a:off x="237440" y="1761306"/>
            <a:ext cx="5410682" cy="3756972"/>
          </a:xfrm>
          <a:prstGeom prst="rect">
            <a:avLst/>
          </a:prstGeom>
        </p:spPr>
      </p:pic>
      <p:grpSp>
        <p:nvGrpSpPr>
          <p:cNvPr id="22" name="Group 21">
            <a:extLst>
              <a:ext uri="{FF2B5EF4-FFF2-40B4-BE49-F238E27FC236}">
                <a16:creationId xmlns:a16="http://schemas.microsoft.com/office/drawing/2014/main" id="{E948BA69-A304-68E4-E8FB-F2721B530DF6}"/>
              </a:ext>
            </a:extLst>
          </p:cNvPr>
          <p:cNvGrpSpPr/>
          <p:nvPr/>
        </p:nvGrpSpPr>
        <p:grpSpPr>
          <a:xfrm>
            <a:off x="5800725" y="1128713"/>
            <a:ext cx="5105197" cy="5085575"/>
            <a:chOff x="5800725" y="1128713"/>
            <a:chExt cx="5105197" cy="5085575"/>
          </a:xfrm>
        </p:grpSpPr>
        <p:grpSp>
          <p:nvGrpSpPr>
            <p:cNvPr id="20" name="Group 19">
              <a:extLst>
                <a:ext uri="{FF2B5EF4-FFF2-40B4-BE49-F238E27FC236}">
                  <a16:creationId xmlns:a16="http://schemas.microsoft.com/office/drawing/2014/main" id="{F95B4190-F46D-D0C9-E5FC-C82F1EE5CFE3}"/>
                </a:ext>
              </a:extLst>
            </p:cNvPr>
            <p:cNvGrpSpPr/>
            <p:nvPr/>
          </p:nvGrpSpPr>
          <p:grpSpPr>
            <a:xfrm>
              <a:off x="6572047" y="1128713"/>
              <a:ext cx="4333875" cy="5085575"/>
              <a:chOff x="6096000" y="0"/>
              <a:chExt cx="4976323" cy="5586412"/>
            </a:xfrm>
          </p:grpSpPr>
          <p:pic>
            <p:nvPicPr>
              <p:cNvPr id="17" name="Picture 16" descr="Graphical user interface, text, application, email, Teams&#10;&#10;Description automatically generated">
                <a:extLst>
                  <a:ext uri="{FF2B5EF4-FFF2-40B4-BE49-F238E27FC236}">
                    <a16:creationId xmlns:a16="http://schemas.microsoft.com/office/drawing/2014/main" id="{8F52CB29-DCFF-AB0F-9682-3DD2E7D9E742}"/>
                  </a:ext>
                </a:extLst>
              </p:cNvPr>
              <p:cNvPicPr>
                <a:picLocks noChangeAspect="1"/>
              </p:cNvPicPr>
              <p:nvPr/>
            </p:nvPicPr>
            <p:blipFill>
              <a:blip r:embed="rId4"/>
              <a:stretch>
                <a:fillRect/>
              </a:stretch>
            </p:blipFill>
            <p:spPr>
              <a:xfrm>
                <a:off x="6110287" y="4057304"/>
                <a:ext cx="4933537" cy="1529108"/>
              </a:xfrm>
              <a:prstGeom prst="rect">
                <a:avLst/>
              </a:prstGeom>
            </p:spPr>
          </p:pic>
          <p:pic>
            <p:nvPicPr>
              <p:cNvPr id="19" name="Picture 18" descr="Graphical user interface, text, application, email&#10;&#10;Description automatically generated">
                <a:extLst>
                  <a:ext uri="{FF2B5EF4-FFF2-40B4-BE49-F238E27FC236}">
                    <a16:creationId xmlns:a16="http://schemas.microsoft.com/office/drawing/2014/main" id="{DCF0BCB8-B3B8-18F4-0C8E-A3E0C0457240}"/>
                  </a:ext>
                </a:extLst>
              </p:cNvPr>
              <p:cNvPicPr>
                <a:picLocks noChangeAspect="1"/>
              </p:cNvPicPr>
              <p:nvPr/>
            </p:nvPicPr>
            <p:blipFill>
              <a:blip r:embed="rId5"/>
              <a:stretch>
                <a:fillRect/>
              </a:stretch>
            </p:blipFill>
            <p:spPr>
              <a:xfrm>
                <a:off x="6096000" y="0"/>
                <a:ext cx="4976323" cy="4064189"/>
              </a:xfrm>
              <a:prstGeom prst="rect">
                <a:avLst/>
              </a:prstGeom>
            </p:spPr>
          </p:pic>
        </p:grpSp>
        <p:sp>
          <p:nvSpPr>
            <p:cNvPr id="21" name="Right Arrow 20">
              <a:extLst>
                <a:ext uri="{FF2B5EF4-FFF2-40B4-BE49-F238E27FC236}">
                  <a16:creationId xmlns:a16="http://schemas.microsoft.com/office/drawing/2014/main" id="{D18A42FE-AF40-BCFA-2129-9077AA3FE355}"/>
                </a:ext>
              </a:extLst>
            </p:cNvPr>
            <p:cNvSpPr/>
            <p:nvPr/>
          </p:nvSpPr>
          <p:spPr>
            <a:xfrm>
              <a:off x="5800725" y="2978624"/>
              <a:ext cx="600075" cy="450376"/>
            </a:xfrm>
            <a:prstGeom prst="rightArrow">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BE" dirty="0"/>
            </a:p>
          </p:txBody>
        </p:sp>
      </p:grpSp>
      <p:sp>
        <p:nvSpPr>
          <p:cNvPr id="23" name="Rounded Rectangle 22">
            <a:extLst>
              <a:ext uri="{FF2B5EF4-FFF2-40B4-BE49-F238E27FC236}">
                <a16:creationId xmlns:a16="http://schemas.microsoft.com/office/drawing/2014/main" id="{544EE947-573A-2A63-9449-E3650C742044}"/>
              </a:ext>
            </a:extLst>
          </p:cNvPr>
          <p:cNvSpPr/>
          <p:nvPr/>
        </p:nvSpPr>
        <p:spPr>
          <a:xfrm>
            <a:off x="4714875" y="3771900"/>
            <a:ext cx="828675" cy="38576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24" name="Group 23">
            <a:extLst>
              <a:ext uri="{FF2B5EF4-FFF2-40B4-BE49-F238E27FC236}">
                <a16:creationId xmlns:a16="http://schemas.microsoft.com/office/drawing/2014/main" id="{19329CF5-208A-92E9-97D2-D12F9A082DB9}"/>
              </a:ext>
            </a:extLst>
          </p:cNvPr>
          <p:cNvGrpSpPr/>
          <p:nvPr/>
        </p:nvGrpSpPr>
        <p:grpSpPr>
          <a:xfrm>
            <a:off x="3584391" y="5630422"/>
            <a:ext cx="2859490" cy="1173367"/>
            <a:chOff x="9690017" y="4848329"/>
            <a:chExt cx="2859490" cy="1173367"/>
          </a:xfrm>
        </p:grpSpPr>
        <p:grpSp>
          <p:nvGrpSpPr>
            <p:cNvPr id="25" name="Group 24">
              <a:extLst>
                <a:ext uri="{FF2B5EF4-FFF2-40B4-BE49-F238E27FC236}">
                  <a16:creationId xmlns:a16="http://schemas.microsoft.com/office/drawing/2014/main" id="{C8D84698-F49F-0170-4F7B-B368857248D0}"/>
                </a:ext>
              </a:extLst>
            </p:cNvPr>
            <p:cNvGrpSpPr/>
            <p:nvPr/>
          </p:nvGrpSpPr>
          <p:grpSpPr>
            <a:xfrm>
              <a:off x="9690017" y="4848329"/>
              <a:ext cx="965366" cy="1173367"/>
              <a:chOff x="9406839" y="4961499"/>
              <a:chExt cx="965366" cy="1173367"/>
            </a:xfrm>
          </p:grpSpPr>
          <p:pic>
            <p:nvPicPr>
              <p:cNvPr id="27" name="Picture 2" descr="Subway - Free transport icons">
                <a:extLst>
                  <a:ext uri="{FF2B5EF4-FFF2-40B4-BE49-F238E27FC236}">
                    <a16:creationId xmlns:a16="http://schemas.microsoft.com/office/drawing/2014/main" id="{063ECB46-F310-6EBE-739F-72F6BB7BB9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06839" y="4961499"/>
                <a:ext cx="965366" cy="810356"/>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1C72C42-9DB2-76DF-4568-5477B5E39026}"/>
                  </a:ext>
                </a:extLst>
              </p:cNvPr>
              <p:cNvSpPr txBox="1"/>
              <p:nvPr/>
            </p:nvSpPr>
            <p:spPr>
              <a:xfrm>
                <a:off x="9406839" y="5765534"/>
                <a:ext cx="965366" cy="369332"/>
              </a:xfrm>
              <a:prstGeom prst="rect">
                <a:avLst/>
              </a:prstGeom>
              <a:noFill/>
            </p:spPr>
            <p:txBody>
              <a:bodyPr wrap="square" rtlCol="0">
                <a:spAutoFit/>
              </a:bodyPr>
              <a:lstStyle/>
              <a:p>
                <a:r>
                  <a:rPr lang="en-BE" dirty="0"/>
                  <a:t>Project</a:t>
                </a:r>
              </a:p>
            </p:txBody>
          </p:sp>
        </p:grpSp>
        <p:sp>
          <p:nvSpPr>
            <p:cNvPr id="26" name="Up Arrow 25">
              <a:extLst>
                <a:ext uri="{FF2B5EF4-FFF2-40B4-BE49-F238E27FC236}">
                  <a16:creationId xmlns:a16="http://schemas.microsoft.com/office/drawing/2014/main" id="{6AE573E4-DE37-287C-66AA-788EF9113814}"/>
                </a:ext>
              </a:extLst>
            </p:cNvPr>
            <p:cNvSpPr/>
            <p:nvPr/>
          </p:nvSpPr>
          <p:spPr>
            <a:xfrm rot="4677805">
              <a:off x="11512302" y="4212706"/>
              <a:ext cx="295077" cy="1779332"/>
            </a:xfrm>
            <a:prstGeom prst="upArrow">
              <a:avLst>
                <a:gd name="adj1" fmla="val 42855"/>
                <a:gd name="adj2" fmla="val 5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Tree>
    <p:extLst>
      <p:ext uri="{BB962C8B-B14F-4D97-AF65-F5344CB8AC3E}">
        <p14:creationId xmlns:p14="http://schemas.microsoft.com/office/powerpoint/2010/main" val="163864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Integrating PRs</a:t>
            </a:r>
            <a:endParaRPr sz="3600" b="0" i="0">
              <a:solidFill>
                <a:srgbClr val="1F1F1F"/>
              </a:solidFill>
              <a:latin typeface="OpenSans"/>
              <a:ea typeface="OpenSans"/>
              <a:cs typeface="OpenSans"/>
            </a:endParaRPr>
          </a:p>
        </p:txBody>
      </p:sp>
      <p:pic>
        <p:nvPicPr>
          <p:cNvPr id="32" name="Picture 2"/>
          <p:cNvPicPr>
            <a:picLocks noChangeAspect="1"/>
          </p:cNvPicPr>
          <p:nvPr/>
        </p:nvPicPr>
        <p:blipFill>
          <a:blip r:embed="rId3"/>
          <a:srcRect/>
          <a:stretch>
            <a:fillRect/>
          </a:stretch>
        </p:blipFill>
        <p:spPr>
          <a:xfrm>
            <a:off x="10423239" y="2815210"/>
            <a:ext cx="965366" cy="810356"/>
          </a:xfrm>
          <a:prstGeom prst="rect">
            <a:avLst/>
          </a:prstGeom>
        </p:spPr>
      </p:pic>
      <p:sp>
        <p:nvSpPr>
          <p:cNvPr id="28" name="TextBox 27">
            <a:extLst>
              <a:ext uri="{FF2B5EF4-FFF2-40B4-BE49-F238E27FC236}">
                <a16:creationId xmlns:a16="http://schemas.microsoft.com/office/drawing/2014/main" id="{C1C72C42-9DB2-76DF-4568-5477B5E39026}"/>
              </a:ext>
            </a:extLst>
          </p:cNvPr>
          <p:cNvSpPr>
            <a:spLocks noGrp="1"/>
          </p:cNvSpPr>
          <p:nvPr/>
        </p:nvSpPr>
        <p:spPr>
          <a:xfrm>
            <a:off x="10020097" y="3673456"/>
            <a:ext cx="1771650" cy="369332"/>
          </a:xfrm>
          <a:prstGeom prst="rect">
            <a:avLst/>
          </a:prstGeom>
          <a:noFill/>
        </p:spPr>
        <p:txBody>
          <a:bodyPr wrap="square">
            <a:spAutoFit/>
          </a:bodyPr>
          <a:lstStyle/>
          <a:p>
            <a:r>
              <a:t>Project</a:t>
            </a:r>
          </a:p>
        </p:txBody>
      </p:sp>
      <p:pic>
        <p:nvPicPr>
          <p:cNvPr id="34" name="Picture 2"/>
          <p:cNvPicPr>
            <a:picLocks noChangeAspect="1"/>
          </p:cNvPicPr>
          <p:nvPr/>
        </p:nvPicPr>
        <p:blipFill>
          <a:blip r:embed="rId4"/>
          <a:stretch>
            <a:fillRect/>
          </a:stretch>
        </p:blipFill>
        <p:spPr>
          <a:xfrm>
            <a:off x="622300" y="915911"/>
            <a:ext cx="8652378" cy="5602415"/>
          </a:xfrm>
          <a:prstGeom prst="rect">
            <a:avLst/>
          </a:prstGeom>
        </p:spPr>
      </p:pic>
      <p:sp>
        <p:nvSpPr>
          <p:cNvPr id="5" name="Down Arrow 4">
            <a:extLst>
              <a:ext uri="{FF2B5EF4-FFF2-40B4-BE49-F238E27FC236}">
                <a16:creationId xmlns:a16="http://schemas.microsoft.com/office/drawing/2014/main" id="{9AA2EE37-B89C-F171-F5E9-5ED6A244CA61}"/>
              </a:ext>
            </a:extLst>
          </p:cNvPr>
          <p:cNvSpPr>
            <a:spLocks noGrp="1"/>
          </p:cNvSpPr>
          <p:nvPr/>
        </p:nvSpPr>
        <p:spPr>
          <a:xfrm rot="5400000">
            <a:off x="4095971" y="4073848"/>
            <a:ext cx="323211" cy="80010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Down Arrow 5">
            <a:extLst>
              <a:ext uri="{FF2B5EF4-FFF2-40B4-BE49-F238E27FC236}">
                <a16:creationId xmlns:a16="http://schemas.microsoft.com/office/drawing/2014/main" id="{6F573744-F00D-51CC-3DBB-ADD160F2B734}"/>
              </a:ext>
            </a:extLst>
          </p:cNvPr>
          <p:cNvSpPr>
            <a:spLocks noGrp="1"/>
          </p:cNvSpPr>
          <p:nvPr/>
        </p:nvSpPr>
        <p:spPr>
          <a:xfrm rot="5400000">
            <a:off x="4095971" y="4756754"/>
            <a:ext cx="323211" cy="80010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Down Arrow 6">
            <a:extLst>
              <a:ext uri="{FF2B5EF4-FFF2-40B4-BE49-F238E27FC236}">
                <a16:creationId xmlns:a16="http://schemas.microsoft.com/office/drawing/2014/main" id="{9CD33AA6-B18D-5612-09FC-4DF7AE846D3D}"/>
              </a:ext>
            </a:extLst>
          </p:cNvPr>
          <p:cNvSpPr>
            <a:spLocks noGrp="1"/>
          </p:cNvSpPr>
          <p:nvPr/>
        </p:nvSpPr>
        <p:spPr>
          <a:xfrm rot="5400000">
            <a:off x="4095971" y="5424065"/>
            <a:ext cx="323211" cy="80010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75782B3E-EEED-3927-1FC1-F226DB2B4CC8}"/>
              </a:ext>
            </a:extLst>
          </p:cNvPr>
          <p:cNvSpPr>
            <a:spLocks noGrp="1"/>
          </p:cNvSpPr>
          <p:nvPr/>
        </p:nvSpPr>
        <p:spPr>
          <a:xfrm>
            <a:off x="1191986" y="3858122"/>
            <a:ext cx="1861457" cy="4541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334508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r>
              <a:rPr lang="en-GB" sz="4400" b="0" i="0" dirty="0">
                <a:solidFill>
                  <a:srgbClr val="1F1F1F"/>
                </a:solidFill>
                <a:effectLst/>
                <a:latin typeface="Source Sans Pro" panose="020B0503030403020204" pitchFamily="34" charset="0"/>
              </a:rPr>
              <a:t>Managing Team Projects</a:t>
            </a:r>
          </a:p>
        </p:txBody>
      </p:sp>
      <p:sp>
        <p:nvSpPr>
          <p:cNvPr id="2" name="TextBox 1">
            <a:extLst>
              <a:ext uri="{FF2B5EF4-FFF2-40B4-BE49-F238E27FC236}">
                <a16:creationId xmlns:a16="http://schemas.microsoft.com/office/drawing/2014/main" id="{3A3D7841-D479-0E7F-F412-B0B6C8A49148}"/>
              </a:ext>
            </a:extLst>
          </p:cNvPr>
          <p:cNvSpPr txBox="1"/>
          <p:nvPr/>
        </p:nvSpPr>
        <p:spPr>
          <a:xfrm>
            <a:off x="942975" y="1514475"/>
            <a:ext cx="9558338" cy="4124206"/>
          </a:xfrm>
          <a:prstGeom prst="rect">
            <a:avLst/>
          </a:prstGeom>
          <a:noFill/>
        </p:spPr>
        <p:txBody>
          <a:bodyPr wrap="square" rtlCol="0">
            <a:spAutoFit/>
          </a:bodyPr>
          <a:lstStyle/>
          <a:p>
            <a:r>
              <a:rPr lang="en-BE" sz="2800" dirty="0"/>
              <a:t>Good planning and communication key managing team projects</a:t>
            </a:r>
          </a:p>
          <a:p>
            <a:pPr marL="457200" indent="-457200">
              <a:buFont typeface="Arial" panose="020B0604020202020204" pitchFamily="34" charset="0"/>
              <a:buChar char="•"/>
            </a:pPr>
            <a:r>
              <a:rPr lang="en-GB" sz="2400" dirty="0"/>
              <a:t>Documenting what you do and why you do it becomes even more important; otherwise, you'll spend most of your time answering everybody else questions.</a:t>
            </a:r>
          </a:p>
          <a:p>
            <a:pPr marL="914400" lvl="1" indent="-457200">
              <a:buFont typeface="Arial" panose="020B0604020202020204" pitchFamily="34" charset="0"/>
              <a:buChar char="•"/>
            </a:pPr>
            <a:r>
              <a:rPr lang="en-GB" sz="2400" dirty="0"/>
              <a:t>The basic form of this is writing clear code with good comments and documentation for those functions.</a:t>
            </a:r>
          </a:p>
          <a:p>
            <a:pPr marL="457200" indent="-457200">
              <a:buFont typeface="Arial" panose="020B0604020202020204" pitchFamily="34" charset="0"/>
              <a:buChar char="•"/>
            </a:pPr>
            <a:r>
              <a:rPr lang="en-GB" sz="2400" dirty="0"/>
              <a:t>If you are a project maintainer, you must promptly reply to pull requests and not let them stagnate.</a:t>
            </a:r>
          </a:p>
          <a:p>
            <a:pPr marL="457200" indent="-457200">
              <a:buFont typeface="Arial" panose="020B0604020202020204" pitchFamily="34" charset="0"/>
              <a:buChar char="•"/>
            </a:pPr>
            <a:r>
              <a:rPr lang="en-GB" sz="2400" dirty="0"/>
              <a:t>When coordinating who does what and when a common strategy for active software projects is to use an issue tracker.</a:t>
            </a:r>
            <a:endParaRPr lang="en-BE" sz="2400" dirty="0"/>
          </a:p>
          <a:p>
            <a:r>
              <a:rPr lang="en-BE" dirty="0"/>
              <a:t> </a:t>
            </a:r>
          </a:p>
        </p:txBody>
      </p:sp>
    </p:spTree>
    <p:extLst>
      <p:ext uri="{BB962C8B-B14F-4D97-AF65-F5344CB8AC3E}">
        <p14:creationId xmlns:p14="http://schemas.microsoft.com/office/powerpoint/2010/main" val="2584350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r>
              <a:rPr lang="en-GB" sz="4400" b="0" i="0" dirty="0">
                <a:solidFill>
                  <a:srgbClr val="1F1F1F"/>
                </a:solidFill>
                <a:effectLst/>
                <a:latin typeface="Source Sans Pro" panose="020B0503030403020204" pitchFamily="34" charset="0"/>
              </a:rPr>
              <a:t>Tracking Issues</a:t>
            </a:r>
          </a:p>
        </p:txBody>
      </p:sp>
      <p:grpSp>
        <p:nvGrpSpPr>
          <p:cNvPr id="5" name="Group 4">
            <a:extLst>
              <a:ext uri="{FF2B5EF4-FFF2-40B4-BE49-F238E27FC236}">
                <a16:creationId xmlns:a16="http://schemas.microsoft.com/office/drawing/2014/main" id="{1C4E2703-9BA9-C0FC-E5F6-503CF0FC8435}"/>
              </a:ext>
            </a:extLst>
          </p:cNvPr>
          <p:cNvGrpSpPr/>
          <p:nvPr/>
        </p:nvGrpSpPr>
        <p:grpSpPr>
          <a:xfrm>
            <a:off x="5004701" y="1270451"/>
            <a:ext cx="2665867" cy="2253003"/>
            <a:chOff x="4731383" y="1652896"/>
            <a:chExt cx="2665867" cy="2253003"/>
          </a:xfrm>
        </p:grpSpPr>
        <p:grpSp>
          <p:nvGrpSpPr>
            <p:cNvPr id="6" name="Group 5">
              <a:extLst>
                <a:ext uri="{FF2B5EF4-FFF2-40B4-BE49-F238E27FC236}">
                  <a16:creationId xmlns:a16="http://schemas.microsoft.com/office/drawing/2014/main" id="{72D672F2-8867-0661-A659-757590922B4F}"/>
                </a:ext>
              </a:extLst>
            </p:cNvPr>
            <p:cNvGrpSpPr/>
            <p:nvPr/>
          </p:nvGrpSpPr>
          <p:grpSpPr>
            <a:xfrm>
              <a:off x="4731383" y="1652896"/>
              <a:ext cx="1602824" cy="2253003"/>
              <a:chOff x="4679991" y="1512843"/>
              <a:chExt cx="1602824" cy="2253003"/>
            </a:xfrm>
          </p:grpSpPr>
          <p:pic>
            <p:nvPicPr>
              <p:cNvPr id="8" name="Picture 2" descr="Subway - Free transport icons">
                <a:extLst>
                  <a:ext uri="{FF2B5EF4-FFF2-40B4-BE49-F238E27FC236}">
                    <a16:creationId xmlns:a16="http://schemas.microsoft.com/office/drawing/2014/main" id="{02A298A0-C3E9-C61B-3ED5-E36FA6B12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6807" y="2536653"/>
                <a:ext cx="1229193" cy="122919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GitHub Logo and symbol, meaning, history, PNG, brand">
                <a:extLst>
                  <a:ext uri="{FF2B5EF4-FFF2-40B4-BE49-F238E27FC236}">
                    <a16:creationId xmlns:a16="http://schemas.microsoft.com/office/drawing/2014/main" id="{0E50AEF9-AE18-56C3-5AEE-BA408BD08B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991" y="1512843"/>
                <a:ext cx="1602824" cy="926438"/>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a:extLst>
                <a:ext uri="{FF2B5EF4-FFF2-40B4-BE49-F238E27FC236}">
                  <a16:creationId xmlns:a16="http://schemas.microsoft.com/office/drawing/2014/main" id="{41DEB551-ECED-B792-A8B3-9E8AD8E76666}"/>
                </a:ext>
              </a:extLst>
            </p:cNvPr>
            <p:cNvSpPr txBox="1"/>
            <p:nvPr/>
          </p:nvSpPr>
          <p:spPr>
            <a:xfrm>
              <a:off x="6168057" y="2898793"/>
              <a:ext cx="1229193" cy="646331"/>
            </a:xfrm>
            <a:prstGeom prst="rect">
              <a:avLst/>
            </a:prstGeom>
            <a:noFill/>
          </p:spPr>
          <p:txBody>
            <a:bodyPr wrap="square" rtlCol="0">
              <a:spAutoFit/>
            </a:bodyPr>
            <a:lstStyle/>
            <a:p>
              <a:r>
                <a:rPr lang="en-BE" dirty="0"/>
                <a:t>Remote Repository</a:t>
              </a:r>
            </a:p>
          </p:txBody>
        </p:sp>
      </p:grpSp>
      <p:grpSp>
        <p:nvGrpSpPr>
          <p:cNvPr id="10" name="Group 9">
            <a:extLst>
              <a:ext uri="{FF2B5EF4-FFF2-40B4-BE49-F238E27FC236}">
                <a16:creationId xmlns:a16="http://schemas.microsoft.com/office/drawing/2014/main" id="{6329F37D-2103-6257-3EAA-1145908D3458}"/>
              </a:ext>
            </a:extLst>
          </p:cNvPr>
          <p:cNvGrpSpPr/>
          <p:nvPr/>
        </p:nvGrpSpPr>
        <p:grpSpPr>
          <a:xfrm>
            <a:off x="1040422" y="4780151"/>
            <a:ext cx="1807710" cy="1750963"/>
            <a:chOff x="1040422" y="4780151"/>
            <a:chExt cx="1807710" cy="1750963"/>
          </a:xfrm>
        </p:grpSpPr>
        <p:pic>
          <p:nvPicPr>
            <p:cNvPr id="11" name="Picture 6" descr="Female software developer icon Stock Vector | Adobe Stock">
              <a:extLst>
                <a:ext uri="{FF2B5EF4-FFF2-40B4-BE49-F238E27FC236}">
                  <a16:creationId xmlns:a16="http://schemas.microsoft.com/office/drawing/2014/main" id="{A3F8215D-6B12-2E43-C02A-1816093F46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70" r="7985"/>
            <a:stretch/>
          </p:blipFill>
          <p:spPr bwMode="auto">
            <a:xfrm>
              <a:off x="1243349" y="4780151"/>
              <a:ext cx="1343284" cy="151537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8D8EB7C-4288-7AD2-2D1F-8068EF113507}"/>
                </a:ext>
              </a:extLst>
            </p:cNvPr>
            <p:cNvSpPr txBox="1"/>
            <p:nvPr/>
          </p:nvSpPr>
          <p:spPr>
            <a:xfrm>
              <a:off x="1040422" y="6161782"/>
              <a:ext cx="1807710" cy="369332"/>
            </a:xfrm>
            <a:prstGeom prst="rect">
              <a:avLst/>
            </a:prstGeom>
            <a:noFill/>
          </p:spPr>
          <p:txBody>
            <a:bodyPr wrap="square" rtlCol="0">
              <a:spAutoFit/>
            </a:bodyPr>
            <a:lstStyle/>
            <a:p>
              <a:r>
                <a:rPr lang="en-BE" dirty="0"/>
                <a:t>Local Repository</a:t>
              </a:r>
            </a:p>
          </p:txBody>
        </p:sp>
      </p:grpSp>
      <p:grpSp>
        <p:nvGrpSpPr>
          <p:cNvPr id="13" name="Group 12">
            <a:extLst>
              <a:ext uri="{FF2B5EF4-FFF2-40B4-BE49-F238E27FC236}">
                <a16:creationId xmlns:a16="http://schemas.microsoft.com/office/drawing/2014/main" id="{718B0943-2C0D-3137-94F3-CD67F7984C7E}"/>
              </a:ext>
            </a:extLst>
          </p:cNvPr>
          <p:cNvGrpSpPr/>
          <p:nvPr/>
        </p:nvGrpSpPr>
        <p:grpSpPr>
          <a:xfrm>
            <a:off x="4935767" y="4828229"/>
            <a:ext cx="1807710" cy="1794958"/>
            <a:chOff x="4649729" y="4780151"/>
            <a:chExt cx="1807710" cy="1794958"/>
          </a:xfrm>
        </p:grpSpPr>
        <p:pic>
          <p:nvPicPr>
            <p:cNvPr id="14" name="Picture 8" descr="Developer Icon Vector Art, Icons, and Graphics for Free Download">
              <a:extLst>
                <a:ext uri="{FF2B5EF4-FFF2-40B4-BE49-F238E27FC236}">
                  <a16:creationId xmlns:a16="http://schemas.microsoft.com/office/drawing/2014/main" id="{F9DBC453-C71C-0D52-2FCE-1F9C9AE30BD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071" t="11092" r="10005" b="11809"/>
            <a:stretch/>
          </p:blipFill>
          <p:spPr bwMode="auto">
            <a:xfrm>
              <a:off x="4758303" y="4780151"/>
              <a:ext cx="1590562" cy="151537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B3CB716-0F06-9E5F-1844-87F55A37F733}"/>
                </a:ext>
              </a:extLst>
            </p:cNvPr>
            <p:cNvSpPr txBox="1"/>
            <p:nvPr/>
          </p:nvSpPr>
          <p:spPr>
            <a:xfrm>
              <a:off x="4649729" y="6205777"/>
              <a:ext cx="1807710" cy="369332"/>
            </a:xfrm>
            <a:prstGeom prst="rect">
              <a:avLst/>
            </a:prstGeom>
            <a:noFill/>
          </p:spPr>
          <p:txBody>
            <a:bodyPr wrap="square" rtlCol="0">
              <a:spAutoFit/>
            </a:bodyPr>
            <a:lstStyle/>
            <a:p>
              <a:r>
                <a:rPr lang="en-BE" dirty="0"/>
                <a:t>Local Repository</a:t>
              </a:r>
            </a:p>
          </p:txBody>
        </p:sp>
      </p:grpSp>
      <p:grpSp>
        <p:nvGrpSpPr>
          <p:cNvPr id="16" name="Group 15">
            <a:extLst>
              <a:ext uri="{FF2B5EF4-FFF2-40B4-BE49-F238E27FC236}">
                <a16:creationId xmlns:a16="http://schemas.microsoft.com/office/drawing/2014/main" id="{B2ADF0E5-238F-CA31-3CCC-59E8058CFFCA}"/>
              </a:ext>
            </a:extLst>
          </p:cNvPr>
          <p:cNvGrpSpPr/>
          <p:nvPr/>
        </p:nvGrpSpPr>
        <p:grpSpPr>
          <a:xfrm>
            <a:off x="8291445" y="4427467"/>
            <a:ext cx="2093610" cy="2103647"/>
            <a:chOff x="8855041" y="4427467"/>
            <a:chExt cx="2093610" cy="2103647"/>
          </a:xfrm>
        </p:grpSpPr>
        <p:pic>
          <p:nvPicPr>
            <p:cNvPr id="17" name="Picture 4" descr="Developer Icon Vector Art, Icons, and Graphics for Free Download">
              <a:extLst>
                <a:ext uri="{FF2B5EF4-FFF2-40B4-BE49-F238E27FC236}">
                  <a16:creationId xmlns:a16="http://schemas.microsoft.com/office/drawing/2014/main" id="{93BCE881-182B-6135-B374-C3D0F5E259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55041" y="4427467"/>
              <a:ext cx="2093610" cy="209361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6803C70-C455-A8EA-FBE6-E09E61DD94C6}"/>
                </a:ext>
              </a:extLst>
            </p:cNvPr>
            <p:cNvSpPr txBox="1"/>
            <p:nvPr/>
          </p:nvSpPr>
          <p:spPr>
            <a:xfrm>
              <a:off x="8997991" y="6161782"/>
              <a:ext cx="1807710" cy="369332"/>
            </a:xfrm>
            <a:prstGeom prst="rect">
              <a:avLst/>
            </a:prstGeom>
            <a:noFill/>
          </p:spPr>
          <p:txBody>
            <a:bodyPr wrap="square" rtlCol="0">
              <a:spAutoFit/>
            </a:bodyPr>
            <a:lstStyle/>
            <a:p>
              <a:r>
                <a:rPr lang="en-BE" dirty="0"/>
                <a:t>Local Repository</a:t>
              </a:r>
            </a:p>
          </p:txBody>
        </p:sp>
      </p:grpSp>
      <p:pic>
        <p:nvPicPr>
          <p:cNvPr id="19" name="Picture 10" descr="Definition of a test case – Bartek Rohard Warszawski">
            <a:extLst>
              <a:ext uri="{FF2B5EF4-FFF2-40B4-BE49-F238E27FC236}">
                <a16:creationId xmlns:a16="http://schemas.microsoft.com/office/drawing/2014/main" id="{791FD645-117A-0C26-B544-76C1A2FB47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20681200">
            <a:off x="9931632" y="5120122"/>
            <a:ext cx="620944" cy="70830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8F7C527C-2F0F-D8F1-0965-B18AA62A7DDB}"/>
              </a:ext>
            </a:extLst>
          </p:cNvPr>
          <p:cNvSpPr txBox="1"/>
          <p:nvPr/>
        </p:nvSpPr>
        <p:spPr>
          <a:xfrm>
            <a:off x="2237575" y="5097807"/>
            <a:ext cx="749508" cy="376465"/>
          </a:xfrm>
          <a:prstGeom prst="rect">
            <a:avLst/>
          </a:prstGeom>
          <a:noFill/>
        </p:spPr>
        <p:txBody>
          <a:bodyPr wrap="square" rtlCol="0">
            <a:spAutoFit/>
          </a:bodyPr>
          <a:lstStyle/>
          <a:p>
            <a:r>
              <a:rPr lang="en-BE" dirty="0"/>
              <a:t>Alice</a:t>
            </a:r>
          </a:p>
        </p:txBody>
      </p:sp>
      <p:sp>
        <p:nvSpPr>
          <p:cNvPr id="21" name="TextBox 20">
            <a:extLst>
              <a:ext uri="{FF2B5EF4-FFF2-40B4-BE49-F238E27FC236}">
                <a16:creationId xmlns:a16="http://schemas.microsoft.com/office/drawing/2014/main" id="{6A99F87F-149C-5544-ABBD-025F1309621C}"/>
              </a:ext>
            </a:extLst>
          </p:cNvPr>
          <p:cNvSpPr txBox="1"/>
          <p:nvPr/>
        </p:nvSpPr>
        <p:spPr>
          <a:xfrm>
            <a:off x="6186036" y="5125089"/>
            <a:ext cx="749508" cy="376465"/>
          </a:xfrm>
          <a:prstGeom prst="rect">
            <a:avLst/>
          </a:prstGeom>
          <a:noFill/>
        </p:spPr>
        <p:txBody>
          <a:bodyPr wrap="square" rtlCol="0">
            <a:spAutoFit/>
          </a:bodyPr>
          <a:lstStyle/>
          <a:p>
            <a:r>
              <a:rPr lang="en-BE" dirty="0"/>
              <a:t>Bob</a:t>
            </a:r>
          </a:p>
        </p:txBody>
      </p:sp>
      <p:sp>
        <p:nvSpPr>
          <p:cNvPr id="22" name="TextBox 21">
            <a:extLst>
              <a:ext uri="{FF2B5EF4-FFF2-40B4-BE49-F238E27FC236}">
                <a16:creationId xmlns:a16="http://schemas.microsoft.com/office/drawing/2014/main" id="{437A7E48-7E42-6F7E-1534-46D8B43F9D65}"/>
              </a:ext>
            </a:extLst>
          </p:cNvPr>
          <p:cNvSpPr txBox="1"/>
          <p:nvPr/>
        </p:nvSpPr>
        <p:spPr>
          <a:xfrm>
            <a:off x="9502589" y="4780151"/>
            <a:ext cx="749508" cy="376465"/>
          </a:xfrm>
          <a:prstGeom prst="rect">
            <a:avLst/>
          </a:prstGeom>
          <a:noFill/>
        </p:spPr>
        <p:txBody>
          <a:bodyPr wrap="square" rtlCol="0">
            <a:spAutoFit/>
          </a:bodyPr>
          <a:lstStyle/>
          <a:p>
            <a:r>
              <a:rPr lang="en-BE" dirty="0"/>
              <a:t>Sam</a:t>
            </a:r>
          </a:p>
        </p:txBody>
      </p:sp>
      <p:pic>
        <p:nvPicPr>
          <p:cNvPr id="23" name="Picture 12" descr="Content management, features, order management, software application,  survey icon - Download on Iconfinder">
            <a:extLst>
              <a:ext uri="{FF2B5EF4-FFF2-40B4-BE49-F238E27FC236}">
                <a16:creationId xmlns:a16="http://schemas.microsoft.com/office/drawing/2014/main" id="{91198B01-0D85-E21F-AB33-49F8FC03AEE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1875" y="5456270"/>
            <a:ext cx="526738" cy="52673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2" descr="Content management, features, order management, software application,  survey icon - Download on Iconfinder">
            <a:extLst>
              <a:ext uri="{FF2B5EF4-FFF2-40B4-BE49-F238E27FC236}">
                <a16:creationId xmlns:a16="http://schemas.microsoft.com/office/drawing/2014/main" id="{F6511DCC-9EC1-0016-4C6C-C1CEE24601B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86633" y="5422480"/>
            <a:ext cx="526738" cy="526738"/>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Group 40">
            <a:extLst>
              <a:ext uri="{FF2B5EF4-FFF2-40B4-BE49-F238E27FC236}">
                <a16:creationId xmlns:a16="http://schemas.microsoft.com/office/drawing/2014/main" id="{D4AA6578-91C9-276D-C9F0-BAD9570D67A2}"/>
              </a:ext>
            </a:extLst>
          </p:cNvPr>
          <p:cNvGrpSpPr/>
          <p:nvPr/>
        </p:nvGrpSpPr>
        <p:grpSpPr>
          <a:xfrm>
            <a:off x="2458387" y="3517128"/>
            <a:ext cx="1957969" cy="1431171"/>
            <a:chOff x="2458387" y="3517128"/>
            <a:chExt cx="1957969" cy="1431171"/>
          </a:xfrm>
        </p:grpSpPr>
        <p:grpSp>
          <p:nvGrpSpPr>
            <p:cNvPr id="25" name="Group 24">
              <a:extLst>
                <a:ext uri="{FF2B5EF4-FFF2-40B4-BE49-F238E27FC236}">
                  <a16:creationId xmlns:a16="http://schemas.microsoft.com/office/drawing/2014/main" id="{516BE898-6138-71FF-0575-BB3DFB6F0ECD}"/>
                </a:ext>
              </a:extLst>
            </p:cNvPr>
            <p:cNvGrpSpPr/>
            <p:nvPr/>
          </p:nvGrpSpPr>
          <p:grpSpPr>
            <a:xfrm>
              <a:off x="2458387" y="3517128"/>
              <a:ext cx="1649609" cy="1069862"/>
              <a:chOff x="2458387" y="3517128"/>
              <a:chExt cx="1649609" cy="1069862"/>
            </a:xfrm>
          </p:grpSpPr>
          <p:cxnSp>
            <p:nvCxnSpPr>
              <p:cNvPr id="26" name="Straight Arrow Connector 25">
                <a:extLst>
                  <a:ext uri="{FF2B5EF4-FFF2-40B4-BE49-F238E27FC236}">
                    <a16:creationId xmlns:a16="http://schemas.microsoft.com/office/drawing/2014/main" id="{B48FECBE-DB99-6694-2F76-884E57F73339}"/>
                  </a:ext>
                </a:extLst>
              </p:cNvPr>
              <p:cNvCxnSpPr>
                <a:cxnSpLocks/>
              </p:cNvCxnSpPr>
              <p:nvPr/>
            </p:nvCxnSpPr>
            <p:spPr>
              <a:xfrm flipH="1">
                <a:off x="2458387" y="3517128"/>
                <a:ext cx="1649609" cy="10698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7C47A22-56F0-626D-586B-00CEAF2DC127}"/>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grpSp>
        <p:grpSp>
          <p:nvGrpSpPr>
            <p:cNvPr id="28" name="Group 27">
              <a:extLst>
                <a:ext uri="{FF2B5EF4-FFF2-40B4-BE49-F238E27FC236}">
                  <a16:creationId xmlns:a16="http://schemas.microsoft.com/office/drawing/2014/main" id="{04085C12-37F9-4DDF-F4E5-552F480409CC}"/>
                </a:ext>
              </a:extLst>
            </p:cNvPr>
            <p:cNvGrpSpPr/>
            <p:nvPr/>
          </p:nvGrpSpPr>
          <p:grpSpPr>
            <a:xfrm>
              <a:off x="2853750" y="3972771"/>
              <a:ext cx="1562606" cy="975528"/>
              <a:chOff x="2853750" y="3972771"/>
              <a:chExt cx="1562606" cy="975528"/>
            </a:xfrm>
          </p:grpSpPr>
          <p:cxnSp>
            <p:nvCxnSpPr>
              <p:cNvPr id="29" name="Straight Arrow Connector 28">
                <a:extLst>
                  <a:ext uri="{FF2B5EF4-FFF2-40B4-BE49-F238E27FC236}">
                    <a16:creationId xmlns:a16="http://schemas.microsoft.com/office/drawing/2014/main" id="{449222E8-FE7A-0E46-C4B1-1B24BA2D4E59}"/>
                  </a:ext>
                </a:extLst>
              </p:cNvPr>
              <p:cNvCxnSpPr>
                <a:cxnSpLocks/>
              </p:cNvCxnSpPr>
              <p:nvPr/>
            </p:nvCxnSpPr>
            <p:spPr>
              <a:xfrm flipV="1">
                <a:off x="2853750" y="3972771"/>
                <a:ext cx="1562606" cy="9755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5A4EB2-31AD-3655-E979-CD2DC50601B9}"/>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grpSp>
      <p:grpSp>
        <p:nvGrpSpPr>
          <p:cNvPr id="31" name="Group 30">
            <a:extLst>
              <a:ext uri="{FF2B5EF4-FFF2-40B4-BE49-F238E27FC236}">
                <a16:creationId xmlns:a16="http://schemas.microsoft.com/office/drawing/2014/main" id="{F60AA077-1117-8623-9C0E-8F20E5B3E55D}"/>
              </a:ext>
            </a:extLst>
          </p:cNvPr>
          <p:cNvGrpSpPr/>
          <p:nvPr/>
        </p:nvGrpSpPr>
        <p:grpSpPr>
          <a:xfrm rot="18217086">
            <a:off x="5002937" y="3829627"/>
            <a:ext cx="1488708" cy="859246"/>
            <a:chOff x="2600695" y="3770440"/>
            <a:chExt cx="1488708" cy="859246"/>
          </a:xfrm>
        </p:grpSpPr>
        <p:cxnSp>
          <p:nvCxnSpPr>
            <p:cNvPr id="32" name="Straight Arrow Connector 31">
              <a:extLst>
                <a:ext uri="{FF2B5EF4-FFF2-40B4-BE49-F238E27FC236}">
                  <a16:creationId xmlns:a16="http://schemas.microsoft.com/office/drawing/2014/main" id="{3792B6E5-2E82-3D42-36D5-F2DE56CD8F4D}"/>
                </a:ext>
              </a:extLst>
            </p:cNvPr>
            <p:cNvCxnSpPr>
              <a:cxnSpLocks/>
            </p:cNvCxnSpPr>
            <p:nvPr/>
          </p:nvCxnSpPr>
          <p:spPr>
            <a:xfrm rot="3382914">
              <a:off x="3174470" y="3547605"/>
              <a:ext cx="0" cy="11475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E02C080-9D44-53A6-81D6-76A9772F8038}"/>
                </a:ext>
              </a:extLst>
            </p:cNvPr>
            <p:cNvCxnSpPr>
              <a:cxnSpLocks/>
            </p:cNvCxnSpPr>
            <p:nvPr/>
          </p:nvCxnSpPr>
          <p:spPr>
            <a:xfrm rot="3382914" flipV="1">
              <a:off x="3510714" y="3947164"/>
              <a:ext cx="19053" cy="11383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EE35080-F846-C1A4-952A-7A07F1DD18B7}"/>
                </a:ext>
              </a:extLst>
            </p:cNvPr>
            <p:cNvSpPr txBox="1"/>
            <p:nvPr/>
          </p:nvSpPr>
          <p:spPr>
            <a:xfrm rot="19903263">
              <a:off x="2709933" y="3770440"/>
              <a:ext cx="654984" cy="369332"/>
            </a:xfrm>
            <a:prstGeom prst="rect">
              <a:avLst/>
            </a:prstGeom>
            <a:noFill/>
          </p:spPr>
          <p:txBody>
            <a:bodyPr wrap="square" rtlCol="0">
              <a:spAutoFit/>
            </a:bodyPr>
            <a:lstStyle/>
            <a:p>
              <a:r>
                <a:rPr lang="en-BE" dirty="0"/>
                <a:t>Pull</a:t>
              </a:r>
            </a:p>
          </p:txBody>
        </p:sp>
        <p:sp>
          <p:nvSpPr>
            <p:cNvPr id="35" name="TextBox 34">
              <a:extLst>
                <a:ext uri="{FF2B5EF4-FFF2-40B4-BE49-F238E27FC236}">
                  <a16:creationId xmlns:a16="http://schemas.microsoft.com/office/drawing/2014/main" id="{8D932C62-1D7A-5B17-4FDB-E15F24C783EE}"/>
                </a:ext>
              </a:extLst>
            </p:cNvPr>
            <p:cNvSpPr txBox="1"/>
            <p:nvPr/>
          </p:nvSpPr>
          <p:spPr>
            <a:xfrm rot="19903263">
              <a:off x="2964474" y="4260354"/>
              <a:ext cx="654984" cy="369332"/>
            </a:xfrm>
            <a:prstGeom prst="rect">
              <a:avLst/>
            </a:prstGeom>
            <a:noFill/>
          </p:spPr>
          <p:txBody>
            <a:bodyPr wrap="square" rtlCol="0">
              <a:spAutoFit/>
            </a:bodyPr>
            <a:lstStyle/>
            <a:p>
              <a:r>
                <a:rPr lang="en-BE" dirty="0"/>
                <a:t>Push</a:t>
              </a:r>
            </a:p>
          </p:txBody>
        </p:sp>
      </p:grpSp>
      <p:grpSp>
        <p:nvGrpSpPr>
          <p:cNvPr id="36" name="Group 35">
            <a:extLst>
              <a:ext uri="{FF2B5EF4-FFF2-40B4-BE49-F238E27FC236}">
                <a16:creationId xmlns:a16="http://schemas.microsoft.com/office/drawing/2014/main" id="{51755F48-2C90-A251-11F3-6DFB73488CCB}"/>
              </a:ext>
            </a:extLst>
          </p:cNvPr>
          <p:cNvGrpSpPr/>
          <p:nvPr/>
        </p:nvGrpSpPr>
        <p:grpSpPr>
          <a:xfrm rot="15160910">
            <a:off x="7781307" y="3405147"/>
            <a:ext cx="1497933" cy="1199509"/>
            <a:chOff x="2458387" y="3748790"/>
            <a:chExt cx="1497933" cy="1199509"/>
          </a:xfrm>
        </p:grpSpPr>
        <p:cxnSp>
          <p:nvCxnSpPr>
            <p:cNvPr id="37" name="Straight Arrow Connector 36">
              <a:extLst>
                <a:ext uri="{FF2B5EF4-FFF2-40B4-BE49-F238E27FC236}">
                  <a16:creationId xmlns:a16="http://schemas.microsoft.com/office/drawing/2014/main" id="{28D5A562-AFAA-5C39-CD94-3F36CB415686}"/>
                </a:ext>
              </a:extLst>
            </p:cNvPr>
            <p:cNvCxnSpPr>
              <a:cxnSpLocks/>
            </p:cNvCxnSpPr>
            <p:nvPr/>
          </p:nvCxnSpPr>
          <p:spPr>
            <a:xfrm flipH="1">
              <a:off x="2458387" y="3748790"/>
              <a:ext cx="1259174" cy="8382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75927FA-61F7-888F-78AE-E78688DBDF61}"/>
                </a:ext>
              </a:extLst>
            </p:cNvPr>
            <p:cNvCxnSpPr>
              <a:cxnSpLocks/>
            </p:cNvCxnSpPr>
            <p:nvPr/>
          </p:nvCxnSpPr>
          <p:spPr>
            <a:xfrm flipV="1">
              <a:off x="2853750" y="4261014"/>
              <a:ext cx="1102570" cy="6872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5210BA9-C60C-46EB-B93C-D7A2DDAE7B38}"/>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sp>
          <p:nvSpPr>
            <p:cNvPr id="40" name="TextBox 39">
              <a:extLst>
                <a:ext uri="{FF2B5EF4-FFF2-40B4-BE49-F238E27FC236}">
                  <a16:creationId xmlns:a16="http://schemas.microsoft.com/office/drawing/2014/main" id="{8381F3B0-9E93-5F0F-9C81-880481BFF794}"/>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pic>
        <p:nvPicPr>
          <p:cNvPr id="4098" name="Picture 2" descr="Aggregation, class model, inheritance, relations, uml, data, graph icon -  Download on Iconfinder">
            <a:extLst>
              <a:ext uri="{FF2B5EF4-FFF2-40B4-BE49-F238E27FC236}">
                <a16:creationId xmlns:a16="http://schemas.microsoft.com/office/drawing/2014/main" id="{FCD732CB-AA24-B3C2-4D2D-35200CFE614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1220" y="1113421"/>
            <a:ext cx="865342" cy="86534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oftware Engineer icon PNG and SVG Vector Free Download">
            <a:extLst>
              <a:ext uri="{FF2B5EF4-FFF2-40B4-BE49-F238E27FC236}">
                <a16:creationId xmlns:a16="http://schemas.microsoft.com/office/drawing/2014/main" id="{1D4C7A3A-5C52-5FA9-4057-85E3839F7BC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9777" y="1576449"/>
            <a:ext cx="672842" cy="76896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oftware engineer - Free computer icons">
            <a:extLst>
              <a:ext uri="{FF2B5EF4-FFF2-40B4-BE49-F238E27FC236}">
                <a16:creationId xmlns:a16="http://schemas.microsoft.com/office/drawing/2014/main" id="{A57F79D9-8B25-BF9D-C2A4-1CFDDC89AA0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63102" y="2467139"/>
            <a:ext cx="865342" cy="865342"/>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D850BFFD-DA7B-F39A-4669-F1D8494A3118}"/>
              </a:ext>
            </a:extLst>
          </p:cNvPr>
          <p:cNvGrpSpPr/>
          <p:nvPr/>
        </p:nvGrpSpPr>
        <p:grpSpPr>
          <a:xfrm rot="2085255">
            <a:off x="2334138" y="1743600"/>
            <a:ext cx="1957969" cy="1431171"/>
            <a:chOff x="2458387" y="3517128"/>
            <a:chExt cx="1957969" cy="1431171"/>
          </a:xfrm>
        </p:grpSpPr>
        <p:grpSp>
          <p:nvGrpSpPr>
            <p:cNvPr id="43" name="Group 42">
              <a:extLst>
                <a:ext uri="{FF2B5EF4-FFF2-40B4-BE49-F238E27FC236}">
                  <a16:creationId xmlns:a16="http://schemas.microsoft.com/office/drawing/2014/main" id="{6056E922-7BC9-3377-4586-CEAF4B1FE2B3}"/>
                </a:ext>
              </a:extLst>
            </p:cNvPr>
            <p:cNvGrpSpPr/>
            <p:nvPr/>
          </p:nvGrpSpPr>
          <p:grpSpPr>
            <a:xfrm>
              <a:off x="2458387" y="3517128"/>
              <a:ext cx="1649609" cy="1069862"/>
              <a:chOff x="2458387" y="3517128"/>
              <a:chExt cx="1649609" cy="1069862"/>
            </a:xfrm>
          </p:grpSpPr>
          <p:cxnSp>
            <p:nvCxnSpPr>
              <p:cNvPr id="47" name="Straight Arrow Connector 46">
                <a:extLst>
                  <a:ext uri="{FF2B5EF4-FFF2-40B4-BE49-F238E27FC236}">
                    <a16:creationId xmlns:a16="http://schemas.microsoft.com/office/drawing/2014/main" id="{4EEC87C6-A918-EC5A-73B9-8E13296B2456}"/>
                  </a:ext>
                </a:extLst>
              </p:cNvPr>
              <p:cNvCxnSpPr>
                <a:cxnSpLocks/>
              </p:cNvCxnSpPr>
              <p:nvPr/>
            </p:nvCxnSpPr>
            <p:spPr>
              <a:xfrm flipH="1">
                <a:off x="2458387" y="3517128"/>
                <a:ext cx="1649609" cy="10698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580E149-DD17-3110-1CE7-3C7E8CBE52F8}"/>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grpSp>
        <p:grpSp>
          <p:nvGrpSpPr>
            <p:cNvPr id="44" name="Group 43">
              <a:extLst>
                <a:ext uri="{FF2B5EF4-FFF2-40B4-BE49-F238E27FC236}">
                  <a16:creationId xmlns:a16="http://schemas.microsoft.com/office/drawing/2014/main" id="{6320944F-5552-9737-66D6-8F22D6DAF0CC}"/>
                </a:ext>
              </a:extLst>
            </p:cNvPr>
            <p:cNvGrpSpPr/>
            <p:nvPr/>
          </p:nvGrpSpPr>
          <p:grpSpPr>
            <a:xfrm>
              <a:off x="2853750" y="3972771"/>
              <a:ext cx="1562606" cy="975528"/>
              <a:chOff x="2853750" y="3972771"/>
              <a:chExt cx="1562606" cy="975528"/>
            </a:xfrm>
          </p:grpSpPr>
          <p:cxnSp>
            <p:nvCxnSpPr>
              <p:cNvPr id="45" name="Straight Arrow Connector 44">
                <a:extLst>
                  <a:ext uri="{FF2B5EF4-FFF2-40B4-BE49-F238E27FC236}">
                    <a16:creationId xmlns:a16="http://schemas.microsoft.com/office/drawing/2014/main" id="{7667E9C4-E2ED-B395-C0EB-32B3BCDE1F93}"/>
                  </a:ext>
                </a:extLst>
              </p:cNvPr>
              <p:cNvCxnSpPr>
                <a:cxnSpLocks/>
              </p:cNvCxnSpPr>
              <p:nvPr/>
            </p:nvCxnSpPr>
            <p:spPr>
              <a:xfrm flipV="1">
                <a:off x="2853750" y="3972771"/>
                <a:ext cx="1562606" cy="9755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E86CEAF-4E78-26D9-8C82-F231DBC01758}"/>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grpSp>
      <p:sp>
        <p:nvSpPr>
          <p:cNvPr id="52" name="TextBox 51">
            <a:extLst>
              <a:ext uri="{FF2B5EF4-FFF2-40B4-BE49-F238E27FC236}">
                <a16:creationId xmlns:a16="http://schemas.microsoft.com/office/drawing/2014/main" id="{CCA956F6-96FC-5C08-FC57-18F6BA02ED42}"/>
              </a:ext>
            </a:extLst>
          </p:cNvPr>
          <p:cNvSpPr txBox="1"/>
          <p:nvPr/>
        </p:nvSpPr>
        <p:spPr>
          <a:xfrm>
            <a:off x="453225" y="1953992"/>
            <a:ext cx="865342" cy="369332"/>
          </a:xfrm>
          <a:prstGeom prst="rect">
            <a:avLst/>
          </a:prstGeom>
          <a:noFill/>
        </p:spPr>
        <p:txBody>
          <a:bodyPr wrap="square" rtlCol="0">
            <a:spAutoFit/>
          </a:bodyPr>
          <a:lstStyle/>
          <a:p>
            <a:r>
              <a:rPr lang="en-BE" dirty="0"/>
              <a:t>Simon</a:t>
            </a:r>
          </a:p>
        </p:txBody>
      </p:sp>
      <p:sp>
        <p:nvSpPr>
          <p:cNvPr id="53" name="TextBox 52">
            <a:extLst>
              <a:ext uri="{FF2B5EF4-FFF2-40B4-BE49-F238E27FC236}">
                <a16:creationId xmlns:a16="http://schemas.microsoft.com/office/drawing/2014/main" id="{B69DD99A-6F58-6A55-CBBB-3CDAC9D26EBF}"/>
              </a:ext>
            </a:extLst>
          </p:cNvPr>
          <p:cNvSpPr txBox="1"/>
          <p:nvPr/>
        </p:nvSpPr>
        <p:spPr>
          <a:xfrm>
            <a:off x="489034" y="2649121"/>
            <a:ext cx="865342" cy="369332"/>
          </a:xfrm>
          <a:prstGeom prst="rect">
            <a:avLst/>
          </a:prstGeom>
          <a:noFill/>
        </p:spPr>
        <p:txBody>
          <a:bodyPr wrap="square" rtlCol="0">
            <a:spAutoFit/>
          </a:bodyPr>
          <a:lstStyle/>
          <a:p>
            <a:r>
              <a:rPr lang="en-BE" dirty="0"/>
              <a:t>Ramos</a:t>
            </a:r>
          </a:p>
        </p:txBody>
      </p:sp>
      <p:sp>
        <p:nvSpPr>
          <p:cNvPr id="59" name="TextBox 58">
            <a:extLst>
              <a:ext uri="{FF2B5EF4-FFF2-40B4-BE49-F238E27FC236}">
                <a16:creationId xmlns:a16="http://schemas.microsoft.com/office/drawing/2014/main" id="{9B735899-C2E7-2A84-C9AC-EF489A2DA46C}"/>
              </a:ext>
            </a:extLst>
          </p:cNvPr>
          <p:cNvSpPr txBox="1"/>
          <p:nvPr/>
        </p:nvSpPr>
        <p:spPr>
          <a:xfrm>
            <a:off x="5071088" y="3462739"/>
            <a:ext cx="1771650" cy="369332"/>
          </a:xfrm>
          <a:prstGeom prst="rect">
            <a:avLst/>
          </a:prstGeom>
          <a:noFill/>
        </p:spPr>
        <p:txBody>
          <a:bodyPr wrap="square" rtlCol="0">
            <a:spAutoFit/>
          </a:bodyPr>
          <a:lstStyle/>
          <a:p>
            <a:r>
              <a:rPr lang="en-BE" dirty="0"/>
              <a:t>Subway Project</a:t>
            </a:r>
          </a:p>
        </p:txBody>
      </p:sp>
    </p:spTree>
    <p:extLst>
      <p:ext uri="{BB962C8B-B14F-4D97-AF65-F5344CB8AC3E}">
        <p14:creationId xmlns:p14="http://schemas.microsoft.com/office/powerpoint/2010/main" val="919791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0977-7CA6-63ED-67B6-56771CC0DAE4}"/>
              </a:ext>
            </a:extLst>
          </p:cNvPr>
          <p:cNvSpPr>
            <a:spLocks noGrp="1"/>
          </p:cNvSpPr>
          <p:nvPr>
            <p:ph type="title"/>
          </p:nvPr>
        </p:nvSpPr>
        <p:spPr>
          <a:xfrm>
            <a:off x="838200" y="139211"/>
            <a:ext cx="10515600" cy="409426"/>
          </a:xfrm>
        </p:spPr>
        <p:txBody>
          <a:bodyPr>
            <a:normAutofit fontScale="90000"/>
          </a:bodyPr>
          <a:lstStyle/>
          <a:p>
            <a:r>
              <a:rPr lang="en-US" dirty="0"/>
              <a:t>Issue Template</a:t>
            </a:r>
          </a:p>
        </p:txBody>
      </p:sp>
      <p:sp>
        <p:nvSpPr>
          <p:cNvPr id="5" name="TextBox 4">
            <a:extLst>
              <a:ext uri="{FF2B5EF4-FFF2-40B4-BE49-F238E27FC236}">
                <a16:creationId xmlns:a16="http://schemas.microsoft.com/office/drawing/2014/main" id="{FF5171BF-3CD2-BD32-0D65-D7696F6D7820}"/>
              </a:ext>
            </a:extLst>
          </p:cNvPr>
          <p:cNvSpPr txBox="1"/>
          <p:nvPr/>
        </p:nvSpPr>
        <p:spPr>
          <a:xfrm>
            <a:off x="3161555" y="6492874"/>
            <a:ext cx="6094206" cy="261610"/>
          </a:xfrm>
          <a:prstGeom prst="rect">
            <a:avLst/>
          </a:prstGeom>
          <a:noFill/>
        </p:spPr>
        <p:txBody>
          <a:bodyPr wrap="square">
            <a:spAutoFit/>
          </a:bodyPr>
          <a:lstStyle/>
          <a:p>
            <a:r>
              <a:rPr lang="en-US" sz="1100" dirty="0">
                <a:hlinkClick r:id="rId2"/>
              </a:rPr>
              <a:t>https://github.com/hubtype/botonic/tree/master-lts/.github/ISSUE_TEMPLATE</a:t>
            </a:r>
            <a:endParaRPr lang="en-US" sz="1100" dirty="0"/>
          </a:p>
        </p:txBody>
      </p:sp>
      <p:pic>
        <p:nvPicPr>
          <p:cNvPr id="7" name="Picture 6" descr="A screenshot of a computer&#10;&#10;Description automatically generated">
            <a:extLst>
              <a:ext uri="{FF2B5EF4-FFF2-40B4-BE49-F238E27FC236}">
                <a16:creationId xmlns:a16="http://schemas.microsoft.com/office/drawing/2014/main" id="{6D2DC66F-1D28-71E0-8057-306DD481F6B4}"/>
              </a:ext>
            </a:extLst>
          </p:cNvPr>
          <p:cNvPicPr>
            <a:picLocks noChangeAspect="1"/>
          </p:cNvPicPr>
          <p:nvPr/>
        </p:nvPicPr>
        <p:blipFill>
          <a:blip r:embed="rId3"/>
          <a:stretch>
            <a:fillRect/>
          </a:stretch>
        </p:blipFill>
        <p:spPr>
          <a:xfrm>
            <a:off x="1910977" y="817149"/>
            <a:ext cx="6605195" cy="2005679"/>
          </a:xfrm>
          <a:prstGeom prst="rect">
            <a:avLst/>
          </a:prstGeom>
          <a:ln>
            <a:solidFill>
              <a:srgbClr val="1D15C5"/>
            </a:solidFill>
          </a:ln>
        </p:spPr>
      </p:pic>
      <p:pic>
        <p:nvPicPr>
          <p:cNvPr id="9" name="Picture 8" descr="A screenshot of a computer&#10;&#10;Description automatically generated">
            <a:extLst>
              <a:ext uri="{FF2B5EF4-FFF2-40B4-BE49-F238E27FC236}">
                <a16:creationId xmlns:a16="http://schemas.microsoft.com/office/drawing/2014/main" id="{150CCA2F-8F2D-AC21-8A5B-361C101CEE43}"/>
              </a:ext>
            </a:extLst>
          </p:cNvPr>
          <p:cNvPicPr>
            <a:picLocks noChangeAspect="1"/>
          </p:cNvPicPr>
          <p:nvPr/>
        </p:nvPicPr>
        <p:blipFill>
          <a:blip r:embed="rId4"/>
          <a:stretch>
            <a:fillRect/>
          </a:stretch>
        </p:blipFill>
        <p:spPr>
          <a:xfrm>
            <a:off x="1910977" y="2934810"/>
            <a:ext cx="6605195" cy="3558064"/>
          </a:xfrm>
          <a:prstGeom prst="rect">
            <a:avLst/>
          </a:prstGeom>
          <a:ln>
            <a:solidFill>
              <a:srgbClr val="1D15C5"/>
            </a:solidFill>
          </a:ln>
        </p:spPr>
      </p:pic>
      <p:sp>
        <p:nvSpPr>
          <p:cNvPr id="10" name="TextBox 9">
            <a:extLst>
              <a:ext uri="{FF2B5EF4-FFF2-40B4-BE49-F238E27FC236}">
                <a16:creationId xmlns:a16="http://schemas.microsoft.com/office/drawing/2014/main" id="{64F0D234-16C8-69F1-DF27-687BA82AF242}"/>
              </a:ext>
            </a:extLst>
          </p:cNvPr>
          <p:cNvSpPr txBox="1"/>
          <p:nvPr/>
        </p:nvSpPr>
        <p:spPr>
          <a:xfrm>
            <a:off x="8516172" y="1635322"/>
            <a:ext cx="1914861" cy="369332"/>
          </a:xfrm>
          <a:prstGeom prst="rect">
            <a:avLst/>
          </a:prstGeom>
          <a:noFill/>
        </p:spPr>
        <p:txBody>
          <a:bodyPr wrap="square" rtlCol="0">
            <a:spAutoFit/>
          </a:bodyPr>
          <a:lstStyle/>
          <a:p>
            <a:r>
              <a:rPr lang="en-US" dirty="0"/>
              <a:t>Feature request</a:t>
            </a:r>
          </a:p>
        </p:txBody>
      </p:sp>
      <p:sp>
        <p:nvSpPr>
          <p:cNvPr id="11" name="TextBox 10">
            <a:extLst>
              <a:ext uri="{FF2B5EF4-FFF2-40B4-BE49-F238E27FC236}">
                <a16:creationId xmlns:a16="http://schemas.microsoft.com/office/drawing/2014/main" id="{E400647A-EA47-D22E-7E77-8D6FAC4509EE}"/>
              </a:ext>
            </a:extLst>
          </p:cNvPr>
          <p:cNvSpPr txBox="1"/>
          <p:nvPr/>
        </p:nvSpPr>
        <p:spPr>
          <a:xfrm>
            <a:off x="8516172" y="2934810"/>
            <a:ext cx="1269403" cy="369332"/>
          </a:xfrm>
          <a:prstGeom prst="rect">
            <a:avLst/>
          </a:prstGeom>
          <a:noFill/>
        </p:spPr>
        <p:txBody>
          <a:bodyPr wrap="square" rtlCol="0">
            <a:spAutoFit/>
          </a:bodyPr>
          <a:lstStyle/>
          <a:p>
            <a:r>
              <a:rPr lang="en-US" dirty="0"/>
              <a:t>Bug report</a:t>
            </a:r>
          </a:p>
        </p:txBody>
      </p:sp>
    </p:spTree>
    <p:extLst>
      <p:ext uri="{BB962C8B-B14F-4D97-AF65-F5344CB8AC3E}">
        <p14:creationId xmlns:p14="http://schemas.microsoft.com/office/powerpoint/2010/main" val="1603522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r>
              <a:rPr lang="en-GB" sz="4400" b="0" i="0" dirty="0">
                <a:solidFill>
                  <a:srgbClr val="1F1F1F"/>
                </a:solidFill>
                <a:effectLst/>
                <a:latin typeface="Source Sans Pro" panose="020B0503030403020204" pitchFamily="34" charset="0"/>
              </a:rPr>
              <a:t>Issue Tracker - GitHub</a:t>
            </a:r>
          </a:p>
        </p:txBody>
      </p:sp>
      <p:pic>
        <p:nvPicPr>
          <p:cNvPr id="6146" name="Picture 2" descr="New GitHub Issues functionality for smarter searching, filtering and  managing | The GitHub Blog">
            <a:extLst>
              <a:ext uri="{FF2B5EF4-FFF2-40B4-BE49-F238E27FC236}">
                <a16:creationId xmlns:a16="http://schemas.microsoft.com/office/drawing/2014/main" id="{E8A9BFAB-8E98-8C16-BD38-AA7DD4336E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00" t="7631" r="10469" b="64978"/>
          <a:stretch/>
        </p:blipFill>
        <p:spPr bwMode="auto">
          <a:xfrm>
            <a:off x="286055" y="1771651"/>
            <a:ext cx="7820124" cy="1314449"/>
          </a:xfrm>
          <a:prstGeom prst="rect">
            <a:avLst/>
          </a:prstGeom>
          <a:noFill/>
          <a:ln>
            <a:solidFill>
              <a:schemeClr val="bg1">
                <a:lumMod val="50000"/>
              </a:schemeClr>
            </a:solid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15F1F3D-C014-6814-C28F-19DA0143EE75}"/>
              </a:ext>
            </a:extLst>
          </p:cNvPr>
          <p:cNvSpPr txBox="1"/>
          <p:nvPr/>
        </p:nvSpPr>
        <p:spPr>
          <a:xfrm>
            <a:off x="8543925" y="1459336"/>
            <a:ext cx="3257550" cy="1631216"/>
          </a:xfrm>
          <a:prstGeom prst="rect">
            <a:avLst/>
          </a:prstGeom>
          <a:noFill/>
          <a:ln w="28575">
            <a:solidFill>
              <a:srgbClr val="C00000"/>
            </a:solidFill>
          </a:ln>
        </p:spPr>
        <p:txBody>
          <a:bodyPr wrap="square" rtlCol="0">
            <a:spAutoFit/>
          </a:bodyPr>
          <a:lstStyle/>
          <a:p>
            <a:r>
              <a:rPr lang="en-BE" sz="2800" b="1" u="sng" dirty="0"/>
              <a:t>Issues</a:t>
            </a:r>
          </a:p>
          <a:p>
            <a:pPr marL="285750" indent="-285750">
              <a:buFont typeface="Arial" panose="020B0604020202020204" pitchFamily="34" charset="0"/>
              <a:buChar char="•"/>
            </a:pPr>
            <a:r>
              <a:rPr lang="en-US" sz="2400" dirty="0"/>
              <a:t>Feature requests</a:t>
            </a:r>
            <a:endParaRPr lang="en-BE" sz="2400" dirty="0"/>
          </a:p>
          <a:p>
            <a:pPr marL="285750" indent="-285750">
              <a:buFont typeface="Arial" panose="020B0604020202020204" pitchFamily="34" charset="0"/>
              <a:buChar char="•"/>
            </a:pPr>
            <a:r>
              <a:rPr lang="en-GB" sz="2400" dirty="0"/>
              <a:t>B</a:t>
            </a:r>
            <a:r>
              <a:rPr lang="en-BE" sz="2400" dirty="0"/>
              <a:t>ugs to fix</a:t>
            </a:r>
          </a:p>
          <a:p>
            <a:pPr marL="285750" indent="-285750">
              <a:buFont typeface="Arial" panose="020B0604020202020204" pitchFamily="34" charset="0"/>
              <a:buChar char="•"/>
            </a:pPr>
            <a:r>
              <a:rPr lang="en-BE" sz="2400" dirty="0"/>
              <a:t>New tests to add</a:t>
            </a:r>
          </a:p>
        </p:txBody>
      </p:sp>
      <p:pic>
        <p:nvPicPr>
          <p:cNvPr id="56" name="Picture 55" descr="Graphical user interface, text, application, chat or text message&#10;&#10;Description automatically generated">
            <a:extLst>
              <a:ext uri="{FF2B5EF4-FFF2-40B4-BE49-F238E27FC236}">
                <a16:creationId xmlns:a16="http://schemas.microsoft.com/office/drawing/2014/main" id="{E3D6752E-72C0-FE95-6FE9-B746B64FE2CC}"/>
              </a:ext>
            </a:extLst>
          </p:cNvPr>
          <p:cNvPicPr>
            <a:picLocks noChangeAspect="1"/>
          </p:cNvPicPr>
          <p:nvPr/>
        </p:nvPicPr>
        <p:blipFill>
          <a:blip r:embed="rId4"/>
          <a:stretch>
            <a:fillRect/>
          </a:stretch>
        </p:blipFill>
        <p:spPr>
          <a:xfrm>
            <a:off x="236382" y="3145839"/>
            <a:ext cx="7919470" cy="3043238"/>
          </a:xfrm>
          <a:prstGeom prst="rect">
            <a:avLst/>
          </a:prstGeom>
          <a:ln>
            <a:solidFill>
              <a:schemeClr val="bg1">
                <a:lumMod val="50000"/>
              </a:schemeClr>
            </a:solidFill>
          </a:ln>
        </p:spPr>
      </p:pic>
      <p:sp>
        <p:nvSpPr>
          <p:cNvPr id="57" name="Rounded Rectangle 56">
            <a:extLst>
              <a:ext uri="{FF2B5EF4-FFF2-40B4-BE49-F238E27FC236}">
                <a16:creationId xmlns:a16="http://schemas.microsoft.com/office/drawing/2014/main" id="{94F17574-3F07-949D-CA82-E77591C51723}"/>
              </a:ext>
            </a:extLst>
          </p:cNvPr>
          <p:cNvSpPr/>
          <p:nvPr/>
        </p:nvSpPr>
        <p:spPr>
          <a:xfrm>
            <a:off x="319085" y="3202991"/>
            <a:ext cx="1400175" cy="34290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8" name="Rounded Rectangle 57">
            <a:extLst>
              <a:ext uri="{FF2B5EF4-FFF2-40B4-BE49-F238E27FC236}">
                <a16:creationId xmlns:a16="http://schemas.microsoft.com/office/drawing/2014/main" id="{096ADED1-38CC-F20E-CBAC-8452303ECE56}"/>
              </a:ext>
            </a:extLst>
          </p:cNvPr>
          <p:cNvSpPr/>
          <p:nvPr/>
        </p:nvSpPr>
        <p:spPr>
          <a:xfrm>
            <a:off x="6929438" y="4667458"/>
            <a:ext cx="1176741" cy="3617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Rounded Rectangle 4">
            <a:extLst>
              <a:ext uri="{FF2B5EF4-FFF2-40B4-BE49-F238E27FC236}">
                <a16:creationId xmlns:a16="http://schemas.microsoft.com/office/drawing/2014/main" id="{5B1642AF-3B1A-BA7A-C628-025A60FDF1FA}"/>
              </a:ext>
            </a:extLst>
          </p:cNvPr>
          <p:cNvSpPr/>
          <p:nvPr/>
        </p:nvSpPr>
        <p:spPr>
          <a:xfrm>
            <a:off x="2023672" y="4667458"/>
            <a:ext cx="2593298" cy="361742"/>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428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dissolve">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7" grpId="0" animBg="1"/>
      <p:bldP spid="58" grpId="0"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r>
              <a:rPr lang="en-GB" sz="4400" b="0" i="0" dirty="0">
                <a:solidFill>
                  <a:srgbClr val="1F1F1F"/>
                </a:solidFill>
                <a:effectLst/>
                <a:latin typeface="Source Sans Pro" panose="020B0503030403020204" pitchFamily="34" charset="0"/>
              </a:rPr>
              <a:t>Tracking Issues - GitHub</a:t>
            </a:r>
          </a:p>
        </p:txBody>
      </p:sp>
      <p:grpSp>
        <p:nvGrpSpPr>
          <p:cNvPr id="16" name="Group 15">
            <a:extLst>
              <a:ext uri="{FF2B5EF4-FFF2-40B4-BE49-F238E27FC236}">
                <a16:creationId xmlns:a16="http://schemas.microsoft.com/office/drawing/2014/main" id="{9264D110-9510-01F7-16DB-4D2B5CE40FBB}"/>
              </a:ext>
            </a:extLst>
          </p:cNvPr>
          <p:cNvGrpSpPr/>
          <p:nvPr/>
        </p:nvGrpSpPr>
        <p:grpSpPr>
          <a:xfrm>
            <a:off x="317500" y="1746964"/>
            <a:ext cx="4994940" cy="4353799"/>
            <a:chOff x="460375" y="1346914"/>
            <a:chExt cx="4994940" cy="4353799"/>
          </a:xfrm>
        </p:grpSpPr>
        <p:pic>
          <p:nvPicPr>
            <p:cNvPr id="9" name="Picture 8" descr="Graphical user interface, text, application, Teams&#10;&#10;Description automatically generated">
              <a:extLst>
                <a:ext uri="{FF2B5EF4-FFF2-40B4-BE49-F238E27FC236}">
                  <a16:creationId xmlns:a16="http://schemas.microsoft.com/office/drawing/2014/main" id="{4CEC18CD-C645-CEE1-374C-C1D2DE78169D}"/>
                </a:ext>
              </a:extLst>
            </p:cNvPr>
            <p:cNvPicPr>
              <a:picLocks noChangeAspect="1"/>
            </p:cNvPicPr>
            <p:nvPr/>
          </p:nvPicPr>
          <p:blipFill>
            <a:blip r:embed="rId3"/>
            <a:stretch>
              <a:fillRect/>
            </a:stretch>
          </p:blipFill>
          <p:spPr>
            <a:xfrm>
              <a:off x="460375" y="1346914"/>
              <a:ext cx="4994940" cy="2896474"/>
            </a:xfrm>
            <a:prstGeom prst="rect">
              <a:avLst/>
            </a:prstGeom>
          </p:spPr>
        </p:pic>
        <p:pic>
          <p:nvPicPr>
            <p:cNvPr id="11" name="Picture 10" descr="Graphical user interface, text, application, email&#10;&#10;Description automatically generated">
              <a:extLst>
                <a:ext uri="{FF2B5EF4-FFF2-40B4-BE49-F238E27FC236}">
                  <a16:creationId xmlns:a16="http://schemas.microsoft.com/office/drawing/2014/main" id="{D7BBA303-8855-5596-12E0-5400E4C72AFB}"/>
                </a:ext>
              </a:extLst>
            </p:cNvPr>
            <p:cNvPicPr>
              <a:picLocks noChangeAspect="1"/>
            </p:cNvPicPr>
            <p:nvPr/>
          </p:nvPicPr>
          <p:blipFill>
            <a:blip r:embed="rId4"/>
            <a:stretch>
              <a:fillRect/>
            </a:stretch>
          </p:blipFill>
          <p:spPr>
            <a:xfrm>
              <a:off x="615950" y="4214813"/>
              <a:ext cx="4226228" cy="1485900"/>
            </a:xfrm>
            <a:prstGeom prst="rect">
              <a:avLst/>
            </a:prstGeom>
          </p:spPr>
        </p:pic>
      </p:grpSp>
      <p:pic>
        <p:nvPicPr>
          <p:cNvPr id="13" name="Picture 12" descr="Graphical user interface, application, Teams&#10;&#10;Description automatically generated">
            <a:extLst>
              <a:ext uri="{FF2B5EF4-FFF2-40B4-BE49-F238E27FC236}">
                <a16:creationId xmlns:a16="http://schemas.microsoft.com/office/drawing/2014/main" id="{4FA567DE-BBC2-553C-7926-6EF16E65AD59}"/>
              </a:ext>
            </a:extLst>
          </p:cNvPr>
          <p:cNvPicPr>
            <a:picLocks noChangeAspect="1"/>
          </p:cNvPicPr>
          <p:nvPr/>
        </p:nvPicPr>
        <p:blipFill>
          <a:blip r:embed="rId5"/>
          <a:stretch>
            <a:fillRect/>
          </a:stretch>
        </p:blipFill>
        <p:spPr>
          <a:xfrm>
            <a:off x="5952211" y="1564044"/>
            <a:ext cx="5688135" cy="3262313"/>
          </a:xfrm>
          <a:prstGeom prst="rect">
            <a:avLst/>
          </a:prstGeom>
        </p:spPr>
      </p:pic>
      <p:cxnSp>
        <p:nvCxnSpPr>
          <p:cNvPr id="15" name="Straight Connector 14">
            <a:extLst>
              <a:ext uri="{FF2B5EF4-FFF2-40B4-BE49-F238E27FC236}">
                <a16:creationId xmlns:a16="http://schemas.microsoft.com/office/drawing/2014/main" id="{284B9550-BF9C-798B-4BBC-2F39FF9BEFFC}"/>
              </a:ext>
            </a:extLst>
          </p:cNvPr>
          <p:cNvCxnSpPr>
            <a:cxnSpLocks/>
          </p:cNvCxnSpPr>
          <p:nvPr/>
        </p:nvCxnSpPr>
        <p:spPr>
          <a:xfrm>
            <a:off x="5632325" y="1035187"/>
            <a:ext cx="0" cy="494588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F0460ED-A801-10BF-BD72-A5625D95A558}"/>
              </a:ext>
            </a:extLst>
          </p:cNvPr>
          <p:cNvSpPr txBox="1"/>
          <p:nvPr/>
        </p:nvSpPr>
        <p:spPr>
          <a:xfrm>
            <a:off x="2058066" y="1230170"/>
            <a:ext cx="756904" cy="369332"/>
          </a:xfrm>
          <a:prstGeom prst="rect">
            <a:avLst/>
          </a:prstGeom>
          <a:noFill/>
          <a:ln w="28575">
            <a:solidFill>
              <a:srgbClr val="C00000"/>
            </a:solidFill>
          </a:ln>
        </p:spPr>
        <p:txBody>
          <a:bodyPr wrap="square" rtlCol="0">
            <a:spAutoFit/>
          </a:bodyPr>
          <a:lstStyle/>
          <a:p>
            <a:r>
              <a:rPr lang="en-BE" dirty="0"/>
              <a:t>Issue</a:t>
            </a:r>
          </a:p>
        </p:txBody>
      </p:sp>
      <p:sp>
        <p:nvSpPr>
          <p:cNvPr id="18" name="TextBox 17">
            <a:extLst>
              <a:ext uri="{FF2B5EF4-FFF2-40B4-BE49-F238E27FC236}">
                <a16:creationId xmlns:a16="http://schemas.microsoft.com/office/drawing/2014/main" id="{236F2846-C361-B4FA-1094-E5D4A97870A3}"/>
              </a:ext>
            </a:extLst>
          </p:cNvPr>
          <p:cNvSpPr txBox="1"/>
          <p:nvPr/>
        </p:nvSpPr>
        <p:spPr>
          <a:xfrm>
            <a:off x="8039374" y="1021743"/>
            <a:ext cx="1504676" cy="369332"/>
          </a:xfrm>
          <a:prstGeom prst="rect">
            <a:avLst/>
          </a:prstGeom>
          <a:noFill/>
          <a:ln w="28575">
            <a:solidFill>
              <a:srgbClr val="C00000"/>
            </a:solidFill>
          </a:ln>
        </p:spPr>
        <p:txBody>
          <a:bodyPr wrap="square" rtlCol="0">
            <a:spAutoFit/>
          </a:bodyPr>
          <a:lstStyle/>
          <a:p>
            <a:r>
              <a:rPr lang="en-BE" dirty="0"/>
              <a:t>Pull Request</a:t>
            </a:r>
          </a:p>
        </p:txBody>
      </p:sp>
      <p:sp>
        <p:nvSpPr>
          <p:cNvPr id="22" name="TextBox 21">
            <a:extLst>
              <a:ext uri="{FF2B5EF4-FFF2-40B4-BE49-F238E27FC236}">
                <a16:creationId xmlns:a16="http://schemas.microsoft.com/office/drawing/2014/main" id="{18ACD510-FC67-4537-779E-53248F5F6471}"/>
              </a:ext>
            </a:extLst>
          </p:cNvPr>
          <p:cNvSpPr txBox="1"/>
          <p:nvPr/>
        </p:nvSpPr>
        <p:spPr>
          <a:xfrm>
            <a:off x="3994692" y="1940548"/>
            <a:ext cx="548734" cy="307777"/>
          </a:xfrm>
          <a:prstGeom prst="rect">
            <a:avLst/>
          </a:prstGeom>
          <a:noFill/>
          <a:ln w="28575">
            <a:solidFill>
              <a:srgbClr val="C00000"/>
            </a:solidFill>
          </a:ln>
        </p:spPr>
        <p:txBody>
          <a:bodyPr wrap="square" rtlCol="0">
            <a:spAutoFit/>
          </a:bodyPr>
          <a:lstStyle/>
          <a:p>
            <a:r>
              <a:rPr lang="en-BE" sz="1400" dirty="0"/>
              <a:t>Title</a:t>
            </a:r>
          </a:p>
        </p:txBody>
      </p:sp>
      <p:sp>
        <p:nvSpPr>
          <p:cNvPr id="23" name="TextBox 22">
            <a:extLst>
              <a:ext uri="{FF2B5EF4-FFF2-40B4-BE49-F238E27FC236}">
                <a16:creationId xmlns:a16="http://schemas.microsoft.com/office/drawing/2014/main" id="{DD1E06CA-1D7F-67A7-1D80-4C3BFF99489F}"/>
              </a:ext>
            </a:extLst>
          </p:cNvPr>
          <p:cNvSpPr txBox="1"/>
          <p:nvPr/>
        </p:nvSpPr>
        <p:spPr>
          <a:xfrm>
            <a:off x="2056820" y="3587449"/>
            <a:ext cx="1657930" cy="307777"/>
          </a:xfrm>
          <a:prstGeom prst="rect">
            <a:avLst/>
          </a:prstGeom>
          <a:noFill/>
          <a:ln w="28575">
            <a:solidFill>
              <a:srgbClr val="C00000"/>
            </a:solidFill>
          </a:ln>
        </p:spPr>
        <p:txBody>
          <a:bodyPr wrap="square" rtlCol="0">
            <a:spAutoFit/>
          </a:bodyPr>
          <a:lstStyle/>
          <a:p>
            <a:r>
              <a:rPr lang="en-BE" sz="1400" dirty="0"/>
              <a:t>Detailed description </a:t>
            </a:r>
          </a:p>
        </p:txBody>
      </p:sp>
      <p:sp>
        <p:nvSpPr>
          <p:cNvPr id="24" name="TextBox 23">
            <a:extLst>
              <a:ext uri="{FF2B5EF4-FFF2-40B4-BE49-F238E27FC236}">
                <a16:creationId xmlns:a16="http://schemas.microsoft.com/office/drawing/2014/main" id="{4828AA00-9138-E751-8E32-15A745F39D37}"/>
              </a:ext>
            </a:extLst>
          </p:cNvPr>
          <p:cNvSpPr txBox="1"/>
          <p:nvPr/>
        </p:nvSpPr>
        <p:spPr>
          <a:xfrm>
            <a:off x="795336" y="6096862"/>
            <a:ext cx="3090855" cy="307777"/>
          </a:xfrm>
          <a:prstGeom prst="rect">
            <a:avLst/>
          </a:prstGeom>
          <a:noFill/>
          <a:ln w="28575">
            <a:solidFill>
              <a:srgbClr val="C00000"/>
            </a:solidFill>
          </a:ln>
        </p:spPr>
        <p:txBody>
          <a:bodyPr wrap="square" rtlCol="0">
            <a:spAutoFit/>
          </a:bodyPr>
          <a:lstStyle/>
          <a:p>
            <a:r>
              <a:rPr lang="en-BE" sz="1400" dirty="0"/>
              <a:t>More Description later – As comments</a:t>
            </a:r>
          </a:p>
        </p:txBody>
      </p:sp>
      <p:grpSp>
        <p:nvGrpSpPr>
          <p:cNvPr id="30" name="Group 29">
            <a:extLst>
              <a:ext uri="{FF2B5EF4-FFF2-40B4-BE49-F238E27FC236}">
                <a16:creationId xmlns:a16="http://schemas.microsoft.com/office/drawing/2014/main" id="{F999BA08-D03A-97F6-49F7-FBBA390A0188}"/>
              </a:ext>
            </a:extLst>
          </p:cNvPr>
          <p:cNvGrpSpPr/>
          <p:nvPr/>
        </p:nvGrpSpPr>
        <p:grpSpPr>
          <a:xfrm>
            <a:off x="6984189" y="4298150"/>
            <a:ext cx="2930983" cy="1489002"/>
            <a:chOff x="6559676" y="4979899"/>
            <a:chExt cx="2930983" cy="1489002"/>
          </a:xfrm>
        </p:grpSpPr>
        <p:pic>
          <p:nvPicPr>
            <p:cNvPr id="20" name="Picture 19" descr="Graphical user interface, text, application, email&#10;&#10;Description automatically generated">
              <a:extLst>
                <a:ext uri="{FF2B5EF4-FFF2-40B4-BE49-F238E27FC236}">
                  <a16:creationId xmlns:a16="http://schemas.microsoft.com/office/drawing/2014/main" id="{5B825663-B6D7-D673-B698-7A5FF4A48AF6}"/>
                </a:ext>
              </a:extLst>
            </p:cNvPr>
            <p:cNvPicPr>
              <a:picLocks noChangeAspect="1"/>
            </p:cNvPicPr>
            <p:nvPr/>
          </p:nvPicPr>
          <p:blipFill>
            <a:blip r:embed="rId6"/>
            <a:stretch>
              <a:fillRect/>
            </a:stretch>
          </p:blipFill>
          <p:spPr>
            <a:xfrm>
              <a:off x="6559676" y="4979899"/>
              <a:ext cx="2930983" cy="1489002"/>
            </a:xfrm>
            <a:prstGeom prst="rect">
              <a:avLst/>
            </a:prstGeom>
            <a:ln>
              <a:solidFill>
                <a:schemeClr val="bg1">
                  <a:lumMod val="50000"/>
                </a:schemeClr>
              </a:solidFill>
            </a:ln>
          </p:spPr>
        </p:pic>
        <p:sp>
          <p:nvSpPr>
            <p:cNvPr id="29" name="TextBox 28">
              <a:extLst>
                <a:ext uri="{FF2B5EF4-FFF2-40B4-BE49-F238E27FC236}">
                  <a16:creationId xmlns:a16="http://schemas.microsoft.com/office/drawing/2014/main" id="{405A6148-720D-1B17-A37E-69017DAC80AA}"/>
                </a:ext>
              </a:extLst>
            </p:cNvPr>
            <p:cNvSpPr txBox="1"/>
            <p:nvPr/>
          </p:nvSpPr>
          <p:spPr>
            <a:xfrm>
              <a:off x="7372350" y="5724400"/>
              <a:ext cx="1828800" cy="338554"/>
            </a:xfrm>
            <a:prstGeom prst="rect">
              <a:avLst/>
            </a:prstGeom>
            <a:noFill/>
            <a:ln w="28575">
              <a:solidFill>
                <a:srgbClr val="166623"/>
              </a:solidFill>
            </a:ln>
          </p:spPr>
          <p:txBody>
            <a:bodyPr wrap="square" rtlCol="0">
              <a:spAutoFit/>
            </a:bodyPr>
            <a:lstStyle/>
            <a:p>
              <a:r>
                <a:rPr lang="en-GB" sz="1600" dirty="0"/>
                <a:t>K</a:t>
              </a:r>
              <a:r>
                <a:rPr lang="en-BE" sz="1600" dirty="0"/>
                <a:t>eyword #Issue_No</a:t>
              </a:r>
            </a:p>
          </p:txBody>
        </p:sp>
      </p:grpSp>
      <p:sp>
        <p:nvSpPr>
          <p:cNvPr id="33" name="Rounded Rectangle 32">
            <a:extLst>
              <a:ext uri="{FF2B5EF4-FFF2-40B4-BE49-F238E27FC236}">
                <a16:creationId xmlns:a16="http://schemas.microsoft.com/office/drawing/2014/main" id="{D26A9111-3F52-E3AB-4205-E1489D7853EC}"/>
              </a:ext>
            </a:extLst>
          </p:cNvPr>
          <p:cNvSpPr/>
          <p:nvPr/>
        </p:nvSpPr>
        <p:spPr>
          <a:xfrm>
            <a:off x="10152084" y="2343462"/>
            <a:ext cx="1488262" cy="62833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37" name="Group 36">
            <a:extLst>
              <a:ext uri="{FF2B5EF4-FFF2-40B4-BE49-F238E27FC236}">
                <a16:creationId xmlns:a16="http://schemas.microsoft.com/office/drawing/2014/main" id="{44D02EB3-EC93-C64C-0DD9-C311061DC988}"/>
              </a:ext>
            </a:extLst>
          </p:cNvPr>
          <p:cNvGrpSpPr/>
          <p:nvPr/>
        </p:nvGrpSpPr>
        <p:grpSpPr>
          <a:xfrm>
            <a:off x="3994692" y="2395787"/>
            <a:ext cx="1930885" cy="318838"/>
            <a:chOff x="3994692" y="2395787"/>
            <a:chExt cx="1930885" cy="318838"/>
          </a:xfrm>
        </p:grpSpPr>
        <p:sp>
          <p:nvSpPr>
            <p:cNvPr id="32" name="Rounded Rectangle 31">
              <a:extLst>
                <a:ext uri="{FF2B5EF4-FFF2-40B4-BE49-F238E27FC236}">
                  <a16:creationId xmlns:a16="http://schemas.microsoft.com/office/drawing/2014/main" id="{C26964D7-D079-2E66-35EF-D0F7E1D0CD03}"/>
                </a:ext>
              </a:extLst>
            </p:cNvPr>
            <p:cNvSpPr/>
            <p:nvPr/>
          </p:nvSpPr>
          <p:spPr>
            <a:xfrm>
              <a:off x="3994692" y="2467183"/>
              <a:ext cx="548734" cy="2474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5" name="Straight Arrow Connector 34">
              <a:extLst>
                <a:ext uri="{FF2B5EF4-FFF2-40B4-BE49-F238E27FC236}">
                  <a16:creationId xmlns:a16="http://schemas.microsoft.com/office/drawing/2014/main" id="{865D2468-DB35-0DA5-6165-4AF1E5984425}"/>
                </a:ext>
              </a:extLst>
            </p:cNvPr>
            <p:cNvCxnSpPr>
              <a:cxnSpLocks/>
            </p:cNvCxnSpPr>
            <p:nvPr/>
          </p:nvCxnSpPr>
          <p:spPr>
            <a:xfrm flipV="1">
              <a:off x="4543426" y="2395787"/>
              <a:ext cx="1382151" cy="20453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Rounded Rectangle 37">
            <a:extLst>
              <a:ext uri="{FF2B5EF4-FFF2-40B4-BE49-F238E27FC236}">
                <a16:creationId xmlns:a16="http://schemas.microsoft.com/office/drawing/2014/main" id="{3FF22800-7F87-0F37-A5A3-74621EBC4920}"/>
              </a:ext>
            </a:extLst>
          </p:cNvPr>
          <p:cNvSpPr/>
          <p:nvPr/>
        </p:nvSpPr>
        <p:spPr>
          <a:xfrm>
            <a:off x="5935982" y="1719889"/>
            <a:ext cx="2759919" cy="29402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40" name="Group 39">
            <a:extLst>
              <a:ext uri="{FF2B5EF4-FFF2-40B4-BE49-F238E27FC236}">
                <a16:creationId xmlns:a16="http://schemas.microsoft.com/office/drawing/2014/main" id="{6AFA8835-2D24-F5C0-863E-A860A08A7DD3}"/>
              </a:ext>
            </a:extLst>
          </p:cNvPr>
          <p:cNvGrpSpPr/>
          <p:nvPr/>
        </p:nvGrpSpPr>
        <p:grpSpPr>
          <a:xfrm>
            <a:off x="938674" y="1543989"/>
            <a:ext cx="9544391" cy="1170636"/>
            <a:chOff x="938674" y="1543989"/>
            <a:chExt cx="9544391" cy="1170636"/>
          </a:xfrm>
        </p:grpSpPr>
        <p:grpSp>
          <p:nvGrpSpPr>
            <p:cNvPr id="28" name="Group 27">
              <a:extLst>
                <a:ext uri="{FF2B5EF4-FFF2-40B4-BE49-F238E27FC236}">
                  <a16:creationId xmlns:a16="http://schemas.microsoft.com/office/drawing/2014/main" id="{75058CF9-2206-69A5-D71D-CAC918CAAACF}"/>
                </a:ext>
              </a:extLst>
            </p:cNvPr>
            <p:cNvGrpSpPr/>
            <p:nvPr/>
          </p:nvGrpSpPr>
          <p:grpSpPr>
            <a:xfrm>
              <a:off x="2056820" y="1543989"/>
              <a:ext cx="8426245" cy="1170636"/>
              <a:chOff x="2056820" y="1543989"/>
              <a:chExt cx="8426245" cy="1170636"/>
            </a:xfrm>
          </p:grpSpPr>
          <p:sp>
            <p:nvSpPr>
              <p:cNvPr id="25" name="Rounded Rectangle 24">
                <a:extLst>
                  <a:ext uri="{FF2B5EF4-FFF2-40B4-BE49-F238E27FC236}">
                    <a16:creationId xmlns:a16="http://schemas.microsoft.com/office/drawing/2014/main" id="{1A3B0532-D3EE-8226-E421-E6EE72D93AE1}"/>
                  </a:ext>
                </a:extLst>
              </p:cNvPr>
              <p:cNvSpPr/>
              <p:nvPr/>
            </p:nvSpPr>
            <p:spPr>
              <a:xfrm>
                <a:off x="6245462" y="2467183"/>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6" name="Rounded Rectangle 25">
                <a:extLst>
                  <a:ext uri="{FF2B5EF4-FFF2-40B4-BE49-F238E27FC236}">
                    <a16:creationId xmlns:a16="http://schemas.microsoft.com/office/drawing/2014/main" id="{D103EBF5-FBD1-4A0E-D1F1-B5BAB7F5A161}"/>
                  </a:ext>
                </a:extLst>
              </p:cNvPr>
              <p:cNvSpPr/>
              <p:nvPr/>
            </p:nvSpPr>
            <p:spPr>
              <a:xfrm>
                <a:off x="2056820" y="2013917"/>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7" name="Rounded Rectangle 26">
                <a:extLst>
                  <a:ext uri="{FF2B5EF4-FFF2-40B4-BE49-F238E27FC236}">
                    <a16:creationId xmlns:a16="http://schemas.microsoft.com/office/drawing/2014/main" id="{046B396F-E517-476C-B0C4-A26DABDB9406}"/>
                  </a:ext>
                </a:extLst>
              </p:cNvPr>
              <p:cNvSpPr/>
              <p:nvPr/>
            </p:nvSpPr>
            <p:spPr>
              <a:xfrm>
                <a:off x="9784802" y="1543989"/>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39" name="Rounded Rectangle 38">
              <a:extLst>
                <a:ext uri="{FF2B5EF4-FFF2-40B4-BE49-F238E27FC236}">
                  <a16:creationId xmlns:a16="http://schemas.microsoft.com/office/drawing/2014/main" id="{3010A3A6-A2AF-9B66-32D4-ED1F40F8E085}"/>
                </a:ext>
              </a:extLst>
            </p:cNvPr>
            <p:cNvSpPr/>
            <p:nvPr/>
          </p:nvSpPr>
          <p:spPr>
            <a:xfrm>
              <a:off x="938674" y="1866903"/>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3" name="TextBox 2">
            <a:extLst>
              <a:ext uri="{FF2B5EF4-FFF2-40B4-BE49-F238E27FC236}">
                <a16:creationId xmlns:a16="http://schemas.microsoft.com/office/drawing/2014/main" id="{47C5B394-88F2-AA19-E69D-CCB347E0F9AF}"/>
              </a:ext>
            </a:extLst>
          </p:cNvPr>
          <p:cNvSpPr txBox="1"/>
          <p:nvPr/>
        </p:nvSpPr>
        <p:spPr>
          <a:xfrm>
            <a:off x="4299744" y="5876696"/>
            <a:ext cx="7096920" cy="830997"/>
          </a:xfrm>
          <a:prstGeom prst="rect">
            <a:avLst/>
          </a:prstGeom>
          <a:solidFill>
            <a:schemeClr val="bg1"/>
          </a:solidFill>
          <a:ln w="28575">
            <a:solidFill>
              <a:srgbClr val="C00000"/>
            </a:solidFill>
          </a:ln>
        </p:spPr>
        <p:txBody>
          <a:bodyPr wrap="square" rtlCol="0">
            <a:spAutoFit/>
          </a:bodyPr>
          <a:lstStyle/>
          <a:p>
            <a:r>
              <a:rPr lang="en-US" sz="2400" dirty="0"/>
              <a:t>In the project, it is required that you link the Issues to the Pull requests</a:t>
            </a:r>
          </a:p>
        </p:txBody>
      </p:sp>
    </p:spTree>
    <p:extLst>
      <p:ext uri="{BB962C8B-B14F-4D97-AF65-F5344CB8AC3E}">
        <p14:creationId xmlns:p14="http://schemas.microsoft.com/office/powerpoint/2010/main" val="3967663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dissolv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dissolv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dissolve">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dissolv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dissolve">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33" grpId="0" animBg="1"/>
      <p:bldP spid="38" grpId="0" animBg="1"/>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Project – Pull requests and reviews requirements</a:t>
            </a:r>
            <a:endParaRPr sz="3600" b="0" i="0">
              <a:solidFill>
                <a:srgbClr val="1F1F1F"/>
              </a:solidFill>
              <a:latin typeface="OpenSans"/>
              <a:ea typeface="OpenSans"/>
              <a:cs typeface="OpenSans"/>
            </a:endParaRPr>
          </a:p>
        </p:txBody>
      </p:sp>
      <p:pic>
        <p:nvPicPr>
          <p:cNvPr id="24" name="Picture 16"/>
          <p:cNvPicPr>
            <a:picLocks noChangeAspect="1"/>
          </p:cNvPicPr>
          <p:nvPr/>
        </p:nvPicPr>
        <p:blipFill>
          <a:blip r:embed="rId3"/>
          <a:stretch>
            <a:fillRect/>
          </a:stretch>
        </p:blipFill>
        <p:spPr>
          <a:xfrm>
            <a:off x="390322" y="1177510"/>
            <a:ext cx="4189853" cy="3770868"/>
          </a:xfrm>
          <a:prstGeom prst="rect">
            <a:avLst/>
          </a:prstGeom>
          <a:ln>
            <a:solidFill>
              <a:schemeClr val="tx1"/>
            </a:solidFill>
          </a:ln>
        </p:spPr>
      </p:pic>
      <p:sp>
        <p:nvSpPr>
          <p:cNvPr id="20" name="TextBox 19">
            <a:extLst>
              <a:ext uri="{FF2B5EF4-FFF2-40B4-BE49-F238E27FC236}">
                <a16:creationId xmlns:a16="http://schemas.microsoft.com/office/drawing/2014/main" id="{DDAF2E20-B959-3AE3-34EA-022564FEF992}"/>
              </a:ext>
            </a:extLst>
          </p:cNvPr>
          <p:cNvSpPr>
            <a:spLocks noGrp="1"/>
          </p:cNvSpPr>
          <p:nvPr/>
        </p:nvSpPr>
        <p:spPr>
          <a:xfrm>
            <a:off x="2112340" y="4307900"/>
            <a:ext cx="1126805" cy="523220"/>
          </a:xfrm>
          <a:prstGeom prst="rect">
            <a:avLst/>
          </a:prstGeom>
          <a:noFill/>
          <a:ln w="28575">
            <a:solidFill>
              <a:srgbClr val="C00000"/>
            </a:solidFill>
          </a:ln>
        </p:spPr>
        <p:txBody>
          <a:bodyPr wrap="square">
            <a:spAutoFit/>
          </a:bodyPr>
          <a:lstStyle/>
          <a:p>
            <a:pPr algn="ctr">
              <a:buNone/>
            </a:pPr>
            <a:r>
              <a:rPr sz="1400"/>
              <a:t>Markdown Language</a:t>
            </a:r>
          </a:p>
        </p:txBody>
      </p:sp>
      <p:pic>
        <p:nvPicPr>
          <p:cNvPr id="26" name="Picture 1"/>
          <p:cNvPicPr>
            <a:picLocks noChangeAspect="1"/>
          </p:cNvPicPr>
          <p:nvPr/>
        </p:nvPicPr>
        <p:blipFill>
          <a:blip r:embed="rId4"/>
          <a:stretch>
            <a:fillRect/>
          </a:stretch>
        </p:blipFill>
        <p:spPr>
          <a:xfrm>
            <a:off x="8307091" y="980462"/>
            <a:ext cx="3443621" cy="3698355"/>
          </a:xfrm>
          <a:prstGeom prst="rect">
            <a:avLst/>
          </a:prstGeom>
          <a:ln w="28575">
            <a:solidFill>
              <a:srgbClr val="C00000"/>
            </a:solidFill>
          </a:ln>
        </p:spPr>
      </p:pic>
      <p:sp>
        <p:nvSpPr>
          <p:cNvPr id="3" name="TextBox 2">
            <a:extLst>
              <a:ext uri="{FF2B5EF4-FFF2-40B4-BE49-F238E27FC236}">
                <a16:creationId xmlns:a16="http://schemas.microsoft.com/office/drawing/2014/main" id="{1FE6A5B8-A353-D1EA-ACFF-C673497A3390}"/>
              </a:ext>
            </a:extLst>
          </p:cNvPr>
          <p:cNvSpPr>
            <a:spLocks noGrp="1"/>
          </p:cNvSpPr>
          <p:nvPr/>
        </p:nvSpPr>
        <p:spPr>
          <a:xfrm>
            <a:off x="4385451" y="4569510"/>
            <a:ext cx="3833484" cy="2062103"/>
          </a:xfrm>
          <a:prstGeom prst="rect">
            <a:avLst/>
          </a:prstGeom>
          <a:solidFill>
            <a:schemeClr val="bg1"/>
          </a:solidFill>
          <a:ln w="38100">
            <a:solidFill>
              <a:srgbClr val="166623"/>
            </a:solidFill>
          </a:ln>
        </p:spPr>
        <p:txBody>
          <a:bodyPr wrap="square">
            <a:spAutoFit/>
          </a:bodyPr>
          <a:lstStyle/>
          <a:p>
            <a:r>
              <a:rPr sz="1600" b="1"/>
              <a:t>Requirements</a:t>
            </a:r>
          </a:p>
          <a:p>
            <a:pPr marL="285750" indent="-285750">
              <a:buFont typeface="Arial"/>
              <a:buChar char="•"/>
            </a:pPr>
            <a:r>
              <a:rPr sz="1600"/>
              <a:t>Programming language Style Guide</a:t>
            </a:r>
          </a:p>
          <a:p>
            <a:pPr marL="285750" indent="-285750">
              <a:buFont typeface="Arial"/>
              <a:buChar char="•"/>
            </a:pPr>
            <a:r>
              <a:rPr sz="1600"/>
              <a:t>The code has passed all tests</a:t>
            </a:r>
          </a:p>
          <a:p>
            <a:pPr marL="285750" indent="-285750">
              <a:buFont typeface="Arial"/>
              <a:buChar char="•"/>
            </a:pPr>
            <a:r>
              <a:rPr sz="1600"/>
              <a:t>Test Coverage (&gt;90)</a:t>
            </a:r>
          </a:p>
          <a:p>
            <a:pPr marL="285750" indent="-285750">
              <a:buFont typeface="Arial"/>
              <a:buChar char="•"/>
            </a:pPr>
            <a:r>
              <a:rPr sz="1600"/>
              <a:t>Code is well Documented</a:t>
            </a:r>
          </a:p>
          <a:p>
            <a:pPr marL="285750" indent="-285750">
              <a:buFont typeface="Arial"/>
              <a:buChar char="•"/>
            </a:pPr>
            <a:r>
              <a:rPr sz="1600"/>
              <a:t>Passed CI</a:t>
            </a:r>
          </a:p>
          <a:p>
            <a:pPr marL="285750" indent="-285750">
              <a:buFont typeface="Arial"/>
              <a:buChar char="•"/>
            </a:pPr>
            <a:r>
              <a:rPr sz="1600"/>
              <a:t>Design Diagrams</a:t>
            </a:r>
          </a:p>
          <a:p>
            <a:pPr marL="285750" indent="-285750">
              <a:buFont typeface="Arial"/>
              <a:buChar char="•"/>
            </a:pPr>
            <a:r>
              <a:rPr sz="1600"/>
              <a:t>PR and issues are linked</a:t>
            </a:r>
          </a:p>
        </p:txBody>
      </p:sp>
    </p:spTree>
    <p:extLst>
      <p:ext uri="{BB962C8B-B14F-4D97-AF65-F5344CB8AC3E}">
        <p14:creationId xmlns:p14="http://schemas.microsoft.com/office/powerpoint/2010/main" val="1636303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rPr dirty="0"/>
              <a:t>Workflow in the Lab</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pPr marL="0" indent="0">
              <a:buNone/>
            </a:pPr>
            <a:r>
              <a:rPr lang="en-GB" dirty="0"/>
              <a:t>Issue → Synchronize fork → Branch → Focused commits → Push → Pull request → Review → Revision → Merge</a:t>
            </a:r>
          </a:p>
          <a:p>
            <a:pPr marL="0" indent="0">
              <a:buNone/>
            </a:pPr>
            <a:endParaRPr dirty="0"/>
          </a:p>
        </p:txBody>
      </p:sp>
    </p:spTree>
    <p:extLst>
      <p:ext uri="{BB962C8B-B14F-4D97-AF65-F5344CB8AC3E}">
        <p14:creationId xmlns:p14="http://schemas.microsoft.com/office/powerpoint/2010/main" val="990315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C3A73DA0-279A-5F6A-13D6-A5F4C3366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3300" y="654050"/>
            <a:ext cx="7645400" cy="554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137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D79CF-3236-5363-598E-5CE68C889E5D}"/>
              </a:ext>
            </a:extLst>
          </p:cNvPr>
          <p:cNvSpPr>
            <a:spLocks noGrp="1"/>
          </p:cNvSpPr>
          <p:nvPr>
            <p:ph type="title"/>
          </p:nvPr>
        </p:nvSpPr>
        <p:spPr/>
        <p:txBody>
          <a:bodyPr/>
          <a:lstStyle/>
          <a:p>
            <a:r>
              <a:rPr lang="en-US" dirty="0"/>
              <a:t>Project Evaluation</a:t>
            </a:r>
          </a:p>
        </p:txBody>
      </p:sp>
      <p:sp>
        <p:nvSpPr>
          <p:cNvPr id="3" name="Content Placeholder 2">
            <a:extLst>
              <a:ext uri="{FF2B5EF4-FFF2-40B4-BE49-F238E27FC236}">
                <a16:creationId xmlns:a16="http://schemas.microsoft.com/office/drawing/2014/main" id="{91603895-6E0A-A3F0-59E7-2B843E610DE2}"/>
              </a:ext>
            </a:extLst>
          </p:cNvPr>
          <p:cNvSpPr>
            <a:spLocks noGrp="1"/>
          </p:cNvSpPr>
          <p:nvPr>
            <p:ph idx="1"/>
          </p:nvPr>
        </p:nvSpPr>
        <p:spPr/>
        <p:txBody>
          <a:bodyPr/>
          <a:lstStyle/>
          <a:p>
            <a:r>
              <a:rPr lang="en-US" dirty="0">
                <a:hlinkClick r:id="rId2"/>
              </a:rPr>
              <a:t>Project Evaluation</a:t>
            </a:r>
            <a:endParaRPr lang="en-US" dirty="0"/>
          </a:p>
        </p:txBody>
      </p:sp>
    </p:spTree>
    <p:extLst>
      <p:ext uri="{BB962C8B-B14F-4D97-AF65-F5344CB8AC3E}">
        <p14:creationId xmlns:p14="http://schemas.microsoft.com/office/powerpoint/2010/main" val="1112440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3506</TotalTime>
  <Words>5374</Words>
  <Application>Microsoft Macintosh PowerPoint</Application>
  <DocSecurity>0</DocSecurity>
  <PresentationFormat>Widescreen</PresentationFormat>
  <Paragraphs>506</Paragraphs>
  <Slides>43</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Calibri Light</vt:lpstr>
      <vt:lpstr>Menlo</vt:lpstr>
      <vt:lpstr>OpenSans</vt:lpstr>
      <vt:lpstr>Source Sans Pro</vt:lpstr>
      <vt:lpstr>Wingdings</vt:lpstr>
      <vt:lpstr>Office Theme</vt:lpstr>
      <vt:lpstr>Git and GitHub</vt:lpstr>
      <vt:lpstr>Learning Objectives</vt:lpstr>
      <vt:lpstr>Why Git and GitHub Matter to a Team</vt:lpstr>
      <vt:lpstr>Git &amp; GitHub - version Control</vt:lpstr>
      <vt:lpstr>Working with Git</vt:lpstr>
      <vt:lpstr>Working with Git</vt:lpstr>
      <vt:lpstr>What makes a good commit message?</vt:lpstr>
      <vt:lpstr>Getting More Information About Our Changes</vt:lpstr>
      <vt:lpstr>Getting More Information About Our Changes</vt:lpstr>
      <vt:lpstr>Undoing Changes</vt:lpstr>
      <vt:lpstr>Undoing Changes - Rolbacks</vt:lpstr>
      <vt:lpstr>Branching and Merging</vt:lpstr>
      <vt:lpstr>Branching and Merging</vt:lpstr>
      <vt:lpstr>Branching and Merging</vt:lpstr>
      <vt:lpstr>Merge Conflicts</vt:lpstr>
      <vt:lpstr>Intro to GitHub</vt:lpstr>
      <vt:lpstr>Interacting with GitHub</vt:lpstr>
      <vt:lpstr>One Repository for the Whole Team</vt:lpstr>
      <vt:lpstr>The Team Contribution Workflow</vt:lpstr>
      <vt:lpstr>Pull Requests Control Integration</vt:lpstr>
      <vt:lpstr>Collaboration on GitHub - Pull request – Fork Workflow</vt:lpstr>
      <vt:lpstr>Collaboration on GitHub - Pull request – Fork Workflow</vt:lpstr>
      <vt:lpstr>Collaboration on GitHub - Pull request – Fork Workflow</vt:lpstr>
      <vt:lpstr>Collaboration on GitHub - Pull request – Fork Workflow</vt:lpstr>
      <vt:lpstr>Updating an Existing Pull Request</vt:lpstr>
      <vt:lpstr>Updating an Existing Pull Request</vt:lpstr>
      <vt:lpstr>Best Practices for Collaboration</vt:lpstr>
      <vt:lpstr>Code Reviews</vt:lpstr>
      <vt:lpstr>Why do we need to perform code reviews?</vt:lpstr>
      <vt:lpstr>Code Reviews on GitHub</vt:lpstr>
      <vt:lpstr>Code Reviews on GitHub</vt:lpstr>
      <vt:lpstr>Code Reviews on GitHub</vt:lpstr>
      <vt:lpstr>Merging PRs – Branch Protection Rules</vt:lpstr>
      <vt:lpstr>Integrating PRs</vt:lpstr>
      <vt:lpstr>Managing Team Projects</vt:lpstr>
      <vt:lpstr>Tracking Issues</vt:lpstr>
      <vt:lpstr>Issue Template</vt:lpstr>
      <vt:lpstr>Issue Tracker - GitHub</vt:lpstr>
      <vt:lpstr>Tracking Issues - GitHub</vt:lpstr>
      <vt:lpstr>Project – Pull requests and reviews requirements</vt:lpstr>
      <vt:lpstr>Workflow in the Lab</vt:lpstr>
      <vt:lpstr>PowerPoint Presentation</vt:lpstr>
      <vt:lpstr>Project 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Businge</cp:lastModifiedBy>
  <cp:revision>6</cp:revision>
  <dcterms:created xsi:type="dcterms:W3CDTF">2026-08-16T12:42:14Z</dcterms:created>
  <dcterms:modified xsi:type="dcterms:W3CDTF">2026-08-19T00:03:15Z</dcterms:modified>
</cp:coreProperties>
</file>