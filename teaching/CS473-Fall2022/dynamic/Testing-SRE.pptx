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70" r:id="rId7"/>
    <p:sldId id="332" r:id="rId8"/>
    <p:sldId id="334" r:id="rId9"/>
    <p:sldId id="333" r:id="rId10"/>
    <p:sldId id="337" r:id="rId11"/>
    <p:sldId id="338" r:id="rId12"/>
    <p:sldId id="339" r:id="rId13"/>
    <p:sldId id="340" r:id="rId14"/>
    <p:sldId id="341" r:id="rId15"/>
    <p:sldId id="328" r:id="rId16"/>
    <p:sldId id="329" r:id="rId17"/>
    <p:sldId id="330" r:id="rId18"/>
    <p:sldId id="331" r:id="rId19"/>
    <p:sldId id="342" r:id="rId20"/>
    <p:sldId id="271" r:id="rId21"/>
    <p:sldId id="272" r:id="rId22"/>
    <p:sldId id="273" r:id="rId23"/>
    <p:sldId id="274" r:id="rId24"/>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17792D"/>
    <a:srgbClr val="15BE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695"/>
    <p:restoredTop sz="78714"/>
  </p:normalViewPr>
  <p:slideViewPr>
    <p:cSldViewPr snapToGrid="0">
      <p:cViewPr varScale="1">
        <p:scale>
          <a:sx n="124" d="100"/>
          <a:sy n="124" d="100"/>
        </p:scale>
        <p:origin x="37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D6E49F-2095-0B40-AFFF-DDA00854E507}" type="datetimeFigureOut">
              <a:rPr lang="en-BE" smtClean="0"/>
              <a:t>16/09/2026</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42266E-4AE0-3346-930D-BC097FD258CE}" type="slidenum">
              <a:rPr lang="en-BE" smtClean="0"/>
              <a:t>‹#›</a:t>
            </a:fld>
            <a:endParaRPr lang="en-BE"/>
          </a:p>
        </p:txBody>
      </p:sp>
    </p:spTree>
    <p:extLst>
      <p:ext uri="{BB962C8B-B14F-4D97-AF65-F5344CB8AC3E}">
        <p14:creationId xmlns:p14="http://schemas.microsoft.com/office/powerpoint/2010/main" val="3544223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Another example is using a debugger.</a:t>
            </a:r>
          </a:p>
          <a:p>
            <a:endParaRPr lang="en-BE" dirty="0"/>
          </a:p>
          <a:p>
            <a:r>
              <a:rPr lang="en-BE" dirty="0"/>
              <a:t>The different testing techniques like Unit tests, Integration tests, system tests, and acceptance tests use dynamic testing.</a:t>
            </a:r>
          </a:p>
        </p:txBody>
      </p:sp>
      <p:sp>
        <p:nvSpPr>
          <p:cNvPr id="4" name="Slide Number Placeholder 3"/>
          <p:cNvSpPr>
            <a:spLocks noGrp="1"/>
          </p:cNvSpPr>
          <p:nvPr>
            <p:ph type="sldNum" sz="quarter" idx="5"/>
          </p:nvPr>
        </p:nvSpPr>
        <p:spPr/>
        <p:txBody>
          <a:bodyPr/>
          <a:lstStyle/>
          <a:p>
            <a:fld id="{A042266E-4AE0-3346-930D-BC097FD258CE}" type="slidenum">
              <a:rPr lang="en-BE" smtClean="0"/>
              <a:t>2</a:t>
            </a:fld>
            <a:endParaRPr lang="en-BE"/>
          </a:p>
        </p:txBody>
      </p:sp>
    </p:spTree>
    <p:extLst>
      <p:ext uri="{BB962C8B-B14F-4D97-AF65-F5344CB8AC3E}">
        <p14:creationId xmlns:p14="http://schemas.microsoft.com/office/powerpoint/2010/main" val="421783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There are many parts in the book related to testing. The first one I like very much is “Tests are your life assurance!”</a:t>
            </a:r>
          </a:p>
          <a:p>
            <a:endParaRPr lang="en-BE" dirty="0"/>
          </a:p>
          <a:p>
            <a:r>
              <a:rPr lang="en-GB" b="0" i="0" dirty="0">
                <a:solidFill>
                  <a:srgbClr val="4D5156"/>
                </a:solidFill>
                <a:effectLst/>
                <a:latin typeface="Roboto" panose="02000000000000000000" pitchFamily="2" charset="0"/>
              </a:rPr>
              <a:t>Black-box testing is a method of software testing that examines the functionality of an application without peering into its internal structures or workings. </a:t>
            </a:r>
          </a:p>
          <a:p>
            <a:r>
              <a:rPr lang="en-GB" b="0" i="0" dirty="0">
                <a:solidFill>
                  <a:srgbClr val="4D5156"/>
                </a:solidFill>
                <a:effectLst/>
                <a:latin typeface="Roboto" panose="02000000000000000000" pitchFamily="2" charset="0"/>
              </a:rPr>
              <a:t>This test method can be applied virtually to every level of software testing: unit, integration, system and acceptance.</a:t>
            </a:r>
            <a:endParaRPr lang="en-BE" dirty="0"/>
          </a:p>
        </p:txBody>
      </p:sp>
      <p:sp>
        <p:nvSpPr>
          <p:cNvPr id="4" name="Slide Number Placeholder 3"/>
          <p:cNvSpPr>
            <a:spLocks noGrp="1"/>
          </p:cNvSpPr>
          <p:nvPr>
            <p:ph type="sldNum" sz="quarter" idx="5"/>
          </p:nvPr>
        </p:nvSpPr>
        <p:spPr/>
        <p:txBody>
          <a:bodyPr/>
          <a:lstStyle/>
          <a:p>
            <a:fld id="{A042266E-4AE0-3346-930D-BC097FD258CE}" type="slidenum">
              <a:rPr lang="en-BE" smtClean="0"/>
              <a:t>3</a:t>
            </a:fld>
            <a:endParaRPr lang="en-BE"/>
          </a:p>
        </p:txBody>
      </p:sp>
    </p:spTree>
    <p:extLst>
      <p:ext uri="{BB962C8B-B14F-4D97-AF65-F5344CB8AC3E}">
        <p14:creationId xmlns:p14="http://schemas.microsoft.com/office/powerpoint/2010/main" val="1565506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In this lab, we are going to focus on unit testing</a:t>
            </a:r>
          </a:p>
          <a:p>
            <a:r>
              <a:rPr lang="en-GB" b="0" i="0" dirty="0">
                <a:solidFill>
                  <a:srgbClr val="202124"/>
                </a:solidFill>
                <a:effectLst/>
                <a:latin typeface="Roboto" panose="020F0502020204030204" pitchFamily="34" charset="0"/>
              </a:rPr>
              <a:t>In unit testing, the focus is on</a:t>
            </a:r>
            <a:r>
              <a:rPr lang="en-GB" b="1" i="0" dirty="0">
                <a:solidFill>
                  <a:srgbClr val="202124"/>
                </a:solidFill>
                <a:effectLst/>
                <a:latin typeface="Roboto" panose="02000000000000000000" pitchFamily="2" charset="0"/>
              </a:rPr>
              <a:t> the smallest testable parts of an application, called units (an example is a method)</a:t>
            </a:r>
            <a:endParaRPr lang="en-BE" dirty="0"/>
          </a:p>
        </p:txBody>
      </p:sp>
      <p:sp>
        <p:nvSpPr>
          <p:cNvPr id="4" name="Slide Number Placeholder 3"/>
          <p:cNvSpPr>
            <a:spLocks noGrp="1"/>
          </p:cNvSpPr>
          <p:nvPr>
            <p:ph type="sldNum" sz="quarter" idx="5"/>
          </p:nvPr>
        </p:nvSpPr>
        <p:spPr/>
        <p:txBody>
          <a:bodyPr/>
          <a:lstStyle/>
          <a:p>
            <a:fld id="{A042266E-4AE0-3346-930D-BC097FD258CE}" type="slidenum">
              <a:rPr lang="en-BE" smtClean="0"/>
              <a:t>4</a:t>
            </a:fld>
            <a:endParaRPr lang="en-BE"/>
          </a:p>
        </p:txBody>
      </p:sp>
    </p:spTree>
    <p:extLst>
      <p:ext uri="{BB962C8B-B14F-4D97-AF65-F5344CB8AC3E}">
        <p14:creationId xmlns:p14="http://schemas.microsoft.com/office/powerpoint/2010/main" val="1716964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Coverage tells us </a:t>
            </a:r>
            <a:r>
              <a:rPr lang="en-GB" i="1" dirty="0"/>
              <a:t>how much of the code our tests are actually exercising</a:t>
            </a:r>
            <a:r>
              <a:rPr lang="en-GB" dirty="0"/>
              <a:t>.</a:t>
            </a:r>
          </a:p>
          <a:p>
            <a:pPr marL="171450" indent="-171450">
              <a:buFont typeface="Arial" panose="020B0604020202020204" pitchFamily="34" charset="0"/>
              <a:buChar char="•"/>
            </a:pPr>
            <a:r>
              <a:rPr lang="en-GB" dirty="0"/>
              <a:t>Coverage isn’t just a number — it’s about </a:t>
            </a:r>
            <a:r>
              <a:rPr lang="en-GB" i="1" dirty="0"/>
              <a:t>confidence in testing</a:t>
            </a:r>
            <a:endParaRPr lang="en-GB" dirty="0"/>
          </a:p>
          <a:p>
            <a:endParaRPr lang="en-US" dirty="0"/>
          </a:p>
        </p:txBody>
      </p:sp>
      <p:sp>
        <p:nvSpPr>
          <p:cNvPr id="4" name="Slide Number Placeholder 3"/>
          <p:cNvSpPr>
            <a:spLocks noGrp="1"/>
          </p:cNvSpPr>
          <p:nvPr>
            <p:ph type="sldNum" sz="quarter" idx="5"/>
          </p:nvPr>
        </p:nvSpPr>
        <p:spPr/>
        <p:txBody>
          <a:bodyPr/>
          <a:lstStyle/>
          <a:p>
            <a:fld id="{A042266E-4AE0-3346-930D-BC097FD258CE}" type="slidenum">
              <a:rPr lang="en-BE" smtClean="0"/>
              <a:t>6</a:t>
            </a:fld>
            <a:endParaRPr lang="en-BE"/>
          </a:p>
        </p:txBody>
      </p:sp>
    </p:spTree>
    <p:extLst>
      <p:ext uri="{BB962C8B-B14F-4D97-AF65-F5344CB8AC3E}">
        <p14:creationId xmlns:p14="http://schemas.microsoft.com/office/powerpoint/2010/main" val="668836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This function accepts an integer and three Boolean inputs.</a:t>
            </a:r>
          </a:p>
          <a:p>
            <a:endParaRPr lang="en-BE" dirty="0"/>
          </a:p>
          <a:p>
            <a:r>
              <a:rPr lang="en-BE" dirty="0"/>
              <a:t>Each Boolean controls a separate decision. When true, its associated statement executes; when false, that statement is skipped.</a:t>
            </a:r>
          </a:p>
          <a:p>
            <a:endParaRPr lang="en-BE" dirty="0"/>
          </a:p>
          <a:p>
            <a:r>
              <a:rPr lang="en-BE" dirty="0"/>
              <a:t>Because each decision can be true or false, different combinations create different execution paths.”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787D0-946D-4B38-D962-B00F6D47AE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087C98-98D9-BD68-C3AC-73CF79DC39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334A4C-7D39-1F13-F207-1BECDAB014B8}"/>
              </a:ext>
            </a:extLst>
          </p:cNvPr>
          <p:cNvSpPr>
            <a:spLocks noGrp="1"/>
          </p:cNvSpPr>
          <p:nvPr>
            <p:ph type="body" idx="1"/>
          </p:nvPr>
        </p:nvSpPr>
        <p:spPr/>
        <p:txBody>
          <a:bodyPr/>
          <a:lstStyle/>
          <a:p>
            <a:r>
              <a:rPr lang="en-BE" dirty="0"/>
              <a:t>We begin with one test in which </a:t>
            </a:r>
            <a:r>
              <a:rPr lang="en-BE" sz="1200" kern="1200" dirty="0"/>
              <a:t>b1</a:t>
            </a:r>
            <a:r>
              <a:rPr lang="en-BE" dirty="0"/>
              <a:t> is false while </a:t>
            </a:r>
            <a:r>
              <a:rPr lang="en-BE" sz="1200" kern="1200" dirty="0"/>
              <a:t>b2</a:t>
            </a:r>
            <a:r>
              <a:rPr lang="en-BE" dirty="0"/>
              <a:t> and </a:t>
            </a:r>
            <a:r>
              <a:rPr lang="en-BE" sz="1200" kern="1200" dirty="0"/>
              <a:t>b3</a:t>
            </a:r>
            <a:r>
              <a:rPr lang="en-BE" dirty="0"/>
              <a:t> are true.</a:t>
            </a:r>
          </a:p>
          <a:p>
            <a:endParaRPr lang="en-BE" dirty="0"/>
          </a:p>
          <a:p>
            <a:r>
              <a:rPr lang="en-BE" dirty="0"/>
              <a:t>The test executes these eight lines. Because </a:t>
            </a:r>
            <a:r>
              <a:rPr lang="en-BE" sz="1200" kern="1200" dirty="0"/>
              <a:t>b1</a:t>
            </a:r>
            <a:r>
              <a:rPr lang="en-BE" dirty="0"/>
              <a:t> is false, the statement </a:t>
            </a:r>
            <a:r>
              <a:rPr lang="en-BE" sz="1200" kern="1200" dirty="0"/>
              <a:t>x++</a:t>
            </a:r>
            <a:r>
              <a:rPr lang="en-BE" dirty="0"/>
              <a:t> is skipped.</a:t>
            </a:r>
          </a:p>
          <a:p>
            <a:endParaRPr lang="en-BE" dirty="0"/>
          </a:p>
          <a:p>
            <a:r>
              <a:rPr lang="en-BE" dirty="0"/>
              <a:t>Using this executable-line count, eight of nine lines run, giving 88.9% line coverage. Line coverage identifies unexecuted code, but it does not show whether every decision was tested both ways.</a:t>
            </a:r>
          </a:p>
          <a:p>
            <a:endParaRPr dirty="0"/>
          </a:p>
        </p:txBody>
      </p:sp>
      <p:sp>
        <p:nvSpPr>
          <p:cNvPr id="4" name="Slide Number Placeholder 3">
            <a:extLst>
              <a:ext uri="{FF2B5EF4-FFF2-40B4-BE49-F238E27FC236}">
                <a16:creationId xmlns:a16="http://schemas.microsoft.com/office/drawing/2014/main" id="{175944EC-C587-C244-ADEF-6CFA0BE02A1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859948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test produced 100% line coverage because every executable line ran.</a:t>
            </a:r>
          </a:p>
          <a:p>
            <a:endParaRPr dirty="0"/>
          </a:p>
          <a:p>
            <a:r>
              <a:rPr dirty="0"/>
              <a:t>Branch coverage asks a different question. Each of the three decisions has a true and a false outcome, giving six branch outcomes in total.</a:t>
            </a:r>
          </a:p>
          <a:p>
            <a:endParaRPr dirty="0"/>
          </a:p>
          <a:p>
            <a:r>
              <a:rPr dirty="0"/>
              <a:t>The test makes b1, b2, and b3 true. It covers three true outcomes but none of the false outcomes, so branch coverage is 3 of 6, or 50%.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first test covers the true outcome of b1, b2, and b3. The second test covers the false outcome of all three decisions.</a:t>
            </a:r>
          </a:p>
          <a:p>
            <a:endParaRPr dirty="0"/>
          </a:p>
          <a:p>
            <a:r>
              <a:rPr dirty="0"/>
              <a:t>Together, the tests cover all six branch outcomes, so branch coverage reaches 100%.</a:t>
            </a:r>
          </a:p>
          <a:p>
            <a:endParaRPr dirty="0"/>
          </a:p>
          <a:p>
            <a:r>
              <a:rPr dirty="0"/>
              <a:t>This example shows why achieving 100% line coverage does not guarantee 100% branch coverage. Branch coverage often requires additional tests.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path records the complete sequence of outcomes through the function. Here, each path contains the outcomes of b1, b2, and b3.</a:t>
            </a:r>
          </a:p>
          <a:p>
            <a:endParaRPr dirty="0"/>
          </a:p>
          <a:p>
            <a:r>
              <a:rPr dirty="0"/>
              <a:t>Because the three Boolean inputs are independent, all eight combinations are feasible: two outcomes raised to three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Read each path from left to right as the outcomes of b1, b2, and b3.</a:t>
            </a:r>
          </a:p>
          <a:p>
            <a:endParaRPr dirty="0"/>
          </a:p>
          <a:p>
            <a:r>
              <a:rPr dirty="0"/>
              <a:t>Branch coverage checks whether each individual decision has been true and false. Path coverage checks which complete combinations have been exercised.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These are the same two tests used to achieve 100% branch coverage. They execute all nine lines and both outcomes of every decision.</a:t>
            </a:r>
          </a:p>
          <a:p>
            <a:endParaRPr dirty="0"/>
          </a:p>
          <a:p>
            <a:r>
              <a:rPr dirty="0"/>
              <a:t>However, they exercise only the TTT and FFF paths. Six feasible combinations remain untested, so path coverage is 2 of 8, or 25%.</a:t>
            </a:r>
          </a:p>
          <a:p>
            <a:endParaRPr dirty="0"/>
          </a:p>
          <a:p>
            <a:r>
              <a:rPr dirty="0"/>
              <a:t>This example has no loops and all combinations are feasible. In larger programs, path counts grow quickly, some paths may be infeasible, and loops can create an unbounded number of paths.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Developers continually make small changes to the code—adding functionality, fixing defects, or refactoring existing code.</a:t>
            </a:r>
          </a:p>
          <a:p>
            <a:endParaRPr lang="en-BE" dirty="0"/>
          </a:p>
          <a:p>
            <a:r>
              <a:rPr lang="en-BE" dirty="0"/>
              <a:t>After making a change, developers should be able to run the unit tests immediately. Because these tests are focused and isolated, they should provide feedback quickly.</a:t>
            </a:r>
          </a:p>
          <a:p>
            <a:endParaRPr lang="en-BE" dirty="0"/>
          </a:p>
          <a:p>
            <a:pPr marL="0" marR="0" lvl="0" indent="0" algn="l" defTabSz="914400" rtl="0" eaLnBrk="1" fontAlgn="auto" latinLnBrk="0" hangingPunct="1">
              <a:lnSpc>
                <a:spcPct val="100000"/>
              </a:lnSpc>
              <a:spcBef>
                <a:spcPts val="0"/>
              </a:spcBef>
              <a:spcAft>
                <a:spcPts val="0"/>
              </a:spcAft>
              <a:buClrTx/>
              <a:buSzTx/>
              <a:buFontTx/>
              <a:buNone/>
              <a:tabLst/>
              <a:defRPr/>
            </a:pPr>
            <a:r>
              <a:rPr lang="en-BE" dirty="0"/>
              <a:t>Quick feedback allows developers to fix a failure while the change is still fresh in their minds. If the tests pass, they can confidently continue working.</a:t>
            </a:r>
          </a:p>
          <a:p>
            <a:endParaRPr lang="en-BE" dirty="0"/>
          </a:p>
          <a:p>
            <a:r>
              <a:rPr lang="en-BE" dirty="0"/>
              <a:t>Feedback interrupts development and Tests may be postponed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BE" dirty="0"/>
              <a:t>The circles represent possible account-balance values accepted by the function. Because the range is extremely large, we cannot test every possible balance.</a:t>
            </a:r>
          </a:p>
          <a:p>
            <a:pPr lvl="0"/>
            <a:endParaRPr lang="en-BE" dirty="0"/>
          </a:p>
          <a:p>
            <a:pPr lvl="0"/>
            <a:r>
              <a:rPr lang="en-BE" dirty="0"/>
              <a:t>We therefore select inputs systematically rather than randomly. These four values form a manageable starting set because each represents a different interest-rule behavior.</a:t>
            </a:r>
          </a:p>
          <a:p>
            <a:pPr lvl="0"/>
            <a:endParaRPr lang="en-BE" dirty="0"/>
          </a:p>
          <a:p>
            <a:pPr marL="0" marR="0" lvl="0" indent="0" algn="l" defTabSz="914400" rtl="0" eaLnBrk="1" fontAlgn="auto" latinLnBrk="0" hangingPunct="1">
              <a:lnSpc>
                <a:spcPct val="100000"/>
              </a:lnSpc>
              <a:spcBef>
                <a:spcPts val="0"/>
              </a:spcBef>
              <a:spcAft>
                <a:spcPts val="0"/>
              </a:spcAft>
              <a:buClrTx/>
              <a:buSzTx/>
              <a:buFontTx/>
              <a:buNone/>
              <a:tabLst/>
              <a:defRPr/>
            </a:pPr>
            <a:r>
              <a:rPr lang="en-BE" dirty="0"/>
              <a:t>Equivalence partitioning helps us identify the different behavior classes and choose a representative from each one. Boundary-value analysis then adds tests around the points where the behavior changes. The next two slides examine these techniques using the same example.</a:t>
            </a:r>
          </a:p>
          <a:p>
            <a:pPr lvl="0"/>
            <a:endParaRPr lang="en-B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On the previous slide, we selected four representative test cases. This slide explains how we identified them.</a:t>
            </a:r>
          </a:p>
          <a:p>
            <a:endParaRPr lang="en-BE" dirty="0"/>
          </a:p>
          <a:p>
            <a:r>
              <a:rPr lang="en-BE" dirty="0"/>
              <a:t>Equivalence partitioning divides the possible inputs into classes that should produce meaningfully different behavior. In this example, the applicable interest rule changes across these four balance ranges.</a:t>
            </a:r>
          </a:p>
          <a:p>
            <a:endParaRPr lang="en-BE" dirty="0"/>
          </a:p>
          <a:p>
            <a:r>
              <a:rPr lang="en-BE" dirty="0"/>
              <a:t>Instead of testing every balance, we begin with one representative value from each class. Negative two thousand dollars represents the overdraft class; the other three values represent the three interest classes.</a:t>
            </a:r>
          </a:p>
          <a:p>
            <a:endParaRPr lang="en-BE" dirty="0"/>
          </a:p>
          <a:p>
            <a:r>
              <a:rPr lang="en-BE" dirty="0"/>
              <a:t>The assumption is that values within the same class should be processed similarly. This does not prove that every value in the class is correct, but it gives us a systematic and manageable starting set.</a:t>
            </a:r>
          </a:p>
          <a:p>
            <a:endParaRPr lang="en-BE" dirty="0"/>
          </a:p>
          <a:p>
            <a:r>
              <a:rPr lang="en-BE" dirty="0"/>
              <a:t>Equivalence partitioning helps us cover the different categories of behavior without testing every possible input. However, the representative values are located safely inside their classes. Defects often occur near the points where one class changes into another. We therefore examine those boundaries next.</a:t>
            </a:r>
          </a:p>
          <a:p>
            <a:endParaRPr lang="en-BE" dirty="0"/>
          </a:p>
          <a:p>
            <a:endParaRPr lang="en-BE" dirty="0"/>
          </a:p>
          <a:p>
            <a:endParaRPr lang="en-B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BE" dirty="0"/>
              <a:t>The previous slide tested one value from inside each equivalence class. Boundary-value analysis focuses instead on the transitions between those classes.</a:t>
            </a:r>
          </a:p>
          <a:p>
            <a:r>
              <a:rPr lang="en-BE" dirty="0"/>
              <a:t>In this example, the behavior changes at zero dollars, five thousand dollars, and ten thousand dollars. These are therefore the boundaries we need to examine carefully.</a:t>
            </a:r>
          </a:p>
          <a:p>
            <a:endParaRPr lang="en-BE" dirty="0"/>
          </a:p>
          <a:p>
            <a:r>
              <a:rPr lang="en-BE" dirty="0"/>
              <a:t>For each boundary, we test a value immediately below it, the boundary itself, and a value immediately above it.</a:t>
            </a:r>
          </a:p>
          <a:p>
            <a:r>
              <a:rPr lang="en-BE" dirty="0"/>
              <a:t>At five thousand dollars, for example, we test 4,999, 5,000, and 5,001. These cases verify that the implementation changes behavior at exactly the correct point—not one value too early or too late.</a:t>
            </a:r>
          </a:p>
          <a:p>
            <a:endParaRPr lang="en-BE" dirty="0"/>
          </a:p>
          <a:p>
            <a:r>
              <a:rPr lang="en-BE" dirty="0"/>
              <a:t>These examples assume balances are represented in whole dollars. If the system accepts cents, we should use the smallest meaningful increment, such as 4,999 dollars and 99 cents, 5,000 dollars, and 5,000 dollars and 1 cent.</a:t>
            </a:r>
          </a:p>
          <a:p>
            <a:endParaRPr lang="en-BE" dirty="0"/>
          </a:p>
          <a:p>
            <a:r>
              <a:rPr lang="en-BE" dirty="0"/>
              <a:t>The two techniques are complementary. Equivalence partitioning covers the different categories of behavior, while boundary-value analysis tests the risky transitions between them. Together, they produce a small but systematic set of high-value test cases.</a:t>
            </a:r>
          </a:p>
          <a:p>
            <a:endParaRPr lang="en-BE"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Mutation testing makes a small, deliberate change and reruns the same tests. A failed test kills the mutant. If every test still passes, the mutant survives. A surviving mutant may expose a missing test, but equivalent mutants are also possible.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Run the two existing assertions against both versions. Both programs return the same values for these inputs, so neither assertion fails. The tests therefore allow the mutant to survive.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b="1" dirty="0"/>
              <a:t>Either mixed input distinguishes AND from OR. The original returns zero, but the mutant returns one. The added assertion fails on the mutant, so the test kills it. One of these tests is enough for this mutant.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Line, branch, and path coverage tell us what executed. Mutation testing asks whether the tests can detect a small behavioral change. Compute the score over non-equivalent mutants. Interpret survivors carefully because some represent missing tests while others preserve behavior.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7B482-83D2-1BB9-A6A6-5E4AB36AF5E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BE"/>
          </a:p>
        </p:txBody>
      </p:sp>
      <p:sp>
        <p:nvSpPr>
          <p:cNvPr id="3" name="Subtitle 2">
            <a:extLst>
              <a:ext uri="{FF2B5EF4-FFF2-40B4-BE49-F238E27FC236}">
                <a16:creationId xmlns:a16="http://schemas.microsoft.com/office/drawing/2014/main" id="{1E8FB5FB-0E8A-C03F-6669-B75AF3E165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BE"/>
          </a:p>
        </p:txBody>
      </p:sp>
      <p:sp>
        <p:nvSpPr>
          <p:cNvPr id="4" name="Date Placeholder 3">
            <a:extLst>
              <a:ext uri="{FF2B5EF4-FFF2-40B4-BE49-F238E27FC236}">
                <a16:creationId xmlns:a16="http://schemas.microsoft.com/office/drawing/2014/main" id="{DB6CE444-F2FD-389F-2035-AC923182FCA5}"/>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5" name="Footer Placeholder 4">
            <a:extLst>
              <a:ext uri="{FF2B5EF4-FFF2-40B4-BE49-F238E27FC236}">
                <a16:creationId xmlns:a16="http://schemas.microsoft.com/office/drawing/2014/main" id="{02143B15-BDBC-91DE-9142-934F1EDBB3A4}"/>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81AD9859-B8EB-8771-2D20-DE1B908BF47B}"/>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1821477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E1295-7142-0B6B-6E00-BFFEF626541F}"/>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FD0A006A-9256-7734-58B3-10E742CDDA0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15674AF5-8CB7-9E3B-1BA2-5AAA32B76398}"/>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5" name="Footer Placeholder 4">
            <a:extLst>
              <a:ext uri="{FF2B5EF4-FFF2-40B4-BE49-F238E27FC236}">
                <a16:creationId xmlns:a16="http://schemas.microsoft.com/office/drawing/2014/main" id="{A6B55A85-C0DE-696A-5780-BF14D3DF34C6}"/>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091DF43E-84CD-B7BE-3916-31DE59322B71}"/>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2876527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12B87-D009-50B8-9392-B19D2FFA0A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BE"/>
          </a:p>
        </p:txBody>
      </p:sp>
      <p:sp>
        <p:nvSpPr>
          <p:cNvPr id="3" name="Text Placeholder 2">
            <a:extLst>
              <a:ext uri="{FF2B5EF4-FFF2-40B4-BE49-F238E27FC236}">
                <a16:creationId xmlns:a16="http://schemas.microsoft.com/office/drawing/2014/main" id="{978CD6FC-DE72-B120-DF2B-C5F2804FE4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EA8CC72-3CD5-50BF-D1DD-DF3EC8525F20}"/>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5" name="Footer Placeholder 4">
            <a:extLst>
              <a:ext uri="{FF2B5EF4-FFF2-40B4-BE49-F238E27FC236}">
                <a16:creationId xmlns:a16="http://schemas.microsoft.com/office/drawing/2014/main" id="{0157D536-89B4-C579-C12C-7520379F64E2}"/>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8299BF08-131C-9308-A1AF-C8F6CAE102D8}"/>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40460987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A2AC2-EB12-C477-4E33-5D7344E384BE}"/>
              </a:ext>
            </a:extLst>
          </p:cNvPr>
          <p:cNvSpPr>
            <a:spLocks noGrp="1"/>
          </p:cNvSpPr>
          <p:nvPr>
            <p:ph type="title"/>
          </p:nvPr>
        </p:nvSpPr>
        <p:spPr/>
        <p:txBody>
          <a:bodyPr/>
          <a:lstStyle/>
          <a:p>
            <a:r>
              <a:rPr lang="en-GB"/>
              <a:t>Click to edit Master title style</a:t>
            </a:r>
            <a:endParaRPr lang="en-BE"/>
          </a:p>
        </p:txBody>
      </p:sp>
      <p:sp>
        <p:nvSpPr>
          <p:cNvPr id="3" name="Content Placeholder 2">
            <a:extLst>
              <a:ext uri="{FF2B5EF4-FFF2-40B4-BE49-F238E27FC236}">
                <a16:creationId xmlns:a16="http://schemas.microsoft.com/office/drawing/2014/main" id="{B1E1F252-3644-49EC-5E17-668EB5D4FB8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Content Placeholder 3">
            <a:extLst>
              <a:ext uri="{FF2B5EF4-FFF2-40B4-BE49-F238E27FC236}">
                <a16:creationId xmlns:a16="http://schemas.microsoft.com/office/drawing/2014/main" id="{27F9121C-3A00-75CD-8720-CD03BB2B3A3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Date Placeholder 4">
            <a:extLst>
              <a:ext uri="{FF2B5EF4-FFF2-40B4-BE49-F238E27FC236}">
                <a16:creationId xmlns:a16="http://schemas.microsoft.com/office/drawing/2014/main" id="{C018B8DB-214F-F98D-4ACA-CC970225A858}"/>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6" name="Footer Placeholder 5">
            <a:extLst>
              <a:ext uri="{FF2B5EF4-FFF2-40B4-BE49-F238E27FC236}">
                <a16:creationId xmlns:a16="http://schemas.microsoft.com/office/drawing/2014/main" id="{2B375275-39B3-00F9-CFBD-743562885A73}"/>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3D7C964F-1BD9-E6FA-B2D4-007ADAC3E181}"/>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307892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3C462-017A-892F-0B98-295E2750C5C1}"/>
              </a:ext>
            </a:extLst>
          </p:cNvPr>
          <p:cNvSpPr>
            <a:spLocks noGrp="1"/>
          </p:cNvSpPr>
          <p:nvPr>
            <p:ph type="title"/>
          </p:nvPr>
        </p:nvSpPr>
        <p:spPr>
          <a:xfrm>
            <a:off x="839788" y="365125"/>
            <a:ext cx="10515600" cy="1325563"/>
          </a:xfrm>
        </p:spPr>
        <p:txBody>
          <a:bodyPr/>
          <a:lstStyle/>
          <a:p>
            <a:r>
              <a:rPr lang="en-GB"/>
              <a:t>Click to edit Master title style</a:t>
            </a:r>
            <a:endParaRPr lang="en-BE"/>
          </a:p>
        </p:txBody>
      </p:sp>
      <p:sp>
        <p:nvSpPr>
          <p:cNvPr id="3" name="Text Placeholder 2">
            <a:extLst>
              <a:ext uri="{FF2B5EF4-FFF2-40B4-BE49-F238E27FC236}">
                <a16:creationId xmlns:a16="http://schemas.microsoft.com/office/drawing/2014/main" id="{718F8AE6-6218-58C7-4D90-60F6C25217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7352071-1471-AFEA-1B49-262141A03E3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5" name="Text Placeholder 4">
            <a:extLst>
              <a:ext uri="{FF2B5EF4-FFF2-40B4-BE49-F238E27FC236}">
                <a16:creationId xmlns:a16="http://schemas.microsoft.com/office/drawing/2014/main" id="{EC70D5BA-4A84-2F31-139A-A0E0DE9F11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6DA24A5-7947-B0CC-D337-F05AD248016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7" name="Date Placeholder 6">
            <a:extLst>
              <a:ext uri="{FF2B5EF4-FFF2-40B4-BE49-F238E27FC236}">
                <a16:creationId xmlns:a16="http://schemas.microsoft.com/office/drawing/2014/main" id="{CBD43668-AB97-7DAD-DC5C-CB2560D83517}"/>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8" name="Footer Placeholder 7">
            <a:extLst>
              <a:ext uri="{FF2B5EF4-FFF2-40B4-BE49-F238E27FC236}">
                <a16:creationId xmlns:a16="http://schemas.microsoft.com/office/drawing/2014/main" id="{22BC8192-AFCA-FBFC-53CB-7F7A887E5562}"/>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5E0BDE9B-66D4-5605-B638-172C68166693}"/>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1857861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DB7A6-B5A5-F925-C992-F8DF99DEC537}"/>
              </a:ext>
            </a:extLst>
          </p:cNvPr>
          <p:cNvSpPr>
            <a:spLocks noGrp="1"/>
          </p:cNvSpPr>
          <p:nvPr>
            <p:ph type="title"/>
          </p:nvPr>
        </p:nvSpPr>
        <p:spPr/>
        <p:txBody>
          <a:bodyPr/>
          <a:lstStyle/>
          <a:p>
            <a:r>
              <a:rPr lang="en-GB"/>
              <a:t>Click to edit Master title style</a:t>
            </a:r>
            <a:endParaRPr lang="en-BE"/>
          </a:p>
        </p:txBody>
      </p:sp>
      <p:sp>
        <p:nvSpPr>
          <p:cNvPr id="3" name="Date Placeholder 2">
            <a:extLst>
              <a:ext uri="{FF2B5EF4-FFF2-40B4-BE49-F238E27FC236}">
                <a16:creationId xmlns:a16="http://schemas.microsoft.com/office/drawing/2014/main" id="{2EDCE359-D496-5CB4-00F4-36C4F1E9EE77}"/>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4" name="Footer Placeholder 3">
            <a:extLst>
              <a:ext uri="{FF2B5EF4-FFF2-40B4-BE49-F238E27FC236}">
                <a16:creationId xmlns:a16="http://schemas.microsoft.com/office/drawing/2014/main" id="{0F0287DE-DAD9-DC97-2812-CCA743956E71}"/>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AEA0E79E-C868-9809-92D8-DC4A5977110F}"/>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3075400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597A9E-326A-22C1-3F7B-2D8438B6210A}"/>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3" name="Footer Placeholder 2">
            <a:extLst>
              <a:ext uri="{FF2B5EF4-FFF2-40B4-BE49-F238E27FC236}">
                <a16:creationId xmlns:a16="http://schemas.microsoft.com/office/drawing/2014/main" id="{95A21243-EF28-1E3F-E74F-60F085D473AA}"/>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AAA4BF37-2D3F-CBF9-ADB4-F26F5DB59E93}"/>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1927011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9FDAB-579E-A7D7-222D-4FCCBDFE725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Content Placeholder 2">
            <a:extLst>
              <a:ext uri="{FF2B5EF4-FFF2-40B4-BE49-F238E27FC236}">
                <a16:creationId xmlns:a16="http://schemas.microsoft.com/office/drawing/2014/main" id="{36011809-1108-6741-2E53-6D535D0F1F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Text Placeholder 3">
            <a:extLst>
              <a:ext uri="{FF2B5EF4-FFF2-40B4-BE49-F238E27FC236}">
                <a16:creationId xmlns:a16="http://schemas.microsoft.com/office/drawing/2014/main" id="{BA6E2EA1-8D2B-681F-CAE9-F770DA3572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8B660FE-41F7-CCA7-D80E-D102B4FC902E}"/>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6" name="Footer Placeholder 5">
            <a:extLst>
              <a:ext uri="{FF2B5EF4-FFF2-40B4-BE49-F238E27FC236}">
                <a16:creationId xmlns:a16="http://schemas.microsoft.com/office/drawing/2014/main" id="{9D3E257C-CCF7-A64C-EDBE-6CF0EF7CBEED}"/>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C06FFB8C-89BB-CD0B-C8A5-479068BDDECD}"/>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3054397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D3FA2-7BBE-9F6D-3E74-662F55B5096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BE"/>
          </a:p>
        </p:txBody>
      </p:sp>
      <p:sp>
        <p:nvSpPr>
          <p:cNvPr id="3" name="Picture Placeholder 2">
            <a:extLst>
              <a:ext uri="{FF2B5EF4-FFF2-40B4-BE49-F238E27FC236}">
                <a16:creationId xmlns:a16="http://schemas.microsoft.com/office/drawing/2014/main" id="{034DBB61-0EAE-29C1-8125-83CB385FAF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5A1588D3-7F95-1F61-2F7D-A5FDBE5F56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0C39B04-09C3-D403-BCB6-8A1D4AE7668D}"/>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6" name="Footer Placeholder 5">
            <a:extLst>
              <a:ext uri="{FF2B5EF4-FFF2-40B4-BE49-F238E27FC236}">
                <a16:creationId xmlns:a16="http://schemas.microsoft.com/office/drawing/2014/main" id="{EEB61570-2831-6CE1-042A-49128815CDF7}"/>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EFFADE7A-B9AD-8B9D-F14F-613C7D1A1705}"/>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494581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31BD3-EEB2-ACB8-5ED6-3221DB742738}"/>
              </a:ext>
            </a:extLst>
          </p:cNvPr>
          <p:cNvSpPr>
            <a:spLocks noGrp="1"/>
          </p:cNvSpPr>
          <p:nvPr>
            <p:ph type="title"/>
          </p:nvPr>
        </p:nvSpPr>
        <p:spPr/>
        <p:txBody>
          <a:bodyPr/>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72CB5D96-AC34-9077-3260-1FEB7914083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C63E4C5F-C776-189D-A712-134287E9304C}"/>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5" name="Footer Placeholder 4">
            <a:extLst>
              <a:ext uri="{FF2B5EF4-FFF2-40B4-BE49-F238E27FC236}">
                <a16:creationId xmlns:a16="http://schemas.microsoft.com/office/drawing/2014/main" id="{365264DF-0F02-7A1F-5B88-9A3EEACEF176}"/>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E7956CE7-8F57-EB4B-B185-BF2F3F5F9BA0}"/>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2843877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33F3D2-F0CF-30DB-F22B-0FFC29005BC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BE"/>
          </a:p>
        </p:txBody>
      </p:sp>
      <p:sp>
        <p:nvSpPr>
          <p:cNvPr id="3" name="Vertical Text Placeholder 2">
            <a:extLst>
              <a:ext uri="{FF2B5EF4-FFF2-40B4-BE49-F238E27FC236}">
                <a16:creationId xmlns:a16="http://schemas.microsoft.com/office/drawing/2014/main" id="{052DB5E7-75ED-BAC0-7C36-438BD4EEDCD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A36998CC-3007-83A2-3073-117EC7A296BD}"/>
              </a:ext>
            </a:extLst>
          </p:cNvPr>
          <p:cNvSpPr>
            <a:spLocks noGrp="1"/>
          </p:cNvSpPr>
          <p:nvPr>
            <p:ph type="dt" sz="half" idx="10"/>
          </p:nvPr>
        </p:nvSpPr>
        <p:spPr/>
        <p:txBody>
          <a:bodyPr/>
          <a:lstStyle/>
          <a:p>
            <a:fld id="{BECEB08D-ED1C-E34B-8682-041F4EDD7C1D}" type="datetimeFigureOut">
              <a:rPr lang="en-BE" smtClean="0"/>
              <a:t>16/09/2026</a:t>
            </a:fld>
            <a:endParaRPr lang="en-BE"/>
          </a:p>
        </p:txBody>
      </p:sp>
      <p:sp>
        <p:nvSpPr>
          <p:cNvPr id="5" name="Footer Placeholder 4">
            <a:extLst>
              <a:ext uri="{FF2B5EF4-FFF2-40B4-BE49-F238E27FC236}">
                <a16:creationId xmlns:a16="http://schemas.microsoft.com/office/drawing/2014/main" id="{3458A673-4DAC-8F13-1BDD-1D3173264BF6}"/>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BE0C828E-B6D3-05F6-20F6-02978875E30C}"/>
              </a:ext>
            </a:extLst>
          </p:cNvPr>
          <p:cNvSpPr>
            <a:spLocks noGrp="1"/>
          </p:cNvSpPr>
          <p:nvPr>
            <p:ph type="sldNum" sz="quarter" idx="12"/>
          </p:nvPr>
        </p:nvSpPr>
        <p:spPr/>
        <p:txBody>
          <a:bodyPr/>
          <a:lstStyle/>
          <a:p>
            <a:fld id="{633F719B-E104-854E-8A30-EB8DCB3A573D}" type="slidenum">
              <a:rPr lang="en-BE" smtClean="0"/>
              <a:t>‹#›</a:t>
            </a:fld>
            <a:endParaRPr lang="en-BE"/>
          </a:p>
        </p:txBody>
      </p:sp>
    </p:spTree>
    <p:extLst>
      <p:ext uri="{BB962C8B-B14F-4D97-AF65-F5344CB8AC3E}">
        <p14:creationId xmlns:p14="http://schemas.microsoft.com/office/powerpoint/2010/main" val="31414066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962999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CB2360-C51E-0D73-9E87-1132681686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BE"/>
          </a:p>
        </p:txBody>
      </p:sp>
      <p:sp>
        <p:nvSpPr>
          <p:cNvPr id="3" name="Text Placeholder 2">
            <a:extLst>
              <a:ext uri="{FF2B5EF4-FFF2-40B4-BE49-F238E27FC236}">
                <a16:creationId xmlns:a16="http://schemas.microsoft.com/office/drawing/2014/main" id="{6937453E-244F-D1E0-8B15-90DF287266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BE"/>
          </a:p>
        </p:txBody>
      </p:sp>
      <p:sp>
        <p:nvSpPr>
          <p:cNvPr id="4" name="Date Placeholder 3">
            <a:extLst>
              <a:ext uri="{FF2B5EF4-FFF2-40B4-BE49-F238E27FC236}">
                <a16:creationId xmlns:a16="http://schemas.microsoft.com/office/drawing/2014/main" id="{4ABF4AB3-D618-5E91-164F-EE5C90A80F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CEB08D-ED1C-E34B-8682-041F4EDD7C1D}" type="datetimeFigureOut">
              <a:rPr lang="en-BE" smtClean="0"/>
              <a:t>16/09/2026</a:t>
            </a:fld>
            <a:endParaRPr lang="en-BE"/>
          </a:p>
        </p:txBody>
      </p:sp>
      <p:sp>
        <p:nvSpPr>
          <p:cNvPr id="5" name="Footer Placeholder 4">
            <a:extLst>
              <a:ext uri="{FF2B5EF4-FFF2-40B4-BE49-F238E27FC236}">
                <a16:creationId xmlns:a16="http://schemas.microsoft.com/office/drawing/2014/main" id="{3CEA17C4-C9DF-9FB1-843B-21FEDA7C01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E"/>
          </a:p>
        </p:txBody>
      </p:sp>
      <p:sp>
        <p:nvSpPr>
          <p:cNvPr id="6" name="Slide Number Placeholder 5">
            <a:extLst>
              <a:ext uri="{FF2B5EF4-FFF2-40B4-BE49-F238E27FC236}">
                <a16:creationId xmlns:a16="http://schemas.microsoft.com/office/drawing/2014/main" id="{4043A1AB-303A-E215-77EA-9D10CF443F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3F719B-E104-854E-8A30-EB8DCB3A573D}" type="slidenum">
              <a:rPr lang="en-BE" smtClean="0"/>
              <a:t>‹#›</a:t>
            </a:fld>
            <a:endParaRPr lang="en-BE"/>
          </a:p>
        </p:txBody>
      </p:sp>
    </p:spTree>
    <p:extLst>
      <p:ext uri="{BB962C8B-B14F-4D97-AF65-F5344CB8AC3E}">
        <p14:creationId xmlns:p14="http://schemas.microsoft.com/office/powerpoint/2010/main" val="42416259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6.jpe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6.jpe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A0050-2532-F700-B142-D85398C86C85}"/>
              </a:ext>
            </a:extLst>
          </p:cNvPr>
          <p:cNvSpPr>
            <a:spLocks noGrp="1"/>
          </p:cNvSpPr>
          <p:nvPr>
            <p:ph type="ctrTitle"/>
          </p:nvPr>
        </p:nvSpPr>
        <p:spPr/>
        <p:txBody>
          <a:bodyPr/>
          <a:lstStyle/>
          <a:p>
            <a:r>
              <a:rPr lang="en-GB" dirty="0"/>
              <a:t>Dynamic Analysis: Testing</a:t>
            </a:r>
            <a:endParaRPr lang="en-BE" dirty="0"/>
          </a:p>
        </p:txBody>
      </p:sp>
      <p:sp>
        <p:nvSpPr>
          <p:cNvPr id="3" name="Subtitle 2">
            <a:extLst>
              <a:ext uri="{FF2B5EF4-FFF2-40B4-BE49-F238E27FC236}">
                <a16:creationId xmlns:a16="http://schemas.microsoft.com/office/drawing/2014/main" id="{E883DB0D-C5D4-6681-6C39-4C32595E9BD7}"/>
              </a:ext>
            </a:extLst>
          </p:cNvPr>
          <p:cNvSpPr>
            <a:spLocks noGrp="1"/>
          </p:cNvSpPr>
          <p:nvPr>
            <p:ph type="subTitle" idx="1"/>
          </p:nvPr>
        </p:nvSpPr>
        <p:spPr/>
        <p:txBody>
          <a:bodyPr/>
          <a:lstStyle/>
          <a:p>
            <a:r>
              <a:rPr lang="en-BE" dirty="0"/>
              <a:t>John Businge</a:t>
            </a:r>
          </a:p>
          <a:p>
            <a:r>
              <a:rPr lang="en-BE" dirty="0"/>
              <a:t>john.businge@unlv.edu</a:t>
            </a:r>
          </a:p>
        </p:txBody>
      </p:sp>
    </p:spTree>
    <p:extLst>
      <p:ext uri="{BB962C8B-B14F-4D97-AF65-F5344CB8AC3E}">
        <p14:creationId xmlns:p14="http://schemas.microsoft.com/office/powerpoint/2010/main" val="680200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E290A-F98A-36FF-D65C-D4B0BBAF6D57}"/>
              </a:ext>
            </a:extLst>
          </p:cNvPr>
          <p:cNvSpPr>
            <a:spLocks noGrp="1"/>
          </p:cNvSpPr>
          <p:nvPr>
            <p:ph type="title"/>
          </p:nvPr>
        </p:nvSpPr>
        <p:spPr/>
        <p:txBody>
          <a:bodyPr/>
          <a:lstStyle/>
          <a:p>
            <a:r>
              <a:rPr lang="en-BE" dirty="0"/>
              <a:t>Introduction</a:t>
            </a:r>
          </a:p>
        </p:txBody>
      </p:sp>
      <p:sp>
        <p:nvSpPr>
          <p:cNvPr id="3" name="Content Placeholder 2">
            <a:extLst>
              <a:ext uri="{FF2B5EF4-FFF2-40B4-BE49-F238E27FC236}">
                <a16:creationId xmlns:a16="http://schemas.microsoft.com/office/drawing/2014/main" id="{40E8DB44-C720-6E58-C5BE-1A2130237CED}"/>
              </a:ext>
            </a:extLst>
          </p:cNvPr>
          <p:cNvSpPr>
            <a:spLocks noGrp="1"/>
          </p:cNvSpPr>
          <p:nvPr>
            <p:ph idx="1"/>
          </p:nvPr>
        </p:nvSpPr>
        <p:spPr/>
        <p:txBody>
          <a:bodyPr/>
          <a:lstStyle/>
          <a:p>
            <a:r>
              <a:rPr lang="en-GB" dirty="0"/>
              <a:t>Dynamic Analysis verifies properties of a system during execution/runtime.</a:t>
            </a:r>
          </a:p>
          <a:p>
            <a:r>
              <a:rPr lang="en-GB" dirty="0"/>
              <a:t>Testing Analysis is one example of Dynamic Analysis</a:t>
            </a:r>
          </a:p>
          <a:p>
            <a:pPr lvl="1"/>
            <a:r>
              <a:rPr lang="en-GB" dirty="0"/>
              <a:t>Unit tests, integration tests, system tests, and acceptance tests use dynamic testing</a:t>
            </a:r>
            <a:endParaRPr lang="en-BE" dirty="0"/>
          </a:p>
        </p:txBody>
      </p:sp>
    </p:spTree>
    <p:extLst>
      <p:ext uri="{BB962C8B-B14F-4D97-AF65-F5344CB8AC3E}">
        <p14:creationId xmlns:p14="http://schemas.microsoft.com/office/powerpoint/2010/main" val="333740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6BB36-0551-B7FA-E836-B983BCE2E39C}"/>
              </a:ext>
            </a:extLst>
          </p:cNvPr>
          <p:cNvSpPr>
            <a:spLocks noGrp="1"/>
          </p:cNvSpPr>
          <p:nvPr>
            <p:ph type="title"/>
          </p:nvPr>
        </p:nvSpPr>
        <p:spPr/>
        <p:txBody>
          <a:bodyPr/>
          <a:lstStyle/>
          <a:p>
            <a:r>
              <a:rPr lang="en-GB" dirty="0"/>
              <a:t>Testing in the Book</a:t>
            </a:r>
            <a:endParaRPr lang="en-BE" dirty="0"/>
          </a:p>
        </p:txBody>
      </p:sp>
      <p:sp>
        <p:nvSpPr>
          <p:cNvPr id="3" name="Content Placeholder 2">
            <a:extLst>
              <a:ext uri="{FF2B5EF4-FFF2-40B4-BE49-F238E27FC236}">
                <a16:creationId xmlns:a16="http://schemas.microsoft.com/office/drawing/2014/main" id="{FBA65CE1-27EA-96C3-4EEC-C2B55C6072AC}"/>
              </a:ext>
            </a:extLst>
          </p:cNvPr>
          <p:cNvSpPr>
            <a:spLocks noGrp="1"/>
          </p:cNvSpPr>
          <p:nvPr>
            <p:ph idx="1"/>
          </p:nvPr>
        </p:nvSpPr>
        <p:spPr/>
        <p:txBody>
          <a:bodyPr>
            <a:normAutofit lnSpcReduction="10000"/>
          </a:bodyPr>
          <a:lstStyle/>
          <a:p>
            <a:r>
              <a:rPr lang="en-GB" dirty="0"/>
              <a:t>Tests are your life insurance! (OORP, p. 149)</a:t>
            </a:r>
          </a:p>
          <a:p>
            <a:r>
              <a:rPr lang="en-GB" dirty="0"/>
              <a:t>Tests are essential to assuring the quality of refactoring/code change activities.</a:t>
            </a:r>
          </a:p>
          <a:p>
            <a:r>
              <a:rPr lang="en-GB" dirty="0"/>
              <a:t>Write Tests to Enable Evolution (OORP, p.153) </a:t>
            </a:r>
          </a:p>
          <a:p>
            <a:pPr lvl="1"/>
            <a:r>
              <a:rPr lang="en-GB" dirty="0"/>
              <a:t>Good tests can find bugs in your artifact</a:t>
            </a:r>
          </a:p>
          <a:p>
            <a:pPr lvl="1"/>
            <a:r>
              <a:rPr lang="en-GB" dirty="0"/>
              <a:t>Tests can also detect unwanted </a:t>
            </a:r>
            <a:r>
              <a:rPr lang="en-GB" dirty="0" err="1"/>
              <a:t>behavior</a:t>
            </a:r>
            <a:endParaRPr lang="en-GB" dirty="0"/>
          </a:p>
          <a:p>
            <a:r>
              <a:rPr lang="en-GB" dirty="0"/>
              <a:t>You can also write tests to understand a part of a system (OORP, p.179)</a:t>
            </a:r>
          </a:p>
          <a:p>
            <a:r>
              <a:rPr lang="en-GB" dirty="0"/>
              <a:t>Test the Interface, Not the implementation (OORP, p.171). This is essentially Black-box testing.</a:t>
            </a:r>
          </a:p>
        </p:txBody>
      </p:sp>
    </p:spTree>
    <p:extLst>
      <p:ext uri="{BB962C8B-B14F-4D97-AF65-F5344CB8AC3E}">
        <p14:creationId xmlns:p14="http://schemas.microsoft.com/office/powerpoint/2010/main" val="994578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4DAB9-AC17-7AC3-6831-2C68DA52892F}"/>
              </a:ext>
            </a:extLst>
          </p:cNvPr>
          <p:cNvSpPr>
            <a:spLocks noGrp="1"/>
          </p:cNvSpPr>
          <p:nvPr>
            <p:ph type="title"/>
          </p:nvPr>
        </p:nvSpPr>
        <p:spPr/>
        <p:txBody>
          <a:bodyPr/>
          <a:lstStyle/>
          <a:p>
            <a:r>
              <a:rPr lang="en-GB" b="1" dirty="0"/>
              <a:t>Unit Testing</a:t>
            </a:r>
            <a:endParaRPr lang="en-BE" b="1" dirty="0"/>
          </a:p>
        </p:txBody>
      </p:sp>
      <p:sp>
        <p:nvSpPr>
          <p:cNvPr id="3" name="Content Placeholder 2">
            <a:extLst>
              <a:ext uri="{FF2B5EF4-FFF2-40B4-BE49-F238E27FC236}">
                <a16:creationId xmlns:a16="http://schemas.microsoft.com/office/drawing/2014/main" id="{F56FDA03-92B0-B7B1-9D66-DD657DDC0E4C}"/>
              </a:ext>
            </a:extLst>
          </p:cNvPr>
          <p:cNvSpPr>
            <a:spLocks noGrp="1"/>
          </p:cNvSpPr>
          <p:nvPr>
            <p:ph idx="1"/>
          </p:nvPr>
        </p:nvSpPr>
        <p:spPr/>
        <p:txBody>
          <a:bodyPr>
            <a:normAutofit/>
          </a:bodyPr>
          <a:lstStyle/>
          <a:p>
            <a:r>
              <a:rPr lang="en-GB" sz="3200" dirty="0"/>
              <a:t>In this session, we focus on Unit Testing.</a:t>
            </a:r>
          </a:p>
          <a:p>
            <a:pPr lvl="1"/>
            <a:r>
              <a:rPr lang="en-GB" sz="2800" dirty="0"/>
              <a:t>Unit testing focuses on the smallest testable parts of an application called units (e.g., a class method or function)</a:t>
            </a:r>
          </a:p>
          <a:p>
            <a:r>
              <a:rPr lang="en-GB" sz="3200" dirty="0"/>
              <a:t>There are other types of testing (Integration, Performance, Security, etc.)</a:t>
            </a:r>
          </a:p>
          <a:p>
            <a:r>
              <a:rPr lang="en-GB" sz="3200" dirty="0"/>
              <a:t>It does not mean that Unit Testing is more important, but those are the tests we can more easily automatize and benefit from tool support. </a:t>
            </a:r>
            <a:endParaRPr lang="en-BE" sz="3200" dirty="0"/>
          </a:p>
        </p:txBody>
      </p:sp>
    </p:spTree>
    <p:extLst>
      <p:ext uri="{BB962C8B-B14F-4D97-AF65-F5344CB8AC3E}">
        <p14:creationId xmlns:p14="http://schemas.microsoft.com/office/powerpoint/2010/main" val="1133731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FC6C2-BC66-F3C3-5F0C-5DC5B1DFC7EB}"/>
              </a:ext>
            </a:extLst>
          </p:cNvPr>
          <p:cNvSpPr>
            <a:spLocks noGrp="1"/>
          </p:cNvSpPr>
          <p:nvPr>
            <p:ph type="title"/>
          </p:nvPr>
        </p:nvSpPr>
        <p:spPr/>
        <p:txBody>
          <a:bodyPr/>
          <a:lstStyle/>
          <a:p>
            <a:r>
              <a:rPr lang="en-GB" dirty="0"/>
              <a:t>Quality of a Test Suite</a:t>
            </a:r>
            <a:endParaRPr lang="en-BE" dirty="0"/>
          </a:p>
        </p:txBody>
      </p:sp>
      <p:sp>
        <p:nvSpPr>
          <p:cNvPr id="3" name="Content Placeholder 2">
            <a:extLst>
              <a:ext uri="{FF2B5EF4-FFF2-40B4-BE49-F238E27FC236}">
                <a16:creationId xmlns:a16="http://schemas.microsoft.com/office/drawing/2014/main" id="{3E383776-2658-8837-799F-07B0F5A0360F}"/>
              </a:ext>
            </a:extLst>
          </p:cNvPr>
          <p:cNvSpPr>
            <a:spLocks noGrp="1"/>
          </p:cNvSpPr>
          <p:nvPr>
            <p:ph idx="1"/>
          </p:nvPr>
        </p:nvSpPr>
        <p:spPr/>
        <p:txBody>
          <a:bodyPr/>
          <a:lstStyle/>
          <a:p>
            <a:r>
              <a:rPr lang="en-GB" dirty="0"/>
              <a:t>How do you know if your unit test cases are good enough? </a:t>
            </a:r>
          </a:p>
          <a:p>
            <a:r>
              <a:rPr lang="en-GB" dirty="0"/>
              <a:t>Are they really testing the application? </a:t>
            </a:r>
          </a:p>
          <a:p>
            <a:r>
              <a:rPr lang="en-GB" dirty="0"/>
              <a:t>When do we stop testing?</a:t>
            </a:r>
          </a:p>
          <a:p>
            <a:endParaRPr lang="en-GB" dirty="0"/>
          </a:p>
          <a:p>
            <a:pPr marL="0" indent="0">
              <a:buNone/>
            </a:pPr>
            <a:r>
              <a:rPr lang="en-GB" b="1" dirty="0"/>
              <a:t>Solution</a:t>
            </a:r>
            <a:r>
              <a:rPr lang="en-GB" dirty="0"/>
              <a:t>: Test Coverage!</a:t>
            </a:r>
            <a:endParaRPr lang="en-BE" dirty="0"/>
          </a:p>
        </p:txBody>
      </p:sp>
    </p:spTree>
    <p:extLst>
      <p:ext uri="{BB962C8B-B14F-4D97-AF65-F5344CB8AC3E}">
        <p14:creationId xmlns:p14="http://schemas.microsoft.com/office/powerpoint/2010/main" val="3692308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dissolve">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F94B8-3011-C8C4-162A-9502576C158D}"/>
              </a:ext>
            </a:extLst>
          </p:cNvPr>
          <p:cNvSpPr>
            <a:spLocks noGrp="1"/>
          </p:cNvSpPr>
          <p:nvPr>
            <p:ph type="title"/>
          </p:nvPr>
        </p:nvSpPr>
        <p:spPr/>
        <p:txBody>
          <a:bodyPr/>
          <a:lstStyle/>
          <a:p>
            <a:r>
              <a:rPr lang="en-GB" b="1" dirty="0"/>
              <a:t>Test Coverage</a:t>
            </a:r>
            <a:endParaRPr lang="en-BE"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7075A9-D8CC-A5A6-5A20-A4D50BA8DEF5}"/>
                  </a:ext>
                </a:extLst>
              </p:cNvPr>
              <p:cNvSpPr>
                <a:spLocks noGrp="1"/>
              </p:cNvSpPr>
              <p:nvPr>
                <p:ph idx="1"/>
              </p:nvPr>
            </p:nvSpPr>
            <p:spPr/>
            <p:txBody>
              <a:bodyPr/>
              <a:lstStyle/>
              <a:p>
                <a:pPr marL="0" indent="0">
                  <a:buNone/>
                </a:pPr>
                <a:r>
                  <a:rPr lang="en-BE" sz="3200" dirty="0"/>
                  <a:t>Coverage = </a:t>
                </a:r>
                <a14:m>
                  <m:oMath xmlns:m="http://schemas.openxmlformats.org/officeDocument/2006/math">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𝑁𝑢𝑚𝑏𝑒𝑟</m:t>
                        </m:r>
                        <m:r>
                          <a:rPr lang="en-US" sz="3200" b="0" i="1" smtClean="0">
                            <a:latin typeface="Cambria Math" panose="02040503050406030204" pitchFamily="18" charset="0"/>
                          </a:rPr>
                          <m:t> </m:t>
                        </m:r>
                        <m:r>
                          <a:rPr lang="en-US" sz="3200" b="0" i="1" smtClean="0">
                            <a:latin typeface="Cambria Math" panose="02040503050406030204" pitchFamily="18" charset="0"/>
                          </a:rPr>
                          <m:t>𝑜𝑓</m:t>
                        </m:r>
                        <m:r>
                          <a:rPr lang="en-US" sz="3200" b="0" i="1" smtClean="0">
                            <a:latin typeface="Cambria Math" panose="02040503050406030204" pitchFamily="18" charset="0"/>
                          </a:rPr>
                          <m:t> </m:t>
                        </m:r>
                        <m:r>
                          <a:rPr lang="en-US" sz="3200" b="0" i="1" smtClean="0">
                            <a:latin typeface="Cambria Math" panose="02040503050406030204" pitchFamily="18" charset="0"/>
                          </a:rPr>
                          <m:t>𝐶𝑜𝑣𝑒𝑟𝑒𝑑</m:t>
                        </m:r>
                        <m:r>
                          <a:rPr lang="en-US" sz="3200" b="0" i="1" smtClean="0">
                            <a:latin typeface="Cambria Math" panose="02040503050406030204" pitchFamily="18" charset="0"/>
                          </a:rPr>
                          <m:t> </m:t>
                        </m:r>
                        <m:r>
                          <a:rPr lang="en-US" sz="3200" b="0" i="1" smtClean="0">
                            <a:latin typeface="Cambria Math" panose="02040503050406030204" pitchFamily="18" charset="0"/>
                          </a:rPr>
                          <m:t>𝐼𝑡𝑒𝑚𝑠</m:t>
                        </m:r>
                      </m:num>
                      <m:den>
                        <m:r>
                          <a:rPr lang="en-US" sz="3200" b="0" i="1" smtClean="0">
                            <a:latin typeface="Cambria Math" panose="02040503050406030204" pitchFamily="18" charset="0"/>
                          </a:rPr>
                          <m:t>𝑇𝑜𝑡𝑎𝑙</m:t>
                        </m:r>
                        <m:r>
                          <a:rPr lang="en-US" sz="3200" b="0" i="1" smtClean="0">
                            <a:latin typeface="Cambria Math" panose="02040503050406030204" pitchFamily="18" charset="0"/>
                          </a:rPr>
                          <m:t> </m:t>
                        </m:r>
                        <m:r>
                          <a:rPr lang="en-US" sz="3200" b="0" i="1" smtClean="0">
                            <a:latin typeface="Cambria Math" panose="02040503050406030204" pitchFamily="18" charset="0"/>
                          </a:rPr>
                          <m:t>𝑛𝑢𝑚𝑏𝑒𝑟</m:t>
                        </m:r>
                        <m:r>
                          <a:rPr lang="en-US" sz="3200" b="0" i="1" smtClean="0">
                            <a:latin typeface="Cambria Math" panose="02040503050406030204" pitchFamily="18" charset="0"/>
                          </a:rPr>
                          <m:t> </m:t>
                        </m:r>
                        <m:r>
                          <a:rPr lang="en-US" sz="3200" b="0" i="1" smtClean="0">
                            <a:latin typeface="Cambria Math" panose="02040503050406030204" pitchFamily="18" charset="0"/>
                          </a:rPr>
                          <m:t>𝑜𝑓</m:t>
                        </m:r>
                        <m:r>
                          <a:rPr lang="en-US" sz="3200" b="0" i="1" smtClean="0">
                            <a:latin typeface="Cambria Math" panose="02040503050406030204" pitchFamily="18" charset="0"/>
                          </a:rPr>
                          <m:t> </m:t>
                        </m:r>
                        <m:r>
                          <a:rPr lang="en-US" sz="3200" b="0" i="1" smtClean="0">
                            <a:latin typeface="Cambria Math" panose="02040503050406030204" pitchFamily="18" charset="0"/>
                          </a:rPr>
                          <m:t>𝑖𝑡𝑒𝑚𝑠</m:t>
                        </m:r>
                      </m:den>
                    </m:f>
                  </m:oMath>
                </a14:m>
                <a:r>
                  <a:rPr lang="en-BE" sz="3200" dirty="0"/>
                  <a:t> X 100%</a:t>
                </a:r>
              </a:p>
              <a:p>
                <a:pPr marL="0" indent="0">
                  <a:buNone/>
                </a:pPr>
                <a:endParaRPr lang="en-BE" sz="3200" dirty="0"/>
              </a:p>
              <a:p>
                <a:r>
                  <a:rPr lang="en-BE" sz="3200" dirty="0"/>
                  <a:t>Examples:</a:t>
                </a:r>
              </a:p>
              <a:p>
                <a:pPr lvl="1"/>
                <a:r>
                  <a:rPr lang="en-BE" sz="2800" dirty="0"/>
                  <a:t>Statement (Line, or Code) Coverage.</a:t>
                </a:r>
              </a:p>
              <a:p>
                <a:pPr lvl="1"/>
                <a:r>
                  <a:rPr lang="en-BE" sz="2800" dirty="0"/>
                  <a:t>Branch (Condition) Coverage</a:t>
                </a:r>
              </a:p>
              <a:p>
                <a:pPr lvl="1"/>
                <a:r>
                  <a:rPr lang="en-BE" sz="2800" dirty="0"/>
                  <a:t>Path Caverage</a:t>
                </a:r>
              </a:p>
              <a:p>
                <a:pPr lvl="1"/>
                <a:r>
                  <a:rPr lang="en-BE" sz="2800" dirty="0"/>
                  <a:t>Mutation Caverage</a:t>
                </a:r>
              </a:p>
            </p:txBody>
          </p:sp>
        </mc:Choice>
        <mc:Fallback xmlns="">
          <p:sp>
            <p:nvSpPr>
              <p:cNvPr id="3" name="Content Placeholder 2">
                <a:extLst>
                  <a:ext uri="{FF2B5EF4-FFF2-40B4-BE49-F238E27FC236}">
                    <a16:creationId xmlns:a16="http://schemas.microsoft.com/office/drawing/2014/main" id="{217075A9-D8CC-A5A6-5A20-A4D50BA8DEF5}"/>
                  </a:ext>
                </a:extLst>
              </p:cNvPr>
              <p:cNvSpPr>
                <a:spLocks noGrp="1" noRot="1" noChangeAspect="1" noMove="1" noResize="1" noEditPoints="1" noAdjustHandles="1" noChangeArrowheads="1" noChangeShapeType="1" noTextEdit="1"/>
              </p:cNvSpPr>
              <p:nvPr>
                <p:ph idx="1"/>
              </p:nvPr>
            </p:nvSpPr>
            <p:spPr>
              <a:blipFill>
                <a:blip r:embed="rId3"/>
                <a:stretch>
                  <a:fillRect l="-1568" t="-1163"/>
                </a:stretch>
              </a:blipFill>
            </p:spPr>
            <p:txBody>
              <a:bodyPr/>
              <a:lstStyle/>
              <a:p>
                <a:r>
                  <a:rPr lang="en-BE">
                    <a:noFill/>
                  </a:rPr>
                  <a:t> </a:t>
                </a:r>
              </a:p>
            </p:txBody>
          </p:sp>
        </mc:Fallback>
      </mc:AlternateContent>
    </p:spTree>
    <p:extLst>
      <p:ext uri="{BB962C8B-B14F-4D97-AF65-F5344CB8AC3E}">
        <p14:creationId xmlns:p14="http://schemas.microsoft.com/office/powerpoint/2010/main" val="4227808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a:extLst>
              <a:ext uri="{FF2B5EF4-FFF2-40B4-BE49-F238E27FC236}">
                <a16:creationId xmlns:a16="http://schemas.microsoft.com/office/drawing/2014/main" id="{AC8A8F93-4E9E-488E-B4A1-94325C096BBD}"/>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7202A"/>
                </a:solidFill>
              </a:defRPr>
            </a:pPr>
            <a:r>
              <a:rPr sz="3000" b="0">
                <a:solidFill>
                  <a:srgbClr val="17202A"/>
                </a:solidFill>
              </a:rPr>
              <a:t>One function contains three independent decisions</a:t>
            </a:r>
          </a:p>
        </p:txBody>
      </p:sp>
      <p:sp>
        <p:nvSpPr>
          <p:cNvPr id="2" name="title-rule">
            <a:extLst>
              <a:ext uri="{FF2B5EF4-FFF2-40B4-BE49-F238E27FC236}">
                <a16:creationId xmlns:a16="http://schemas.microsoft.com/office/drawing/2014/main" id="{5187DB08-1CF6-485C-A38E-679240BC228B}"/>
              </a:ext>
            </a:extLst>
          </p:cNvPr>
          <p:cNvSpPr>
            <a:spLocks noGrp="1"/>
          </p:cNvSpPr>
          <p:nvPr/>
        </p:nvSpPr>
        <p:spPr>
          <a:xfrm>
            <a:off x="685800" y="1066800"/>
            <a:ext cx="1571625" cy="38100"/>
          </a:xfrm>
          <a:prstGeom prst="rect">
            <a:avLst/>
          </a:prstGeom>
          <a:solidFill>
            <a:srgbClr val="25364A"/>
          </a:solidFill>
          <a:ln w="0">
            <a:solidFill>
              <a:srgbClr val="25364A"/>
            </a:solidFill>
            <a:prstDash val="solid"/>
          </a:ln>
        </p:spPr>
        <p:txBody>
          <a:bodyPr/>
          <a:lstStyle/>
          <a:p>
            <a:endParaRPr lang="en-US"/>
          </a:p>
        </p:txBody>
      </p:sp>
      <p:sp>
        <p:nvSpPr>
          <p:cNvPr id="3" name="code">
            <a:extLst>
              <a:ext uri="{FF2B5EF4-FFF2-40B4-BE49-F238E27FC236}">
                <a16:creationId xmlns:a16="http://schemas.microsoft.com/office/drawing/2014/main" id="{FDB307FD-AB94-4AA6-99B4-8178BB085019}"/>
              </a:ext>
            </a:extLst>
          </p:cNvPr>
          <p:cNvSpPr>
            <a:spLocks noGrp="1"/>
          </p:cNvSpPr>
          <p:nvPr/>
        </p:nvSpPr>
        <p:spPr>
          <a:xfrm>
            <a:off x="781050" y="1581150"/>
            <a:ext cx="5962650" cy="3371850"/>
          </a:xfrm>
          <a:prstGeom prst="roundRect">
            <a:avLst>
              <a:gd name="adj" fmla="val 3390"/>
            </a:avLst>
          </a:prstGeom>
          <a:solidFill>
            <a:srgbClr val="F3F5F7"/>
          </a:solidFill>
          <a:ln w="19050">
            <a:solidFill>
              <a:srgbClr val="25364A"/>
            </a:solidFill>
            <a:prstDash val="solid"/>
          </a:ln>
        </p:spPr>
        <p:txBody>
          <a:bodyPr/>
          <a:lstStyle/>
          <a:p>
            <a:endParaRPr lang="en-US"/>
          </a:p>
        </p:txBody>
      </p:sp>
      <p:sp>
        <p:nvSpPr>
          <p:cNvPr id="4" name="code-text">
            <a:extLst>
              <a:ext uri="{FF2B5EF4-FFF2-40B4-BE49-F238E27FC236}">
                <a16:creationId xmlns:a16="http://schemas.microsoft.com/office/drawing/2014/main" id="{68AF2C17-F2B8-4A4A-9528-098E9482DEC4}"/>
              </a:ext>
            </a:extLst>
          </p:cNvPr>
          <p:cNvSpPr>
            <a:spLocks noGrp="1"/>
          </p:cNvSpPr>
          <p:nvPr/>
        </p:nvSpPr>
        <p:spPr>
          <a:xfrm>
            <a:off x="1066800" y="1809750"/>
            <a:ext cx="5391150" cy="2857500"/>
          </a:xfrm>
          <a:prstGeom prst="rect">
            <a:avLst/>
          </a:prstGeom>
          <a:noFill/>
          <a:ln w="0">
            <a:noFill/>
            <a:prstDash val="solid"/>
          </a:ln>
        </p:spPr>
        <p:txBody>
          <a:bodyPr anchor="ctr"/>
          <a:lstStyle/>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int foo(int input, bool b1, bool b2, bool b3) {</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    int x = input;</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    int y = 0;</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    if (b1) x++;</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    if (b2) x--;</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    if (b3) y = x;</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    return y;</a:t>
            </a:r>
          </a:p>
          <a:p>
            <a:pPr algn="l">
              <a:defRPr sz="1425" b="0">
                <a:solidFill>
                  <a:srgbClr val="17202A"/>
                </a:solidFill>
              </a:defRPr>
            </a:pPr>
            <a:r>
              <a:rPr sz="1425" b="0" dirty="0">
                <a:solidFill>
                  <a:srgbClr val="17202A"/>
                </a:solidFill>
                <a:latin typeface="Courier New" panose="02070309020205020404" pitchFamily="49" charset="0"/>
                <a:cs typeface="Courier New" panose="02070309020205020404" pitchFamily="49" charset="0"/>
              </a:rPr>
              <a:t>}</a:t>
            </a:r>
          </a:p>
        </p:txBody>
      </p:sp>
      <p:sp>
        <p:nvSpPr>
          <p:cNvPr id="5" name="decisions-head">
            <a:extLst>
              <a:ext uri="{FF2B5EF4-FFF2-40B4-BE49-F238E27FC236}">
                <a16:creationId xmlns:a16="http://schemas.microsoft.com/office/drawing/2014/main" id="{AF4EF7FD-CE5A-4604-8433-9311497FD7F5}"/>
              </a:ext>
            </a:extLst>
          </p:cNvPr>
          <p:cNvSpPr>
            <a:spLocks noGrp="1"/>
          </p:cNvSpPr>
          <p:nvPr/>
        </p:nvSpPr>
        <p:spPr>
          <a:xfrm>
            <a:off x="7372350" y="1619250"/>
            <a:ext cx="3733800" cy="285750"/>
          </a:xfrm>
          <a:prstGeom prst="rect">
            <a:avLst/>
          </a:prstGeom>
          <a:noFill/>
          <a:ln w="0">
            <a:noFill/>
            <a:prstDash val="solid"/>
          </a:ln>
        </p:spPr>
        <p:txBody>
          <a:bodyPr anchor="ctr"/>
          <a:lstStyle/>
          <a:p>
            <a:pPr algn="ctr">
              <a:defRPr sz="1275" b="1">
                <a:solidFill>
                  <a:srgbClr val="4E6478"/>
                </a:solidFill>
              </a:defRPr>
            </a:pPr>
            <a:r>
              <a:rPr sz="1275" b="1">
                <a:solidFill>
                  <a:srgbClr val="4E6478"/>
                </a:solidFill>
              </a:rPr>
              <a:t>THREE BOOLEAN DECISIONS</a:t>
            </a:r>
          </a:p>
        </p:txBody>
      </p:sp>
      <p:sp>
        <p:nvSpPr>
          <p:cNvPr id="6" name="d0-c">
            <a:extLst>
              <a:ext uri="{FF2B5EF4-FFF2-40B4-BE49-F238E27FC236}">
                <a16:creationId xmlns:a16="http://schemas.microsoft.com/office/drawing/2014/main" id="{01B41A87-341D-4258-8B86-9955816A5C96}"/>
              </a:ext>
            </a:extLst>
          </p:cNvPr>
          <p:cNvSpPr>
            <a:spLocks noGrp="1"/>
          </p:cNvSpPr>
          <p:nvPr/>
        </p:nvSpPr>
        <p:spPr>
          <a:xfrm>
            <a:off x="7353300" y="2095500"/>
            <a:ext cx="533400" cy="533400"/>
          </a:xfrm>
          <a:prstGeom prst="ellipse">
            <a:avLst/>
          </a:prstGeom>
          <a:solidFill>
            <a:srgbClr val="FFFFFF"/>
          </a:solidFill>
          <a:ln w="23813">
            <a:solidFill>
              <a:srgbClr val="25364A"/>
            </a:solidFill>
            <a:prstDash val="solid"/>
          </a:ln>
        </p:spPr>
        <p:txBody>
          <a:bodyPr/>
          <a:lstStyle/>
          <a:p>
            <a:endParaRPr lang="en-US"/>
          </a:p>
        </p:txBody>
      </p:sp>
      <p:sp>
        <p:nvSpPr>
          <p:cNvPr id="7" name="d0-t">
            <a:extLst>
              <a:ext uri="{FF2B5EF4-FFF2-40B4-BE49-F238E27FC236}">
                <a16:creationId xmlns:a16="http://schemas.microsoft.com/office/drawing/2014/main" id="{549E2653-6F17-47B6-984B-DB0E665957C8}"/>
              </a:ext>
            </a:extLst>
          </p:cNvPr>
          <p:cNvSpPr>
            <a:spLocks noGrp="1"/>
          </p:cNvSpPr>
          <p:nvPr/>
        </p:nvSpPr>
        <p:spPr>
          <a:xfrm>
            <a:off x="7353300" y="2085975"/>
            <a:ext cx="533400" cy="533400"/>
          </a:xfrm>
          <a:prstGeom prst="rect">
            <a:avLst/>
          </a:prstGeom>
          <a:noFill/>
          <a:ln w="0">
            <a:noFill/>
            <a:prstDash val="solid"/>
          </a:ln>
        </p:spPr>
        <p:txBody>
          <a:bodyPr anchor="ctr"/>
          <a:lstStyle/>
          <a:p>
            <a:pPr algn="ctr">
              <a:defRPr sz="1275" b="1">
                <a:solidFill>
                  <a:srgbClr val="25364A"/>
                </a:solidFill>
              </a:defRPr>
            </a:pPr>
            <a:r>
              <a:rPr sz="1275" b="1">
                <a:solidFill>
                  <a:srgbClr val="25364A"/>
                </a:solidFill>
              </a:rPr>
              <a:t>b1</a:t>
            </a:r>
          </a:p>
        </p:txBody>
      </p:sp>
      <p:sp>
        <p:nvSpPr>
          <p:cNvPr id="8" name="true-0">
            <a:extLst>
              <a:ext uri="{FF2B5EF4-FFF2-40B4-BE49-F238E27FC236}">
                <a16:creationId xmlns:a16="http://schemas.microsoft.com/office/drawing/2014/main" id="{DB9BBCF4-C791-40CD-91B2-D852C08E80A0}"/>
              </a:ext>
            </a:extLst>
          </p:cNvPr>
          <p:cNvSpPr>
            <a:spLocks noGrp="1"/>
          </p:cNvSpPr>
          <p:nvPr/>
        </p:nvSpPr>
        <p:spPr>
          <a:xfrm>
            <a:off x="8096250" y="2076450"/>
            <a:ext cx="3028950" cy="285750"/>
          </a:xfrm>
          <a:prstGeom prst="rect">
            <a:avLst/>
          </a:prstGeom>
          <a:noFill/>
          <a:ln w="0">
            <a:noFill/>
            <a:prstDash val="solid"/>
          </a:ln>
        </p:spPr>
        <p:txBody>
          <a:bodyPr anchor="ctr"/>
          <a:lstStyle/>
          <a:p>
            <a:pPr algn="l">
              <a:defRPr sz="1425" b="1">
                <a:solidFill>
                  <a:srgbClr val="25364A"/>
                </a:solidFill>
              </a:defRPr>
            </a:pPr>
            <a:r>
              <a:rPr sz="1425" b="1">
                <a:solidFill>
                  <a:srgbClr val="25364A"/>
                </a:solidFill>
              </a:rPr>
              <a:t>true: increment x</a:t>
            </a:r>
          </a:p>
        </p:txBody>
      </p:sp>
      <p:sp>
        <p:nvSpPr>
          <p:cNvPr id="9" name="false-0">
            <a:extLst>
              <a:ext uri="{FF2B5EF4-FFF2-40B4-BE49-F238E27FC236}">
                <a16:creationId xmlns:a16="http://schemas.microsoft.com/office/drawing/2014/main" id="{5A6B33DF-4068-4CEF-8A40-47EC18A35737}"/>
              </a:ext>
            </a:extLst>
          </p:cNvPr>
          <p:cNvSpPr>
            <a:spLocks noGrp="1"/>
          </p:cNvSpPr>
          <p:nvPr/>
        </p:nvSpPr>
        <p:spPr>
          <a:xfrm>
            <a:off x="8096250" y="2409825"/>
            <a:ext cx="3028950" cy="323850"/>
          </a:xfrm>
          <a:prstGeom prst="rect">
            <a:avLst/>
          </a:prstGeom>
          <a:noFill/>
          <a:ln w="0">
            <a:noFill/>
            <a:prstDash val="solid"/>
          </a:ln>
        </p:spPr>
        <p:txBody>
          <a:bodyPr anchor="ctr"/>
          <a:lstStyle/>
          <a:p>
            <a:pPr algn="l">
              <a:defRPr sz="1275" b="0">
                <a:solidFill>
                  <a:srgbClr val="66727F"/>
                </a:solidFill>
              </a:defRPr>
            </a:pPr>
            <a:r>
              <a:rPr sz="1275" b="0">
                <a:solidFill>
                  <a:srgbClr val="66727F"/>
                </a:solidFill>
              </a:rPr>
              <a:t>false: leave x unchanged</a:t>
            </a:r>
          </a:p>
        </p:txBody>
      </p:sp>
      <p:sp>
        <p:nvSpPr>
          <p:cNvPr id="10" name="d1-c">
            <a:extLst>
              <a:ext uri="{FF2B5EF4-FFF2-40B4-BE49-F238E27FC236}">
                <a16:creationId xmlns:a16="http://schemas.microsoft.com/office/drawing/2014/main" id="{BBBC3DB2-22CF-4AC3-9360-C0C528E54149}"/>
              </a:ext>
            </a:extLst>
          </p:cNvPr>
          <p:cNvSpPr>
            <a:spLocks noGrp="1"/>
          </p:cNvSpPr>
          <p:nvPr/>
        </p:nvSpPr>
        <p:spPr>
          <a:xfrm>
            <a:off x="7353300" y="3048000"/>
            <a:ext cx="533400" cy="533400"/>
          </a:xfrm>
          <a:prstGeom prst="ellipse">
            <a:avLst/>
          </a:prstGeom>
          <a:solidFill>
            <a:srgbClr val="FFFFFF"/>
          </a:solidFill>
          <a:ln w="23813">
            <a:solidFill>
              <a:srgbClr val="4C78A8"/>
            </a:solidFill>
            <a:prstDash val="solid"/>
          </a:ln>
        </p:spPr>
        <p:txBody>
          <a:bodyPr/>
          <a:lstStyle/>
          <a:p>
            <a:endParaRPr lang="en-US"/>
          </a:p>
        </p:txBody>
      </p:sp>
      <p:sp>
        <p:nvSpPr>
          <p:cNvPr id="11" name="d1-t">
            <a:extLst>
              <a:ext uri="{FF2B5EF4-FFF2-40B4-BE49-F238E27FC236}">
                <a16:creationId xmlns:a16="http://schemas.microsoft.com/office/drawing/2014/main" id="{EEC8DA19-4B89-4244-A5EC-AD81199F6AFB}"/>
              </a:ext>
            </a:extLst>
          </p:cNvPr>
          <p:cNvSpPr>
            <a:spLocks noGrp="1"/>
          </p:cNvSpPr>
          <p:nvPr/>
        </p:nvSpPr>
        <p:spPr>
          <a:xfrm>
            <a:off x="7353300" y="3038475"/>
            <a:ext cx="533400" cy="533400"/>
          </a:xfrm>
          <a:prstGeom prst="rect">
            <a:avLst/>
          </a:prstGeom>
          <a:noFill/>
          <a:ln w="0">
            <a:noFill/>
            <a:prstDash val="solid"/>
          </a:ln>
        </p:spPr>
        <p:txBody>
          <a:bodyPr anchor="ctr"/>
          <a:lstStyle/>
          <a:p>
            <a:pPr algn="ctr">
              <a:defRPr sz="1275" b="1">
                <a:solidFill>
                  <a:srgbClr val="4C78A8"/>
                </a:solidFill>
              </a:defRPr>
            </a:pPr>
            <a:r>
              <a:rPr sz="1275" b="1">
                <a:solidFill>
                  <a:srgbClr val="4C78A8"/>
                </a:solidFill>
              </a:rPr>
              <a:t>b2</a:t>
            </a:r>
          </a:p>
        </p:txBody>
      </p:sp>
      <p:sp>
        <p:nvSpPr>
          <p:cNvPr id="12" name="true-1">
            <a:extLst>
              <a:ext uri="{FF2B5EF4-FFF2-40B4-BE49-F238E27FC236}">
                <a16:creationId xmlns:a16="http://schemas.microsoft.com/office/drawing/2014/main" id="{5082F1AD-14E6-466D-ABD9-0F140AE32177}"/>
              </a:ext>
            </a:extLst>
          </p:cNvPr>
          <p:cNvSpPr>
            <a:spLocks noGrp="1"/>
          </p:cNvSpPr>
          <p:nvPr/>
        </p:nvSpPr>
        <p:spPr>
          <a:xfrm>
            <a:off x="8096250" y="3028950"/>
            <a:ext cx="3028950" cy="285750"/>
          </a:xfrm>
          <a:prstGeom prst="rect">
            <a:avLst/>
          </a:prstGeom>
          <a:noFill/>
          <a:ln w="0">
            <a:noFill/>
            <a:prstDash val="solid"/>
          </a:ln>
        </p:spPr>
        <p:txBody>
          <a:bodyPr anchor="ctr"/>
          <a:lstStyle/>
          <a:p>
            <a:pPr algn="l">
              <a:defRPr sz="1425" b="1">
                <a:solidFill>
                  <a:srgbClr val="4C78A8"/>
                </a:solidFill>
              </a:defRPr>
            </a:pPr>
            <a:r>
              <a:rPr sz="1425" b="1">
                <a:solidFill>
                  <a:srgbClr val="4C78A8"/>
                </a:solidFill>
              </a:rPr>
              <a:t>true: decrement x</a:t>
            </a:r>
          </a:p>
        </p:txBody>
      </p:sp>
      <p:sp>
        <p:nvSpPr>
          <p:cNvPr id="13" name="false-1">
            <a:extLst>
              <a:ext uri="{FF2B5EF4-FFF2-40B4-BE49-F238E27FC236}">
                <a16:creationId xmlns:a16="http://schemas.microsoft.com/office/drawing/2014/main" id="{72E06B94-43C1-4BC0-BE0F-78DC56BBEB42}"/>
              </a:ext>
            </a:extLst>
          </p:cNvPr>
          <p:cNvSpPr>
            <a:spLocks noGrp="1"/>
          </p:cNvSpPr>
          <p:nvPr/>
        </p:nvSpPr>
        <p:spPr>
          <a:xfrm>
            <a:off x="8096250" y="3362325"/>
            <a:ext cx="3028950" cy="323850"/>
          </a:xfrm>
          <a:prstGeom prst="rect">
            <a:avLst/>
          </a:prstGeom>
          <a:noFill/>
          <a:ln w="0">
            <a:noFill/>
            <a:prstDash val="solid"/>
          </a:ln>
        </p:spPr>
        <p:txBody>
          <a:bodyPr anchor="ctr"/>
          <a:lstStyle/>
          <a:p>
            <a:pPr algn="l">
              <a:defRPr sz="1275" b="0">
                <a:solidFill>
                  <a:srgbClr val="66727F"/>
                </a:solidFill>
              </a:defRPr>
            </a:pPr>
            <a:r>
              <a:rPr sz="1275" b="0">
                <a:solidFill>
                  <a:srgbClr val="66727F"/>
                </a:solidFill>
              </a:rPr>
              <a:t>false: leave x unchanged</a:t>
            </a:r>
          </a:p>
        </p:txBody>
      </p:sp>
      <p:sp>
        <p:nvSpPr>
          <p:cNvPr id="14" name="d2-c">
            <a:extLst>
              <a:ext uri="{FF2B5EF4-FFF2-40B4-BE49-F238E27FC236}">
                <a16:creationId xmlns:a16="http://schemas.microsoft.com/office/drawing/2014/main" id="{99276A98-A164-4543-A7E1-029B0EA49247}"/>
              </a:ext>
            </a:extLst>
          </p:cNvPr>
          <p:cNvSpPr>
            <a:spLocks noGrp="1"/>
          </p:cNvSpPr>
          <p:nvPr/>
        </p:nvSpPr>
        <p:spPr>
          <a:xfrm>
            <a:off x="7353300" y="4000500"/>
            <a:ext cx="533400" cy="533400"/>
          </a:xfrm>
          <a:prstGeom prst="ellipse">
            <a:avLst/>
          </a:prstGeom>
          <a:solidFill>
            <a:srgbClr val="FFFFFF"/>
          </a:solidFill>
          <a:ln w="23813">
            <a:solidFill>
              <a:srgbClr val="C49A52"/>
            </a:solidFill>
            <a:prstDash val="solid"/>
          </a:ln>
        </p:spPr>
        <p:txBody>
          <a:bodyPr/>
          <a:lstStyle/>
          <a:p>
            <a:endParaRPr lang="en-US"/>
          </a:p>
        </p:txBody>
      </p:sp>
      <p:sp>
        <p:nvSpPr>
          <p:cNvPr id="15" name="d2-t">
            <a:extLst>
              <a:ext uri="{FF2B5EF4-FFF2-40B4-BE49-F238E27FC236}">
                <a16:creationId xmlns:a16="http://schemas.microsoft.com/office/drawing/2014/main" id="{90126EBB-6214-471B-AEDA-25F4D3879D64}"/>
              </a:ext>
            </a:extLst>
          </p:cNvPr>
          <p:cNvSpPr>
            <a:spLocks noGrp="1"/>
          </p:cNvSpPr>
          <p:nvPr/>
        </p:nvSpPr>
        <p:spPr>
          <a:xfrm>
            <a:off x="7353300" y="3990975"/>
            <a:ext cx="533400" cy="533400"/>
          </a:xfrm>
          <a:prstGeom prst="rect">
            <a:avLst/>
          </a:prstGeom>
          <a:noFill/>
          <a:ln w="0">
            <a:noFill/>
            <a:prstDash val="solid"/>
          </a:ln>
        </p:spPr>
        <p:txBody>
          <a:bodyPr anchor="ctr"/>
          <a:lstStyle/>
          <a:p>
            <a:pPr algn="ctr">
              <a:defRPr sz="1275" b="1">
                <a:solidFill>
                  <a:srgbClr val="C49A52"/>
                </a:solidFill>
              </a:defRPr>
            </a:pPr>
            <a:r>
              <a:rPr sz="1275" b="1">
                <a:solidFill>
                  <a:srgbClr val="C49A52"/>
                </a:solidFill>
              </a:rPr>
              <a:t>b3</a:t>
            </a:r>
          </a:p>
        </p:txBody>
      </p:sp>
      <p:sp>
        <p:nvSpPr>
          <p:cNvPr id="16" name="true-2">
            <a:extLst>
              <a:ext uri="{FF2B5EF4-FFF2-40B4-BE49-F238E27FC236}">
                <a16:creationId xmlns:a16="http://schemas.microsoft.com/office/drawing/2014/main" id="{0D4272E7-AA6E-4319-863B-881C1C1B1491}"/>
              </a:ext>
            </a:extLst>
          </p:cNvPr>
          <p:cNvSpPr>
            <a:spLocks noGrp="1"/>
          </p:cNvSpPr>
          <p:nvPr/>
        </p:nvSpPr>
        <p:spPr>
          <a:xfrm>
            <a:off x="8096250" y="3981450"/>
            <a:ext cx="3028950" cy="285750"/>
          </a:xfrm>
          <a:prstGeom prst="rect">
            <a:avLst/>
          </a:prstGeom>
          <a:noFill/>
          <a:ln w="0">
            <a:noFill/>
            <a:prstDash val="solid"/>
          </a:ln>
        </p:spPr>
        <p:txBody>
          <a:bodyPr anchor="ctr"/>
          <a:lstStyle/>
          <a:p>
            <a:pPr algn="l">
              <a:defRPr sz="1425" b="1">
                <a:solidFill>
                  <a:srgbClr val="C49A52"/>
                </a:solidFill>
              </a:defRPr>
            </a:pPr>
            <a:r>
              <a:rPr sz="1425" b="1">
                <a:solidFill>
                  <a:srgbClr val="C49A52"/>
                </a:solidFill>
              </a:rPr>
              <a:t>true: copy x into y</a:t>
            </a:r>
          </a:p>
        </p:txBody>
      </p:sp>
      <p:sp>
        <p:nvSpPr>
          <p:cNvPr id="17" name="false-2">
            <a:extLst>
              <a:ext uri="{FF2B5EF4-FFF2-40B4-BE49-F238E27FC236}">
                <a16:creationId xmlns:a16="http://schemas.microsoft.com/office/drawing/2014/main" id="{7C7433DA-6286-4794-953E-41663CAA997E}"/>
              </a:ext>
            </a:extLst>
          </p:cNvPr>
          <p:cNvSpPr>
            <a:spLocks noGrp="1"/>
          </p:cNvSpPr>
          <p:nvPr/>
        </p:nvSpPr>
        <p:spPr>
          <a:xfrm>
            <a:off x="8096250" y="4314825"/>
            <a:ext cx="3028950" cy="323850"/>
          </a:xfrm>
          <a:prstGeom prst="rect">
            <a:avLst/>
          </a:prstGeom>
          <a:noFill/>
          <a:ln w="0">
            <a:noFill/>
            <a:prstDash val="solid"/>
          </a:ln>
        </p:spPr>
        <p:txBody>
          <a:bodyPr anchor="ctr"/>
          <a:lstStyle/>
          <a:p>
            <a:pPr algn="l">
              <a:defRPr sz="1275" b="0">
                <a:solidFill>
                  <a:srgbClr val="66727F"/>
                </a:solidFill>
              </a:defRPr>
            </a:pPr>
            <a:r>
              <a:rPr sz="1275" b="0">
                <a:solidFill>
                  <a:srgbClr val="66727F"/>
                </a:solidFill>
              </a:rPr>
              <a:t>false: leave y as 0</a:t>
            </a:r>
          </a:p>
        </p:txBody>
      </p:sp>
      <p:sp>
        <p:nvSpPr>
          <p:cNvPr id="18" name="takeaway">
            <a:extLst>
              <a:ext uri="{FF2B5EF4-FFF2-40B4-BE49-F238E27FC236}">
                <a16:creationId xmlns:a16="http://schemas.microsoft.com/office/drawing/2014/main" id="{0DB6490B-607F-428D-9B85-959C57BFECA2}"/>
              </a:ext>
            </a:extLst>
          </p:cNvPr>
          <p:cNvSpPr>
            <a:spLocks noGrp="1"/>
          </p:cNvSpPr>
          <p:nvPr/>
        </p:nvSpPr>
        <p:spPr>
          <a:xfrm>
            <a:off x="781050" y="5467350"/>
            <a:ext cx="10629900" cy="723900"/>
          </a:xfrm>
          <a:prstGeom prst="roundRect">
            <a:avLst>
              <a:gd name="adj" fmla="val 10526"/>
            </a:avLst>
          </a:prstGeom>
          <a:solidFill>
            <a:srgbClr val="F3F5F7"/>
          </a:solidFill>
          <a:ln w="19050">
            <a:solidFill>
              <a:srgbClr val="25364A"/>
            </a:solidFill>
            <a:prstDash val="solid"/>
          </a:ln>
        </p:spPr>
        <p:txBody>
          <a:bodyPr/>
          <a:lstStyle/>
          <a:p>
            <a:endParaRPr lang="en-US"/>
          </a:p>
        </p:txBody>
      </p:sp>
      <p:sp>
        <p:nvSpPr>
          <p:cNvPr id="19" name="takeaway-text">
            <a:extLst>
              <a:ext uri="{FF2B5EF4-FFF2-40B4-BE49-F238E27FC236}">
                <a16:creationId xmlns:a16="http://schemas.microsoft.com/office/drawing/2014/main" id="{93D84C06-A9DA-478F-AF2F-217431CACE59}"/>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5364A"/>
                </a:solidFill>
              </a:defRPr>
            </a:pPr>
            <a:r>
              <a:rPr sz="1800" b="1">
                <a:solidFill>
                  <a:srgbClr val="25364A"/>
                </a:solidFill>
              </a:rPr>
              <a:t>Each decision can be true or false, creating different execution paths.</a:t>
            </a:r>
          </a:p>
        </p:txBody>
      </p:sp>
    </p:spTree>
    <p:extLst>
      <p:ext uri="{BB962C8B-B14F-4D97-AF65-F5344CB8AC3E}">
        <p14:creationId xmlns:p14="http://schemas.microsoft.com/office/powerpoint/2010/main" val="58766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8" grpId="0"/>
      <p:bldP spid="9" grpId="0"/>
      <p:bldP spid="10" grpId="0" animBg="1"/>
      <p:bldP spid="11" grpId="0"/>
      <p:bldP spid="12" grpId="0"/>
      <p:bldP spid="13" grpId="0"/>
      <p:bldP spid="14" grpId="0" animBg="1"/>
      <p:bldP spid="15" grpId="0"/>
      <p:bldP spid="16" grpId="0"/>
      <p:bldP spid="17" grpId="0"/>
      <p:bldP spid="18" grpId="0" animBg="1"/>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72E62-F796-0441-1531-4F903C7484F6}"/>
            </a:ext>
          </a:extLst>
        </p:cNvPr>
        <p:cNvGrpSpPr/>
        <p:nvPr/>
      </p:nvGrpSpPr>
      <p:grpSpPr>
        <a:xfrm>
          <a:off x="0" y="0"/>
          <a:ext cx="0" cy="0"/>
          <a:chOff x="0" y="0"/>
          <a:chExt cx="0" cy="0"/>
        </a:xfrm>
      </p:grpSpPr>
      <p:sp>
        <p:nvSpPr>
          <p:cNvPr id="51" name="title">
            <a:extLst>
              <a:ext uri="{FF2B5EF4-FFF2-40B4-BE49-F238E27FC236}">
                <a16:creationId xmlns:a16="http://schemas.microsoft.com/office/drawing/2014/main" id="{E4FCC82D-8A4E-12C4-254C-5AA3DF1E2F6E}"/>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7202A"/>
                </a:solidFill>
              </a:defRPr>
            </a:pPr>
            <a:r>
              <a:rPr sz="3000" b="0">
                <a:solidFill>
                  <a:srgbClr val="17202A"/>
                </a:solidFill>
              </a:rPr>
              <a:t>Line coverage shows which executable lines ran</a:t>
            </a:r>
          </a:p>
        </p:txBody>
      </p:sp>
      <p:sp>
        <p:nvSpPr>
          <p:cNvPr id="2" name="title-rule">
            <a:extLst>
              <a:ext uri="{FF2B5EF4-FFF2-40B4-BE49-F238E27FC236}">
                <a16:creationId xmlns:a16="http://schemas.microsoft.com/office/drawing/2014/main" id="{2322BC92-B226-DFB0-A4D8-543842FB93A1}"/>
              </a:ext>
            </a:extLst>
          </p:cNvPr>
          <p:cNvSpPr>
            <a:spLocks noGrp="1"/>
          </p:cNvSpPr>
          <p:nvPr/>
        </p:nvSpPr>
        <p:spPr>
          <a:xfrm>
            <a:off x="685800" y="1066800"/>
            <a:ext cx="1571625" cy="38100"/>
          </a:xfrm>
          <a:prstGeom prst="rect">
            <a:avLst/>
          </a:prstGeom>
          <a:solidFill>
            <a:srgbClr val="25364A"/>
          </a:solidFill>
          <a:ln w="0">
            <a:solidFill>
              <a:srgbClr val="25364A"/>
            </a:solidFill>
            <a:prstDash val="solid"/>
          </a:ln>
        </p:spPr>
        <p:txBody>
          <a:bodyPr/>
          <a:lstStyle/>
          <a:p>
            <a:endParaRPr lang="en-US"/>
          </a:p>
        </p:txBody>
      </p:sp>
      <p:sp>
        <p:nvSpPr>
          <p:cNvPr id="3" name="test">
            <a:extLst>
              <a:ext uri="{FF2B5EF4-FFF2-40B4-BE49-F238E27FC236}">
                <a16:creationId xmlns:a16="http://schemas.microsoft.com/office/drawing/2014/main" id="{9352DFCF-98FB-67BF-2376-5C01A7C0EF84}"/>
              </a:ext>
            </a:extLst>
          </p:cNvPr>
          <p:cNvSpPr>
            <a:spLocks noGrp="1"/>
          </p:cNvSpPr>
          <p:nvPr/>
        </p:nvSpPr>
        <p:spPr>
          <a:xfrm>
            <a:off x="895350" y="1352550"/>
            <a:ext cx="10401300" cy="400050"/>
          </a:xfrm>
          <a:prstGeom prst="rect">
            <a:avLst/>
          </a:prstGeom>
          <a:noFill/>
          <a:ln w="0">
            <a:noFill/>
            <a:prstDash val="solid"/>
          </a:ln>
        </p:spPr>
        <p:txBody>
          <a:bodyPr anchor="ctr"/>
          <a:lstStyle/>
          <a:p>
            <a:pPr algn="ctr">
              <a:defRPr sz="1650" b="1">
                <a:solidFill>
                  <a:srgbClr val="25364A"/>
                </a:solidFill>
              </a:defRPr>
            </a:pPr>
            <a:r>
              <a:rPr sz="1650" b="1" dirty="0">
                <a:solidFill>
                  <a:srgbClr val="25364A"/>
                </a:solidFill>
              </a:rPr>
              <a:t>Test:  foo(0, false, true, true) == −1</a:t>
            </a:r>
          </a:p>
        </p:txBody>
      </p:sp>
      <p:sp>
        <p:nvSpPr>
          <p:cNvPr id="4" name="code">
            <a:extLst>
              <a:ext uri="{FF2B5EF4-FFF2-40B4-BE49-F238E27FC236}">
                <a16:creationId xmlns:a16="http://schemas.microsoft.com/office/drawing/2014/main" id="{76E870DC-B76C-9F24-D2B4-6C8CB1538BFF}"/>
              </a:ext>
            </a:extLst>
          </p:cNvPr>
          <p:cNvSpPr>
            <a:spLocks noGrp="1"/>
          </p:cNvSpPr>
          <p:nvPr/>
        </p:nvSpPr>
        <p:spPr>
          <a:xfrm>
            <a:off x="876300" y="2000250"/>
            <a:ext cx="6000750" cy="2914650"/>
          </a:xfrm>
          <a:prstGeom prst="roundRect">
            <a:avLst>
              <a:gd name="adj" fmla="val 3922"/>
            </a:avLst>
          </a:prstGeom>
          <a:solidFill>
            <a:srgbClr val="F3F5F7"/>
          </a:solidFill>
          <a:ln w="19050">
            <a:solidFill>
              <a:srgbClr val="25364A"/>
            </a:solidFill>
            <a:prstDash val="solid"/>
          </a:ln>
        </p:spPr>
        <p:txBody>
          <a:bodyPr/>
          <a:lstStyle/>
          <a:p>
            <a:endParaRPr lang="en-US"/>
          </a:p>
        </p:txBody>
      </p:sp>
      <p:sp>
        <p:nvSpPr>
          <p:cNvPr id="5" name="ln-0">
            <a:extLst>
              <a:ext uri="{FF2B5EF4-FFF2-40B4-BE49-F238E27FC236}">
                <a16:creationId xmlns:a16="http://schemas.microsoft.com/office/drawing/2014/main" id="{2AD0167F-06E9-F4B3-2C84-6335213DCC88}"/>
              </a:ext>
            </a:extLst>
          </p:cNvPr>
          <p:cNvSpPr>
            <a:spLocks noGrp="1"/>
          </p:cNvSpPr>
          <p:nvPr/>
        </p:nvSpPr>
        <p:spPr>
          <a:xfrm>
            <a:off x="1028700" y="216217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1</a:t>
            </a:r>
          </a:p>
        </p:txBody>
      </p:sp>
      <p:sp>
        <p:nvSpPr>
          <p:cNvPr id="6" name="code-0">
            <a:extLst>
              <a:ext uri="{FF2B5EF4-FFF2-40B4-BE49-F238E27FC236}">
                <a16:creationId xmlns:a16="http://schemas.microsoft.com/office/drawing/2014/main" id="{B8BAA7EA-B758-B47A-950E-825496832F48}"/>
              </a:ext>
            </a:extLst>
          </p:cNvPr>
          <p:cNvSpPr>
            <a:spLocks noGrp="1"/>
          </p:cNvSpPr>
          <p:nvPr/>
        </p:nvSpPr>
        <p:spPr>
          <a:xfrm>
            <a:off x="1390650" y="216217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int x = input;</a:t>
            </a:r>
          </a:p>
        </p:txBody>
      </p:sp>
      <p:sp>
        <p:nvSpPr>
          <p:cNvPr id="7" name="status-0-c">
            <a:extLst>
              <a:ext uri="{FF2B5EF4-FFF2-40B4-BE49-F238E27FC236}">
                <a16:creationId xmlns:a16="http://schemas.microsoft.com/office/drawing/2014/main" id="{19B9D1D5-249F-5461-866F-3BDCD2DCCB0F}"/>
              </a:ext>
            </a:extLst>
          </p:cNvPr>
          <p:cNvSpPr>
            <a:spLocks noGrp="1"/>
          </p:cNvSpPr>
          <p:nvPr/>
        </p:nvSpPr>
        <p:spPr>
          <a:xfrm>
            <a:off x="6191250" y="2181225"/>
            <a:ext cx="200025" cy="200025"/>
          </a:xfrm>
          <a:prstGeom prst="ellipse">
            <a:avLst/>
          </a:prstGeom>
          <a:solidFill>
            <a:srgbClr val="FFFFFF"/>
          </a:solidFill>
          <a:ln w="23813">
            <a:solidFill>
              <a:srgbClr val="4C78A8"/>
            </a:solidFill>
            <a:prstDash val="solid"/>
          </a:ln>
        </p:spPr>
        <p:txBody>
          <a:bodyPr/>
          <a:lstStyle/>
          <a:p>
            <a:endParaRPr lang="en-US"/>
          </a:p>
        </p:txBody>
      </p:sp>
      <p:sp>
        <p:nvSpPr>
          <p:cNvPr id="8" name="status-0-t">
            <a:extLst>
              <a:ext uri="{FF2B5EF4-FFF2-40B4-BE49-F238E27FC236}">
                <a16:creationId xmlns:a16="http://schemas.microsoft.com/office/drawing/2014/main" id="{386B3E86-B469-E217-8A27-6EA3061383AC}"/>
              </a:ext>
            </a:extLst>
          </p:cNvPr>
          <p:cNvSpPr>
            <a:spLocks noGrp="1"/>
          </p:cNvSpPr>
          <p:nvPr/>
        </p:nvSpPr>
        <p:spPr>
          <a:xfrm>
            <a:off x="6191250" y="2171700"/>
            <a:ext cx="200025" cy="200025"/>
          </a:xfrm>
          <a:prstGeom prst="rect">
            <a:avLst/>
          </a:prstGeom>
          <a:noFill/>
          <a:ln w="0">
            <a:noFill/>
            <a:prstDash val="solid"/>
          </a:ln>
        </p:spPr>
        <p:txBody>
          <a:bodyPr anchor="ctr"/>
          <a:lstStyle/>
          <a:p>
            <a:pPr algn="ctr">
              <a:defRPr sz="900" b="1">
                <a:solidFill>
                  <a:srgbClr val="4C78A8"/>
                </a:solidFill>
              </a:defRPr>
            </a:pPr>
            <a:r>
              <a:rPr sz="900" b="1" dirty="0">
                <a:solidFill>
                  <a:srgbClr val="4C78A8"/>
                </a:solidFill>
              </a:rPr>
              <a:t>✓</a:t>
            </a:r>
          </a:p>
        </p:txBody>
      </p:sp>
      <p:sp>
        <p:nvSpPr>
          <p:cNvPr id="9" name="ln-1">
            <a:extLst>
              <a:ext uri="{FF2B5EF4-FFF2-40B4-BE49-F238E27FC236}">
                <a16:creationId xmlns:a16="http://schemas.microsoft.com/office/drawing/2014/main" id="{A9994DBD-D108-C623-A87F-A18C8E8A539D}"/>
              </a:ext>
            </a:extLst>
          </p:cNvPr>
          <p:cNvSpPr>
            <a:spLocks noGrp="1"/>
          </p:cNvSpPr>
          <p:nvPr/>
        </p:nvSpPr>
        <p:spPr>
          <a:xfrm>
            <a:off x="1028700" y="243840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2</a:t>
            </a:r>
          </a:p>
        </p:txBody>
      </p:sp>
      <p:sp>
        <p:nvSpPr>
          <p:cNvPr id="10" name="code-1">
            <a:extLst>
              <a:ext uri="{FF2B5EF4-FFF2-40B4-BE49-F238E27FC236}">
                <a16:creationId xmlns:a16="http://schemas.microsoft.com/office/drawing/2014/main" id="{0C007F21-72DB-3CC9-FBC0-1B7CE7301ED2}"/>
              </a:ext>
            </a:extLst>
          </p:cNvPr>
          <p:cNvSpPr>
            <a:spLocks noGrp="1"/>
          </p:cNvSpPr>
          <p:nvPr/>
        </p:nvSpPr>
        <p:spPr>
          <a:xfrm>
            <a:off x="1390650" y="243840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int y = 0;</a:t>
            </a:r>
          </a:p>
        </p:txBody>
      </p:sp>
      <p:sp>
        <p:nvSpPr>
          <p:cNvPr id="11" name="status-1-c">
            <a:extLst>
              <a:ext uri="{FF2B5EF4-FFF2-40B4-BE49-F238E27FC236}">
                <a16:creationId xmlns:a16="http://schemas.microsoft.com/office/drawing/2014/main" id="{11972A25-CD9B-AA7A-006C-89BCF10958B9}"/>
              </a:ext>
            </a:extLst>
          </p:cNvPr>
          <p:cNvSpPr>
            <a:spLocks noGrp="1"/>
          </p:cNvSpPr>
          <p:nvPr/>
        </p:nvSpPr>
        <p:spPr>
          <a:xfrm>
            <a:off x="6191250" y="2457450"/>
            <a:ext cx="200025" cy="200025"/>
          </a:xfrm>
          <a:prstGeom prst="ellipse">
            <a:avLst/>
          </a:prstGeom>
          <a:solidFill>
            <a:srgbClr val="FFFFFF"/>
          </a:solidFill>
          <a:ln w="23813">
            <a:solidFill>
              <a:srgbClr val="4C78A8"/>
            </a:solidFill>
            <a:prstDash val="solid"/>
          </a:ln>
        </p:spPr>
        <p:txBody>
          <a:bodyPr/>
          <a:lstStyle/>
          <a:p>
            <a:endParaRPr lang="en-US"/>
          </a:p>
        </p:txBody>
      </p:sp>
      <p:sp>
        <p:nvSpPr>
          <p:cNvPr id="12" name="status-1-t">
            <a:extLst>
              <a:ext uri="{FF2B5EF4-FFF2-40B4-BE49-F238E27FC236}">
                <a16:creationId xmlns:a16="http://schemas.microsoft.com/office/drawing/2014/main" id="{E1C2B896-0194-DBFE-ED3E-BFCAAE68E400}"/>
              </a:ext>
            </a:extLst>
          </p:cNvPr>
          <p:cNvSpPr>
            <a:spLocks noGrp="1"/>
          </p:cNvSpPr>
          <p:nvPr/>
        </p:nvSpPr>
        <p:spPr>
          <a:xfrm>
            <a:off x="6191250" y="2447925"/>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13" name="ln-2">
            <a:extLst>
              <a:ext uri="{FF2B5EF4-FFF2-40B4-BE49-F238E27FC236}">
                <a16:creationId xmlns:a16="http://schemas.microsoft.com/office/drawing/2014/main" id="{5CFD2955-8604-03FF-AEE6-73A9AF9055B4}"/>
              </a:ext>
            </a:extLst>
          </p:cNvPr>
          <p:cNvSpPr>
            <a:spLocks noGrp="1"/>
          </p:cNvSpPr>
          <p:nvPr/>
        </p:nvSpPr>
        <p:spPr>
          <a:xfrm>
            <a:off x="1028700" y="271462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3</a:t>
            </a:r>
          </a:p>
        </p:txBody>
      </p:sp>
      <p:sp>
        <p:nvSpPr>
          <p:cNvPr id="14" name="code-2">
            <a:extLst>
              <a:ext uri="{FF2B5EF4-FFF2-40B4-BE49-F238E27FC236}">
                <a16:creationId xmlns:a16="http://schemas.microsoft.com/office/drawing/2014/main" id="{03AD44EB-F1AF-632D-8EE2-BF8C0DDD01C4}"/>
              </a:ext>
            </a:extLst>
          </p:cNvPr>
          <p:cNvSpPr>
            <a:spLocks noGrp="1"/>
          </p:cNvSpPr>
          <p:nvPr/>
        </p:nvSpPr>
        <p:spPr>
          <a:xfrm>
            <a:off x="1390650" y="271462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if (b1)</a:t>
            </a:r>
          </a:p>
        </p:txBody>
      </p:sp>
      <p:sp>
        <p:nvSpPr>
          <p:cNvPr id="15" name="status-2-c">
            <a:extLst>
              <a:ext uri="{FF2B5EF4-FFF2-40B4-BE49-F238E27FC236}">
                <a16:creationId xmlns:a16="http://schemas.microsoft.com/office/drawing/2014/main" id="{AE8E53C0-E89B-1617-CAA2-41ADD4903C91}"/>
              </a:ext>
            </a:extLst>
          </p:cNvPr>
          <p:cNvSpPr>
            <a:spLocks noGrp="1"/>
          </p:cNvSpPr>
          <p:nvPr/>
        </p:nvSpPr>
        <p:spPr>
          <a:xfrm>
            <a:off x="6191250" y="2733675"/>
            <a:ext cx="200025" cy="200025"/>
          </a:xfrm>
          <a:prstGeom prst="ellipse">
            <a:avLst/>
          </a:prstGeom>
          <a:solidFill>
            <a:srgbClr val="FFFFFF"/>
          </a:solidFill>
          <a:ln w="23813">
            <a:solidFill>
              <a:srgbClr val="4C78A8"/>
            </a:solidFill>
            <a:prstDash val="solid"/>
          </a:ln>
        </p:spPr>
        <p:txBody>
          <a:bodyPr/>
          <a:lstStyle/>
          <a:p>
            <a:endParaRPr lang="en-US"/>
          </a:p>
        </p:txBody>
      </p:sp>
      <p:sp>
        <p:nvSpPr>
          <p:cNvPr id="16" name="status-2-t">
            <a:extLst>
              <a:ext uri="{FF2B5EF4-FFF2-40B4-BE49-F238E27FC236}">
                <a16:creationId xmlns:a16="http://schemas.microsoft.com/office/drawing/2014/main" id="{6E3313FC-BB65-23F5-C5C2-A5EF6F36DBF2}"/>
              </a:ext>
            </a:extLst>
          </p:cNvPr>
          <p:cNvSpPr>
            <a:spLocks noGrp="1"/>
          </p:cNvSpPr>
          <p:nvPr/>
        </p:nvSpPr>
        <p:spPr>
          <a:xfrm>
            <a:off x="6191250" y="272415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17" name="miss-bg-3">
            <a:extLst>
              <a:ext uri="{FF2B5EF4-FFF2-40B4-BE49-F238E27FC236}">
                <a16:creationId xmlns:a16="http://schemas.microsoft.com/office/drawing/2014/main" id="{82CA45A3-926B-4B86-550B-09D32A0D6AF2}"/>
              </a:ext>
            </a:extLst>
          </p:cNvPr>
          <p:cNvSpPr>
            <a:spLocks noGrp="1"/>
          </p:cNvSpPr>
          <p:nvPr/>
        </p:nvSpPr>
        <p:spPr>
          <a:xfrm>
            <a:off x="1200150" y="2971800"/>
            <a:ext cx="4914900" cy="257175"/>
          </a:xfrm>
          <a:prstGeom prst="roundRect">
            <a:avLst>
              <a:gd name="adj" fmla="val 7407"/>
            </a:avLst>
          </a:prstGeom>
          <a:solidFill>
            <a:srgbClr val="F7F0E4"/>
          </a:solidFill>
          <a:ln w="9525">
            <a:solidFill>
              <a:srgbClr val="C49A52"/>
            </a:solidFill>
            <a:prstDash val="solid"/>
          </a:ln>
        </p:spPr>
        <p:txBody>
          <a:bodyPr/>
          <a:lstStyle/>
          <a:p>
            <a:endParaRPr lang="en-US"/>
          </a:p>
        </p:txBody>
      </p:sp>
      <p:sp>
        <p:nvSpPr>
          <p:cNvPr id="18" name="ln-3">
            <a:extLst>
              <a:ext uri="{FF2B5EF4-FFF2-40B4-BE49-F238E27FC236}">
                <a16:creationId xmlns:a16="http://schemas.microsoft.com/office/drawing/2014/main" id="{F28226E4-96CB-67A4-E100-48FF2662FB9F}"/>
              </a:ext>
            </a:extLst>
          </p:cNvPr>
          <p:cNvSpPr>
            <a:spLocks noGrp="1"/>
          </p:cNvSpPr>
          <p:nvPr/>
        </p:nvSpPr>
        <p:spPr>
          <a:xfrm>
            <a:off x="1028700" y="299085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4</a:t>
            </a:r>
          </a:p>
        </p:txBody>
      </p:sp>
      <p:sp>
        <p:nvSpPr>
          <p:cNvPr id="19" name="code-3">
            <a:extLst>
              <a:ext uri="{FF2B5EF4-FFF2-40B4-BE49-F238E27FC236}">
                <a16:creationId xmlns:a16="http://schemas.microsoft.com/office/drawing/2014/main" id="{C33CB801-05F1-05C5-6556-C741618D88C0}"/>
              </a:ext>
            </a:extLst>
          </p:cNvPr>
          <p:cNvSpPr>
            <a:spLocks noGrp="1"/>
          </p:cNvSpPr>
          <p:nvPr/>
        </p:nvSpPr>
        <p:spPr>
          <a:xfrm>
            <a:off x="1390650" y="299085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    x++;</a:t>
            </a:r>
          </a:p>
        </p:txBody>
      </p:sp>
      <p:sp>
        <p:nvSpPr>
          <p:cNvPr id="20" name="status-3-c">
            <a:extLst>
              <a:ext uri="{FF2B5EF4-FFF2-40B4-BE49-F238E27FC236}">
                <a16:creationId xmlns:a16="http://schemas.microsoft.com/office/drawing/2014/main" id="{4A3AFCDA-50EC-1EA3-B8FC-1FC9332ADF51}"/>
              </a:ext>
            </a:extLst>
          </p:cNvPr>
          <p:cNvSpPr>
            <a:spLocks noGrp="1"/>
          </p:cNvSpPr>
          <p:nvPr/>
        </p:nvSpPr>
        <p:spPr>
          <a:xfrm>
            <a:off x="6191250" y="3009900"/>
            <a:ext cx="200025" cy="200025"/>
          </a:xfrm>
          <a:prstGeom prst="ellipse">
            <a:avLst/>
          </a:prstGeom>
          <a:solidFill>
            <a:srgbClr val="FFFFFF"/>
          </a:solidFill>
          <a:ln w="23813">
            <a:solidFill>
              <a:srgbClr val="C49A52"/>
            </a:solidFill>
            <a:prstDash val="solid"/>
          </a:ln>
        </p:spPr>
        <p:txBody>
          <a:bodyPr/>
          <a:lstStyle/>
          <a:p>
            <a:endParaRPr lang="en-US"/>
          </a:p>
        </p:txBody>
      </p:sp>
      <p:sp>
        <p:nvSpPr>
          <p:cNvPr id="21" name="status-3-t">
            <a:extLst>
              <a:ext uri="{FF2B5EF4-FFF2-40B4-BE49-F238E27FC236}">
                <a16:creationId xmlns:a16="http://schemas.microsoft.com/office/drawing/2014/main" id="{08F937FF-052E-12C7-8F5C-BFC13476A7F8}"/>
              </a:ext>
            </a:extLst>
          </p:cNvPr>
          <p:cNvSpPr>
            <a:spLocks noGrp="1"/>
          </p:cNvSpPr>
          <p:nvPr/>
        </p:nvSpPr>
        <p:spPr>
          <a:xfrm>
            <a:off x="6191250" y="3000375"/>
            <a:ext cx="200025" cy="200025"/>
          </a:xfrm>
          <a:prstGeom prst="rect">
            <a:avLst/>
          </a:prstGeom>
          <a:noFill/>
          <a:ln w="0">
            <a:noFill/>
            <a:prstDash val="solid"/>
          </a:ln>
        </p:spPr>
        <p:txBody>
          <a:bodyPr anchor="ctr"/>
          <a:lstStyle/>
          <a:p>
            <a:pPr algn="ctr">
              <a:defRPr sz="900" b="1">
                <a:solidFill>
                  <a:srgbClr val="C49A52"/>
                </a:solidFill>
              </a:defRPr>
            </a:pPr>
            <a:r>
              <a:rPr sz="900" b="1">
                <a:solidFill>
                  <a:srgbClr val="C49A52"/>
                </a:solidFill>
              </a:rPr>
              <a:t>×</a:t>
            </a:r>
          </a:p>
        </p:txBody>
      </p:sp>
      <p:sp>
        <p:nvSpPr>
          <p:cNvPr id="22" name="ln-4">
            <a:extLst>
              <a:ext uri="{FF2B5EF4-FFF2-40B4-BE49-F238E27FC236}">
                <a16:creationId xmlns:a16="http://schemas.microsoft.com/office/drawing/2014/main" id="{ADE449AE-C087-4F70-06EE-80F5EB2849DE}"/>
              </a:ext>
            </a:extLst>
          </p:cNvPr>
          <p:cNvSpPr>
            <a:spLocks noGrp="1"/>
          </p:cNvSpPr>
          <p:nvPr/>
        </p:nvSpPr>
        <p:spPr>
          <a:xfrm>
            <a:off x="1028700" y="326707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5</a:t>
            </a:r>
          </a:p>
        </p:txBody>
      </p:sp>
      <p:sp>
        <p:nvSpPr>
          <p:cNvPr id="23" name="code-4">
            <a:extLst>
              <a:ext uri="{FF2B5EF4-FFF2-40B4-BE49-F238E27FC236}">
                <a16:creationId xmlns:a16="http://schemas.microsoft.com/office/drawing/2014/main" id="{69BDD6D5-C2A1-B553-3C9D-65ADBBB8B249}"/>
              </a:ext>
            </a:extLst>
          </p:cNvPr>
          <p:cNvSpPr>
            <a:spLocks noGrp="1"/>
          </p:cNvSpPr>
          <p:nvPr/>
        </p:nvSpPr>
        <p:spPr>
          <a:xfrm>
            <a:off x="1390650" y="326707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if (b2)</a:t>
            </a:r>
          </a:p>
        </p:txBody>
      </p:sp>
      <p:sp>
        <p:nvSpPr>
          <p:cNvPr id="24" name="status-4-c">
            <a:extLst>
              <a:ext uri="{FF2B5EF4-FFF2-40B4-BE49-F238E27FC236}">
                <a16:creationId xmlns:a16="http://schemas.microsoft.com/office/drawing/2014/main" id="{69CE8DB7-D57A-3B79-4E47-253C9E36500E}"/>
              </a:ext>
            </a:extLst>
          </p:cNvPr>
          <p:cNvSpPr>
            <a:spLocks noGrp="1"/>
          </p:cNvSpPr>
          <p:nvPr/>
        </p:nvSpPr>
        <p:spPr>
          <a:xfrm>
            <a:off x="6191250" y="3286125"/>
            <a:ext cx="200025" cy="200025"/>
          </a:xfrm>
          <a:prstGeom prst="ellipse">
            <a:avLst/>
          </a:prstGeom>
          <a:solidFill>
            <a:srgbClr val="FFFFFF"/>
          </a:solidFill>
          <a:ln w="23813">
            <a:solidFill>
              <a:srgbClr val="4C78A8"/>
            </a:solidFill>
            <a:prstDash val="solid"/>
          </a:ln>
        </p:spPr>
        <p:txBody>
          <a:bodyPr/>
          <a:lstStyle/>
          <a:p>
            <a:endParaRPr lang="en-US"/>
          </a:p>
        </p:txBody>
      </p:sp>
      <p:sp>
        <p:nvSpPr>
          <p:cNvPr id="25" name="status-4-t">
            <a:extLst>
              <a:ext uri="{FF2B5EF4-FFF2-40B4-BE49-F238E27FC236}">
                <a16:creationId xmlns:a16="http://schemas.microsoft.com/office/drawing/2014/main" id="{1D487D0C-5598-6671-6D33-121884F5DE0F}"/>
              </a:ext>
            </a:extLst>
          </p:cNvPr>
          <p:cNvSpPr>
            <a:spLocks noGrp="1"/>
          </p:cNvSpPr>
          <p:nvPr/>
        </p:nvSpPr>
        <p:spPr>
          <a:xfrm>
            <a:off x="6191250" y="327660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26" name="ln-5">
            <a:extLst>
              <a:ext uri="{FF2B5EF4-FFF2-40B4-BE49-F238E27FC236}">
                <a16:creationId xmlns:a16="http://schemas.microsoft.com/office/drawing/2014/main" id="{D1206E11-DD4E-852A-CD71-E323FB6139EF}"/>
              </a:ext>
            </a:extLst>
          </p:cNvPr>
          <p:cNvSpPr>
            <a:spLocks noGrp="1"/>
          </p:cNvSpPr>
          <p:nvPr/>
        </p:nvSpPr>
        <p:spPr>
          <a:xfrm>
            <a:off x="1028700" y="354330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6</a:t>
            </a:r>
          </a:p>
        </p:txBody>
      </p:sp>
      <p:sp>
        <p:nvSpPr>
          <p:cNvPr id="27" name="code-5">
            <a:extLst>
              <a:ext uri="{FF2B5EF4-FFF2-40B4-BE49-F238E27FC236}">
                <a16:creationId xmlns:a16="http://schemas.microsoft.com/office/drawing/2014/main" id="{0DE78C25-D1DB-5164-F890-44C8D6D38348}"/>
              </a:ext>
            </a:extLst>
          </p:cNvPr>
          <p:cNvSpPr>
            <a:spLocks noGrp="1"/>
          </p:cNvSpPr>
          <p:nvPr/>
        </p:nvSpPr>
        <p:spPr>
          <a:xfrm>
            <a:off x="1390650" y="354330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    x--;</a:t>
            </a:r>
          </a:p>
        </p:txBody>
      </p:sp>
      <p:sp>
        <p:nvSpPr>
          <p:cNvPr id="28" name="status-5-c">
            <a:extLst>
              <a:ext uri="{FF2B5EF4-FFF2-40B4-BE49-F238E27FC236}">
                <a16:creationId xmlns:a16="http://schemas.microsoft.com/office/drawing/2014/main" id="{BE42F197-BE54-85FC-93DA-5DD1CCC11CFE}"/>
              </a:ext>
            </a:extLst>
          </p:cNvPr>
          <p:cNvSpPr>
            <a:spLocks noGrp="1"/>
          </p:cNvSpPr>
          <p:nvPr/>
        </p:nvSpPr>
        <p:spPr>
          <a:xfrm>
            <a:off x="6191250" y="3562350"/>
            <a:ext cx="200025" cy="200025"/>
          </a:xfrm>
          <a:prstGeom prst="ellipse">
            <a:avLst/>
          </a:prstGeom>
          <a:solidFill>
            <a:srgbClr val="FFFFFF"/>
          </a:solidFill>
          <a:ln w="23813">
            <a:solidFill>
              <a:srgbClr val="4C78A8"/>
            </a:solidFill>
            <a:prstDash val="solid"/>
          </a:ln>
        </p:spPr>
        <p:txBody>
          <a:bodyPr/>
          <a:lstStyle/>
          <a:p>
            <a:endParaRPr lang="en-US"/>
          </a:p>
        </p:txBody>
      </p:sp>
      <p:sp>
        <p:nvSpPr>
          <p:cNvPr id="29" name="status-5-t">
            <a:extLst>
              <a:ext uri="{FF2B5EF4-FFF2-40B4-BE49-F238E27FC236}">
                <a16:creationId xmlns:a16="http://schemas.microsoft.com/office/drawing/2014/main" id="{383270CF-964B-B96E-CC37-9EF83E56001D}"/>
              </a:ext>
            </a:extLst>
          </p:cNvPr>
          <p:cNvSpPr>
            <a:spLocks noGrp="1"/>
          </p:cNvSpPr>
          <p:nvPr/>
        </p:nvSpPr>
        <p:spPr>
          <a:xfrm>
            <a:off x="6191250" y="3552825"/>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30" name="ln-6">
            <a:extLst>
              <a:ext uri="{FF2B5EF4-FFF2-40B4-BE49-F238E27FC236}">
                <a16:creationId xmlns:a16="http://schemas.microsoft.com/office/drawing/2014/main" id="{D31B635E-2013-C498-24C9-824331A90A3A}"/>
              </a:ext>
            </a:extLst>
          </p:cNvPr>
          <p:cNvSpPr>
            <a:spLocks noGrp="1"/>
          </p:cNvSpPr>
          <p:nvPr/>
        </p:nvSpPr>
        <p:spPr>
          <a:xfrm>
            <a:off x="1028700" y="381952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7</a:t>
            </a:r>
          </a:p>
        </p:txBody>
      </p:sp>
      <p:sp>
        <p:nvSpPr>
          <p:cNvPr id="31" name="code-6">
            <a:extLst>
              <a:ext uri="{FF2B5EF4-FFF2-40B4-BE49-F238E27FC236}">
                <a16:creationId xmlns:a16="http://schemas.microsoft.com/office/drawing/2014/main" id="{738245D3-381D-3C2E-2BF4-76DDDC44E198}"/>
              </a:ext>
            </a:extLst>
          </p:cNvPr>
          <p:cNvSpPr>
            <a:spLocks noGrp="1"/>
          </p:cNvSpPr>
          <p:nvPr/>
        </p:nvSpPr>
        <p:spPr>
          <a:xfrm>
            <a:off x="1390650" y="381952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if (b3)</a:t>
            </a:r>
          </a:p>
        </p:txBody>
      </p:sp>
      <p:sp>
        <p:nvSpPr>
          <p:cNvPr id="32" name="status-6-c">
            <a:extLst>
              <a:ext uri="{FF2B5EF4-FFF2-40B4-BE49-F238E27FC236}">
                <a16:creationId xmlns:a16="http://schemas.microsoft.com/office/drawing/2014/main" id="{D4B7E603-9060-4A85-B0D8-C4D31E363AF8}"/>
              </a:ext>
            </a:extLst>
          </p:cNvPr>
          <p:cNvSpPr>
            <a:spLocks noGrp="1"/>
          </p:cNvSpPr>
          <p:nvPr/>
        </p:nvSpPr>
        <p:spPr>
          <a:xfrm>
            <a:off x="6191250" y="3838575"/>
            <a:ext cx="200025" cy="200025"/>
          </a:xfrm>
          <a:prstGeom prst="ellipse">
            <a:avLst/>
          </a:prstGeom>
          <a:solidFill>
            <a:srgbClr val="FFFFFF"/>
          </a:solidFill>
          <a:ln w="23813">
            <a:solidFill>
              <a:srgbClr val="4C78A8"/>
            </a:solidFill>
            <a:prstDash val="solid"/>
          </a:ln>
        </p:spPr>
        <p:txBody>
          <a:bodyPr/>
          <a:lstStyle/>
          <a:p>
            <a:endParaRPr lang="en-US"/>
          </a:p>
        </p:txBody>
      </p:sp>
      <p:sp>
        <p:nvSpPr>
          <p:cNvPr id="33" name="status-6-t">
            <a:extLst>
              <a:ext uri="{FF2B5EF4-FFF2-40B4-BE49-F238E27FC236}">
                <a16:creationId xmlns:a16="http://schemas.microsoft.com/office/drawing/2014/main" id="{E31D1814-48C4-30C8-A036-C399D98B807A}"/>
              </a:ext>
            </a:extLst>
          </p:cNvPr>
          <p:cNvSpPr>
            <a:spLocks noGrp="1"/>
          </p:cNvSpPr>
          <p:nvPr/>
        </p:nvSpPr>
        <p:spPr>
          <a:xfrm>
            <a:off x="6191250" y="382905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34" name="ln-7">
            <a:extLst>
              <a:ext uri="{FF2B5EF4-FFF2-40B4-BE49-F238E27FC236}">
                <a16:creationId xmlns:a16="http://schemas.microsoft.com/office/drawing/2014/main" id="{3D836937-FB22-3D84-FDC1-0666BA23AA29}"/>
              </a:ext>
            </a:extLst>
          </p:cNvPr>
          <p:cNvSpPr>
            <a:spLocks noGrp="1"/>
          </p:cNvSpPr>
          <p:nvPr/>
        </p:nvSpPr>
        <p:spPr>
          <a:xfrm>
            <a:off x="1028700" y="409575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8</a:t>
            </a:r>
          </a:p>
        </p:txBody>
      </p:sp>
      <p:sp>
        <p:nvSpPr>
          <p:cNvPr id="35" name="code-7">
            <a:extLst>
              <a:ext uri="{FF2B5EF4-FFF2-40B4-BE49-F238E27FC236}">
                <a16:creationId xmlns:a16="http://schemas.microsoft.com/office/drawing/2014/main" id="{E5250A34-D6E9-C2E2-D002-C09E6E9B5A7F}"/>
              </a:ext>
            </a:extLst>
          </p:cNvPr>
          <p:cNvSpPr>
            <a:spLocks noGrp="1"/>
          </p:cNvSpPr>
          <p:nvPr/>
        </p:nvSpPr>
        <p:spPr>
          <a:xfrm>
            <a:off x="1390650" y="409575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    y = x;</a:t>
            </a:r>
          </a:p>
        </p:txBody>
      </p:sp>
      <p:sp>
        <p:nvSpPr>
          <p:cNvPr id="36" name="status-7-c">
            <a:extLst>
              <a:ext uri="{FF2B5EF4-FFF2-40B4-BE49-F238E27FC236}">
                <a16:creationId xmlns:a16="http://schemas.microsoft.com/office/drawing/2014/main" id="{E7B72BC1-7159-B7DF-7402-6970B69ED401}"/>
              </a:ext>
            </a:extLst>
          </p:cNvPr>
          <p:cNvSpPr>
            <a:spLocks noGrp="1"/>
          </p:cNvSpPr>
          <p:nvPr/>
        </p:nvSpPr>
        <p:spPr>
          <a:xfrm>
            <a:off x="6191250" y="4114800"/>
            <a:ext cx="200025" cy="200025"/>
          </a:xfrm>
          <a:prstGeom prst="ellipse">
            <a:avLst/>
          </a:prstGeom>
          <a:solidFill>
            <a:srgbClr val="FFFFFF"/>
          </a:solidFill>
          <a:ln w="23813">
            <a:solidFill>
              <a:srgbClr val="4C78A8"/>
            </a:solidFill>
            <a:prstDash val="solid"/>
          </a:ln>
        </p:spPr>
        <p:txBody>
          <a:bodyPr/>
          <a:lstStyle/>
          <a:p>
            <a:endParaRPr lang="en-US"/>
          </a:p>
        </p:txBody>
      </p:sp>
      <p:sp>
        <p:nvSpPr>
          <p:cNvPr id="37" name="status-7-t">
            <a:extLst>
              <a:ext uri="{FF2B5EF4-FFF2-40B4-BE49-F238E27FC236}">
                <a16:creationId xmlns:a16="http://schemas.microsoft.com/office/drawing/2014/main" id="{F7DB113B-A7CC-2EF9-8D1D-B1DDF994FFB3}"/>
              </a:ext>
            </a:extLst>
          </p:cNvPr>
          <p:cNvSpPr>
            <a:spLocks noGrp="1"/>
          </p:cNvSpPr>
          <p:nvPr/>
        </p:nvSpPr>
        <p:spPr>
          <a:xfrm>
            <a:off x="6191250" y="4105275"/>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38" name="ln-8">
            <a:extLst>
              <a:ext uri="{FF2B5EF4-FFF2-40B4-BE49-F238E27FC236}">
                <a16:creationId xmlns:a16="http://schemas.microsoft.com/office/drawing/2014/main" id="{29DE4D18-2AC2-1BC1-522E-C8F52AB023FF}"/>
              </a:ext>
            </a:extLst>
          </p:cNvPr>
          <p:cNvSpPr>
            <a:spLocks noGrp="1"/>
          </p:cNvSpPr>
          <p:nvPr/>
        </p:nvSpPr>
        <p:spPr>
          <a:xfrm>
            <a:off x="1028700" y="437197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9</a:t>
            </a:r>
          </a:p>
        </p:txBody>
      </p:sp>
      <p:sp>
        <p:nvSpPr>
          <p:cNvPr id="39" name="code-8">
            <a:extLst>
              <a:ext uri="{FF2B5EF4-FFF2-40B4-BE49-F238E27FC236}">
                <a16:creationId xmlns:a16="http://schemas.microsoft.com/office/drawing/2014/main" id="{FDEAB19B-72A5-4622-2A1B-60DB94E7C662}"/>
              </a:ext>
            </a:extLst>
          </p:cNvPr>
          <p:cNvSpPr>
            <a:spLocks noGrp="1"/>
          </p:cNvSpPr>
          <p:nvPr/>
        </p:nvSpPr>
        <p:spPr>
          <a:xfrm>
            <a:off x="1390650" y="437197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return y;</a:t>
            </a:r>
          </a:p>
        </p:txBody>
      </p:sp>
      <p:sp>
        <p:nvSpPr>
          <p:cNvPr id="40" name="status-8-c">
            <a:extLst>
              <a:ext uri="{FF2B5EF4-FFF2-40B4-BE49-F238E27FC236}">
                <a16:creationId xmlns:a16="http://schemas.microsoft.com/office/drawing/2014/main" id="{4DFE2FB5-E280-8A48-2EE8-682ACBD03839}"/>
              </a:ext>
            </a:extLst>
          </p:cNvPr>
          <p:cNvSpPr>
            <a:spLocks noGrp="1"/>
          </p:cNvSpPr>
          <p:nvPr/>
        </p:nvSpPr>
        <p:spPr>
          <a:xfrm>
            <a:off x="6191250" y="4391025"/>
            <a:ext cx="200025" cy="200025"/>
          </a:xfrm>
          <a:prstGeom prst="ellipse">
            <a:avLst/>
          </a:prstGeom>
          <a:solidFill>
            <a:srgbClr val="FFFFFF"/>
          </a:solidFill>
          <a:ln w="23813">
            <a:solidFill>
              <a:srgbClr val="4C78A8"/>
            </a:solidFill>
            <a:prstDash val="solid"/>
          </a:ln>
        </p:spPr>
        <p:txBody>
          <a:bodyPr/>
          <a:lstStyle/>
          <a:p>
            <a:endParaRPr lang="en-US"/>
          </a:p>
        </p:txBody>
      </p:sp>
      <p:sp>
        <p:nvSpPr>
          <p:cNvPr id="41" name="status-8-t">
            <a:extLst>
              <a:ext uri="{FF2B5EF4-FFF2-40B4-BE49-F238E27FC236}">
                <a16:creationId xmlns:a16="http://schemas.microsoft.com/office/drawing/2014/main" id="{84818FAF-204A-2C73-D4CF-F0D2B3B60713}"/>
              </a:ext>
            </a:extLst>
          </p:cNvPr>
          <p:cNvSpPr>
            <a:spLocks noGrp="1"/>
          </p:cNvSpPr>
          <p:nvPr/>
        </p:nvSpPr>
        <p:spPr>
          <a:xfrm>
            <a:off x="6191250" y="438150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42" name="result">
            <a:extLst>
              <a:ext uri="{FF2B5EF4-FFF2-40B4-BE49-F238E27FC236}">
                <a16:creationId xmlns:a16="http://schemas.microsoft.com/office/drawing/2014/main" id="{6E42D291-23F3-2BE1-E822-C9C5CECA1E18}"/>
              </a:ext>
            </a:extLst>
          </p:cNvPr>
          <p:cNvSpPr>
            <a:spLocks noGrp="1"/>
          </p:cNvSpPr>
          <p:nvPr/>
        </p:nvSpPr>
        <p:spPr>
          <a:xfrm>
            <a:off x="7353300" y="2000250"/>
            <a:ext cx="3962400" cy="2914650"/>
          </a:xfrm>
          <a:prstGeom prst="roundRect">
            <a:avLst>
              <a:gd name="adj" fmla="val 3922"/>
            </a:avLst>
          </a:prstGeom>
          <a:solidFill>
            <a:srgbClr val="FFFFFF"/>
          </a:solidFill>
          <a:ln w="19050">
            <a:solidFill>
              <a:srgbClr val="D7DDE3"/>
            </a:solidFill>
            <a:prstDash val="solid"/>
          </a:ln>
        </p:spPr>
        <p:txBody>
          <a:bodyPr/>
          <a:lstStyle/>
          <a:p>
            <a:endParaRPr lang="en-US"/>
          </a:p>
        </p:txBody>
      </p:sp>
      <p:sp>
        <p:nvSpPr>
          <p:cNvPr id="43" name="result-head">
            <a:extLst>
              <a:ext uri="{FF2B5EF4-FFF2-40B4-BE49-F238E27FC236}">
                <a16:creationId xmlns:a16="http://schemas.microsoft.com/office/drawing/2014/main" id="{401ECC30-7F43-1B9D-DF2A-7BF253360551}"/>
              </a:ext>
            </a:extLst>
          </p:cNvPr>
          <p:cNvSpPr>
            <a:spLocks noGrp="1"/>
          </p:cNvSpPr>
          <p:nvPr/>
        </p:nvSpPr>
        <p:spPr>
          <a:xfrm>
            <a:off x="7639050" y="2247900"/>
            <a:ext cx="3390900" cy="266700"/>
          </a:xfrm>
          <a:prstGeom prst="rect">
            <a:avLst/>
          </a:prstGeom>
          <a:noFill/>
          <a:ln w="0">
            <a:noFill/>
            <a:prstDash val="solid"/>
          </a:ln>
        </p:spPr>
        <p:txBody>
          <a:bodyPr anchor="ctr"/>
          <a:lstStyle/>
          <a:p>
            <a:pPr algn="ctr">
              <a:defRPr sz="1275" b="1">
                <a:solidFill>
                  <a:srgbClr val="4E6478"/>
                </a:solidFill>
              </a:defRPr>
            </a:pPr>
            <a:r>
              <a:rPr sz="1275" b="1">
                <a:solidFill>
                  <a:srgbClr val="4E6478"/>
                </a:solidFill>
              </a:rPr>
              <a:t>COVERAGE RESULT</a:t>
            </a:r>
          </a:p>
        </p:txBody>
      </p:sp>
      <p:sp>
        <p:nvSpPr>
          <p:cNvPr id="44" name="fraction">
            <a:extLst>
              <a:ext uri="{FF2B5EF4-FFF2-40B4-BE49-F238E27FC236}">
                <a16:creationId xmlns:a16="http://schemas.microsoft.com/office/drawing/2014/main" id="{26D05954-28FA-91FC-0B51-D209B513DBB5}"/>
              </a:ext>
            </a:extLst>
          </p:cNvPr>
          <p:cNvSpPr>
            <a:spLocks noGrp="1"/>
          </p:cNvSpPr>
          <p:nvPr/>
        </p:nvSpPr>
        <p:spPr>
          <a:xfrm>
            <a:off x="7639050" y="2686050"/>
            <a:ext cx="3390900" cy="552450"/>
          </a:xfrm>
          <a:prstGeom prst="rect">
            <a:avLst/>
          </a:prstGeom>
          <a:noFill/>
          <a:ln w="0">
            <a:noFill/>
            <a:prstDash val="solid"/>
          </a:ln>
        </p:spPr>
        <p:txBody>
          <a:bodyPr anchor="ctr"/>
          <a:lstStyle/>
          <a:p>
            <a:pPr algn="ctr">
              <a:defRPr sz="3000" b="1">
                <a:solidFill>
                  <a:srgbClr val="4C78A8"/>
                </a:solidFill>
              </a:defRPr>
            </a:pPr>
            <a:r>
              <a:rPr sz="3000" b="1">
                <a:solidFill>
                  <a:srgbClr val="4C78A8"/>
                </a:solidFill>
              </a:rPr>
              <a:t>8 of 9</a:t>
            </a:r>
          </a:p>
        </p:txBody>
      </p:sp>
      <p:sp>
        <p:nvSpPr>
          <p:cNvPr id="45" name="percent">
            <a:extLst>
              <a:ext uri="{FF2B5EF4-FFF2-40B4-BE49-F238E27FC236}">
                <a16:creationId xmlns:a16="http://schemas.microsoft.com/office/drawing/2014/main" id="{C06E4B78-B57D-90D8-99C6-F93BB90263E8}"/>
              </a:ext>
            </a:extLst>
          </p:cNvPr>
          <p:cNvSpPr>
            <a:spLocks noGrp="1"/>
          </p:cNvSpPr>
          <p:nvPr/>
        </p:nvSpPr>
        <p:spPr>
          <a:xfrm>
            <a:off x="7639050" y="3257550"/>
            <a:ext cx="3390900" cy="400050"/>
          </a:xfrm>
          <a:prstGeom prst="rect">
            <a:avLst/>
          </a:prstGeom>
          <a:noFill/>
          <a:ln w="0">
            <a:noFill/>
            <a:prstDash val="solid"/>
          </a:ln>
        </p:spPr>
        <p:txBody>
          <a:bodyPr anchor="ctr"/>
          <a:lstStyle/>
          <a:p>
            <a:pPr algn="ctr">
              <a:defRPr sz="1800" b="1">
                <a:solidFill>
                  <a:srgbClr val="25364A"/>
                </a:solidFill>
              </a:defRPr>
            </a:pPr>
            <a:r>
              <a:rPr sz="1800" b="1">
                <a:solidFill>
                  <a:srgbClr val="25364A"/>
                </a:solidFill>
              </a:rPr>
              <a:t>88.9% line coverage</a:t>
            </a:r>
          </a:p>
        </p:txBody>
      </p:sp>
      <p:sp>
        <p:nvSpPr>
          <p:cNvPr id="46" name="result-divider">
            <a:extLst>
              <a:ext uri="{FF2B5EF4-FFF2-40B4-BE49-F238E27FC236}">
                <a16:creationId xmlns:a16="http://schemas.microsoft.com/office/drawing/2014/main" id="{6B6B8D39-23FD-8DE5-B22C-9057D4015C6B}"/>
              </a:ext>
            </a:extLst>
          </p:cNvPr>
          <p:cNvSpPr>
            <a:spLocks noGrp="1"/>
          </p:cNvSpPr>
          <p:nvPr/>
        </p:nvSpPr>
        <p:spPr>
          <a:xfrm>
            <a:off x="7810500" y="3829050"/>
            <a:ext cx="3048000" cy="19050"/>
          </a:xfrm>
          <a:prstGeom prst="rect">
            <a:avLst/>
          </a:prstGeom>
          <a:solidFill>
            <a:srgbClr val="D7DDE3"/>
          </a:solidFill>
          <a:ln w="0">
            <a:solidFill>
              <a:srgbClr val="D7DDE3"/>
            </a:solidFill>
            <a:prstDash val="solid"/>
          </a:ln>
        </p:spPr>
        <p:txBody>
          <a:bodyPr/>
          <a:lstStyle/>
          <a:p>
            <a:endParaRPr lang="en-US"/>
          </a:p>
        </p:txBody>
      </p:sp>
      <p:sp>
        <p:nvSpPr>
          <p:cNvPr id="47" name="missed">
            <a:extLst>
              <a:ext uri="{FF2B5EF4-FFF2-40B4-BE49-F238E27FC236}">
                <a16:creationId xmlns:a16="http://schemas.microsoft.com/office/drawing/2014/main" id="{5053906F-C9BA-E6D1-0F91-308EAF1DA1D0}"/>
              </a:ext>
            </a:extLst>
          </p:cNvPr>
          <p:cNvSpPr>
            <a:spLocks noGrp="1"/>
          </p:cNvSpPr>
          <p:nvPr/>
        </p:nvSpPr>
        <p:spPr>
          <a:xfrm>
            <a:off x="7810500" y="4000500"/>
            <a:ext cx="3048000" cy="304800"/>
          </a:xfrm>
          <a:prstGeom prst="rect">
            <a:avLst/>
          </a:prstGeom>
          <a:noFill/>
          <a:ln w="0">
            <a:noFill/>
            <a:prstDash val="solid"/>
          </a:ln>
        </p:spPr>
        <p:txBody>
          <a:bodyPr anchor="ctr"/>
          <a:lstStyle/>
          <a:p>
            <a:pPr algn="ctr">
              <a:defRPr sz="1500" b="1">
                <a:solidFill>
                  <a:srgbClr val="C49A52"/>
                </a:solidFill>
              </a:defRPr>
            </a:pPr>
            <a:r>
              <a:rPr sz="1500" b="1">
                <a:solidFill>
                  <a:srgbClr val="C49A52"/>
                </a:solidFill>
              </a:rPr>
              <a:t>Missed:  x++;</a:t>
            </a:r>
          </a:p>
        </p:txBody>
      </p:sp>
      <p:sp>
        <p:nvSpPr>
          <p:cNvPr id="48" name="why">
            <a:extLst>
              <a:ext uri="{FF2B5EF4-FFF2-40B4-BE49-F238E27FC236}">
                <a16:creationId xmlns:a16="http://schemas.microsoft.com/office/drawing/2014/main" id="{C2816D3B-34DF-DE09-2CBA-0A0EF3C9EEA1}"/>
              </a:ext>
            </a:extLst>
          </p:cNvPr>
          <p:cNvSpPr>
            <a:spLocks noGrp="1"/>
          </p:cNvSpPr>
          <p:nvPr/>
        </p:nvSpPr>
        <p:spPr>
          <a:xfrm>
            <a:off x="7810500" y="4352925"/>
            <a:ext cx="3048000" cy="285750"/>
          </a:xfrm>
          <a:prstGeom prst="rect">
            <a:avLst/>
          </a:prstGeom>
          <a:noFill/>
          <a:ln w="0">
            <a:noFill/>
            <a:prstDash val="solid"/>
          </a:ln>
        </p:spPr>
        <p:txBody>
          <a:bodyPr anchor="ctr"/>
          <a:lstStyle/>
          <a:p>
            <a:pPr algn="ctr">
              <a:defRPr sz="1275" b="0">
                <a:solidFill>
                  <a:srgbClr val="66727F"/>
                </a:solidFill>
              </a:defRPr>
            </a:pPr>
            <a:r>
              <a:rPr sz="1275" b="0">
                <a:solidFill>
                  <a:srgbClr val="66727F"/>
                </a:solidFill>
              </a:rPr>
              <a:t>because b1 is false</a:t>
            </a:r>
          </a:p>
        </p:txBody>
      </p:sp>
      <p:sp>
        <p:nvSpPr>
          <p:cNvPr id="49" name="takeaway">
            <a:extLst>
              <a:ext uri="{FF2B5EF4-FFF2-40B4-BE49-F238E27FC236}">
                <a16:creationId xmlns:a16="http://schemas.microsoft.com/office/drawing/2014/main" id="{B00C0D50-F407-6EBF-7D6E-D89E97B775F3}"/>
              </a:ext>
            </a:extLst>
          </p:cNvPr>
          <p:cNvSpPr>
            <a:spLocks noGrp="1"/>
          </p:cNvSpPr>
          <p:nvPr/>
        </p:nvSpPr>
        <p:spPr>
          <a:xfrm>
            <a:off x="781050" y="5467350"/>
            <a:ext cx="10629900" cy="723900"/>
          </a:xfrm>
          <a:prstGeom prst="roundRect">
            <a:avLst>
              <a:gd name="adj" fmla="val 10526"/>
            </a:avLst>
          </a:prstGeom>
          <a:solidFill>
            <a:srgbClr val="F3F5F7"/>
          </a:solidFill>
          <a:ln w="19050">
            <a:solidFill>
              <a:srgbClr val="25364A"/>
            </a:solidFill>
            <a:prstDash val="solid"/>
          </a:ln>
        </p:spPr>
        <p:txBody>
          <a:bodyPr/>
          <a:lstStyle/>
          <a:p>
            <a:endParaRPr lang="en-US"/>
          </a:p>
        </p:txBody>
      </p:sp>
      <p:sp>
        <p:nvSpPr>
          <p:cNvPr id="50" name="takeaway-text">
            <a:extLst>
              <a:ext uri="{FF2B5EF4-FFF2-40B4-BE49-F238E27FC236}">
                <a16:creationId xmlns:a16="http://schemas.microsoft.com/office/drawing/2014/main" id="{B881EC31-FD00-8CA0-3C87-A3C78A980E7C}"/>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5364A"/>
                </a:solidFill>
              </a:defRPr>
            </a:pPr>
            <a:r>
              <a:rPr sz="1800" b="1" dirty="0">
                <a:solidFill>
                  <a:srgbClr val="25364A"/>
                </a:solidFill>
              </a:rPr>
              <a:t>Line coverage reveals unexecuted code—not whether every decision </a:t>
            </a:r>
            <a:r>
              <a:rPr lang="en-US" sz="1800" b="1" dirty="0">
                <a:solidFill>
                  <a:srgbClr val="25364A"/>
                </a:solidFill>
              </a:rPr>
              <a:t>was tested both ways</a:t>
            </a:r>
            <a:endParaRPr sz="1800" b="1" dirty="0">
              <a:solidFill>
                <a:srgbClr val="25364A"/>
              </a:solidFill>
            </a:endParaRPr>
          </a:p>
        </p:txBody>
      </p:sp>
    </p:spTree>
    <p:extLst>
      <p:ext uri="{BB962C8B-B14F-4D97-AF65-F5344CB8AC3E}">
        <p14:creationId xmlns:p14="http://schemas.microsoft.com/office/powerpoint/2010/main" val="4040476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fade">
                                      <p:cBhvr>
                                        <p:cTn id="45" dur="500"/>
                                        <p:tgtEl>
                                          <p:spTgt spid="2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2"/>
                                        </p:tgtEl>
                                        <p:attrNameLst>
                                          <p:attrName>style.visibility</p:attrName>
                                        </p:attrNameLst>
                                      </p:cBhvr>
                                      <p:to>
                                        <p:strVal val="visible"/>
                                      </p:to>
                                    </p:set>
                                    <p:animEffect transition="in" filter="fade">
                                      <p:cBhvr>
                                        <p:cTn id="48" dur="500"/>
                                        <p:tgtEl>
                                          <p:spTgt spid="3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500"/>
                                        <p:tgtEl>
                                          <p:spTgt spid="3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fade">
                                      <p:cBhvr>
                                        <p:cTn id="54" dur="500"/>
                                        <p:tgtEl>
                                          <p:spTgt spid="3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500"/>
                                        <p:tgtEl>
                                          <p:spTgt spid="3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fade">
                                      <p:cBhvr>
                                        <p:cTn id="60" dur="500"/>
                                        <p:tgtEl>
                                          <p:spTgt spid="4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fade">
                                      <p:cBhvr>
                                        <p:cTn id="63" dur="500"/>
                                        <p:tgtEl>
                                          <p:spTgt spid="4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500"/>
                                        <p:tgtEl>
                                          <p:spTgt spid="17"/>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5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50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50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500"/>
                                        <p:tgtEl>
                                          <p:spTgt spid="4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fade">
                                      <p:cBhvr>
                                        <p:cTn id="83" dur="500"/>
                                        <p:tgtEl>
                                          <p:spTgt spid="4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7"/>
                                        </p:tgtEl>
                                        <p:attrNameLst>
                                          <p:attrName>style.visibility</p:attrName>
                                        </p:attrNameLst>
                                      </p:cBhvr>
                                      <p:to>
                                        <p:strVal val="visible"/>
                                      </p:to>
                                    </p:set>
                                    <p:animEffect transition="in" filter="fade">
                                      <p:cBhvr>
                                        <p:cTn id="86" dur="500"/>
                                        <p:tgtEl>
                                          <p:spTgt spid="4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8"/>
                                        </p:tgtEl>
                                        <p:attrNameLst>
                                          <p:attrName>style.visibility</p:attrName>
                                        </p:attrNameLst>
                                      </p:cBhvr>
                                      <p:to>
                                        <p:strVal val="visible"/>
                                      </p:to>
                                    </p:set>
                                    <p:animEffect transition="in" filter="fade">
                                      <p:cBhvr>
                                        <p:cTn id="89" dur="500"/>
                                        <p:tgtEl>
                                          <p:spTgt spid="48"/>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49"/>
                                        </p:tgtEl>
                                        <p:attrNameLst>
                                          <p:attrName>style.visibility</p:attrName>
                                        </p:attrNameLst>
                                      </p:cBhvr>
                                      <p:to>
                                        <p:strVal val="visible"/>
                                      </p:to>
                                    </p:set>
                                    <p:animEffect transition="in" filter="fade">
                                      <p:cBhvr>
                                        <p:cTn id="94" dur="500"/>
                                        <p:tgtEl>
                                          <p:spTgt spid="4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0"/>
                                        </p:tgtEl>
                                        <p:attrNameLst>
                                          <p:attrName>style.visibility</p:attrName>
                                        </p:attrNameLst>
                                      </p:cBhvr>
                                      <p:to>
                                        <p:strVal val="visible"/>
                                      </p:to>
                                    </p:set>
                                    <p:animEffect transition="in" filter="fade">
                                      <p:cBhvr>
                                        <p:cTn id="9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P spid="8" grpId="0"/>
      <p:bldP spid="11" grpId="0" animBg="1"/>
      <p:bldP spid="12" grpId="0"/>
      <p:bldP spid="15" grpId="0" animBg="1"/>
      <p:bldP spid="16" grpId="0"/>
      <p:bldP spid="17" grpId="0" animBg="1"/>
      <p:bldP spid="20" grpId="0" animBg="1"/>
      <p:bldP spid="21" grpId="0"/>
      <p:bldP spid="24" grpId="0" animBg="1"/>
      <p:bldP spid="25" grpId="0"/>
      <p:bldP spid="28" grpId="0" animBg="1"/>
      <p:bldP spid="29" grpId="0"/>
      <p:bldP spid="32" grpId="0" animBg="1"/>
      <p:bldP spid="33" grpId="0"/>
      <p:bldP spid="36" grpId="0" animBg="1"/>
      <p:bldP spid="37" grpId="0"/>
      <p:bldP spid="40" grpId="0" animBg="1"/>
      <p:bldP spid="41" grpId="0"/>
      <p:bldP spid="42" grpId="0" animBg="1"/>
      <p:bldP spid="43" grpId="0"/>
      <p:bldP spid="44" grpId="0"/>
      <p:bldP spid="45" grpId="0"/>
      <p:bldP spid="46" grpId="0" animBg="1"/>
      <p:bldP spid="47" grpId="0"/>
      <p:bldP spid="48" grpId="0"/>
      <p:bldP spid="49" grpId="0" animBg="1"/>
      <p:bldP spid="5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itle">
            <a:extLst>
              <a:ext uri="{FF2B5EF4-FFF2-40B4-BE49-F238E27FC236}">
                <a16:creationId xmlns:a16="http://schemas.microsoft.com/office/drawing/2014/main" id="{241AE145-3A20-4D69-9AAA-7870283F23BC}"/>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7202A"/>
                </a:solidFill>
              </a:defRPr>
            </a:pPr>
            <a:r>
              <a:rPr sz="3000" b="0">
                <a:solidFill>
                  <a:srgbClr val="17202A"/>
                </a:solidFill>
              </a:rPr>
              <a:t>Line coverage shows which executable lines ran</a:t>
            </a:r>
          </a:p>
        </p:txBody>
      </p:sp>
      <p:sp>
        <p:nvSpPr>
          <p:cNvPr id="2" name="title-rule">
            <a:extLst>
              <a:ext uri="{FF2B5EF4-FFF2-40B4-BE49-F238E27FC236}">
                <a16:creationId xmlns:a16="http://schemas.microsoft.com/office/drawing/2014/main" id="{A73CA8D7-9405-4089-8CCA-6CFFD31C9E66}"/>
              </a:ext>
            </a:extLst>
          </p:cNvPr>
          <p:cNvSpPr>
            <a:spLocks noGrp="1"/>
          </p:cNvSpPr>
          <p:nvPr/>
        </p:nvSpPr>
        <p:spPr>
          <a:xfrm>
            <a:off x="685800" y="1066800"/>
            <a:ext cx="1571625" cy="38100"/>
          </a:xfrm>
          <a:prstGeom prst="rect">
            <a:avLst/>
          </a:prstGeom>
          <a:solidFill>
            <a:srgbClr val="25364A"/>
          </a:solidFill>
          <a:ln w="0">
            <a:solidFill>
              <a:srgbClr val="25364A"/>
            </a:solidFill>
            <a:prstDash val="solid"/>
          </a:ln>
        </p:spPr>
        <p:txBody>
          <a:bodyPr/>
          <a:lstStyle/>
          <a:p>
            <a:endParaRPr lang="en-US"/>
          </a:p>
        </p:txBody>
      </p:sp>
      <p:sp>
        <p:nvSpPr>
          <p:cNvPr id="3" name="test">
            <a:extLst>
              <a:ext uri="{FF2B5EF4-FFF2-40B4-BE49-F238E27FC236}">
                <a16:creationId xmlns:a16="http://schemas.microsoft.com/office/drawing/2014/main" id="{6A86B300-8E77-476A-A6F1-F1A2823FE441}"/>
              </a:ext>
            </a:extLst>
          </p:cNvPr>
          <p:cNvSpPr>
            <a:spLocks noGrp="1"/>
          </p:cNvSpPr>
          <p:nvPr/>
        </p:nvSpPr>
        <p:spPr>
          <a:xfrm>
            <a:off x="895350" y="1352550"/>
            <a:ext cx="10401300" cy="400050"/>
          </a:xfrm>
          <a:prstGeom prst="rect">
            <a:avLst/>
          </a:prstGeom>
          <a:noFill/>
          <a:ln w="0">
            <a:noFill/>
            <a:prstDash val="solid"/>
          </a:ln>
        </p:spPr>
        <p:txBody>
          <a:bodyPr anchor="ctr"/>
          <a:lstStyle/>
          <a:p>
            <a:pPr algn="ctr">
              <a:defRPr sz="1650" b="1">
                <a:solidFill>
                  <a:srgbClr val="25364A"/>
                </a:solidFill>
              </a:defRPr>
            </a:pPr>
            <a:r>
              <a:rPr sz="1650" b="1" dirty="0">
                <a:solidFill>
                  <a:srgbClr val="25364A"/>
                </a:solidFill>
              </a:rPr>
              <a:t>Test:  foo(0, </a:t>
            </a:r>
            <a:r>
              <a:rPr lang="en-US" sz="1650" b="1" dirty="0">
                <a:solidFill>
                  <a:srgbClr val="25364A"/>
                </a:solidFill>
              </a:rPr>
              <a:t>true</a:t>
            </a:r>
            <a:r>
              <a:rPr sz="1650" b="1" dirty="0">
                <a:solidFill>
                  <a:srgbClr val="25364A"/>
                </a:solidFill>
              </a:rPr>
              <a:t>, true, true) == </a:t>
            </a:r>
            <a:r>
              <a:rPr lang="en-US" sz="1650" b="1" dirty="0">
                <a:solidFill>
                  <a:srgbClr val="25364A"/>
                </a:solidFill>
              </a:rPr>
              <a:t>0</a:t>
            </a:r>
            <a:endParaRPr sz="1650" b="1" dirty="0">
              <a:solidFill>
                <a:srgbClr val="25364A"/>
              </a:solidFill>
            </a:endParaRPr>
          </a:p>
        </p:txBody>
      </p:sp>
      <p:sp>
        <p:nvSpPr>
          <p:cNvPr id="4" name="code">
            <a:extLst>
              <a:ext uri="{FF2B5EF4-FFF2-40B4-BE49-F238E27FC236}">
                <a16:creationId xmlns:a16="http://schemas.microsoft.com/office/drawing/2014/main" id="{80EF4DDC-4780-41B9-BC8E-D7D2FEBEDD62}"/>
              </a:ext>
            </a:extLst>
          </p:cNvPr>
          <p:cNvSpPr>
            <a:spLocks noGrp="1"/>
          </p:cNvSpPr>
          <p:nvPr/>
        </p:nvSpPr>
        <p:spPr>
          <a:xfrm>
            <a:off x="876300" y="2000250"/>
            <a:ext cx="6000750" cy="2914650"/>
          </a:xfrm>
          <a:prstGeom prst="roundRect">
            <a:avLst>
              <a:gd name="adj" fmla="val 3922"/>
            </a:avLst>
          </a:prstGeom>
          <a:solidFill>
            <a:srgbClr val="F3F5F7"/>
          </a:solidFill>
          <a:ln w="19050">
            <a:solidFill>
              <a:srgbClr val="25364A"/>
            </a:solidFill>
            <a:prstDash val="solid"/>
          </a:ln>
        </p:spPr>
        <p:txBody>
          <a:bodyPr/>
          <a:lstStyle/>
          <a:p>
            <a:endParaRPr lang="en-US"/>
          </a:p>
        </p:txBody>
      </p:sp>
      <p:sp>
        <p:nvSpPr>
          <p:cNvPr id="5" name="ln-0">
            <a:extLst>
              <a:ext uri="{FF2B5EF4-FFF2-40B4-BE49-F238E27FC236}">
                <a16:creationId xmlns:a16="http://schemas.microsoft.com/office/drawing/2014/main" id="{F29D19AF-E12E-4FAF-909D-56FB3CFEC814}"/>
              </a:ext>
            </a:extLst>
          </p:cNvPr>
          <p:cNvSpPr>
            <a:spLocks noGrp="1"/>
          </p:cNvSpPr>
          <p:nvPr/>
        </p:nvSpPr>
        <p:spPr>
          <a:xfrm>
            <a:off x="1028700" y="216217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1</a:t>
            </a:r>
          </a:p>
        </p:txBody>
      </p:sp>
      <p:sp>
        <p:nvSpPr>
          <p:cNvPr id="6" name="code-0">
            <a:extLst>
              <a:ext uri="{FF2B5EF4-FFF2-40B4-BE49-F238E27FC236}">
                <a16:creationId xmlns:a16="http://schemas.microsoft.com/office/drawing/2014/main" id="{D2C0DBA2-2454-4B1C-96D7-148FEA960F7A}"/>
              </a:ext>
            </a:extLst>
          </p:cNvPr>
          <p:cNvSpPr>
            <a:spLocks noGrp="1"/>
          </p:cNvSpPr>
          <p:nvPr/>
        </p:nvSpPr>
        <p:spPr>
          <a:xfrm>
            <a:off x="1390650" y="216217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int x = input;</a:t>
            </a:r>
          </a:p>
        </p:txBody>
      </p:sp>
      <p:sp>
        <p:nvSpPr>
          <p:cNvPr id="7" name="status-0-c">
            <a:extLst>
              <a:ext uri="{FF2B5EF4-FFF2-40B4-BE49-F238E27FC236}">
                <a16:creationId xmlns:a16="http://schemas.microsoft.com/office/drawing/2014/main" id="{A22770C4-17BB-4EDC-B897-6FE7041D69E4}"/>
              </a:ext>
            </a:extLst>
          </p:cNvPr>
          <p:cNvSpPr>
            <a:spLocks noGrp="1"/>
          </p:cNvSpPr>
          <p:nvPr/>
        </p:nvSpPr>
        <p:spPr>
          <a:xfrm>
            <a:off x="6191250" y="2181225"/>
            <a:ext cx="200025" cy="200025"/>
          </a:xfrm>
          <a:prstGeom prst="ellipse">
            <a:avLst/>
          </a:prstGeom>
          <a:solidFill>
            <a:srgbClr val="FFFFFF"/>
          </a:solidFill>
          <a:ln w="23813">
            <a:solidFill>
              <a:srgbClr val="4C78A8"/>
            </a:solidFill>
            <a:prstDash val="solid"/>
          </a:ln>
        </p:spPr>
        <p:txBody>
          <a:bodyPr/>
          <a:lstStyle/>
          <a:p>
            <a:endParaRPr lang="en-US"/>
          </a:p>
        </p:txBody>
      </p:sp>
      <p:sp>
        <p:nvSpPr>
          <p:cNvPr id="8" name="status-0-t">
            <a:extLst>
              <a:ext uri="{FF2B5EF4-FFF2-40B4-BE49-F238E27FC236}">
                <a16:creationId xmlns:a16="http://schemas.microsoft.com/office/drawing/2014/main" id="{6740AFAB-17DA-49D7-812D-015E0E8271E5}"/>
              </a:ext>
            </a:extLst>
          </p:cNvPr>
          <p:cNvSpPr>
            <a:spLocks noGrp="1"/>
          </p:cNvSpPr>
          <p:nvPr/>
        </p:nvSpPr>
        <p:spPr>
          <a:xfrm>
            <a:off x="6191250" y="2171700"/>
            <a:ext cx="200025" cy="200025"/>
          </a:xfrm>
          <a:prstGeom prst="rect">
            <a:avLst/>
          </a:prstGeom>
          <a:noFill/>
          <a:ln w="0">
            <a:noFill/>
            <a:prstDash val="solid"/>
          </a:ln>
        </p:spPr>
        <p:txBody>
          <a:bodyPr anchor="ctr"/>
          <a:lstStyle/>
          <a:p>
            <a:pPr algn="ctr">
              <a:defRPr sz="900" b="1">
                <a:solidFill>
                  <a:srgbClr val="4C78A8"/>
                </a:solidFill>
              </a:defRPr>
            </a:pPr>
            <a:r>
              <a:rPr sz="900" b="1" dirty="0">
                <a:solidFill>
                  <a:srgbClr val="4C78A8"/>
                </a:solidFill>
              </a:rPr>
              <a:t>✓</a:t>
            </a:r>
          </a:p>
        </p:txBody>
      </p:sp>
      <p:sp>
        <p:nvSpPr>
          <p:cNvPr id="9" name="ln-1">
            <a:extLst>
              <a:ext uri="{FF2B5EF4-FFF2-40B4-BE49-F238E27FC236}">
                <a16:creationId xmlns:a16="http://schemas.microsoft.com/office/drawing/2014/main" id="{3CB55AE2-F96B-41DA-B7F9-D49D4D3F5F6E}"/>
              </a:ext>
            </a:extLst>
          </p:cNvPr>
          <p:cNvSpPr>
            <a:spLocks noGrp="1"/>
          </p:cNvSpPr>
          <p:nvPr/>
        </p:nvSpPr>
        <p:spPr>
          <a:xfrm>
            <a:off x="1028700" y="243840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2</a:t>
            </a:r>
          </a:p>
        </p:txBody>
      </p:sp>
      <p:sp>
        <p:nvSpPr>
          <p:cNvPr id="10" name="code-1">
            <a:extLst>
              <a:ext uri="{FF2B5EF4-FFF2-40B4-BE49-F238E27FC236}">
                <a16:creationId xmlns:a16="http://schemas.microsoft.com/office/drawing/2014/main" id="{9FF38F0D-8DC2-456C-99F1-9304FC59E39C}"/>
              </a:ext>
            </a:extLst>
          </p:cNvPr>
          <p:cNvSpPr>
            <a:spLocks noGrp="1"/>
          </p:cNvSpPr>
          <p:nvPr/>
        </p:nvSpPr>
        <p:spPr>
          <a:xfrm>
            <a:off x="1390650" y="243840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int y = 0;</a:t>
            </a:r>
          </a:p>
        </p:txBody>
      </p:sp>
      <p:sp>
        <p:nvSpPr>
          <p:cNvPr id="11" name="status-1-c">
            <a:extLst>
              <a:ext uri="{FF2B5EF4-FFF2-40B4-BE49-F238E27FC236}">
                <a16:creationId xmlns:a16="http://schemas.microsoft.com/office/drawing/2014/main" id="{2E2E7558-CB62-40D4-9286-83B3683060C0}"/>
              </a:ext>
            </a:extLst>
          </p:cNvPr>
          <p:cNvSpPr>
            <a:spLocks noGrp="1"/>
          </p:cNvSpPr>
          <p:nvPr/>
        </p:nvSpPr>
        <p:spPr>
          <a:xfrm>
            <a:off x="6191250" y="2457450"/>
            <a:ext cx="200025" cy="200025"/>
          </a:xfrm>
          <a:prstGeom prst="ellipse">
            <a:avLst/>
          </a:prstGeom>
          <a:solidFill>
            <a:srgbClr val="FFFFFF"/>
          </a:solidFill>
          <a:ln w="23813">
            <a:solidFill>
              <a:srgbClr val="4C78A8"/>
            </a:solidFill>
            <a:prstDash val="solid"/>
          </a:ln>
        </p:spPr>
        <p:txBody>
          <a:bodyPr/>
          <a:lstStyle/>
          <a:p>
            <a:endParaRPr lang="en-US"/>
          </a:p>
        </p:txBody>
      </p:sp>
      <p:sp>
        <p:nvSpPr>
          <p:cNvPr id="12" name="status-1-t">
            <a:extLst>
              <a:ext uri="{FF2B5EF4-FFF2-40B4-BE49-F238E27FC236}">
                <a16:creationId xmlns:a16="http://schemas.microsoft.com/office/drawing/2014/main" id="{9D759635-F29E-41A5-ABA8-BB18D99AC2A2}"/>
              </a:ext>
            </a:extLst>
          </p:cNvPr>
          <p:cNvSpPr>
            <a:spLocks noGrp="1"/>
          </p:cNvSpPr>
          <p:nvPr/>
        </p:nvSpPr>
        <p:spPr>
          <a:xfrm>
            <a:off x="6191250" y="2447925"/>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13" name="ln-2">
            <a:extLst>
              <a:ext uri="{FF2B5EF4-FFF2-40B4-BE49-F238E27FC236}">
                <a16:creationId xmlns:a16="http://schemas.microsoft.com/office/drawing/2014/main" id="{A5BC86BF-A674-4F08-9955-7598602C3E94}"/>
              </a:ext>
            </a:extLst>
          </p:cNvPr>
          <p:cNvSpPr>
            <a:spLocks noGrp="1"/>
          </p:cNvSpPr>
          <p:nvPr/>
        </p:nvSpPr>
        <p:spPr>
          <a:xfrm>
            <a:off x="1028700" y="271462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3</a:t>
            </a:r>
          </a:p>
        </p:txBody>
      </p:sp>
      <p:sp>
        <p:nvSpPr>
          <p:cNvPr id="14" name="code-2">
            <a:extLst>
              <a:ext uri="{FF2B5EF4-FFF2-40B4-BE49-F238E27FC236}">
                <a16:creationId xmlns:a16="http://schemas.microsoft.com/office/drawing/2014/main" id="{2F561B84-14C4-464E-8F01-209FF1FCA0F3}"/>
              </a:ext>
            </a:extLst>
          </p:cNvPr>
          <p:cNvSpPr>
            <a:spLocks noGrp="1"/>
          </p:cNvSpPr>
          <p:nvPr/>
        </p:nvSpPr>
        <p:spPr>
          <a:xfrm>
            <a:off x="1390650" y="271462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if (b1)</a:t>
            </a:r>
          </a:p>
        </p:txBody>
      </p:sp>
      <p:sp>
        <p:nvSpPr>
          <p:cNvPr id="15" name="status-2-c">
            <a:extLst>
              <a:ext uri="{FF2B5EF4-FFF2-40B4-BE49-F238E27FC236}">
                <a16:creationId xmlns:a16="http://schemas.microsoft.com/office/drawing/2014/main" id="{8B1AA56C-47C5-4D09-BC57-53B6534DED57}"/>
              </a:ext>
            </a:extLst>
          </p:cNvPr>
          <p:cNvSpPr>
            <a:spLocks noGrp="1"/>
          </p:cNvSpPr>
          <p:nvPr/>
        </p:nvSpPr>
        <p:spPr>
          <a:xfrm>
            <a:off x="6191250" y="2733675"/>
            <a:ext cx="200025" cy="200025"/>
          </a:xfrm>
          <a:prstGeom prst="ellipse">
            <a:avLst/>
          </a:prstGeom>
          <a:solidFill>
            <a:srgbClr val="FFFFFF"/>
          </a:solidFill>
          <a:ln w="23813">
            <a:solidFill>
              <a:srgbClr val="4C78A8"/>
            </a:solidFill>
            <a:prstDash val="solid"/>
          </a:ln>
        </p:spPr>
        <p:txBody>
          <a:bodyPr/>
          <a:lstStyle/>
          <a:p>
            <a:endParaRPr lang="en-US"/>
          </a:p>
        </p:txBody>
      </p:sp>
      <p:sp>
        <p:nvSpPr>
          <p:cNvPr id="16" name="status-2-t">
            <a:extLst>
              <a:ext uri="{FF2B5EF4-FFF2-40B4-BE49-F238E27FC236}">
                <a16:creationId xmlns:a16="http://schemas.microsoft.com/office/drawing/2014/main" id="{13374E44-CBA5-4E7C-855F-6EFD12AD3656}"/>
              </a:ext>
            </a:extLst>
          </p:cNvPr>
          <p:cNvSpPr>
            <a:spLocks noGrp="1"/>
          </p:cNvSpPr>
          <p:nvPr/>
        </p:nvSpPr>
        <p:spPr>
          <a:xfrm>
            <a:off x="6191250" y="272415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18" name="ln-3">
            <a:extLst>
              <a:ext uri="{FF2B5EF4-FFF2-40B4-BE49-F238E27FC236}">
                <a16:creationId xmlns:a16="http://schemas.microsoft.com/office/drawing/2014/main" id="{EA886520-05C2-4535-94D3-92886703AE3F}"/>
              </a:ext>
            </a:extLst>
          </p:cNvPr>
          <p:cNvSpPr>
            <a:spLocks noGrp="1"/>
          </p:cNvSpPr>
          <p:nvPr/>
        </p:nvSpPr>
        <p:spPr>
          <a:xfrm>
            <a:off x="1028700" y="299085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4</a:t>
            </a:r>
          </a:p>
        </p:txBody>
      </p:sp>
      <p:sp>
        <p:nvSpPr>
          <p:cNvPr id="19" name="code-3">
            <a:extLst>
              <a:ext uri="{FF2B5EF4-FFF2-40B4-BE49-F238E27FC236}">
                <a16:creationId xmlns:a16="http://schemas.microsoft.com/office/drawing/2014/main" id="{0E4D7CB7-D6E5-4A01-8A4B-4037F8C5DFF2}"/>
              </a:ext>
            </a:extLst>
          </p:cNvPr>
          <p:cNvSpPr>
            <a:spLocks noGrp="1"/>
          </p:cNvSpPr>
          <p:nvPr/>
        </p:nvSpPr>
        <p:spPr>
          <a:xfrm>
            <a:off x="1390650" y="299085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    x++;</a:t>
            </a:r>
          </a:p>
        </p:txBody>
      </p:sp>
      <p:sp>
        <p:nvSpPr>
          <p:cNvPr id="21" name="status-3-t">
            <a:extLst>
              <a:ext uri="{FF2B5EF4-FFF2-40B4-BE49-F238E27FC236}">
                <a16:creationId xmlns:a16="http://schemas.microsoft.com/office/drawing/2014/main" id="{C5CBBF9C-DD2B-4E7C-83A2-CDAD3DFF0870}"/>
              </a:ext>
            </a:extLst>
          </p:cNvPr>
          <p:cNvSpPr>
            <a:spLocks noGrp="1"/>
          </p:cNvSpPr>
          <p:nvPr/>
        </p:nvSpPr>
        <p:spPr>
          <a:xfrm>
            <a:off x="6191250" y="3000375"/>
            <a:ext cx="200025" cy="200025"/>
          </a:xfrm>
          <a:prstGeom prst="rect">
            <a:avLst/>
          </a:prstGeom>
          <a:noFill/>
          <a:ln w="0">
            <a:noFill/>
            <a:prstDash val="solid"/>
          </a:ln>
        </p:spPr>
        <p:txBody>
          <a:bodyPr anchor="ctr"/>
          <a:lstStyle/>
          <a:p>
            <a:pPr algn="ctr">
              <a:defRPr sz="900" b="1">
                <a:solidFill>
                  <a:srgbClr val="C49A52"/>
                </a:solidFill>
              </a:defRPr>
            </a:pPr>
            <a:endParaRPr sz="900" b="1" dirty="0">
              <a:solidFill>
                <a:srgbClr val="C49A52"/>
              </a:solidFill>
            </a:endParaRPr>
          </a:p>
        </p:txBody>
      </p:sp>
      <p:sp>
        <p:nvSpPr>
          <p:cNvPr id="22" name="ln-4">
            <a:extLst>
              <a:ext uri="{FF2B5EF4-FFF2-40B4-BE49-F238E27FC236}">
                <a16:creationId xmlns:a16="http://schemas.microsoft.com/office/drawing/2014/main" id="{6A918C6C-46B8-4EDD-BBD3-1BE0F89139C7}"/>
              </a:ext>
            </a:extLst>
          </p:cNvPr>
          <p:cNvSpPr>
            <a:spLocks noGrp="1"/>
          </p:cNvSpPr>
          <p:nvPr/>
        </p:nvSpPr>
        <p:spPr>
          <a:xfrm>
            <a:off x="1028700" y="326707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5</a:t>
            </a:r>
          </a:p>
        </p:txBody>
      </p:sp>
      <p:sp>
        <p:nvSpPr>
          <p:cNvPr id="23" name="code-4">
            <a:extLst>
              <a:ext uri="{FF2B5EF4-FFF2-40B4-BE49-F238E27FC236}">
                <a16:creationId xmlns:a16="http://schemas.microsoft.com/office/drawing/2014/main" id="{DD158D23-2E2D-478F-A6E3-B77F1B1AF138}"/>
              </a:ext>
            </a:extLst>
          </p:cNvPr>
          <p:cNvSpPr>
            <a:spLocks noGrp="1"/>
          </p:cNvSpPr>
          <p:nvPr/>
        </p:nvSpPr>
        <p:spPr>
          <a:xfrm>
            <a:off x="1390650" y="326707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if (b2)</a:t>
            </a:r>
          </a:p>
        </p:txBody>
      </p:sp>
      <p:sp>
        <p:nvSpPr>
          <p:cNvPr id="24" name="status-4-c">
            <a:extLst>
              <a:ext uri="{FF2B5EF4-FFF2-40B4-BE49-F238E27FC236}">
                <a16:creationId xmlns:a16="http://schemas.microsoft.com/office/drawing/2014/main" id="{C4DFB1E2-FBAA-44E5-80EF-9B847441941A}"/>
              </a:ext>
            </a:extLst>
          </p:cNvPr>
          <p:cNvSpPr>
            <a:spLocks noGrp="1"/>
          </p:cNvSpPr>
          <p:nvPr/>
        </p:nvSpPr>
        <p:spPr>
          <a:xfrm>
            <a:off x="6191250" y="3286125"/>
            <a:ext cx="200025" cy="200025"/>
          </a:xfrm>
          <a:prstGeom prst="ellipse">
            <a:avLst/>
          </a:prstGeom>
          <a:solidFill>
            <a:srgbClr val="FFFFFF"/>
          </a:solidFill>
          <a:ln w="23813">
            <a:solidFill>
              <a:srgbClr val="4C78A8"/>
            </a:solidFill>
            <a:prstDash val="solid"/>
          </a:ln>
        </p:spPr>
        <p:txBody>
          <a:bodyPr/>
          <a:lstStyle/>
          <a:p>
            <a:endParaRPr lang="en-US"/>
          </a:p>
        </p:txBody>
      </p:sp>
      <p:sp>
        <p:nvSpPr>
          <p:cNvPr id="25" name="status-4-t">
            <a:extLst>
              <a:ext uri="{FF2B5EF4-FFF2-40B4-BE49-F238E27FC236}">
                <a16:creationId xmlns:a16="http://schemas.microsoft.com/office/drawing/2014/main" id="{81504495-1E7D-4DEB-AD94-25691251979A}"/>
              </a:ext>
            </a:extLst>
          </p:cNvPr>
          <p:cNvSpPr>
            <a:spLocks noGrp="1"/>
          </p:cNvSpPr>
          <p:nvPr/>
        </p:nvSpPr>
        <p:spPr>
          <a:xfrm>
            <a:off x="6191250" y="327660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26" name="ln-5">
            <a:extLst>
              <a:ext uri="{FF2B5EF4-FFF2-40B4-BE49-F238E27FC236}">
                <a16:creationId xmlns:a16="http://schemas.microsoft.com/office/drawing/2014/main" id="{36DEE012-182D-483E-A991-1E6F01416045}"/>
              </a:ext>
            </a:extLst>
          </p:cNvPr>
          <p:cNvSpPr>
            <a:spLocks noGrp="1"/>
          </p:cNvSpPr>
          <p:nvPr/>
        </p:nvSpPr>
        <p:spPr>
          <a:xfrm>
            <a:off x="1028700" y="354330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6</a:t>
            </a:r>
          </a:p>
        </p:txBody>
      </p:sp>
      <p:sp>
        <p:nvSpPr>
          <p:cNvPr id="27" name="code-5">
            <a:extLst>
              <a:ext uri="{FF2B5EF4-FFF2-40B4-BE49-F238E27FC236}">
                <a16:creationId xmlns:a16="http://schemas.microsoft.com/office/drawing/2014/main" id="{C4F722C4-FC1D-42E2-A1C2-318060445F14}"/>
              </a:ext>
            </a:extLst>
          </p:cNvPr>
          <p:cNvSpPr>
            <a:spLocks noGrp="1"/>
          </p:cNvSpPr>
          <p:nvPr/>
        </p:nvSpPr>
        <p:spPr>
          <a:xfrm>
            <a:off x="1390650" y="354330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    x--;</a:t>
            </a:r>
          </a:p>
        </p:txBody>
      </p:sp>
      <p:sp>
        <p:nvSpPr>
          <p:cNvPr id="28" name="status-5-c">
            <a:extLst>
              <a:ext uri="{FF2B5EF4-FFF2-40B4-BE49-F238E27FC236}">
                <a16:creationId xmlns:a16="http://schemas.microsoft.com/office/drawing/2014/main" id="{333216BC-FF05-4EFB-9821-003B50E17E87}"/>
              </a:ext>
            </a:extLst>
          </p:cNvPr>
          <p:cNvSpPr>
            <a:spLocks noGrp="1"/>
          </p:cNvSpPr>
          <p:nvPr/>
        </p:nvSpPr>
        <p:spPr>
          <a:xfrm>
            <a:off x="6191250" y="3562350"/>
            <a:ext cx="200025" cy="200025"/>
          </a:xfrm>
          <a:prstGeom prst="ellipse">
            <a:avLst/>
          </a:prstGeom>
          <a:solidFill>
            <a:srgbClr val="FFFFFF"/>
          </a:solidFill>
          <a:ln w="23813">
            <a:solidFill>
              <a:srgbClr val="4C78A8"/>
            </a:solidFill>
            <a:prstDash val="solid"/>
          </a:ln>
        </p:spPr>
        <p:txBody>
          <a:bodyPr/>
          <a:lstStyle/>
          <a:p>
            <a:endParaRPr lang="en-US"/>
          </a:p>
        </p:txBody>
      </p:sp>
      <p:sp>
        <p:nvSpPr>
          <p:cNvPr id="29" name="status-5-t">
            <a:extLst>
              <a:ext uri="{FF2B5EF4-FFF2-40B4-BE49-F238E27FC236}">
                <a16:creationId xmlns:a16="http://schemas.microsoft.com/office/drawing/2014/main" id="{898DB055-AA52-4856-A2ED-2C625584EAC6}"/>
              </a:ext>
            </a:extLst>
          </p:cNvPr>
          <p:cNvSpPr>
            <a:spLocks noGrp="1"/>
          </p:cNvSpPr>
          <p:nvPr/>
        </p:nvSpPr>
        <p:spPr>
          <a:xfrm>
            <a:off x="6191250" y="3552825"/>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30" name="ln-6">
            <a:extLst>
              <a:ext uri="{FF2B5EF4-FFF2-40B4-BE49-F238E27FC236}">
                <a16:creationId xmlns:a16="http://schemas.microsoft.com/office/drawing/2014/main" id="{4CB5BBD1-7F9E-4789-A61D-61123B7E6A20}"/>
              </a:ext>
            </a:extLst>
          </p:cNvPr>
          <p:cNvSpPr>
            <a:spLocks noGrp="1"/>
          </p:cNvSpPr>
          <p:nvPr/>
        </p:nvSpPr>
        <p:spPr>
          <a:xfrm>
            <a:off x="1028700" y="381952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7</a:t>
            </a:r>
          </a:p>
        </p:txBody>
      </p:sp>
      <p:sp>
        <p:nvSpPr>
          <p:cNvPr id="31" name="code-6">
            <a:extLst>
              <a:ext uri="{FF2B5EF4-FFF2-40B4-BE49-F238E27FC236}">
                <a16:creationId xmlns:a16="http://schemas.microsoft.com/office/drawing/2014/main" id="{A0357C12-FE36-4B31-965D-C38FD70CD497}"/>
              </a:ext>
            </a:extLst>
          </p:cNvPr>
          <p:cNvSpPr>
            <a:spLocks noGrp="1"/>
          </p:cNvSpPr>
          <p:nvPr/>
        </p:nvSpPr>
        <p:spPr>
          <a:xfrm>
            <a:off x="1390650" y="381952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if (b3)</a:t>
            </a:r>
          </a:p>
        </p:txBody>
      </p:sp>
      <p:sp>
        <p:nvSpPr>
          <p:cNvPr id="32" name="status-6-c">
            <a:extLst>
              <a:ext uri="{FF2B5EF4-FFF2-40B4-BE49-F238E27FC236}">
                <a16:creationId xmlns:a16="http://schemas.microsoft.com/office/drawing/2014/main" id="{FAC4D334-5461-4782-9EA2-2E0366B58A49}"/>
              </a:ext>
            </a:extLst>
          </p:cNvPr>
          <p:cNvSpPr>
            <a:spLocks noGrp="1"/>
          </p:cNvSpPr>
          <p:nvPr/>
        </p:nvSpPr>
        <p:spPr>
          <a:xfrm>
            <a:off x="6191250" y="3838575"/>
            <a:ext cx="200025" cy="200025"/>
          </a:xfrm>
          <a:prstGeom prst="ellipse">
            <a:avLst/>
          </a:prstGeom>
          <a:solidFill>
            <a:srgbClr val="FFFFFF"/>
          </a:solidFill>
          <a:ln w="23813">
            <a:solidFill>
              <a:srgbClr val="4C78A8"/>
            </a:solidFill>
            <a:prstDash val="solid"/>
          </a:ln>
        </p:spPr>
        <p:txBody>
          <a:bodyPr/>
          <a:lstStyle/>
          <a:p>
            <a:endParaRPr lang="en-US"/>
          </a:p>
        </p:txBody>
      </p:sp>
      <p:sp>
        <p:nvSpPr>
          <p:cNvPr id="33" name="status-6-t">
            <a:extLst>
              <a:ext uri="{FF2B5EF4-FFF2-40B4-BE49-F238E27FC236}">
                <a16:creationId xmlns:a16="http://schemas.microsoft.com/office/drawing/2014/main" id="{E86C839F-8FB3-44D9-976D-3A78B3F2AABD}"/>
              </a:ext>
            </a:extLst>
          </p:cNvPr>
          <p:cNvSpPr>
            <a:spLocks noGrp="1"/>
          </p:cNvSpPr>
          <p:nvPr/>
        </p:nvSpPr>
        <p:spPr>
          <a:xfrm>
            <a:off x="6191250" y="382905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34" name="ln-7">
            <a:extLst>
              <a:ext uri="{FF2B5EF4-FFF2-40B4-BE49-F238E27FC236}">
                <a16:creationId xmlns:a16="http://schemas.microsoft.com/office/drawing/2014/main" id="{61EDD3DE-E1F6-4FB7-9A18-41C18EEEBB5A}"/>
              </a:ext>
            </a:extLst>
          </p:cNvPr>
          <p:cNvSpPr>
            <a:spLocks noGrp="1"/>
          </p:cNvSpPr>
          <p:nvPr/>
        </p:nvSpPr>
        <p:spPr>
          <a:xfrm>
            <a:off x="1028700" y="4095750"/>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8</a:t>
            </a:r>
          </a:p>
        </p:txBody>
      </p:sp>
      <p:sp>
        <p:nvSpPr>
          <p:cNvPr id="35" name="code-7">
            <a:extLst>
              <a:ext uri="{FF2B5EF4-FFF2-40B4-BE49-F238E27FC236}">
                <a16:creationId xmlns:a16="http://schemas.microsoft.com/office/drawing/2014/main" id="{07304FA1-10BF-4FD3-8091-CBF0DAEBFA16}"/>
              </a:ext>
            </a:extLst>
          </p:cNvPr>
          <p:cNvSpPr>
            <a:spLocks noGrp="1"/>
          </p:cNvSpPr>
          <p:nvPr/>
        </p:nvSpPr>
        <p:spPr>
          <a:xfrm>
            <a:off x="1390650" y="4095750"/>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    y = x;</a:t>
            </a:r>
          </a:p>
        </p:txBody>
      </p:sp>
      <p:sp>
        <p:nvSpPr>
          <p:cNvPr id="36" name="status-7-c">
            <a:extLst>
              <a:ext uri="{FF2B5EF4-FFF2-40B4-BE49-F238E27FC236}">
                <a16:creationId xmlns:a16="http://schemas.microsoft.com/office/drawing/2014/main" id="{840A23C7-BC50-4831-8CC9-AD91BD2C5060}"/>
              </a:ext>
            </a:extLst>
          </p:cNvPr>
          <p:cNvSpPr>
            <a:spLocks noGrp="1"/>
          </p:cNvSpPr>
          <p:nvPr/>
        </p:nvSpPr>
        <p:spPr>
          <a:xfrm>
            <a:off x="6191250" y="4114800"/>
            <a:ext cx="200025" cy="200025"/>
          </a:xfrm>
          <a:prstGeom prst="ellipse">
            <a:avLst/>
          </a:prstGeom>
          <a:solidFill>
            <a:srgbClr val="FFFFFF"/>
          </a:solidFill>
          <a:ln w="23813">
            <a:solidFill>
              <a:srgbClr val="4C78A8"/>
            </a:solidFill>
            <a:prstDash val="solid"/>
          </a:ln>
        </p:spPr>
        <p:txBody>
          <a:bodyPr/>
          <a:lstStyle/>
          <a:p>
            <a:endParaRPr lang="en-US"/>
          </a:p>
        </p:txBody>
      </p:sp>
      <p:sp>
        <p:nvSpPr>
          <p:cNvPr id="37" name="status-7-t">
            <a:extLst>
              <a:ext uri="{FF2B5EF4-FFF2-40B4-BE49-F238E27FC236}">
                <a16:creationId xmlns:a16="http://schemas.microsoft.com/office/drawing/2014/main" id="{D91D967F-B557-4669-8436-348A40F89300}"/>
              </a:ext>
            </a:extLst>
          </p:cNvPr>
          <p:cNvSpPr>
            <a:spLocks noGrp="1"/>
          </p:cNvSpPr>
          <p:nvPr/>
        </p:nvSpPr>
        <p:spPr>
          <a:xfrm>
            <a:off x="6191250" y="4105275"/>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38" name="ln-8">
            <a:extLst>
              <a:ext uri="{FF2B5EF4-FFF2-40B4-BE49-F238E27FC236}">
                <a16:creationId xmlns:a16="http://schemas.microsoft.com/office/drawing/2014/main" id="{4B4C55A0-E921-41A4-85FB-BA3040C11E0C}"/>
              </a:ext>
            </a:extLst>
          </p:cNvPr>
          <p:cNvSpPr>
            <a:spLocks noGrp="1"/>
          </p:cNvSpPr>
          <p:nvPr/>
        </p:nvSpPr>
        <p:spPr>
          <a:xfrm>
            <a:off x="1028700" y="4371975"/>
            <a:ext cx="266700" cy="238125"/>
          </a:xfrm>
          <a:prstGeom prst="rect">
            <a:avLst/>
          </a:prstGeom>
          <a:noFill/>
          <a:ln w="0">
            <a:noFill/>
            <a:prstDash val="solid"/>
          </a:ln>
        </p:spPr>
        <p:txBody>
          <a:bodyPr anchor="ctr"/>
          <a:lstStyle/>
          <a:p>
            <a:pPr algn="ctr">
              <a:defRPr sz="1050" b="0">
                <a:solidFill>
                  <a:srgbClr val="66727F"/>
                </a:solidFill>
              </a:defRPr>
            </a:pPr>
            <a:r>
              <a:rPr sz="1050" b="0">
                <a:solidFill>
                  <a:srgbClr val="66727F"/>
                </a:solidFill>
              </a:rPr>
              <a:t>9</a:t>
            </a:r>
          </a:p>
        </p:txBody>
      </p:sp>
      <p:sp>
        <p:nvSpPr>
          <p:cNvPr id="39" name="code-8">
            <a:extLst>
              <a:ext uri="{FF2B5EF4-FFF2-40B4-BE49-F238E27FC236}">
                <a16:creationId xmlns:a16="http://schemas.microsoft.com/office/drawing/2014/main" id="{BCED8D65-F67C-4E63-8C35-CFB4ED1237E4}"/>
              </a:ext>
            </a:extLst>
          </p:cNvPr>
          <p:cNvSpPr>
            <a:spLocks noGrp="1"/>
          </p:cNvSpPr>
          <p:nvPr/>
        </p:nvSpPr>
        <p:spPr>
          <a:xfrm>
            <a:off x="1390650" y="4371975"/>
            <a:ext cx="4095750" cy="238125"/>
          </a:xfrm>
          <a:prstGeom prst="rect">
            <a:avLst/>
          </a:prstGeom>
          <a:noFill/>
          <a:ln w="0">
            <a:noFill/>
            <a:prstDash val="solid"/>
          </a:ln>
        </p:spPr>
        <p:txBody>
          <a:bodyPr anchor="ctr"/>
          <a:lstStyle/>
          <a:p>
            <a:pPr algn="l">
              <a:defRPr sz="1275" b="0">
                <a:solidFill>
                  <a:srgbClr val="17202A"/>
                </a:solidFill>
              </a:defRPr>
            </a:pPr>
            <a:r>
              <a:rPr sz="1275" b="0">
                <a:solidFill>
                  <a:srgbClr val="17202A"/>
                </a:solidFill>
              </a:rPr>
              <a:t>return y;</a:t>
            </a:r>
          </a:p>
        </p:txBody>
      </p:sp>
      <p:sp>
        <p:nvSpPr>
          <p:cNvPr id="40" name="status-8-c">
            <a:extLst>
              <a:ext uri="{FF2B5EF4-FFF2-40B4-BE49-F238E27FC236}">
                <a16:creationId xmlns:a16="http://schemas.microsoft.com/office/drawing/2014/main" id="{924C72F9-9308-4D0B-9837-382684C2D7B9}"/>
              </a:ext>
            </a:extLst>
          </p:cNvPr>
          <p:cNvSpPr>
            <a:spLocks noGrp="1"/>
          </p:cNvSpPr>
          <p:nvPr/>
        </p:nvSpPr>
        <p:spPr>
          <a:xfrm>
            <a:off x="6191250" y="4391025"/>
            <a:ext cx="200025" cy="200025"/>
          </a:xfrm>
          <a:prstGeom prst="ellipse">
            <a:avLst/>
          </a:prstGeom>
          <a:solidFill>
            <a:srgbClr val="FFFFFF"/>
          </a:solidFill>
          <a:ln w="23813">
            <a:solidFill>
              <a:srgbClr val="4C78A8"/>
            </a:solidFill>
            <a:prstDash val="solid"/>
          </a:ln>
        </p:spPr>
        <p:txBody>
          <a:bodyPr/>
          <a:lstStyle/>
          <a:p>
            <a:endParaRPr lang="en-US"/>
          </a:p>
        </p:txBody>
      </p:sp>
      <p:sp>
        <p:nvSpPr>
          <p:cNvPr id="41" name="status-8-t">
            <a:extLst>
              <a:ext uri="{FF2B5EF4-FFF2-40B4-BE49-F238E27FC236}">
                <a16:creationId xmlns:a16="http://schemas.microsoft.com/office/drawing/2014/main" id="{4756C897-F22A-4030-A204-1B8AD7770897}"/>
              </a:ext>
            </a:extLst>
          </p:cNvPr>
          <p:cNvSpPr>
            <a:spLocks noGrp="1"/>
          </p:cNvSpPr>
          <p:nvPr/>
        </p:nvSpPr>
        <p:spPr>
          <a:xfrm>
            <a:off x="6191250" y="4381500"/>
            <a:ext cx="200025" cy="200025"/>
          </a:xfrm>
          <a:prstGeom prst="rect">
            <a:avLst/>
          </a:prstGeom>
          <a:noFill/>
          <a:ln w="0">
            <a:noFill/>
            <a:prstDash val="solid"/>
          </a:ln>
        </p:spPr>
        <p:txBody>
          <a:bodyPr anchor="ctr"/>
          <a:lstStyle/>
          <a:p>
            <a:pPr algn="ctr">
              <a:defRPr sz="900" b="1">
                <a:solidFill>
                  <a:srgbClr val="4C78A8"/>
                </a:solidFill>
              </a:defRPr>
            </a:pPr>
            <a:r>
              <a:rPr sz="900" b="1">
                <a:solidFill>
                  <a:srgbClr val="4C78A8"/>
                </a:solidFill>
              </a:rPr>
              <a:t>✓</a:t>
            </a:r>
          </a:p>
        </p:txBody>
      </p:sp>
      <p:sp>
        <p:nvSpPr>
          <p:cNvPr id="42" name="result">
            <a:extLst>
              <a:ext uri="{FF2B5EF4-FFF2-40B4-BE49-F238E27FC236}">
                <a16:creationId xmlns:a16="http://schemas.microsoft.com/office/drawing/2014/main" id="{9724FEE3-54D1-4931-9468-B88733F8D036}"/>
              </a:ext>
            </a:extLst>
          </p:cNvPr>
          <p:cNvSpPr>
            <a:spLocks noGrp="1"/>
          </p:cNvSpPr>
          <p:nvPr/>
        </p:nvSpPr>
        <p:spPr>
          <a:xfrm>
            <a:off x="7353300" y="2000250"/>
            <a:ext cx="3962400" cy="2914650"/>
          </a:xfrm>
          <a:prstGeom prst="roundRect">
            <a:avLst>
              <a:gd name="adj" fmla="val 3922"/>
            </a:avLst>
          </a:prstGeom>
          <a:solidFill>
            <a:srgbClr val="FFFFFF"/>
          </a:solidFill>
          <a:ln w="19050">
            <a:solidFill>
              <a:srgbClr val="D7DDE3"/>
            </a:solidFill>
            <a:prstDash val="solid"/>
          </a:ln>
        </p:spPr>
        <p:txBody>
          <a:bodyPr/>
          <a:lstStyle/>
          <a:p>
            <a:endParaRPr lang="en-US"/>
          </a:p>
        </p:txBody>
      </p:sp>
      <p:sp>
        <p:nvSpPr>
          <p:cNvPr id="43" name="result-head">
            <a:extLst>
              <a:ext uri="{FF2B5EF4-FFF2-40B4-BE49-F238E27FC236}">
                <a16:creationId xmlns:a16="http://schemas.microsoft.com/office/drawing/2014/main" id="{1C16DE47-E90A-4D0B-9458-644A1DC45827}"/>
              </a:ext>
            </a:extLst>
          </p:cNvPr>
          <p:cNvSpPr>
            <a:spLocks noGrp="1"/>
          </p:cNvSpPr>
          <p:nvPr/>
        </p:nvSpPr>
        <p:spPr>
          <a:xfrm>
            <a:off x="7639050" y="2247900"/>
            <a:ext cx="3390900" cy="266700"/>
          </a:xfrm>
          <a:prstGeom prst="rect">
            <a:avLst/>
          </a:prstGeom>
          <a:noFill/>
          <a:ln w="0">
            <a:noFill/>
            <a:prstDash val="solid"/>
          </a:ln>
        </p:spPr>
        <p:txBody>
          <a:bodyPr anchor="ctr"/>
          <a:lstStyle/>
          <a:p>
            <a:pPr algn="ctr">
              <a:defRPr sz="1275" b="1">
                <a:solidFill>
                  <a:srgbClr val="4E6478"/>
                </a:solidFill>
              </a:defRPr>
            </a:pPr>
            <a:r>
              <a:rPr sz="1275" b="1">
                <a:solidFill>
                  <a:srgbClr val="4E6478"/>
                </a:solidFill>
              </a:rPr>
              <a:t>COVERAGE RESULT</a:t>
            </a:r>
          </a:p>
        </p:txBody>
      </p:sp>
      <p:sp>
        <p:nvSpPr>
          <p:cNvPr id="44" name="fraction">
            <a:extLst>
              <a:ext uri="{FF2B5EF4-FFF2-40B4-BE49-F238E27FC236}">
                <a16:creationId xmlns:a16="http://schemas.microsoft.com/office/drawing/2014/main" id="{678E7FD1-60AA-48BB-B2A0-F606C4851C75}"/>
              </a:ext>
            </a:extLst>
          </p:cNvPr>
          <p:cNvSpPr>
            <a:spLocks noGrp="1"/>
          </p:cNvSpPr>
          <p:nvPr/>
        </p:nvSpPr>
        <p:spPr>
          <a:xfrm>
            <a:off x="7639050" y="2686050"/>
            <a:ext cx="3390900" cy="552450"/>
          </a:xfrm>
          <a:prstGeom prst="rect">
            <a:avLst/>
          </a:prstGeom>
          <a:noFill/>
          <a:ln w="0">
            <a:noFill/>
            <a:prstDash val="solid"/>
          </a:ln>
        </p:spPr>
        <p:txBody>
          <a:bodyPr anchor="ctr"/>
          <a:lstStyle/>
          <a:p>
            <a:pPr algn="ctr">
              <a:defRPr sz="3000" b="1">
                <a:solidFill>
                  <a:srgbClr val="4C78A8"/>
                </a:solidFill>
              </a:defRPr>
            </a:pPr>
            <a:r>
              <a:rPr lang="en-US" sz="3000" b="1" dirty="0">
                <a:solidFill>
                  <a:srgbClr val="4C78A8"/>
                </a:solidFill>
              </a:rPr>
              <a:t>9</a:t>
            </a:r>
            <a:r>
              <a:rPr sz="3000" b="1" dirty="0">
                <a:solidFill>
                  <a:srgbClr val="4C78A8"/>
                </a:solidFill>
              </a:rPr>
              <a:t> of 9</a:t>
            </a:r>
          </a:p>
        </p:txBody>
      </p:sp>
      <p:sp>
        <p:nvSpPr>
          <p:cNvPr id="45" name="percent">
            <a:extLst>
              <a:ext uri="{FF2B5EF4-FFF2-40B4-BE49-F238E27FC236}">
                <a16:creationId xmlns:a16="http://schemas.microsoft.com/office/drawing/2014/main" id="{6C5B7E82-DDBF-4192-B074-B34E200D2EBD}"/>
              </a:ext>
            </a:extLst>
          </p:cNvPr>
          <p:cNvSpPr>
            <a:spLocks noGrp="1"/>
          </p:cNvSpPr>
          <p:nvPr/>
        </p:nvSpPr>
        <p:spPr>
          <a:xfrm>
            <a:off x="7639050" y="3257550"/>
            <a:ext cx="3390900" cy="400050"/>
          </a:xfrm>
          <a:prstGeom prst="rect">
            <a:avLst/>
          </a:prstGeom>
          <a:noFill/>
          <a:ln w="0">
            <a:noFill/>
            <a:prstDash val="solid"/>
          </a:ln>
        </p:spPr>
        <p:txBody>
          <a:bodyPr anchor="ctr"/>
          <a:lstStyle/>
          <a:p>
            <a:pPr algn="ctr">
              <a:defRPr sz="1800" b="1">
                <a:solidFill>
                  <a:srgbClr val="25364A"/>
                </a:solidFill>
              </a:defRPr>
            </a:pPr>
            <a:r>
              <a:rPr lang="en-US" sz="1800" b="1" dirty="0">
                <a:solidFill>
                  <a:srgbClr val="25364A"/>
                </a:solidFill>
              </a:rPr>
              <a:t>100</a:t>
            </a:r>
            <a:r>
              <a:rPr sz="1800" b="1" dirty="0">
                <a:solidFill>
                  <a:srgbClr val="25364A"/>
                </a:solidFill>
              </a:rPr>
              <a:t>% line coverage</a:t>
            </a:r>
          </a:p>
        </p:txBody>
      </p:sp>
      <p:sp>
        <p:nvSpPr>
          <p:cNvPr id="46" name="result-divider">
            <a:extLst>
              <a:ext uri="{FF2B5EF4-FFF2-40B4-BE49-F238E27FC236}">
                <a16:creationId xmlns:a16="http://schemas.microsoft.com/office/drawing/2014/main" id="{6E951F0D-6924-4842-A630-055167CE22DD}"/>
              </a:ext>
            </a:extLst>
          </p:cNvPr>
          <p:cNvSpPr>
            <a:spLocks noGrp="1"/>
          </p:cNvSpPr>
          <p:nvPr/>
        </p:nvSpPr>
        <p:spPr>
          <a:xfrm>
            <a:off x="7810500" y="3829050"/>
            <a:ext cx="3048000" cy="19050"/>
          </a:xfrm>
          <a:prstGeom prst="rect">
            <a:avLst/>
          </a:prstGeom>
          <a:solidFill>
            <a:srgbClr val="D7DDE3"/>
          </a:solidFill>
          <a:ln w="0">
            <a:solidFill>
              <a:srgbClr val="D7DDE3"/>
            </a:solidFill>
            <a:prstDash val="solid"/>
          </a:ln>
        </p:spPr>
        <p:txBody>
          <a:bodyPr/>
          <a:lstStyle/>
          <a:p>
            <a:endParaRPr lang="en-US"/>
          </a:p>
        </p:txBody>
      </p:sp>
      <p:sp>
        <p:nvSpPr>
          <p:cNvPr id="53" name="status-0-c">
            <a:extLst>
              <a:ext uri="{FF2B5EF4-FFF2-40B4-BE49-F238E27FC236}">
                <a16:creationId xmlns:a16="http://schemas.microsoft.com/office/drawing/2014/main" id="{27D1C8C8-FE71-B43F-EE3E-C9DFB9198FD9}"/>
              </a:ext>
            </a:extLst>
          </p:cNvPr>
          <p:cNvSpPr>
            <a:spLocks noGrp="1"/>
          </p:cNvSpPr>
          <p:nvPr/>
        </p:nvSpPr>
        <p:spPr>
          <a:xfrm>
            <a:off x="6191250" y="3009900"/>
            <a:ext cx="200025" cy="200025"/>
          </a:xfrm>
          <a:prstGeom prst="ellipse">
            <a:avLst/>
          </a:prstGeom>
          <a:solidFill>
            <a:srgbClr val="FFFFFF"/>
          </a:solidFill>
          <a:ln w="23813">
            <a:solidFill>
              <a:srgbClr val="4C78A8"/>
            </a:solidFill>
            <a:prstDash val="solid"/>
          </a:ln>
        </p:spPr>
        <p:txBody>
          <a:bodyPr/>
          <a:lstStyle/>
          <a:p>
            <a:endParaRPr lang="en-US"/>
          </a:p>
        </p:txBody>
      </p:sp>
      <p:sp>
        <p:nvSpPr>
          <p:cNvPr id="54" name="status-0-t">
            <a:extLst>
              <a:ext uri="{FF2B5EF4-FFF2-40B4-BE49-F238E27FC236}">
                <a16:creationId xmlns:a16="http://schemas.microsoft.com/office/drawing/2014/main" id="{7354F939-ACA9-5C87-3F23-FF65380A3DDB}"/>
              </a:ext>
            </a:extLst>
          </p:cNvPr>
          <p:cNvSpPr>
            <a:spLocks noGrp="1"/>
          </p:cNvSpPr>
          <p:nvPr/>
        </p:nvSpPr>
        <p:spPr>
          <a:xfrm>
            <a:off x="6191250" y="3000375"/>
            <a:ext cx="200025" cy="200025"/>
          </a:xfrm>
          <a:prstGeom prst="rect">
            <a:avLst/>
          </a:prstGeom>
          <a:noFill/>
          <a:ln w="0">
            <a:noFill/>
            <a:prstDash val="solid"/>
          </a:ln>
        </p:spPr>
        <p:txBody>
          <a:bodyPr anchor="ctr"/>
          <a:lstStyle/>
          <a:p>
            <a:pPr algn="ctr">
              <a:defRPr sz="900" b="1">
                <a:solidFill>
                  <a:srgbClr val="4C78A8"/>
                </a:solidFill>
              </a:defRPr>
            </a:pPr>
            <a:r>
              <a:rPr sz="900" b="1" dirty="0">
                <a:solidFill>
                  <a:srgbClr val="4C78A8"/>
                </a:solidFill>
              </a:rPr>
              <a:t>✓</a:t>
            </a:r>
          </a:p>
        </p:txBody>
      </p:sp>
    </p:spTree>
    <p:extLst>
      <p:ext uri="{BB962C8B-B14F-4D97-AF65-F5344CB8AC3E}">
        <p14:creationId xmlns:p14="http://schemas.microsoft.com/office/powerpoint/2010/main" val="218489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nodePh="1">
                                  <p:stCondLst>
                                    <p:cond delay="0"/>
                                  </p:stCondLst>
                                  <p:endCondLst>
                                    <p:cond evt="begin" delay="0">
                                      <p:tn val="28"/>
                                    </p:cond>
                                  </p:end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500"/>
                                        <p:tgtEl>
                                          <p:spTgt spid="2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00"/>
                                        <p:tgtEl>
                                          <p:spTgt spid="2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500"/>
                                        <p:tgtEl>
                                          <p:spTgt spid="3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fade">
                                      <p:cBhvr>
                                        <p:cTn id="48" dur="500"/>
                                        <p:tgtEl>
                                          <p:spTgt spid="3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50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50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500"/>
                                        <p:tgtEl>
                                          <p:spTgt spid="4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1"/>
                                        </p:tgtEl>
                                        <p:attrNameLst>
                                          <p:attrName>style.visibility</p:attrName>
                                        </p:attrNameLst>
                                      </p:cBhvr>
                                      <p:to>
                                        <p:strVal val="visible"/>
                                      </p:to>
                                    </p:set>
                                    <p:animEffect transition="in" filter="fade">
                                      <p:cBhvr>
                                        <p:cTn id="60" dur="500"/>
                                        <p:tgtEl>
                                          <p:spTgt spid="4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fade">
                                      <p:cBhvr>
                                        <p:cTn id="63" dur="500"/>
                                        <p:tgtEl>
                                          <p:spTgt spid="5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54"/>
                                        </p:tgtEl>
                                        <p:attrNameLst>
                                          <p:attrName>style.visibility</p:attrName>
                                        </p:attrNameLst>
                                      </p:cBhvr>
                                      <p:to>
                                        <p:strVal val="visible"/>
                                      </p:to>
                                    </p:set>
                                    <p:animEffect transition="in" filter="fade">
                                      <p:cBhvr>
                                        <p:cTn id="66" dur="500"/>
                                        <p:tgtEl>
                                          <p:spTgt spid="54"/>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fade">
                                      <p:cBhvr>
                                        <p:cTn id="71" dur="500"/>
                                        <p:tgtEl>
                                          <p:spTgt spid="4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fade">
                                      <p:cBhvr>
                                        <p:cTn id="74" dur="500"/>
                                        <p:tgtEl>
                                          <p:spTgt spid="4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Effect transition="in" filter="fade">
                                      <p:cBhvr>
                                        <p:cTn id="77" dur="500"/>
                                        <p:tgtEl>
                                          <p:spTgt spid="4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fade">
                                      <p:cBhvr>
                                        <p:cTn id="80" dur="500"/>
                                        <p:tgtEl>
                                          <p:spTgt spid="4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6"/>
                                        </p:tgtEl>
                                        <p:attrNameLst>
                                          <p:attrName>style.visibility</p:attrName>
                                        </p:attrNameLst>
                                      </p:cBhvr>
                                      <p:to>
                                        <p:strVal val="visible"/>
                                      </p:to>
                                    </p:set>
                                    <p:animEffect transition="in" filter="fade">
                                      <p:cBhvr>
                                        <p:cTn id="83"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P spid="8" grpId="0"/>
      <p:bldP spid="11" grpId="0" animBg="1"/>
      <p:bldP spid="12" grpId="0"/>
      <p:bldP spid="15" grpId="0" animBg="1"/>
      <p:bldP spid="16" grpId="0"/>
      <p:bldP spid="21" grpId="0"/>
      <p:bldP spid="24" grpId="0" animBg="1"/>
      <p:bldP spid="25" grpId="0"/>
      <p:bldP spid="28" grpId="0" animBg="1"/>
      <p:bldP spid="29" grpId="0"/>
      <p:bldP spid="32" grpId="0" animBg="1"/>
      <p:bldP spid="33" grpId="0"/>
      <p:bldP spid="36" grpId="0" animBg="1"/>
      <p:bldP spid="37" grpId="0"/>
      <p:bldP spid="40" grpId="0" animBg="1"/>
      <p:bldP spid="41" grpId="0"/>
      <p:bldP spid="42" grpId="0" animBg="1"/>
      <p:bldP spid="43" grpId="0"/>
      <p:bldP spid="44" grpId="0"/>
      <p:bldP spid="45" grpId="0"/>
      <p:bldP spid="46" grpId="0" animBg="1"/>
      <p:bldP spid="53" grpId="0" animBg="1"/>
      <p:bldP spid="5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itle">
            <a:extLst>
              <a:ext uri="{FF2B5EF4-FFF2-40B4-BE49-F238E27FC236}">
                <a16:creationId xmlns:a16="http://schemas.microsoft.com/office/drawing/2014/main" id="{123B02C4-F3CD-4FF0-86D6-7C92A7C0B2A4}"/>
              </a:ext>
            </a:extLst>
          </p:cNvPr>
          <p:cNvSpPr>
            <a:spLocks noGrp="1"/>
          </p:cNvSpPr>
          <p:nvPr/>
        </p:nvSpPr>
        <p:spPr>
          <a:xfrm>
            <a:off x="666750" y="295275"/>
            <a:ext cx="10858500" cy="552450"/>
          </a:xfrm>
          <a:prstGeom prst="rect">
            <a:avLst/>
          </a:prstGeom>
          <a:noFill/>
          <a:ln w="0">
            <a:noFill/>
          </a:ln>
        </p:spPr>
        <p:txBody>
          <a:bodyPr anchor="t">
            <a:noAutofit/>
          </a:bodyPr>
          <a:lstStyle/>
          <a:p>
            <a:pPr>
              <a:defRPr sz="2850">
                <a:solidFill>
                  <a:srgbClr val="151C23"/>
                </a:solidFill>
                <a:latin typeface="Calibri"/>
                <a:ea typeface="Calibri"/>
                <a:cs typeface="Calibri"/>
              </a:defRPr>
            </a:pPr>
            <a:r>
              <a:rPr sz="2850">
                <a:solidFill>
                  <a:srgbClr val="151C23"/>
                </a:solidFill>
                <a:latin typeface="Calibri"/>
                <a:ea typeface="Calibri"/>
                <a:cs typeface="Calibri"/>
              </a:rPr>
              <a:t>100% Line Coverage Can Still Mean 50% Branch Coverage</a:t>
            </a:r>
          </a:p>
        </p:txBody>
      </p:sp>
      <p:sp>
        <p:nvSpPr>
          <p:cNvPr id="2" name="Subtitle">
            <a:extLst>
              <a:ext uri="{FF2B5EF4-FFF2-40B4-BE49-F238E27FC236}">
                <a16:creationId xmlns:a16="http://schemas.microsoft.com/office/drawing/2014/main" id="{7F12E262-97AE-496D-AFEE-A4D3343774B6}"/>
              </a:ext>
            </a:extLst>
          </p:cNvPr>
          <p:cNvSpPr>
            <a:spLocks noGrp="1"/>
          </p:cNvSpPr>
          <p:nvPr/>
        </p:nvSpPr>
        <p:spPr>
          <a:xfrm>
            <a:off x="704850" y="895350"/>
            <a:ext cx="10668000" cy="371475"/>
          </a:xfrm>
          <a:prstGeom prst="rect">
            <a:avLst/>
          </a:prstGeom>
          <a:noFill/>
          <a:ln w="0">
            <a:noFill/>
          </a:ln>
        </p:spPr>
        <p:txBody>
          <a:bodyPr anchor="t">
            <a:noAutofit/>
          </a:bodyPr>
          <a:lstStyle/>
          <a:p>
            <a:pPr>
              <a:defRPr sz="1650">
                <a:solidFill>
                  <a:srgbClr val="5D6A76"/>
                </a:solidFill>
                <a:latin typeface="Calibri"/>
                <a:ea typeface="Calibri"/>
                <a:cs typeface="Calibri"/>
              </a:defRPr>
            </a:pPr>
            <a:r>
              <a:rPr sz="1650">
                <a:solidFill>
                  <a:srgbClr val="5D6A76"/>
                </a:solidFill>
                <a:latin typeface="Calibri"/>
                <a:ea typeface="Calibri"/>
                <a:cs typeface="Calibri"/>
              </a:rPr>
              <a:t>The same test satisfies line coverage but exercises only one outcome of each decision.</a:t>
            </a:r>
          </a:p>
        </p:txBody>
      </p:sp>
      <p:sp>
        <p:nvSpPr>
          <p:cNvPr id="3" name="Header accent">
            <a:extLst>
              <a:ext uri="{FF2B5EF4-FFF2-40B4-BE49-F238E27FC236}">
                <a16:creationId xmlns:a16="http://schemas.microsoft.com/office/drawing/2014/main" id="{3525BFDC-88A7-4F2B-9092-E6C9F365EB90}"/>
              </a:ext>
            </a:extLst>
          </p:cNvPr>
          <p:cNvSpPr>
            <a:spLocks noGrp="1"/>
          </p:cNvSpPr>
          <p:nvPr/>
        </p:nvSpPr>
        <p:spPr>
          <a:xfrm>
            <a:off x="714375" y="1333500"/>
            <a:ext cx="1619250" cy="0"/>
          </a:xfrm>
          <a:prstGeom prst="line">
            <a:avLst/>
          </a:prstGeom>
          <a:noFill/>
          <a:ln w="38100">
            <a:solidFill>
              <a:srgbClr val="20364D"/>
            </a:solidFill>
          </a:ln>
        </p:spPr>
        <p:txBody>
          <a:bodyPr/>
          <a:lstStyle/>
          <a:p>
            <a:endParaRPr lang="en-US"/>
          </a:p>
        </p:txBody>
      </p:sp>
      <p:sp>
        <p:nvSpPr>
          <p:cNvPr id="4" name="Test banner">
            <a:extLst>
              <a:ext uri="{FF2B5EF4-FFF2-40B4-BE49-F238E27FC236}">
                <a16:creationId xmlns:a16="http://schemas.microsoft.com/office/drawing/2014/main" id="{C0DB0F88-AAFF-407D-97B0-5A9AF109708F}"/>
              </a:ext>
            </a:extLst>
          </p:cNvPr>
          <p:cNvSpPr>
            <a:spLocks noGrp="1"/>
          </p:cNvSpPr>
          <p:nvPr/>
        </p:nvSpPr>
        <p:spPr>
          <a:xfrm>
            <a:off x="3362325" y="1504950"/>
            <a:ext cx="5467350" cy="428625"/>
          </a:xfrm>
          <a:prstGeom prst="roundRect">
            <a:avLst>
              <a:gd name="adj" fmla="val 17778"/>
            </a:avLst>
          </a:prstGeom>
          <a:solidFill>
            <a:srgbClr val="EDF4FA"/>
          </a:solidFill>
          <a:ln w="14288">
            <a:solidFill>
              <a:srgbClr val="3978B7"/>
            </a:solidFill>
          </a:ln>
        </p:spPr>
        <p:txBody>
          <a:bodyPr/>
          <a:lstStyle/>
          <a:p>
            <a:endParaRPr lang="en-US"/>
          </a:p>
        </p:txBody>
      </p:sp>
      <p:sp>
        <p:nvSpPr>
          <p:cNvPr id="5" name="Test text">
            <a:extLst>
              <a:ext uri="{FF2B5EF4-FFF2-40B4-BE49-F238E27FC236}">
                <a16:creationId xmlns:a16="http://schemas.microsoft.com/office/drawing/2014/main" id="{C4D5A021-DBB8-4862-A736-FC7E80500773}"/>
              </a:ext>
            </a:extLst>
          </p:cNvPr>
          <p:cNvSpPr>
            <a:spLocks noGrp="1"/>
          </p:cNvSpPr>
          <p:nvPr/>
        </p:nvSpPr>
        <p:spPr>
          <a:xfrm>
            <a:off x="3514725" y="1590675"/>
            <a:ext cx="5162550" cy="257175"/>
          </a:xfrm>
          <a:prstGeom prst="rect">
            <a:avLst/>
          </a:prstGeom>
          <a:noFill/>
          <a:ln w="0">
            <a:noFill/>
          </a:ln>
        </p:spPr>
        <p:txBody>
          <a:bodyPr anchor="t">
            <a:noAutofit/>
          </a:bodyPr>
          <a:lstStyle/>
          <a:p>
            <a:pPr algn="ctr">
              <a:defRPr sz="1575" b="1">
                <a:solidFill>
                  <a:srgbClr val="20364D"/>
                </a:solidFill>
                <a:latin typeface="Calibri"/>
                <a:ea typeface="Calibri"/>
                <a:cs typeface="Calibri"/>
              </a:defRPr>
            </a:pPr>
            <a:r>
              <a:rPr sz="1575" b="1">
                <a:solidFill>
                  <a:srgbClr val="20364D"/>
                </a:solidFill>
                <a:latin typeface="Calibri"/>
                <a:ea typeface="Calibri"/>
                <a:cs typeface="Calibri"/>
              </a:rPr>
              <a:t>Test:  foo(0, true, true, true) == 0</a:t>
            </a:r>
          </a:p>
        </p:txBody>
      </p:sp>
      <p:sp>
        <p:nvSpPr>
          <p:cNvPr id="6" name="Code panel">
            <a:extLst>
              <a:ext uri="{FF2B5EF4-FFF2-40B4-BE49-F238E27FC236}">
                <a16:creationId xmlns:a16="http://schemas.microsoft.com/office/drawing/2014/main" id="{8C5D8B19-F3D6-40FF-AD7C-704DADA7E810}"/>
              </a:ext>
            </a:extLst>
          </p:cNvPr>
          <p:cNvSpPr>
            <a:spLocks noGrp="1"/>
          </p:cNvSpPr>
          <p:nvPr/>
        </p:nvSpPr>
        <p:spPr>
          <a:xfrm>
            <a:off x="685800" y="2047875"/>
            <a:ext cx="4762500" cy="3143250"/>
          </a:xfrm>
          <a:prstGeom prst="roundRect">
            <a:avLst>
              <a:gd name="adj" fmla="val 2424"/>
            </a:avLst>
          </a:prstGeom>
          <a:solidFill>
            <a:srgbClr val="F4F6F8"/>
          </a:solidFill>
          <a:ln w="14288">
            <a:solidFill>
              <a:srgbClr val="20364D"/>
            </a:solidFill>
          </a:ln>
        </p:spPr>
        <p:txBody>
          <a:bodyPr/>
          <a:lstStyle/>
          <a:p>
            <a:endParaRPr lang="en-US"/>
          </a:p>
        </p:txBody>
      </p:sp>
      <p:sp>
        <p:nvSpPr>
          <p:cNvPr id="7" name="Code label">
            <a:extLst>
              <a:ext uri="{FF2B5EF4-FFF2-40B4-BE49-F238E27FC236}">
                <a16:creationId xmlns:a16="http://schemas.microsoft.com/office/drawing/2014/main" id="{E160F9FA-C72D-41C4-A268-6203CEFC1AC7}"/>
              </a:ext>
            </a:extLst>
          </p:cNvPr>
          <p:cNvSpPr>
            <a:spLocks noGrp="1"/>
          </p:cNvSpPr>
          <p:nvPr/>
        </p:nvSpPr>
        <p:spPr>
          <a:xfrm>
            <a:off x="895350" y="2200275"/>
            <a:ext cx="4286250" cy="238125"/>
          </a:xfrm>
          <a:prstGeom prst="rect">
            <a:avLst/>
          </a:prstGeom>
          <a:noFill/>
          <a:ln w="0">
            <a:noFill/>
          </a:ln>
        </p:spPr>
        <p:txBody>
          <a:bodyPr anchor="t">
            <a:noAutofit/>
          </a:bodyPr>
          <a:lstStyle/>
          <a:p>
            <a:pPr>
              <a:defRPr sz="1200" b="1">
                <a:solidFill>
                  <a:srgbClr val="5D6A76"/>
                </a:solidFill>
                <a:latin typeface="Calibri"/>
                <a:ea typeface="Calibri"/>
                <a:cs typeface="Calibri"/>
              </a:defRPr>
            </a:pPr>
            <a:r>
              <a:rPr sz="1200" b="1">
                <a:solidFill>
                  <a:srgbClr val="5D6A76"/>
                </a:solidFill>
                <a:latin typeface="Calibri"/>
                <a:ea typeface="Calibri"/>
                <a:cs typeface="Calibri"/>
              </a:rPr>
              <a:t>FUNCTION UNDER TEST</a:t>
            </a:r>
          </a:p>
        </p:txBody>
      </p:sp>
      <p:sp>
        <p:nvSpPr>
          <p:cNvPr id="8" name="Code">
            <a:extLst>
              <a:ext uri="{FF2B5EF4-FFF2-40B4-BE49-F238E27FC236}">
                <a16:creationId xmlns:a16="http://schemas.microsoft.com/office/drawing/2014/main" id="{F0307A45-40FC-40EE-B6E6-65FE3628FEC4}"/>
              </a:ext>
            </a:extLst>
          </p:cNvPr>
          <p:cNvSpPr>
            <a:spLocks noGrp="1"/>
          </p:cNvSpPr>
          <p:nvPr/>
        </p:nvSpPr>
        <p:spPr>
          <a:xfrm>
            <a:off x="962025" y="2628900"/>
            <a:ext cx="4171950" cy="2143125"/>
          </a:xfrm>
          <a:prstGeom prst="rect">
            <a:avLst/>
          </a:prstGeom>
          <a:noFill/>
          <a:ln w="0">
            <a:noFill/>
          </a:ln>
        </p:spPr>
        <p:txBody>
          <a:bodyPr anchor="t">
            <a:noAutofit/>
          </a:bodyPr>
          <a:lstStyle/>
          <a:p>
            <a:pPr>
              <a:defRPr sz="1500">
                <a:solidFill>
                  <a:srgbClr val="1F2B35"/>
                </a:solidFill>
                <a:latin typeface="Calibri"/>
                <a:ea typeface="Calibri"/>
                <a:cs typeface="Calibri"/>
              </a:defRPr>
            </a:pPr>
            <a:r>
              <a:rPr sz="1500">
                <a:solidFill>
                  <a:srgbClr val="1F2B35"/>
                </a:solidFill>
                <a:latin typeface="Calibri"/>
                <a:ea typeface="Calibri"/>
                <a:cs typeface="Calibri"/>
              </a:rPr>
              <a:t>int foo(int input, bool b1, bool b2, bool b3) {</a:t>
            </a:r>
          </a:p>
          <a:p>
            <a:pPr>
              <a:defRPr sz="1500">
                <a:solidFill>
                  <a:srgbClr val="1F2B35"/>
                </a:solidFill>
                <a:latin typeface="Calibri"/>
                <a:ea typeface="Calibri"/>
                <a:cs typeface="Calibri"/>
              </a:defRPr>
            </a:pPr>
            <a:r>
              <a:rPr sz="1500">
                <a:solidFill>
                  <a:srgbClr val="1F2B35"/>
                </a:solidFill>
                <a:latin typeface="Calibri"/>
                <a:ea typeface="Calibri"/>
                <a:cs typeface="Calibri"/>
              </a:rPr>
              <a:t>    int x = input;</a:t>
            </a:r>
          </a:p>
          <a:p>
            <a:pPr>
              <a:defRPr sz="1500">
                <a:solidFill>
                  <a:srgbClr val="1F2B35"/>
                </a:solidFill>
                <a:latin typeface="Calibri"/>
                <a:ea typeface="Calibri"/>
                <a:cs typeface="Calibri"/>
              </a:defRPr>
            </a:pPr>
            <a:r>
              <a:rPr sz="1500">
                <a:solidFill>
                  <a:srgbClr val="1F2B35"/>
                </a:solidFill>
                <a:latin typeface="Calibri"/>
                <a:ea typeface="Calibri"/>
                <a:cs typeface="Calibri"/>
              </a:rPr>
              <a:t>    int y = 0;</a:t>
            </a:r>
          </a:p>
          <a:p>
            <a:pPr>
              <a:defRPr sz="1500">
                <a:solidFill>
                  <a:srgbClr val="1F2B35"/>
                </a:solidFill>
                <a:latin typeface="Calibri"/>
                <a:ea typeface="Calibri"/>
                <a:cs typeface="Calibri"/>
              </a:defRPr>
            </a:pPr>
            <a:r>
              <a:rPr sz="1500">
                <a:solidFill>
                  <a:srgbClr val="1F2B35"/>
                </a:solidFill>
                <a:latin typeface="Calibri"/>
                <a:ea typeface="Calibri"/>
                <a:cs typeface="Calibri"/>
              </a:rPr>
              <a:t>    if (b1) x++;</a:t>
            </a:r>
          </a:p>
          <a:p>
            <a:pPr>
              <a:defRPr sz="1500">
                <a:solidFill>
                  <a:srgbClr val="1F2B35"/>
                </a:solidFill>
                <a:latin typeface="Calibri"/>
                <a:ea typeface="Calibri"/>
                <a:cs typeface="Calibri"/>
              </a:defRPr>
            </a:pPr>
            <a:r>
              <a:rPr sz="1500">
                <a:solidFill>
                  <a:srgbClr val="1F2B35"/>
                </a:solidFill>
                <a:latin typeface="Calibri"/>
                <a:ea typeface="Calibri"/>
                <a:cs typeface="Calibri"/>
              </a:rPr>
              <a:t>    if (b2) x--;</a:t>
            </a:r>
          </a:p>
          <a:p>
            <a:pPr>
              <a:defRPr sz="1500">
                <a:solidFill>
                  <a:srgbClr val="1F2B35"/>
                </a:solidFill>
                <a:latin typeface="Calibri"/>
                <a:ea typeface="Calibri"/>
                <a:cs typeface="Calibri"/>
              </a:defRPr>
            </a:pPr>
            <a:r>
              <a:rPr sz="1500">
                <a:solidFill>
                  <a:srgbClr val="1F2B35"/>
                </a:solidFill>
                <a:latin typeface="Calibri"/>
                <a:ea typeface="Calibri"/>
                <a:cs typeface="Calibri"/>
              </a:rPr>
              <a:t>    if (b3) y = x;</a:t>
            </a:r>
          </a:p>
          <a:p>
            <a:pPr>
              <a:defRPr sz="1500">
                <a:solidFill>
                  <a:srgbClr val="1F2B35"/>
                </a:solidFill>
                <a:latin typeface="Calibri"/>
                <a:ea typeface="Calibri"/>
                <a:cs typeface="Calibri"/>
              </a:defRPr>
            </a:pPr>
            <a:r>
              <a:rPr sz="1500">
                <a:solidFill>
                  <a:srgbClr val="1F2B35"/>
                </a:solidFill>
                <a:latin typeface="Calibri"/>
                <a:ea typeface="Calibri"/>
                <a:cs typeface="Calibri"/>
              </a:rPr>
              <a:t>    return y;</a:t>
            </a:r>
          </a:p>
          <a:p>
            <a:pPr>
              <a:defRPr sz="1500">
                <a:solidFill>
                  <a:srgbClr val="1F2B35"/>
                </a:solidFill>
                <a:latin typeface="Calibri"/>
                <a:ea typeface="Calibri"/>
                <a:cs typeface="Calibri"/>
              </a:defRPr>
            </a:pPr>
            <a:r>
              <a:rPr sz="1500">
                <a:solidFill>
                  <a:srgbClr val="1F2B35"/>
                </a:solidFill>
                <a:latin typeface="Calibri"/>
                <a:ea typeface="Calibri"/>
                <a:cs typeface="Calibri"/>
              </a:rPr>
              <a:t>}</a:t>
            </a:r>
          </a:p>
        </p:txBody>
      </p:sp>
      <p:sp>
        <p:nvSpPr>
          <p:cNvPr id="9" name="Decision count">
            <a:extLst>
              <a:ext uri="{FF2B5EF4-FFF2-40B4-BE49-F238E27FC236}">
                <a16:creationId xmlns:a16="http://schemas.microsoft.com/office/drawing/2014/main" id="{5CE1AD63-ABC0-4DAD-A79C-A5E056DE6B5A}"/>
              </a:ext>
            </a:extLst>
          </p:cNvPr>
          <p:cNvSpPr>
            <a:spLocks noGrp="1"/>
          </p:cNvSpPr>
          <p:nvPr/>
        </p:nvSpPr>
        <p:spPr>
          <a:xfrm>
            <a:off x="952500" y="4810125"/>
            <a:ext cx="4191000" cy="2762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3 decisions × 2 outcomes = 6 branches</a:t>
            </a:r>
          </a:p>
        </p:txBody>
      </p:sp>
      <p:sp>
        <p:nvSpPr>
          <p:cNvPr id="10" name="Matrix label">
            <a:extLst>
              <a:ext uri="{FF2B5EF4-FFF2-40B4-BE49-F238E27FC236}">
                <a16:creationId xmlns:a16="http://schemas.microsoft.com/office/drawing/2014/main" id="{BB06DAFB-D584-47C5-BE6A-77928026B2B4}"/>
              </a:ext>
            </a:extLst>
          </p:cNvPr>
          <p:cNvSpPr>
            <a:spLocks noGrp="1"/>
          </p:cNvSpPr>
          <p:nvPr/>
        </p:nvSpPr>
        <p:spPr>
          <a:xfrm>
            <a:off x="5829300" y="2190750"/>
            <a:ext cx="3676650" cy="257175"/>
          </a:xfrm>
          <a:prstGeom prst="rect">
            <a:avLst/>
          </a:prstGeom>
          <a:noFill/>
          <a:ln w="0">
            <a:noFill/>
          </a:ln>
        </p:spPr>
        <p:txBody>
          <a:bodyPr anchor="t">
            <a:noAutofit/>
          </a:bodyPr>
          <a:lstStyle/>
          <a:p>
            <a:pPr algn="ctr">
              <a:defRPr sz="1275" b="1">
                <a:solidFill>
                  <a:srgbClr val="5D6A76"/>
                </a:solidFill>
                <a:latin typeface="Calibri"/>
                <a:ea typeface="Calibri"/>
                <a:cs typeface="Calibri"/>
              </a:defRPr>
            </a:pPr>
            <a:r>
              <a:rPr sz="1275" b="1">
                <a:solidFill>
                  <a:srgbClr val="5D6A76"/>
                </a:solidFill>
                <a:latin typeface="Calibri"/>
                <a:ea typeface="Calibri"/>
                <a:cs typeface="Calibri"/>
              </a:rPr>
              <a:t>BRANCH OUTCOMES</a:t>
            </a:r>
          </a:p>
        </p:txBody>
      </p:sp>
      <p:sp>
        <p:nvSpPr>
          <p:cNvPr id="11" name="Decision header">
            <a:extLst>
              <a:ext uri="{FF2B5EF4-FFF2-40B4-BE49-F238E27FC236}">
                <a16:creationId xmlns:a16="http://schemas.microsoft.com/office/drawing/2014/main" id="{8781B274-E193-4B2B-B58F-9F615EEB9F48}"/>
              </a:ext>
            </a:extLst>
          </p:cNvPr>
          <p:cNvSpPr>
            <a:spLocks noGrp="1"/>
          </p:cNvSpPr>
          <p:nvPr/>
        </p:nvSpPr>
        <p:spPr>
          <a:xfrm>
            <a:off x="6000750" y="2590800"/>
            <a:ext cx="962025" cy="295275"/>
          </a:xfrm>
          <a:prstGeom prst="rect">
            <a:avLst/>
          </a:prstGeom>
          <a:noFill/>
          <a:ln w="0">
            <a:noFill/>
          </a:ln>
        </p:spPr>
        <p:txBody>
          <a:bodyPr anchor="t">
            <a:noAutofit/>
          </a:bodyPr>
          <a:lstStyle/>
          <a:p>
            <a:pPr algn="ctr">
              <a:defRPr sz="1350" b="1">
                <a:solidFill>
                  <a:srgbClr val="20364D"/>
                </a:solidFill>
                <a:latin typeface="Calibri"/>
                <a:ea typeface="Calibri"/>
                <a:cs typeface="Calibri"/>
              </a:defRPr>
            </a:pPr>
            <a:r>
              <a:rPr sz="1350" b="1">
                <a:solidFill>
                  <a:srgbClr val="20364D"/>
                </a:solidFill>
                <a:latin typeface="Calibri"/>
                <a:ea typeface="Calibri"/>
                <a:cs typeface="Calibri"/>
              </a:rPr>
              <a:t>Decision</a:t>
            </a:r>
          </a:p>
        </p:txBody>
      </p:sp>
      <p:sp>
        <p:nvSpPr>
          <p:cNvPr id="12" name="True header">
            <a:extLst>
              <a:ext uri="{FF2B5EF4-FFF2-40B4-BE49-F238E27FC236}">
                <a16:creationId xmlns:a16="http://schemas.microsoft.com/office/drawing/2014/main" id="{4B50F161-78D4-40E3-B6EB-B11F46F562DF}"/>
              </a:ext>
            </a:extLst>
          </p:cNvPr>
          <p:cNvSpPr>
            <a:spLocks noGrp="1"/>
          </p:cNvSpPr>
          <p:nvPr/>
        </p:nvSpPr>
        <p:spPr>
          <a:xfrm>
            <a:off x="6962775" y="2590800"/>
            <a:ext cx="1190625" cy="295275"/>
          </a:xfrm>
          <a:prstGeom prst="rect">
            <a:avLst/>
          </a:prstGeom>
          <a:noFill/>
          <a:ln w="0">
            <a:noFill/>
          </a:ln>
        </p:spPr>
        <p:txBody>
          <a:bodyPr anchor="t">
            <a:noAutofit/>
          </a:bodyPr>
          <a:lstStyle/>
          <a:p>
            <a:pPr algn="ctr">
              <a:defRPr sz="1350" b="1">
                <a:solidFill>
                  <a:srgbClr val="2E7D32"/>
                </a:solidFill>
                <a:latin typeface="Calibri"/>
                <a:ea typeface="Calibri"/>
                <a:cs typeface="Calibri"/>
              </a:defRPr>
            </a:pPr>
            <a:r>
              <a:rPr sz="1350" b="1">
                <a:solidFill>
                  <a:srgbClr val="2E7D32"/>
                </a:solidFill>
                <a:latin typeface="Calibri"/>
                <a:ea typeface="Calibri"/>
                <a:cs typeface="Calibri"/>
              </a:rPr>
              <a:t>True</a:t>
            </a:r>
          </a:p>
        </p:txBody>
      </p:sp>
      <p:sp>
        <p:nvSpPr>
          <p:cNvPr id="13" name="False header">
            <a:extLst>
              <a:ext uri="{FF2B5EF4-FFF2-40B4-BE49-F238E27FC236}">
                <a16:creationId xmlns:a16="http://schemas.microsoft.com/office/drawing/2014/main" id="{9DE28E97-D21E-467C-A84C-B94F019683EF}"/>
              </a:ext>
            </a:extLst>
          </p:cNvPr>
          <p:cNvSpPr>
            <a:spLocks noGrp="1"/>
          </p:cNvSpPr>
          <p:nvPr/>
        </p:nvSpPr>
        <p:spPr>
          <a:xfrm>
            <a:off x="8153400" y="2590800"/>
            <a:ext cx="1190625" cy="295275"/>
          </a:xfrm>
          <a:prstGeom prst="rect">
            <a:avLst/>
          </a:prstGeom>
          <a:noFill/>
          <a:ln w="0">
            <a:noFill/>
          </a:ln>
        </p:spPr>
        <p:txBody>
          <a:bodyPr anchor="t">
            <a:noAutofit/>
          </a:bodyPr>
          <a:lstStyle/>
          <a:p>
            <a:pPr algn="ctr">
              <a:defRPr sz="1350" b="1">
                <a:solidFill>
                  <a:srgbClr val="C62828"/>
                </a:solidFill>
                <a:latin typeface="Calibri"/>
                <a:ea typeface="Calibri"/>
                <a:cs typeface="Calibri"/>
              </a:defRPr>
            </a:pPr>
            <a:r>
              <a:rPr sz="1350" b="1">
                <a:solidFill>
                  <a:srgbClr val="C62828"/>
                </a:solidFill>
                <a:latin typeface="Calibri"/>
                <a:ea typeface="Calibri"/>
                <a:cs typeface="Calibri"/>
              </a:rPr>
              <a:t>False</a:t>
            </a:r>
          </a:p>
        </p:txBody>
      </p:sp>
      <p:sp>
        <p:nvSpPr>
          <p:cNvPr id="14" name="Matrix header rule">
            <a:extLst>
              <a:ext uri="{FF2B5EF4-FFF2-40B4-BE49-F238E27FC236}">
                <a16:creationId xmlns:a16="http://schemas.microsoft.com/office/drawing/2014/main" id="{978786E2-FDC4-459B-B880-27C7F49E5D35}"/>
              </a:ext>
            </a:extLst>
          </p:cNvPr>
          <p:cNvSpPr>
            <a:spLocks noGrp="1"/>
          </p:cNvSpPr>
          <p:nvPr/>
        </p:nvSpPr>
        <p:spPr>
          <a:xfrm>
            <a:off x="6019800" y="2924175"/>
            <a:ext cx="3295650" cy="0"/>
          </a:xfrm>
          <a:prstGeom prst="line">
            <a:avLst/>
          </a:prstGeom>
          <a:noFill/>
          <a:ln w="14288">
            <a:solidFill>
              <a:srgbClr val="CDD5DC"/>
            </a:solidFill>
          </a:ln>
        </p:spPr>
        <p:txBody>
          <a:bodyPr/>
          <a:lstStyle/>
          <a:p>
            <a:endParaRPr lang="en-US"/>
          </a:p>
        </p:txBody>
      </p:sp>
      <p:sp>
        <p:nvSpPr>
          <p:cNvPr id="15" name="Decision 0">
            <a:extLst>
              <a:ext uri="{FF2B5EF4-FFF2-40B4-BE49-F238E27FC236}">
                <a16:creationId xmlns:a16="http://schemas.microsoft.com/office/drawing/2014/main" id="{DDFE2469-2B4E-496C-819E-FA478A429E86}"/>
              </a:ext>
            </a:extLst>
          </p:cNvPr>
          <p:cNvSpPr>
            <a:spLocks noGrp="1"/>
          </p:cNvSpPr>
          <p:nvPr/>
        </p:nvSpPr>
        <p:spPr>
          <a:xfrm>
            <a:off x="6238875" y="3067050"/>
            <a:ext cx="495300" cy="409575"/>
          </a:xfrm>
          <a:prstGeom prst="roundRect">
            <a:avLst>
              <a:gd name="adj" fmla="val 18605"/>
            </a:avLst>
          </a:prstGeom>
          <a:solidFill>
            <a:srgbClr val="FFFFFF"/>
          </a:solidFill>
          <a:ln w="14288">
            <a:solidFill>
              <a:srgbClr val="20364D"/>
            </a:solidFill>
          </a:ln>
        </p:spPr>
        <p:txBody>
          <a:bodyPr/>
          <a:lstStyle/>
          <a:p>
            <a:endParaRPr lang="en-US"/>
          </a:p>
        </p:txBody>
      </p:sp>
      <p:sp>
        <p:nvSpPr>
          <p:cNvPr id="16" name="Decision text 0">
            <a:extLst>
              <a:ext uri="{FF2B5EF4-FFF2-40B4-BE49-F238E27FC236}">
                <a16:creationId xmlns:a16="http://schemas.microsoft.com/office/drawing/2014/main" id="{F6BAC1F1-F4C5-4F15-BB7C-52061BBFCF8A}"/>
              </a:ext>
            </a:extLst>
          </p:cNvPr>
          <p:cNvSpPr>
            <a:spLocks noGrp="1"/>
          </p:cNvSpPr>
          <p:nvPr/>
        </p:nvSpPr>
        <p:spPr>
          <a:xfrm>
            <a:off x="6238875" y="3143250"/>
            <a:ext cx="49530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b1</a:t>
            </a:r>
          </a:p>
        </p:txBody>
      </p:sp>
      <p:sp>
        <p:nvSpPr>
          <p:cNvPr id="17" name="True cell 0">
            <a:extLst>
              <a:ext uri="{FF2B5EF4-FFF2-40B4-BE49-F238E27FC236}">
                <a16:creationId xmlns:a16="http://schemas.microsoft.com/office/drawing/2014/main" id="{CD19CFC3-4C99-42B1-BD56-46DA4512427D}"/>
              </a:ext>
            </a:extLst>
          </p:cNvPr>
          <p:cNvSpPr>
            <a:spLocks noGrp="1"/>
          </p:cNvSpPr>
          <p:nvPr/>
        </p:nvSpPr>
        <p:spPr>
          <a:xfrm>
            <a:off x="7019925" y="3067050"/>
            <a:ext cx="1076325" cy="409575"/>
          </a:xfrm>
          <a:prstGeom prst="roundRect">
            <a:avLst>
              <a:gd name="adj" fmla="val 18605"/>
            </a:avLst>
          </a:prstGeom>
          <a:solidFill>
            <a:srgbClr val="EAF5EC"/>
          </a:solidFill>
          <a:ln w="14288">
            <a:solidFill>
              <a:srgbClr val="2E7D32"/>
            </a:solidFill>
          </a:ln>
        </p:spPr>
        <p:txBody>
          <a:bodyPr/>
          <a:lstStyle/>
          <a:p>
            <a:endParaRPr lang="en-US"/>
          </a:p>
        </p:txBody>
      </p:sp>
      <p:sp>
        <p:nvSpPr>
          <p:cNvPr id="18" name="True text 0">
            <a:extLst>
              <a:ext uri="{FF2B5EF4-FFF2-40B4-BE49-F238E27FC236}">
                <a16:creationId xmlns:a16="http://schemas.microsoft.com/office/drawing/2014/main" id="{69160123-64B4-400A-BA42-984D475D58EB}"/>
              </a:ext>
            </a:extLst>
          </p:cNvPr>
          <p:cNvSpPr>
            <a:spLocks noGrp="1"/>
          </p:cNvSpPr>
          <p:nvPr/>
        </p:nvSpPr>
        <p:spPr>
          <a:xfrm>
            <a:off x="7038975" y="3152775"/>
            <a:ext cx="1038225" cy="22860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Covered</a:t>
            </a:r>
          </a:p>
        </p:txBody>
      </p:sp>
      <p:sp>
        <p:nvSpPr>
          <p:cNvPr id="19" name="False cell 0">
            <a:extLst>
              <a:ext uri="{FF2B5EF4-FFF2-40B4-BE49-F238E27FC236}">
                <a16:creationId xmlns:a16="http://schemas.microsoft.com/office/drawing/2014/main" id="{FC71ECCC-6D5B-4A54-A661-3FD2BFA2C4B9}"/>
              </a:ext>
            </a:extLst>
          </p:cNvPr>
          <p:cNvSpPr>
            <a:spLocks noGrp="1"/>
          </p:cNvSpPr>
          <p:nvPr/>
        </p:nvSpPr>
        <p:spPr>
          <a:xfrm>
            <a:off x="8210550" y="3067050"/>
            <a:ext cx="1076325" cy="409575"/>
          </a:xfrm>
          <a:prstGeom prst="roundRect">
            <a:avLst>
              <a:gd name="adj" fmla="val 18605"/>
            </a:avLst>
          </a:prstGeom>
          <a:solidFill>
            <a:srgbClr val="FDEEEE"/>
          </a:solidFill>
          <a:ln w="14288">
            <a:solidFill>
              <a:srgbClr val="C62828"/>
            </a:solidFill>
          </a:ln>
        </p:spPr>
        <p:txBody>
          <a:bodyPr/>
          <a:lstStyle/>
          <a:p>
            <a:endParaRPr lang="en-US"/>
          </a:p>
        </p:txBody>
      </p:sp>
      <p:sp>
        <p:nvSpPr>
          <p:cNvPr id="20" name="False text 0">
            <a:extLst>
              <a:ext uri="{FF2B5EF4-FFF2-40B4-BE49-F238E27FC236}">
                <a16:creationId xmlns:a16="http://schemas.microsoft.com/office/drawing/2014/main" id="{2ACE11B2-8FD1-4B2F-BC13-7BFCD66687B6}"/>
              </a:ext>
            </a:extLst>
          </p:cNvPr>
          <p:cNvSpPr>
            <a:spLocks noGrp="1"/>
          </p:cNvSpPr>
          <p:nvPr/>
        </p:nvSpPr>
        <p:spPr>
          <a:xfrm>
            <a:off x="8229600" y="3152775"/>
            <a:ext cx="1038225" cy="228600"/>
          </a:xfrm>
          <a:prstGeom prst="rect">
            <a:avLst/>
          </a:prstGeom>
          <a:noFill/>
          <a:ln w="0">
            <a:noFill/>
          </a:ln>
        </p:spPr>
        <p:txBody>
          <a:bodyPr anchor="t">
            <a:noAutofit/>
          </a:bodyPr>
          <a:lstStyle/>
          <a:p>
            <a:pPr algn="ctr">
              <a:defRPr sz="1125" b="1">
                <a:solidFill>
                  <a:srgbClr val="C62828"/>
                </a:solidFill>
                <a:latin typeface="Calibri"/>
                <a:ea typeface="Calibri"/>
                <a:cs typeface="Calibri"/>
              </a:defRPr>
            </a:pPr>
            <a:r>
              <a:rPr sz="1125" b="1">
                <a:solidFill>
                  <a:srgbClr val="C62828"/>
                </a:solidFill>
                <a:latin typeface="Calibri"/>
                <a:ea typeface="Calibri"/>
                <a:cs typeface="Calibri"/>
              </a:rPr>
              <a:t>Not covered</a:t>
            </a:r>
          </a:p>
        </p:txBody>
      </p:sp>
      <p:sp>
        <p:nvSpPr>
          <p:cNvPr id="21" name="Decision 1">
            <a:extLst>
              <a:ext uri="{FF2B5EF4-FFF2-40B4-BE49-F238E27FC236}">
                <a16:creationId xmlns:a16="http://schemas.microsoft.com/office/drawing/2014/main" id="{A426B8A9-03AE-49E6-ADFC-244A71657C80}"/>
              </a:ext>
            </a:extLst>
          </p:cNvPr>
          <p:cNvSpPr>
            <a:spLocks noGrp="1"/>
          </p:cNvSpPr>
          <p:nvPr/>
        </p:nvSpPr>
        <p:spPr>
          <a:xfrm>
            <a:off x="6238875" y="3781425"/>
            <a:ext cx="495300" cy="409575"/>
          </a:xfrm>
          <a:prstGeom prst="roundRect">
            <a:avLst>
              <a:gd name="adj" fmla="val 18605"/>
            </a:avLst>
          </a:prstGeom>
          <a:solidFill>
            <a:srgbClr val="FFFFFF"/>
          </a:solidFill>
          <a:ln w="14288">
            <a:solidFill>
              <a:srgbClr val="20364D"/>
            </a:solidFill>
          </a:ln>
        </p:spPr>
        <p:txBody>
          <a:bodyPr/>
          <a:lstStyle/>
          <a:p>
            <a:endParaRPr lang="en-US"/>
          </a:p>
        </p:txBody>
      </p:sp>
      <p:sp>
        <p:nvSpPr>
          <p:cNvPr id="22" name="Decision text 1">
            <a:extLst>
              <a:ext uri="{FF2B5EF4-FFF2-40B4-BE49-F238E27FC236}">
                <a16:creationId xmlns:a16="http://schemas.microsoft.com/office/drawing/2014/main" id="{0C1EE95A-C8FE-49A2-8AED-458525D96463}"/>
              </a:ext>
            </a:extLst>
          </p:cNvPr>
          <p:cNvSpPr>
            <a:spLocks noGrp="1"/>
          </p:cNvSpPr>
          <p:nvPr/>
        </p:nvSpPr>
        <p:spPr>
          <a:xfrm>
            <a:off x="6238875" y="3857625"/>
            <a:ext cx="49530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b2</a:t>
            </a:r>
          </a:p>
        </p:txBody>
      </p:sp>
      <p:sp>
        <p:nvSpPr>
          <p:cNvPr id="23" name="True cell 1">
            <a:extLst>
              <a:ext uri="{FF2B5EF4-FFF2-40B4-BE49-F238E27FC236}">
                <a16:creationId xmlns:a16="http://schemas.microsoft.com/office/drawing/2014/main" id="{B7B95EFB-DF84-4EDE-BCF9-311C1C87A0F4}"/>
              </a:ext>
            </a:extLst>
          </p:cNvPr>
          <p:cNvSpPr>
            <a:spLocks noGrp="1"/>
          </p:cNvSpPr>
          <p:nvPr/>
        </p:nvSpPr>
        <p:spPr>
          <a:xfrm>
            <a:off x="7019925" y="3781425"/>
            <a:ext cx="1076325" cy="409575"/>
          </a:xfrm>
          <a:prstGeom prst="roundRect">
            <a:avLst>
              <a:gd name="adj" fmla="val 18605"/>
            </a:avLst>
          </a:prstGeom>
          <a:solidFill>
            <a:srgbClr val="EAF5EC"/>
          </a:solidFill>
          <a:ln w="14288">
            <a:solidFill>
              <a:srgbClr val="2E7D32"/>
            </a:solidFill>
          </a:ln>
        </p:spPr>
        <p:txBody>
          <a:bodyPr/>
          <a:lstStyle/>
          <a:p>
            <a:endParaRPr lang="en-US"/>
          </a:p>
        </p:txBody>
      </p:sp>
      <p:sp>
        <p:nvSpPr>
          <p:cNvPr id="24" name="True text 1">
            <a:extLst>
              <a:ext uri="{FF2B5EF4-FFF2-40B4-BE49-F238E27FC236}">
                <a16:creationId xmlns:a16="http://schemas.microsoft.com/office/drawing/2014/main" id="{224A71F1-E382-4F1F-8463-7D25BF3460AC}"/>
              </a:ext>
            </a:extLst>
          </p:cNvPr>
          <p:cNvSpPr>
            <a:spLocks noGrp="1"/>
          </p:cNvSpPr>
          <p:nvPr/>
        </p:nvSpPr>
        <p:spPr>
          <a:xfrm>
            <a:off x="7038975" y="3867150"/>
            <a:ext cx="1038225" cy="22860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Covered</a:t>
            </a:r>
          </a:p>
        </p:txBody>
      </p:sp>
      <p:sp>
        <p:nvSpPr>
          <p:cNvPr id="25" name="False cell 1">
            <a:extLst>
              <a:ext uri="{FF2B5EF4-FFF2-40B4-BE49-F238E27FC236}">
                <a16:creationId xmlns:a16="http://schemas.microsoft.com/office/drawing/2014/main" id="{8AE6FD20-57E4-47C5-97AB-EC83885CFF19}"/>
              </a:ext>
            </a:extLst>
          </p:cNvPr>
          <p:cNvSpPr>
            <a:spLocks noGrp="1"/>
          </p:cNvSpPr>
          <p:nvPr/>
        </p:nvSpPr>
        <p:spPr>
          <a:xfrm>
            <a:off x="8210550" y="3781425"/>
            <a:ext cx="1076325" cy="409575"/>
          </a:xfrm>
          <a:prstGeom prst="roundRect">
            <a:avLst>
              <a:gd name="adj" fmla="val 18605"/>
            </a:avLst>
          </a:prstGeom>
          <a:solidFill>
            <a:srgbClr val="FDEEEE"/>
          </a:solidFill>
          <a:ln w="14288">
            <a:solidFill>
              <a:srgbClr val="C62828"/>
            </a:solidFill>
          </a:ln>
        </p:spPr>
        <p:txBody>
          <a:bodyPr/>
          <a:lstStyle/>
          <a:p>
            <a:endParaRPr lang="en-US"/>
          </a:p>
        </p:txBody>
      </p:sp>
      <p:sp>
        <p:nvSpPr>
          <p:cNvPr id="26" name="False text 1">
            <a:extLst>
              <a:ext uri="{FF2B5EF4-FFF2-40B4-BE49-F238E27FC236}">
                <a16:creationId xmlns:a16="http://schemas.microsoft.com/office/drawing/2014/main" id="{EB37775B-7959-407B-BA30-A67F7A7040CD}"/>
              </a:ext>
            </a:extLst>
          </p:cNvPr>
          <p:cNvSpPr>
            <a:spLocks noGrp="1"/>
          </p:cNvSpPr>
          <p:nvPr/>
        </p:nvSpPr>
        <p:spPr>
          <a:xfrm>
            <a:off x="8229600" y="3867150"/>
            <a:ext cx="1038225" cy="228600"/>
          </a:xfrm>
          <a:prstGeom prst="rect">
            <a:avLst/>
          </a:prstGeom>
          <a:noFill/>
          <a:ln w="0">
            <a:noFill/>
          </a:ln>
        </p:spPr>
        <p:txBody>
          <a:bodyPr anchor="t">
            <a:noAutofit/>
          </a:bodyPr>
          <a:lstStyle/>
          <a:p>
            <a:pPr algn="ctr">
              <a:defRPr sz="1125" b="1">
                <a:solidFill>
                  <a:srgbClr val="C62828"/>
                </a:solidFill>
                <a:latin typeface="Calibri"/>
                <a:ea typeface="Calibri"/>
                <a:cs typeface="Calibri"/>
              </a:defRPr>
            </a:pPr>
            <a:r>
              <a:rPr sz="1125" b="1">
                <a:solidFill>
                  <a:srgbClr val="C62828"/>
                </a:solidFill>
                <a:latin typeface="Calibri"/>
                <a:ea typeface="Calibri"/>
                <a:cs typeface="Calibri"/>
              </a:rPr>
              <a:t>Not covered</a:t>
            </a:r>
          </a:p>
        </p:txBody>
      </p:sp>
      <p:sp>
        <p:nvSpPr>
          <p:cNvPr id="27" name="Decision 2">
            <a:extLst>
              <a:ext uri="{FF2B5EF4-FFF2-40B4-BE49-F238E27FC236}">
                <a16:creationId xmlns:a16="http://schemas.microsoft.com/office/drawing/2014/main" id="{AEED6AE4-731E-4D41-B096-F8F0B1341CF9}"/>
              </a:ext>
            </a:extLst>
          </p:cNvPr>
          <p:cNvSpPr>
            <a:spLocks noGrp="1"/>
          </p:cNvSpPr>
          <p:nvPr/>
        </p:nvSpPr>
        <p:spPr>
          <a:xfrm>
            <a:off x="6238875" y="4495800"/>
            <a:ext cx="495300" cy="409575"/>
          </a:xfrm>
          <a:prstGeom prst="roundRect">
            <a:avLst>
              <a:gd name="adj" fmla="val 18605"/>
            </a:avLst>
          </a:prstGeom>
          <a:solidFill>
            <a:srgbClr val="FFFFFF"/>
          </a:solidFill>
          <a:ln w="14288">
            <a:solidFill>
              <a:srgbClr val="20364D"/>
            </a:solidFill>
          </a:ln>
        </p:spPr>
        <p:txBody>
          <a:bodyPr/>
          <a:lstStyle/>
          <a:p>
            <a:endParaRPr lang="en-US"/>
          </a:p>
        </p:txBody>
      </p:sp>
      <p:sp>
        <p:nvSpPr>
          <p:cNvPr id="28" name="Decision text 2">
            <a:extLst>
              <a:ext uri="{FF2B5EF4-FFF2-40B4-BE49-F238E27FC236}">
                <a16:creationId xmlns:a16="http://schemas.microsoft.com/office/drawing/2014/main" id="{4D778C2C-25A4-40BE-BDEE-FA68DC69B189}"/>
              </a:ext>
            </a:extLst>
          </p:cNvPr>
          <p:cNvSpPr>
            <a:spLocks noGrp="1"/>
          </p:cNvSpPr>
          <p:nvPr/>
        </p:nvSpPr>
        <p:spPr>
          <a:xfrm>
            <a:off x="6238875" y="4572000"/>
            <a:ext cx="49530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b3</a:t>
            </a:r>
          </a:p>
        </p:txBody>
      </p:sp>
      <p:sp>
        <p:nvSpPr>
          <p:cNvPr id="29" name="True cell 2">
            <a:extLst>
              <a:ext uri="{FF2B5EF4-FFF2-40B4-BE49-F238E27FC236}">
                <a16:creationId xmlns:a16="http://schemas.microsoft.com/office/drawing/2014/main" id="{8F26A8A2-23B4-4B55-B623-7586727DF373}"/>
              </a:ext>
            </a:extLst>
          </p:cNvPr>
          <p:cNvSpPr>
            <a:spLocks noGrp="1"/>
          </p:cNvSpPr>
          <p:nvPr/>
        </p:nvSpPr>
        <p:spPr>
          <a:xfrm>
            <a:off x="7019925" y="4495800"/>
            <a:ext cx="1076325" cy="409575"/>
          </a:xfrm>
          <a:prstGeom prst="roundRect">
            <a:avLst>
              <a:gd name="adj" fmla="val 18605"/>
            </a:avLst>
          </a:prstGeom>
          <a:solidFill>
            <a:srgbClr val="EAF5EC"/>
          </a:solidFill>
          <a:ln w="14288">
            <a:solidFill>
              <a:srgbClr val="2E7D32"/>
            </a:solidFill>
          </a:ln>
        </p:spPr>
        <p:txBody>
          <a:bodyPr/>
          <a:lstStyle/>
          <a:p>
            <a:endParaRPr lang="en-US"/>
          </a:p>
        </p:txBody>
      </p:sp>
      <p:sp>
        <p:nvSpPr>
          <p:cNvPr id="30" name="True text 2">
            <a:extLst>
              <a:ext uri="{FF2B5EF4-FFF2-40B4-BE49-F238E27FC236}">
                <a16:creationId xmlns:a16="http://schemas.microsoft.com/office/drawing/2014/main" id="{69D80CF9-C07D-4B80-9FEB-7354614CCFE3}"/>
              </a:ext>
            </a:extLst>
          </p:cNvPr>
          <p:cNvSpPr>
            <a:spLocks noGrp="1"/>
          </p:cNvSpPr>
          <p:nvPr/>
        </p:nvSpPr>
        <p:spPr>
          <a:xfrm>
            <a:off x="7038975" y="4581525"/>
            <a:ext cx="1038225" cy="22860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Covered</a:t>
            </a:r>
          </a:p>
        </p:txBody>
      </p:sp>
      <p:sp>
        <p:nvSpPr>
          <p:cNvPr id="31" name="False cell 2">
            <a:extLst>
              <a:ext uri="{FF2B5EF4-FFF2-40B4-BE49-F238E27FC236}">
                <a16:creationId xmlns:a16="http://schemas.microsoft.com/office/drawing/2014/main" id="{3141FEA3-7FE8-4A40-A239-94B1A6B13E23}"/>
              </a:ext>
            </a:extLst>
          </p:cNvPr>
          <p:cNvSpPr>
            <a:spLocks noGrp="1"/>
          </p:cNvSpPr>
          <p:nvPr/>
        </p:nvSpPr>
        <p:spPr>
          <a:xfrm>
            <a:off x="8210550" y="4495800"/>
            <a:ext cx="1076325" cy="409575"/>
          </a:xfrm>
          <a:prstGeom prst="roundRect">
            <a:avLst>
              <a:gd name="adj" fmla="val 18605"/>
            </a:avLst>
          </a:prstGeom>
          <a:solidFill>
            <a:srgbClr val="FDEEEE"/>
          </a:solidFill>
          <a:ln w="14288">
            <a:solidFill>
              <a:srgbClr val="C62828"/>
            </a:solidFill>
          </a:ln>
        </p:spPr>
        <p:txBody>
          <a:bodyPr/>
          <a:lstStyle/>
          <a:p>
            <a:endParaRPr lang="en-US"/>
          </a:p>
        </p:txBody>
      </p:sp>
      <p:sp>
        <p:nvSpPr>
          <p:cNvPr id="32" name="False text 2">
            <a:extLst>
              <a:ext uri="{FF2B5EF4-FFF2-40B4-BE49-F238E27FC236}">
                <a16:creationId xmlns:a16="http://schemas.microsoft.com/office/drawing/2014/main" id="{30FF28CB-D401-4C7B-B22E-4533925BF565}"/>
              </a:ext>
            </a:extLst>
          </p:cNvPr>
          <p:cNvSpPr>
            <a:spLocks noGrp="1"/>
          </p:cNvSpPr>
          <p:nvPr/>
        </p:nvSpPr>
        <p:spPr>
          <a:xfrm>
            <a:off x="8229600" y="4581525"/>
            <a:ext cx="1038225" cy="228600"/>
          </a:xfrm>
          <a:prstGeom prst="rect">
            <a:avLst/>
          </a:prstGeom>
          <a:noFill/>
          <a:ln w="0">
            <a:noFill/>
          </a:ln>
        </p:spPr>
        <p:txBody>
          <a:bodyPr anchor="t">
            <a:noAutofit/>
          </a:bodyPr>
          <a:lstStyle/>
          <a:p>
            <a:pPr algn="ctr">
              <a:defRPr sz="1125" b="1">
                <a:solidFill>
                  <a:srgbClr val="C62828"/>
                </a:solidFill>
                <a:latin typeface="Calibri"/>
                <a:ea typeface="Calibri"/>
                <a:cs typeface="Calibri"/>
              </a:defRPr>
            </a:pPr>
            <a:r>
              <a:rPr sz="1125" b="1">
                <a:solidFill>
                  <a:srgbClr val="C62828"/>
                </a:solidFill>
                <a:latin typeface="Calibri"/>
                <a:ea typeface="Calibri"/>
                <a:cs typeface="Calibri"/>
              </a:rPr>
              <a:t>Not covered</a:t>
            </a:r>
          </a:p>
        </p:txBody>
      </p:sp>
      <p:sp>
        <p:nvSpPr>
          <p:cNvPr id="33" name="Result panel">
            <a:extLst>
              <a:ext uri="{FF2B5EF4-FFF2-40B4-BE49-F238E27FC236}">
                <a16:creationId xmlns:a16="http://schemas.microsoft.com/office/drawing/2014/main" id="{B13708DE-B001-44B5-A8AF-EA1C1ECDD33F}"/>
              </a:ext>
            </a:extLst>
          </p:cNvPr>
          <p:cNvSpPr>
            <a:spLocks noGrp="1"/>
          </p:cNvSpPr>
          <p:nvPr/>
        </p:nvSpPr>
        <p:spPr>
          <a:xfrm>
            <a:off x="9753600" y="2047875"/>
            <a:ext cx="1790700" cy="3143250"/>
          </a:xfrm>
          <a:prstGeom prst="roundRect">
            <a:avLst>
              <a:gd name="adj" fmla="val 4255"/>
            </a:avLst>
          </a:prstGeom>
          <a:solidFill>
            <a:srgbClr val="FFFFFF"/>
          </a:solidFill>
          <a:ln w="14288">
            <a:solidFill>
              <a:srgbClr val="CDD5DC"/>
            </a:solidFill>
          </a:ln>
        </p:spPr>
        <p:txBody>
          <a:bodyPr/>
          <a:lstStyle/>
          <a:p>
            <a:endParaRPr lang="en-US"/>
          </a:p>
        </p:txBody>
      </p:sp>
      <p:sp>
        <p:nvSpPr>
          <p:cNvPr id="34" name="Line label">
            <a:extLst>
              <a:ext uri="{FF2B5EF4-FFF2-40B4-BE49-F238E27FC236}">
                <a16:creationId xmlns:a16="http://schemas.microsoft.com/office/drawing/2014/main" id="{2FAF7D09-A894-4793-B841-4FCF8C24D64E}"/>
              </a:ext>
            </a:extLst>
          </p:cNvPr>
          <p:cNvSpPr>
            <a:spLocks noGrp="1"/>
          </p:cNvSpPr>
          <p:nvPr/>
        </p:nvSpPr>
        <p:spPr>
          <a:xfrm>
            <a:off x="9906000" y="2276475"/>
            <a:ext cx="1485900" cy="219075"/>
          </a:xfrm>
          <a:prstGeom prst="rect">
            <a:avLst/>
          </a:prstGeom>
          <a:noFill/>
          <a:ln w="0">
            <a:noFill/>
          </a:ln>
        </p:spPr>
        <p:txBody>
          <a:bodyPr anchor="t">
            <a:noAutofit/>
          </a:bodyPr>
          <a:lstStyle/>
          <a:p>
            <a:pPr algn="ctr">
              <a:defRPr sz="1125" b="1">
                <a:solidFill>
                  <a:srgbClr val="5D6A76"/>
                </a:solidFill>
                <a:latin typeface="Calibri"/>
                <a:ea typeface="Calibri"/>
                <a:cs typeface="Calibri"/>
              </a:defRPr>
            </a:pPr>
            <a:r>
              <a:rPr sz="1125" b="1">
                <a:solidFill>
                  <a:srgbClr val="5D6A76"/>
                </a:solidFill>
                <a:latin typeface="Calibri"/>
                <a:ea typeface="Calibri"/>
                <a:cs typeface="Calibri"/>
              </a:rPr>
              <a:t>LINE COVERAGE</a:t>
            </a:r>
          </a:p>
        </p:txBody>
      </p:sp>
      <p:sp>
        <p:nvSpPr>
          <p:cNvPr id="35" name="Line value">
            <a:extLst>
              <a:ext uri="{FF2B5EF4-FFF2-40B4-BE49-F238E27FC236}">
                <a16:creationId xmlns:a16="http://schemas.microsoft.com/office/drawing/2014/main" id="{700F7E73-E43A-4F27-9A24-7D0B708C384D}"/>
              </a:ext>
            </a:extLst>
          </p:cNvPr>
          <p:cNvSpPr>
            <a:spLocks noGrp="1"/>
          </p:cNvSpPr>
          <p:nvPr/>
        </p:nvSpPr>
        <p:spPr>
          <a:xfrm>
            <a:off x="9906000" y="2571750"/>
            <a:ext cx="1485900" cy="438150"/>
          </a:xfrm>
          <a:prstGeom prst="rect">
            <a:avLst/>
          </a:prstGeom>
          <a:noFill/>
          <a:ln w="0">
            <a:noFill/>
          </a:ln>
        </p:spPr>
        <p:txBody>
          <a:bodyPr anchor="t">
            <a:noAutofit/>
          </a:bodyPr>
          <a:lstStyle/>
          <a:p>
            <a:pPr algn="ctr">
              <a:defRPr sz="2550" b="1">
                <a:solidFill>
                  <a:srgbClr val="2E7D32"/>
                </a:solidFill>
                <a:latin typeface="Calibri"/>
                <a:ea typeface="Calibri"/>
                <a:cs typeface="Calibri"/>
              </a:defRPr>
            </a:pPr>
            <a:r>
              <a:rPr sz="2550" b="1">
                <a:solidFill>
                  <a:srgbClr val="2E7D32"/>
                </a:solidFill>
                <a:latin typeface="Calibri"/>
                <a:ea typeface="Calibri"/>
                <a:cs typeface="Calibri"/>
              </a:rPr>
              <a:t>100%</a:t>
            </a:r>
          </a:p>
        </p:txBody>
      </p:sp>
      <p:sp>
        <p:nvSpPr>
          <p:cNvPr id="36" name="Result divider">
            <a:extLst>
              <a:ext uri="{FF2B5EF4-FFF2-40B4-BE49-F238E27FC236}">
                <a16:creationId xmlns:a16="http://schemas.microsoft.com/office/drawing/2014/main" id="{E8DA80E5-6BBB-4F46-8CDB-E6F916279940}"/>
              </a:ext>
            </a:extLst>
          </p:cNvPr>
          <p:cNvSpPr>
            <a:spLocks noGrp="1"/>
          </p:cNvSpPr>
          <p:nvPr/>
        </p:nvSpPr>
        <p:spPr>
          <a:xfrm>
            <a:off x="9953625" y="3133725"/>
            <a:ext cx="1390650" cy="0"/>
          </a:xfrm>
          <a:prstGeom prst="line">
            <a:avLst/>
          </a:prstGeom>
          <a:noFill/>
          <a:ln w="14288">
            <a:solidFill>
              <a:srgbClr val="CDD5DC"/>
            </a:solidFill>
          </a:ln>
        </p:spPr>
        <p:txBody>
          <a:bodyPr/>
          <a:lstStyle/>
          <a:p>
            <a:endParaRPr lang="en-US"/>
          </a:p>
        </p:txBody>
      </p:sp>
      <p:sp>
        <p:nvSpPr>
          <p:cNvPr id="37" name="Branch label">
            <a:extLst>
              <a:ext uri="{FF2B5EF4-FFF2-40B4-BE49-F238E27FC236}">
                <a16:creationId xmlns:a16="http://schemas.microsoft.com/office/drawing/2014/main" id="{0CF4A6BE-17D0-4D95-927C-BE601C3B6B71}"/>
              </a:ext>
            </a:extLst>
          </p:cNvPr>
          <p:cNvSpPr>
            <a:spLocks noGrp="1"/>
          </p:cNvSpPr>
          <p:nvPr/>
        </p:nvSpPr>
        <p:spPr>
          <a:xfrm>
            <a:off x="9867900" y="3343275"/>
            <a:ext cx="1562100" cy="219075"/>
          </a:xfrm>
          <a:prstGeom prst="rect">
            <a:avLst/>
          </a:prstGeom>
          <a:noFill/>
          <a:ln w="0">
            <a:noFill/>
          </a:ln>
        </p:spPr>
        <p:txBody>
          <a:bodyPr anchor="t">
            <a:noAutofit/>
          </a:bodyPr>
          <a:lstStyle/>
          <a:p>
            <a:pPr algn="ctr">
              <a:defRPr sz="1125" b="1">
                <a:solidFill>
                  <a:srgbClr val="5D6A76"/>
                </a:solidFill>
                <a:latin typeface="Calibri"/>
                <a:ea typeface="Calibri"/>
                <a:cs typeface="Calibri"/>
              </a:defRPr>
            </a:pPr>
            <a:r>
              <a:rPr sz="1125" b="1">
                <a:solidFill>
                  <a:srgbClr val="5D6A76"/>
                </a:solidFill>
                <a:latin typeface="Calibri"/>
                <a:ea typeface="Calibri"/>
                <a:cs typeface="Calibri"/>
              </a:rPr>
              <a:t>BRANCH COVERAGE</a:t>
            </a:r>
          </a:p>
        </p:txBody>
      </p:sp>
      <p:sp>
        <p:nvSpPr>
          <p:cNvPr id="38" name="Branch value">
            <a:extLst>
              <a:ext uri="{FF2B5EF4-FFF2-40B4-BE49-F238E27FC236}">
                <a16:creationId xmlns:a16="http://schemas.microsoft.com/office/drawing/2014/main" id="{4C7A90BC-B623-4923-A6B7-DB5D0EDC201C}"/>
              </a:ext>
            </a:extLst>
          </p:cNvPr>
          <p:cNvSpPr>
            <a:spLocks noGrp="1"/>
          </p:cNvSpPr>
          <p:nvPr/>
        </p:nvSpPr>
        <p:spPr>
          <a:xfrm>
            <a:off x="9858375" y="3638550"/>
            <a:ext cx="1581150" cy="523875"/>
          </a:xfrm>
          <a:prstGeom prst="rect">
            <a:avLst/>
          </a:prstGeom>
          <a:noFill/>
          <a:ln w="0">
            <a:noFill/>
          </a:ln>
        </p:spPr>
        <p:txBody>
          <a:bodyPr anchor="t">
            <a:noAutofit/>
          </a:bodyPr>
          <a:lstStyle/>
          <a:p>
            <a:pPr algn="ctr">
              <a:defRPr sz="2925" b="1">
                <a:solidFill>
                  <a:srgbClr val="C62828"/>
                </a:solidFill>
                <a:latin typeface="Calibri"/>
                <a:ea typeface="Calibri"/>
                <a:cs typeface="Calibri"/>
              </a:defRPr>
            </a:pPr>
            <a:r>
              <a:rPr sz="2925" b="1">
                <a:solidFill>
                  <a:srgbClr val="C62828"/>
                </a:solidFill>
                <a:latin typeface="Calibri"/>
                <a:ea typeface="Calibri"/>
                <a:cs typeface="Calibri"/>
              </a:rPr>
              <a:t>50%</a:t>
            </a:r>
          </a:p>
        </p:txBody>
      </p:sp>
      <p:sp>
        <p:nvSpPr>
          <p:cNvPr id="39" name="Branch count">
            <a:extLst>
              <a:ext uri="{FF2B5EF4-FFF2-40B4-BE49-F238E27FC236}">
                <a16:creationId xmlns:a16="http://schemas.microsoft.com/office/drawing/2014/main" id="{796C1075-E3CC-44EC-A252-7F6F3BB681BF}"/>
              </a:ext>
            </a:extLst>
          </p:cNvPr>
          <p:cNvSpPr>
            <a:spLocks noGrp="1"/>
          </p:cNvSpPr>
          <p:nvPr/>
        </p:nvSpPr>
        <p:spPr>
          <a:xfrm>
            <a:off x="9886950" y="4305300"/>
            <a:ext cx="1524000" cy="323850"/>
          </a:xfrm>
          <a:prstGeom prst="rect">
            <a:avLst/>
          </a:prstGeom>
          <a:noFill/>
          <a:ln w="0">
            <a:noFill/>
          </a:ln>
        </p:spPr>
        <p:txBody>
          <a:bodyPr anchor="t">
            <a:noAutofit/>
          </a:bodyPr>
          <a:lstStyle/>
          <a:p>
            <a:pPr algn="ctr">
              <a:defRPr sz="1650" b="1">
                <a:solidFill>
                  <a:srgbClr val="C62828"/>
                </a:solidFill>
                <a:latin typeface="Calibri"/>
                <a:ea typeface="Calibri"/>
                <a:cs typeface="Calibri"/>
              </a:defRPr>
            </a:pPr>
            <a:r>
              <a:rPr sz="1650" b="1">
                <a:solidFill>
                  <a:srgbClr val="C62828"/>
                </a:solidFill>
                <a:latin typeface="Calibri"/>
                <a:ea typeface="Calibri"/>
                <a:cs typeface="Calibri"/>
              </a:rPr>
              <a:t>3 of 6</a:t>
            </a:r>
          </a:p>
        </p:txBody>
      </p:sp>
      <p:sp>
        <p:nvSpPr>
          <p:cNvPr id="40" name="Outcome label">
            <a:extLst>
              <a:ext uri="{FF2B5EF4-FFF2-40B4-BE49-F238E27FC236}">
                <a16:creationId xmlns:a16="http://schemas.microsoft.com/office/drawing/2014/main" id="{BD10040D-19D3-43C1-A6BF-7FE2E4900CB9}"/>
              </a:ext>
            </a:extLst>
          </p:cNvPr>
          <p:cNvSpPr>
            <a:spLocks noGrp="1"/>
          </p:cNvSpPr>
          <p:nvPr/>
        </p:nvSpPr>
        <p:spPr>
          <a:xfrm>
            <a:off x="9906000" y="4667250"/>
            <a:ext cx="1485900" cy="238125"/>
          </a:xfrm>
          <a:prstGeom prst="rect">
            <a:avLst/>
          </a:prstGeom>
          <a:noFill/>
          <a:ln w="0">
            <a:noFill/>
          </a:ln>
        </p:spPr>
        <p:txBody>
          <a:bodyPr anchor="t">
            <a:noAutofit/>
          </a:bodyPr>
          <a:lstStyle/>
          <a:p>
            <a:pPr algn="ctr">
              <a:defRPr sz="1200">
                <a:solidFill>
                  <a:srgbClr val="5D6A76"/>
                </a:solidFill>
                <a:latin typeface="Calibri"/>
                <a:ea typeface="Calibri"/>
                <a:cs typeface="Calibri"/>
              </a:defRPr>
            </a:pPr>
            <a:r>
              <a:rPr sz="1200">
                <a:solidFill>
                  <a:srgbClr val="5D6A76"/>
                </a:solidFill>
                <a:latin typeface="Calibri"/>
                <a:ea typeface="Calibri"/>
                <a:cs typeface="Calibri"/>
              </a:rPr>
              <a:t>branch outcomes</a:t>
            </a:r>
          </a:p>
        </p:txBody>
      </p:sp>
      <p:sp>
        <p:nvSpPr>
          <p:cNvPr id="41" name="Takeaway rule">
            <a:extLst>
              <a:ext uri="{FF2B5EF4-FFF2-40B4-BE49-F238E27FC236}">
                <a16:creationId xmlns:a16="http://schemas.microsoft.com/office/drawing/2014/main" id="{E5B3FB71-CD11-4BCC-A47D-466332275E27}"/>
              </a:ext>
            </a:extLst>
          </p:cNvPr>
          <p:cNvSpPr>
            <a:spLocks noGrp="1"/>
          </p:cNvSpPr>
          <p:nvPr/>
        </p:nvSpPr>
        <p:spPr>
          <a:xfrm>
            <a:off x="1143000" y="5600700"/>
            <a:ext cx="9906000" cy="0"/>
          </a:xfrm>
          <a:prstGeom prst="line">
            <a:avLst/>
          </a:prstGeom>
          <a:noFill/>
          <a:ln w="19050">
            <a:solidFill>
              <a:srgbClr val="C62828"/>
            </a:solidFill>
          </a:ln>
        </p:spPr>
        <p:txBody>
          <a:bodyPr/>
          <a:lstStyle/>
          <a:p>
            <a:endParaRPr lang="en-US"/>
          </a:p>
        </p:txBody>
      </p:sp>
      <p:sp>
        <p:nvSpPr>
          <p:cNvPr id="42" name="Takeaway">
            <a:extLst>
              <a:ext uri="{FF2B5EF4-FFF2-40B4-BE49-F238E27FC236}">
                <a16:creationId xmlns:a16="http://schemas.microsoft.com/office/drawing/2014/main" id="{6E3375CB-64EE-407E-AD26-3D5DE5265D36}"/>
              </a:ext>
            </a:extLst>
          </p:cNvPr>
          <p:cNvSpPr>
            <a:spLocks noGrp="1"/>
          </p:cNvSpPr>
          <p:nvPr/>
        </p:nvSpPr>
        <p:spPr>
          <a:xfrm>
            <a:off x="1362075" y="5810250"/>
            <a:ext cx="9467850" cy="400050"/>
          </a:xfrm>
          <a:prstGeom prst="rect">
            <a:avLst/>
          </a:prstGeom>
          <a:noFill/>
          <a:ln w="0">
            <a:noFill/>
          </a:ln>
        </p:spPr>
        <p:txBody>
          <a:bodyPr anchor="t">
            <a:noAutofit/>
          </a:bodyPr>
          <a:lstStyle/>
          <a:p>
            <a:pPr algn="ctr">
              <a:defRPr sz="1875" b="1">
                <a:solidFill>
                  <a:srgbClr val="8D2020"/>
                </a:solidFill>
                <a:latin typeface="Calibri"/>
                <a:ea typeface="Calibri"/>
                <a:cs typeface="Calibri"/>
              </a:defRPr>
            </a:pPr>
            <a:r>
              <a:rPr sz="1875" b="1">
                <a:solidFill>
                  <a:srgbClr val="8D2020"/>
                </a:solidFill>
                <a:latin typeface="Calibri"/>
                <a:ea typeface="Calibri"/>
                <a:cs typeface="Calibri"/>
              </a:rPr>
              <a:t>Every line ran, but none of the false outcomes was tested.</a:t>
            </a:r>
          </a:p>
        </p:txBody>
      </p:sp>
    </p:spTree>
    <p:extLst>
      <p:ext uri="{BB962C8B-B14F-4D97-AF65-F5344CB8AC3E}">
        <p14:creationId xmlns:p14="http://schemas.microsoft.com/office/powerpoint/2010/main" val="1486650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itle">
            <a:extLst>
              <a:ext uri="{FF2B5EF4-FFF2-40B4-BE49-F238E27FC236}">
                <a16:creationId xmlns:a16="http://schemas.microsoft.com/office/drawing/2014/main" id="{C1313593-47D4-4997-99CC-28A7BF84B080}"/>
              </a:ext>
            </a:extLst>
          </p:cNvPr>
          <p:cNvSpPr>
            <a:spLocks noGrp="1"/>
          </p:cNvSpPr>
          <p:nvPr/>
        </p:nvSpPr>
        <p:spPr>
          <a:xfrm>
            <a:off x="666750" y="295275"/>
            <a:ext cx="10858500" cy="552450"/>
          </a:xfrm>
          <a:prstGeom prst="rect">
            <a:avLst/>
          </a:prstGeom>
          <a:noFill/>
          <a:ln w="0">
            <a:noFill/>
          </a:ln>
        </p:spPr>
        <p:txBody>
          <a:bodyPr anchor="t">
            <a:noAutofit/>
          </a:bodyPr>
          <a:lstStyle/>
          <a:p>
            <a:pPr>
              <a:defRPr sz="2850">
                <a:solidFill>
                  <a:srgbClr val="151C23"/>
                </a:solidFill>
                <a:latin typeface="Calibri"/>
                <a:ea typeface="Calibri"/>
                <a:cs typeface="Calibri"/>
              </a:defRPr>
            </a:pPr>
            <a:r>
              <a:rPr sz="2850">
                <a:solidFill>
                  <a:srgbClr val="151C23"/>
                </a:solidFill>
                <a:latin typeface="Calibri"/>
                <a:ea typeface="Calibri"/>
                <a:cs typeface="Calibri"/>
              </a:rPr>
              <a:t>A Second Test Covers the Missing Branches</a:t>
            </a:r>
          </a:p>
        </p:txBody>
      </p:sp>
      <p:sp>
        <p:nvSpPr>
          <p:cNvPr id="2" name="Subtitle">
            <a:extLst>
              <a:ext uri="{FF2B5EF4-FFF2-40B4-BE49-F238E27FC236}">
                <a16:creationId xmlns:a16="http://schemas.microsoft.com/office/drawing/2014/main" id="{60BE7FF3-3499-41E8-9C7C-C6F2CE11BF74}"/>
              </a:ext>
            </a:extLst>
          </p:cNvPr>
          <p:cNvSpPr>
            <a:spLocks noGrp="1"/>
          </p:cNvSpPr>
          <p:nvPr/>
        </p:nvSpPr>
        <p:spPr>
          <a:xfrm>
            <a:off x="704850" y="895350"/>
            <a:ext cx="10668000" cy="371475"/>
          </a:xfrm>
          <a:prstGeom prst="rect">
            <a:avLst/>
          </a:prstGeom>
          <a:noFill/>
          <a:ln w="0">
            <a:noFill/>
          </a:ln>
        </p:spPr>
        <p:txBody>
          <a:bodyPr anchor="t">
            <a:noAutofit/>
          </a:bodyPr>
          <a:lstStyle/>
          <a:p>
            <a:pPr>
              <a:defRPr sz="1650">
                <a:solidFill>
                  <a:srgbClr val="5D6A76"/>
                </a:solidFill>
                <a:latin typeface="Calibri"/>
                <a:ea typeface="Calibri"/>
                <a:cs typeface="Calibri"/>
              </a:defRPr>
            </a:pPr>
            <a:r>
              <a:rPr sz="1650">
                <a:solidFill>
                  <a:srgbClr val="5D6A76"/>
                </a:solidFill>
                <a:latin typeface="Calibri"/>
                <a:ea typeface="Calibri"/>
                <a:cs typeface="Calibri"/>
              </a:rPr>
              <a:t>Branch coverage reaches 100% only after every decision evaluates both true and false.</a:t>
            </a:r>
          </a:p>
        </p:txBody>
      </p:sp>
      <p:sp>
        <p:nvSpPr>
          <p:cNvPr id="3" name="Header accent">
            <a:extLst>
              <a:ext uri="{FF2B5EF4-FFF2-40B4-BE49-F238E27FC236}">
                <a16:creationId xmlns:a16="http://schemas.microsoft.com/office/drawing/2014/main" id="{836C0EEA-12E1-48E8-8B92-D3D1C8768A07}"/>
              </a:ext>
            </a:extLst>
          </p:cNvPr>
          <p:cNvSpPr>
            <a:spLocks noGrp="1"/>
          </p:cNvSpPr>
          <p:nvPr/>
        </p:nvSpPr>
        <p:spPr>
          <a:xfrm>
            <a:off x="714375" y="1333500"/>
            <a:ext cx="1619250" cy="0"/>
          </a:xfrm>
          <a:prstGeom prst="line">
            <a:avLst/>
          </a:prstGeom>
          <a:noFill/>
          <a:ln w="38100">
            <a:solidFill>
              <a:srgbClr val="20364D"/>
            </a:solidFill>
          </a:ln>
        </p:spPr>
        <p:txBody>
          <a:bodyPr/>
          <a:lstStyle/>
          <a:p>
            <a:endParaRPr lang="en-US"/>
          </a:p>
        </p:txBody>
      </p:sp>
      <p:sp>
        <p:nvSpPr>
          <p:cNvPr id="4" name="Tests banner">
            <a:extLst>
              <a:ext uri="{FF2B5EF4-FFF2-40B4-BE49-F238E27FC236}">
                <a16:creationId xmlns:a16="http://schemas.microsoft.com/office/drawing/2014/main" id="{AC170256-997C-4836-963F-3547C76E7096}"/>
              </a:ext>
            </a:extLst>
          </p:cNvPr>
          <p:cNvSpPr>
            <a:spLocks noGrp="1"/>
          </p:cNvSpPr>
          <p:nvPr/>
        </p:nvSpPr>
        <p:spPr>
          <a:xfrm>
            <a:off x="3028950" y="1438275"/>
            <a:ext cx="6134100" cy="581025"/>
          </a:xfrm>
          <a:prstGeom prst="roundRect">
            <a:avLst>
              <a:gd name="adj" fmla="val 13115"/>
            </a:avLst>
          </a:prstGeom>
          <a:solidFill>
            <a:srgbClr val="EDF4FA"/>
          </a:solidFill>
          <a:ln w="14288">
            <a:solidFill>
              <a:srgbClr val="3978B7"/>
            </a:solidFill>
          </a:ln>
        </p:spPr>
        <p:txBody>
          <a:bodyPr/>
          <a:lstStyle/>
          <a:p>
            <a:endParaRPr lang="en-US"/>
          </a:p>
        </p:txBody>
      </p:sp>
      <p:sp>
        <p:nvSpPr>
          <p:cNvPr id="5" name="Tests text">
            <a:extLst>
              <a:ext uri="{FF2B5EF4-FFF2-40B4-BE49-F238E27FC236}">
                <a16:creationId xmlns:a16="http://schemas.microsoft.com/office/drawing/2014/main" id="{096835F4-8B4E-433D-97C9-284B2DFE1518}"/>
              </a:ext>
            </a:extLst>
          </p:cNvPr>
          <p:cNvSpPr>
            <a:spLocks noGrp="1"/>
          </p:cNvSpPr>
          <p:nvPr/>
        </p:nvSpPr>
        <p:spPr>
          <a:xfrm>
            <a:off x="3209925" y="1504950"/>
            <a:ext cx="5772150" cy="476250"/>
          </a:xfrm>
          <a:prstGeom prst="rect">
            <a:avLst/>
          </a:prstGeom>
          <a:noFill/>
          <a:ln w="0">
            <a:noFill/>
          </a:ln>
        </p:spPr>
        <p:txBody>
          <a:bodyPr anchor="t">
            <a:noAutofit/>
          </a:bodyPr>
          <a:lstStyle/>
          <a:p>
            <a:pPr algn="ctr">
              <a:defRPr sz="1350" b="1">
                <a:solidFill>
                  <a:srgbClr val="20364D"/>
                </a:solidFill>
                <a:latin typeface="Calibri"/>
                <a:ea typeface="Calibri"/>
                <a:cs typeface="Calibri"/>
              </a:defRPr>
            </a:pPr>
            <a:r>
              <a:rPr sz="1350" b="1">
                <a:solidFill>
                  <a:srgbClr val="20364D"/>
                </a:solidFill>
                <a:latin typeface="Calibri"/>
                <a:ea typeface="Calibri"/>
                <a:cs typeface="Calibri"/>
              </a:rPr>
              <a:t>Test 1:  foo(0, true, true, true) == 0</a:t>
            </a:r>
          </a:p>
          <a:p>
            <a:pPr algn="ctr">
              <a:defRPr sz="1350" b="1">
                <a:solidFill>
                  <a:srgbClr val="20364D"/>
                </a:solidFill>
                <a:latin typeface="Calibri"/>
                <a:ea typeface="Calibri"/>
                <a:cs typeface="Calibri"/>
              </a:defRPr>
            </a:pPr>
            <a:r>
              <a:rPr sz="1350" b="1">
                <a:solidFill>
                  <a:srgbClr val="20364D"/>
                </a:solidFill>
                <a:latin typeface="Calibri"/>
                <a:ea typeface="Calibri"/>
                <a:cs typeface="Calibri"/>
              </a:rPr>
              <a:t>Test 2:  foo(0, false, false, false) == 0</a:t>
            </a:r>
          </a:p>
        </p:txBody>
      </p:sp>
      <p:sp>
        <p:nvSpPr>
          <p:cNvPr id="6" name="Code panel">
            <a:extLst>
              <a:ext uri="{FF2B5EF4-FFF2-40B4-BE49-F238E27FC236}">
                <a16:creationId xmlns:a16="http://schemas.microsoft.com/office/drawing/2014/main" id="{592E7DBB-3691-4248-94CA-4A74E503C32A}"/>
              </a:ext>
            </a:extLst>
          </p:cNvPr>
          <p:cNvSpPr>
            <a:spLocks noGrp="1"/>
          </p:cNvSpPr>
          <p:nvPr/>
        </p:nvSpPr>
        <p:spPr>
          <a:xfrm>
            <a:off x="685800" y="2047875"/>
            <a:ext cx="4762500" cy="3143250"/>
          </a:xfrm>
          <a:prstGeom prst="roundRect">
            <a:avLst>
              <a:gd name="adj" fmla="val 2424"/>
            </a:avLst>
          </a:prstGeom>
          <a:solidFill>
            <a:srgbClr val="F4F6F8"/>
          </a:solidFill>
          <a:ln w="14288">
            <a:solidFill>
              <a:srgbClr val="20364D"/>
            </a:solidFill>
          </a:ln>
        </p:spPr>
        <p:txBody>
          <a:bodyPr/>
          <a:lstStyle/>
          <a:p>
            <a:endParaRPr lang="en-US"/>
          </a:p>
        </p:txBody>
      </p:sp>
      <p:sp>
        <p:nvSpPr>
          <p:cNvPr id="7" name="Code label">
            <a:extLst>
              <a:ext uri="{FF2B5EF4-FFF2-40B4-BE49-F238E27FC236}">
                <a16:creationId xmlns:a16="http://schemas.microsoft.com/office/drawing/2014/main" id="{4A7409AC-3CBD-4F24-8EA7-5E36A09895E0}"/>
              </a:ext>
            </a:extLst>
          </p:cNvPr>
          <p:cNvSpPr>
            <a:spLocks noGrp="1"/>
          </p:cNvSpPr>
          <p:nvPr/>
        </p:nvSpPr>
        <p:spPr>
          <a:xfrm>
            <a:off x="895350" y="2200275"/>
            <a:ext cx="4286250" cy="238125"/>
          </a:xfrm>
          <a:prstGeom prst="rect">
            <a:avLst/>
          </a:prstGeom>
          <a:noFill/>
          <a:ln w="0">
            <a:noFill/>
          </a:ln>
        </p:spPr>
        <p:txBody>
          <a:bodyPr anchor="t">
            <a:noAutofit/>
          </a:bodyPr>
          <a:lstStyle/>
          <a:p>
            <a:pPr>
              <a:defRPr sz="1200" b="1">
                <a:solidFill>
                  <a:srgbClr val="5D6A76"/>
                </a:solidFill>
                <a:latin typeface="Calibri"/>
                <a:ea typeface="Calibri"/>
                <a:cs typeface="Calibri"/>
              </a:defRPr>
            </a:pPr>
            <a:r>
              <a:rPr sz="1200" b="1">
                <a:solidFill>
                  <a:srgbClr val="5D6A76"/>
                </a:solidFill>
                <a:latin typeface="Calibri"/>
                <a:ea typeface="Calibri"/>
                <a:cs typeface="Calibri"/>
              </a:rPr>
              <a:t>FUNCTION UNDER TEST</a:t>
            </a:r>
          </a:p>
        </p:txBody>
      </p:sp>
      <p:sp>
        <p:nvSpPr>
          <p:cNvPr id="8" name="Code">
            <a:extLst>
              <a:ext uri="{FF2B5EF4-FFF2-40B4-BE49-F238E27FC236}">
                <a16:creationId xmlns:a16="http://schemas.microsoft.com/office/drawing/2014/main" id="{2DCD2A60-C932-466D-A32D-96A266BF6C03}"/>
              </a:ext>
            </a:extLst>
          </p:cNvPr>
          <p:cNvSpPr>
            <a:spLocks noGrp="1"/>
          </p:cNvSpPr>
          <p:nvPr/>
        </p:nvSpPr>
        <p:spPr>
          <a:xfrm>
            <a:off x="962025" y="2628900"/>
            <a:ext cx="4171950" cy="2143125"/>
          </a:xfrm>
          <a:prstGeom prst="rect">
            <a:avLst/>
          </a:prstGeom>
          <a:noFill/>
          <a:ln w="0">
            <a:noFill/>
          </a:ln>
        </p:spPr>
        <p:txBody>
          <a:bodyPr anchor="t">
            <a:noAutofit/>
          </a:bodyPr>
          <a:lstStyle/>
          <a:p>
            <a:pPr>
              <a:defRPr sz="1500">
                <a:solidFill>
                  <a:srgbClr val="1F2B35"/>
                </a:solidFill>
                <a:latin typeface="Calibri"/>
                <a:ea typeface="Calibri"/>
                <a:cs typeface="Calibri"/>
              </a:defRPr>
            </a:pPr>
            <a:r>
              <a:rPr sz="1500">
                <a:solidFill>
                  <a:srgbClr val="1F2B35"/>
                </a:solidFill>
                <a:latin typeface="Calibri"/>
                <a:ea typeface="Calibri"/>
                <a:cs typeface="Calibri"/>
              </a:rPr>
              <a:t>int foo(int input, bool b1, bool b2, bool b3) {</a:t>
            </a:r>
          </a:p>
          <a:p>
            <a:pPr>
              <a:defRPr sz="1500">
                <a:solidFill>
                  <a:srgbClr val="1F2B35"/>
                </a:solidFill>
                <a:latin typeface="Calibri"/>
                <a:ea typeface="Calibri"/>
                <a:cs typeface="Calibri"/>
              </a:defRPr>
            </a:pPr>
            <a:r>
              <a:rPr sz="1500">
                <a:solidFill>
                  <a:srgbClr val="1F2B35"/>
                </a:solidFill>
                <a:latin typeface="Calibri"/>
                <a:ea typeface="Calibri"/>
                <a:cs typeface="Calibri"/>
              </a:rPr>
              <a:t>    int x = input;</a:t>
            </a:r>
          </a:p>
          <a:p>
            <a:pPr>
              <a:defRPr sz="1500">
                <a:solidFill>
                  <a:srgbClr val="1F2B35"/>
                </a:solidFill>
                <a:latin typeface="Calibri"/>
                <a:ea typeface="Calibri"/>
                <a:cs typeface="Calibri"/>
              </a:defRPr>
            </a:pPr>
            <a:r>
              <a:rPr sz="1500">
                <a:solidFill>
                  <a:srgbClr val="1F2B35"/>
                </a:solidFill>
                <a:latin typeface="Calibri"/>
                <a:ea typeface="Calibri"/>
                <a:cs typeface="Calibri"/>
              </a:rPr>
              <a:t>    int y = 0;</a:t>
            </a:r>
          </a:p>
          <a:p>
            <a:pPr>
              <a:defRPr sz="1500">
                <a:solidFill>
                  <a:srgbClr val="1F2B35"/>
                </a:solidFill>
                <a:latin typeface="Calibri"/>
                <a:ea typeface="Calibri"/>
                <a:cs typeface="Calibri"/>
              </a:defRPr>
            </a:pPr>
            <a:r>
              <a:rPr sz="1500">
                <a:solidFill>
                  <a:srgbClr val="1F2B35"/>
                </a:solidFill>
                <a:latin typeface="Calibri"/>
                <a:ea typeface="Calibri"/>
                <a:cs typeface="Calibri"/>
              </a:rPr>
              <a:t>    if (b1) x++;</a:t>
            </a:r>
          </a:p>
          <a:p>
            <a:pPr>
              <a:defRPr sz="1500">
                <a:solidFill>
                  <a:srgbClr val="1F2B35"/>
                </a:solidFill>
                <a:latin typeface="Calibri"/>
                <a:ea typeface="Calibri"/>
                <a:cs typeface="Calibri"/>
              </a:defRPr>
            </a:pPr>
            <a:r>
              <a:rPr sz="1500">
                <a:solidFill>
                  <a:srgbClr val="1F2B35"/>
                </a:solidFill>
                <a:latin typeface="Calibri"/>
                <a:ea typeface="Calibri"/>
                <a:cs typeface="Calibri"/>
              </a:rPr>
              <a:t>    if (b2) x--;</a:t>
            </a:r>
          </a:p>
          <a:p>
            <a:pPr>
              <a:defRPr sz="1500">
                <a:solidFill>
                  <a:srgbClr val="1F2B35"/>
                </a:solidFill>
                <a:latin typeface="Calibri"/>
                <a:ea typeface="Calibri"/>
                <a:cs typeface="Calibri"/>
              </a:defRPr>
            </a:pPr>
            <a:r>
              <a:rPr sz="1500">
                <a:solidFill>
                  <a:srgbClr val="1F2B35"/>
                </a:solidFill>
                <a:latin typeface="Calibri"/>
                <a:ea typeface="Calibri"/>
                <a:cs typeface="Calibri"/>
              </a:rPr>
              <a:t>    if (b3) y = x;</a:t>
            </a:r>
          </a:p>
          <a:p>
            <a:pPr>
              <a:defRPr sz="1500">
                <a:solidFill>
                  <a:srgbClr val="1F2B35"/>
                </a:solidFill>
                <a:latin typeface="Calibri"/>
                <a:ea typeface="Calibri"/>
                <a:cs typeface="Calibri"/>
              </a:defRPr>
            </a:pPr>
            <a:r>
              <a:rPr sz="1500">
                <a:solidFill>
                  <a:srgbClr val="1F2B35"/>
                </a:solidFill>
                <a:latin typeface="Calibri"/>
                <a:ea typeface="Calibri"/>
                <a:cs typeface="Calibri"/>
              </a:rPr>
              <a:t>    return y;</a:t>
            </a:r>
          </a:p>
          <a:p>
            <a:pPr>
              <a:defRPr sz="1500">
                <a:solidFill>
                  <a:srgbClr val="1F2B35"/>
                </a:solidFill>
                <a:latin typeface="Calibri"/>
                <a:ea typeface="Calibri"/>
                <a:cs typeface="Calibri"/>
              </a:defRPr>
            </a:pPr>
            <a:r>
              <a:rPr sz="1500">
                <a:solidFill>
                  <a:srgbClr val="1F2B35"/>
                </a:solidFill>
                <a:latin typeface="Calibri"/>
                <a:ea typeface="Calibri"/>
                <a:cs typeface="Calibri"/>
              </a:rPr>
              <a:t>}</a:t>
            </a:r>
          </a:p>
        </p:txBody>
      </p:sp>
      <p:sp>
        <p:nvSpPr>
          <p:cNvPr id="9" name="Decision count">
            <a:extLst>
              <a:ext uri="{FF2B5EF4-FFF2-40B4-BE49-F238E27FC236}">
                <a16:creationId xmlns:a16="http://schemas.microsoft.com/office/drawing/2014/main" id="{1F0813CF-7D2F-4C9D-8BC2-D2678AB19B93}"/>
              </a:ext>
            </a:extLst>
          </p:cNvPr>
          <p:cNvSpPr>
            <a:spLocks noGrp="1"/>
          </p:cNvSpPr>
          <p:nvPr/>
        </p:nvSpPr>
        <p:spPr>
          <a:xfrm>
            <a:off x="952500" y="4810125"/>
            <a:ext cx="4191000" cy="2762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3 decisions × 2 outcomes = 6 branches</a:t>
            </a:r>
          </a:p>
        </p:txBody>
      </p:sp>
      <p:sp>
        <p:nvSpPr>
          <p:cNvPr id="10" name="Matrix label">
            <a:extLst>
              <a:ext uri="{FF2B5EF4-FFF2-40B4-BE49-F238E27FC236}">
                <a16:creationId xmlns:a16="http://schemas.microsoft.com/office/drawing/2014/main" id="{02B6728C-5D60-484F-A740-9020B73DB1B3}"/>
              </a:ext>
            </a:extLst>
          </p:cNvPr>
          <p:cNvSpPr>
            <a:spLocks noGrp="1"/>
          </p:cNvSpPr>
          <p:nvPr/>
        </p:nvSpPr>
        <p:spPr>
          <a:xfrm>
            <a:off x="5829300" y="2190750"/>
            <a:ext cx="3676650" cy="257175"/>
          </a:xfrm>
          <a:prstGeom prst="rect">
            <a:avLst/>
          </a:prstGeom>
          <a:noFill/>
          <a:ln w="0">
            <a:noFill/>
          </a:ln>
        </p:spPr>
        <p:txBody>
          <a:bodyPr anchor="t">
            <a:noAutofit/>
          </a:bodyPr>
          <a:lstStyle/>
          <a:p>
            <a:pPr algn="ctr">
              <a:defRPr sz="1275" b="1">
                <a:solidFill>
                  <a:srgbClr val="5D6A76"/>
                </a:solidFill>
                <a:latin typeface="Calibri"/>
                <a:ea typeface="Calibri"/>
                <a:cs typeface="Calibri"/>
              </a:defRPr>
            </a:pPr>
            <a:r>
              <a:rPr sz="1275" b="1">
                <a:solidFill>
                  <a:srgbClr val="5D6A76"/>
                </a:solidFill>
                <a:latin typeface="Calibri"/>
                <a:ea typeface="Calibri"/>
                <a:cs typeface="Calibri"/>
              </a:rPr>
              <a:t>BRANCH OUTCOMES</a:t>
            </a:r>
          </a:p>
        </p:txBody>
      </p:sp>
      <p:sp>
        <p:nvSpPr>
          <p:cNvPr id="11" name="Decision header">
            <a:extLst>
              <a:ext uri="{FF2B5EF4-FFF2-40B4-BE49-F238E27FC236}">
                <a16:creationId xmlns:a16="http://schemas.microsoft.com/office/drawing/2014/main" id="{8038EEAA-914D-4A2F-88DA-C14E5959BA3A}"/>
              </a:ext>
            </a:extLst>
          </p:cNvPr>
          <p:cNvSpPr>
            <a:spLocks noGrp="1"/>
          </p:cNvSpPr>
          <p:nvPr/>
        </p:nvSpPr>
        <p:spPr>
          <a:xfrm>
            <a:off x="6000750" y="2590800"/>
            <a:ext cx="962025" cy="295275"/>
          </a:xfrm>
          <a:prstGeom prst="rect">
            <a:avLst/>
          </a:prstGeom>
          <a:noFill/>
          <a:ln w="0">
            <a:noFill/>
          </a:ln>
        </p:spPr>
        <p:txBody>
          <a:bodyPr anchor="t">
            <a:noAutofit/>
          </a:bodyPr>
          <a:lstStyle/>
          <a:p>
            <a:pPr algn="ctr">
              <a:defRPr sz="1350" b="1">
                <a:solidFill>
                  <a:srgbClr val="20364D"/>
                </a:solidFill>
                <a:latin typeface="Calibri"/>
                <a:ea typeface="Calibri"/>
                <a:cs typeface="Calibri"/>
              </a:defRPr>
            </a:pPr>
            <a:r>
              <a:rPr sz="1350" b="1">
                <a:solidFill>
                  <a:srgbClr val="20364D"/>
                </a:solidFill>
                <a:latin typeface="Calibri"/>
                <a:ea typeface="Calibri"/>
                <a:cs typeface="Calibri"/>
              </a:rPr>
              <a:t>Decision</a:t>
            </a:r>
          </a:p>
        </p:txBody>
      </p:sp>
      <p:sp>
        <p:nvSpPr>
          <p:cNvPr id="12" name="True header">
            <a:extLst>
              <a:ext uri="{FF2B5EF4-FFF2-40B4-BE49-F238E27FC236}">
                <a16:creationId xmlns:a16="http://schemas.microsoft.com/office/drawing/2014/main" id="{DE7E48D4-C52C-43C1-A015-1D1A2FB92D9F}"/>
              </a:ext>
            </a:extLst>
          </p:cNvPr>
          <p:cNvSpPr>
            <a:spLocks noGrp="1"/>
          </p:cNvSpPr>
          <p:nvPr/>
        </p:nvSpPr>
        <p:spPr>
          <a:xfrm>
            <a:off x="6962775" y="2590800"/>
            <a:ext cx="1190625" cy="295275"/>
          </a:xfrm>
          <a:prstGeom prst="rect">
            <a:avLst/>
          </a:prstGeom>
          <a:noFill/>
          <a:ln w="0">
            <a:noFill/>
          </a:ln>
        </p:spPr>
        <p:txBody>
          <a:bodyPr anchor="t">
            <a:noAutofit/>
          </a:bodyPr>
          <a:lstStyle/>
          <a:p>
            <a:pPr algn="ctr">
              <a:defRPr sz="1350" b="1">
                <a:solidFill>
                  <a:srgbClr val="2E7D32"/>
                </a:solidFill>
                <a:latin typeface="Calibri"/>
                <a:ea typeface="Calibri"/>
                <a:cs typeface="Calibri"/>
              </a:defRPr>
            </a:pPr>
            <a:r>
              <a:rPr sz="1350" b="1">
                <a:solidFill>
                  <a:srgbClr val="2E7D32"/>
                </a:solidFill>
                <a:latin typeface="Calibri"/>
                <a:ea typeface="Calibri"/>
                <a:cs typeface="Calibri"/>
              </a:rPr>
              <a:t>True</a:t>
            </a:r>
          </a:p>
        </p:txBody>
      </p:sp>
      <p:sp>
        <p:nvSpPr>
          <p:cNvPr id="13" name="False header">
            <a:extLst>
              <a:ext uri="{FF2B5EF4-FFF2-40B4-BE49-F238E27FC236}">
                <a16:creationId xmlns:a16="http://schemas.microsoft.com/office/drawing/2014/main" id="{4637A3BE-FBF4-4A76-9DE8-45BB9E92EA4C}"/>
              </a:ext>
            </a:extLst>
          </p:cNvPr>
          <p:cNvSpPr>
            <a:spLocks noGrp="1"/>
          </p:cNvSpPr>
          <p:nvPr/>
        </p:nvSpPr>
        <p:spPr>
          <a:xfrm>
            <a:off x="8153400" y="2590800"/>
            <a:ext cx="1190625" cy="295275"/>
          </a:xfrm>
          <a:prstGeom prst="rect">
            <a:avLst/>
          </a:prstGeom>
          <a:noFill/>
          <a:ln w="0">
            <a:noFill/>
          </a:ln>
        </p:spPr>
        <p:txBody>
          <a:bodyPr anchor="t">
            <a:noAutofit/>
          </a:bodyPr>
          <a:lstStyle/>
          <a:p>
            <a:pPr algn="ctr">
              <a:defRPr sz="1350" b="1">
                <a:solidFill>
                  <a:srgbClr val="C62828"/>
                </a:solidFill>
                <a:latin typeface="Calibri"/>
                <a:ea typeface="Calibri"/>
                <a:cs typeface="Calibri"/>
              </a:defRPr>
            </a:pPr>
            <a:r>
              <a:rPr sz="1350" b="1">
                <a:solidFill>
                  <a:srgbClr val="C62828"/>
                </a:solidFill>
                <a:latin typeface="Calibri"/>
                <a:ea typeface="Calibri"/>
                <a:cs typeface="Calibri"/>
              </a:rPr>
              <a:t>False</a:t>
            </a:r>
          </a:p>
        </p:txBody>
      </p:sp>
      <p:sp>
        <p:nvSpPr>
          <p:cNvPr id="14" name="Matrix header rule">
            <a:extLst>
              <a:ext uri="{FF2B5EF4-FFF2-40B4-BE49-F238E27FC236}">
                <a16:creationId xmlns:a16="http://schemas.microsoft.com/office/drawing/2014/main" id="{4EE2A9A4-4D3E-4B1C-8B87-3D5761F3B5AA}"/>
              </a:ext>
            </a:extLst>
          </p:cNvPr>
          <p:cNvSpPr>
            <a:spLocks noGrp="1"/>
          </p:cNvSpPr>
          <p:nvPr/>
        </p:nvSpPr>
        <p:spPr>
          <a:xfrm>
            <a:off x="6019800" y="2924175"/>
            <a:ext cx="3295650" cy="0"/>
          </a:xfrm>
          <a:prstGeom prst="line">
            <a:avLst/>
          </a:prstGeom>
          <a:noFill/>
          <a:ln w="14288">
            <a:solidFill>
              <a:srgbClr val="CDD5DC"/>
            </a:solidFill>
          </a:ln>
        </p:spPr>
        <p:txBody>
          <a:bodyPr/>
          <a:lstStyle/>
          <a:p>
            <a:endParaRPr lang="en-US"/>
          </a:p>
        </p:txBody>
      </p:sp>
      <p:sp>
        <p:nvSpPr>
          <p:cNvPr id="15" name="Decision 0">
            <a:extLst>
              <a:ext uri="{FF2B5EF4-FFF2-40B4-BE49-F238E27FC236}">
                <a16:creationId xmlns:a16="http://schemas.microsoft.com/office/drawing/2014/main" id="{475A2C0F-5E0F-4FEA-A5C0-4ABC4F33DD09}"/>
              </a:ext>
            </a:extLst>
          </p:cNvPr>
          <p:cNvSpPr>
            <a:spLocks noGrp="1"/>
          </p:cNvSpPr>
          <p:nvPr/>
        </p:nvSpPr>
        <p:spPr>
          <a:xfrm>
            <a:off x="6238875" y="3067050"/>
            <a:ext cx="495300" cy="409575"/>
          </a:xfrm>
          <a:prstGeom prst="roundRect">
            <a:avLst>
              <a:gd name="adj" fmla="val 18605"/>
            </a:avLst>
          </a:prstGeom>
          <a:solidFill>
            <a:srgbClr val="FFFFFF"/>
          </a:solidFill>
          <a:ln w="14288">
            <a:solidFill>
              <a:srgbClr val="20364D"/>
            </a:solidFill>
          </a:ln>
        </p:spPr>
        <p:txBody>
          <a:bodyPr/>
          <a:lstStyle/>
          <a:p>
            <a:endParaRPr lang="en-US"/>
          </a:p>
        </p:txBody>
      </p:sp>
      <p:sp>
        <p:nvSpPr>
          <p:cNvPr id="16" name="Decision text 0">
            <a:extLst>
              <a:ext uri="{FF2B5EF4-FFF2-40B4-BE49-F238E27FC236}">
                <a16:creationId xmlns:a16="http://schemas.microsoft.com/office/drawing/2014/main" id="{DA92FD4A-9F80-4648-8401-B38259F5F9DF}"/>
              </a:ext>
            </a:extLst>
          </p:cNvPr>
          <p:cNvSpPr>
            <a:spLocks noGrp="1"/>
          </p:cNvSpPr>
          <p:nvPr/>
        </p:nvSpPr>
        <p:spPr>
          <a:xfrm>
            <a:off x="6238875" y="3143250"/>
            <a:ext cx="49530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b1</a:t>
            </a:r>
          </a:p>
        </p:txBody>
      </p:sp>
      <p:sp>
        <p:nvSpPr>
          <p:cNvPr id="17" name="True cell 0">
            <a:extLst>
              <a:ext uri="{FF2B5EF4-FFF2-40B4-BE49-F238E27FC236}">
                <a16:creationId xmlns:a16="http://schemas.microsoft.com/office/drawing/2014/main" id="{09D69867-1746-44D7-BDB1-5B516682DD30}"/>
              </a:ext>
            </a:extLst>
          </p:cNvPr>
          <p:cNvSpPr>
            <a:spLocks noGrp="1"/>
          </p:cNvSpPr>
          <p:nvPr/>
        </p:nvSpPr>
        <p:spPr>
          <a:xfrm>
            <a:off x="7019925" y="3067050"/>
            <a:ext cx="1076325" cy="409575"/>
          </a:xfrm>
          <a:prstGeom prst="roundRect">
            <a:avLst>
              <a:gd name="adj" fmla="val 18605"/>
            </a:avLst>
          </a:prstGeom>
          <a:solidFill>
            <a:srgbClr val="EAF5EC"/>
          </a:solidFill>
          <a:ln w="14288">
            <a:solidFill>
              <a:srgbClr val="2E7D32"/>
            </a:solidFill>
          </a:ln>
        </p:spPr>
        <p:txBody>
          <a:bodyPr/>
          <a:lstStyle/>
          <a:p>
            <a:endParaRPr lang="en-US"/>
          </a:p>
        </p:txBody>
      </p:sp>
      <p:sp>
        <p:nvSpPr>
          <p:cNvPr id="18" name="True text 0">
            <a:extLst>
              <a:ext uri="{FF2B5EF4-FFF2-40B4-BE49-F238E27FC236}">
                <a16:creationId xmlns:a16="http://schemas.microsoft.com/office/drawing/2014/main" id="{F0B7455C-366F-447C-A262-3A491A844AEC}"/>
              </a:ext>
            </a:extLst>
          </p:cNvPr>
          <p:cNvSpPr>
            <a:spLocks noGrp="1"/>
          </p:cNvSpPr>
          <p:nvPr/>
        </p:nvSpPr>
        <p:spPr>
          <a:xfrm>
            <a:off x="7038975" y="3152775"/>
            <a:ext cx="1038225" cy="22860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Test 1</a:t>
            </a:r>
          </a:p>
        </p:txBody>
      </p:sp>
      <p:sp>
        <p:nvSpPr>
          <p:cNvPr id="19" name="False cell 0">
            <a:extLst>
              <a:ext uri="{FF2B5EF4-FFF2-40B4-BE49-F238E27FC236}">
                <a16:creationId xmlns:a16="http://schemas.microsoft.com/office/drawing/2014/main" id="{16ED95F5-989B-474C-9639-9138C92279D5}"/>
              </a:ext>
            </a:extLst>
          </p:cNvPr>
          <p:cNvSpPr>
            <a:spLocks noGrp="1"/>
          </p:cNvSpPr>
          <p:nvPr/>
        </p:nvSpPr>
        <p:spPr>
          <a:xfrm>
            <a:off x="8210550" y="3067050"/>
            <a:ext cx="1076325" cy="409575"/>
          </a:xfrm>
          <a:prstGeom prst="roundRect">
            <a:avLst>
              <a:gd name="adj" fmla="val 18605"/>
            </a:avLst>
          </a:prstGeom>
          <a:solidFill>
            <a:srgbClr val="EAF5EC"/>
          </a:solidFill>
          <a:ln w="14288">
            <a:solidFill>
              <a:srgbClr val="2E7D32"/>
            </a:solidFill>
          </a:ln>
        </p:spPr>
        <p:txBody>
          <a:bodyPr/>
          <a:lstStyle/>
          <a:p>
            <a:endParaRPr lang="en-US"/>
          </a:p>
        </p:txBody>
      </p:sp>
      <p:sp>
        <p:nvSpPr>
          <p:cNvPr id="20" name="False text 0">
            <a:extLst>
              <a:ext uri="{FF2B5EF4-FFF2-40B4-BE49-F238E27FC236}">
                <a16:creationId xmlns:a16="http://schemas.microsoft.com/office/drawing/2014/main" id="{5E9F5B2D-456E-4CC8-B89F-D07564427CFD}"/>
              </a:ext>
            </a:extLst>
          </p:cNvPr>
          <p:cNvSpPr>
            <a:spLocks noGrp="1"/>
          </p:cNvSpPr>
          <p:nvPr/>
        </p:nvSpPr>
        <p:spPr>
          <a:xfrm>
            <a:off x="8229600" y="3152775"/>
            <a:ext cx="1038225" cy="22860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Test 2</a:t>
            </a:r>
          </a:p>
        </p:txBody>
      </p:sp>
      <p:sp>
        <p:nvSpPr>
          <p:cNvPr id="21" name="Decision 1">
            <a:extLst>
              <a:ext uri="{FF2B5EF4-FFF2-40B4-BE49-F238E27FC236}">
                <a16:creationId xmlns:a16="http://schemas.microsoft.com/office/drawing/2014/main" id="{80461163-0F67-40C5-9AE2-1967658B07C9}"/>
              </a:ext>
            </a:extLst>
          </p:cNvPr>
          <p:cNvSpPr>
            <a:spLocks noGrp="1"/>
          </p:cNvSpPr>
          <p:nvPr/>
        </p:nvSpPr>
        <p:spPr>
          <a:xfrm>
            <a:off x="6238875" y="3781425"/>
            <a:ext cx="495300" cy="409575"/>
          </a:xfrm>
          <a:prstGeom prst="roundRect">
            <a:avLst>
              <a:gd name="adj" fmla="val 18605"/>
            </a:avLst>
          </a:prstGeom>
          <a:solidFill>
            <a:srgbClr val="FFFFFF"/>
          </a:solidFill>
          <a:ln w="14288">
            <a:solidFill>
              <a:srgbClr val="20364D"/>
            </a:solidFill>
          </a:ln>
        </p:spPr>
        <p:txBody>
          <a:bodyPr/>
          <a:lstStyle/>
          <a:p>
            <a:endParaRPr lang="en-US"/>
          </a:p>
        </p:txBody>
      </p:sp>
      <p:sp>
        <p:nvSpPr>
          <p:cNvPr id="22" name="Decision text 1">
            <a:extLst>
              <a:ext uri="{FF2B5EF4-FFF2-40B4-BE49-F238E27FC236}">
                <a16:creationId xmlns:a16="http://schemas.microsoft.com/office/drawing/2014/main" id="{DCC889C1-0076-4015-8BA9-52C48955C0D7}"/>
              </a:ext>
            </a:extLst>
          </p:cNvPr>
          <p:cNvSpPr>
            <a:spLocks noGrp="1"/>
          </p:cNvSpPr>
          <p:nvPr/>
        </p:nvSpPr>
        <p:spPr>
          <a:xfrm>
            <a:off x="6238875" y="3857625"/>
            <a:ext cx="49530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b2</a:t>
            </a:r>
          </a:p>
        </p:txBody>
      </p:sp>
      <p:sp>
        <p:nvSpPr>
          <p:cNvPr id="23" name="True cell 1">
            <a:extLst>
              <a:ext uri="{FF2B5EF4-FFF2-40B4-BE49-F238E27FC236}">
                <a16:creationId xmlns:a16="http://schemas.microsoft.com/office/drawing/2014/main" id="{48A3F523-1A70-4D03-BDD0-323830C86E36}"/>
              </a:ext>
            </a:extLst>
          </p:cNvPr>
          <p:cNvSpPr>
            <a:spLocks noGrp="1"/>
          </p:cNvSpPr>
          <p:nvPr/>
        </p:nvSpPr>
        <p:spPr>
          <a:xfrm>
            <a:off x="7019925" y="3781425"/>
            <a:ext cx="1076325" cy="409575"/>
          </a:xfrm>
          <a:prstGeom prst="roundRect">
            <a:avLst>
              <a:gd name="adj" fmla="val 18605"/>
            </a:avLst>
          </a:prstGeom>
          <a:solidFill>
            <a:srgbClr val="EAF5EC"/>
          </a:solidFill>
          <a:ln w="14288">
            <a:solidFill>
              <a:srgbClr val="2E7D32"/>
            </a:solidFill>
          </a:ln>
        </p:spPr>
        <p:txBody>
          <a:bodyPr/>
          <a:lstStyle/>
          <a:p>
            <a:endParaRPr lang="en-US"/>
          </a:p>
        </p:txBody>
      </p:sp>
      <p:sp>
        <p:nvSpPr>
          <p:cNvPr id="24" name="True text 1">
            <a:extLst>
              <a:ext uri="{FF2B5EF4-FFF2-40B4-BE49-F238E27FC236}">
                <a16:creationId xmlns:a16="http://schemas.microsoft.com/office/drawing/2014/main" id="{FAE816F4-BC31-4527-A1CB-4296302C5BAD}"/>
              </a:ext>
            </a:extLst>
          </p:cNvPr>
          <p:cNvSpPr>
            <a:spLocks noGrp="1"/>
          </p:cNvSpPr>
          <p:nvPr/>
        </p:nvSpPr>
        <p:spPr>
          <a:xfrm>
            <a:off x="7038975" y="3867150"/>
            <a:ext cx="1038225" cy="22860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Test 1</a:t>
            </a:r>
          </a:p>
        </p:txBody>
      </p:sp>
      <p:sp>
        <p:nvSpPr>
          <p:cNvPr id="25" name="False cell 1">
            <a:extLst>
              <a:ext uri="{FF2B5EF4-FFF2-40B4-BE49-F238E27FC236}">
                <a16:creationId xmlns:a16="http://schemas.microsoft.com/office/drawing/2014/main" id="{A8B3B6A7-12E8-4961-B98A-CE5622C9071B}"/>
              </a:ext>
            </a:extLst>
          </p:cNvPr>
          <p:cNvSpPr>
            <a:spLocks noGrp="1"/>
          </p:cNvSpPr>
          <p:nvPr/>
        </p:nvSpPr>
        <p:spPr>
          <a:xfrm>
            <a:off x="8210550" y="3781425"/>
            <a:ext cx="1076325" cy="409575"/>
          </a:xfrm>
          <a:prstGeom prst="roundRect">
            <a:avLst>
              <a:gd name="adj" fmla="val 18605"/>
            </a:avLst>
          </a:prstGeom>
          <a:solidFill>
            <a:srgbClr val="EAF5EC"/>
          </a:solidFill>
          <a:ln w="14288">
            <a:solidFill>
              <a:srgbClr val="2E7D32"/>
            </a:solidFill>
          </a:ln>
        </p:spPr>
        <p:txBody>
          <a:bodyPr/>
          <a:lstStyle/>
          <a:p>
            <a:endParaRPr lang="en-US"/>
          </a:p>
        </p:txBody>
      </p:sp>
      <p:sp>
        <p:nvSpPr>
          <p:cNvPr id="26" name="False text 1">
            <a:extLst>
              <a:ext uri="{FF2B5EF4-FFF2-40B4-BE49-F238E27FC236}">
                <a16:creationId xmlns:a16="http://schemas.microsoft.com/office/drawing/2014/main" id="{AAB21573-8271-4290-991D-83BF42FE5F18}"/>
              </a:ext>
            </a:extLst>
          </p:cNvPr>
          <p:cNvSpPr>
            <a:spLocks noGrp="1"/>
          </p:cNvSpPr>
          <p:nvPr/>
        </p:nvSpPr>
        <p:spPr>
          <a:xfrm>
            <a:off x="8229600" y="3867150"/>
            <a:ext cx="1038225" cy="22860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Test 2</a:t>
            </a:r>
          </a:p>
        </p:txBody>
      </p:sp>
      <p:sp>
        <p:nvSpPr>
          <p:cNvPr id="27" name="Decision 2">
            <a:extLst>
              <a:ext uri="{FF2B5EF4-FFF2-40B4-BE49-F238E27FC236}">
                <a16:creationId xmlns:a16="http://schemas.microsoft.com/office/drawing/2014/main" id="{2FEA3866-3724-4237-B804-B980337EBD35}"/>
              </a:ext>
            </a:extLst>
          </p:cNvPr>
          <p:cNvSpPr>
            <a:spLocks noGrp="1"/>
          </p:cNvSpPr>
          <p:nvPr/>
        </p:nvSpPr>
        <p:spPr>
          <a:xfrm>
            <a:off x="6238875" y="4495800"/>
            <a:ext cx="495300" cy="409575"/>
          </a:xfrm>
          <a:prstGeom prst="roundRect">
            <a:avLst>
              <a:gd name="adj" fmla="val 18605"/>
            </a:avLst>
          </a:prstGeom>
          <a:solidFill>
            <a:srgbClr val="FFFFFF"/>
          </a:solidFill>
          <a:ln w="14288">
            <a:solidFill>
              <a:srgbClr val="20364D"/>
            </a:solidFill>
          </a:ln>
        </p:spPr>
        <p:txBody>
          <a:bodyPr/>
          <a:lstStyle/>
          <a:p>
            <a:endParaRPr lang="en-US"/>
          </a:p>
        </p:txBody>
      </p:sp>
      <p:sp>
        <p:nvSpPr>
          <p:cNvPr id="28" name="Decision text 2">
            <a:extLst>
              <a:ext uri="{FF2B5EF4-FFF2-40B4-BE49-F238E27FC236}">
                <a16:creationId xmlns:a16="http://schemas.microsoft.com/office/drawing/2014/main" id="{F294DBB0-FC69-4C5C-9B3B-EFDDD2C9AAC7}"/>
              </a:ext>
            </a:extLst>
          </p:cNvPr>
          <p:cNvSpPr>
            <a:spLocks noGrp="1"/>
          </p:cNvSpPr>
          <p:nvPr/>
        </p:nvSpPr>
        <p:spPr>
          <a:xfrm>
            <a:off x="6238875" y="4572000"/>
            <a:ext cx="49530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b3</a:t>
            </a:r>
          </a:p>
        </p:txBody>
      </p:sp>
      <p:sp>
        <p:nvSpPr>
          <p:cNvPr id="29" name="True cell 2">
            <a:extLst>
              <a:ext uri="{FF2B5EF4-FFF2-40B4-BE49-F238E27FC236}">
                <a16:creationId xmlns:a16="http://schemas.microsoft.com/office/drawing/2014/main" id="{633D0DDA-711F-4703-B7AF-CC14A1DC4A02}"/>
              </a:ext>
            </a:extLst>
          </p:cNvPr>
          <p:cNvSpPr>
            <a:spLocks noGrp="1"/>
          </p:cNvSpPr>
          <p:nvPr/>
        </p:nvSpPr>
        <p:spPr>
          <a:xfrm>
            <a:off x="7019925" y="4495800"/>
            <a:ext cx="1076325" cy="409575"/>
          </a:xfrm>
          <a:prstGeom prst="roundRect">
            <a:avLst>
              <a:gd name="adj" fmla="val 18605"/>
            </a:avLst>
          </a:prstGeom>
          <a:solidFill>
            <a:srgbClr val="EAF5EC"/>
          </a:solidFill>
          <a:ln w="14288">
            <a:solidFill>
              <a:srgbClr val="2E7D32"/>
            </a:solidFill>
          </a:ln>
        </p:spPr>
        <p:txBody>
          <a:bodyPr/>
          <a:lstStyle/>
          <a:p>
            <a:endParaRPr lang="en-US"/>
          </a:p>
        </p:txBody>
      </p:sp>
      <p:sp>
        <p:nvSpPr>
          <p:cNvPr id="30" name="True text 2">
            <a:extLst>
              <a:ext uri="{FF2B5EF4-FFF2-40B4-BE49-F238E27FC236}">
                <a16:creationId xmlns:a16="http://schemas.microsoft.com/office/drawing/2014/main" id="{0D1FE3E5-BC20-43B1-A48F-0D501665FED1}"/>
              </a:ext>
            </a:extLst>
          </p:cNvPr>
          <p:cNvSpPr>
            <a:spLocks noGrp="1"/>
          </p:cNvSpPr>
          <p:nvPr/>
        </p:nvSpPr>
        <p:spPr>
          <a:xfrm>
            <a:off x="7038975" y="4581525"/>
            <a:ext cx="1038225" cy="22860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Test 1</a:t>
            </a:r>
          </a:p>
        </p:txBody>
      </p:sp>
      <p:sp>
        <p:nvSpPr>
          <p:cNvPr id="31" name="False cell 2">
            <a:extLst>
              <a:ext uri="{FF2B5EF4-FFF2-40B4-BE49-F238E27FC236}">
                <a16:creationId xmlns:a16="http://schemas.microsoft.com/office/drawing/2014/main" id="{EAC57FC7-DEED-4B9E-AFF4-6D67ADC23BCB}"/>
              </a:ext>
            </a:extLst>
          </p:cNvPr>
          <p:cNvSpPr>
            <a:spLocks noGrp="1"/>
          </p:cNvSpPr>
          <p:nvPr/>
        </p:nvSpPr>
        <p:spPr>
          <a:xfrm>
            <a:off x="8210550" y="4495800"/>
            <a:ext cx="1076325" cy="409575"/>
          </a:xfrm>
          <a:prstGeom prst="roundRect">
            <a:avLst>
              <a:gd name="adj" fmla="val 18605"/>
            </a:avLst>
          </a:prstGeom>
          <a:solidFill>
            <a:srgbClr val="EAF5EC"/>
          </a:solidFill>
          <a:ln w="14288">
            <a:solidFill>
              <a:srgbClr val="2E7D32"/>
            </a:solidFill>
          </a:ln>
        </p:spPr>
        <p:txBody>
          <a:bodyPr/>
          <a:lstStyle/>
          <a:p>
            <a:endParaRPr lang="en-US"/>
          </a:p>
        </p:txBody>
      </p:sp>
      <p:sp>
        <p:nvSpPr>
          <p:cNvPr id="32" name="False text 2">
            <a:extLst>
              <a:ext uri="{FF2B5EF4-FFF2-40B4-BE49-F238E27FC236}">
                <a16:creationId xmlns:a16="http://schemas.microsoft.com/office/drawing/2014/main" id="{FAAB0116-DDE7-45D1-9A40-CC6C6850AA12}"/>
              </a:ext>
            </a:extLst>
          </p:cNvPr>
          <p:cNvSpPr>
            <a:spLocks noGrp="1"/>
          </p:cNvSpPr>
          <p:nvPr/>
        </p:nvSpPr>
        <p:spPr>
          <a:xfrm>
            <a:off x="8229600" y="4581525"/>
            <a:ext cx="1038225" cy="22860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Test 2</a:t>
            </a:r>
          </a:p>
        </p:txBody>
      </p:sp>
      <p:sp>
        <p:nvSpPr>
          <p:cNvPr id="33" name="Result panel">
            <a:extLst>
              <a:ext uri="{FF2B5EF4-FFF2-40B4-BE49-F238E27FC236}">
                <a16:creationId xmlns:a16="http://schemas.microsoft.com/office/drawing/2014/main" id="{0E87387D-8830-4F60-B2EE-05BFD2D90342}"/>
              </a:ext>
            </a:extLst>
          </p:cNvPr>
          <p:cNvSpPr>
            <a:spLocks noGrp="1"/>
          </p:cNvSpPr>
          <p:nvPr/>
        </p:nvSpPr>
        <p:spPr>
          <a:xfrm>
            <a:off x="9753600" y="2047875"/>
            <a:ext cx="1790700" cy="3143250"/>
          </a:xfrm>
          <a:prstGeom prst="roundRect">
            <a:avLst>
              <a:gd name="adj" fmla="val 4255"/>
            </a:avLst>
          </a:prstGeom>
          <a:solidFill>
            <a:srgbClr val="FFFFFF"/>
          </a:solidFill>
          <a:ln w="14288">
            <a:solidFill>
              <a:srgbClr val="CDD5DC"/>
            </a:solidFill>
          </a:ln>
        </p:spPr>
        <p:txBody>
          <a:bodyPr/>
          <a:lstStyle/>
          <a:p>
            <a:endParaRPr lang="en-US"/>
          </a:p>
        </p:txBody>
      </p:sp>
      <p:sp>
        <p:nvSpPr>
          <p:cNvPr id="34" name="Line label">
            <a:extLst>
              <a:ext uri="{FF2B5EF4-FFF2-40B4-BE49-F238E27FC236}">
                <a16:creationId xmlns:a16="http://schemas.microsoft.com/office/drawing/2014/main" id="{1D6AC210-D680-45E4-A930-F5A7FF72E44F}"/>
              </a:ext>
            </a:extLst>
          </p:cNvPr>
          <p:cNvSpPr>
            <a:spLocks noGrp="1"/>
          </p:cNvSpPr>
          <p:nvPr/>
        </p:nvSpPr>
        <p:spPr>
          <a:xfrm>
            <a:off x="9906000" y="2276475"/>
            <a:ext cx="1485900" cy="219075"/>
          </a:xfrm>
          <a:prstGeom prst="rect">
            <a:avLst/>
          </a:prstGeom>
          <a:noFill/>
          <a:ln w="0">
            <a:noFill/>
          </a:ln>
        </p:spPr>
        <p:txBody>
          <a:bodyPr anchor="t">
            <a:noAutofit/>
          </a:bodyPr>
          <a:lstStyle/>
          <a:p>
            <a:pPr algn="ctr">
              <a:defRPr sz="1125" b="1">
                <a:solidFill>
                  <a:srgbClr val="5D6A76"/>
                </a:solidFill>
                <a:latin typeface="Calibri"/>
                <a:ea typeface="Calibri"/>
                <a:cs typeface="Calibri"/>
              </a:defRPr>
            </a:pPr>
            <a:r>
              <a:rPr sz="1125" b="1">
                <a:solidFill>
                  <a:srgbClr val="5D6A76"/>
                </a:solidFill>
                <a:latin typeface="Calibri"/>
                <a:ea typeface="Calibri"/>
                <a:cs typeface="Calibri"/>
              </a:rPr>
              <a:t>LINE COVERAGE</a:t>
            </a:r>
          </a:p>
        </p:txBody>
      </p:sp>
      <p:sp>
        <p:nvSpPr>
          <p:cNvPr id="35" name="Line value">
            <a:extLst>
              <a:ext uri="{FF2B5EF4-FFF2-40B4-BE49-F238E27FC236}">
                <a16:creationId xmlns:a16="http://schemas.microsoft.com/office/drawing/2014/main" id="{2E387BB0-A792-4999-8CA5-26979525E931}"/>
              </a:ext>
            </a:extLst>
          </p:cNvPr>
          <p:cNvSpPr>
            <a:spLocks noGrp="1"/>
          </p:cNvSpPr>
          <p:nvPr/>
        </p:nvSpPr>
        <p:spPr>
          <a:xfrm>
            <a:off x="9906000" y="2571750"/>
            <a:ext cx="1485900" cy="438150"/>
          </a:xfrm>
          <a:prstGeom prst="rect">
            <a:avLst/>
          </a:prstGeom>
          <a:noFill/>
          <a:ln w="0">
            <a:noFill/>
          </a:ln>
        </p:spPr>
        <p:txBody>
          <a:bodyPr anchor="t">
            <a:noAutofit/>
          </a:bodyPr>
          <a:lstStyle/>
          <a:p>
            <a:pPr algn="ctr">
              <a:defRPr sz="2550" b="1">
                <a:solidFill>
                  <a:srgbClr val="2E7D32"/>
                </a:solidFill>
                <a:latin typeface="Calibri"/>
                <a:ea typeface="Calibri"/>
                <a:cs typeface="Calibri"/>
              </a:defRPr>
            </a:pPr>
            <a:r>
              <a:rPr sz="2550" b="1">
                <a:solidFill>
                  <a:srgbClr val="2E7D32"/>
                </a:solidFill>
                <a:latin typeface="Calibri"/>
                <a:ea typeface="Calibri"/>
                <a:cs typeface="Calibri"/>
              </a:rPr>
              <a:t>100%</a:t>
            </a:r>
          </a:p>
        </p:txBody>
      </p:sp>
      <p:sp>
        <p:nvSpPr>
          <p:cNvPr id="36" name="Result divider">
            <a:extLst>
              <a:ext uri="{FF2B5EF4-FFF2-40B4-BE49-F238E27FC236}">
                <a16:creationId xmlns:a16="http://schemas.microsoft.com/office/drawing/2014/main" id="{02FA292C-321C-4F3C-986B-FBFD851284A4}"/>
              </a:ext>
            </a:extLst>
          </p:cNvPr>
          <p:cNvSpPr>
            <a:spLocks noGrp="1"/>
          </p:cNvSpPr>
          <p:nvPr/>
        </p:nvSpPr>
        <p:spPr>
          <a:xfrm>
            <a:off x="9953625" y="3133725"/>
            <a:ext cx="1390650" cy="0"/>
          </a:xfrm>
          <a:prstGeom prst="line">
            <a:avLst/>
          </a:prstGeom>
          <a:noFill/>
          <a:ln w="14288">
            <a:solidFill>
              <a:srgbClr val="CDD5DC"/>
            </a:solidFill>
          </a:ln>
        </p:spPr>
        <p:txBody>
          <a:bodyPr/>
          <a:lstStyle/>
          <a:p>
            <a:endParaRPr lang="en-US"/>
          </a:p>
        </p:txBody>
      </p:sp>
      <p:sp>
        <p:nvSpPr>
          <p:cNvPr id="37" name="Branch label">
            <a:extLst>
              <a:ext uri="{FF2B5EF4-FFF2-40B4-BE49-F238E27FC236}">
                <a16:creationId xmlns:a16="http://schemas.microsoft.com/office/drawing/2014/main" id="{7EF17F20-C825-4A6B-AB40-BFFE82CBD04A}"/>
              </a:ext>
            </a:extLst>
          </p:cNvPr>
          <p:cNvSpPr>
            <a:spLocks noGrp="1"/>
          </p:cNvSpPr>
          <p:nvPr/>
        </p:nvSpPr>
        <p:spPr>
          <a:xfrm>
            <a:off x="9867900" y="3343275"/>
            <a:ext cx="1562100" cy="219075"/>
          </a:xfrm>
          <a:prstGeom prst="rect">
            <a:avLst/>
          </a:prstGeom>
          <a:noFill/>
          <a:ln w="0">
            <a:noFill/>
          </a:ln>
        </p:spPr>
        <p:txBody>
          <a:bodyPr anchor="t">
            <a:noAutofit/>
          </a:bodyPr>
          <a:lstStyle/>
          <a:p>
            <a:pPr algn="ctr">
              <a:defRPr sz="1125" b="1">
                <a:solidFill>
                  <a:srgbClr val="5D6A76"/>
                </a:solidFill>
                <a:latin typeface="Calibri"/>
                <a:ea typeface="Calibri"/>
                <a:cs typeface="Calibri"/>
              </a:defRPr>
            </a:pPr>
            <a:r>
              <a:rPr sz="1125" b="1">
                <a:solidFill>
                  <a:srgbClr val="5D6A76"/>
                </a:solidFill>
                <a:latin typeface="Calibri"/>
                <a:ea typeface="Calibri"/>
                <a:cs typeface="Calibri"/>
              </a:rPr>
              <a:t>BRANCH COVERAGE</a:t>
            </a:r>
          </a:p>
        </p:txBody>
      </p:sp>
      <p:sp>
        <p:nvSpPr>
          <p:cNvPr id="38" name="Branch value">
            <a:extLst>
              <a:ext uri="{FF2B5EF4-FFF2-40B4-BE49-F238E27FC236}">
                <a16:creationId xmlns:a16="http://schemas.microsoft.com/office/drawing/2014/main" id="{22B9952E-82AD-413F-AB3F-88912C632E0D}"/>
              </a:ext>
            </a:extLst>
          </p:cNvPr>
          <p:cNvSpPr>
            <a:spLocks noGrp="1"/>
          </p:cNvSpPr>
          <p:nvPr/>
        </p:nvSpPr>
        <p:spPr>
          <a:xfrm>
            <a:off x="9858375" y="3638550"/>
            <a:ext cx="1581150" cy="523875"/>
          </a:xfrm>
          <a:prstGeom prst="rect">
            <a:avLst/>
          </a:prstGeom>
          <a:noFill/>
          <a:ln w="0">
            <a:noFill/>
          </a:ln>
        </p:spPr>
        <p:txBody>
          <a:bodyPr anchor="t">
            <a:noAutofit/>
          </a:bodyPr>
          <a:lstStyle/>
          <a:p>
            <a:pPr algn="ctr">
              <a:defRPr sz="2925" b="1">
                <a:solidFill>
                  <a:srgbClr val="2E7D32"/>
                </a:solidFill>
                <a:latin typeface="Calibri"/>
                <a:ea typeface="Calibri"/>
                <a:cs typeface="Calibri"/>
              </a:defRPr>
            </a:pPr>
            <a:r>
              <a:rPr sz="2925" b="1">
                <a:solidFill>
                  <a:srgbClr val="2E7D32"/>
                </a:solidFill>
                <a:latin typeface="Calibri"/>
                <a:ea typeface="Calibri"/>
                <a:cs typeface="Calibri"/>
              </a:rPr>
              <a:t>100%</a:t>
            </a:r>
          </a:p>
        </p:txBody>
      </p:sp>
      <p:sp>
        <p:nvSpPr>
          <p:cNvPr id="39" name="Branch count">
            <a:extLst>
              <a:ext uri="{FF2B5EF4-FFF2-40B4-BE49-F238E27FC236}">
                <a16:creationId xmlns:a16="http://schemas.microsoft.com/office/drawing/2014/main" id="{91B15057-E1F0-4B81-81D7-DE33A44D7D55}"/>
              </a:ext>
            </a:extLst>
          </p:cNvPr>
          <p:cNvSpPr>
            <a:spLocks noGrp="1"/>
          </p:cNvSpPr>
          <p:nvPr/>
        </p:nvSpPr>
        <p:spPr>
          <a:xfrm>
            <a:off x="9886950" y="4305300"/>
            <a:ext cx="1524000" cy="323850"/>
          </a:xfrm>
          <a:prstGeom prst="rect">
            <a:avLst/>
          </a:prstGeom>
          <a:noFill/>
          <a:ln w="0">
            <a:noFill/>
          </a:ln>
        </p:spPr>
        <p:txBody>
          <a:bodyPr anchor="t">
            <a:noAutofit/>
          </a:bodyPr>
          <a:lstStyle/>
          <a:p>
            <a:pPr algn="ctr">
              <a:defRPr sz="1650" b="1">
                <a:solidFill>
                  <a:srgbClr val="2E7D32"/>
                </a:solidFill>
                <a:latin typeface="Calibri"/>
                <a:ea typeface="Calibri"/>
                <a:cs typeface="Calibri"/>
              </a:defRPr>
            </a:pPr>
            <a:r>
              <a:rPr sz="1650" b="1">
                <a:solidFill>
                  <a:srgbClr val="2E7D32"/>
                </a:solidFill>
                <a:latin typeface="Calibri"/>
                <a:ea typeface="Calibri"/>
                <a:cs typeface="Calibri"/>
              </a:rPr>
              <a:t>6 of 6</a:t>
            </a:r>
          </a:p>
        </p:txBody>
      </p:sp>
      <p:sp>
        <p:nvSpPr>
          <p:cNvPr id="40" name="Outcome label">
            <a:extLst>
              <a:ext uri="{FF2B5EF4-FFF2-40B4-BE49-F238E27FC236}">
                <a16:creationId xmlns:a16="http://schemas.microsoft.com/office/drawing/2014/main" id="{725F211C-912A-4F2E-A905-FD2EA0E21207}"/>
              </a:ext>
            </a:extLst>
          </p:cNvPr>
          <p:cNvSpPr>
            <a:spLocks noGrp="1"/>
          </p:cNvSpPr>
          <p:nvPr/>
        </p:nvSpPr>
        <p:spPr>
          <a:xfrm>
            <a:off x="9906000" y="4667250"/>
            <a:ext cx="1485900" cy="238125"/>
          </a:xfrm>
          <a:prstGeom prst="rect">
            <a:avLst/>
          </a:prstGeom>
          <a:noFill/>
          <a:ln w="0">
            <a:noFill/>
          </a:ln>
        </p:spPr>
        <p:txBody>
          <a:bodyPr anchor="t">
            <a:noAutofit/>
          </a:bodyPr>
          <a:lstStyle/>
          <a:p>
            <a:pPr algn="ctr">
              <a:defRPr sz="1200">
                <a:solidFill>
                  <a:srgbClr val="5D6A76"/>
                </a:solidFill>
                <a:latin typeface="Calibri"/>
                <a:ea typeface="Calibri"/>
                <a:cs typeface="Calibri"/>
              </a:defRPr>
            </a:pPr>
            <a:r>
              <a:rPr sz="1200">
                <a:solidFill>
                  <a:srgbClr val="5D6A76"/>
                </a:solidFill>
                <a:latin typeface="Calibri"/>
                <a:ea typeface="Calibri"/>
                <a:cs typeface="Calibri"/>
              </a:rPr>
              <a:t>branch outcomes</a:t>
            </a:r>
          </a:p>
        </p:txBody>
      </p:sp>
      <p:sp>
        <p:nvSpPr>
          <p:cNvPr id="41" name="Takeaway rule">
            <a:extLst>
              <a:ext uri="{FF2B5EF4-FFF2-40B4-BE49-F238E27FC236}">
                <a16:creationId xmlns:a16="http://schemas.microsoft.com/office/drawing/2014/main" id="{44578674-27A0-4784-B060-33158FAB4D50}"/>
              </a:ext>
            </a:extLst>
          </p:cNvPr>
          <p:cNvSpPr>
            <a:spLocks noGrp="1"/>
          </p:cNvSpPr>
          <p:nvPr/>
        </p:nvSpPr>
        <p:spPr>
          <a:xfrm>
            <a:off x="1143000" y="5600700"/>
            <a:ext cx="9906000" cy="0"/>
          </a:xfrm>
          <a:prstGeom prst="line">
            <a:avLst/>
          </a:prstGeom>
          <a:noFill/>
          <a:ln w="19050">
            <a:solidFill>
              <a:srgbClr val="2E7D32"/>
            </a:solidFill>
          </a:ln>
        </p:spPr>
        <p:txBody>
          <a:bodyPr/>
          <a:lstStyle/>
          <a:p>
            <a:endParaRPr lang="en-US"/>
          </a:p>
        </p:txBody>
      </p:sp>
      <p:sp>
        <p:nvSpPr>
          <p:cNvPr id="42" name="Takeaway">
            <a:extLst>
              <a:ext uri="{FF2B5EF4-FFF2-40B4-BE49-F238E27FC236}">
                <a16:creationId xmlns:a16="http://schemas.microsoft.com/office/drawing/2014/main" id="{39BD924F-E341-413B-9A2C-95980E1B93ED}"/>
              </a:ext>
            </a:extLst>
          </p:cNvPr>
          <p:cNvSpPr>
            <a:spLocks noGrp="1"/>
          </p:cNvSpPr>
          <p:nvPr/>
        </p:nvSpPr>
        <p:spPr>
          <a:xfrm>
            <a:off x="1362075" y="5810250"/>
            <a:ext cx="9467850" cy="400050"/>
          </a:xfrm>
          <a:prstGeom prst="rect">
            <a:avLst/>
          </a:prstGeom>
          <a:noFill/>
          <a:ln w="0">
            <a:noFill/>
          </a:ln>
        </p:spPr>
        <p:txBody>
          <a:bodyPr anchor="t">
            <a:noAutofit/>
          </a:bodyPr>
          <a:lstStyle/>
          <a:p>
            <a:pPr algn="ctr">
              <a:defRPr sz="1875" b="1">
                <a:solidFill>
                  <a:srgbClr val="235F27"/>
                </a:solidFill>
                <a:latin typeface="Calibri"/>
                <a:ea typeface="Calibri"/>
                <a:cs typeface="Calibri"/>
              </a:defRPr>
            </a:pPr>
            <a:r>
              <a:rPr sz="1875" b="1">
                <a:solidFill>
                  <a:srgbClr val="235F27"/>
                </a:solidFill>
                <a:latin typeface="Calibri"/>
                <a:ea typeface="Calibri"/>
                <a:cs typeface="Calibri"/>
              </a:rPr>
              <a:t>Together, the two tests exercise both outcomes of every decision.</a:t>
            </a:r>
          </a:p>
        </p:txBody>
      </p:sp>
    </p:spTree>
    <p:extLst>
      <p:ext uri="{BB962C8B-B14F-4D97-AF65-F5344CB8AC3E}">
        <p14:creationId xmlns:p14="http://schemas.microsoft.com/office/powerpoint/2010/main" val="614447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Title">
            <a:extLst>
              <a:ext uri="{FF2B5EF4-FFF2-40B4-BE49-F238E27FC236}">
                <a16:creationId xmlns:a16="http://schemas.microsoft.com/office/drawing/2014/main" id="{75A825ED-B001-44B4-899A-22AA1CC89BA6}"/>
              </a:ext>
            </a:extLst>
          </p:cNvPr>
          <p:cNvSpPr>
            <a:spLocks noGrp="1"/>
          </p:cNvSpPr>
          <p:nvPr/>
        </p:nvSpPr>
        <p:spPr>
          <a:xfrm>
            <a:off x="666750" y="285750"/>
            <a:ext cx="10858500" cy="552450"/>
          </a:xfrm>
          <a:prstGeom prst="rect">
            <a:avLst/>
          </a:prstGeom>
          <a:noFill/>
          <a:ln w="0">
            <a:noFill/>
          </a:ln>
        </p:spPr>
        <p:txBody>
          <a:bodyPr anchor="t">
            <a:noAutofit/>
          </a:bodyPr>
          <a:lstStyle/>
          <a:p>
            <a:pPr>
              <a:defRPr sz="2850">
                <a:solidFill>
                  <a:srgbClr val="151C23"/>
                </a:solidFill>
                <a:latin typeface="Calibri"/>
                <a:ea typeface="Calibri"/>
                <a:cs typeface="Calibri"/>
              </a:defRPr>
            </a:pPr>
            <a:r>
              <a:rPr sz="2850">
                <a:solidFill>
                  <a:srgbClr val="151C23"/>
                </a:solidFill>
                <a:latin typeface="Calibri"/>
                <a:ea typeface="Calibri"/>
                <a:cs typeface="Calibri"/>
              </a:rPr>
              <a:t>Three Binary Decisions Create Eight Execution Paths</a:t>
            </a:r>
          </a:p>
        </p:txBody>
      </p:sp>
      <p:sp>
        <p:nvSpPr>
          <p:cNvPr id="2" name="Subtitle">
            <a:extLst>
              <a:ext uri="{FF2B5EF4-FFF2-40B4-BE49-F238E27FC236}">
                <a16:creationId xmlns:a16="http://schemas.microsoft.com/office/drawing/2014/main" id="{BA6F5032-5D60-4DCA-804E-999A1B39A214}"/>
              </a:ext>
            </a:extLst>
          </p:cNvPr>
          <p:cNvSpPr>
            <a:spLocks noGrp="1"/>
          </p:cNvSpPr>
          <p:nvPr/>
        </p:nvSpPr>
        <p:spPr>
          <a:xfrm>
            <a:off x="704850" y="885825"/>
            <a:ext cx="10668000" cy="371475"/>
          </a:xfrm>
          <a:prstGeom prst="rect">
            <a:avLst/>
          </a:prstGeom>
          <a:noFill/>
          <a:ln w="0">
            <a:noFill/>
          </a:ln>
        </p:spPr>
        <p:txBody>
          <a:bodyPr anchor="t">
            <a:noAutofit/>
          </a:bodyPr>
          <a:lstStyle/>
          <a:p>
            <a:pPr>
              <a:defRPr sz="1650">
                <a:solidFill>
                  <a:srgbClr val="5E6B77"/>
                </a:solidFill>
                <a:latin typeface="Calibri"/>
                <a:ea typeface="Calibri"/>
                <a:cs typeface="Calibri"/>
              </a:defRPr>
            </a:pPr>
            <a:r>
              <a:rPr sz="1650">
                <a:solidFill>
                  <a:srgbClr val="5E6B77"/>
                </a:solidFill>
                <a:latin typeface="Calibri"/>
                <a:ea typeface="Calibri"/>
                <a:cs typeface="Calibri"/>
              </a:rPr>
              <a:t>Each decision doubles the number of complete outcome combinations.</a:t>
            </a:r>
          </a:p>
        </p:txBody>
      </p:sp>
      <p:sp>
        <p:nvSpPr>
          <p:cNvPr id="3" name="Header accent">
            <a:extLst>
              <a:ext uri="{FF2B5EF4-FFF2-40B4-BE49-F238E27FC236}">
                <a16:creationId xmlns:a16="http://schemas.microsoft.com/office/drawing/2014/main" id="{67CF5A8F-78E7-4A35-BA5F-1FD28ED8663D}"/>
              </a:ext>
            </a:extLst>
          </p:cNvPr>
          <p:cNvSpPr>
            <a:spLocks noGrp="1"/>
          </p:cNvSpPr>
          <p:nvPr/>
        </p:nvSpPr>
        <p:spPr>
          <a:xfrm>
            <a:off x="714375" y="1323975"/>
            <a:ext cx="1619250" cy="0"/>
          </a:xfrm>
          <a:prstGeom prst="line">
            <a:avLst/>
          </a:prstGeom>
          <a:noFill/>
          <a:ln w="38100">
            <a:solidFill>
              <a:srgbClr val="20364D"/>
            </a:solidFill>
          </a:ln>
        </p:spPr>
        <p:txBody>
          <a:bodyPr/>
          <a:lstStyle/>
          <a:p>
            <a:endParaRPr lang="en-US"/>
          </a:p>
        </p:txBody>
      </p:sp>
      <p:sp>
        <p:nvSpPr>
          <p:cNvPr id="4" name="Formula">
            <a:extLst>
              <a:ext uri="{FF2B5EF4-FFF2-40B4-BE49-F238E27FC236}">
                <a16:creationId xmlns:a16="http://schemas.microsoft.com/office/drawing/2014/main" id="{3A7E55DA-250E-4FAA-B8A7-25EBA5D2FE73}"/>
              </a:ext>
            </a:extLst>
          </p:cNvPr>
          <p:cNvSpPr>
            <a:spLocks noGrp="1"/>
          </p:cNvSpPr>
          <p:nvPr/>
        </p:nvSpPr>
        <p:spPr>
          <a:xfrm>
            <a:off x="4000500" y="1495425"/>
            <a:ext cx="4191000" cy="361950"/>
          </a:xfrm>
          <a:prstGeom prst="rect">
            <a:avLst/>
          </a:prstGeom>
          <a:noFill/>
          <a:ln w="0">
            <a:noFill/>
          </a:ln>
        </p:spPr>
        <p:txBody>
          <a:bodyPr anchor="t">
            <a:noAutofit/>
          </a:bodyPr>
          <a:lstStyle/>
          <a:p>
            <a:pPr algn="ctr">
              <a:defRPr sz="1950" b="1">
                <a:solidFill>
                  <a:srgbClr val="20364D"/>
                </a:solidFill>
                <a:latin typeface="Calibri"/>
                <a:ea typeface="Calibri"/>
                <a:cs typeface="Calibri"/>
              </a:defRPr>
            </a:pPr>
            <a:r>
              <a:rPr sz="1950" b="1">
                <a:solidFill>
                  <a:srgbClr val="20364D"/>
                </a:solidFill>
                <a:latin typeface="Calibri"/>
                <a:ea typeface="Calibri"/>
                <a:cs typeface="Calibri"/>
              </a:rPr>
              <a:t>2 × 2 × 2 = 2³ = 8 paths</a:t>
            </a:r>
          </a:p>
        </p:txBody>
      </p:sp>
      <p:sp>
        <p:nvSpPr>
          <p:cNvPr id="5" name="Root stem">
            <a:extLst>
              <a:ext uri="{FF2B5EF4-FFF2-40B4-BE49-F238E27FC236}">
                <a16:creationId xmlns:a16="http://schemas.microsoft.com/office/drawing/2014/main" id="{697121BC-E289-40CA-823D-5FC5643125AB}"/>
              </a:ext>
            </a:extLst>
          </p:cNvPr>
          <p:cNvSpPr>
            <a:spLocks noGrp="1"/>
          </p:cNvSpPr>
          <p:nvPr/>
        </p:nvSpPr>
        <p:spPr>
          <a:xfrm>
            <a:off x="5915025" y="2428875"/>
            <a:ext cx="0" cy="285750"/>
          </a:xfrm>
          <a:prstGeom prst="line">
            <a:avLst/>
          </a:prstGeom>
          <a:noFill/>
          <a:ln w="19050">
            <a:solidFill>
              <a:srgbClr val="5E6B77"/>
            </a:solidFill>
          </a:ln>
        </p:spPr>
        <p:txBody>
          <a:bodyPr/>
          <a:lstStyle/>
          <a:p>
            <a:endParaRPr lang="en-US"/>
          </a:p>
        </p:txBody>
      </p:sp>
      <p:sp>
        <p:nvSpPr>
          <p:cNvPr id="6" name="Root split">
            <a:extLst>
              <a:ext uri="{FF2B5EF4-FFF2-40B4-BE49-F238E27FC236}">
                <a16:creationId xmlns:a16="http://schemas.microsoft.com/office/drawing/2014/main" id="{10468D7C-998D-47BC-B9AE-E51F0AF2B65B}"/>
              </a:ext>
            </a:extLst>
          </p:cNvPr>
          <p:cNvSpPr>
            <a:spLocks noGrp="1"/>
          </p:cNvSpPr>
          <p:nvPr/>
        </p:nvSpPr>
        <p:spPr>
          <a:xfrm>
            <a:off x="3343275" y="2714625"/>
            <a:ext cx="5143500" cy="0"/>
          </a:xfrm>
          <a:prstGeom prst="line">
            <a:avLst/>
          </a:prstGeom>
          <a:noFill/>
          <a:ln w="19050">
            <a:solidFill>
              <a:srgbClr val="5E6B77"/>
            </a:solidFill>
          </a:ln>
        </p:spPr>
        <p:txBody>
          <a:bodyPr/>
          <a:lstStyle/>
          <a:p>
            <a:endParaRPr lang="en-US"/>
          </a:p>
        </p:txBody>
      </p:sp>
      <p:sp>
        <p:nvSpPr>
          <p:cNvPr id="7" name="Root left drop">
            <a:extLst>
              <a:ext uri="{FF2B5EF4-FFF2-40B4-BE49-F238E27FC236}">
                <a16:creationId xmlns:a16="http://schemas.microsoft.com/office/drawing/2014/main" id="{2150A7EA-4471-48D9-A53A-832652E2BD60}"/>
              </a:ext>
            </a:extLst>
          </p:cNvPr>
          <p:cNvSpPr>
            <a:spLocks noGrp="1"/>
          </p:cNvSpPr>
          <p:nvPr/>
        </p:nvSpPr>
        <p:spPr>
          <a:xfrm>
            <a:off x="3343275" y="2714625"/>
            <a:ext cx="0" cy="285750"/>
          </a:xfrm>
          <a:prstGeom prst="line">
            <a:avLst/>
          </a:prstGeom>
          <a:noFill/>
          <a:ln w="19050">
            <a:solidFill>
              <a:srgbClr val="5E6B77"/>
            </a:solidFill>
          </a:ln>
        </p:spPr>
        <p:txBody>
          <a:bodyPr/>
          <a:lstStyle/>
          <a:p>
            <a:endParaRPr lang="en-US"/>
          </a:p>
        </p:txBody>
      </p:sp>
      <p:sp>
        <p:nvSpPr>
          <p:cNvPr id="8" name="Root right drop">
            <a:extLst>
              <a:ext uri="{FF2B5EF4-FFF2-40B4-BE49-F238E27FC236}">
                <a16:creationId xmlns:a16="http://schemas.microsoft.com/office/drawing/2014/main" id="{AD0936E1-3EF8-41EB-B5BE-F3BBB3FE40A2}"/>
              </a:ext>
            </a:extLst>
          </p:cNvPr>
          <p:cNvSpPr>
            <a:spLocks noGrp="1"/>
          </p:cNvSpPr>
          <p:nvPr/>
        </p:nvSpPr>
        <p:spPr>
          <a:xfrm>
            <a:off x="8486775" y="2714625"/>
            <a:ext cx="0" cy="285750"/>
          </a:xfrm>
          <a:prstGeom prst="line">
            <a:avLst/>
          </a:prstGeom>
          <a:noFill/>
          <a:ln w="19050">
            <a:solidFill>
              <a:srgbClr val="5E6B77"/>
            </a:solidFill>
          </a:ln>
        </p:spPr>
        <p:txBody>
          <a:bodyPr/>
          <a:lstStyle/>
          <a:p>
            <a:endParaRPr lang="en-US"/>
          </a:p>
        </p:txBody>
      </p:sp>
      <p:sp>
        <p:nvSpPr>
          <p:cNvPr id="9" name="b2L stem">
            <a:extLst>
              <a:ext uri="{FF2B5EF4-FFF2-40B4-BE49-F238E27FC236}">
                <a16:creationId xmlns:a16="http://schemas.microsoft.com/office/drawing/2014/main" id="{A41B5B5E-314C-411C-84DD-1CC71801601A}"/>
              </a:ext>
            </a:extLst>
          </p:cNvPr>
          <p:cNvSpPr>
            <a:spLocks noGrp="1"/>
          </p:cNvSpPr>
          <p:nvPr/>
        </p:nvSpPr>
        <p:spPr>
          <a:xfrm>
            <a:off x="3343275" y="3476625"/>
            <a:ext cx="0" cy="238125"/>
          </a:xfrm>
          <a:prstGeom prst="line">
            <a:avLst/>
          </a:prstGeom>
          <a:noFill/>
          <a:ln w="19050">
            <a:solidFill>
              <a:srgbClr val="5E6B77"/>
            </a:solidFill>
          </a:ln>
        </p:spPr>
        <p:txBody>
          <a:bodyPr/>
          <a:lstStyle/>
          <a:p>
            <a:endParaRPr lang="en-US"/>
          </a:p>
        </p:txBody>
      </p:sp>
      <p:sp>
        <p:nvSpPr>
          <p:cNvPr id="10" name="b2L split">
            <a:extLst>
              <a:ext uri="{FF2B5EF4-FFF2-40B4-BE49-F238E27FC236}">
                <a16:creationId xmlns:a16="http://schemas.microsoft.com/office/drawing/2014/main" id="{1FCA5CD3-DB3A-4A0D-A082-3EDA119804DF}"/>
              </a:ext>
            </a:extLst>
          </p:cNvPr>
          <p:cNvSpPr>
            <a:spLocks noGrp="1"/>
          </p:cNvSpPr>
          <p:nvPr/>
        </p:nvSpPr>
        <p:spPr>
          <a:xfrm>
            <a:off x="2057400" y="3714750"/>
            <a:ext cx="2571750" cy="0"/>
          </a:xfrm>
          <a:prstGeom prst="line">
            <a:avLst/>
          </a:prstGeom>
          <a:noFill/>
          <a:ln w="19050">
            <a:solidFill>
              <a:srgbClr val="5E6B77"/>
            </a:solidFill>
          </a:ln>
        </p:spPr>
        <p:txBody>
          <a:bodyPr/>
          <a:lstStyle/>
          <a:p>
            <a:endParaRPr lang="en-US"/>
          </a:p>
        </p:txBody>
      </p:sp>
      <p:sp>
        <p:nvSpPr>
          <p:cNvPr id="11" name="b2L left drop">
            <a:extLst>
              <a:ext uri="{FF2B5EF4-FFF2-40B4-BE49-F238E27FC236}">
                <a16:creationId xmlns:a16="http://schemas.microsoft.com/office/drawing/2014/main" id="{32255D46-0BF9-4264-8730-35F821659C47}"/>
              </a:ext>
            </a:extLst>
          </p:cNvPr>
          <p:cNvSpPr>
            <a:spLocks noGrp="1"/>
          </p:cNvSpPr>
          <p:nvPr/>
        </p:nvSpPr>
        <p:spPr>
          <a:xfrm>
            <a:off x="2057400" y="3714750"/>
            <a:ext cx="0" cy="238125"/>
          </a:xfrm>
          <a:prstGeom prst="line">
            <a:avLst/>
          </a:prstGeom>
          <a:noFill/>
          <a:ln w="19050">
            <a:solidFill>
              <a:srgbClr val="5E6B77"/>
            </a:solidFill>
          </a:ln>
        </p:spPr>
        <p:txBody>
          <a:bodyPr/>
          <a:lstStyle/>
          <a:p>
            <a:endParaRPr lang="en-US"/>
          </a:p>
        </p:txBody>
      </p:sp>
      <p:sp>
        <p:nvSpPr>
          <p:cNvPr id="12" name="b2L right drop">
            <a:extLst>
              <a:ext uri="{FF2B5EF4-FFF2-40B4-BE49-F238E27FC236}">
                <a16:creationId xmlns:a16="http://schemas.microsoft.com/office/drawing/2014/main" id="{D7465194-351C-41B8-8EB9-54B2A01CFD82}"/>
              </a:ext>
            </a:extLst>
          </p:cNvPr>
          <p:cNvSpPr>
            <a:spLocks noGrp="1"/>
          </p:cNvSpPr>
          <p:nvPr/>
        </p:nvSpPr>
        <p:spPr>
          <a:xfrm>
            <a:off x="4629150" y="3714750"/>
            <a:ext cx="0" cy="238125"/>
          </a:xfrm>
          <a:prstGeom prst="line">
            <a:avLst/>
          </a:prstGeom>
          <a:noFill/>
          <a:ln w="19050">
            <a:solidFill>
              <a:srgbClr val="5E6B77"/>
            </a:solidFill>
          </a:ln>
        </p:spPr>
        <p:txBody>
          <a:bodyPr/>
          <a:lstStyle/>
          <a:p>
            <a:endParaRPr lang="en-US"/>
          </a:p>
        </p:txBody>
      </p:sp>
      <p:sp>
        <p:nvSpPr>
          <p:cNvPr id="13" name="b2R stem">
            <a:extLst>
              <a:ext uri="{FF2B5EF4-FFF2-40B4-BE49-F238E27FC236}">
                <a16:creationId xmlns:a16="http://schemas.microsoft.com/office/drawing/2014/main" id="{41D3A8EF-E592-4454-9171-66BAEC017F20}"/>
              </a:ext>
            </a:extLst>
          </p:cNvPr>
          <p:cNvSpPr>
            <a:spLocks noGrp="1"/>
          </p:cNvSpPr>
          <p:nvPr/>
        </p:nvSpPr>
        <p:spPr>
          <a:xfrm>
            <a:off x="8486775" y="3476625"/>
            <a:ext cx="0" cy="238125"/>
          </a:xfrm>
          <a:prstGeom prst="line">
            <a:avLst/>
          </a:prstGeom>
          <a:noFill/>
          <a:ln w="19050">
            <a:solidFill>
              <a:srgbClr val="5E6B77"/>
            </a:solidFill>
          </a:ln>
        </p:spPr>
        <p:txBody>
          <a:bodyPr/>
          <a:lstStyle/>
          <a:p>
            <a:endParaRPr lang="en-US"/>
          </a:p>
        </p:txBody>
      </p:sp>
      <p:sp>
        <p:nvSpPr>
          <p:cNvPr id="14" name="b2R split">
            <a:extLst>
              <a:ext uri="{FF2B5EF4-FFF2-40B4-BE49-F238E27FC236}">
                <a16:creationId xmlns:a16="http://schemas.microsoft.com/office/drawing/2014/main" id="{7FE4ED33-6178-4FCC-9F90-299F07CDDD0D}"/>
              </a:ext>
            </a:extLst>
          </p:cNvPr>
          <p:cNvSpPr>
            <a:spLocks noGrp="1"/>
          </p:cNvSpPr>
          <p:nvPr/>
        </p:nvSpPr>
        <p:spPr>
          <a:xfrm>
            <a:off x="7200900" y="3714750"/>
            <a:ext cx="2571750" cy="0"/>
          </a:xfrm>
          <a:prstGeom prst="line">
            <a:avLst/>
          </a:prstGeom>
          <a:noFill/>
          <a:ln w="19050">
            <a:solidFill>
              <a:srgbClr val="5E6B77"/>
            </a:solidFill>
          </a:ln>
        </p:spPr>
        <p:txBody>
          <a:bodyPr/>
          <a:lstStyle/>
          <a:p>
            <a:endParaRPr lang="en-US"/>
          </a:p>
        </p:txBody>
      </p:sp>
      <p:sp>
        <p:nvSpPr>
          <p:cNvPr id="15" name="b2R left drop">
            <a:extLst>
              <a:ext uri="{FF2B5EF4-FFF2-40B4-BE49-F238E27FC236}">
                <a16:creationId xmlns:a16="http://schemas.microsoft.com/office/drawing/2014/main" id="{9A3377C4-1FBA-4E72-B028-05A9E7B39DFF}"/>
              </a:ext>
            </a:extLst>
          </p:cNvPr>
          <p:cNvSpPr>
            <a:spLocks noGrp="1"/>
          </p:cNvSpPr>
          <p:nvPr/>
        </p:nvSpPr>
        <p:spPr>
          <a:xfrm>
            <a:off x="7200900" y="3714750"/>
            <a:ext cx="0" cy="238125"/>
          </a:xfrm>
          <a:prstGeom prst="line">
            <a:avLst/>
          </a:prstGeom>
          <a:noFill/>
          <a:ln w="19050">
            <a:solidFill>
              <a:srgbClr val="5E6B77"/>
            </a:solidFill>
          </a:ln>
        </p:spPr>
        <p:txBody>
          <a:bodyPr/>
          <a:lstStyle/>
          <a:p>
            <a:endParaRPr lang="en-US"/>
          </a:p>
        </p:txBody>
      </p:sp>
      <p:sp>
        <p:nvSpPr>
          <p:cNvPr id="16" name="b2R right drop">
            <a:extLst>
              <a:ext uri="{FF2B5EF4-FFF2-40B4-BE49-F238E27FC236}">
                <a16:creationId xmlns:a16="http://schemas.microsoft.com/office/drawing/2014/main" id="{0802C694-FE81-4A6F-AC75-5509BF30E064}"/>
              </a:ext>
            </a:extLst>
          </p:cNvPr>
          <p:cNvSpPr>
            <a:spLocks noGrp="1"/>
          </p:cNvSpPr>
          <p:nvPr/>
        </p:nvSpPr>
        <p:spPr>
          <a:xfrm>
            <a:off x="9772650" y="3714750"/>
            <a:ext cx="0" cy="238125"/>
          </a:xfrm>
          <a:prstGeom prst="line">
            <a:avLst/>
          </a:prstGeom>
          <a:noFill/>
          <a:ln w="19050">
            <a:solidFill>
              <a:srgbClr val="5E6B77"/>
            </a:solidFill>
          </a:ln>
        </p:spPr>
        <p:txBody>
          <a:bodyPr/>
          <a:lstStyle/>
          <a:p>
            <a:endParaRPr lang="en-US"/>
          </a:p>
        </p:txBody>
      </p:sp>
      <p:sp>
        <p:nvSpPr>
          <p:cNvPr id="17" name="Leaf stem 0">
            <a:extLst>
              <a:ext uri="{FF2B5EF4-FFF2-40B4-BE49-F238E27FC236}">
                <a16:creationId xmlns:a16="http://schemas.microsoft.com/office/drawing/2014/main" id="{E0E45701-F88D-427B-BE52-87CBEEC5BCE5}"/>
              </a:ext>
            </a:extLst>
          </p:cNvPr>
          <p:cNvSpPr>
            <a:spLocks noGrp="1"/>
          </p:cNvSpPr>
          <p:nvPr/>
        </p:nvSpPr>
        <p:spPr>
          <a:xfrm>
            <a:off x="2057400" y="4429125"/>
            <a:ext cx="0" cy="285750"/>
          </a:xfrm>
          <a:prstGeom prst="line">
            <a:avLst/>
          </a:prstGeom>
          <a:noFill/>
          <a:ln w="15240">
            <a:solidFill>
              <a:srgbClr val="5E6B77"/>
            </a:solidFill>
          </a:ln>
        </p:spPr>
        <p:txBody>
          <a:bodyPr/>
          <a:lstStyle/>
          <a:p>
            <a:endParaRPr lang="en-US"/>
          </a:p>
        </p:txBody>
      </p:sp>
      <p:sp>
        <p:nvSpPr>
          <p:cNvPr id="18" name="Leaf split 0">
            <a:extLst>
              <a:ext uri="{FF2B5EF4-FFF2-40B4-BE49-F238E27FC236}">
                <a16:creationId xmlns:a16="http://schemas.microsoft.com/office/drawing/2014/main" id="{CE24F359-BE35-46E7-BEE8-B7593CD2A729}"/>
              </a:ext>
            </a:extLst>
          </p:cNvPr>
          <p:cNvSpPr>
            <a:spLocks noGrp="1"/>
          </p:cNvSpPr>
          <p:nvPr/>
        </p:nvSpPr>
        <p:spPr>
          <a:xfrm>
            <a:off x="1409700" y="4714875"/>
            <a:ext cx="1285875" cy="0"/>
          </a:xfrm>
          <a:prstGeom prst="line">
            <a:avLst/>
          </a:prstGeom>
          <a:noFill/>
          <a:ln w="15240">
            <a:solidFill>
              <a:srgbClr val="5E6B77"/>
            </a:solidFill>
          </a:ln>
        </p:spPr>
        <p:txBody>
          <a:bodyPr/>
          <a:lstStyle/>
          <a:p>
            <a:endParaRPr lang="en-US"/>
          </a:p>
        </p:txBody>
      </p:sp>
      <p:sp>
        <p:nvSpPr>
          <p:cNvPr id="19" name="Leaf left drop 0">
            <a:extLst>
              <a:ext uri="{FF2B5EF4-FFF2-40B4-BE49-F238E27FC236}">
                <a16:creationId xmlns:a16="http://schemas.microsoft.com/office/drawing/2014/main" id="{CCDE05BC-069B-4779-960E-4F2BF53405E3}"/>
              </a:ext>
            </a:extLst>
          </p:cNvPr>
          <p:cNvSpPr>
            <a:spLocks noGrp="1"/>
          </p:cNvSpPr>
          <p:nvPr/>
        </p:nvSpPr>
        <p:spPr>
          <a:xfrm>
            <a:off x="1409700" y="4714875"/>
            <a:ext cx="0" cy="409575"/>
          </a:xfrm>
          <a:prstGeom prst="line">
            <a:avLst/>
          </a:prstGeom>
          <a:noFill/>
          <a:ln w="15240">
            <a:solidFill>
              <a:srgbClr val="5E6B77"/>
            </a:solidFill>
          </a:ln>
        </p:spPr>
        <p:txBody>
          <a:bodyPr/>
          <a:lstStyle/>
          <a:p>
            <a:endParaRPr lang="en-US"/>
          </a:p>
        </p:txBody>
      </p:sp>
      <p:sp>
        <p:nvSpPr>
          <p:cNvPr id="20" name="Leaf right drop 0">
            <a:extLst>
              <a:ext uri="{FF2B5EF4-FFF2-40B4-BE49-F238E27FC236}">
                <a16:creationId xmlns:a16="http://schemas.microsoft.com/office/drawing/2014/main" id="{2FCB3162-0D2C-4956-8166-CA06D962CF5D}"/>
              </a:ext>
            </a:extLst>
          </p:cNvPr>
          <p:cNvSpPr>
            <a:spLocks noGrp="1"/>
          </p:cNvSpPr>
          <p:nvPr/>
        </p:nvSpPr>
        <p:spPr>
          <a:xfrm>
            <a:off x="2695575" y="4714875"/>
            <a:ext cx="0" cy="409575"/>
          </a:xfrm>
          <a:prstGeom prst="line">
            <a:avLst/>
          </a:prstGeom>
          <a:noFill/>
          <a:ln w="15240">
            <a:solidFill>
              <a:srgbClr val="5E6B77"/>
            </a:solidFill>
          </a:ln>
        </p:spPr>
        <p:txBody>
          <a:bodyPr/>
          <a:lstStyle/>
          <a:p>
            <a:endParaRPr lang="en-US"/>
          </a:p>
        </p:txBody>
      </p:sp>
      <p:sp>
        <p:nvSpPr>
          <p:cNvPr id="21" name="Leaf T 0">
            <a:extLst>
              <a:ext uri="{FF2B5EF4-FFF2-40B4-BE49-F238E27FC236}">
                <a16:creationId xmlns:a16="http://schemas.microsoft.com/office/drawing/2014/main" id="{6273BB8F-10E3-45A7-9CA1-7EBC1B90F1A4}"/>
              </a:ext>
            </a:extLst>
          </p:cNvPr>
          <p:cNvSpPr>
            <a:spLocks noGrp="1"/>
          </p:cNvSpPr>
          <p:nvPr/>
        </p:nvSpPr>
        <p:spPr>
          <a:xfrm>
            <a:off x="1143000" y="4810125"/>
            <a:ext cx="209550" cy="190500"/>
          </a:xfrm>
          <a:prstGeom prst="rect">
            <a:avLst/>
          </a:prstGeom>
          <a:noFill/>
          <a:ln w="0">
            <a:noFill/>
          </a:ln>
        </p:spPr>
        <p:txBody>
          <a:bodyPr anchor="t">
            <a:noAutofit/>
          </a:bodyPr>
          <a:lstStyle/>
          <a:p>
            <a:pPr algn="ctr">
              <a:defRPr sz="1050" b="1">
                <a:solidFill>
                  <a:srgbClr val="2E7D32"/>
                </a:solidFill>
                <a:latin typeface="Calibri"/>
                <a:ea typeface="Calibri"/>
                <a:cs typeface="Calibri"/>
              </a:defRPr>
            </a:pPr>
            <a:r>
              <a:rPr sz="1050" b="1">
                <a:solidFill>
                  <a:srgbClr val="2E7D32"/>
                </a:solidFill>
                <a:latin typeface="Calibri"/>
                <a:ea typeface="Calibri"/>
                <a:cs typeface="Calibri"/>
              </a:rPr>
              <a:t>T</a:t>
            </a:r>
          </a:p>
        </p:txBody>
      </p:sp>
      <p:sp>
        <p:nvSpPr>
          <p:cNvPr id="22" name="Leaf F 0">
            <a:extLst>
              <a:ext uri="{FF2B5EF4-FFF2-40B4-BE49-F238E27FC236}">
                <a16:creationId xmlns:a16="http://schemas.microsoft.com/office/drawing/2014/main" id="{239E811E-2551-4C53-B165-D36BEFA62887}"/>
              </a:ext>
            </a:extLst>
          </p:cNvPr>
          <p:cNvSpPr>
            <a:spLocks noGrp="1"/>
          </p:cNvSpPr>
          <p:nvPr/>
        </p:nvSpPr>
        <p:spPr>
          <a:xfrm>
            <a:off x="2752725" y="4810125"/>
            <a:ext cx="209550" cy="190500"/>
          </a:xfrm>
          <a:prstGeom prst="rect">
            <a:avLst/>
          </a:prstGeom>
          <a:noFill/>
          <a:ln w="0">
            <a:noFill/>
          </a:ln>
        </p:spPr>
        <p:txBody>
          <a:bodyPr anchor="t">
            <a:noAutofit/>
          </a:bodyPr>
          <a:lstStyle/>
          <a:p>
            <a:pPr algn="ctr">
              <a:defRPr sz="1050" b="1">
                <a:solidFill>
                  <a:srgbClr val="C62828"/>
                </a:solidFill>
                <a:latin typeface="Calibri"/>
                <a:ea typeface="Calibri"/>
                <a:cs typeface="Calibri"/>
              </a:defRPr>
            </a:pPr>
            <a:r>
              <a:rPr sz="1050" b="1">
                <a:solidFill>
                  <a:srgbClr val="C62828"/>
                </a:solidFill>
                <a:latin typeface="Calibri"/>
                <a:ea typeface="Calibri"/>
                <a:cs typeface="Calibri"/>
              </a:rPr>
              <a:t>F</a:t>
            </a:r>
          </a:p>
        </p:txBody>
      </p:sp>
      <p:sp>
        <p:nvSpPr>
          <p:cNvPr id="23" name="Leaf stem 1">
            <a:extLst>
              <a:ext uri="{FF2B5EF4-FFF2-40B4-BE49-F238E27FC236}">
                <a16:creationId xmlns:a16="http://schemas.microsoft.com/office/drawing/2014/main" id="{EC992397-BCC4-46A8-8C22-A0233BC31EDB}"/>
              </a:ext>
            </a:extLst>
          </p:cNvPr>
          <p:cNvSpPr>
            <a:spLocks noGrp="1"/>
          </p:cNvSpPr>
          <p:nvPr/>
        </p:nvSpPr>
        <p:spPr>
          <a:xfrm>
            <a:off x="4629150" y="4429125"/>
            <a:ext cx="0" cy="285750"/>
          </a:xfrm>
          <a:prstGeom prst="line">
            <a:avLst/>
          </a:prstGeom>
          <a:noFill/>
          <a:ln w="15240">
            <a:solidFill>
              <a:srgbClr val="5E6B77"/>
            </a:solidFill>
          </a:ln>
        </p:spPr>
        <p:txBody>
          <a:bodyPr/>
          <a:lstStyle/>
          <a:p>
            <a:endParaRPr lang="en-US"/>
          </a:p>
        </p:txBody>
      </p:sp>
      <p:sp>
        <p:nvSpPr>
          <p:cNvPr id="24" name="Leaf split 1">
            <a:extLst>
              <a:ext uri="{FF2B5EF4-FFF2-40B4-BE49-F238E27FC236}">
                <a16:creationId xmlns:a16="http://schemas.microsoft.com/office/drawing/2014/main" id="{77248DFD-0DAD-473E-B8FD-BE588DDF8955}"/>
              </a:ext>
            </a:extLst>
          </p:cNvPr>
          <p:cNvSpPr>
            <a:spLocks noGrp="1"/>
          </p:cNvSpPr>
          <p:nvPr/>
        </p:nvSpPr>
        <p:spPr>
          <a:xfrm>
            <a:off x="3981450" y="4714875"/>
            <a:ext cx="1285875" cy="0"/>
          </a:xfrm>
          <a:prstGeom prst="line">
            <a:avLst/>
          </a:prstGeom>
          <a:noFill/>
          <a:ln w="15240">
            <a:solidFill>
              <a:srgbClr val="5E6B77"/>
            </a:solidFill>
          </a:ln>
        </p:spPr>
        <p:txBody>
          <a:bodyPr/>
          <a:lstStyle/>
          <a:p>
            <a:endParaRPr lang="en-US"/>
          </a:p>
        </p:txBody>
      </p:sp>
      <p:sp>
        <p:nvSpPr>
          <p:cNvPr id="25" name="Leaf left drop 1">
            <a:extLst>
              <a:ext uri="{FF2B5EF4-FFF2-40B4-BE49-F238E27FC236}">
                <a16:creationId xmlns:a16="http://schemas.microsoft.com/office/drawing/2014/main" id="{0C9F84F8-78A2-47E9-9121-55D26BE49A93}"/>
              </a:ext>
            </a:extLst>
          </p:cNvPr>
          <p:cNvSpPr>
            <a:spLocks noGrp="1"/>
          </p:cNvSpPr>
          <p:nvPr/>
        </p:nvSpPr>
        <p:spPr>
          <a:xfrm>
            <a:off x="3981450" y="4714875"/>
            <a:ext cx="0" cy="409575"/>
          </a:xfrm>
          <a:prstGeom prst="line">
            <a:avLst/>
          </a:prstGeom>
          <a:noFill/>
          <a:ln w="15240">
            <a:solidFill>
              <a:srgbClr val="5E6B77"/>
            </a:solidFill>
          </a:ln>
        </p:spPr>
        <p:txBody>
          <a:bodyPr/>
          <a:lstStyle/>
          <a:p>
            <a:endParaRPr lang="en-US"/>
          </a:p>
        </p:txBody>
      </p:sp>
      <p:sp>
        <p:nvSpPr>
          <p:cNvPr id="26" name="Leaf right drop 1">
            <a:extLst>
              <a:ext uri="{FF2B5EF4-FFF2-40B4-BE49-F238E27FC236}">
                <a16:creationId xmlns:a16="http://schemas.microsoft.com/office/drawing/2014/main" id="{5E8EB096-9C72-4CBA-B85C-F8556FFA6FFC}"/>
              </a:ext>
            </a:extLst>
          </p:cNvPr>
          <p:cNvSpPr>
            <a:spLocks noGrp="1"/>
          </p:cNvSpPr>
          <p:nvPr/>
        </p:nvSpPr>
        <p:spPr>
          <a:xfrm>
            <a:off x="5267325" y="4714875"/>
            <a:ext cx="0" cy="409575"/>
          </a:xfrm>
          <a:prstGeom prst="line">
            <a:avLst/>
          </a:prstGeom>
          <a:noFill/>
          <a:ln w="15240">
            <a:solidFill>
              <a:srgbClr val="5E6B77"/>
            </a:solidFill>
          </a:ln>
        </p:spPr>
        <p:txBody>
          <a:bodyPr/>
          <a:lstStyle/>
          <a:p>
            <a:endParaRPr lang="en-US"/>
          </a:p>
        </p:txBody>
      </p:sp>
      <p:sp>
        <p:nvSpPr>
          <p:cNvPr id="27" name="Leaf T 1">
            <a:extLst>
              <a:ext uri="{FF2B5EF4-FFF2-40B4-BE49-F238E27FC236}">
                <a16:creationId xmlns:a16="http://schemas.microsoft.com/office/drawing/2014/main" id="{69867A58-2F3F-4FBE-8D68-B47D536251B8}"/>
              </a:ext>
            </a:extLst>
          </p:cNvPr>
          <p:cNvSpPr>
            <a:spLocks noGrp="1"/>
          </p:cNvSpPr>
          <p:nvPr/>
        </p:nvSpPr>
        <p:spPr>
          <a:xfrm>
            <a:off x="3714750" y="4810125"/>
            <a:ext cx="209550" cy="190500"/>
          </a:xfrm>
          <a:prstGeom prst="rect">
            <a:avLst/>
          </a:prstGeom>
          <a:noFill/>
          <a:ln w="0">
            <a:noFill/>
          </a:ln>
        </p:spPr>
        <p:txBody>
          <a:bodyPr anchor="t">
            <a:noAutofit/>
          </a:bodyPr>
          <a:lstStyle/>
          <a:p>
            <a:pPr algn="ctr">
              <a:defRPr sz="1050" b="1">
                <a:solidFill>
                  <a:srgbClr val="2E7D32"/>
                </a:solidFill>
                <a:latin typeface="Calibri"/>
                <a:ea typeface="Calibri"/>
                <a:cs typeface="Calibri"/>
              </a:defRPr>
            </a:pPr>
            <a:r>
              <a:rPr sz="1050" b="1">
                <a:solidFill>
                  <a:srgbClr val="2E7D32"/>
                </a:solidFill>
                <a:latin typeface="Calibri"/>
                <a:ea typeface="Calibri"/>
                <a:cs typeface="Calibri"/>
              </a:rPr>
              <a:t>T</a:t>
            </a:r>
          </a:p>
        </p:txBody>
      </p:sp>
      <p:sp>
        <p:nvSpPr>
          <p:cNvPr id="28" name="Leaf F 1">
            <a:extLst>
              <a:ext uri="{FF2B5EF4-FFF2-40B4-BE49-F238E27FC236}">
                <a16:creationId xmlns:a16="http://schemas.microsoft.com/office/drawing/2014/main" id="{9A902FE8-2EFF-4748-B927-9F4696B70E60}"/>
              </a:ext>
            </a:extLst>
          </p:cNvPr>
          <p:cNvSpPr>
            <a:spLocks noGrp="1"/>
          </p:cNvSpPr>
          <p:nvPr/>
        </p:nvSpPr>
        <p:spPr>
          <a:xfrm>
            <a:off x="5324475" y="4810125"/>
            <a:ext cx="209550" cy="190500"/>
          </a:xfrm>
          <a:prstGeom prst="rect">
            <a:avLst/>
          </a:prstGeom>
          <a:noFill/>
          <a:ln w="0">
            <a:noFill/>
          </a:ln>
        </p:spPr>
        <p:txBody>
          <a:bodyPr anchor="t">
            <a:noAutofit/>
          </a:bodyPr>
          <a:lstStyle/>
          <a:p>
            <a:pPr algn="ctr">
              <a:defRPr sz="1050" b="1">
                <a:solidFill>
                  <a:srgbClr val="C62828"/>
                </a:solidFill>
                <a:latin typeface="Calibri"/>
                <a:ea typeface="Calibri"/>
                <a:cs typeface="Calibri"/>
              </a:defRPr>
            </a:pPr>
            <a:r>
              <a:rPr sz="1050" b="1">
                <a:solidFill>
                  <a:srgbClr val="C62828"/>
                </a:solidFill>
                <a:latin typeface="Calibri"/>
                <a:ea typeface="Calibri"/>
                <a:cs typeface="Calibri"/>
              </a:rPr>
              <a:t>F</a:t>
            </a:r>
          </a:p>
        </p:txBody>
      </p:sp>
      <p:sp>
        <p:nvSpPr>
          <p:cNvPr id="29" name="Leaf stem 2">
            <a:extLst>
              <a:ext uri="{FF2B5EF4-FFF2-40B4-BE49-F238E27FC236}">
                <a16:creationId xmlns:a16="http://schemas.microsoft.com/office/drawing/2014/main" id="{3317E472-88C4-42D1-BD56-5A62648328CB}"/>
              </a:ext>
            </a:extLst>
          </p:cNvPr>
          <p:cNvSpPr>
            <a:spLocks noGrp="1"/>
          </p:cNvSpPr>
          <p:nvPr/>
        </p:nvSpPr>
        <p:spPr>
          <a:xfrm>
            <a:off x="7200900" y="4429125"/>
            <a:ext cx="0" cy="285750"/>
          </a:xfrm>
          <a:prstGeom prst="line">
            <a:avLst/>
          </a:prstGeom>
          <a:noFill/>
          <a:ln w="15240">
            <a:solidFill>
              <a:srgbClr val="5E6B77"/>
            </a:solidFill>
          </a:ln>
        </p:spPr>
        <p:txBody>
          <a:bodyPr/>
          <a:lstStyle/>
          <a:p>
            <a:endParaRPr lang="en-US"/>
          </a:p>
        </p:txBody>
      </p:sp>
      <p:sp>
        <p:nvSpPr>
          <p:cNvPr id="30" name="Leaf split 2">
            <a:extLst>
              <a:ext uri="{FF2B5EF4-FFF2-40B4-BE49-F238E27FC236}">
                <a16:creationId xmlns:a16="http://schemas.microsoft.com/office/drawing/2014/main" id="{61CBFEDC-57EB-4C59-8E5F-97A91C950651}"/>
              </a:ext>
            </a:extLst>
          </p:cNvPr>
          <p:cNvSpPr>
            <a:spLocks noGrp="1"/>
          </p:cNvSpPr>
          <p:nvPr/>
        </p:nvSpPr>
        <p:spPr>
          <a:xfrm>
            <a:off x="6553200" y="4714875"/>
            <a:ext cx="1285875" cy="0"/>
          </a:xfrm>
          <a:prstGeom prst="line">
            <a:avLst/>
          </a:prstGeom>
          <a:noFill/>
          <a:ln w="15240">
            <a:solidFill>
              <a:srgbClr val="5E6B77"/>
            </a:solidFill>
          </a:ln>
        </p:spPr>
        <p:txBody>
          <a:bodyPr/>
          <a:lstStyle/>
          <a:p>
            <a:endParaRPr lang="en-US"/>
          </a:p>
        </p:txBody>
      </p:sp>
      <p:sp>
        <p:nvSpPr>
          <p:cNvPr id="31" name="Leaf left drop 2">
            <a:extLst>
              <a:ext uri="{FF2B5EF4-FFF2-40B4-BE49-F238E27FC236}">
                <a16:creationId xmlns:a16="http://schemas.microsoft.com/office/drawing/2014/main" id="{F730101A-AA97-40C6-8F25-91F4BB491E71}"/>
              </a:ext>
            </a:extLst>
          </p:cNvPr>
          <p:cNvSpPr>
            <a:spLocks noGrp="1"/>
          </p:cNvSpPr>
          <p:nvPr/>
        </p:nvSpPr>
        <p:spPr>
          <a:xfrm>
            <a:off x="6553200" y="4714875"/>
            <a:ext cx="0" cy="409575"/>
          </a:xfrm>
          <a:prstGeom prst="line">
            <a:avLst/>
          </a:prstGeom>
          <a:noFill/>
          <a:ln w="15240">
            <a:solidFill>
              <a:srgbClr val="5E6B77"/>
            </a:solidFill>
          </a:ln>
        </p:spPr>
        <p:txBody>
          <a:bodyPr/>
          <a:lstStyle/>
          <a:p>
            <a:endParaRPr lang="en-US"/>
          </a:p>
        </p:txBody>
      </p:sp>
      <p:sp>
        <p:nvSpPr>
          <p:cNvPr id="32" name="Leaf right drop 2">
            <a:extLst>
              <a:ext uri="{FF2B5EF4-FFF2-40B4-BE49-F238E27FC236}">
                <a16:creationId xmlns:a16="http://schemas.microsoft.com/office/drawing/2014/main" id="{2676E2FE-D3FB-4247-959C-E404CA2B3823}"/>
              </a:ext>
            </a:extLst>
          </p:cNvPr>
          <p:cNvSpPr>
            <a:spLocks noGrp="1"/>
          </p:cNvSpPr>
          <p:nvPr/>
        </p:nvSpPr>
        <p:spPr>
          <a:xfrm>
            <a:off x="7839075" y="4714875"/>
            <a:ext cx="0" cy="409575"/>
          </a:xfrm>
          <a:prstGeom prst="line">
            <a:avLst/>
          </a:prstGeom>
          <a:noFill/>
          <a:ln w="15240">
            <a:solidFill>
              <a:srgbClr val="5E6B77"/>
            </a:solidFill>
          </a:ln>
        </p:spPr>
        <p:txBody>
          <a:bodyPr/>
          <a:lstStyle/>
          <a:p>
            <a:endParaRPr lang="en-US"/>
          </a:p>
        </p:txBody>
      </p:sp>
      <p:sp>
        <p:nvSpPr>
          <p:cNvPr id="33" name="Leaf T 2">
            <a:extLst>
              <a:ext uri="{FF2B5EF4-FFF2-40B4-BE49-F238E27FC236}">
                <a16:creationId xmlns:a16="http://schemas.microsoft.com/office/drawing/2014/main" id="{53DA1FA2-1D0C-4E48-B5E9-639B3DFA86DB}"/>
              </a:ext>
            </a:extLst>
          </p:cNvPr>
          <p:cNvSpPr>
            <a:spLocks noGrp="1"/>
          </p:cNvSpPr>
          <p:nvPr/>
        </p:nvSpPr>
        <p:spPr>
          <a:xfrm>
            <a:off x="6286500" y="4810125"/>
            <a:ext cx="209550" cy="190500"/>
          </a:xfrm>
          <a:prstGeom prst="rect">
            <a:avLst/>
          </a:prstGeom>
          <a:noFill/>
          <a:ln w="0">
            <a:noFill/>
          </a:ln>
        </p:spPr>
        <p:txBody>
          <a:bodyPr anchor="t">
            <a:noAutofit/>
          </a:bodyPr>
          <a:lstStyle/>
          <a:p>
            <a:pPr algn="ctr">
              <a:defRPr sz="1050" b="1">
                <a:solidFill>
                  <a:srgbClr val="2E7D32"/>
                </a:solidFill>
                <a:latin typeface="Calibri"/>
                <a:ea typeface="Calibri"/>
                <a:cs typeface="Calibri"/>
              </a:defRPr>
            </a:pPr>
            <a:r>
              <a:rPr sz="1050" b="1">
                <a:solidFill>
                  <a:srgbClr val="2E7D32"/>
                </a:solidFill>
                <a:latin typeface="Calibri"/>
                <a:ea typeface="Calibri"/>
                <a:cs typeface="Calibri"/>
              </a:rPr>
              <a:t>T</a:t>
            </a:r>
          </a:p>
        </p:txBody>
      </p:sp>
      <p:sp>
        <p:nvSpPr>
          <p:cNvPr id="34" name="Leaf F 2">
            <a:extLst>
              <a:ext uri="{FF2B5EF4-FFF2-40B4-BE49-F238E27FC236}">
                <a16:creationId xmlns:a16="http://schemas.microsoft.com/office/drawing/2014/main" id="{1BFFF690-1CD6-4740-B02E-5316382D760F}"/>
              </a:ext>
            </a:extLst>
          </p:cNvPr>
          <p:cNvSpPr>
            <a:spLocks noGrp="1"/>
          </p:cNvSpPr>
          <p:nvPr/>
        </p:nvSpPr>
        <p:spPr>
          <a:xfrm>
            <a:off x="7896225" y="4810125"/>
            <a:ext cx="209550" cy="190500"/>
          </a:xfrm>
          <a:prstGeom prst="rect">
            <a:avLst/>
          </a:prstGeom>
          <a:noFill/>
          <a:ln w="0">
            <a:noFill/>
          </a:ln>
        </p:spPr>
        <p:txBody>
          <a:bodyPr anchor="t">
            <a:noAutofit/>
          </a:bodyPr>
          <a:lstStyle/>
          <a:p>
            <a:pPr algn="ctr">
              <a:defRPr sz="1050" b="1">
                <a:solidFill>
                  <a:srgbClr val="C62828"/>
                </a:solidFill>
                <a:latin typeface="Calibri"/>
                <a:ea typeface="Calibri"/>
                <a:cs typeface="Calibri"/>
              </a:defRPr>
            </a:pPr>
            <a:r>
              <a:rPr sz="1050" b="1">
                <a:solidFill>
                  <a:srgbClr val="C62828"/>
                </a:solidFill>
                <a:latin typeface="Calibri"/>
                <a:ea typeface="Calibri"/>
                <a:cs typeface="Calibri"/>
              </a:rPr>
              <a:t>F</a:t>
            </a:r>
          </a:p>
        </p:txBody>
      </p:sp>
      <p:sp>
        <p:nvSpPr>
          <p:cNvPr id="35" name="Leaf stem 3">
            <a:extLst>
              <a:ext uri="{FF2B5EF4-FFF2-40B4-BE49-F238E27FC236}">
                <a16:creationId xmlns:a16="http://schemas.microsoft.com/office/drawing/2014/main" id="{890E3EB8-1257-4A6E-A48C-83854BD7CCF6}"/>
              </a:ext>
            </a:extLst>
          </p:cNvPr>
          <p:cNvSpPr>
            <a:spLocks noGrp="1"/>
          </p:cNvSpPr>
          <p:nvPr/>
        </p:nvSpPr>
        <p:spPr>
          <a:xfrm>
            <a:off x="9772650" y="4429125"/>
            <a:ext cx="0" cy="285750"/>
          </a:xfrm>
          <a:prstGeom prst="line">
            <a:avLst/>
          </a:prstGeom>
          <a:noFill/>
          <a:ln w="15240">
            <a:solidFill>
              <a:srgbClr val="5E6B77"/>
            </a:solidFill>
          </a:ln>
        </p:spPr>
        <p:txBody>
          <a:bodyPr/>
          <a:lstStyle/>
          <a:p>
            <a:endParaRPr lang="en-US"/>
          </a:p>
        </p:txBody>
      </p:sp>
      <p:sp>
        <p:nvSpPr>
          <p:cNvPr id="36" name="Leaf split 3">
            <a:extLst>
              <a:ext uri="{FF2B5EF4-FFF2-40B4-BE49-F238E27FC236}">
                <a16:creationId xmlns:a16="http://schemas.microsoft.com/office/drawing/2014/main" id="{5D0359BD-860C-4A76-8B9F-E2DC6946D151}"/>
              </a:ext>
            </a:extLst>
          </p:cNvPr>
          <p:cNvSpPr>
            <a:spLocks noGrp="1"/>
          </p:cNvSpPr>
          <p:nvPr/>
        </p:nvSpPr>
        <p:spPr>
          <a:xfrm>
            <a:off x="9124950" y="4714875"/>
            <a:ext cx="1285875" cy="0"/>
          </a:xfrm>
          <a:prstGeom prst="line">
            <a:avLst/>
          </a:prstGeom>
          <a:noFill/>
          <a:ln w="15240">
            <a:solidFill>
              <a:srgbClr val="5E6B77"/>
            </a:solidFill>
          </a:ln>
        </p:spPr>
        <p:txBody>
          <a:bodyPr/>
          <a:lstStyle/>
          <a:p>
            <a:endParaRPr lang="en-US"/>
          </a:p>
        </p:txBody>
      </p:sp>
      <p:sp>
        <p:nvSpPr>
          <p:cNvPr id="37" name="Leaf left drop 3">
            <a:extLst>
              <a:ext uri="{FF2B5EF4-FFF2-40B4-BE49-F238E27FC236}">
                <a16:creationId xmlns:a16="http://schemas.microsoft.com/office/drawing/2014/main" id="{BD5E62F5-C717-43A2-9944-A3E61619B939}"/>
              </a:ext>
            </a:extLst>
          </p:cNvPr>
          <p:cNvSpPr>
            <a:spLocks noGrp="1"/>
          </p:cNvSpPr>
          <p:nvPr/>
        </p:nvSpPr>
        <p:spPr>
          <a:xfrm>
            <a:off x="9124950" y="4714875"/>
            <a:ext cx="0" cy="409575"/>
          </a:xfrm>
          <a:prstGeom prst="line">
            <a:avLst/>
          </a:prstGeom>
          <a:noFill/>
          <a:ln w="15240">
            <a:solidFill>
              <a:srgbClr val="5E6B77"/>
            </a:solidFill>
          </a:ln>
        </p:spPr>
        <p:txBody>
          <a:bodyPr/>
          <a:lstStyle/>
          <a:p>
            <a:endParaRPr lang="en-US"/>
          </a:p>
        </p:txBody>
      </p:sp>
      <p:sp>
        <p:nvSpPr>
          <p:cNvPr id="38" name="Leaf right drop 3">
            <a:extLst>
              <a:ext uri="{FF2B5EF4-FFF2-40B4-BE49-F238E27FC236}">
                <a16:creationId xmlns:a16="http://schemas.microsoft.com/office/drawing/2014/main" id="{9B15E291-8CAA-4BE3-92B8-A7BF18C7E5EE}"/>
              </a:ext>
            </a:extLst>
          </p:cNvPr>
          <p:cNvSpPr>
            <a:spLocks noGrp="1"/>
          </p:cNvSpPr>
          <p:nvPr/>
        </p:nvSpPr>
        <p:spPr>
          <a:xfrm>
            <a:off x="10410825" y="4714875"/>
            <a:ext cx="0" cy="409575"/>
          </a:xfrm>
          <a:prstGeom prst="line">
            <a:avLst/>
          </a:prstGeom>
          <a:noFill/>
          <a:ln w="15240">
            <a:solidFill>
              <a:srgbClr val="5E6B77"/>
            </a:solidFill>
          </a:ln>
        </p:spPr>
        <p:txBody>
          <a:bodyPr/>
          <a:lstStyle/>
          <a:p>
            <a:endParaRPr lang="en-US"/>
          </a:p>
        </p:txBody>
      </p:sp>
      <p:sp>
        <p:nvSpPr>
          <p:cNvPr id="39" name="Leaf T 3">
            <a:extLst>
              <a:ext uri="{FF2B5EF4-FFF2-40B4-BE49-F238E27FC236}">
                <a16:creationId xmlns:a16="http://schemas.microsoft.com/office/drawing/2014/main" id="{E9799776-7492-4F85-B848-D82C073869A6}"/>
              </a:ext>
            </a:extLst>
          </p:cNvPr>
          <p:cNvSpPr>
            <a:spLocks noGrp="1"/>
          </p:cNvSpPr>
          <p:nvPr/>
        </p:nvSpPr>
        <p:spPr>
          <a:xfrm>
            <a:off x="8858250" y="4810125"/>
            <a:ext cx="209550" cy="190500"/>
          </a:xfrm>
          <a:prstGeom prst="rect">
            <a:avLst/>
          </a:prstGeom>
          <a:noFill/>
          <a:ln w="0">
            <a:noFill/>
          </a:ln>
        </p:spPr>
        <p:txBody>
          <a:bodyPr anchor="t">
            <a:noAutofit/>
          </a:bodyPr>
          <a:lstStyle/>
          <a:p>
            <a:pPr algn="ctr">
              <a:defRPr sz="1050" b="1">
                <a:solidFill>
                  <a:srgbClr val="2E7D32"/>
                </a:solidFill>
                <a:latin typeface="Calibri"/>
                <a:ea typeface="Calibri"/>
                <a:cs typeface="Calibri"/>
              </a:defRPr>
            </a:pPr>
            <a:r>
              <a:rPr sz="1050" b="1">
                <a:solidFill>
                  <a:srgbClr val="2E7D32"/>
                </a:solidFill>
                <a:latin typeface="Calibri"/>
                <a:ea typeface="Calibri"/>
                <a:cs typeface="Calibri"/>
              </a:rPr>
              <a:t>T</a:t>
            </a:r>
          </a:p>
        </p:txBody>
      </p:sp>
      <p:sp>
        <p:nvSpPr>
          <p:cNvPr id="40" name="Leaf F 3">
            <a:extLst>
              <a:ext uri="{FF2B5EF4-FFF2-40B4-BE49-F238E27FC236}">
                <a16:creationId xmlns:a16="http://schemas.microsoft.com/office/drawing/2014/main" id="{BD8DFB58-F0DA-4289-874E-E8694FC1763C}"/>
              </a:ext>
            </a:extLst>
          </p:cNvPr>
          <p:cNvSpPr>
            <a:spLocks noGrp="1"/>
          </p:cNvSpPr>
          <p:nvPr/>
        </p:nvSpPr>
        <p:spPr>
          <a:xfrm>
            <a:off x="10467975" y="4810125"/>
            <a:ext cx="209550" cy="190500"/>
          </a:xfrm>
          <a:prstGeom prst="rect">
            <a:avLst/>
          </a:prstGeom>
          <a:noFill/>
          <a:ln w="0">
            <a:noFill/>
          </a:ln>
        </p:spPr>
        <p:txBody>
          <a:bodyPr anchor="t">
            <a:noAutofit/>
          </a:bodyPr>
          <a:lstStyle/>
          <a:p>
            <a:pPr algn="ctr">
              <a:defRPr sz="1050" b="1">
                <a:solidFill>
                  <a:srgbClr val="C62828"/>
                </a:solidFill>
                <a:latin typeface="Calibri"/>
                <a:ea typeface="Calibri"/>
                <a:cs typeface="Calibri"/>
              </a:defRPr>
            </a:pPr>
            <a:r>
              <a:rPr sz="1050" b="1">
                <a:solidFill>
                  <a:srgbClr val="C62828"/>
                </a:solidFill>
                <a:latin typeface="Calibri"/>
                <a:ea typeface="Calibri"/>
                <a:cs typeface="Calibri"/>
              </a:rPr>
              <a:t>F</a:t>
            </a:r>
          </a:p>
        </p:txBody>
      </p:sp>
      <p:sp>
        <p:nvSpPr>
          <p:cNvPr id="41" name="b1 node">
            <a:extLst>
              <a:ext uri="{FF2B5EF4-FFF2-40B4-BE49-F238E27FC236}">
                <a16:creationId xmlns:a16="http://schemas.microsoft.com/office/drawing/2014/main" id="{85F44CDA-77F7-4C12-95D6-20021F31E7AA}"/>
              </a:ext>
            </a:extLst>
          </p:cNvPr>
          <p:cNvSpPr>
            <a:spLocks noGrp="1"/>
          </p:cNvSpPr>
          <p:nvPr/>
        </p:nvSpPr>
        <p:spPr>
          <a:xfrm>
            <a:off x="5676900" y="1952625"/>
            <a:ext cx="476250" cy="476250"/>
          </a:xfrm>
          <a:prstGeom prst="ellipse">
            <a:avLst/>
          </a:prstGeom>
          <a:solidFill>
            <a:srgbClr val="FFFFFF"/>
          </a:solidFill>
          <a:ln w="19050">
            <a:solidFill>
              <a:srgbClr val="20364D"/>
            </a:solidFill>
          </a:ln>
        </p:spPr>
        <p:txBody>
          <a:bodyPr/>
          <a:lstStyle/>
          <a:p>
            <a:endParaRPr lang="en-US"/>
          </a:p>
        </p:txBody>
      </p:sp>
      <p:sp>
        <p:nvSpPr>
          <p:cNvPr id="42" name="b1 label">
            <a:extLst>
              <a:ext uri="{FF2B5EF4-FFF2-40B4-BE49-F238E27FC236}">
                <a16:creationId xmlns:a16="http://schemas.microsoft.com/office/drawing/2014/main" id="{C8F9453A-79B6-4BE0-965B-44B28928A0E0}"/>
              </a:ext>
            </a:extLst>
          </p:cNvPr>
          <p:cNvSpPr>
            <a:spLocks noGrp="1"/>
          </p:cNvSpPr>
          <p:nvPr/>
        </p:nvSpPr>
        <p:spPr>
          <a:xfrm>
            <a:off x="5676900" y="2057400"/>
            <a:ext cx="476250" cy="25717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b1</a:t>
            </a:r>
          </a:p>
        </p:txBody>
      </p:sp>
      <p:sp>
        <p:nvSpPr>
          <p:cNvPr id="43" name="b2L node">
            <a:extLst>
              <a:ext uri="{FF2B5EF4-FFF2-40B4-BE49-F238E27FC236}">
                <a16:creationId xmlns:a16="http://schemas.microsoft.com/office/drawing/2014/main" id="{EF5E4F3F-70C3-4686-9515-20F73E1F43F8}"/>
              </a:ext>
            </a:extLst>
          </p:cNvPr>
          <p:cNvSpPr>
            <a:spLocks noGrp="1"/>
          </p:cNvSpPr>
          <p:nvPr/>
        </p:nvSpPr>
        <p:spPr>
          <a:xfrm>
            <a:off x="3105150" y="3000375"/>
            <a:ext cx="476250" cy="476250"/>
          </a:xfrm>
          <a:prstGeom prst="ellipse">
            <a:avLst/>
          </a:prstGeom>
          <a:solidFill>
            <a:srgbClr val="FFFFFF"/>
          </a:solidFill>
          <a:ln w="19050">
            <a:solidFill>
              <a:srgbClr val="20364D"/>
            </a:solidFill>
          </a:ln>
        </p:spPr>
        <p:txBody>
          <a:bodyPr/>
          <a:lstStyle/>
          <a:p>
            <a:endParaRPr lang="en-US"/>
          </a:p>
        </p:txBody>
      </p:sp>
      <p:sp>
        <p:nvSpPr>
          <p:cNvPr id="44" name="b2L label">
            <a:extLst>
              <a:ext uri="{FF2B5EF4-FFF2-40B4-BE49-F238E27FC236}">
                <a16:creationId xmlns:a16="http://schemas.microsoft.com/office/drawing/2014/main" id="{7E18A2B4-7A04-4D7C-8E34-35A6EA892EA7}"/>
              </a:ext>
            </a:extLst>
          </p:cNvPr>
          <p:cNvSpPr>
            <a:spLocks noGrp="1"/>
          </p:cNvSpPr>
          <p:nvPr/>
        </p:nvSpPr>
        <p:spPr>
          <a:xfrm>
            <a:off x="3105150" y="3105150"/>
            <a:ext cx="476250" cy="25717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b2</a:t>
            </a:r>
          </a:p>
        </p:txBody>
      </p:sp>
      <p:sp>
        <p:nvSpPr>
          <p:cNvPr id="45" name="b2R node">
            <a:extLst>
              <a:ext uri="{FF2B5EF4-FFF2-40B4-BE49-F238E27FC236}">
                <a16:creationId xmlns:a16="http://schemas.microsoft.com/office/drawing/2014/main" id="{5E9AC47B-432A-45B2-A5E3-6693906A3BB4}"/>
              </a:ext>
            </a:extLst>
          </p:cNvPr>
          <p:cNvSpPr>
            <a:spLocks noGrp="1"/>
          </p:cNvSpPr>
          <p:nvPr/>
        </p:nvSpPr>
        <p:spPr>
          <a:xfrm>
            <a:off x="8248650" y="3000375"/>
            <a:ext cx="476250" cy="476250"/>
          </a:xfrm>
          <a:prstGeom prst="ellipse">
            <a:avLst/>
          </a:prstGeom>
          <a:solidFill>
            <a:srgbClr val="FFFFFF"/>
          </a:solidFill>
          <a:ln w="19050">
            <a:solidFill>
              <a:srgbClr val="20364D"/>
            </a:solidFill>
          </a:ln>
        </p:spPr>
        <p:txBody>
          <a:bodyPr/>
          <a:lstStyle/>
          <a:p>
            <a:endParaRPr lang="en-US"/>
          </a:p>
        </p:txBody>
      </p:sp>
      <p:sp>
        <p:nvSpPr>
          <p:cNvPr id="46" name="b2R label">
            <a:extLst>
              <a:ext uri="{FF2B5EF4-FFF2-40B4-BE49-F238E27FC236}">
                <a16:creationId xmlns:a16="http://schemas.microsoft.com/office/drawing/2014/main" id="{D2717175-E6BF-49E9-A374-646AFBD1C60A}"/>
              </a:ext>
            </a:extLst>
          </p:cNvPr>
          <p:cNvSpPr>
            <a:spLocks noGrp="1"/>
          </p:cNvSpPr>
          <p:nvPr/>
        </p:nvSpPr>
        <p:spPr>
          <a:xfrm>
            <a:off x="8248650" y="3105150"/>
            <a:ext cx="476250" cy="25717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b2</a:t>
            </a:r>
          </a:p>
        </p:txBody>
      </p:sp>
      <p:sp>
        <p:nvSpPr>
          <p:cNvPr id="47" name="b3LL node">
            <a:extLst>
              <a:ext uri="{FF2B5EF4-FFF2-40B4-BE49-F238E27FC236}">
                <a16:creationId xmlns:a16="http://schemas.microsoft.com/office/drawing/2014/main" id="{4456CB0D-8838-4055-9471-45525A73B3C0}"/>
              </a:ext>
            </a:extLst>
          </p:cNvPr>
          <p:cNvSpPr>
            <a:spLocks noGrp="1"/>
          </p:cNvSpPr>
          <p:nvPr/>
        </p:nvSpPr>
        <p:spPr>
          <a:xfrm>
            <a:off x="1819275" y="3952875"/>
            <a:ext cx="476250" cy="476250"/>
          </a:xfrm>
          <a:prstGeom prst="ellipse">
            <a:avLst/>
          </a:prstGeom>
          <a:solidFill>
            <a:srgbClr val="FFFFFF"/>
          </a:solidFill>
          <a:ln w="19050">
            <a:solidFill>
              <a:srgbClr val="20364D"/>
            </a:solidFill>
          </a:ln>
        </p:spPr>
        <p:txBody>
          <a:bodyPr/>
          <a:lstStyle/>
          <a:p>
            <a:endParaRPr lang="en-US"/>
          </a:p>
        </p:txBody>
      </p:sp>
      <p:sp>
        <p:nvSpPr>
          <p:cNvPr id="48" name="b3LL label">
            <a:extLst>
              <a:ext uri="{FF2B5EF4-FFF2-40B4-BE49-F238E27FC236}">
                <a16:creationId xmlns:a16="http://schemas.microsoft.com/office/drawing/2014/main" id="{D341321E-7FD4-4E87-B39E-59AF2B4FACE4}"/>
              </a:ext>
            </a:extLst>
          </p:cNvPr>
          <p:cNvSpPr>
            <a:spLocks noGrp="1"/>
          </p:cNvSpPr>
          <p:nvPr/>
        </p:nvSpPr>
        <p:spPr>
          <a:xfrm>
            <a:off x="1819275" y="4057650"/>
            <a:ext cx="476250" cy="25717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b3</a:t>
            </a:r>
          </a:p>
        </p:txBody>
      </p:sp>
      <p:sp>
        <p:nvSpPr>
          <p:cNvPr id="49" name="b3LR node">
            <a:extLst>
              <a:ext uri="{FF2B5EF4-FFF2-40B4-BE49-F238E27FC236}">
                <a16:creationId xmlns:a16="http://schemas.microsoft.com/office/drawing/2014/main" id="{FC604325-462F-4B06-A033-E328D9CC8CF8}"/>
              </a:ext>
            </a:extLst>
          </p:cNvPr>
          <p:cNvSpPr>
            <a:spLocks noGrp="1"/>
          </p:cNvSpPr>
          <p:nvPr/>
        </p:nvSpPr>
        <p:spPr>
          <a:xfrm>
            <a:off x="4391025" y="3952875"/>
            <a:ext cx="476250" cy="476250"/>
          </a:xfrm>
          <a:prstGeom prst="ellipse">
            <a:avLst/>
          </a:prstGeom>
          <a:solidFill>
            <a:srgbClr val="FFFFFF"/>
          </a:solidFill>
          <a:ln w="19050">
            <a:solidFill>
              <a:srgbClr val="20364D"/>
            </a:solidFill>
          </a:ln>
        </p:spPr>
        <p:txBody>
          <a:bodyPr/>
          <a:lstStyle/>
          <a:p>
            <a:endParaRPr lang="en-US"/>
          </a:p>
        </p:txBody>
      </p:sp>
      <p:sp>
        <p:nvSpPr>
          <p:cNvPr id="50" name="b3LR label">
            <a:extLst>
              <a:ext uri="{FF2B5EF4-FFF2-40B4-BE49-F238E27FC236}">
                <a16:creationId xmlns:a16="http://schemas.microsoft.com/office/drawing/2014/main" id="{1E71A30B-7B7F-4D58-BADB-845A7425878F}"/>
              </a:ext>
            </a:extLst>
          </p:cNvPr>
          <p:cNvSpPr>
            <a:spLocks noGrp="1"/>
          </p:cNvSpPr>
          <p:nvPr/>
        </p:nvSpPr>
        <p:spPr>
          <a:xfrm>
            <a:off x="4391025" y="4057650"/>
            <a:ext cx="476250" cy="25717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b3</a:t>
            </a:r>
          </a:p>
        </p:txBody>
      </p:sp>
      <p:sp>
        <p:nvSpPr>
          <p:cNvPr id="51" name="b3RL node">
            <a:extLst>
              <a:ext uri="{FF2B5EF4-FFF2-40B4-BE49-F238E27FC236}">
                <a16:creationId xmlns:a16="http://schemas.microsoft.com/office/drawing/2014/main" id="{232D0D66-4F0F-4D17-B077-A8B83BABF8CA}"/>
              </a:ext>
            </a:extLst>
          </p:cNvPr>
          <p:cNvSpPr>
            <a:spLocks noGrp="1"/>
          </p:cNvSpPr>
          <p:nvPr/>
        </p:nvSpPr>
        <p:spPr>
          <a:xfrm>
            <a:off x="6962775" y="3952875"/>
            <a:ext cx="476250" cy="476250"/>
          </a:xfrm>
          <a:prstGeom prst="ellipse">
            <a:avLst/>
          </a:prstGeom>
          <a:solidFill>
            <a:srgbClr val="FFFFFF"/>
          </a:solidFill>
          <a:ln w="19050">
            <a:solidFill>
              <a:srgbClr val="20364D"/>
            </a:solidFill>
          </a:ln>
        </p:spPr>
        <p:txBody>
          <a:bodyPr/>
          <a:lstStyle/>
          <a:p>
            <a:endParaRPr lang="en-US"/>
          </a:p>
        </p:txBody>
      </p:sp>
      <p:sp>
        <p:nvSpPr>
          <p:cNvPr id="52" name="b3RL label">
            <a:extLst>
              <a:ext uri="{FF2B5EF4-FFF2-40B4-BE49-F238E27FC236}">
                <a16:creationId xmlns:a16="http://schemas.microsoft.com/office/drawing/2014/main" id="{0F8F837C-9F9C-4C33-A144-A1E64823A80D}"/>
              </a:ext>
            </a:extLst>
          </p:cNvPr>
          <p:cNvSpPr>
            <a:spLocks noGrp="1"/>
          </p:cNvSpPr>
          <p:nvPr/>
        </p:nvSpPr>
        <p:spPr>
          <a:xfrm>
            <a:off x="6962775" y="4057650"/>
            <a:ext cx="476250" cy="25717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b3</a:t>
            </a:r>
          </a:p>
        </p:txBody>
      </p:sp>
      <p:sp>
        <p:nvSpPr>
          <p:cNvPr id="53" name="b3RR node">
            <a:extLst>
              <a:ext uri="{FF2B5EF4-FFF2-40B4-BE49-F238E27FC236}">
                <a16:creationId xmlns:a16="http://schemas.microsoft.com/office/drawing/2014/main" id="{482BE0BD-B4B1-4CB6-8F7C-CDCA1218EB71}"/>
              </a:ext>
            </a:extLst>
          </p:cNvPr>
          <p:cNvSpPr>
            <a:spLocks noGrp="1"/>
          </p:cNvSpPr>
          <p:nvPr/>
        </p:nvSpPr>
        <p:spPr>
          <a:xfrm>
            <a:off x="9534525" y="3952875"/>
            <a:ext cx="476250" cy="476250"/>
          </a:xfrm>
          <a:prstGeom prst="ellipse">
            <a:avLst/>
          </a:prstGeom>
          <a:solidFill>
            <a:srgbClr val="FFFFFF"/>
          </a:solidFill>
          <a:ln w="19050">
            <a:solidFill>
              <a:srgbClr val="20364D"/>
            </a:solidFill>
          </a:ln>
        </p:spPr>
        <p:txBody>
          <a:bodyPr/>
          <a:lstStyle/>
          <a:p>
            <a:endParaRPr lang="en-US"/>
          </a:p>
        </p:txBody>
      </p:sp>
      <p:sp>
        <p:nvSpPr>
          <p:cNvPr id="54" name="b3RR label">
            <a:extLst>
              <a:ext uri="{FF2B5EF4-FFF2-40B4-BE49-F238E27FC236}">
                <a16:creationId xmlns:a16="http://schemas.microsoft.com/office/drawing/2014/main" id="{FB01D4AC-22CF-453B-A081-B1D05ED64411}"/>
              </a:ext>
            </a:extLst>
          </p:cNvPr>
          <p:cNvSpPr>
            <a:spLocks noGrp="1"/>
          </p:cNvSpPr>
          <p:nvPr/>
        </p:nvSpPr>
        <p:spPr>
          <a:xfrm>
            <a:off x="9534525" y="4057650"/>
            <a:ext cx="476250" cy="25717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b3</a:t>
            </a:r>
          </a:p>
        </p:txBody>
      </p:sp>
      <p:sp>
        <p:nvSpPr>
          <p:cNvPr id="55" name="Edge T330">
            <a:extLst>
              <a:ext uri="{FF2B5EF4-FFF2-40B4-BE49-F238E27FC236}">
                <a16:creationId xmlns:a16="http://schemas.microsoft.com/office/drawing/2014/main" id="{31E68E4A-7459-4380-A724-400DE3011EAE}"/>
              </a:ext>
            </a:extLst>
          </p:cNvPr>
          <p:cNvSpPr>
            <a:spLocks noGrp="1"/>
          </p:cNvSpPr>
          <p:nvPr/>
        </p:nvSpPr>
        <p:spPr>
          <a:xfrm>
            <a:off x="3143250" y="2676525"/>
            <a:ext cx="285750" cy="238125"/>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56" name="Edge F870">
            <a:extLst>
              <a:ext uri="{FF2B5EF4-FFF2-40B4-BE49-F238E27FC236}">
                <a16:creationId xmlns:a16="http://schemas.microsoft.com/office/drawing/2014/main" id="{FCF874DC-37E8-4EF9-B59A-AD245BA1EC70}"/>
              </a:ext>
            </a:extLst>
          </p:cNvPr>
          <p:cNvSpPr>
            <a:spLocks noGrp="1"/>
          </p:cNvSpPr>
          <p:nvPr/>
        </p:nvSpPr>
        <p:spPr>
          <a:xfrm>
            <a:off x="8286750" y="2676525"/>
            <a:ext cx="285750" cy="238125"/>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57" name="Edge T195">
            <a:extLst>
              <a:ext uri="{FF2B5EF4-FFF2-40B4-BE49-F238E27FC236}">
                <a16:creationId xmlns:a16="http://schemas.microsoft.com/office/drawing/2014/main" id="{F69A2AC8-C54F-463F-9BB7-1B2DE6424BC8}"/>
              </a:ext>
            </a:extLst>
          </p:cNvPr>
          <p:cNvSpPr>
            <a:spLocks noGrp="1"/>
          </p:cNvSpPr>
          <p:nvPr/>
        </p:nvSpPr>
        <p:spPr>
          <a:xfrm>
            <a:off x="1857375" y="3676650"/>
            <a:ext cx="285750" cy="238125"/>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58" name="Edge F465">
            <a:extLst>
              <a:ext uri="{FF2B5EF4-FFF2-40B4-BE49-F238E27FC236}">
                <a16:creationId xmlns:a16="http://schemas.microsoft.com/office/drawing/2014/main" id="{B37C54B3-BEE5-41D2-A931-CFDC64BAFE31}"/>
              </a:ext>
            </a:extLst>
          </p:cNvPr>
          <p:cNvSpPr>
            <a:spLocks noGrp="1"/>
          </p:cNvSpPr>
          <p:nvPr/>
        </p:nvSpPr>
        <p:spPr>
          <a:xfrm>
            <a:off x="4429125" y="3676650"/>
            <a:ext cx="285750" cy="238125"/>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59" name="Edge T735">
            <a:extLst>
              <a:ext uri="{FF2B5EF4-FFF2-40B4-BE49-F238E27FC236}">
                <a16:creationId xmlns:a16="http://schemas.microsoft.com/office/drawing/2014/main" id="{D2ED8068-C4E7-4958-9A22-E3EA7054C030}"/>
              </a:ext>
            </a:extLst>
          </p:cNvPr>
          <p:cNvSpPr>
            <a:spLocks noGrp="1"/>
          </p:cNvSpPr>
          <p:nvPr/>
        </p:nvSpPr>
        <p:spPr>
          <a:xfrm>
            <a:off x="7000875" y="3676650"/>
            <a:ext cx="285750" cy="238125"/>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60" name="Edge F1005">
            <a:extLst>
              <a:ext uri="{FF2B5EF4-FFF2-40B4-BE49-F238E27FC236}">
                <a16:creationId xmlns:a16="http://schemas.microsoft.com/office/drawing/2014/main" id="{449C59F3-166F-44A8-B51A-1484797DF019}"/>
              </a:ext>
            </a:extLst>
          </p:cNvPr>
          <p:cNvSpPr>
            <a:spLocks noGrp="1"/>
          </p:cNvSpPr>
          <p:nvPr/>
        </p:nvSpPr>
        <p:spPr>
          <a:xfrm>
            <a:off x="9572625" y="3676650"/>
            <a:ext cx="285750" cy="238125"/>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61" name="Path TTT">
            <a:extLst>
              <a:ext uri="{FF2B5EF4-FFF2-40B4-BE49-F238E27FC236}">
                <a16:creationId xmlns:a16="http://schemas.microsoft.com/office/drawing/2014/main" id="{9CB78B37-1449-4499-9691-FD82A5E7B276}"/>
              </a:ext>
            </a:extLst>
          </p:cNvPr>
          <p:cNvSpPr>
            <a:spLocks noGrp="1"/>
          </p:cNvSpPr>
          <p:nvPr/>
        </p:nvSpPr>
        <p:spPr>
          <a:xfrm>
            <a:off x="1000125" y="5124450"/>
            <a:ext cx="819150" cy="419100"/>
          </a:xfrm>
          <a:prstGeom prst="roundRect">
            <a:avLst>
              <a:gd name="adj" fmla="val 18182"/>
            </a:avLst>
          </a:prstGeom>
          <a:solidFill>
            <a:srgbClr val="F4F6F8"/>
          </a:solidFill>
          <a:ln w="11430">
            <a:solidFill>
              <a:srgbClr val="CDD5DC"/>
            </a:solidFill>
          </a:ln>
        </p:spPr>
        <p:txBody>
          <a:bodyPr/>
          <a:lstStyle/>
          <a:p>
            <a:endParaRPr lang="en-US"/>
          </a:p>
        </p:txBody>
      </p:sp>
      <p:sp>
        <p:nvSpPr>
          <p:cNvPr id="62" name="Path text TTT">
            <a:extLst>
              <a:ext uri="{FF2B5EF4-FFF2-40B4-BE49-F238E27FC236}">
                <a16:creationId xmlns:a16="http://schemas.microsoft.com/office/drawing/2014/main" id="{76189B94-1E36-4161-A4A5-587C467E6DD5}"/>
              </a:ext>
            </a:extLst>
          </p:cNvPr>
          <p:cNvSpPr>
            <a:spLocks noGrp="1"/>
          </p:cNvSpPr>
          <p:nvPr/>
        </p:nvSpPr>
        <p:spPr>
          <a:xfrm>
            <a:off x="1000125" y="5219700"/>
            <a:ext cx="81915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TTT</a:t>
            </a:r>
          </a:p>
        </p:txBody>
      </p:sp>
      <p:sp>
        <p:nvSpPr>
          <p:cNvPr id="63" name="Path TTF">
            <a:extLst>
              <a:ext uri="{FF2B5EF4-FFF2-40B4-BE49-F238E27FC236}">
                <a16:creationId xmlns:a16="http://schemas.microsoft.com/office/drawing/2014/main" id="{DDD612B8-B72F-4073-81C7-A392FA350F57}"/>
              </a:ext>
            </a:extLst>
          </p:cNvPr>
          <p:cNvSpPr>
            <a:spLocks noGrp="1"/>
          </p:cNvSpPr>
          <p:nvPr/>
        </p:nvSpPr>
        <p:spPr>
          <a:xfrm>
            <a:off x="2286000" y="5124450"/>
            <a:ext cx="819150" cy="419100"/>
          </a:xfrm>
          <a:prstGeom prst="roundRect">
            <a:avLst>
              <a:gd name="adj" fmla="val 18182"/>
            </a:avLst>
          </a:prstGeom>
          <a:solidFill>
            <a:srgbClr val="F4F6F8"/>
          </a:solidFill>
          <a:ln w="11430">
            <a:solidFill>
              <a:srgbClr val="CDD5DC"/>
            </a:solidFill>
          </a:ln>
        </p:spPr>
        <p:txBody>
          <a:bodyPr/>
          <a:lstStyle/>
          <a:p>
            <a:endParaRPr lang="en-US"/>
          </a:p>
        </p:txBody>
      </p:sp>
      <p:sp>
        <p:nvSpPr>
          <p:cNvPr id="64" name="Path text TTF">
            <a:extLst>
              <a:ext uri="{FF2B5EF4-FFF2-40B4-BE49-F238E27FC236}">
                <a16:creationId xmlns:a16="http://schemas.microsoft.com/office/drawing/2014/main" id="{196BA48A-3310-4DBD-B30A-70BE41851D2E}"/>
              </a:ext>
            </a:extLst>
          </p:cNvPr>
          <p:cNvSpPr>
            <a:spLocks noGrp="1"/>
          </p:cNvSpPr>
          <p:nvPr/>
        </p:nvSpPr>
        <p:spPr>
          <a:xfrm>
            <a:off x="2286000" y="5219700"/>
            <a:ext cx="81915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TTF</a:t>
            </a:r>
          </a:p>
        </p:txBody>
      </p:sp>
      <p:sp>
        <p:nvSpPr>
          <p:cNvPr id="65" name="Path TFT">
            <a:extLst>
              <a:ext uri="{FF2B5EF4-FFF2-40B4-BE49-F238E27FC236}">
                <a16:creationId xmlns:a16="http://schemas.microsoft.com/office/drawing/2014/main" id="{55CCAC01-4F87-4C96-8059-2FA992EBEDAE}"/>
              </a:ext>
            </a:extLst>
          </p:cNvPr>
          <p:cNvSpPr>
            <a:spLocks noGrp="1"/>
          </p:cNvSpPr>
          <p:nvPr/>
        </p:nvSpPr>
        <p:spPr>
          <a:xfrm>
            <a:off x="3571875" y="5124450"/>
            <a:ext cx="819150" cy="419100"/>
          </a:xfrm>
          <a:prstGeom prst="roundRect">
            <a:avLst>
              <a:gd name="adj" fmla="val 18182"/>
            </a:avLst>
          </a:prstGeom>
          <a:solidFill>
            <a:srgbClr val="F4F6F8"/>
          </a:solidFill>
          <a:ln w="11430">
            <a:solidFill>
              <a:srgbClr val="CDD5DC"/>
            </a:solidFill>
          </a:ln>
        </p:spPr>
        <p:txBody>
          <a:bodyPr/>
          <a:lstStyle/>
          <a:p>
            <a:endParaRPr lang="en-US"/>
          </a:p>
        </p:txBody>
      </p:sp>
      <p:sp>
        <p:nvSpPr>
          <p:cNvPr id="66" name="Path text TFT">
            <a:extLst>
              <a:ext uri="{FF2B5EF4-FFF2-40B4-BE49-F238E27FC236}">
                <a16:creationId xmlns:a16="http://schemas.microsoft.com/office/drawing/2014/main" id="{DB27926A-B88A-4656-98FD-2512FEC7A5E6}"/>
              </a:ext>
            </a:extLst>
          </p:cNvPr>
          <p:cNvSpPr>
            <a:spLocks noGrp="1"/>
          </p:cNvSpPr>
          <p:nvPr/>
        </p:nvSpPr>
        <p:spPr>
          <a:xfrm>
            <a:off x="3571875" y="5219700"/>
            <a:ext cx="81915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TFT</a:t>
            </a:r>
          </a:p>
        </p:txBody>
      </p:sp>
      <p:sp>
        <p:nvSpPr>
          <p:cNvPr id="67" name="Path TFF">
            <a:extLst>
              <a:ext uri="{FF2B5EF4-FFF2-40B4-BE49-F238E27FC236}">
                <a16:creationId xmlns:a16="http://schemas.microsoft.com/office/drawing/2014/main" id="{A3F6530B-9868-4FC6-8AE5-4B894AB66A17}"/>
              </a:ext>
            </a:extLst>
          </p:cNvPr>
          <p:cNvSpPr>
            <a:spLocks noGrp="1"/>
          </p:cNvSpPr>
          <p:nvPr/>
        </p:nvSpPr>
        <p:spPr>
          <a:xfrm>
            <a:off x="4857750" y="5124450"/>
            <a:ext cx="819150" cy="419100"/>
          </a:xfrm>
          <a:prstGeom prst="roundRect">
            <a:avLst>
              <a:gd name="adj" fmla="val 18182"/>
            </a:avLst>
          </a:prstGeom>
          <a:solidFill>
            <a:srgbClr val="F4F6F8"/>
          </a:solidFill>
          <a:ln w="11430">
            <a:solidFill>
              <a:srgbClr val="CDD5DC"/>
            </a:solidFill>
          </a:ln>
        </p:spPr>
        <p:txBody>
          <a:bodyPr/>
          <a:lstStyle/>
          <a:p>
            <a:endParaRPr lang="en-US"/>
          </a:p>
        </p:txBody>
      </p:sp>
      <p:sp>
        <p:nvSpPr>
          <p:cNvPr id="68" name="Path text TFF">
            <a:extLst>
              <a:ext uri="{FF2B5EF4-FFF2-40B4-BE49-F238E27FC236}">
                <a16:creationId xmlns:a16="http://schemas.microsoft.com/office/drawing/2014/main" id="{957D593D-D7E1-4260-BD49-C5AC21B38C07}"/>
              </a:ext>
            </a:extLst>
          </p:cNvPr>
          <p:cNvSpPr>
            <a:spLocks noGrp="1"/>
          </p:cNvSpPr>
          <p:nvPr/>
        </p:nvSpPr>
        <p:spPr>
          <a:xfrm>
            <a:off x="4857750" y="5219700"/>
            <a:ext cx="81915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TFF</a:t>
            </a:r>
          </a:p>
        </p:txBody>
      </p:sp>
      <p:sp>
        <p:nvSpPr>
          <p:cNvPr id="69" name="Path FTT">
            <a:extLst>
              <a:ext uri="{FF2B5EF4-FFF2-40B4-BE49-F238E27FC236}">
                <a16:creationId xmlns:a16="http://schemas.microsoft.com/office/drawing/2014/main" id="{1A32573B-B5E9-4D8F-8EC0-837F9A42DBA4}"/>
              </a:ext>
            </a:extLst>
          </p:cNvPr>
          <p:cNvSpPr>
            <a:spLocks noGrp="1"/>
          </p:cNvSpPr>
          <p:nvPr/>
        </p:nvSpPr>
        <p:spPr>
          <a:xfrm>
            <a:off x="6143625" y="5124450"/>
            <a:ext cx="819150" cy="419100"/>
          </a:xfrm>
          <a:prstGeom prst="roundRect">
            <a:avLst>
              <a:gd name="adj" fmla="val 18182"/>
            </a:avLst>
          </a:prstGeom>
          <a:solidFill>
            <a:srgbClr val="F4F6F8"/>
          </a:solidFill>
          <a:ln w="11430">
            <a:solidFill>
              <a:srgbClr val="CDD5DC"/>
            </a:solidFill>
          </a:ln>
        </p:spPr>
        <p:txBody>
          <a:bodyPr/>
          <a:lstStyle/>
          <a:p>
            <a:endParaRPr lang="en-US"/>
          </a:p>
        </p:txBody>
      </p:sp>
      <p:sp>
        <p:nvSpPr>
          <p:cNvPr id="70" name="Path text FTT">
            <a:extLst>
              <a:ext uri="{FF2B5EF4-FFF2-40B4-BE49-F238E27FC236}">
                <a16:creationId xmlns:a16="http://schemas.microsoft.com/office/drawing/2014/main" id="{215B1A55-96B1-4A9A-9208-E6CF76F87ED1}"/>
              </a:ext>
            </a:extLst>
          </p:cNvPr>
          <p:cNvSpPr>
            <a:spLocks noGrp="1"/>
          </p:cNvSpPr>
          <p:nvPr/>
        </p:nvSpPr>
        <p:spPr>
          <a:xfrm>
            <a:off x="6143625" y="5219700"/>
            <a:ext cx="81915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FTT</a:t>
            </a:r>
          </a:p>
        </p:txBody>
      </p:sp>
      <p:sp>
        <p:nvSpPr>
          <p:cNvPr id="71" name="Path FTF">
            <a:extLst>
              <a:ext uri="{FF2B5EF4-FFF2-40B4-BE49-F238E27FC236}">
                <a16:creationId xmlns:a16="http://schemas.microsoft.com/office/drawing/2014/main" id="{67674753-048A-4C8C-83D1-8BFBD8667D04}"/>
              </a:ext>
            </a:extLst>
          </p:cNvPr>
          <p:cNvSpPr>
            <a:spLocks noGrp="1"/>
          </p:cNvSpPr>
          <p:nvPr/>
        </p:nvSpPr>
        <p:spPr>
          <a:xfrm>
            <a:off x="7429500" y="5124450"/>
            <a:ext cx="819150" cy="419100"/>
          </a:xfrm>
          <a:prstGeom prst="roundRect">
            <a:avLst>
              <a:gd name="adj" fmla="val 18182"/>
            </a:avLst>
          </a:prstGeom>
          <a:solidFill>
            <a:srgbClr val="F4F6F8"/>
          </a:solidFill>
          <a:ln w="11430">
            <a:solidFill>
              <a:srgbClr val="CDD5DC"/>
            </a:solidFill>
          </a:ln>
        </p:spPr>
        <p:txBody>
          <a:bodyPr/>
          <a:lstStyle/>
          <a:p>
            <a:endParaRPr lang="en-US"/>
          </a:p>
        </p:txBody>
      </p:sp>
      <p:sp>
        <p:nvSpPr>
          <p:cNvPr id="72" name="Path text FTF">
            <a:extLst>
              <a:ext uri="{FF2B5EF4-FFF2-40B4-BE49-F238E27FC236}">
                <a16:creationId xmlns:a16="http://schemas.microsoft.com/office/drawing/2014/main" id="{FA43F98B-DB9A-418A-82B3-F09D3A79744A}"/>
              </a:ext>
            </a:extLst>
          </p:cNvPr>
          <p:cNvSpPr>
            <a:spLocks noGrp="1"/>
          </p:cNvSpPr>
          <p:nvPr/>
        </p:nvSpPr>
        <p:spPr>
          <a:xfrm>
            <a:off x="7429500" y="5219700"/>
            <a:ext cx="81915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FTF</a:t>
            </a:r>
          </a:p>
        </p:txBody>
      </p:sp>
      <p:sp>
        <p:nvSpPr>
          <p:cNvPr id="73" name="Path FFT">
            <a:extLst>
              <a:ext uri="{FF2B5EF4-FFF2-40B4-BE49-F238E27FC236}">
                <a16:creationId xmlns:a16="http://schemas.microsoft.com/office/drawing/2014/main" id="{0335BCF4-EA5A-489E-B36E-6695ECE9DC99}"/>
              </a:ext>
            </a:extLst>
          </p:cNvPr>
          <p:cNvSpPr>
            <a:spLocks noGrp="1"/>
          </p:cNvSpPr>
          <p:nvPr/>
        </p:nvSpPr>
        <p:spPr>
          <a:xfrm>
            <a:off x="8715375" y="5124450"/>
            <a:ext cx="819150" cy="419100"/>
          </a:xfrm>
          <a:prstGeom prst="roundRect">
            <a:avLst>
              <a:gd name="adj" fmla="val 18182"/>
            </a:avLst>
          </a:prstGeom>
          <a:solidFill>
            <a:srgbClr val="F4F6F8"/>
          </a:solidFill>
          <a:ln w="11430">
            <a:solidFill>
              <a:srgbClr val="CDD5DC"/>
            </a:solidFill>
          </a:ln>
        </p:spPr>
        <p:txBody>
          <a:bodyPr/>
          <a:lstStyle/>
          <a:p>
            <a:endParaRPr lang="en-US"/>
          </a:p>
        </p:txBody>
      </p:sp>
      <p:sp>
        <p:nvSpPr>
          <p:cNvPr id="74" name="Path text FFT">
            <a:extLst>
              <a:ext uri="{FF2B5EF4-FFF2-40B4-BE49-F238E27FC236}">
                <a16:creationId xmlns:a16="http://schemas.microsoft.com/office/drawing/2014/main" id="{2B2E91DC-F56E-424C-8E73-E98A25B910F4}"/>
              </a:ext>
            </a:extLst>
          </p:cNvPr>
          <p:cNvSpPr>
            <a:spLocks noGrp="1"/>
          </p:cNvSpPr>
          <p:nvPr/>
        </p:nvSpPr>
        <p:spPr>
          <a:xfrm>
            <a:off x="8715375" y="5219700"/>
            <a:ext cx="81915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FFT</a:t>
            </a:r>
          </a:p>
        </p:txBody>
      </p:sp>
      <p:sp>
        <p:nvSpPr>
          <p:cNvPr id="75" name="Path FFF">
            <a:extLst>
              <a:ext uri="{FF2B5EF4-FFF2-40B4-BE49-F238E27FC236}">
                <a16:creationId xmlns:a16="http://schemas.microsoft.com/office/drawing/2014/main" id="{D9197694-2DAB-4D07-9290-A468F366ECB5}"/>
              </a:ext>
            </a:extLst>
          </p:cNvPr>
          <p:cNvSpPr>
            <a:spLocks noGrp="1"/>
          </p:cNvSpPr>
          <p:nvPr/>
        </p:nvSpPr>
        <p:spPr>
          <a:xfrm>
            <a:off x="10001250" y="5124450"/>
            <a:ext cx="819150" cy="419100"/>
          </a:xfrm>
          <a:prstGeom prst="roundRect">
            <a:avLst>
              <a:gd name="adj" fmla="val 18182"/>
            </a:avLst>
          </a:prstGeom>
          <a:solidFill>
            <a:srgbClr val="F4F6F8"/>
          </a:solidFill>
          <a:ln w="11430">
            <a:solidFill>
              <a:srgbClr val="CDD5DC"/>
            </a:solidFill>
          </a:ln>
        </p:spPr>
        <p:txBody>
          <a:bodyPr/>
          <a:lstStyle/>
          <a:p>
            <a:endParaRPr lang="en-US"/>
          </a:p>
        </p:txBody>
      </p:sp>
      <p:sp>
        <p:nvSpPr>
          <p:cNvPr id="76" name="Path text FFF">
            <a:extLst>
              <a:ext uri="{FF2B5EF4-FFF2-40B4-BE49-F238E27FC236}">
                <a16:creationId xmlns:a16="http://schemas.microsoft.com/office/drawing/2014/main" id="{2B25277F-D2C8-4B8B-A5AA-543DA4371ABD}"/>
              </a:ext>
            </a:extLst>
          </p:cNvPr>
          <p:cNvSpPr>
            <a:spLocks noGrp="1"/>
          </p:cNvSpPr>
          <p:nvPr/>
        </p:nvSpPr>
        <p:spPr>
          <a:xfrm>
            <a:off x="10001250" y="5219700"/>
            <a:ext cx="819150" cy="238125"/>
          </a:xfrm>
          <a:prstGeom prst="rect">
            <a:avLst/>
          </a:prstGeom>
          <a:noFill/>
          <a:ln w="0">
            <a:noFill/>
          </a:ln>
        </p:spPr>
        <p:txBody>
          <a:bodyPr anchor="t">
            <a:noAutofit/>
          </a:bodyPr>
          <a:lstStyle/>
          <a:p>
            <a:pPr algn="ctr">
              <a:defRPr sz="1425" b="1">
                <a:solidFill>
                  <a:srgbClr val="20364D"/>
                </a:solidFill>
                <a:latin typeface="Calibri"/>
                <a:ea typeface="Calibri"/>
                <a:cs typeface="Calibri"/>
              </a:defRPr>
            </a:pPr>
            <a:r>
              <a:rPr sz="1425" b="1">
                <a:solidFill>
                  <a:srgbClr val="20364D"/>
                </a:solidFill>
                <a:latin typeface="Calibri"/>
                <a:ea typeface="Calibri"/>
                <a:cs typeface="Calibri"/>
              </a:rPr>
              <a:t>FFF</a:t>
            </a:r>
          </a:p>
        </p:txBody>
      </p:sp>
      <p:sp>
        <p:nvSpPr>
          <p:cNvPr id="77" name="Tree takeaway">
            <a:extLst>
              <a:ext uri="{FF2B5EF4-FFF2-40B4-BE49-F238E27FC236}">
                <a16:creationId xmlns:a16="http://schemas.microsoft.com/office/drawing/2014/main" id="{78AD9EDD-8DB5-492D-BC28-8B61548CAC22}"/>
              </a:ext>
            </a:extLst>
          </p:cNvPr>
          <p:cNvSpPr>
            <a:spLocks noGrp="1"/>
          </p:cNvSpPr>
          <p:nvPr/>
        </p:nvSpPr>
        <p:spPr>
          <a:xfrm>
            <a:off x="2057400" y="5838825"/>
            <a:ext cx="8077200" cy="371475"/>
          </a:xfrm>
          <a:prstGeom prst="rect">
            <a:avLst/>
          </a:prstGeom>
          <a:noFill/>
          <a:ln w="0">
            <a:noFill/>
          </a:ln>
        </p:spPr>
        <p:txBody>
          <a:bodyPr anchor="t">
            <a:noAutofit/>
          </a:bodyPr>
          <a:lstStyle/>
          <a:p>
            <a:pPr algn="ctr">
              <a:defRPr sz="1800" b="1">
                <a:solidFill>
                  <a:srgbClr val="20364D"/>
                </a:solidFill>
                <a:latin typeface="Calibri"/>
                <a:ea typeface="Calibri"/>
                <a:cs typeface="Calibri"/>
              </a:defRPr>
            </a:pPr>
            <a:r>
              <a:rPr sz="1800" b="1">
                <a:solidFill>
                  <a:srgbClr val="20364D"/>
                </a:solidFill>
                <a:latin typeface="Calibri"/>
                <a:ea typeface="Calibri"/>
                <a:cs typeface="Calibri"/>
              </a:rPr>
              <a:t>A path records the outcome of b1, then b2, then b3.</a:t>
            </a:r>
          </a:p>
        </p:txBody>
      </p:sp>
    </p:spTree>
    <p:extLst>
      <p:ext uri="{BB962C8B-B14F-4D97-AF65-F5344CB8AC3E}">
        <p14:creationId xmlns:p14="http://schemas.microsoft.com/office/powerpoint/2010/main" val="1860657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itle">
            <a:extLst>
              <a:ext uri="{FF2B5EF4-FFF2-40B4-BE49-F238E27FC236}">
                <a16:creationId xmlns:a16="http://schemas.microsoft.com/office/drawing/2014/main" id="{8AD7D5C4-E6C4-4B78-81DB-3F97705FBA75}"/>
              </a:ext>
            </a:extLst>
          </p:cNvPr>
          <p:cNvSpPr>
            <a:spLocks noGrp="1"/>
          </p:cNvSpPr>
          <p:nvPr/>
        </p:nvSpPr>
        <p:spPr>
          <a:xfrm>
            <a:off x="666750" y="285750"/>
            <a:ext cx="10858500" cy="552450"/>
          </a:xfrm>
          <a:prstGeom prst="rect">
            <a:avLst/>
          </a:prstGeom>
          <a:noFill/>
          <a:ln w="0">
            <a:noFill/>
          </a:ln>
        </p:spPr>
        <p:txBody>
          <a:bodyPr anchor="t">
            <a:noAutofit/>
          </a:bodyPr>
          <a:lstStyle/>
          <a:p>
            <a:pPr>
              <a:defRPr sz="2850">
                <a:solidFill>
                  <a:srgbClr val="151C23"/>
                </a:solidFill>
                <a:latin typeface="Calibri"/>
                <a:ea typeface="Calibri"/>
                <a:cs typeface="Calibri"/>
              </a:defRPr>
            </a:pPr>
            <a:r>
              <a:rPr sz="2850">
                <a:solidFill>
                  <a:srgbClr val="151C23"/>
                </a:solidFill>
                <a:latin typeface="Calibri"/>
                <a:ea typeface="Calibri"/>
                <a:cs typeface="Calibri"/>
              </a:rPr>
              <a:t>Path Coverage Considers Complete Outcome Combinations</a:t>
            </a:r>
          </a:p>
        </p:txBody>
      </p:sp>
      <p:sp>
        <p:nvSpPr>
          <p:cNvPr id="2" name="Subtitle">
            <a:extLst>
              <a:ext uri="{FF2B5EF4-FFF2-40B4-BE49-F238E27FC236}">
                <a16:creationId xmlns:a16="http://schemas.microsoft.com/office/drawing/2014/main" id="{861B0E7D-EEB1-4CF0-8A3F-527DE6858CC2}"/>
              </a:ext>
            </a:extLst>
          </p:cNvPr>
          <p:cNvSpPr>
            <a:spLocks noGrp="1"/>
          </p:cNvSpPr>
          <p:nvPr/>
        </p:nvSpPr>
        <p:spPr>
          <a:xfrm>
            <a:off x="704850" y="885825"/>
            <a:ext cx="10668000" cy="371475"/>
          </a:xfrm>
          <a:prstGeom prst="rect">
            <a:avLst/>
          </a:prstGeom>
          <a:noFill/>
          <a:ln w="0">
            <a:noFill/>
          </a:ln>
        </p:spPr>
        <p:txBody>
          <a:bodyPr anchor="t">
            <a:noAutofit/>
          </a:bodyPr>
          <a:lstStyle/>
          <a:p>
            <a:pPr>
              <a:defRPr sz="1650">
                <a:solidFill>
                  <a:srgbClr val="5E6B77"/>
                </a:solidFill>
                <a:latin typeface="Calibri"/>
                <a:ea typeface="Calibri"/>
                <a:cs typeface="Calibri"/>
              </a:defRPr>
            </a:pPr>
            <a:r>
              <a:rPr sz="1650">
                <a:solidFill>
                  <a:srgbClr val="5E6B77"/>
                </a:solidFill>
                <a:latin typeface="Calibri"/>
                <a:ea typeface="Calibri"/>
                <a:cs typeface="Calibri"/>
              </a:rPr>
              <a:t>The position of each value corresponds to b1, b2, and b3.</a:t>
            </a:r>
          </a:p>
        </p:txBody>
      </p:sp>
      <p:sp>
        <p:nvSpPr>
          <p:cNvPr id="3" name="Header accent">
            <a:extLst>
              <a:ext uri="{FF2B5EF4-FFF2-40B4-BE49-F238E27FC236}">
                <a16:creationId xmlns:a16="http://schemas.microsoft.com/office/drawing/2014/main" id="{8EF47D49-E129-48C8-A24F-48AA9F6EBCD8}"/>
              </a:ext>
            </a:extLst>
          </p:cNvPr>
          <p:cNvSpPr>
            <a:spLocks noGrp="1"/>
          </p:cNvSpPr>
          <p:nvPr/>
        </p:nvSpPr>
        <p:spPr>
          <a:xfrm>
            <a:off x="714375" y="1323975"/>
            <a:ext cx="1619250" cy="0"/>
          </a:xfrm>
          <a:prstGeom prst="line">
            <a:avLst/>
          </a:prstGeom>
          <a:noFill/>
          <a:ln w="38100">
            <a:solidFill>
              <a:srgbClr val="20364D"/>
            </a:solidFill>
          </a:ln>
        </p:spPr>
        <p:txBody>
          <a:bodyPr/>
          <a:lstStyle/>
          <a:p>
            <a:endParaRPr lang="en-US"/>
          </a:p>
        </p:txBody>
      </p:sp>
      <p:sp>
        <p:nvSpPr>
          <p:cNvPr id="4" name="Path card TTT">
            <a:extLst>
              <a:ext uri="{FF2B5EF4-FFF2-40B4-BE49-F238E27FC236}">
                <a16:creationId xmlns:a16="http://schemas.microsoft.com/office/drawing/2014/main" id="{2812913D-CE5A-4920-8BE5-418D095F1860}"/>
              </a:ext>
            </a:extLst>
          </p:cNvPr>
          <p:cNvSpPr>
            <a:spLocks noGrp="1"/>
          </p:cNvSpPr>
          <p:nvPr/>
        </p:nvSpPr>
        <p:spPr>
          <a:xfrm>
            <a:off x="809625" y="2095500"/>
            <a:ext cx="2095500" cy="1314450"/>
          </a:xfrm>
          <a:prstGeom prst="roundRect">
            <a:avLst>
              <a:gd name="adj" fmla="val 5797"/>
            </a:avLst>
          </a:prstGeom>
          <a:solidFill>
            <a:srgbClr val="FFFFFF"/>
          </a:solidFill>
          <a:ln w="14288">
            <a:solidFill>
              <a:srgbClr val="CDD5DC"/>
            </a:solidFill>
          </a:ln>
        </p:spPr>
        <p:txBody>
          <a:bodyPr/>
          <a:lstStyle/>
          <a:p>
            <a:endParaRPr lang="en-US"/>
          </a:p>
        </p:txBody>
      </p:sp>
      <p:sp>
        <p:nvSpPr>
          <p:cNvPr id="5" name="Path code TTT">
            <a:extLst>
              <a:ext uri="{FF2B5EF4-FFF2-40B4-BE49-F238E27FC236}">
                <a16:creationId xmlns:a16="http://schemas.microsoft.com/office/drawing/2014/main" id="{C4F1F651-9C83-4848-97E1-72D13C65E14C}"/>
              </a:ext>
            </a:extLst>
          </p:cNvPr>
          <p:cNvSpPr>
            <a:spLocks noGrp="1"/>
          </p:cNvSpPr>
          <p:nvPr/>
        </p:nvSpPr>
        <p:spPr>
          <a:xfrm>
            <a:off x="809625" y="2247900"/>
            <a:ext cx="2095500" cy="333375"/>
          </a:xfrm>
          <a:prstGeom prst="rect">
            <a:avLst/>
          </a:prstGeom>
          <a:noFill/>
          <a:ln w="0">
            <a:noFill/>
          </a:ln>
        </p:spPr>
        <p:txBody>
          <a:bodyPr anchor="t">
            <a:noAutofit/>
          </a:bodyPr>
          <a:lstStyle/>
          <a:p>
            <a:pPr algn="ctr">
              <a:defRPr sz="1875" b="1">
                <a:solidFill>
                  <a:srgbClr val="20364D"/>
                </a:solidFill>
                <a:latin typeface="Calibri"/>
                <a:ea typeface="Calibri"/>
                <a:cs typeface="Calibri"/>
              </a:defRPr>
            </a:pPr>
            <a:r>
              <a:rPr sz="1875" b="1">
                <a:solidFill>
                  <a:srgbClr val="20364D"/>
                </a:solidFill>
                <a:latin typeface="Calibri"/>
                <a:ea typeface="Calibri"/>
                <a:cs typeface="Calibri"/>
              </a:rPr>
              <a:t>TTT</a:t>
            </a:r>
          </a:p>
        </p:txBody>
      </p:sp>
      <p:sp>
        <p:nvSpPr>
          <p:cNvPr id="6" name="Decision label 00">
            <a:extLst>
              <a:ext uri="{FF2B5EF4-FFF2-40B4-BE49-F238E27FC236}">
                <a16:creationId xmlns:a16="http://schemas.microsoft.com/office/drawing/2014/main" id="{F0B0587C-596A-4927-92FB-A2C919FCD90A}"/>
              </a:ext>
            </a:extLst>
          </p:cNvPr>
          <p:cNvSpPr>
            <a:spLocks noGrp="1"/>
          </p:cNvSpPr>
          <p:nvPr/>
        </p:nvSpPr>
        <p:spPr>
          <a:xfrm>
            <a:off x="1047750"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b1</a:t>
            </a:r>
          </a:p>
        </p:txBody>
      </p:sp>
      <p:sp>
        <p:nvSpPr>
          <p:cNvPr id="7" name="Outcome 00">
            <a:extLst>
              <a:ext uri="{FF2B5EF4-FFF2-40B4-BE49-F238E27FC236}">
                <a16:creationId xmlns:a16="http://schemas.microsoft.com/office/drawing/2014/main" id="{7F94F950-F5AD-4B1A-954F-A120CC7F5D24}"/>
              </a:ext>
            </a:extLst>
          </p:cNvPr>
          <p:cNvSpPr>
            <a:spLocks noGrp="1"/>
          </p:cNvSpPr>
          <p:nvPr/>
        </p:nvSpPr>
        <p:spPr>
          <a:xfrm>
            <a:off x="1095375" y="29337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8" name="Outcome text 00">
            <a:extLst>
              <a:ext uri="{FF2B5EF4-FFF2-40B4-BE49-F238E27FC236}">
                <a16:creationId xmlns:a16="http://schemas.microsoft.com/office/drawing/2014/main" id="{EE420148-B5A5-42A8-9242-EEC9EF728626}"/>
              </a:ext>
            </a:extLst>
          </p:cNvPr>
          <p:cNvSpPr>
            <a:spLocks noGrp="1"/>
          </p:cNvSpPr>
          <p:nvPr/>
        </p:nvSpPr>
        <p:spPr>
          <a:xfrm>
            <a:off x="1095375" y="29908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9" name="Decision label 01">
            <a:extLst>
              <a:ext uri="{FF2B5EF4-FFF2-40B4-BE49-F238E27FC236}">
                <a16:creationId xmlns:a16="http://schemas.microsoft.com/office/drawing/2014/main" id="{ED14A51F-4AAB-4DCD-A7C5-E05E789A1738}"/>
              </a:ext>
            </a:extLst>
          </p:cNvPr>
          <p:cNvSpPr>
            <a:spLocks noGrp="1"/>
          </p:cNvSpPr>
          <p:nvPr/>
        </p:nvSpPr>
        <p:spPr>
          <a:xfrm>
            <a:off x="1647825"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b2</a:t>
            </a:r>
          </a:p>
        </p:txBody>
      </p:sp>
      <p:sp>
        <p:nvSpPr>
          <p:cNvPr id="10" name="Outcome 01">
            <a:extLst>
              <a:ext uri="{FF2B5EF4-FFF2-40B4-BE49-F238E27FC236}">
                <a16:creationId xmlns:a16="http://schemas.microsoft.com/office/drawing/2014/main" id="{BE6F31BD-AD4D-4985-BF19-5667BCB8EAE7}"/>
              </a:ext>
            </a:extLst>
          </p:cNvPr>
          <p:cNvSpPr>
            <a:spLocks noGrp="1"/>
          </p:cNvSpPr>
          <p:nvPr/>
        </p:nvSpPr>
        <p:spPr>
          <a:xfrm>
            <a:off x="1695450" y="29337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11" name="Outcome text 01">
            <a:extLst>
              <a:ext uri="{FF2B5EF4-FFF2-40B4-BE49-F238E27FC236}">
                <a16:creationId xmlns:a16="http://schemas.microsoft.com/office/drawing/2014/main" id="{D3EA27D4-16BB-4215-BB26-5CCC06D26705}"/>
              </a:ext>
            </a:extLst>
          </p:cNvPr>
          <p:cNvSpPr>
            <a:spLocks noGrp="1"/>
          </p:cNvSpPr>
          <p:nvPr/>
        </p:nvSpPr>
        <p:spPr>
          <a:xfrm>
            <a:off x="1695450" y="29908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12" name="Decision label 02">
            <a:extLst>
              <a:ext uri="{FF2B5EF4-FFF2-40B4-BE49-F238E27FC236}">
                <a16:creationId xmlns:a16="http://schemas.microsoft.com/office/drawing/2014/main" id="{13BC72FF-B721-47EF-A269-8BF4F5EAFDBA}"/>
              </a:ext>
            </a:extLst>
          </p:cNvPr>
          <p:cNvSpPr>
            <a:spLocks noGrp="1"/>
          </p:cNvSpPr>
          <p:nvPr/>
        </p:nvSpPr>
        <p:spPr>
          <a:xfrm>
            <a:off x="2247900"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b3</a:t>
            </a:r>
          </a:p>
        </p:txBody>
      </p:sp>
      <p:sp>
        <p:nvSpPr>
          <p:cNvPr id="13" name="Outcome 02">
            <a:extLst>
              <a:ext uri="{FF2B5EF4-FFF2-40B4-BE49-F238E27FC236}">
                <a16:creationId xmlns:a16="http://schemas.microsoft.com/office/drawing/2014/main" id="{A1D10A48-669F-49C5-B3A2-9B4907950171}"/>
              </a:ext>
            </a:extLst>
          </p:cNvPr>
          <p:cNvSpPr>
            <a:spLocks noGrp="1"/>
          </p:cNvSpPr>
          <p:nvPr/>
        </p:nvSpPr>
        <p:spPr>
          <a:xfrm>
            <a:off x="2295525" y="29337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14" name="Outcome text 02">
            <a:extLst>
              <a:ext uri="{FF2B5EF4-FFF2-40B4-BE49-F238E27FC236}">
                <a16:creationId xmlns:a16="http://schemas.microsoft.com/office/drawing/2014/main" id="{ACB6DA7B-93C6-4EB8-B647-89F521FFA95B}"/>
              </a:ext>
            </a:extLst>
          </p:cNvPr>
          <p:cNvSpPr>
            <a:spLocks noGrp="1"/>
          </p:cNvSpPr>
          <p:nvPr/>
        </p:nvSpPr>
        <p:spPr>
          <a:xfrm>
            <a:off x="2295525" y="29908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15" name="Path card TTF">
            <a:extLst>
              <a:ext uri="{FF2B5EF4-FFF2-40B4-BE49-F238E27FC236}">
                <a16:creationId xmlns:a16="http://schemas.microsoft.com/office/drawing/2014/main" id="{BBC31E91-05A6-4CB7-9DC7-B5A1150509BA}"/>
              </a:ext>
            </a:extLst>
          </p:cNvPr>
          <p:cNvSpPr>
            <a:spLocks noGrp="1"/>
          </p:cNvSpPr>
          <p:nvPr/>
        </p:nvSpPr>
        <p:spPr>
          <a:xfrm>
            <a:off x="3667125" y="2095500"/>
            <a:ext cx="2095500" cy="1314450"/>
          </a:xfrm>
          <a:prstGeom prst="roundRect">
            <a:avLst>
              <a:gd name="adj" fmla="val 5797"/>
            </a:avLst>
          </a:prstGeom>
          <a:solidFill>
            <a:srgbClr val="FFFFFF"/>
          </a:solidFill>
          <a:ln w="14288">
            <a:solidFill>
              <a:srgbClr val="CDD5DC"/>
            </a:solidFill>
          </a:ln>
        </p:spPr>
        <p:txBody>
          <a:bodyPr/>
          <a:lstStyle/>
          <a:p>
            <a:endParaRPr lang="en-US"/>
          </a:p>
        </p:txBody>
      </p:sp>
      <p:sp>
        <p:nvSpPr>
          <p:cNvPr id="16" name="Path code TTF">
            <a:extLst>
              <a:ext uri="{FF2B5EF4-FFF2-40B4-BE49-F238E27FC236}">
                <a16:creationId xmlns:a16="http://schemas.microsoft.com/office/drawing/2014/main" id="{9D143523-C4CB-483B-914D-FE80C4591626}"/>
              </a:ext>
            </a:extLst>
          </p:cNvPr>
          <p:cNvSpPr>
            <a:spLocks noGrp="1"/>
          </p:cNvSpPr>
          <p:nvPr/>
        </p:nvSpPr>
        <p:spPr>
          <a:xfrm>
            <a:off x="3667125" y="2247900"/>
            <a:ext cx="2095500" cy="333375"/>
          </a:xfrm>
          <a:prstGeom prst="rect">
            <a:avLst/>
          </a:prstGeom>
          <a:noFill/>
          <a:ln w="0">
            <a:noFill/>
          </a:ln>
        </p:spPr>
        <p:txBody>
          <a:bodyPr anchor="t">
            <a:noAutofit/>
          </a:bodyPr>
          <a:lstStyle/>
          <a:p>
            <a:pPr algn="ctr">
              <a:defRPr sz="1875" b="1">
                <a:solidFill>
                  <a:srgbClr val="20364D"/>
                </a:solidFill>
                <a:latin typeface="Calibri"/>
                <a:ea typeface="Calibri"/>
                <a:cs typeface="Calibri"/>
              </a:defRPr>
            </a:pPr>
            <a:r>
              <a:rPr sz="1875" b="1">
                <a:solidFill>
                  <a:srgbClr val="20364D"/>
                </a:solidFill>
                <a:latin typeface="Calibri"/>
                <a:ea typeface="Calibri"/>
                <a:cs typeface="Calibri"/>
              </a:rPr>
              <a:t>TTF</a:t>
            </a:r>
          </a:p>
        </p:txBody>
      </p:sp>
      <p:sp>
        <p:nvSpPr>
          <p:cNvPr id="17" name="Decision label 10">
            <a:extLst>
              <a:ext uri="{FF2B5EF4-FFF2-40B4-BE49-F238E27FC236}">
                <a16:creationId xmlns:a16="http://schemas.microsoft.com/office/drawing/2014/main" id="{D20A5FEA-8D27-4156-BCF9-26E21AC1490E}"/>
              </a:ext>
            </a:extLst>
          </p:cNvPr>
          <p:cNvSpPr>
            <a:spLocks noGrp="1"/>
          </p:cNvSpPr>
          <p:nvPr/>
        </p:nvSpPr>
        <p:spPr>
          <a:xfrm>
            <a:off x="3905250"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b1</a:t>
            </a:r>
          </a:p>
        </p:txBody>
      </p:sp>
      <p:sp>
        <p:nvSpPr>
          <p:cNvPr id="18" name="Outcome 10">
            <a:extLst>
              <a:ext uri="{FF2B5EF4-FFF2-40B4-BE49-F238E27FC236}">
                <a16:creationId xmlns:a16="http://schemas.microsoft.com/office/drawing/2014/main" id="{D5E56441-6F99-41D2-A256-5F73F4491621}"/>
              </a:ext>
            </a:extLst>
          </p:cNvPr>
          <p:cNvSpPr>
            <a:spLocks noGrp="1"/>
          </p:cNvSpPr>
          <p:nvPr/>
        </p:nvSpPr>
        <p:spPr>
          <a:xfrm>
            <a:off x="3952875" y="29337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19" name="Outcome text 10">
            <a:extLst>
              <a:ext uri="{FF2B5EF4-FFF2-40B4-BE49-F238E27FC236}">
                <a16:creationId xmlns:a16="http://schemas.microsoft.com/office/drawing/2014/main" id="{25A32FDA-C0F8-4AEE-B17C-B1F83FA243BF}"/>
              </a:ext>
            </a:extLst>
          </p:cNvPr>
          <p:cNvSpPr>
            <a:spLocks noGrp="1"/>
          </p:cNvSpPr>
          <p:nvPr/>
        </p:nvSpPr>
        <p:spPr>
          <a:xfrm>
            <a:off x="3952875" y="29908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20" name="Decision label 11">
            <a:extLst>
              <a:ext uri="{FF2B5EF4-FFF2-40B4-BE49-F238E27FC236}">
                <a16:creationId xmlns:a16="http://schemas.microsoft.com/office/drawing/2014/main" id="{53F6650D-CF1E-454A-967F-88C75217137B}"/>
              </a:ext>
            </a:extLst>
          </p:cNvPr>
          <p:cNvSpPr>
            <a:spLocks noGrp="1"/>
          </p:cNvSpPr>
          <p:nvPr/>
        </p:nvSpPr>
        <p:spPr>
          <a:xfrm>
            <a:off x="4505325"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b2</a:t>
            </a:r>
          </a:p>
        </p:txBody>
      </p:sp>
      <p:sp>
        <p:nvSpPr>
          <p:cNvPr id="21" name="Outcome 11">
            <a:extLst>
              <a:ext uri="{FF2B5EF4-FFF2-40B4-BE49-F238E27FC236}">
                <a16:creationId xmlns:a16="http://schemas.microsoft.com/office/drawing/2014/main" id="{8AC3B96D-3107-4162-87E0-CB0162F0CCEB}"/>
              </a:ext>
            </a:extLst>
          </p:cNvPr>
          <p:cNvSpPr>
            <a:spLocks noGrp="1"/>
          </p:cNvSpPr>
          <p:nvPr/>
        </p:nvSpPr>
        <p:spPr>
          <a:xfrm>
            <a:off x="4552950" y="29337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22" name="Outcome text 11">
            <a:extLst>
              <a:ext uri="{FF2B5EF4-FFF2-40B4-BE49-F238E27FC236}">
                <a16:creationId xmlns:a16="http://schemas.microsoft.com/office/drawing/2014/main" id="{F59A83CB-E484-43B0-BC84-DCBD5ACEA195}"/>
              </a:ext>
            </a:extLst>
          </p:cNvPr>
          <p:cNvSpPr>
            <a:spLocks noGrp="1"/>
          </p:cNvSpPr>
          <p:nvPr/>
        </p:nvSpPr>
        <p:spPr>
          <a:xfrm>
            <a:off x="4552950" y="29908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23" name="Decision label 12">
            <a:extLst>
              <a:ext uri="{FF2B5EF4-FFF2-40B4-BE49-F238E27FC236}">
                <a16:creationId xmlns:a16="http://schemas.microsoft.com/office/drawing/2014/main" id="{0F49F80B-AB0C-427B-ADCC-3FC816D9F3E0}"/>
              </a:ext>
            </a:extLst>
          </p:cNvPr>
          <p:cNvSpPr>
            <a:spLocks noGrp="1"/>
          </p:cNvSpPr>
          <p:nvPr/>
        </p:nvSpPr>
        <p:spPr>
          <a:xfrm>
            <a:off x="5105400"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b3</a:t>
            </a:r>
          </a:p>
        </p:txBody>
      </p:sp>
      <p:sp>
        <p:nvSpPr>
          <p:cNvPr id="24" name="Outcome 12">
            <a:extLst>
              <a:ext uri="{FF2B5EF4-FFF2-40B4-BE49-F238E27FC236}">
                <a16:creationId xmlns:a16="http://schemas.microsoft.com/office/drawing/2014/main" id="{77ABB794-11C9-4B5E-AE66-669F3510DDD0}"/>
              </a:ext>
            </a:extLst>
          </p:cNvPr>
          <p:cNvSpPr>
            <a:spLocks noGrp="1"/>
          </p:cNvSpPr>
          <p:nvPr/>
        </p:nvSpPr>
        <p:spPr>
          <a:xfrm>
            <a:off x="5153025" y="29337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25" name="Outcome text 12">
            <a:extLst>
              <a:ext uri="{FF2B5EF4-FFF2-40B4-BE49-F238E27FC236}">
                <a16:creationId xmlns:a16="http://schemas.microsoft.com/office/drawing/2014/main" id="{6B42613A-F95D-4BDA-8148-812CA3D0DD2B}"/>
              </a:ext>
            </a:extLst>
          </p:cNvPr>
          <p:cNvSpPr>
            <a:spLocks noGrp="1"/>
          </p:cNvSpPr>
          <p:nvPr/>
        </p:nvSpPr>
        <p:spPr>
          <a:xfrm>
            <a:off x="5153025" y="29908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26" name="Path card TFT">
            <a:extLst>
              <a:ext uri="{FF2B5EF4-FFF2-40B4-BE49-F238E27FC236}">
                <a16:creationId xmlns:a16="http://schemas.microsoft.com/office/drawing/2014/main" id="{CC89B7CA-E88A-4597-A4B7-55357C3963CC}"/>
              </a:ext>
            </a:extLst>
          </p:cNvPr>
          <p:cNvSpPr>
            <a:spLocks noGrp="1"/>
          </p:cNvSpPr>
          <p:nvPr/>
        </p:nvSpPr>
        <p:spPr>
          <a:xfrm>
            <a:off x="6524625" y="2095500"/>
            <a:ext cx="2095500" cy="1314450"/>
          </a:xfrm>
          <a:prstGeom prst="roundRect">
            <a:avLst>
              <a:gd name="adj" fmla="val 5797"/>
            </a:avLst>
          </a:prstGeom>
          <a:solidFill>
            <a:srgbClr val="FFFFFF"/>
          </a:solidFill>
          <a:ln w="14288">
            <a:solidFill>
              <a:srgbClr val="CDD5DC"/>
            </a:solidFill>
          </a:ln>
        </p:spPr>
        <p:txBody>
          <a:bodyPr/>
          <a:lstStyle/>
          <a:p>
            <a:endParaRPr lang="en-US"/>
          </a:p>
        </p:txBody>
      </p:sp>
      <p:sp>
        <p:nvSpPr>
          <p:cNvPr id="27" name="Path code TFT">
            <a:extLst>
              <a:ext uri="{FF2B5EF4-FFF2-40B4-BE49-F238E27FC236}">
                <a16:creationId xmlns:a16="http://schemas.microsoft.com/office/drawing/2014/main" id="{562F4166-3B89-456A-933B-6C74346EEA44}"/>
              </a:ext>
            </a:extLst>
          </p:cNvPr>
          <p:cNvSpPr>
            <a:spLocks noGrp="1"/>
          </p:cNvSpPr>
          <p:nvPr/>
        </p:nvSpPr>
        <p:spPr>
          <a:xfrm>
            <a:off x="6524625" y="2247900"/>
            <a:ext cx="2095500" cy="333375"/>
          </a:xfrm>
          <a:prstGeom prst="rect">
            <a:avLst/>
          </a:prstGeom>
          <a:noFill/>
          <a:ln w="0">
            <a:noFill/>
          </a:ln>
        </p:spPr>
        <p:txBody>
          <a:bodyPr anchor="t">
            <a:noAutofit/>
          </a:bodyPr>
          <a:lstStyle/>
          <a:p>
            <a:pPr algn="ctr">
              <a:defRPr sz="1875" b="1">
                <a:solidFill>
                  <a:srgbClr val="20364D"/>
                </a:solidFill>
                <a:latin typeface="Calibri"/>
                <a:ea typeface="Calibri"/>
                <a:cs typeface="Calibri"/>
              </a:defRPr>
            </a:pPr>
            <a:r>
              <a:rPr sz="1875" b="1">
                <a:solidFill>
                  <a:srgbClr val="20364D"/>
                </a:solidFill>
                <a:latin typeface="Calibri"/>
                <a:ea typeface="Calibri"/>
                <a:cs typeface="Calibri"/>
              </a:rPr>
              <a:t>TFT</a:t>
            </a:r>
          </a:p>
        </p:txBody>
      </p:sp>
      <p:sp>
        <p:nvSpPr>
          <p:cNvPr id="28" name="Decision label 20">
            <a:extLst>
              <a:ext uri="{FF2B5EF4-FFF2-40B4-BE49-F238E27FC236}">
                <a16:creationId xmlns:a16="http://schemas.microsoft.com/office/drawing/2014/main" id="{EBF8E43D-A076-4ADA-96CF-2DBEC14E2300}"/>
              </a:ext>
            </a:extLst>
          </p:cNvPr>
          <p:cNvSpPr>
            <a:spLocks noGrp="1"/>
          </p:cNvSpPr>
          <p:nvPr/>
        </p:nvSpPr>
        <p:spPr>
          <a:xfrm>
            <a:off x="6762750"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b1</a:t>
            </a:r>
          </a:p>
        </p:txBody>
      </p:sp>
      <p:sp>
        <p:nvSpPr>
          <p:cNvPr id="29" name="Outcome 20">
            <a:extLst>
              <a:ext uri="{FF2B5EF4-FFF2-40B4-BE49-F238E27FC236}">
                <a16:creationId xmlns:a16="http://schemas.microsoft.com/office/drawing/2014/main" id="{CE244CEA-BABC-4EA3-A9C5-30E4FC4AA70B}"/>
              </a:ext>
            </a:extLst>
          </p:cNvPr>
          <p:cNvSpPr>
            <a:spLocks noGrp="1"/>
          </p:cNvSpPr>
          <p:nvPr/>
        </p:nvSpPr>
        <p:spPr>
          <a:xfrm>
            <a:off x="6810375" y="29337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30" name="Outcome text 20">
            <a:extLst>
              <a:ext uri="{FF2B5EF4-FFF2-40B4-BE49-F238E27FC236}">
                <a16:creationId xmlns:a16="http://schemas.microsoft.com/office/drawing/2014/main" id="{C59B5489-F2F5-4DAC-937F-D1B0819716C7}"/>
              </a:ext>
            </a:extLst>
          </p:cNvPr>
          <p:cNvSpPr>
            <a:spLocks noGrp="1"/>
          </p:cNvSpPr>
          <p:nvPr/>
        </p:nvSpPr>
        <p:spPr>
          <a:xfrm>
            <a:off x="6810375" y="29908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31" name="Decision label 21">
            <a:extLst>
              <a:ext uri="{FF2B5EF4-FFF2-40B4-BE49-F238E27FC236}">
                <a16:creationId xmlns:a16="http://schemas.microsoft.com/office/drawing/2014/main" id="{574E02D1-000F-43C9-8C0D-4B700CC4BB66}"/>
              </a:ext>
            </a:extLst>
          </p:cNvPr>
          <p:cNvSpPr>
            <a:spLocks noGrp="1"/>
          </p:cNvSpPr>
          <p:nvPr/>
        </p:nvSpPr>
        <p:spPr>
          <a:xfrm>
            <a:off x="7362825"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b2</a:t>
            </a:r>
          </a:p>
        </p:txBody>
      </p:sp>
      <p:sp>
        <p:nvSpPr>
          <p:cNvPr id="32" name="Outcome 21">
            <a:extLst>
              <a:ext uri="{FF2B5EF4-FFF2-40B4-BE49-F238E27FC236}">
                <a16:creationId xmlns:a16="http://schemas.microsoft.com/office/drawing/2014/main" id="{14F544BE-B71D-476F-9615-16D10D7E1A3C}"/>
              </a:ext>
            </a:extLst>
          </p:cNvPr>
          <p:cNvSpPr>
            <a:spLocks noGrp="1"/>
          </p:cNvSpPr>
          <p:nvPr/>
        </p:nvSpPr>
        <p:spPr>
          <a:xfrm>
            <a:off x="7410450" y="29337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33" name="Outcome text 21">
            <a:extLst>
              <a:ext uri="{FF2B5EF4-FFF2-40B4-BE49-F238E27FC236}">
                <a16:creationId xmlns:a16="http://schemas.microsoft.com/office/drawing/2014/main" id="{61B07D45-94DF-49B0-AF51-7A7E1BEA3B0C}"/>
              </a:ext>
            </a:extLst>
          </p:cNvPr>
          <p:cNvSpPr>
            <a:spLocks noGrp="1"/>
          </p:cNvSpPr>
          <p:nvPr/>
        </p:nvSpPr>
        <p:spPr>
          <a:xfrm>
            <a:off x="7410450" y="29908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34" name="Decision label 22">
            <a:extLst>
              <a:ext uri="{FF2B5EF4-FFF2-40B4-BE49-F238E27FC236}">
                <a16:creationId xmlns:a16="http://schemas.microsoft.com/office/drawing/2014/main" id="{F9E32BFA-93B7-484C-A4D6-F7CEC2576083}"/>
              </a:ext>
            </a:extLst>
          </p:cNvPr>
          <p:cNvSpPr>
            <a:spLocks noGrp="1"/>
          </p:cNvSpPr>
          <p:nvPr/>
        </p:nvSpPr>
        <p:spPr>
          <a:xfrm>
            <a:off x="7962900"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b3</a:t>
            </a:r>
          </a:p>
        </p:txBody>
      </p:sp>
      <p:sp>
        <p:nvSpPr>
          <p:cNvPr id="35" name="Outcome 22">
            <a:extLst>
              <a:ext uri="{FF2B5EF4-FFF2-40B4-BE49-F238E27FC236}">
                <a16:creationId xmlns:a16="http://schemas.microsoft.com/office/drawing/2014/main" id="{A83F4510-78E5-442A-81C5-183D122952E3}"/>
              </a:ext>
            </a:extLst>
          </p:cNvPr>
          <p:cNvSpPr>
            <a:spLocks noGrp="1"/>
          </p:cNvSpPr>
          <p:nvPr/>
        </p:nvSpPr>
        <p:spPr>
          <a:xfrm>
            <a:off x="8010525" y="29337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36" name="Outcome text 22">
            <a:extLst>
              <a:ext uri="{FF2B5EF4-FFF2-40B4-BE49-F238E27FC236}">
                <a16:creationId xmlns:a16="http://schemas.microsoft.com/office/drawing/2014/main" id="{8B47A1E9-EB74-4A50-AB1C-E992610AA540}"/>
              </a:ext>
            </a:extLst>
          </p:cNvPr>
          <p:cNvSpPr>
            <a:spLocks noGrp="1"/>
          </p:cNvSpPr>
          <p:nvPr/>
        </p:nvSpPr>
        <p:spPr>
          <a:xfrm>
            <a:off x="8010525" y="29908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37" name="Path card TFF">
            <a:extLst>
              <a:ext uri="{FF2B5EF4-FFF2-40B4-BE49-F238E27FC236}">
                <a16:creationId xmlns:a16="http://schemas.microsoft.com/office/drawing/2014/main" id="{0FFCE6BD-3796-414B-A73A-9D1A41F2A256}"/>
              </a:ext>
            </a:extLst>
          </p:cNvPr>
          <p:cNvSpPr>
            <a:spLocks noGrp="1"/>
          </p:cNvSpPr>
          <p:nvPr/>
        </p:nvSpPr>
        <p:spPr>
          <a:xfrm>
            <a:off x="9382125" y="2095500"/>
            <a:ext cx="2095500" cy="1314450"/>
          </a:xfrm>
          <a:prstGeom prst="roundRect">
            <a:avLst>
              <a:gd name="adj" fmla="val 5797"/>
            </a:avLst>
          </a:prstGeom>
          <a:solidFill>
            <a:srgbClr val="FFFFFF"/>
          </a:solidFill>
          <a:ln w="14288">
            <a:solidFill>
              <a:srgbClr val="CDD5DC"/>
            </a:solidFill>
          </a:ln>
        </p:spPr>
        <p:txBody>
          <a:bodyPr/>
          <a:lstStyle/>
          <a:p>
            <a:endParaRPr lang="en-US"/>
          </a:p>
        </p:txBody>
      </p:sp>
      <p:sp>
        <p:nvSpPr>
          <p:cNvPr id="38" name="Path code TFF">
            <a:extLst>
              <a:ext uri="{FF2B5EF4-FFF2-40B4-BE49-F238E27FC236}">
                <a16:creationId xmlns:a16="http://schemas.microsoft.com/office/drawing/2014/main" id="{33675E3B-A7B1-4F5B-B5A7-DD410654612A}"/>
              </a:ext>
            </a:extLst>
          </p:cNvPr>
          <p:cNvSpPr>
            <a:spLocks noGrp="1"/>
          </p:cNvSpPr>
          <p:nvPr/>
        </p:nvSpPr>
        <p:spPr>
          <a:xfrm>
            <a:off x="9382125" y="2247900"/>
            <a:ext cx="2095500" cy="333375"/>
          </a:xfrm>
          <a:prstGeom prst="rect">
            <a:avLst/>
          </a:prstGeom>
          <a:noFill/>
          <a:ln w="0">
            <a:noFill/>
          </a:ln>
        </p:spPr>
        <p:txBody>
          <a:bodyPr anchor="t">
            <a:noAutofit/>
          </a:bodyPr>
          <a:lstStyle/>
          <a:p>
            <a:pPr algn="ctr">
              <a:defRPr sz="1875" b="1">
                <a:solidFill>
                  <a:srgbClr val="20364D"/>
                </a:solidFill>
                <a:latin typeface="Calibri"/>
                <a:ea typeface="Calibri"/>
                <a:cs typeface="Calibri"/>
              </a:defRPr>
            </a:pPr>
            <a:r>
              <a:rPr sz="1875" b="1">
                <a:solidFill>
                  <a:srgbClr val="20364D"/>
                </a:solidFill>
                <a:latin typeface="Calibri"/>
                <a:ea typeface="Calibri"/>
                <a:cs typeface="Calibri"/>
              </a:rPr>
              <a:t>TFF</a:t>
            </a:r>
          </a:p>
        </p:txBody>
      </p:sp>
      <p:sp>
        <p:nvSpPr>
          <p:cNvPr id="39" name="Decision label 30">
            <a:extLst>
              <a:ext uri="{FF2B5EF4-FFF2-40B4-BE49-F238E27FC236}">
                <a16:creationId xmlns:a16="http://schemas.microsoft.com/office/drawing/2014/main" id="{CC20E216-BF6C-4618-A55B-5FE4DA310A2A}"/>
              </a:ext>
            </a:extLst>
          </p:cNvPr>
          <p:cNvSpPr>
            <a:spLocks noGrp="1"/>
          </p:cNvSpPr>
          <p:nvPr/>
        </p:nvSpPr>
        <p:spPr>
          <a:xfrm>
            <a:off x="9620250"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b1</a:t>
            </a:r>
          </a:p>
        </p:txBody>
      </p:sp>
      <p:sp>
        <p:nvSpPr>
          <p:cNvPr id="40" name="Outcome 30">
            <a:extLst>
              <a:ext uri="{FF2B5EF4-FFF2-40B4-BE49-F238E27FC236}">
                <a16:creationId xmlns:a16="http://schemas.microsoft.com/office/drawing/2014/main" id="{5A248335-FBD3-4A30-A242-C898F7C98ED9}"/>
              </a:ext>
            </a:extLst>
          </p:cNvPr>
          <p:cNvSpPr>
            <a:spLocks noGrp="1"/>
          </p:cNvSpPr>
          <p:nvPr/>
        </p:nvSpPr>
        <p:spPr>
          <a:xfrm>
            <a:off x="9667875" y="29337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41" name="Outcome text 30">
            <a:extLst>
              <a:ext uri="{FF2B5EF4-FFF2-40B4-BE49-F238E27FC236}">
                <a16:creationId xmlns:a16="http://schemas.microsoft.com/office/drawing/2014/main" id="{E362E2D3-FE66-4787-8FD0-C86BBFF80E13}"/>
              </a:ext>
            </a:extLst>
          </p:cNvPr>
          <p:cNvSpPr>
            <a:spLocks noGrp="1"/>
          </p:cNvSpPr>
          <p:nvPr/>
        </p:nvSpPr>
        <p:spPr>
          <a:xfrm>
            <a:off x="9667875" y="29908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42" name="Decision label 31">
            <a:extLst>
              <a:ext uri="{FF2B5EF4-FFF2-40B4-BE49-F238E27FC236}">
                <a16:creationId xmlns:a16="http://schemas.microsoft.com/office/drawing/2014/main" id="{02D7C841-5390-40B3-8389-9FB2C6D01CC3}"/>
              </a:ext>
            </a:extLst>
          </p:cNvPr>
          <p:cNvSpPr>
            <a:spLocks noGrp="1"/>
          </p:cNvSpPr>
          <p:nvPr/>
        </p:nvSpPr>
        <p:spPr>
          <a:xfrm>
            <a:off x="10220325"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b2</a:t>
            </a:r>
          </a:p>
        </p:txBody>
      </p:sp>
      <p:sp>
        <p:nvSpPr>
          <p:cNvPr id="43" name="Outcome 31">
            <a:extLst>
              <a:ext uri="{FF2B5EF4-FFF2-40B4-BE49-F238E27FC236}">
                <a16:creationId xmlns:a16="http://schemas.microsoft.com/office/drawing/2014/main" id="{80F26CD5-EFD9-49BA-9748-53909FC5501D}"/>
              </a:ext>
            </a:extLst>
          </p:cNvPr>
          <p:cNvSpPr>
            <a:spLocks noGrp="1"/>
          </p:cNvSpPr>
          <p:nvPr/>
        </p:nvSpPr>
        <p:spPr>
          <a:xfrm>
            <a:off x="10267950" y="29337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44" name="Outcome text 31">
            <a:extLst>
              <a:ext uri="{FF2B5EF4-FFF2-40B4-BE49-F238E27FC236}">
                <a16:creationId xmlns:a16="http://schemas.microsoft.com/office/drawing/2014/main" id="{26A561B9-43B7-4977-AC4A-535E83F90E39}"/>
              </a:ext>
            </a:extLst>
          </p:cNvPr>
          <p:cNvSpPr>
            <a:spLocks noGrp="1"/>
          </p:cNvSpPr>
          <p:nvPr/>
        </p:nvSpPr>
        <p:spPr>
          <a:xfrm>
            <a:off x="10267950" y="29908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45" name="Decision label 32">
            <a:extLst>
              <a:ext uri="{FF2B5EF4-FFF2-40B4-BE49-F238E27FC236}">
                <a16:creationId xmlns:a16="http://schemas.microsoft.com/office/drawing/2014/main" id="{B72A7487-8CCC-415E-BDBC-C3D16D764DBE}"/>
              </a:ext>
            </a:extLst>
          </p:cNvPr>
          <p:cNvSpPr>
            <a:spLocks noGrp="1"/>
          </p:cNvSpPr>
          <p:nvPr/>
        </p:nvSpPr>
        <p:spPr>
          <a:xfrm>
            <a:off x="10820400" y="26860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b3</a:t>
            </a:r>
          </a:p>
        </p:txBody>
      </p:sp>
      <p:sp>
        <p:nvSpPr>
          <p:cNvPr id="46" name="Outcome 32">
            <a:extLst>
              <a:ext uri="{FF2B5EF4-FFF2-40B4-BE49-F238E27FC236}">
                <a16:creationId xmlns:a16="http://schemas.microsoft.com/office/drawing/2014/main" id="{BA3C09DD-CB10-4052-A9BA-B135F38152F0}"/>
              </a:ext>
            </a:extLst>
          </p:cNvPr>
          <p:cNvSpPr>
            <a:spLocks noGrp="1"/>
          </p:cNvSpPr>
          <p:nvPr/>
        </p:nvSpPr>
        <p:spPr>
          <a:xfrm>
            <a:off x="10868025" y="29337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47" name="Outcome text 32">
            <a:extLst>
              <a:ext uri="{FF2B5EF4-FFF2-40B4-BE49-F238E27FC236}">
                <a16:creationId xmlns:a16="http://schemas.microsoft.com/office/drawing/2014/main" id="{1A5C2EE7-114A-4E73-8AC3-2BE730F3043A}"/>
              </a:ext>
            </a:extLst>
          </p:cNvPr>
          <p:cNvSpPr>
            <a:spLocks noGrp="1"/>
          </p:cNvSpPr>
          <p:nvPr/>
        </p:nvSpPr>
        <p:spPr>
          <a:xfrm>
            <a:off x="10868025" y="29908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48" name="Path card FTT">
            <a:extLst>
              <a:ext uri="{FF2B5EF4-FFF2-40B4-BE49-F238E27FC236}">
                <a16:creationId xmlns:a16="http://schemas.microsoft.com/office/drawing/2014/main" id="{401F72C2-4799-4ECF-A62E-474FEA864C06}"/>
              </a:ext>
            </a:extLst>
          </p:cNvPr>
          <p:cNvSpPr>
            <a:spLocks noGrp="1"/>
          </p:cNvSpPr>
          <p:nvPr/>
        </p:nvSpPr>
        <p:spPr>
          <a:xfrm>
            <a:off x="809625" y="3810000"/>
            <a:ext cx="2095500" cy="1314450"/>
          </a:xfrm>
          <a:prstGeom prst="roundRect">
            <a:avLst>
              <a:gd name="adj" fmla="val 5797"/>
            </a:avLst>
          </a:prstGeom>
          <a:solidFill>
            <a:srgbClr val="FFFFFF"/>
          </a:solidFill>
          <a:ln w="14288">
            <a:solidFill>
              <a:srgbClr val="CDD5DC"/>
            </a:solidFill>
          </a:ln>
        </p:spPr>
        <p:txBody>
          <a:bodyPr/>
          <a:lstStyle/>
          <a:p>
            <a:endParaRPr lang="en-US"/>
          </a:p>
        </p:txBody>
      </p:sp>
      <p:sp>
        <p:nvSpPr>
          <p:cNvPr id="49" name="Path code FTT">
            <a:extLst>
              <a:ext uri="{FF2B5EF4-FFF2-40B4-BE49-F238E27FC236}">
                <a16:creationId xmlns:a16="http://schemas.microsoft.com/office/drawing/2014/main" id="{1EB48221-264A-4D10-BD6E-5FCCC0055E57}"/>
              </a:ext>
            </a:extLst>
          </p:cNvPr>
          <p:cNvSpPr>
            <a:spLocks noGrp="1"/>
          </p:cNvSpPr>
          <p:nvPr/>
        </p:nvSpPr>
        <p:spPr>
          <a:xfrm>
            <a:off x="809625" y="3962400"/>
            <a:ext cx="2095500" cy="333375"/>
          </a:xfrm>
          <a:prstGeom prst="rect">
            <a:avLst/>
          </a:prstGeom>
          <a:noFill/>
          <a:ln w="0">
            <a:noFill/>
          </a:ln>
        </p:spPr>
        <p:txBody>
          <a:bodyPr anchor="t">
            <a:noAutofit/>
          </a:bodyPr>
          <a:lstStyle/>
          <a:p>
            <a:pPr algn="ctr">
              <a:defRPr sz="1875" b="1">
                <a:solidFill>
                  <a:srgbClr val="20364D"/>
                </a:solidFill>
                <a:latin typeface="Calibri"/>
                <a:ea typeface="Calibri"/>
                <a:cs typeface="Calibri"/>
              </a:defRPr>
            </a:pPr>
            <a:r>
              <a:rPr sz="1875" b="1">
                <a:solidFill>
                  <a:srgbClr val="20364D"/>
                </a:solidFill>
                <a:latin typeface="Calibri"/>
                <a:ea typeface="Calibri"/>
                <a:cs typeface="Calibri"/>
              </a:rPr>
              <a:t>FTT</a:t>
            </a:r>
          </a:p>
        </p:txBody>
      </p:sp>
      <p:sp>
        <p:nvSpPr>
          <p:cNvPr id="50" name="Decision label 40">
            <a:extLst>
              <a:ext uri="{FF2B5EF4-FFF2-40B4-BE49-F238E27FC236}">
                <a16:creationId xmlns:a16="http://schemas.microsoft.com/office/drawing/2014/main" id="{F15537BA-E62F-4A78-B69E-A888D1676DBB}"/>
              </a:ext>
            </a:extLst>
          </p:cNvPr>
          <p:cNvSpPr>
            <a:spLocks noGrp="1"/>
          </p:cNvSpPr>
          <p:nvPr/>
        </p:nvSpPr>
        <p:spPr>
          <a:xfrm>
            <a:off x="1047750"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b1</a:t>
            </a:r>
          </a:p>
        </p:txBody>
      </p:sp>
      <p:sp>
        <p:nvSpPr>
          <p:cNvPr id="51" name="Outcome 40">
            <a:extLst>
              <a:ext uri="{FF2B5EF4-FFF2-40B4-BE49-F238E27FC236}">
                <a16:creationId xmlns:a16="http://schemas.microsoft.com/office/drawing/2014/main" id="{80BFA073-E428-4104-837D-F425CFC92B39}"/>
              </a:ext>
            </a:extLst>
          </p:cNvPr>
          <p:cNvSpPr>
            <a:spLocks noGrp="1"/>
          </p:cNvSpPr>
          <p:nvPr/>
        </p:nvSpPr>
        <p:spPr>
          <a:xfrm>
            <a:off x="1095375" y="46482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52" name="Outcome text 40">
            <a:extLst>
              <a:ext uri="{FF2B5EF4-FFF2-40B4-BE49-F238E27FC236}">
                <a16:creationId xmlns:a16="http://schemas.microsoft.com/office/drawing/2014/main" id="{828010BB-DBD5-4418-AC4C-CBCBA2D4E9B3}"/>
              </a:ext>
            </a:extLst>
          </p:cNvPr>
          <p:cNvSpPr>
            <a:spLocks noGrp="1"/>
          </p:cNvSpPr>
          <p:nvPr/>
        </p:nvSpPr>
        <p:spPr>
          <a:xfrm>
            <a:off x="1095375" y="47053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53" name="Decision label 41">
            <a:extLst>
              <a:ext uri="{FF2B5EF4-FFF2-40B4-BE49-F238E27FC236}">
                <a16:creationId xmlns:a16="http://schemas.microsoft.com/office/drawing/2014/main" id="{46FE2369-0209-4649-8F0B-0F943DEC3EFA}"/>
              </a:ext>
            </a:extLst>
          </p:cNvPr>
          <p:cNvSpPr>
            <a:spLocks noGrp="1"/>
          </p:cNvSpPr>
          <p:nvPr/>
        </p:nvSpPr>
        <p:spPr>
          <a:xfrm>
            <a:off x="1647825"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b2</a:t>
            </a:r>
          </a:p>
        </p:txBody>
      </p:sp>
      <p:sp>
        <p:nvSpPr>
          <p:cNvPr id="54" name="Outcome 41">
            <a:extLst>
              <a:ext uri="{FF2B5EF4-FFF2-40B4-BE49-F238E27FC236}">
                <a16:creationId xmlns:a16="http://schemas.microsoft.com/office/drawing/2014/main" id="{5DAA9CBF-F260-4EA9-A510-6C32C4F72D64}"/>
              </a:ext>
            </a:extLst>
          </p:cNvPr>
          <p:cNvSpPr>
            <a:spLocks noGrp="1"/>
          </p:cNvSpPr>
          <p:nvPr/>
        </p:nvSpPr>
        <p:spPr>
          <a:xfrm>
            <a:off x="1695450" y="46482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55" name="Outcome text 41">
            <a:extLst>
              <a:ext uri="{FF2B5EF4-FFF2-40B4-BE49-F238E27FC236}">
                <a16:creationId xmlns:a16="http://schemas.microsoft.com/office/drawing/2014/main" id="{50D7FDB3-A238-46D6-92F5-2BB08239029B}"/>
              </a:ext>
            </a:extLst>
          </p:cNvPr>
          <p:cNvSpPr>
            <a:spLocks noGrp="1"/>
          </p:cNvSpPr>
          <p:nvPr/>
        </p:nvSpPr>
        <p:spPr>
          <a:xfrm>
            <a:off x="1695450" y="47053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56" name="Decision label 42">
            <a:extLst>
              <a:ext uri="{FF2B5EF4-FFF2-40B4-BE49-F238E27FC236}">
                <a16:creationId xmlns:a16="http://schemas.microsoft.com/office/drawing/2014/main" id="{915D96C4-49A2-48B7-B5F4-2A108975C485}"/>
              </a:ext>
            </a:extLst>
          </p:cNvPr>
          <p:cNvSpPr>
            <a:spLocks noGrp="1"/>
          </p:cNvSpPr>
          <p:nvPr/>
        </p:nvSpPr>
        <p:spPr>
          <a:xfrm>
            <a:off x="2247900"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b3</a:t>
            </a:r>
          </a:p>
        </p:txBody>
      </p:sp>
      <p:sp>
        <p:nvSpPr>
          <p:cNvPr id="57" name="Outcome 42">
            <a:extLst>
              <a:ext uri="{FF2B5EF4-FFF2-40B4-BE49-F238E27FC236}">
                <a16:creationId xmlns:a16="http://schemas.microsoft.com/office/drawing/2014/main" id="{F63B6D29-A873-4D93-85FA-1E3038F9D705}"/>
              </a:ext>
            </a:extLst>
          </p:cNvPr>
          <p:cNvSpPr>
            <a:spLocks noGrp="1"/>
          </p:cNvSpPr>
          <p:nvPr/>
        </p:nvSpPr>
        <p:spPr>
          <a:xfrm>
            <a:off x="2295525" y="46482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58" name="Outcome text 42">
            <a:extLst>
              <a:ext uri="{FF2B5EF4-FFF2-40B4-BE49-F238E27FC236}">
                <a16:creationId xmlns:a16="http://schemas.microsoft.com/office/drawing/2014/main" id="{A4115EFA-7F6C-4127-970D-ABF03581FA41}"/>
              </a:ext>
            </a:extLst>
          </p:cNvPr>
          <p:cNvSpPr>
            <a:spLocks noGrp="1"/>
          </p:cNvSpPr>
          <p:nvPr/>
        </p:nvSpPr>
        <p:spPr>
          <a:xfrm>
            <a:off x="2295525" y="47053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59" name="Path card FTF">
            <a:extLst>
              <a:ext uri="{FF2B5EF4-FFF2-40B4-BE49-F238E27FC236}">
                <a16:creationId xmlns:a16="http://schemas.microsoft.com/office/drawing/2014/main" id="{48880C8E-0D99-4B66-A71C-CBBD9218EB98}"/>
              </a:ext>
            </a:extLst>
          </p:cNvPr>
          <p:cNvSpPr>
            <a:spLocks noGrp="1"/>
          </p:cNvSpPr>
          <p:nvPr/>
        </p:nvSpPr>
        <p:spPr>
          <a:xfrm>
            <a:off x="3667125" y="3810000"/>
            <a:ext cx="2095500" cy="1314450"/>
          </a:xfrm>
          <a:prstGeom prst="roundRect">
            <a:avLst>
              <a:gd name="adj" fmla="val 5797"/>
            </a:avLst>
          </a:prstGeom>
          <a:solidFill>
            <a:srgbClr val="FFFFFF"/>
          </a:solidFill>
          <a:ln w="14288">
            <a:solidFill>
              <a:srgbClr val="CDD5DC"/>
            </a:solidFill>
          </a:ln>
        </p:spPr>
        <p:txBody>
          <a:bodyPr/>
          <a:lstStyle/>
          <a:p>
            <a:endParaRPr lang="en-US"/>
          </a:p>
        </p:txBody>
      </p:sp>
      <p:sp>
        <p:nvSpPr>
          <p:cNvPr id="60" name="Path code FTF">
            <a:extLst>
              <a:ext uri="{FF2B5EF4-FFF2-40B4-BE49-F238E27FC236}">
                <a16:creationId xmlns:a16="http://schemas.microsoft.com/office/drawing/2014/main" id="{A9D1BA2D-BB4C-4C47-963E-5381DA8C334A}"/>
              </a:ext>
            </a:extLst>
          </p:cNvPr>
          <p:cNvSpPr>
            <a:spLocks noGrp="1"/>
          </p:cNvSpPr>
          <p:nvPr/>
        </p:nvSpPr>
        <p:spPr>
          <a:xfrm>
            <a:off x="3667125" y="3962400"/>
            <a:ext cx="2095500" cy="333375"/>
          </a:xfrm>
          <a:prstGeom prst="rect">
            <a:avLst/>
          </a:prstGeom>
          <a:noFill/>
          <a:ln w="0">
            <a:noFill/>
          </a:ln>
        </p:spPr>
        <p:txBody>
          <a:bodyPr anchor="t">
            <a:noAutofit/>
          </a:bodyPr>
          <a:lstStyle/>
          <a:p>
            <a:pPr algn="ctr">
              <a:defRPr sz="1875" b="1">
                <a:solidFill>
                  <a:srgbClr val="20364D"/>
                </a:solidFill>
                <a:latin typeface="Calibri"/>
                <a:ea typeface="Calibri"/>
                <a:cs typeface="Calibri"/>
              </a:defRPr>
            </a:pPr>
            <a:r>
              <a:rPr sz="1875" b="1">
                <a:solidFill>
                  <a:srgbClr val="20364D"/>
                </a:solidFill>
                <a:latin typeface="Calibri"/>
                <a:ea typeface="Calibri"/>
                <a:cs typeface="Calibri"/>
              </a:rPr>
              <a:t>FTF</a:t>
            </a:r>
          </a:p>
        </p:txBody>
      </p:sp>
      <p:sp>
        <p:nvSpPr>
          <p:cNvPr id="61" name="Decision label 50">
            <a:extLst>
              <a:ext uri="{FF2B5EF4-FFF2-40B4-BE49-F238E27FC236}">
                <a16:creationId xmlns:a16="http://schemas.microsoft.com/office/drawing/2014/main" id="{18478015-9B37-4EB5-935D-96B6203CE104}"/>
              </a:ext>
            </a:extLst>
          </p:cNvPr>
          <p:cNvSpPr>
            <a:spLocks noGrp="1"/>
          </p:cNvSpPr>
          <p:nvPr/>
        </p:nvSpPr>
        <p:spPr>
          <a:xfrm>
            <a:off x="3905250"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b1</a:t>
            </a:r>
          </a:p>
        </p:txBody>
      </p:sp>
      <p:sp>
        <p:nvSpPr>
          <p:cNvPr id="62" name="Outcome 50">
            <a:extLst>
              <a:ext uri="{FF2B5EF4-FFF2-40B4-BE49-F238E27FC236}">
                <a16:creationId xmlns:a16="http://schemas.microsoft.com/office/drawing/2014/main" id="{58390A91-534B-4FA0-8D9B-A71F30E93079}"/>
              </a:ext>
            </a:extLst>
          </p:cNvPr>
          <p:cNvSpPr>
            <a:spLocks noGrp="1"/>
          </p:cNvSpPr>
          <p:nvPr/>
        </p:nvSpPr>
        <p:spPr>
          <a:xfrm>
            <a:off x="3952875" y="46482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63" name="Outcome text 50">
            <a:extLst>
              <a:ext uri="{FF2B5EF4-FFF2-40B4-BE49-F238E27FC236}">
                <a16:creationId xmlns:a16="http://schemas.microsoft.com/office/drawing/2014/main" id="{689481BD-16C3-4CD6-82E8-7AEC331E0C67}"/>
              </a:ext>
            </a:extLst>
          </p:cNvPr>
          <p:cNvSpPr>
            <a:spLocks noGrp="1"/>
          </p:cNvSpPr>
          <p:nvPr/>
        </p:nvSpPr>
        <p:spPr>
          <a:xfrm>
            <a:off x="3952875" y="47053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64" name="Decision label 51">
            <a:extLst>
              <a:ext uri="{FF2B5EF4-FFF2-40B4-BE49-F238E27FC236}">
                <a16:creationId xmlns:a16="http://schemas.microsoft.com/office/drawing/2014/main" id="{36BE3D86-EE1A-4872-99EB-9A8B1CDDED12}"/>
              </a:ext>
            </a:extLst>
          </p:cNvPr>
          <p:cNvSpPr>
            <a:spLocks noGrp="1"/>
          </p:cNvSpPr>
          <p:nvPr/>
        </p:nvSpPr>
        <p:spPr>
          <a:xfrm>
            <a:off x="4505325"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b2</a:t>
            </a:r>
          </a:p>
        </p:txBody>
      </p:sp>
      <p:sp>
        <p:nvSpPr>
          <p:cNvPr id="65" name="Outcome 51">
            <a:extLst>
              <a:ext uri="{FF2B5EF4-FFF2-40B4-BE49-F238E27FC236}">
                <a16:creationId xmlns:a16="http://schemas.microsoft.com/office/drawing/2014/main" id="{0DBAE9B1-DD76-4DA0-8CAE-DB9E16218831}"/>
              </a:ext>
            </a:extLst>
          </p:cNvPr>
          <p:cNvSpPr>
            <a:spLocks noGrp="1"/>
          </p:cNvSpPr>
          <p:nvPr/>
        </p:nvSpPr>
        <p:spPr>
          <a:xfrm>
            <a:off x="4552950" y="46482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66" name="Outcome text 51">
            <a:extLst>
              <a:ext uri="{FF2B5EF4-FFF2-40B4-BE49-F238E27FC236}">
                <a16:creationId xmlns:a16="http://schemas.microsoft.com/office/drawing/2014/main" id="{986F580A-DBD4-45FC-8DC0-4DACFBFC55F7}"/>
              </a:ext>
            </a:extLst>
          </p:cNvPr>
          <p:cNvSpPr>
            <a:spLocks noGrp="1"/>
          </p:cNvSpPr>
          <p:nvPr/>
        </p:nvSpPr>
        <p:spPr>
          <a:xfrm>
            <a:off x="4552950" y="47053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67" name="Decision label 52">
            <a:extLst>
              <a:ext uri="{FF2B5EF4-FFF2-40B4-BE49-F238E27FC236}">
                <a16:creationId xmlns:a16="http://schemas.microsoft.com/office/drawing/2014/main" id="{87317364-3064-4E59-9E94-E63D9377BCB5}"/>
              </a:ext>
            </a:extLst>
          </p:cNvPr>
          <p:cNvSpPr>
            <a:spLocks noGrp="1"/>
          </p:cNvSpPr>
          <p:nvPr/>
        </p:nvSpPr>
        <p:spPr>
          <a:xfrm>
            <a:off x="5105400"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b3</a:t>
            </a:r>
          </a:p>
        </p:txBody>
      </p:sp>
      <p:sp>
        <p:nvSpPr>
          <p:cNvPr id="68" name="Outcome 52">
            <a:extLst>
              <a:ext uri="{FF2B5EF4-FFF2-40B4-BE49-F238E27FC236}">
                <a16:creationId xmlns:a16="http://schemas.microsoft.com/office/drawing/2014/main" id="{9C6F29AF-BE52-40CD-9F50-14D01B83CCC8}"/>
              </a:ext>
            </a:extLst>
          </p:cNvPr>
          <p:cNvSpPr>
            <a:spLocks noGrp="1"/>
          </p:cNvSpPr>
          <p:nvPr/>
        </p:nvSpPr>
        <p:spPr>
          <a:xfrm>
            <a:off x="5153025" y="46482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69" name="Outcome text 52">
            <a:extLst>
              <a:ext uri="{FF2B5EF4-FFF2-40B4-BE49-F238E27FC236}">
                <a16:creationId xmlns:a16="http://schemas.microsoft.com/office/drawing/2014/main" id="{C7606369-FACB-405D-8B78-1BAB18641FD3}"/>
              </a:ext>
            </a:extLst>
          </p:cNvPr>
          <p:cNvSpPr>
            <a:spLocks noGrp="1"/>
          </p:cNvSpPr>
          <p:nvPr/>
        </p:nvSpPr>
        <p:spPr>
          <a:xfrm>
            <a:off x="5153025" y="47053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70" name="Path card FFT">
            <a:extLst>
              <a:ext uri="{FF2B5EF4-FFF2-40B4-BE49-F238E27FC236}">
                <a16:creationId xmlns:a16="http://schemas.microsoft.com/office/drawing/2014/main" id="{304D97EA-93CE-47B3-B956-FBD2B9CAA133}"/>
              </a:ext>
            </a:extLst>
          </p:cNvPr>
          <p:cNvSpPr>
            <a:spLocks noGrp="1"/>
          </p:cNvSpPr>
          <p:nvPr/>
        </p:nvSpPr>
        <p:spPr>
          <a:xfrm>
            <a:off x="6524625" y="3810000"/>
            <a:ext cx="2095500" cy="1314450"/>
          </a:xfrm>
          <a:prstGeom prst="roundRect">
            <a:avLst>
              <a:gd name="adj" fmla="val 5797"/>
            </a:avLst>
          </a:prstGeom>
          <a:solidFill>
            <a:srgbClr val="FFFFFF"/>
          </a:solidFill>
          <a:ln w="14288">
            <a:solidFill>
              <a:srgbClr val="CDD5DC"/>
            </a:solidFill>
          </a:ln>
        </p:spPr>
        <p:txBody>
          <a:bodyPr/>
          <a:lstStyle/>
          <a:p>
            <a:endParaRPr lang="en-US"/>
          </a:p>
        </p:txBody>
      </p:sp>
      <p:sp>
        <p:nvSpPr>
          <p:cNvPr id="71" name="Path code FFT">
            <a:extLst>
              <a:ext uri="{FF2B5EF4-FFF2-40B4-BE49-F238E27FC236}">
                <a16:creationId xmlns:a16="http://schemas.microsoft.com/office/drawing/2014/main" id="{4B85EF72-4FDF-43BD-B5BC-CE0E337F7997}"/>
              </a:ext>
            </a:extLst>
          </p:cNvPr>
          <p:cNvSpPr>
            <a:spLocks noGrp="1"/>
          </p:cNvSpPr>
          <p:nvPr/>
        </p:nvSpPr>
        <p:spPr>
          <a:xfrm>
            <a:off x="6524625" y="3962400"/>
            <a:ext cx="2095500" cy="333375"/>
          </a:xfrm>
          <a:prstGeom prst="rect">
            <a:avLst/>
          </a:prstGeom>
          <a:noFill/>
          <a:ln w="0">
            <a:noFill/>
          </a:ln>
        </p:spPr>
        <p:txBody>
          <a:bodyPr anchor="t">
            <a:noAutofit/>
          </a:bodyPr>
          <a:lstStyle/>
          <a:p>
            <a:pPr algn="ctr">
              <a:defRPr sz="1875" b="1">
                <a:solidFill>
                  <a:srgbClr val="20364D"/>
                </a:solidFill>
                <a:latin typeface="Calibri"/>
                <a:ea typeface="Calibri"/>
                <a:cs typeface="Calibri"/>
              </a:defRPr>
            </a:pPr>
            <a:r>
              <a:rPr sz="1875" b="1">
                <a:solidFill>
                  <a:srgbClr val="20364D"/>
                </a:solidFill>
                <a:latin typeface="Calibri"/>
                <a:ea typeface="Calibri"/>
                <a:cs typeface="Calibri"/>
              </a:rPr>
              <a:t>FFT</a:t>
            </a:r>
          </a:p>
        </p:txBody>
      </p:sp>
      <p:sp>
        <p:nvSpPr>
          <p:cNvPr id="72" name="Decision label 60">
            <a:extLst>
              <a:ext uri="{FF2B5EF4-FFF2-40B4-BE49-F238E27FC236}">
                <a16:creationId xmlns:a16="http://schemas.microsoft.com/office/drawing/2014/main" id="{5444AAE0-4798-4095-A033-1E883F5CB5FD}"/>
              </a:ext>
            </a:extLst>
          </p:cNvPr>
          <p:cNvSpPr>
            <a:spLocks noGrp="1"/>
          </p:cNvSpPr>
          <p:nvPr/>
        </p:nvSpPr>
        <p:spPr>
          <a:xfrm>
            <a:off x="6762750"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b1</a:t>
            </a:r>
          </a:p>
        </p:txBody>
      </p:sp>
      <p:sp>
        <p:nvSpPr>
          <p:cNvPr id="73" name="Outcome 60">
            <a:extLst>
              <a:ext uri="{FF2B5EF4-FFF2-40B4-BE49-F238E27FC236}">
                <a16:creationId xmlns:a16="http://schemas.microsoft.com/office/drawing/2014/main" id="{AE4CCC0C-FD60-4B3E-848B-4BBB43D69422}"/>
              </a:ext>
            </a:extLst>
          </p:cNvPr>
          <p:cNvSpPr>
            <a:spLocks noGrp="1"/>
          </p:cNvSpPr>
          <p:nvPr/>
        </p:nvSpPr>
        <p:spPr>
          <a:xfrm>
            <a:off x="6810375" y="46482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74" name="Outcome text 60">
            <a:extLst>
              <a:ext uri="{FF2B5EF4-FFF2-40B4-BE49-F238E27FC236}">
                <a16:creationId xmlns:a16="http://schemas.microsoft.com/office/drawing/2014/main" id="{6A847A20-E643-440F-B41B-8FFFC0CE32F4}"/>
              </a:ext>
            </a:extLst>
          </p:cNvPr>
          <p:cNvSpPr>
            <a:spLocks noGrp="1"/>
          </p:cNvSpPr>
          <p:nvPr/>
        </p:nvSpPr>
        <p:spPr>
          <a:xfrm>
            <a:off x="6810375" y="47053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75" name="Decision label 61">
            <a:extLst>
              <a:ext uri="{FF2B5EF4-FFF2-40B4-BE49-F238E27FC236}">
                <a16:creationId xmlns:a16="http://schemas.microsoft.com/office/drawing/2014/main" id="{4590E2A8-D3FD-4F89-9B52-747E2BF6D422}"/>
              </a:ext>
            </a:extLst>
          </p:cNvPr>
          <p:cNvSpPr>
            <a:spLocks noGrp="1"/>
          </p:cNvSpPr>
          <p:nvPr/>
        </p:nvSpPr>
        <p:spPr>
          <a:xfrm>
            <a:off x="7362825"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b2</a:t>
            </a:r>
          </a:p>
        </p:txBody>
      </p:sp>
      <p:sp>
        <p:nvSpPr>
          <p:cNvPr id="76" name="Outcome 61">
            <a:extLst>
              <a:ext uri="{FF2B5EF4-FFF2-40B4-BE49-F238E27FC236}">
                <a16:creationId xmlns:a16="http://schemas.microsoft.com/office/drawing/2014/main" id="{DE6AE590-34FA-4882-B4B4-CCB799FD64D6}"/>
              </a:ext>
            </a:extLst>
          </p:cNvPr>
          <p:cNvSpPr>
            <a:spLocks noGrp="1"/>
          </p:cNvSpPr>
          <p:nvPr/>
        </p:nvSpPr>
        <p:spPr>
          <a:xfrm>
            <a:off x="7410450" y="46482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77" name="Outcome text 61">
            <a:extLst>
              <a:ext uri="{FF2B5EF4-FFF2-40B4-BE49-F238E27FC236}">
                <a16:creationId xmlns:a16="http://schemas.microsoft.com/office/drawing/2014/main" id="{4753AC77-E3A6-482E-A7A9-1249E84AB5BC}"/>
              </a:ext>
            </a:extLst>
          </p:cNvPr>
          <p:cNvSpPr>
            <a:spLocks noGrp="1"/>
          </p:cNvSpPr>
          <p:nvPr/>
        </p:nvSpPr>
        <p:spPr>
          <a:xfrm>
            <a:off x="7410450" y="47053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78" name="Decision label 62">
            <a:extLst>
              <a:ext uri="{FF2B5EF4-FFF2-40B4-BE49-F238E27FC236}">
                <a16:creationId xmlns:a16="http://schemas.microsoft.com/office/drawing/2014/main" id="{100C784D-B25F-4DAC-8A52-F8F7F76059DA}"/>
              </a:ext>
            </a:extLst>
          </p:cNvPr>
          <p:cNvSpPr>
            <a:spLocks noGrp="1"/>
          </p:cNvSpPr>
          <p:nvPr/>
        </p:nvSpPr>
        <p:spPr>
          <a:xfrm>
            <a:off x="7962900"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b3</a:t>
            </a:r>
          </a:p>
        </p:txBody>
      </p:sp>
      <p:sp>
        <p:nvSpPr>
          <p:cNvPr id="79" name="Outcome 62">
            <a:extLst>
              <a:ext uri="{FF2B5EF4-FFF2-40B4-BE49-F238E27FC236}">
                <a16:creationId xmlns:a16="http://schemas.microsoft.com/office/drawing/2014/main" id="{0FD06E35-9524-47AE-BB84-0DD42B23E60A}"/>
              </a:ext>
            </a:extLst>
          </p:cNvPr>
          <p:cNvSpPr>
            <a:spLocks noGrp="1"/>
          </p:cNvSpPr>
          <p:nvPr/>
        </p:nvSpPr>
        <p:spPr>
          <a:xfrm>
            <a:off x="8010525" y="4648200"/>
            <a:ext cx="361950" cy="323850"/>
          </a:xfrm>
          <a:prstGeom prst="roundRect">
            <a:avLst>
              <a:gd name="adj" fmla="val 23529"/>
            </a:avLst>
          </a:prstGeom>
          <a:solidFill>
            <a:srgbClr val="EAF5EC"/>
          </a:solidFill>
          <a:ln w="11430">
            <a:solidFill>
              <a:srgbClr val="2E7D32"/>
            </a:solidFill>
          </a:ln>
        </p:spPr>
        <p:txBody>
          <a:bodyPr/>
          <a:lstStyle/>
          <a:p>
            <a:endParaRPr lang="en-US"/>
          </a:p>
        </p:txBody>
      </p:sp>
      <p:sp>
        <p:nvSpPr>
          <p:cNvPr id="80" name="Outcome text 62">
            <a:extLst>
              <a:ext uri="{FF2B5EF4-FFF2-40B4-BE49-F238E27FC236}">
                <a16:creationId xmlns:a16="http://schemas.microsoft.com/office/drawing/2014/main" id="{3E3D07D0-FB75-440F-A23F-2C194FB3B8AE}"/>
              </a:ext>
            </a:extLst>
          </p:cNvPr>
          <p:cNvSpPr>
            <a:spLocks noGrp="1"/>
          </p:cNvSpPr>
          <p:nvPr/>
        </p:nvSpPr>
        <p:spPr>
          <a:xfrm>
            <a:off x="8010525" y="4705350"/>
            <a:ext cx="361950" cy="209550"/>
          </a:xfrm>
          <a:prstGeom prst="rect">
            <a:avLst/>
          </a:prstGeom>
          <a:noFill/>
          <a:ln w="0">
            <a:noFill/>
          </a:ln>
        </p:spPr>
        <p:txBody>
          <a:bodyPr anchor="t">
            <a:noAutofit/>
          </a:bodyPr>
          <a:lstStyle/>
          <a:p>
            <a:pPr algn="ctr">
              <a:defRPr sz="1275" b="1">
                <a:solidFill>
                  <a:srgbClr val="2E7D32"/>
                </a:solidFill>
                <a:latin typeface="Calibri"/>
                <a:ea typeface="Calibri"/>
                <a:cs typeface="Calibri"/>
              </a:defRPr>
            </a:pPr>
            <a:r>
              <a:rPr sz="1275" b="1">
                <a:solidFill>
                  <a:srgbClr val="2E7D32"/>
                </a:solidFill>
                <a:latin typeface="Calibri"/>
                <a:ea typeface="Calibri"/>
                <a:cs typeface="Calibri"/>
              </a:rPr>
              <a:t>T</a:t>
            </a:r>
          </a:p>
        </p:txBody>
      </p:sp>
      <p:sp>
        <p:nvSpPr>
          <p:cNvPr id="81" name="Path card FFF">
            <a:extLst>
              <a:ext uri="{FF2B5EF4-FFF2-40B4-BE49-F238E27FC236}">
                <a16:creationId xmlns:a16="http://schemas.microsoft.com/office/drawing/2014/main" id="{9C8F9043-1A55-4290-910F-733BBD798E8F}"/>
              </a:ext>
            </a:extLst>
          </p:cNvPr>
          <p:cNvSpPr>
            <a:spLocks noGrp="1"/>
          </p:cNvSpPr>
          <p:nvPr/>
        </p:nvSpPr>
        <p:spPr>
          <a:xfrm>
            <a:off x="9382125" y="3810000"/>
            <a:ext cx="2095500" cy="1314450"/>
          </a:xfrm>
          <a:prstGeom prst="roundRect">
            <a:avLst>
              <a:gd name="adj" fmla="val 5797"/>
            </a:avLst>
          </a:prstGeom>
          <a:solidFill>
            <a:srgbClr val="FFFFFF"/>
          </a:solidFill>
          <a:ln w="14288">
            <a:solidFill>
              <a:srgbClr val="CDD5DC"/>
            </a:solidFill>
          </a:ln>
        </p:spPr>
        <p:txBody>
          <a:bodyPr/>
          <a:lstStyle/>
          <a:p>
            <a:endParaRPr lang="en-US"/>
          </a:p>
        </p:txBody>
      </p:sp>
      <p:sp>
        <p:nvSpPr>
          <p:cNvPr id="82" name="Path code FFF">
            <a:extLst>
              <a:ext uri="{FF2B5EF4-FFF2-40B4-BE49-F238E27FC236}">
                <a16:creationId xmlns:a16="http://schemas.microsoft.com/office/drawing/2014/main" id="{675CFBE2-5AD6-4099-B370-3230DC403D38}"/>
              </a:ext>
            </a:extLst>
          </p:cNvPr>
          <p:cNvSpPr>
            <a:spLocks noGrp="1"/>
          </p:cNvSpPr>
          <p:nvPr/>
        </p:nvSpPr>
        <p:spPr>
          <a:xfrm>
            <a:off x="9382125" y="3962400"/>
            <a:ext cx="2095500" cy="333375"/>
          </a:xfrm>
          <a:prstGeom prst="rect">
            <a:avLst/>
          </a:prstGeom>
          <a:noFill/>
          <a:ln w="0">
            <a:noFill/>
          </a:ln>
        </p:spPr>
        <p:txBody>
          <a:bodyPr anchor="t">
            <a:noAutofit/>
          </a:bodyPr>
          <a:lstStyle/>
          <a:p>
            <a:pPr algn="ctr">
              <a:defRPr sz="1875" b="1">
                <a:solidFill>
                  <a:srgbClr val="20364D"/>
                </a:solidFill>
                <a:latin typeface="Calibri"/>
                <a:ea typeface="Calibri"/>
                <a:cs typeface="Calibri"/>
              </a:defRPr>
            </a:pPr>
            <a:r>
              <a:rPr sz="1875" b="1">
                <a:solidFill>
                  <a:srgbClr val="20364D"/>
                </a:solidFill>
                <a:latin typeface="Calibri"/>
                <a:ea typeface="Calibri"/>
                <a:cs typeface="Calibri"/>
              </a:rPr>
              <a:t>FFF</a:t>
            </a:r>
          </a:p>
        </p:txBody>
      </p:sp>
      <p:sp>
        <p:nvSpPr>
          <p:cNvPr id="83" name="Decision label 70">
            <a:extLst>
              <a:ext uri="{FF2B5EF4-FFF2-40B4-BE49-F238E27FC236}">
                <a16:creationId xmlns:a16="http://schemas.microsoft.com/office/drawing/2014/main" id="{38226A6B-84F7-4214-8295-FEA471F4B1F7}"/>
              </a:ext>
            </a:extLst>
          </p:cNvPr>
          <p:cNvSpPr>
            <a:spLocks noGrp="1"/>
          </p:cNvSpPr>
          <p:nvPr/>
        </p:nvSpPr>
        <p:spPr>
          <a:xfrm>
            <a:off x="9620250"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b1</a:t>
            </a:r>
          </a:p>
        </p:txBody>
      </p:sp>
      <p:sp>
        <p:nvSpPr>
          <p:cNvPr id="84" name="Outcome 70">
            <a:extLst>
              <a:ext uri="{FF2B5EF4-FFF2-40B4-BE49-F238E27FC236}">
                <a16:creationId xmlns:a16="http://schemas.microsoft.com/office/drawing/2014/main" id="{5F55AFE4-25A7-4BD0-8245-59ACD054F3BC}"/>
              </a:ext>
            </a:extLst>
          </p:cNvPr>
          <p:cNvSpPr>
            <a:spLocks noGrp="1"/>
          </p:cNvSpPr>
          <p:nvPr/>
        </p:nvSpPr>
        <p:spPr>
          <a:xfrm>
            <a:off x="9667875" y="46482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85" name="Outcome text 70">
            <a:extLst>
              <a:ext uri="{FF2B5EF4-FFF2-40B4-BE49-F238E27FC236}">
                <a16:creationId xmlns:a16="http://schemas.microsoft.com/office/drawing/2014/main" id="{154262BF-F1B2-40E3-B37B-BE787ED33591}"/>
              </a:ext>
            </a:extLst>
          </p:cNvPr>
          <p:cNvSpPr>
            <a:spLocks noGrp="1"/>
          </p:cNvSpPr>
          <p:nvPr/>
        </p:nvSpPr>
        <p:spPr>
          <a:xfrm>
            <a:off x="9667875" y="47053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86" name="Decision label 71">
            <a:extLst>
              <a:ext uri="{FF2B5EF4-FFF2-40B4-BE49-F238E27FC236}">
                <a16:creationId xmlns:a16="http://schemas.microsoft.com/office/drawing/2014/main" id="{5996E78E-3C8A-4414-9317-22B7033E371D}"/>
              </a:ext>
            </a:extLst>
          </p:cNvPr>
          <p:cNvSpPr>
            <a:spLocks noGrp="1"/>
          </p:cNvSpPr>
          <p:nvPr/>
        </p:nvSpPr>
        <p:spPr>
          <a:xfrm>
            <a:off x="10220325"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b2</a:t>
            </a:r>
          </a:p>
        </p:txBody>
      </p:sp>
      <p:sp>
        <p:nvSpPr>
          <p:cNvPr id="87" name="Outcome 71">
            <a:extLst>
              <a:ext uri="{FF2B5EF4-FFF2-40B4-BE49-F238E27FC236}">
                <a16:creationId xmlns:a16="http://schemas.microsoft.com/office/drawing/2014/main" id="{EE873AB1-51EB-4A17-A5A8-5736F894EBB6}"/>
              </a:ext>
            </a:extLst>
          </p:cNvPr>
          <p:cNvSpPr>
            <a:spLocks noGrp="1"/>
          </p:cNvSpPr>
          <p:nvPr/>
        </p:nvSpPr>
        <p:spPr>
          <a:xfrm>
            <a:off x="10267950" y="46482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88" name="Outcome text 71">
            <a:extLst>
              <a:ext uri="{FF2B5EF4-FFF2-40B4-BE49-F238E27FC236}">
                <a16:creationId xmlns:a16="http://schemas.microsoft.com/office/drawing/2014/main" id="{12D4F4BD-6C1A-49A5-81D4-0D0E8C0225C7}"/>
              </a:ext>
            </a:extLst>
          </p:cNvPr>
          <p:cNvSpPr>
            <a:spLocks noGrp="1"/>
          </p:cNvSpPr>
          <p:nvPr/>
        </p:nvSpPr>
        <p:spPr>
          <a:xfrm>
            <a:off x="10267950" y="47053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89" name="Decision label 72">
            <a:extLst>
              <a:ext uri="{FF2B5EF4-FFF2-40B4-BE49-F238E27FC236}">
                <a16:creationId xmlns:a16="http://schemas.microsoft.com/office/drawing/2014/main" id="{D585D05D-05C2-4D43-AB57-12334E922C88}"/>
              </a:ext>
            </a:extLst>
          </p:cNvPr>
          <p:cNvSpPr>
            <a:spLocks noGrp="1"/>
          </p:cNvSpPr>
          <p:nvPr/>
        </p:nvSpPr>
        <p:spPr>
          <a:xfrm>
            <a:off x="10820400" y="4400550"/>
            <a:ext cx="457200" cy="209550"/>
          </a:xfrm>
          <a:prstGeom prst="rect">
            <a:avLst/>
          </a:prstGeom>
          <a:noFill/>
          <a:ln w="0">
            <a:noFill/>
          </a:ln>
        </p:spPr>
        <p:txBody>
          <a:bodyPr anchor="t">
            <a:noAutofit/>
          </a:bodyPr>
          <a:lstStyle/>
          <a:p>
            <a:pPr algn="ctr">
              <a:defRPr sz="1125" b="1">
                <a:solidFill>
                  <a:srgbClr val="5E6B77"/>
                </a:solidFill>
                <a:latin typeface="Calibri"/>
                <a:ea typeface="Calibri"/>
                <a:cs typeface="Calibri"/>
              </a:defRPr>
            </a:pPr>
            <a:r>
              <a:rPr sz="1125" b="1">
                <a:solidFill>
                  <a:srgbClr val="5E6B77"/>
                </a:solidFill>
                <a:latin typeface="Calibri"/>
                <a:ea typeface="Calibri"/>
                <a:cs typeface="Calibri"/>
              </a:rPr>
              <a:t>b3</a:t>
            </a:r>
          </a:p>
        </p:txBody>
      </p:sp>
      <p:sp>
        <p:nvSpPr>
          <p:cNvPr id="90" name="Outcome 72">
            <a:extLst>
              <a:ext uri="{FF2B5EF4-FFF2-40B4-BE49-F238E27FC236}">
                <a16:creationId xmlns:a16="http://schemas.microsoft.com/office/drawing/2014/main" id="{7814FD43-477E-47BC-913B-AA9F09621134}"/>
              </a:ext>
            </a:extLst>
          </p:cNvPr>
          <p:cNvSpPr>
            <a:spLocks noGrp="1"/>
          </p:cNvSpPr>
          <p:nvPr/>
        </p:nvSpPr>
        <p:spPr>
          <a:xfrm>
            <a:off x="10868025" y="4648200"/>
            <a:ext cx="361950" cy="323850"/>
          </a:xfrm>
          <a:prstGeom prst="roundRect">
            <a:avLst>
              <a:gd name="adj" fmla="val 23529"/>
            </a:avLst>
          </a:prstGeom>
          <a:solidFill>
            <a:srgbClr val="FDEEEE"/>
          </a:solidFill>
          <a:ln w="11430">
            <a:solidFill>
              <a:srgbClr val="C62828"/>
            </a:solidFill>
          </a:ln>
        </p:spPr>
        <p:txBody>
          <a:bodyPr/>
          <a:lstStyle/>
          <a:p>
            <a:endParaRPr lang="en-US"/>
          </a:p>
        </p:txBody>
      </p:sp>
      <p:sp>
        <p:nvSpPr>
          <p:cNvPr id="91" name="Outcome text 72">
            <a:extLst>
              <a:ext uri="{FF2B5EF4-FFF2-40B4-BE49-F238E27FC236}">
                <a16:creationId xmlns:a16="http://schemas.microsoft.com/office/drawing/2014/main" id="{F30AD7E1-CE42-49B9-B360-DDA3F72A3C3B}"/>
              </a:ext>
            </a:extLst>
          </p:cNvPr>
          <p:cNvSpPr>
            <a:spLocks noGrp="1"/>
          </p:cNvSpPr>
          <p:nvPr/>
        </p:nvSpPr>
        <p:spPr>
          <a:xfrm>
            <a:off x="10868025" y="4705350"/>
            <a:ext cx="361950" cy="209550"/>
          </a:xfrm>
          <a:prstGeom prst="rect">
            <a:avLst/>
          </a:prstGeom>
          <a:noFill/>
          <a:ln w="0">
            <a:noFill/>
          </a:ln>
        </p:spPr>
        <p:txBody>
          <a:bodyPr anchor="t">
            <a:noAutofit/>
          </a:bodyPr>
          <a:lstStyle/>
          <a:p>
            <a:pPr algn="ctr">
              <a:defRPr sz="1275" b="1">
                <a:solidFill>
                  <a:srgbClr val="C62828"/>
                </a:solidFill>
                <a:latin typeface="Calibri"/>
                <a:ea typeface="Calibri"/>
                <a:cs typeface="Calibri"/>
              </a:defRPr>
            </a:pPr>
            <a:r>
              <a:rPr sz="1275" b="1">
                <a:solidFill>
                  <a:srgbClr val="C62828"/>
                </a:solidFill>
                <a:latin typeface="Calibri"/>
                <a:ea typeface="Calibri"/>
                <a:cs typeface="Calibri"/>
              </a:rPr>
              <a:t>F</a:t>
            </a:r>
          </a:p>
        </p:txBody>
      </p:sp>
      <p:sp>
        <p:nvSpPr>
          <p:cNvPr id="92" name="Takeaway rule">
            <a:extLst>
              <a:ext uri="{FF2B5EF4-FFF2-40B4-BE49-F238E27FC236}">
                <a16:creationId xmlns:a16="http://schemas.microsoft.com/office/drawing/2014/main" id="{AF24FAF7-5C61-4BAA-BF06-A0C3CF4AE46B}"/>
              </a:ext>
            </a:extLst>
          </p:cNvPr>
          <p:cNvSpPr>
            <a:spLocks noGrp="1"/>
          </p:cNvSpPr>
          <p:nvPr/>
        </p:nvSpPr>
        <p:spPr>
          <a:xfrm>
            <a:off x="1200150" y="5619750"/>
            <a:ext cx="9791700" cy="0"/>
          </a:xfrm>
          <a:prstGeom prst="line">
            <a:avLst/>
          </a:prstGeom>
          <a:noFill/>
          <a:ln w="19050">
            <a:solidFill>
              <a:srgbClr val="20364D"/>
            </a:solidFill>
          </a:ln>
        </p:spPr>
        <p:txBody>
          <a:bodyPr/>
          <a:lstStyle/>
          <a:p>
            <a:endParaRPr lang="en-US"/>
          </a:p>
        </p:txBody>
      </p:sp>
      <p:sp>
        <p:nvSpPr>
          <p:cNvPr id="93" name="Takeaway">
            <a:extLst>
              <a:ext uri="{FF2B5EF4-FFF2-40B4-BE49-F238E27FC236}">
                <a16:creationId xmlns:a16="http://schemas.microsoft.com/office/drawing/2014/main" id="{E62F6946-2541-4D12-8BCF-98FCBDF2DD31}"/>
              </a:ext>
            </a:extLst>
          </p:cNvPr>
          <p:cNvSpPr>
            <a:spLocks noGrp="1"/>
          </p:cNvSpPr>
          <p:nvPr/>
        </p:nvSpPr>
        <p:spPr>
          <a:xfrm>
            <a:off x="1619250" y="5819775"/>
            <a:ext cx="8953500" cy="390525"/>
          </a:xfrm>
          <a:prstGeom prst="rect">
            <a:avLst/>
          </a:prstGeom>
          <a:noFill/>
          <a:ln w="0">
            <a:noFill/>
          </a:ln>
        </p:spPr>
        <p:txBody>
          <a:bodyPr anchor="t">
            <a:noAutofit/>
          </a:bodyPr>
          <a:lstStyle/>
          <a:p>
            <a:pPr algn="ctr">
              <a:defRPr sz="1875" b="1">
                <a:solidFill>
                  <a:srgbClr val="20364D"/>
                </a:solidFill>
                <a:latin typeface="Calibri"/>
                <a:ea typeface="Calibri"/>
                <a:cs typeface="Calibri"/>
              </a:defRPr>
            </a:pPr>
            <a:r>
              <a:rPr sz="1875" b="1">
                <a:solidFill>
                  <a:srgbClr val="20364D"/>
                </a:solidFill>
                <a:latin typeface="Calibri"/>
                <a:ea typeface="Calibri"/>
                <a:cs typeface="Calibri"/>
              </a:rPr>
              <a:t>Path coverage measures combinations, not isolated branch outcomes.</a:t>
            </a:r>
          </a:p>
        </p:txBody>
      </p:sp>
    </p:spTree>
    <p:extLst>
      <p:ext uri="{BB962C8B-B14F-4D97-AF65-F5344CB8AC3E}">
        <p14:creationId xmlns:p14="http://schemas.microsoft.com/office/powerpoint/2010/main" val="1379410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a:extLst>
              <a:ext uri="{FF2B5EF4-FFF2-40B4-BE49-F238E27FC236}">
                <a16:creationId xmlns:a16="http://schemas.microsoft.com/office/drawing/2014/main" id="{7559F9DA-4A52-4C30-8C9D-5CF3E8B8DF86}"/>
              </a:ext>
            </a:extLst>
          </p:cNvPr>
          <p:cNvSpPr>
            <a:spLocks noGrp="1"/>
          </p:cNvSpPr>
          <p:nvPr/>
        </p:nvSpPr>
        <p:spPr>
          <a:xfrm>
            <a:off x="666750" y="285750"/>
            <a:ext cx="10858500" cy="552450"/>
          </a:xfrm>
          <a:prstGeom prst="rect">
            <a:avLst/>
          </a:prstGeom>
          <a:noFill/>
          <a:ln w="0">
            <a:noFill/>
          </a:ln>
        </p:spPr>
        <p:txBody>
          <a:bodyPr anchor="t">
            <a:noAutofit/>
          </a:bodyPr>
          <a:lstStyle/>
          <a:p>
            <a:pPr>
              <a:defRPr sz="2850">
                <a:solidFill>
                  <a:srgbClr val="151C23"/>
                </a:solidFill>
                <a:latin typeface="Calibri"/>
                <a:ea typeface="Calibri"/>
                <a:cs typeface="Calibri"/>
              </a:defRPr>
            </a:pPr>
            <a:r>
              <a:rPr sz="2850">
                <a:solidFill>
                  <a:srgbClr val="151C23"/>
                </a:solidFill>
                <a:latin typeface="Calibri"/>
                <a:ea typeface="Calibri"/>
                <a:cs typeface="Calibri"/>
              </a:rPr>
              <a:t>The Same Tests Produce Different Coverage Results</a:t>
            </a:r>
          </a:p>
        </p:txBody>
      </p:sp>
      <p:sp>
        <p:nvSpPr>
          <p:cNvPr id="2" name="Subtitle">
            <a:extLst>
              <a:ext uri="{FF2B5EF4-FFF2-40B4-BE49-F238E27FC236}">
                <a16:creationId xmlns:a16="http://schemas.microsoft.com/office/drawing/2014/main" id="{E049BCD6-E6B2-4DF8-917B-87CB8444523A}"/>
              </a:ext>
            </a:extLst>
          </p:cNvPr>
          <p:cNvSpPr>
            <a:spLocks noGrp="1"/>
          </p:cNvSpPr>
          <p:nvPr/>
        </p:nvSpPr>
        <p:spPr>
          <a:xfrm>
            <a:off x="704850" y="885825"/>
            <a:ext cx="10668000" cy="371475"/>
          </a:xfrm>
          <a:prstGeom prst="rect">
            <a:avLst/>
          </a:prstGeom>
          <a:noFill/>
          <a:ln w="0">
            <a:noFill/>
          </a:ln>
        </p:spPr>
        <p:txBody>
          <a:bodyPr anchor="t">
            <a:noAutofit/>
          </a:bodyPr>
          <a:lstStyle/>
          <a:p>
            <a:pPr>
              <a:defRPr sz="1650">
                <a:solidFill>
                  <a:srgbClr val="5E6B77"/>
                </a:solidFill>
                <a:latin typeface="Calibri"/>
                <a:ea typeface="Calibri"/>
                <a:cs typeface="Calibri"/>
              </a:defRPr>
            </a:pPr>
            <a:r>
              <a:rPr sz="1650">
                <a:solidFill>
                  <a:srgbClr val="5E6B77"/>
                </a:solidFill>
                <a:latin typeface="Calibri"/>
                <a:ea typeface="Calibri"/>
                <a:cs typeface="Calibri"/>
              </a:rPr>
              <a:t>The two tests cover every line and every branch, but only two complete paths.</a:t>
            </a:r>
          </a:p>
        </p:txBody>
      </p:sp>
      <p:sp>
        <p:nvSpPr>
          <p:cNvPr id="3" name="Header accent">
            <a:extLst>
              <a:ext uri="{FF2B5EF4-FFF2-40B4-BE49-F238E27FC236}">
                <a16:creationId xmlns:a16="http://schemas.microsoft.com/office/drawing/2014/main" id="{4F37763B-EB9C-44D3-B662-7CDF84EBB850}"/>
              </a:ext>
            </a:extLst>
          </p:cNvPr>
          <p:cNvSpPr>
            <a:spLocks noGrp="1"/>
          </p:cNvSpPr>
          <p:nvPr/>
        </p:nvSpPr>
        <p:spPr>
          <a:xfrm>
            <a:off x="714375" y="1323975"/>
            <a:ext cx="1619250" cy="0"/>
          </a:xfrm>
          <a:prstGeom prst="line">
            <a:avLst/>
          </a:prstGeom>
          <a:noFill/>
          <a:ln w="38100">
            <a:solidFill>
              <a:srgbClr val="20364D"/>
            </a:solidFill>
          </a:ln>
        </p:spPr>
        <p:txBody>
          <a:bodyPr/>
          <a:lstStyle/>
          <a:p>
            <a:endParaRPr lang="en-US"/>
          </a:p>
        </p:txBody>
      </p:sp>
      <p:sp>
        <p:nvSpPr>
          <p:cNvPr id="4" name="Tests panel">
            <a:extLst>
              <a:ext uri="{FF2B5EF4-FFF2-40B4-BE49-F238E27FC236}">
                <a16:creationId xmlns:a16="http://schemas.microsoft.com/office/drawing/2014/main" id="{40CE9D2B-865D-4B52-854F-5288088754BA}"/>
              </a:ext>
            </a:extLst>
          </p:cNvPr>
          <p:cNvSpPr>
            <a:spLocks noGrp="1"/>
          </p:cNvSpPr>
          <p:nvPr/>
        </p:nvSpPr>
        <p:spPr>
          <a:xfrm>
            <a:off x="866775" y="1524000"/>
            <a:ext cx="10458450" cy="695325"/>
          </a:xfrm>
          <a:prstGeom prst="roundRect">
            <a:avLst>
              <a:gd name="adj" fmla="val 10959"/>
            </a:avLst>
          </a:prstGeom>
          <a:solidFill>
            <a:srgbClr val="EAF2FA"/>
          </a:solidFill>
          <a:ln w="14288">
            <a:solidFill>
              <a:srgbClr val="3978B7"/>
            </a:solidFill>
          </a:ln>
        </p:spPr>
        <p:txBody>
          <a:bodyPr/>
          <a:lstStyle/>
          <a:p>
            <a:endParaRPr lang="en-US"/>
          </a:p>
        </p:txBody>
      </p:sp>
      <p:sp>
        <p:nvSpPr>
          <p:cNvPr id="5" name="Test 1">
            <a:extLst>
              <a:ext uri="{FF2B5EF4-FFF2-40B4-BE49-F238E27FC236}">
                <a16:creationId xmlns:a16="http://schemas.microsoft.com/office/drawing/2014/main" id="{80A17032-830C-48BB-990F-64A6D407D5E2}"/>
              </a:ext>
            </a:extLst>
          </p:cNvPr>
          <p:cNvSpPr>
            <a:spLocks noGrp="1"/>
          </p:cNvSpPr>
          <p:nvPr/>
        </p:nvSpPr>
        <p:spPr>
          <a:xfrm>
            <a:off x="1143000" y="1657350"/>
            <a:ext cx="4648200" cy="266700"/>
          </a:xfrm>
          <a:prstGeom prst="rect">
            <a:avLst/>
          </a:prstGeom>
          <a:noFill/>
          <a:ln w="0">
            <a:noFill/>
          </a:ln>
        </p:spPr>
        <p:txBody>
          <a:bodyPr anchor="t">
            <a:noAutofit/>
          </a:bodyPr>
          <a:lstStyle/>
          <a:p>
            <a:pPr>
              <a:defRPr sz="1500" b="1">
                <a:solidFill>
                  <a:srgbClr val="20364D"/>
                </a:solidFill>
                <a:latin typeface="Calibri"/>
                <a:ea typeface="Calibri"/>
                <a:cs typeface="Calibri"/>
              </a:defRPr>
            </a:pPr>
            <a:r>
              <a:rPr sz="1500" b="1">
                <a:solidFill>
                  <a:srgbClr val="20364D"/>
                </a:solidFill>
                <a:latin typeface="Calibri"/>
                <a:ea typeface="Calibri"/>
                <a:cs typeface="Calibri"/>
              </a:rPr>
              <a:t>Test 1:  foo(0, true, true, true) == 0</a:t>
            </a:r>
          </a:p>
        </p:txBody>
      </p:sp>
      <p:sp>
        <p:nvSpPr>
          <p:cNvPr id="6" name="Test 1 path">
            <a:extLst>
              <a:ext uri="{FF2B5EF4-FFF2-40B4-BE49-F238E27FC236}">
                <a16:creationId xmlns:a16="http://schemas.microsoft.com/office/drawing/2014/main" id="{E84EC8AB-EC55-4220-9383-9C1389EE74C8}"/>
              </a:ext>
            </a:extLst>
          </p:cNvPr>
          <p:cNvSpPr>
            <a:spLocks noGrp="1"/>
          </p:cNvSpPr>
          <p:nvPr/>
        </p:nvSpPr>
        <p:spPr>
          <a:xfrm>
            <a:off x="3581400" y="1647825"/>
            <a:ext cx="1428750" cy="266700"/>
          </a:xfrm>
          <a:prstGeom prst="rect">
            <a:avLst/>
          </a:prstGeom>
          <a:noFill/>
          <a:ln w="0">
            <a:noFill/>
          </a:ln>
        </p:spPr>
        <p:txBody>
          <a:bodyPr anchor="t">
            <a:noAutofit/>
          </a:bodyPr>
          <a:lstStyle/>
          <a:p>
            <a:pPr algn="r">
              <a:defRPr sz="1500" b="1">
                <a:solidFill>
                  <a:srgbClr val="3978B7"/>
                </a:solidFill>
                <a:latin typeface="Calibri"/>
                <a:ea typeface="Calibri"/>
                <a:cs typeface="Calibri"/>
              </a:defRPr>
            </a:pPr>
            <a:r>
              <a:rPr sz="1500" b="1" dirty="0">
                <a:solidFill>
                  <a:srgbClr val="3978B7"/>
                </a:solidFill>
                <a:latin typeface="Calibri"/>
                <a:ea typeface="Calibri"/>
                <a:cs typeface="Calibri"/>
              </a:rPr>
              <a:t>Path: TTT</a:t>
            </a:r>
          </a:p>
        </p:txBody>
      </p:sp>
      <p:sp>
        <p:nvSpPr>
          <p:cNvPr id="7" name="Test 2">
            <a:extLst>
              <a:ext uri="{FF2B5EF4-FFF2-40B4-BE49-F238E27FC236}">
                <a16:creationId xmlns:a16="http://schemas.microsoft.com/office/drawing/2014/main" id="{2228EA91-2BB9-4BDF-B3A8-1935E3B40E62}"/>
              </a:ext>
            </a:extLst>
          </p:cNvPr>
          <p:cNvSpPr>
            <a:spLocks noGrp="1"/>
          </p:cNvSpPr>
          <p:nvPr/>
        </p:nvSpPr>
        <p:spPr>
          <a:xfrm>
            <a:off x="6353175" y="1657350"/>
            <a:ext cx="4095750" cy="266700"/>
          </a:xfrm>
          <a:prstGeom prst="rect">
            <a:avLst/>
          </a:prstGeom>
          <a:noFill/>
          <a:ln w="0">
            <a:noFill/>
          </a:ln>
        </p:spPr>
        <p:txBody>
          <a:bodyPr anchor="t">
            <a:noAutofit/>
          </a:bodyPr>
          <a:lstStyle/>
          <a:p>
            <a:pPr>
              <a:defRPr sz="1500" b="1">
                <a:solidFill>
                  <a:srgbClr val="20364D"/>
                </a:solidFill>
                <a:latin typeface="Calibri"/>
                <a:ea typeface="Calibri"/>
                <a:cs typeface="Calibri"/>
              </a:defRPr>
            </a:pPr>
            <a:r>
              <a:rPr sz="1500" b="1">
                <a:solidFill>
                  <a:srgbClr val="20364D"/>
                </a:solidFill>
                <a:latin typeface="Calibri"/>
                <a:ea typeface="Calibri"/>
                <a:cs typeface="Calibri"/>
              </a:rPr>
              <a:t>Test 2:  foo(0, false, false, false) == 0</a:t>
            </a:r>
          </a:p>
        </p:txBody>
      </p:sp>
      <p:sp>
        <p:nvSpPr>
          <p:cNvPr id="8" name="Test 2 path">
            <a:extLst>
              <a:ext uri="{FF2B5EF4-FFF2-40B4-BE49-F238E27FC236}">
                <a16:creationId xmlns:a16="http://schemas.microsoft.com/office/drawing/2014/main" id="{19BD2A4D-AA57-4654-A05E-AF649772915C}"/>
              </a:ext>
            </a:extLst>
          </p:cNvPr>
          <p:cNvSpPr>
            <a:spLocks noGrp="1"/>
          </p:cNvSpPr>
          <p:nvPr/>
        </p:nvSpPr>
        <p:spPr>
          <a:xfrm>
            <a:off x="9077325" y="1657350"/>
            <a:ext cx="1143000" cy="266700"/>
          </a:xfrm>
          <a:prstGeom prst="rect">
            <a:avLst/>
          </a:prstGeom>
          <a:noFill/>
          <a:ln w="0">
            <a:noFill/>
          </a:ln>
        </p:spPr>
        <p:txBody>
          <a:bodyPr anchor="t">
            <a:noAutofit/>
          </a:bodyPr>
          <a:lstStyle/>
          <a:p>
            <a:pPr algn="r">
              <a:defRPr sz="1500" b="1">
                <a:solidFill>
                  <a:srgbClr val="3978B7"/>
                </a:solidFill>
                <a:latin typeface="Calibri"/>
                <a:ea typeface="Calibri"/>
                <a:cs typeface="Calibri"/>
              </a:defRPr>
            </a:pPr>
            <a:r>
              <a:rPr sz="1500" b="1" dirty="0">
                <a:solidFill>
                  <a:srgbClr val="3978B7"/>
                </a:solidFill>
                <a:latin typeface="Calibri"/>
                <a:ea typeface="Calibri"/>
                <a:cs typeface="Calibri"/>
              </a:rPr>
              <a:t>Path: FFF</a:t>
            </a:r>
          </a:p>
        </p:txBody>
      </p:sp>
      <p:sp>
        <p:nvSpPr>
          <p:cNvPr id="9" name="LINE COVERAGE label">
            <a:extLst>
              <a:ext uri="{FF2B5EF4-FFF2-40B4-BE49-F238E27FC236}">
                <a16:creationId xmlns:a16="http://schemas.microsoft.com/office/drawing/2014/main" id="{EF19ADCC-C2C4-42F4-93D3-9DE54DC8F7CD}"/>
              </a:ext>
            </a:extLst>
          </p:cNvPr>
          <p:cNvSpPr>
            <a:spLocks noGrp="1"/>
          </p:cNvSpPr>
          <p:nvPr/>
        </p:nvSpPr>
        <p:spPr>
          <a:xfrm>
            <a:off x="942975" y="2686050"/>
            <a:ext cx="2857500" cy="266700"/>
          </a:xfrm>
          <a:prstGeom prst="rect">
            <a:avLst/>
          </a:prstGeom>
          <a:noFill/>
          <a:ln w="0">
            <a:noFill/>
          </a:ln>
        </p:spPr>
        <p:txBody>
          <a:bodyPr anchor="t">
            <a:noAutofit/>
          </a:bodyPr>
          <a:lstStyle/>
          <a:p>
            <a:pPr algn="ctr">
              <a:defRPr sz="1350" b="1">
                <a:solidFill>
                  <a:srgbClr val="5E6B77"/>
                </a:solidFill>
                <a:latin typeface="Calibri"/>
                <a:ea typeface="Calibri"/>
                <a:cs typeface="Calibri"/>
              </a:defRPr>
            </a:pPr>
            <a:r>
              <a:rPr sz="1350" b="1">
                <a:solidFill>
                  <a:srgbClr val="5E6B77"/>
                </a:solidFill>
                <a:latin typeface="Calibri"/>
                <a:ea typeface="Calibri"/>
                <a:cs typeface="Calibri"/>
              </a:rPr>
              <a:t>LINE COVERAGE</a:t>
            </a:r>
          </a:p>
        </p:txBody>
      </p:sp>
      <p:sp>
        <p:nvSpPr>
          <p:cNvPr id="10" name="LINE COVERAGE percent">
            <a:extLst>
              <a:ext uri="{FF2B5EF4-FFF2-40B4-BE49-F238E27FC236}">
                <a16:creationId xmlns:a16="http://schemas.microsoft.com/office/drawing/2014/main" id="{950D7AAF-248E-4B0A-BB1B-05DB7D93CF53}"/>
              </a:ext>
            </a:extLst>
          </p:cNvPr>
          <p:cNvSpPr>
            <a:spLocks noGrp="1"/>
          </p:cNvSpPr>
          <p:nvPr/>
        </p:nvSpPr>
        <p:spPr>
          <a:xfrm>
            <a:off x="942975" y="3038475"/>
            <a:ext cx="2857500" cy="552450"/>
          </a:xfrm>
          <a:prstGeom prst="rect">
            <a:avLst/>
          </a:prstGeom>
          <a:noFill/>
          <a:ln w="0">
            <a:noFill/>
          </a:ln>
        </p:spPr>
        <p:txBody>
          <a:bodyPr anchor="t">
            <a:noAutofit/>
          </a:bodyPr>
          <a:lstStyle/>
          <a:p>
            <a:pPr algn="ctr">
              <a:defRPr sz="3075" b="1">
                <a:solidFill>
                  <a:srgbClr val="3978B7"/>
                </a:solidFill>
                <a:latin typeface="Calibri"/>
                <a:ea typeface="Calibri"/>
                <a:cs typeface="Calibri"/>
              </a:defRPr>
            </a:pPr>
            <a:r>
              <a:rPr sz="3075" b="1">
                <a:solidFill>
                  <a:srgbClr val="3978B7"/>
                </a:solidFill>
                <a:latin typeface="Calibri"/>
                <a:ea typeface="Calibri"/>
                <a:cs typeface="Calibri"/>
              </a:rPr>
              <a:t>100%</a:t>
            </a:r>
          </a:p>
        </p:txBody>
      </p:sp>
      <p:sp>
        <p:nvSpPr>
          <p:cNvPr id="11" name="LINE COVERAGE track">
            <a:extLst>
              <a:ext uri="{FF2B5EF4-FFF2-40B4-BE49-F238E27FC236}">
                <a16:creationId xmlns:a16="http://schemas.microsoft.com/office/drawing/2014/main" id="{92F07FC3-DDA3-40BE-A749-7370C6E41990}"/>
              </a:ext>
            </a:extLst>
          </p:cNvPr>
          <p:cNvSpPr>
            <a:spLocks noGrp="1"/>
          </p:cNvSpPr>
          <p:nvPr/>
        </p:nvSpPr>
        <p:spPr>
          <a:xfrm>
            <a:off x="1228725" y="3752850"/>
            <a:ext cx="2286000" cy="209550"/>
          </a:xfrm>
          <a:prstGeom prst="rect">
            <a:avLst/>
          </a:prstGeom>
          <a:solidFill>
            <a:srgbClr val="E6EAEE"/>
          </a:solidFill>
          <a:ln w="0">
            <a:solidFill>
              <a:srgbClr val="E6EAEE"/>
            </a:solidFill>
          </a:ln>
        </p:spPr>
        <p:txBody>
          <a:bodyPr/>
          <a:lstStyle/>
          <a:p>
            <a:endParaRPr lang="en-US"/>
          </a:p>
        </p:txBody>
      </p:sp>
      <p:sp>
        <p:nvSpPr>
          <p:cNvPr id="12" name="LINE COVERAGE fill">
            <a:extLst>
              <a:ext uri="{FF2B5EF4-FFF2-40B4-BE49-F238E27FC236}">
                <a16:creationId xmlns:a16="http://schemas.microsoft.com/office/drawing/2014/main" id="{4CE35346-8CFF-47CF-BFB3-BA39BC726DB7}"/>
              </a:ext>
            </a:extLst>
          </p:cNvPr>
          <p:cNvSpPr>
            <a:spLocks noGrp="1"/>
          </p:cNvSpPr>
          <p:nvPr/>
        </p:nvSpPr>
        <p:spPr>
          <a:xfrm>
            <a:off x="1228725" y="3752850"/>
            <a:ext cx="2286000" cy="209550"/>
          </a:xfrm>
          <a:prstGeom prst="rect">
            <a:avLst/>
          </a:prstGeom>
          <a:solidFill>
            <a:srgbClr val="3978B7"/>
          </a:solidFill>
          <a:ln w="0">
            <a:solidFill>
              <a:srgbClr val="3978B7"/>
            </a:solidFill>
          </a:ln>
        </p:spPr>
        <p:txBody>
          <a:bodyPr/>
          <a:lstStyle/>
          <a:p>
            <a:endParaRPr lang="en-US"/>
          </a:p>
        </p:txBody>
      </p:sp>
      <p:sp>
        <p:nvSpPr>
          <p:cNvPr id="13" name="LINE COVERAGE count">
            <a:extLst>
              <a:ext uri="{FF2B5EF4-FFF2-40B4-BE49-F238E27FC236}">
                <a16:creationId xmlns:a16="http://schemas.microsoft.com/office/drawing/2014/main" id="{5BEBE9E7-0E76-46BF-9C76-B1A1E9A3A33F}"/>
              </a:ext>
            </a:extLst>
          </p:cNvPr>
          <p:cNvSpPr>
            <a:spLocks noGrp="1"/>
          </p:cNvSpPr>
          <p:nvPr/>
        </p:nvSpPr>
        <p:spPr>
          <a:xfrm>
            <a:off x="942975" y="4114800"/>
            <a:ext cx="2857500" cy="304800"/>
          </a:xfrm>
          <a:prstGeom prst="rect">
            <a:avLst/>
          </a:prstGeom>
          <a:noFill/>
          <a:ln w="0">
            <a:noFill/>
          </a:ln>
        </p:spPr>
        <p:txBody>
          <a:bodyPr anchor="t">
            <a:noAutofit/>
          </a:bodyPr>
          <a:lstStyle/>
          <a:p>
            <a:pPr algn="ctr">
              <a:defRPr sz="1575" b="1">
                <a:solidFill>
                  <a:srgbClr val="3978B7"/>
                </a:solidFill>
                <a:latin typeface="Calibri"/>
                <a:ea typeface="Calibri"/>
                <a:cs typeface="Calibri"/>
              </a:defRPr>
            </a:pPr>
            <a:r>
              <a:rPr sz="1575" b="1">
                <a:solidFill>
                  <a:srgbClr val="3978B7"/>
                </a:solidFill>
                <a:latin typeface="Calibri"/>
                <a:ea typeface="Calibri"/>
                <a:cs typeface="Calibri"/>
              </a:rPr>
              <a:t>9 of 9 lines</a:t>
            </a:r>
          </a:p>
        </p:txBody>
      </p:sp>
      <p:sp>
        <p:nvSpPr>
          <p:cNvPr id="14" name="BRANCH COVERAGE label">
            <a:extLst>
              <a:ext uri="{FF2B5EF4-FFF2-40B4-BE49-F238E27FC236}">
                <a16:creationId xmlns:a16="http://schemas.microsoft.com/office/drawing/2014/main" id="{80D02007-EFB1-4B8C-9208-324F4F250E9C}"/>
              </a:ext>
            </a:extLst>
          </p:cNvPr>
          <p:cNvSpPr>
            <a:spLocks noGrp="1"/>
          </p:cNvSpPr>
          <p:nvPr/>
        </p:nvSpPr>
        <p:spPr>
          <a:xfrm>
            <a:off x="4295775" y="2686050"/>
            <a:ext cx="2857500" cy="266700"/>
          </a:xfrm>
          <a:prstGeom prst="rect">
            <a:avLst/>
          </a:prstGeom>
          <a:noFill/>
          <a:ln w="0">
            <a:noFill/>
          </a:ln>
        </p:spPr>
        <p:txBody>
          <a:bodyPr anchor="t">
            <a:noAutofit/>
          </a:bodyPr>
          <a:lstStyle/>
          <a:p>
            <a:pPr algn="ctr">
              <a:defRPr sz="1350" b="1">
                <a:solidFill>
                  <a:srgbClr val="5E6B77"/>
                </a:solidFill>
                <a:latin typeface="Calibri"/>
                <a:ea typeface="Calibri"/>
                <a:cs typeface="Calibri"/>
              </a:defRPr>
            </a:pPr>
            <a:r>
              <a:rPr sz="1350" b="1">
                <a:solidFill>
                  <a:srgbClr val="5E6B77"/>
                </a:solidFill>
                <a:latin typeface="Calibri"/>
                <a:ea typeface="Calibri"/>
                <a:cs typeface="Calibri"/>
              </a:rPr>
              <a:t>BRANCH COVERAGE</a:t>
            </a:r>
          </a:p>
        </p:txBody>
      </p:sp>
      <p:sp>
        <p:nvSpPr>
          <p:cNvPr id="15" name="BRANCH COVERAGE percent">
            <a:extLst>
              <a:ext uri="{FF2B5EF4-FFF2-40B4-BE49-F238E27FC236}">
                <a16:creationId xmlns:a16="http://schemas.microsoft.com/office/drawing/2014/main" id="{EBB8A94F-1C55-4AFF-90CD-265FA04591B5}"/>
              </a:ext>
            </a:extLst>
          </p:cNvPr>
          <p:cNvSpPr>
            <a:spLocks noGrp="1"/>
          </p:cNvSpPr>
          <p:nvPr/>
        </p:nvSpPr>
        <p:spPr>
          <a:xfrm>
            <a:off x="4295775" y="3038475"/>
            <a:ext cx="2857500" cy="552450"/>
          </a:xfrm>
          <a:prstGeom prst="rect">
            <a:avLst/>
          </a:prstGeom>
          <a:noFill/>
          <a:ln w="0">
            <a:noFill/>
          </a:ln>
        </p:spPr>
        <p:txBody>
          <a:bodyPr anchor="t">
            <a:noAutofit/>
          </a:bodyPr>
          <a:lstStyle/>
          <a:p>
            <a:pPr algn="ctr">
              <a:defRPr sz="3075" b="1">
                <a:solidFill>
                  <a:srgbClr val="2E7D32"/>
                </a:solidFill>
                <a:latin typeface="Calibri"/>
                <a:ea typeface="Calibri"/>
                <a:cs typeface="Calibri"/>
              </a:defRPr>
            </a:pPr>
            <a:r>
              <a:rPr sz="3075" b="1">
                <a:solidFill>
                  <a:srgbClr val="2E7D32"/>
                </a:solidFill>
                <a:latin typeface="Calibri"/>
                <a:ea typeface="Calibri"/>
                <a:cs typeface="Calibri"/>
              </a:rPr>
              <a:t>100%</a:t>
            </a:r>
          </a:p>
        </p:txBody>
      </p:sp>
      <p:sp>
        <p:nvSpPr>
          <p:cNvPr id="16" name="BRANCH COVERAGE track">
            <a:extLst>
              <a:ext uri="{FF2B5EF4-FFF2-40B4-BE49-F238E27FC236}">
                <a16:creationId xmlns:a16="http://schemas.microsoft.com/office/drawing/2014/main" id="{28C0998B-347B-4EA0-AFEC-F86D4F517A99}"/>
              </a:ext>
            </a:extLst>
          </p:cNvPr>
          <p:cNvSpPr>
            <a:spLocks noGrp="1"/>
          </p:cNvSpPr>
          <p:nvPr/>
        </p:nvSpPr>
        <p:spPr>
          <a:xfrm>
            <a:off x="4581525" y="3752850"/>
            <a:ext cx="2286000" cy="209550"/>
          </a:xfrm>
          <a:prstGeom prst="rect">
            <a:avLst/>
          </a:prstGeom>
          <a:solidFill>
            <a:srgbClr val="E6EAEE"/>
          </a:solidFill>
          <a:ln w="0">
            <a:solidFill>
              <a:srgbClr val="E6EAEE"/>
            </a:solidFill>
          </a:ln>
        </p:spPr>
        <p:txBody>
          <a:bodyPr/>
          <a:lstStyle/>
          <a:p>
            <a:endParaRPr lang="en-US"/>
          </a:p>
        </p:txBody>
      </p:sp>
      <p:sp>
        <p:nvSpPr>
          <p:cNvPr id="17" name="BRANCH COVERAGE fill">
            <a:extLst>
              <a:ext uri="{FF2B5EF4-FFF2-40B4-BE49-F238E27FC236}">
                <a16:creationId xmlns:a16="http://schemas.microsoft.com/office/drawing/2014/main" id="{0E8F8A9A-AB29-49B1-8CDC-EF0E13652403}"/>
              </a:ext>
            </a:extLst>
          </p:cNvPr>
          <p:cNvSpPr>
            <a:spLocks noGrp="1"/>
          </p:cNvSpPr>
          <p:nvPr/>
        </p:nvSpPr>
        <p:spPr>
          <a:xfrm>
            <a:off x="4581525" y="3752850"/>
            <a:ext cx="2286000" cy="209550"/>
          </a:xfrm>
          <a:prstGeom prst="rect">
            <a:avLst/>
          </a:prstGeom>
          <a:solidFill>
            <a:srgbClr val="2E7D32"/>
          </a:solidFill>
          <a:ln w="0">
            <a:solidFill>
              <a:srgbClr val="2E7D32"/>
            </a:solidFill>
          </a:ln>
        </p:spPr>
        <p:txBody>
          <a:bodyPr/>
          <a:lstStyle/>
          <a:p>
            <a:endParaRPr lang="en-US"/>
          </a:p>
        </p:txBody>
      </p:sp>
      <p:sp>
        <p:nvSpPr>
          <p:cNvPr id="18" name="BRANCH COVERAGE count">
            <a:extLst>
              <a:ext uri="{FF2B5EF4-FFF2-40B4-BE49-F238E27FC236}">
                <a16:creationId xmlns:a16="http://schemas.microsoft.com/office/drawing/2014/main" id="{842A3871-1966-4833-8E07-6767884FA255}"/>
              </a:ext>
            </a:extLst>
          </p:cNvPr>
          <p:cNvSpPr>
            <a:spLocks noGrp="1"/>
          </p:cNvSpPr>
          <p:nvPr/>
        </p:nvSpPr>
        <p:spPr>
          <a:xfrm>
            <a:off x="4295775" y="4114800"/>
            <a:ext cx="2857500" cy="304800"/>
          </a:xfrm>
          <a:prstGeom prst="rect">
            <a:avLst/>
          </a:prstGeom>
          <a:noFill/>
          <a:ln w="0">
            <a:noFill/>
          </a:ln>
        </p:spPr>
        <p:txBody>
          <a:bodyPr anchor="t">
            <a:noAutofit/>
          </a:bodyPr>
          <a:lstStyle/>
          <a:p>
            <a:pPr algn="ctr">
              <a:defRPr sz="1575" b="1">
                <a:solidFill>
                  <a:srgbClr val="2E7D32"/>
                </a:solidFill>
                <a:latin typeface="Calibri"/>
                <a:ea typeface="Calibri"/>
                <a:cs typeface="Calibri"/>
              </a:defRPr>
            </a:pPr>
            <a:r>
              <a:rPr sz="1575" b="1">
                <a:solidFill>
                  <a:srgbClr val="2E7D32"/>
                </a:solidFill>
                <a:latin typeface="Calibri"/>
                <a:ea typeface="Calibri"/>
                <a:cs typeface="Calibri"/>
              </a:rPr>
              <a:t>6 of 6 outcomes</a:t>
            </a:r>
          </a:p>
        </p:txBody>
      </p:sp>
      <p:sp>
        <p:nvSpPr>
          <p:cNvPr id="19" name="PATH COVERAGE label">
            <a:extLst>
              <a:ext uri="{FF2B5EF4-FFF2-40B4-BE49-F238E27FC236}">
                <a16:creationId xmlns:a16="http://schemas.microsoft.com/office/drawing/2014/main" id="{629C8CC9-0635-4D4C-8171-55C4D42F76FB}"/>
              </a:ext>
            </a:extLst>
          </p:cNvPr>
          <p:cNvSpPr>
            <a:spLocks noGrp="1"/>
          </p:cNvSpPr>
          <p:nvPr/>
        </p:nvSpPr>
        <p:spPr>
          <a:xfrm>
            <a:off x="7648575" y="2686050"/>
            <a:ext cx="2857500" cy="266700"/>
          </a:xfrm>
          <a:prstGeom prst="rect">
            <a:avLst/>
          </a:prstGeom>
          <a:noFill/>
          <a:ln w="0">
            <a:noFill/>
          </a:ln>
        </p:spPr>
        <p:txBody>
          <a:bodyPr anchor="t">
            <a:noAutofit/>
          </a:bodyPr>
          <a:lstStyle/>
          <a:p>
            <a:pPr algn="ctr">
              <a:defRPr sz="1350" b="1">
                <a:solidFill>
                  <a:srgbClr val="5E6B77"/>
                </a:solidFill>
                <a:latin typeface="Calibri"/>
                <a:ea typeface="Calibri"/>
                <a:cs typeface="Calibri"/>
              </a:defRPr>
            </a:pPr>
            <a:r>
              <a:rPr sz="1350" b="1">
                <a:solidFill>
                  <a:srgbClr val="5E6B77"/>
                </a:solidFill>
                <a:latin typeface="Calibri"/>
                <a:ea typeface="Calibri"/>
                <a:cs typeface="Calibri"/>
              </a:rPr>
              <a:t>PATH COVERAGE</a:t>
            </a:r>
          </a:p>
        </p:txBody>
      </p:sp>
      <p:sp>
        <p:nvSpPr>
          <p:cNvPr id="20" name="PATH COVERAGE percent">
            <a:extLst>
              <a:ext uri="{FF2B5EF4-FFF2-40B4-BE49-F238E27FC236}">
                <a16:creationId xmlns:a16="http://schemas.microsoft.com/office/drawing/2014/main" id="{D18A1749-C5B6-4DCA-BCCC-CF65F6655D8D}"/>
              </a:ext>
            </a:extLst>
          </p:cNvPr>
          <p:cNvSpPr>
            <a:spLocks noGrp="1"/>
          </p:cNvSpPr>
          <p:nvPr/>
        </p:nvSpPr>
        <p:spPr>
          <a:xfrm>
            <a:off x="7648575" y="3038475"/>
            <a:ext cx="2857500" cy="552450"/>
          </a:xfrm>
          <a:prstGeom prst="rect">
            <a:avLst/>
          </a:prstGeom>
          <a:noFill/>
          <a:ln w="0">
            <a:noFill/>
          </a:ln>
        </p:spPr>
        <p:txBody>
          <a:bodyPr anchor="t">
            <a:noAutofit/>
          </a:bodyPr>
          <a:lstStyle/>
          <a:p>
            <a:pPr algn="ctr">
              <a:defRPr sz="3075" b="1">
                <a:solidFill>
                  <a:srgbClr val="C62828"/>
                </a:solidFill>
                <a:latin typeface="Calibri"/>
                <a:ea typeface="Calibri"/>
                <a:cs typeface="Calibri"/>
              </a:defRPr>
            </a:pPr>
            <a:r>
              <a:rPr sz="3075" b="1">
                <a:solidFill>
                  <a:srgbClr val="C62828"/>
                </a:solidFill>
                <a:latin typeface="Calibri"/>
                <a:ea typeface="Calibri"/>
                <a:cs typeface="Calibri"/>
              </a:rPr>
              <a:t>25%</a:t>
            </a:r>
          </a:p>
        </p:txBody>
      </p:sp>
      <p:sp>
        <p:nvSpPr>
          <p:cNvPr id="21" name="PATH COVERAGE track">
            <a:extLst>
              <a:ext uri="{FF2B5EF4-FFF2-40B4-BE49-F238E27FC236}">
                <a16:creationId xmlns:a16="http://schemas.microsoft.com/office/drawing/2014/main" id="{B9C517E4-94FA-41BC-AC84-527A49C29727}"/>
              </a:ext>
            </a:extLst>
          </p:cNvPr>
          <p:cNvSpPr>
            <a:spLocks noGrp="1"/>
          </p:cNvSpPr>
          <p:nvPr/>
        </p:nvSpPr>
        <p:spPr>
          <a:xfrm>
            <a:off x="7934325" y="3752850"/>
            <a:ext cx="2286000" cy="209550"/>
          </a:xfrm>
          <a:prstGeom prst="rect">
            <a:avLst/>
          </a:prstGeom>
          <a:solidFill>
            <a:srgbClr val="E6EAEE"/>
          </a:solidFill>
          <a:ln w="0">
            <a:solidFill>
              <a:srgbClr val="E6EAEE"/>
            </a:solidFill>
          </a:ln>
        </p:spPr>
        <p:txBody>
          <a:bodyPr/>
          <a:lstStyle/>
          <a:p>
            <a:endParaRPr lang="en-US"/>
          </a:p>
        </p:txBody>
      </p:sp>
      <p:sp>
        <p:nvSpPr>
          <p:cNvPr id="22" name="PATH COVERAGE fill">
            <a:extLst>
              <a:ext uri="{FF2B5EF4-FFF2-40B4-BE49-F238E27FC236}">
                <a16:creationId xmlns:a16="http://schemas.microsoft.com/office/drawing/2014/main" id="{BDE7FA9B-0A83-447D-85BC-278B21A5BA4D}"/>
              </a:ext>
            </a:extLst>
          </p:cNvPr>
          <p:cNvSpPr>
            <a:spLocks noGrp="1"/>
          </p:cNvSpPr>
          <p:nvPr/>
        </p:nvSpPr>
        <p:spPr>
          <a:xfrm>
            <a:off x="7934325" y="3752850"/>
            <a:ext cx="571500" cy="209550"/>
          </a:xfrm>
          <a:prstGeom prst="rect">
            <a:avLst/>
          </a:prstGeom>
          <a:solidFill>
            <a:srgbClr val="C62828"/>
          </a:solidFill>
          <a:ln w="0">
            <a:solidFill>
              <a:srgbClr val="C62828"/>
            </a:solidFill>
          </a:ln>
        </p:spPr>
        <p:txBody>
          <a:bodyPr/>
          <a:lstStyle/>
          <a:p>
            <a:endParaRPr lang="en-US"/>
          </a:p>
        </p:txBody>
      </p:sp>
      <p:sp>
        <p:nvSpPr>
          <p:cNvPr id="23" name="PATH COVERAGE count">
            <a:extLst>
              <a:ext uri="{FF2B5EF4-FFF2-40B4-BE49-F238E27FC236}">
                <a16:creationId xmlns:a16="http://schemas.microsoft.com/office/drawing/2014/main" id="{18AB4ABD-D98F-4D7D-B5B5-A931C18B3529}"/>
              </a:ext>
            </a:extLst>
          </p:cNvPr>
          <p:cNvSpPr>
            <a:spLocks noGrp="1"/>
          </p:cNvSpPr>
          <p:nvPr/>
        </p:nvSpPr>
        <p:spPr>
          <a:xfrm>
            <a:off x="7648575" y="4114800"/>
            <a:ext cx="2857500" cy="304800"/>
          </a:xfrm>
          <a:prstGeom prst="rect">
            <a:avLst/>
          </a:prstGeom>
          <a:noFill/>
          <a:ln w="0">
            <a:noFill/>
          </a:ln>
        </p:spPr>
        <p:txBody>
          <a:bodyPr anchor="t">
            <a:noAutofit/>
          </a:bodyPr>
          <a:lstStyle/>
          <a:p>
            <a:pPr algn="ctr">
              <a:defRPr sz="1575" b="1">
                <a:solidFill>
                  <a:srgbClr val="C62828"/>
                </a:solidFill>
                <a:latin typeface="Calibri"/>
                <a:ea typeface="Calibri"/>
                <a:cs typeface="Calibri"/>
              </a:defRPr>
            </a:pPr>
            <a:r>
              <a:rPr sz="1575" b="1">
                <a:solidFill>
                  <a:srgbClr val="C62828"/>
                </a:solidFill>
                <a:latin typeface="Calibri"/>
                <a:ea typeface="Calibri"/>
                <a:cs typeface="Calibri"/>
              </a:rPr>
              <a:t>2 of 8 paths</a:t>
            </a:r>
          </a:p>
        </p:txBody>
      </p:sp>
      <p:sp>
        <p:nvSpPr>
          <p:cNvPr id="24" name="Metric divider one">
            <a:extLst>
              <a:ext uri="{FF2B5EF4-FFF2-40B4-BE49-F238E27FC236}">
                <a16:creationId xmlns:a16="http://schemas.microsoft.com/office/drawing/2014/main" id="{15E7A5BF-AA1E-424C-A536-A7F823F25AD2}"/>
              </a:ext>
            </a:extLst>
          </p:cNvPr>
          <p:cNvSpPr>
            <a:spLocks noGrp="1"/>
          </p:cNvSpPr>
          <p:nvPr/>
        </p:nvSpPr>
        <p:spPr>
          <a:xfrm>
            <a:off x="4029075" y="2609850"/>
            <a:ext cx="0" cy="1924050"/>
          </a:xfrm>
          <a:prstGeom prst="line">
            <a:avLst/>
          </a:prstGeom>
          <a:noFill/>
          <a:ln w="14288">
            <a:solidFill>
              <a:srgbClr val="CDD5DC"/>
            </a:solidFill>
          </a:ln>
        </p:spPr>
        <p:txBody>
          <a:bodyPr/>
          <a:lstStyle/>
          <a:p>
            <a:endParaRPr lang="en-US"/>
          </a:p>
        </p:txBody>
      </p:sp>
      <p:sp>
        <p:nvSpPr>
          <p:cNvPr id="25" name="Metric divider two">
            <a:extLst>
              <a:ext uri="{FF2B5EF4-FFF2-40B4-BE49-F238E27FC236}">
                <a16:creationId xmlns:a16="http://schemas.microsoft.com/office/drawing/2014/main" id="{06FD8409-91B5-4B28-B71B-991E0E680427}"/>
              </a:ext>
            </a:extLst>
          </p:cNvPr>
          <p:cNvSpPr>
            <a:spLocks noGrp="1"/>
          </p:cNvSpPr>
          <p:nvPr/>
        </p:nvSpPr>
        <p:spPr>
          <a:xfrm>
            <a:off x="7381875" y="2609850"/>
            <a:ext cx="0" cy="1924050"/>
          </a:xfrm>
          <a:prstGeom prst="line">
            <a:avLst/>
          </a:prstGeom>
          <a:noFill/>
          <a:ln w="14288">
            <a:solidFill>
              <a:srgbClr val="CDD5DC"/>
            </a:solidFill>
          </a:ln>
        </p:spPr>
        <p:txBody>
          <a:bodyPr/>
          <a:lstStyle/>
          <a:p>
            <a:endParaRPr lang="en-US"/>
          </a:p>
        </p:txBody>
      </p:sp>
      <p:sp>
        <p:nvSpPr>
          <p:cNvPr id="26" name="Conclusion panel">
            <a:extLst>
              <a:ext uri="{FF2B5EF4-FFF2-40B4-BE49-F238E27FC236}">
                <a16:creationId xmlns:a16="http://schemas.microsoft.com/office/drawing/2014/main" id="{AEECDE20-D7D4-4387-B89B-1ED9A8E71C80}"/>
              </a:ext>
            </a:extLst>
          </p:cNvPr>
          <p:cNvSpPr>
            <a:spLocks noGrp="1"/>
          </p:cNvSpPr>
          <p:nvPr/>
        </p:nvSpPr>
        <p:spPr>
          <a:xfrm>
            <a:off x="1381125" y="4972050"/>
            <a:ext cx="9429750" cy="876300"/>
          </a:xfrm>
          <a:prstGeom prst="roundRect">
            <a:avLst>
              <a:gd name="adj" fmla="val 8696"/>
            </a:avLst>
          </a:prstGeom>
          <a:solidFill>
            <a:srgbClr val="FDEEEE"/>
          </a:solidFill>
          <a:ln w="14288">
            <a:solidFill>
              <a:srgbClr val="C62828"/>
            </a:solidFill>
          </a:ln>
        </p:spPr>
        <p:txBody>
          <a:bodyPr/>
          <a:lstStyle/>
          <a:p>
            <a:endParaRPr lang="en-US"/>
          </a:p>
        </p:txBody>
      </p:sp>
      <p:sp>
        <p:nvSpPr>
          <p:cNvPr id="27" name="Conclusion">
            <a:extLst>
              <a:ext uri="{FF2B5EF4-FFF2-40B4-BE49-F238E27FC236}">
                <a16:creationId xmlns:a16="http://schemas.microsoft.com/office/drawing/2014/main" id="{B5A49D4F-D20B-44EC-95F0-29FE6548C7C8}"/>
              </a:ext>
            </a:extLst>
          </p:cNvPr>
          <p:cNvSpPr>
            <a:spLocks noGrp="1"/>
          </p:cNvSpPr>
          <p:nvPr/>
        </p:nvSpPr>
        <p:spPr>
          <a:xfrm>
            <a:off x="1647825" y="5219700"/>
            <a:ext cx="8896350" cy="371475"/>
          </a:xfrm>
          <a:prstGeom prst="rect">
            <a:avLst/>
          </a:prstGeom>
          <a:noFill/>
          <a:ln w="0">
            <a:noFill/>
          </a:ln>
        </p:spPr>
        <p:txBody>
          <a:bodyPr anchor="t">
            <a:noAutofit/>
          </a:bodyPr>
          <a:lstStyle/>
          <a:p>
            <a:pPr algn="ctr">
              <a:defRPr sz="2025" b="1">
                <a:solidFill>
                  <a:srgbClr val="8D2020"/>
                </a:solidFill>
                <a:latin typeface="Calibri"/>
                <a:ea typeface="Calibri"/>
                <a:cs typeface="Calibri"/>
              </a:defRPr>
            </a:pPr>
            <a:r>
              <a:rPr sz="2025" b="1">
                <a:solidFill>
                  <a:srgbClr val="8D2020"/>
                </a:solidFill>
                <a:latin typeface="Calibri"/>
                <a:ea typeface="Calibri"/>
                <a:cs typeface="Calibri"/>
              </a:rPr>
              <a:t>100% branch coverage exercises only 25% of the feasible paths.</a:t>
            </a:r>
          </a:p>
        </p:txBody>
      </p:sp>
      <p:sp>
        <p:nvSpPr>
          <p:cNvPr id="28" name="Caveat">
            <a:extLst>
              <a:ext uri="{FF2B5EF4-FFF2-40B4-BE49-F238E27FC236}">
                <a16:creationId xmlns:a16="http://schemas.microsoft.com/office/drawing/2014/main" id="{C114D972-8540-464A-BE56-92296A5031DB}"/>
              </a:ext>
            </a:extLst>
          </p:cNvPr>
          <p:cNvSpPr>
            <a:spLocks noGrp="1"/>
          </p:cNvSpPr>
          <p:nvPr/>
        </p:nvSpPr>
        <p:spPr>
          <a:xfrm>
            <a:off x="1866900" y="6067425"/>
            <a:ext cx="8458200" cy="304800"/>
          </a:xfrm>
          <a:prstGeom prst="rect">
            <a:avLst/>
          </a:prstGeom>
          <a:noFill/>
          <a:ln w="0">
            <a:noFill/>
          </a:ln>
        </p:spPr>
        <p:txBody>
          <a:bodyPr anchor="t">
            <a:noAutofit/>
          </a:bodyPr>
          <a:lstStyle/>
          <a:p>
            <a:pPr algn="ctr">
              <a:defRPr sz="1500">
                <a:solidFill>
                  <a:srgbClr val="5E6B77"/>
                </a:solidFill>
                <a:latin typeface="Calibri"/>
                <a:ea typeface="Calibri"/>
                <a:cs typeface="Calibri"/>
              </a:defRPr>
            </a:pPr>
            <a:r>
              <a:rPr sz="1500">
                <a:solidFill>
                  <a:srgbClr val="5E6B77"/>
                </a:solidFill>
                <a:latin typeface="Calibri"/>
                <a:ea typeface="Calibri"/>
                <a:cs typeface="Calibri"/>
              </a:rPr>
              <a:t>Complete path coverage becomes impractical as decisions and loops multiply.</a:t>
            </a:r>
          </a:p>
        </p:txBody>
      </p:sp>
    </p:spTree>
    <p:extLst>
      <p:ext uri="{BB962C8B-B14F-4D97-AF65-F5344CB8AC3E}">
        <p14:creationId xmlns:p14="http://schemas.microsoft.com/office/powerpoint/2010/main" val="145297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a:extLst>
              <a:ext uri="{FF2B5EF4-FFF2-40B4-BE49-F238E27FC236}">
                <a16:creationId xmlns:a16="http://schemas.microsoft.com/office/drawing/2014/main" id="{56BB15EA-57A0-4BBD-B023-ABC7AD9BAD8E}"/>
              </a:ext>
            </a:extLst>
          </p:cNvPr>
          <p:cNvSpPr>
            <a:spLocks noGrp="1"/>
          </p:cNvSpPr>
          <p:nvPr/>
        </p:nvSpPr>
        <p:spPr>
          <a:xfrm>
            <a:off x="685800" y="361950"/>
            <a:ext cx="10820400" cy="628650"/>
          </a:xfrm>
          <a:prstGeom prst="rect">
            <a:avLst/>
          </a:prstGeom>
          <a:noFill/>
          <a:ln w="0">
            <a:noFill/>
            <a:prstDash val="solid"/>
          </a:ln>
        </p:spPr>
        <p:txBody>
          <a:bodyPr anchor="ctr"/>
          <a:lstStyle/>
          <a:p>
            <a:pPr>
              <a:defRPr sz="3000" b="0">
                <a:solidFill>
                  <a:srgbClr val="111111"/>
                </a:solidFill>
              </a:defRPr>
            </a:pPr>
            <a:r>
              <a:rPr lang="en-BE" sz="3000" dirty="0">
                <a:solidFill>
                  <a:srgbClr val="111111"/>
                </a:solidFill>
              </a:rPr>
              <a:t>Good testing starts with choosing the right test data</a:t>
            </a:r>
            <a:endParaRPr sz="3000" b="0" dirty="0">
              <a:solidFill>
                <a:srgbClr val="111111"/>
              </a:solidFill>
            </a:endParaRPr>
          </a:p>
        </p:txBody>
      </p:sp>
      <p:sp>
        <p:nvSpPr>
          <p:cNvPr id="2" name="title-rule">
            <a:extLst>
              <a:ext uri="{FF2B5EF4-FFF2-40B4-BE49-F238E27FC236}">
                <a16:creationId xmlns:a16="http://schemas.microsoft.com/office/drawing/2014/main" id="{1E30AE45-3A5C-4BCC-AF76-63FB375C2FF7}"/>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lead">
            <a:extLst>
              <a:ext uri="{FF2B5EF4-FFF2-40B4-BE49-F238E27FC236}">
                <a16:creationId xmlns:a16="http://schemas.microsoft.com/office/drawing/2014/main" id="{BF1817E3-495D-4B7B-AF2E-4E5F0244BF63}"/>
              </a:ext>
            </a:extLst>
          </p:cNvPr>
          <p:cNvSpPr>
            <a:spLocks noGrp="1"/>
          </p:cNvSpPr>
          <p:nvPr/>
        </p:nvSpPr>
        <p:spPr>
          <a:xfrm>
            <a:off x="876300" y="1409700"/>
            <a:ext cx="10439400" cy="400050"/>
          </a:xfrm>
          <a:prstGeom prst="rect">
            <a:avLst/>
          </a:prstGeom>
          <a:noFill/>
          <a:ln w="0">
            <a:noFill/>
            <a:prstDash val="solid"/>
          </a:ln>
        </p:spPr>
        <p:txBody>
          <a:bodyPr anchor="ctr"/>
          <a:lstStyle/>
          <a:p>
            <a:pPr algn="ctr">
              <a:defRPr sz="1875" b="0">
                <a:solidFill>
                  <a:srgbClr val="5A6573"/>
                </a:solidFill>
              </a:defRPr>
            </a:pPr>
            <a:r>
              <a:rPr sz="1875" b="0" dirty="0">
                <a:solidFill>
                  <a:srgbClr val="5A6573"/>
                </a:solidFill>
              </a:rPr>
              <a:t>A short feedback loop supports frequent, confident changes.</a:t>
            </a:r>
          </a:p>
        </p:txBody>
      </p:sp>
      <p:sp>
        <p:nvSpPr>
          <p:cNvPr id="4" name="a1">
            <a:extLst>
              <a:ext uri="{FF2B5EF4-FFF2-40B4-BE49-F238E27FC236}">
                <a16:creationId xmlns:a16="http://schemas.microsoft.com/office/drawing/2014/main" id="{680EC9A6-A434-467B-9589-BF615F6E7AD9}"/>
              </a:ext>
            </a:extLst>
          </p:cNvPr>
          <p:cNvSpPr>
            <a:spLocks noGrp="1"/>
          </p:cNvSpPr>
          <p:nvPr/>
        </p:nvSpPr>
        <p:spPr>
          <a:xfrm>
            <a:off x="3429000" y="2762250"/>
            <a:ext cx="714375" cy="438150"/>
          </a:xfrm>
          <a:prstGeom prst="rightArrow">
            <a:avLst/>
          </a:prstGeom>
          <a:solidFill>
            <a:srgbClr val="17365D"/>
          </a:solidFill>
          <a:ln w="0">
            <a:solidFill>
              <a:srgbClr val="17365D"/>
            </a:solidFill>
            <a:prstDash val="solid"/>
          </a:ln>
        </p:spPr>
        <p:txBody>
          <a:bodyPr/>
          <a:lstStyle/>
          <a:p>
            <a:endParaRPr lang="en-US"/>
          </a:p>
        </p:txBody>
      </p:sp>
      <p:sp>
        <p:nvSpPr>
          <p:cNvPr id="5" name="a2">
            <a:extLst>
              <a:ext uri="{FF2B5EF4-FFF2-40B4-BE49-F238E27FC236}">
                <a16:creationId xmlns:a16="http://schemas.microsoft.com/office/drawing/2014/main" id="{383D3AB1-3307-492A-8312-4A8E518A996F}"/>
              </a:ext>
            </a:extLst>
          </p:cNvPr>
          <p:cNvSpPr>
            <a:spLocks noGrp="1"/>
          </p:cNvSpPr>
          <p:nvPr/>
        </p:nvSpPr>
        <p:spPr>
          <a:xfrm>
            <a:off x="6429375" y="2762250"/>
            <a:ext cx="714375" cy="438150"/>
          </a:xfrm>
          <a:prstGeom prst="rightArrow">
            <a:avLst/>
          </a:prstGeom>
          <a:solidFill>
            <a:srgbClr val="17365D"/>
          </a:solidFill>
          <a:ln w="0">
            <a:solidFill>
              <a:srgbClr val="17365D"/>
            </a:solidFill>
            <a:prstDash val="solid"/>
          </a:ln>
        </p:spPr>
        <p:txBody>
          <a:bodyPr/>
          <a:lstStyle/>
          <a:p>
            <a:endParaRPr lang="en-US"/>
          </a:p>
        </p:txBody>
      </p:sp>
      <p:sp>
        <p:nvSpPr>
          <p:cNvPr id="6" name="step-0">
            <a:extLst>
              <a:ext uri="{FF2B5EF4-FFF2-40B4-BE49-F238E27FC236}">
                <a16:creationId xmlns:a16="http://schemas.microsoft.com/office/drawing/2014/main" id="{B86107F7-C1B9-4169-A397-EC2CD8F966B4}"/>
              </a:ext>
            </a:extLst>
          </p:cNvPr>
          <p:cNvSpPr>
            <a:spLocks noGrp="1"/>
          </p:cNvSpPr>
          <p:nvPr/>
        </p:nvSpPr>
        <p:spPr>
          <a:xfrm>
            <a:off x="1257300" y="2095500"/>
            <a:ext cx="2457450" cy="2000250"/>
          </a:xfrm>
          <a:prstGeom prst="roundRect">
            <a:avLst>
              <a:gd name="adj" fmla="val 5714"/>
            </a:avLst>
          </a:prstGeom>
          <a:solidFill>
            <a:srgbClr val="F5F8FC"/>
          </a:solidFill>
          <a:ln w="19050">
            <a:solidFill>
              <a:srgbClr val="17365D"/>
            </a:solidFill>
            <a:prstDash val="solid"/>
          </a:ln>
        </p:spPr>
        <p:txBody>
          <a:bodyPr/>
          <a:lstStyle/>
          <a:p>
            <a:endParaRPr lang="en-US"/>
          </a:p>
        </p:txBody>
      </p:sp>
      <p:sp>
        <p:nvSpPr>
          <p:cNvPr id="7" name="num-0-circle">
            <a:extLst>
              <a:ext uri="{FF2B5EF4-FFF2-40B4-BE49-F238E27FC236}">
                <a16:creationId xmlns:a16="http://schemas.microsoft.com/office/drawing/2014/main" id="{5F570A06-94A3-4C64-826D-C2BA14106DD7}"/>
              </a:ext>
            </a:extLst>
          </p:cNvPr>
          <p:cNvSpPr>
            <a:spLocks noGrp="1"/>
          </p:cNvSpPr>
          <p:nvPr/>
        </p:nvSpPr>
        <p:spPr>
          <a:xfrm>
            <a:off x="2133600" y="2324100"/>
            <a:ext cx="514350" cy="514350"/>
          </a:xfrm>
          <a:prstGeom prst="ellipse">
            <a:avLst/>
          </a:prstGeom>
          <a:solidFill>
            <a:srgbClr val="FFFFFF"/>
          </a:solidFill>
          <a:ln w="28575">
            <a:solidFill>
              <a:srgbClr val="17365D"/>
            </a:solidFill>
            <a:prstDash val="solid"/>
          </a:ln>
        </p:spPr>
        <p:txBody>
          <a:bodyPr/>
          <a:lstStyle/>
          <a:p>
            <a:endParaRPr lang="en-US"/>
          </a:p>
        </p:txBody>
      </p:sp>
      <p:sp>
        <p:nvSpPr>
          <p:cNvPr id="8" name="num-0-label">
            <a:extLst>
              <a:ext uri="{FF2B5EF4-FFF2-40B4-BE49-F238E27FC236}">
                <a16:creationId xmlns:a16="http://schemas.microsoft.com/office/drawing/2014/main" id="{1BFDC91E-D7B9-434D-93DE-8B37AA64FA16}"/>
              </a:ext>
            </a:extLst>
          </p:cNvPr>
          <p:cNvSpPr>
            <a:spLocks noGrp="1"/>
          </p:cNvSpPr>
          <p:nvPr/>
        </p:nvSpPr>
        <p:spPr>
          <a:xfrm>
            <a:off x="2133600" y="2314575"/>
            <a:ext cx="514350" cy="514350"/>
          </a:xfrm>
          <a:prstGeom prst="rect">
            <a:avLst/>
          </a:prstGeom>
          <a:noFill/>
          <a:ln w="0">
            <a:noFill/>
            <a:prstDash val="solid"/>
          </a:ln>
        </p:spPr>
        <p:txBody>
          <a:bodyPr anchor="ctr"/>
          <a:lstStyle/>
          <a:p>
            <a:pPr algn="ctr">
              <a:defRPr sz="1650" b="1">
                <a:solidFill>
                  <a:srgbClr val="17365D"/>
                </a:solidFill>
              </a:defRPr>
            </a:pPr>
            <a:r>
              <a:rPr sz="1650" b="1">
                <a:solidFill>
                  <a:srgbClr val="17365D"/>
                </a:solidFill>
              </a:rPr>
              <a:t>1</a:t>
            </a:r>
          </a:p>
        </p:txBody>
      </p:sp>
      <p:sp>
        <p:nvSpPr>
          <p:cNvPr id="9" name="head-0">
            <a:extLst>
              <a:ext uri="{FF2B5EF4-FFF2-40B4-BE49-F238E27FC236}">
                <a16:creationId xmlns:a16="http://schemas.microsoft.com/office/drawing/2014/main" id="{5169180D-BC66-4990-B467-9E1C73777D84}"/>
              </a:ext>
            </a:extLst>
          </p:cNvPr>
          <p:cNvSpPr>
            <a:spLocks noGrp="1"/>
          </p:cNvSpPr>
          <p:nvPr/>
        </p:nvSpPr>
        <p:spPr>
          <a:xfrm>
            <a:off x="1447800" y="2971800"/>
            <a:ext cx="2076450" cy="342900"/>
          </a:xfrm>
          <a:prstGeom prst="rect">
            <a:avLst/>
          </a:prstGeom>
          <a:noFill/>
          <a:ln w="0">
            <a:noFill/>
            <a:prstDash val="solid"/>
          </a:ln>
        </p:spPr>
        <p:txBody>
          <a:bodyPr anchor="ctr"/>
          <a:lstStyle/>
          <a:p>
            <a:pPr algn="ctr">
              <a:defRPr sz="1800" b="1">
                <a:solidFill>
                  <a:srgbClr val="17365D"/>
                </a:solidFill>
              </a:defRPr>
            </a:pPr>
            <a:r>
              <a:rPr sz="1800" b="1">
                <a:solidFill>
                  <a:srgbClr val="17365D"/>
                </a:solidFill>
              </a:rPr>
              <a:t>Change code</a:t>
            </a:r>
          </a:p>
        </p:txBody>
      </p:sp>
      <p:sp>
        <p:nvSpPr>
          <p:cNvPr id="10" name="detail-0">
            <a:extLst>
              <a:ext uri="{FF2B5EF4-FFF2-40B4-BE49-F238E27FC236}">
                <a16:creationId xmlns:a16="http://schemas.microsoft.com/office/drawing/2014/main" id="{70A47306-6BA2-4768-A6A8-4A230C64E50E}"/>
              </a:ext>
            </a:extLst>
          </p:cNvPr>
          <p:cNvSpPr>
            <a:spLocks noGrp="1"/>
          </p:cNvSpPr>
          <p:nvPr/>
        </p:nvSpPr>
        <p:spPr>
          <a:xfrm>
            <a:off x="1485900" y="3371850"/>
            <a:ext cx="2000250" cy="476250"/>
          </a:xfrm>
          <a:prstGeom prst="rect">
            <a:avLst/>
          </a:prstGeom>
          <a:noFill/>
          <a:ln w="0">
            <a:noFill/>
            <a:prstDash val="solid"/>
          </a:ln>
        </p:spPr>
        <p:txBody>
          <a:bodyPr anchor="ctr"/>
          <a:lstStyle/>
          <a:p>
            <a:pPr algn="ctr">
              <a:defRPr sz="1350" b="0">
                <a:solidFill>
                  <a:srgbClr val="5A6573"/>
                </a:solidFill>
              </a:defRPr>
            </a:pPr>
            <a:r>
              <a:rPr sz="1350" b="0">
                <a:solidFill>
                  <a:srgbClr val="5A6573"/>
                </a:solidFill>
              </a:rPr>
              <a:t>Small edit or refactoring</a:t>
            </a:r>
          </a:p>
        </p:txBody>
      </p:sp>
      <p:sp>
        <p:nvSpPr>
          <p:cNvPr id="11" name="step-1">
            <a:extLst>
              <a:ext uri="{FF2B5EF4-FFF2-40B4-BE49-F238E27FC236}">
                <a16:creationId xmlns:a16="http://schemas.microsoft.com/office/drawing/2014/main" id="{80A10A44-94FF-4FBD-961A-B81841532D61}"/>
              </a:ext>
            </a:extLst>
          </p:cNvPr>
          <p:cNvSpPr>
            <a:spLocks noGrp="1"/>
          </p:cNvSpPr>
          <p:nvPr/>
        </p:nvSpPr>
        <p:spPr>
          <a:xfrm>
            <a:off x="4257675" y="2095500"/>
            <a:ext cx="2457450" cy="2000250"/>
          </a:xfrm>
          <a:prstGeom prst="roundRect">
            <a:avLst>
              <a:gd name="adj" fmla="val 5714"/>
            </a:avLst>
          </a:prstGeom>
          <a:solidFill>
            <a:srgbClr val="EAF5EB"/>
          </a:solidFill>
          <a:ln w="19050">
            <a:solidFill>
              <a:srgbClr val="2E7D32"/>
            </a:solidFill>
            <a:prstDash val="solid"/>
          </a:ln>
        </p:spPr>
        <p:txBody>
          <a:bodyPr/>
          <a:lstStyle/>
          <a:p>
            <a:endParaRPr lang="en-US"/>
          </a:p>
        </p:txBody>
      </p:sp>
      <p:sp>
        <p:nvSpPr>
          <p:cNvPr id="12" name="num-1-circle">
            <a:extLst>
              <a:ext uri="{FF2B5EF4-FFF2-40B4-BE49-F238E27FC236}">
                <a16:creationId xmlns:a16="http://schemas.microsoft.com/office/drawing/2014/main" id="{78B52321-E2A3-4B2C-96AA-B9E7C81AE071}"/>
              </a:ext>
            </a:extLst>
          </p:cNvPr>
          <p:cNvSpPr>
            <a:spLocks noGrp="1"/>
          </p:cNvSpPr>
          <p:nvPr/>
        </p:nvSpPr>
        <p:spPr>
          <a:xfrm>
            <a:off x="5133975" y="2324100"/>
            <a:ext cx="514350" cy="514350"/>
          </a:xfrm>
          <a:prstGeom prst="ellipse">
            <a:avLst/>
          </a:prstGeom>
          <a:solidFill>
            <a:srgbClr val="FFFFFF"/>
          </a:solidFill>
          <a:ln w="28575">
            <a:solidFill>
              <a:srgbClr val="2E7D32"/>
            </a:solidFill>
            <a:prstDash val="solid"/>
          </a:ln>
        </p:spPr>
        <p:txBody>
          <a:bodyPr/>
          <a:lstStyle/>
          <a:p>
            <a:endParaRPr lang="en-US"/>
          </a:p>
        </p:txBody>
      </p:sp>
      <p:sp>
        <p:nvSpPr>
          <p:cNvPr id="13" name="num-1-label">
            <a:extLst>
              <a:ext uri="{FF2B5EF4-FFF2-40B4-BE49-F238E27FC236}">
                <a16:creationId xmlns:a16="http://schemas.microsoft.com/office/drawing/2014/main" id="{B2F41483-1EB2-4B05-959F-DF4F1D4BFC5B}"/>
              </a:ext>
            </a:extLst>
          </p:cNvPr>
          <p:cNvSpPr>
            <a:spLocks noGrp="1"/>
          </p:cNvSpPr>
          <p:nvPr/>
        </p:nvSpPr>
        <p:spPr>
          <a:xfrm>
            <a:off x="5133975" y="2314575"/>
            <a:ext cx="514350" cy="514350"/>
          </a:xfrm>
          <a:prstGeom prst="rect">
            <a:avLst/>
          </a:prstGeom>
          <a:noFill/>
          <a:ln w="0">
            <a:noFill/>
            <a:prstDash val="solid"/>
          </a:ln>
        </p:spPr>
        <p:txBody>
          <a:bodyPr anchor="ctr"/>
          <a:lstStyle/>
          <a:p>
            <a:pPr algn="ctr">
              <a:defRPr sz="1650" b="1">
                <a:solidFill>
                  <a:srgbClr val="2E7D32"/>
                </a:solidFill>
              </a:defRPr>
            </a:pPr>
            <a:r>
              <a:rPr sz="1650" b="1">
                <a:solidFill>
                  <a:srgbClr val="2E7D32"/>
                </a:solidFill>
              </a:rPr>
              <a:t>2</a:t>
            </a:r>
          </a:p>
        </p:txBody>
      </p:sp>
      <p:sp>
        <p:nvSpPr>
          <p:cNvPr id="14" name="head-1">
            <a:extLst>
              <a:ext uri="{FF2B5EF4-FFF2-40B4-BE49-F238E27FC236}">
                <a16:creationId xmlns:a16="http://schemas.microsoft.com/office/drawing/2014/main" id="{78402C78-BAD7-449E-91E5-11FD32C5D3CD}"/>
              </a:ext>
            </a:extLst>
          </p:cNvPr>
          <p:cNvSpPr>
            <a:spLocks noGrp="1"/>
          </p:cNvSpPr>
          <p:nvPr/>
        </p:nvSpPr>
        <p:spPr>
          <a:xfrm>
            <a:off x="4448175" y="2971800"/>
            <a:ext cx="2076450" cy="342900"/>
          </a:xfrm>
          <a:prstGeom prst="rect">
            <a:avLst/>
          </a:prstGeom>
          <a:noFill/>
          <a:ln w="0">
            <a:noFill/>
            <a:prstDash val="solid"/>
          </a:ln>
        </p:spPr>
        <p:txBody>
          <a:bodyPr anchor="ctr"/>
          <a:lstStyle/>
          <a:p>
            <a:pPr algn="ctr">
              <a:defRPr sz="1800" b="1">
                <a:solidFill>
                  <a:srgbClr val="2E7D32"/>
                </a:solidFill>
              </a:defRPr>
            </a:pPr>
            <a:r>
              <a:rPr sz="1800" b="1">
                <a:solidFill>
                  <a:srgbClr val="2E7D32"/>
                </a:solidFill>
              </a:rPr>
              <a:t>Run unit tests</a:t>
            </a:r>
          </a:p>
        </p:txBody>
      </p:sp>
      <p:sp>
        <p:nvSpPr>
          <p:cNvPr id="15" name="detail-1">
            <a:extLst>
              <a:ext uri="{FF2B5EF4-FFF2-40B4-BE49-F238E27FC236}">
                <a16:creationId xmlns:a16="http://schemas.microsoft.com/office/drawing/2014/main" id="{44C3EFCD-10F1-4245-BF8A-0919A0588402}"/>
              </a:ext>
            </a:extLst>
          </p:cNvPr>
          <p:cNvSpPr>
            <a:spLocks noGrp="1"/>
          </p:cNvSpPr>
          <p:nvPr/>
        </p:nvSpPr>
        <p:spPr>
          <a:xfrm>
            <a:off x="4486275" y="3371850"/>
            <a:ext cx="2000250" cy="476250"/>
          </a:xfrm>
          <a:prstGeom prst="rect">
            <a:avLst/>
          </a:prstGeom>
          <a:noFill/>
          <a:ln w="0">
            <a:noFill/>
            <a:prstDash val="solid"/>
          </a:ln>
        </p:spPr>
        <p:txBody>
          <a:bodyPr anchor="ctr"/>
          <a:lstStyle/>
          <a:p>
            <a:pPr algn="ctr">
              <a:defRPr sz="1350" b="0">
                <a:solidFill>
                  <a:srgbClr val="5A6573"/>
                </a:solidFill>
              </a:defRPr>
            </a:pPr>
            <a:r>
              <a:rPr sz="1350" b="0">
                <a:solidFill>
                  <a:srgbClr val="5A6573"/>
                </a:solidFill>
              </a:rPr>
              <a:t>Locally or through CI</a:t>
            </a:r>
          </a:p>
        </p:txBody>
      </p:sp>
      <p:sp>
        <p:nvSpPr>
          <p:cNvPr id="16" name="step-2">
            <a:extLst>
              <a:ext uri="{FF2B5EF4-FFF2-40B4-BE49-F238E27FC236}">
                <a16:creationId xmlns:a16="http://schemas.microsoft.com/office/drawing/2014/main" id="{ED53CEEA-852B-48C1-BF51-8EBE28F71C88}"/>
              </a:ext>
            </a:extLst>
          </p:cNvPr>
          <p:cNvSpPr>
            <a:spLocks noGrp="1"/>
          </p:cNvSpPr>
          <p:nvPr/>
        </p:nvSpPr>
        <p:spPr>
          <a:xfrm>
            <a:off x="7258050" y="2095500"/>
            <a:ext cx="2457450" cy="2000250"/>
          </a:xfrm>
          <a:prstGeom prst="roundRect">
            <a:avLst>
              <a:gd name="adj" fmla="val 5714"/>
            </a:avLst>
          </a:prstGeom>
          <a:solidFill>
            <a:srgbClr val="F5F8FC"/>
          </a:solidFill>
          <a:ln w="19050">
            <a:solidFill>
              <a:srgbClr val="17365D"/>
            </a:solidFill>
            <a:prstDash val="solid"/>
          </a:ln>
        </p:spPr>
        <p:txBody>
          <a:bodyPr/>
          <a:lstStyle/>
          <a:p>
            <a:endParaRPr lang="en-US"/>
          </a:p>
        </p:txBody>
      </p:sp>
      <p:sp>
        <p:nvSpPr>
          <p:cNvPr id="17" name="num-2-circle">
            <a:extLst>
              <a:ext uri="{FF2B5EF4-FFF2-40B4-BE49-F238E27FC236}">
                <a16:creationId xmlns:a16="http://schemas.microsoft.com/office/drawing/2014/main" id="{1B418407-04CC-40F5-99A4-CF17B49666E2}"/>
              </a:ext>
            </a:extLst>
          </p:cNvPr>
          <p:cNvSpPr>
            <a:spLocks noGrp="1"/>
          </p:cNvSpPr>
          <p:nvPr/>
        </p:nvSpPr>
        <p:spPr>
          <a:xfrm>
            <a:off x="8134350" y="2324100"/>
            <a:ext cx="514350" cy="514350"/>
          </a:xfrm>
          <a:prstGeom prst="ellipse">
            <a:avLst/>
          </a:prstGeom>
          <a:solidFill>
            <a:srgbClr val="FFFFFF"/>
          </a:solidFill>
          <a:ln w="28575">
            <a:solidFill>
              <a:srgbClr val="17365D"/>
            </a:solidFill>
            <a:prstDash val="solid"/>
          </a:ln>
        </p:spPr>
        <p:txBody>
          <a:bodyPr/>
          <a:lstStyle/>
          <a:p>
            <a:endParaRPr lang="en-US"/>
          </a:p>
        </p:txBody>
      </p:sp>
      <p:sp>
        <p:nvSpPr>
          <p:cNvPr id="18" name="num-2-label">
            <a:extLst>
              <a:ext uri="{FF2B5EF4-FFF2-40B4-BE49-F238E27FC236}">
                <a16:creationId xmlns:a16="http://schemas.microsoft.com/office/drawing/2014/main" id="{621246A9-D166-474A-BB3B-E74DD2C5C2BD}"/>
              </a:ext>
            </a:extLst>
          </p:cNvPr>
          <p:cNvSpPr>
            <a:spLocks noGrp="1"/>
          </p:cNvSpPr>
          <p:nvPr/>
        </p:nvSpPr>
        <p:spPr>
          <a:xfrm>
            <a:off x="8134350" y="2314575"/>
            <a:ext cx="514350" cy="514350"/>
          </a:xfrm>
          <a:prstGeom prst="rect">
            <a:avLst/>
          </a:prstGeom>
          <a:noFill/>
          <a:ln w="0">
            <a:noFill/>
            <a:prstDash val="solid"/>
          </a:ln>
        </p:spPr>
        <p:txBody>
          <a:bodyPr anchor="ctr"/>
          <a:lstStyle/>
          <a:p>
            <a:pPr algn="ctr">
              <a:defRPr sz="1650" b="1">
                <a:solidFill>
                  <a:srgbClr val="17365D"/>
                </a:solidFill>
              </a:defRPr>
            </a:pPr>
            <a:r>
              <a:rPr sz="1650" b="1">
                <a:solidFill>
                  <a:srgbClr val="17365D"/>
                </a:solidFill>
              </a:rPr>
              <a:t>3</a:t>
            </a:r>
          </a:p>
        </p:txBody>
      </p:sp>
      <p:sp>
        <p:nvSpPr>
          <p:cNvPr id="19" name="head-2">
            <a:extLst>
              <a:ext uri="{FF2B5EF4-FFF2-40B4-BE49-F238E27FC236}">
                <a16:creationId xmlns:a16="http://schemas.microsoft.com/office/drawing/2014/main" id="{E73CB271-3A67-4FEE-AE1E-2EA8DA94BAAE}"/>
              </a:ext>
            </a:extLst>
          </p:cNvPr>
          <p:cNvSpPr>
            <a:spLocks noGrp="1"/>
          </p:cNvSpPr>
          <p:nvPr/>
        </p:nvSpPr>
        <p:spPr>
          <a:xfrm>
            <a:off x="7448550" y="2971800"/>
            <a:ext cx="2076450" cy="342900"/>
          </a:xfrm>
          <a:prstGeom prst="rect">
            <a:avLst/>
          </a:prstGeom>
          <a:noFill/>
          <a:ln w="0">
            <a:noFill/>
            <a:prstDash val="solid"/>
          </a:ln>
        </p:spPr>
        <p:txBody>
          <a:bodyPr anchor="ctr"/>
          <a:lstStyle/>
          <a:p>
            <a:pPr algn="ctr">
              <a:defRPr sz="1800" b="1">
                <a:solidFill>
                  <a:srgbClr val="17365D"/>
                </a:solidFill>
              </a:defRPr>
            </a:pPr>
            <a:r>
              <a:rPr sz="1800" b="1">
                <a:solidFill>
                  <a:srgbClr val="17365D"/>
                </a:solidFill>
              </a:rPr>
              <a:t>Act on feedback</a:t>
            </a:r>
          </a:p>
        </p:txBody>
      </p:sp>
      <p:sp>
        <p:nvSpPr>
          <p:cNvPr id="20" name="detail-2">
            <a:extLst>
              <a:ext uri="{FF2B5EF4-FFF2-40B4-BE49-F238E27FC236}">
                <a16:creationId xmlns:a16="http://schemas.microsoft.com/office/drawing/2014/main" id="{70BEE27E-B447-4C07-9837-D64F48F7958B}"/>
              </a:ext>
            </a:extLst>
          </p:cNvPr>
          <p:cNvSpPr>
            <a:spLocks noGrp="1"/>
          </p:cNvSpPr>
          <p:nvPr/>
        </p:nvSpPr>
        <p:spPr>
          <a:xfrm>
            <a:off x="7486650" y="3371850"/>
            <a:ext cx="2000250" cy="476250"/>
          </a:xfrm>
          <a:prstGeom prst="rect">
            <a:avLst/>
          </a:prstGeom>
          <a:noFill/>
          <a:ln w="0">
            <a:noFill/>
            <a:prstDash val="solid"/>
          </a:ln>
        </p:spPr>
        <p:txBody>
          <a:bodyPr anchor="ctr"/>
          <a:lstStyle/>
          <a:p>
            <a:pPr algn="ctr">
              <a:defRPr sz="1350" b="0">
                <a:solidFill>
                  <a:srgbClr val="5A6573"/>
                </a:solidFill>
              </a:defRPr>
            </a:pPr>
            <a:r>
              <a:rPr sz="1350" b="0">
                <a:solidFill>
                  <a:srgbClr val="5A6573"/>
                </a:solidFill>
              </a:rPr>
              <a:t>Fix quickly or continue</a:t>
            </a:r>
          </a:p>
        </p:txBody>
      </p:sp>
      <p:sp>
        <p:nvSpPr>
          <p:cNvPr id="21" name="slow">
            <a:extLst>
              <a:ext uri="{FF2B5EF4-FFF2-40B4-BE49-F238E27FC236}">
                <a16:creationId xmlns:a16="http://schemas.microsoft.com/office/drawing/2014/main" id="{445A26F5-BF84-48B8-B7F2-40E82CFDE942}"/>
              </a:ext>
            </a:extLst>
          </p:cNvPr>
          <p:cNvSpPr>
            <a:spLocks noGrp="1"/>
          </p:cNvSpPr>
          <p:nvPr/>
        </p:nvSpPr>
        <p:spPr>
          <a:xfrm>
            <a:off x="9953625" y="2095500"/>
            <a:ext cx="1457325" cy="2000250"/>
          </a:xfrm>
          <a:prstGeom prst="roundRect">
            <a:avLst>
              <a:gd name="adj" fmla="val 9677"/>
            </a:avLst>
          </a:prstGeom>
          <a:solidFill>
            <a:srgbClr val="FCEBEC"/>
          </a:solidFill>
          <a:ln w="19050">
            <a:solidFill>
              <a:srgbClr val="C62828"/>
            </a:solidFill>
            <a:prstDash val="solid"/>
          </a:ln>
        </p:spPr>
        <p:txBody>
          <a:bodyPr/>
          <a:lstStyle/>
          <a:p>
            <a:endParaRPr lang="en-US"/>
          </a:p>
        </p:txBody>
      </p:sp>
      <p:sp>
        <p:nvSpPr>
          <p:cNvPr id="22" name="slow-head">
            <a:extLst>
              <a:ext uri="{FF2B5EF4-FFF2-40B4-BE49-F238E27FC236}">
                <a16:creationId xmlns:a16="http://schemas.microsoft.com/office/drawing/2014/main" id="{69AD533D-A2AB-43C9-BF81-1721DC3EEE7E}"/>
              </a:ext>
            </a:extLst>
          </p:cNvPr>
          <p:cNvSpPr>
            <a:spLocks noGrp="1"/>
          </p:cNvSpPr>
          <p:nvPr/>
        </p:nvSpPr>
        <p:spPr>
          <a:xfrm>
            <a:off x="9953625" y="2324100"/>
            <a:ext cx="1181100" cy="30480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SLOW</a:t>
            </a:r>
          </a:p>
        </p:txBody>
      </p:sp>
      <p:sp>
        <p:nvSpPr>
          <p:cNvPr id="23" name="slow-clock">
            <a:extLst>
              <a:ext uri="{FF2B5EF4-FFF2-40B4-BE49-F238E27FC236}">
                <a16:creationId xmlns:a16="http://schemas.microsoft.com/office/drawing/2014/main" id="{5B09D547-0117-4A21-B68A-C18146DC9F4A}"/>
              </a:ext>
            </a:extLst>
          </p:cNvPr>
          <p:cNvSpPr>
            <a:spLocks noGrp="1"/>
          </p:cNvSpPr>
          <p:nvPr/>
        </p:nvSpPr>
        <p:spPr>
          <a:xfrm>
            <a:off x="9953624" y="2762250"/>
            <a:ext cx="1362075" cy="666750"/>
          </a:xfrm>
          <a:prstGeom prst="rect">
            <a:avLst/>
          </a:prstGeom>
          <a:noFill/>
          <a:ln w="0">
            <a:noFill/>
            <a:prstDash val="solid"/>
          </a:ln>
        </p:spPr>
        <p:txBody>
          <a:bodyPr anchor="ctr"/>
          <a:lstStyle/>
          <a:p>
            <a:pPr algn="ctr">
              <a:defRPr sz="2025" b="1">
                <a:solidFill>
                  <a:srgbClr val="C62828"/>
                </a:solidFill>
              </a:defRPr>
            </a:pPr>
            <a:r>
              <a:rPr lang="en-US" sz="2025" b="1" dirty="0">
                <a:solidFill>
                  <a:srgbClr val="C62828"/>
                </a:solidFill>
              </a:rPr>
              <a:t>Long wait</a:t>
            </a:r>
            <a:endParaRPr sz="2025" b="1" dirty="0">
              <a:solidFill>
                <a:srgbClr val="C62828"/>
              </a:solidFill>
            </a:endParaRPr>
          </a:p>
        </p:txBody>
      </p:sp>
      <p:sp>
        <p:nvSpPr>
          <p:cNvPr id="24" name="slow-note">
            <a:extLst>
              <a:ext uri="{FF2B5EF4-FFF2-40B4-BE49-F238E27FC236}">
                <a16:creationId xmlns:a16="http://schemas.microsoft.com/office/drawing/2014/main" id="{316929B1-9ED3-44DB-A0B5-8499DEC3E272}"/>
              </a:ext>
            </a:extLst>
          </p:cNvPr>
          <p:cNvSpPr>
            <a:spLocks noGrp="1"/>
          </p:cNvSpPr>
          <p:nvPr/>
        </p:nvSpPr>
        <p:spPr>
          <a:xfrm>
            <a:off x="9953625" y="3514725"/>
            <a:ext cx="1181100" cy="45720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Tests get</a:t>
            </a:r>
          </a:p>
          <a:p>
            <a:pPr algn="ctr">
              <a:defRPr sz="1200" b="0">
                <a:solidFill>
                  <a:srgbClr val="5A6573"/>
                </a:solidFill>
              </a:defRPr>
            </a:pPr>
            <a:r>
              <a:rPr sz="1200" b="0">
                <a:solidFill>
                  <a:srgbClr val="5A6573"/>
                </a:solidFill>
              </a:rPr>
              <a:t>postponed</a:t>
            </a:r>
          </a:p>
        </p:txBody>
      </p:sp>
      <p:sp>
        <p:nvSpPr>
          <p:cNvPr id="25" name="takeaway">
            <a:extLst>
              <a:ext uri="{FF2B5EF4-FFF2-40B4-BE49-F238E27FC236}">
                <a16:creationId xmlns:a16="http://schemas.microsoft.com/office/drawing/2014/main" id="{71F409B6-2B56-4225-8FA6-A8FBC509D98A}"/>
              </a:ext>
            </a:extLst>
          </p:cNvPr>
          <p:cNvSpPr>
            <a:spLocks noGrp="1"/>
          </p:cNvSpPr>
          <p:nvPr/>
        </p:nvSpPr>
        <p:spPr>
          <a:xfrm>
            <a:off x="781050" y="5467350"/>
            <a:ext cx="10629900" cy="723900"/>
          </a:xfrm>
          <a:prstGeom prst="roundRect">
            <a:avLst>
              <a:gd name="adj" fmla="val 10526"/>
            </a:avLst>
          </a:prstGeom>
          <a:solidFill>
            <a:srgbClr val="EAF5EB"/>
          </a:solidFill>
          <a:ln w="19050">
            <a:solidFill>
              <a:srgbClr val="2E7D32"/>
            </a:solidFill>
            <a:prstDash val="solid"/>
          </a:ln>
        </p:spPr>
        <p:txBody>
          <a:bodyPr/>
          <a:lstStyle/>
          <a:p>
            <a:endParaRPr lang="en-US"/>
          </a:p>
        </p:txBody>
      </p:sp>
      <p:sp>
        <p:nvSpPr>
          <p:cNvPr id="26" name="takeaway-text">
            <a:extLst>
              <a:ext uri="{FF2B5EF4-FFF2-40B4-BE49-F238E27FC236}">
                <a16:creationId xmlns:a16="http://schemas.microsoft.com/office/drawing/2014/main" id="{65741827-C2C4-4770-AD09-754EC778CE36}"/>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E7D32"/>
                </a:solidFill>
              </a:defRPr>
            </a:pPr>
            <a:r>
              <a:rPr sz="1800" b="1">
                <a:solidFill>
                  <a:srgbClr val="2E7D32"/>
                </a:solidFill>
              </a:rPr>
              <a:t>Keep the unit-test suite fast enough to run repeatedly during development.</a:t>
            </a:r>
          </a:p>
        </p:txBody>
      </p:sp>
    </p:spTree>
    <p:extLst>
      <p:ext uri="{BB962C8B-B14F-4D97-AF65-F5344CB8AC3E}">
        <p14:creationId xmlns:p14="http://schemas.microsoft.com/office/powerpoint/2010/main" val="2067380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fade">
                                      <p:cBhvr>
                                        <p:cTn id="44" dur="500"/>
                                        <p:tgtEl>
                                          <p:spTgt spid="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9" grpId="0"/>
      <p:bldP spid="10" grpId="0"/>
      <p:bldP spid="11" grpId="0" animBg="1"/>
      <p:bldP spid="12" grpId="0" animBg="1"/>
      <p:bldP spid="13" grpId="0"/>
      <p:bldP spid="14" grpId="0"/>
      <p:bldP spid="15" grpId="0"/>
      <p:bldP spid="16" grpId="0" animBg="1"/>
      <p:bldP spid="17" grpId="0" animBg="1"/>
      <p:bldP spid="18" grpId="0"/>
      <p:bldP spid="19" grpId="0"/>
      <p:bldP spid="20" grpId="0"/>
      <p:bldP spid="21" grpId="0" animBg="1"/>
      <p:bldP spid="22" grpId="0"/>
      <p:bldP spid="23" grpId="0"/>
      <p:bldP spid="24" grpId="0"/>
      <p:bldP spid="25" grpId="0" animBg="1"/>
      <p:bldP spid="2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a:extLst>
              <a:ext uri="{FF2B5EF4-FFF2-40B4-BE49-F238E27FC236}">
                <a16:creationId xmlns:a16="http://schemas.microsoft.com/office/drawing/2014/main" id="{3BE06297-6EC0-47A4-8BE6-C08321D1EDF5}"/>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150" b="0">
                <a:solidFill>
                  <a:srgbClr val="111111"/>
                </a:solidFill>
              </a:defRPr>
            </a:pPr>
            <a:r>
              <a:rPr sz="3150" b="0">
                <a:solidFill>
                  <a:srgbClr val="111111"/>
                </a:solidFill>
              </a:rPr>
              <a:t>We cannot test every possible input value</a:t>
            </a:r>
          </a:p>
        </p:txBody>
      </p:sp>
      <p:sp>
        <p:nvSpPr>
          <p:cNvPr id="2" name="title-rule">
            <a:extLst>
              <a:ext uri="{FF2B5EF4-FFF2-40B4-BE49-F238E27FC236}">
                <a16:creationId xmlns:a16="http://schemas.microsoft.com/office/drawing/2014/main" id="{BAFE0D42-AD73-434B-9FAF-9E2314339499}"/>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subtitle">
            <a:extLst>
              <a:ext uri="{FF2B5EF4-FFF2-40B4-BE49-F238E27FC236}">
                <a16:creationId xmlns:a16="http://schemas.microsoft.com/office/drawing/2014/main" id="{8BB41B50-A778-4206-B85B-B268CE787B98}"/>
              </a:ext>
            </a:extLst>
          </p:cNvPr>
          <p:cNvSpPr>
            <a:spLocks noGrp="1"/>
          </p:cNvSpPr>
          <p:nvPr/>
        </p:nvSpPr>
        <p:spPr>
          <a:xfrm>
            <a:off x="876300" y="1381125"/>
            <a:ext cx="10439400" cy="400050"/>
          </a:xfrm>
          <a:prstGeom prst="rect">
            <a:avLst/>
          </a:prstGeom>
          <a:noFill/>
          <a:ln w="0">
            <a:noFill/>
            <a:prstDash val="solid"/>
          </a:ln>
        </p:spPr>
        <p:txBody>
          <a:bodyPr anchor="ctr"/>
          <a:lstStyle/>
          <a:p>
            <a:pPr algn="ctr">
              <a:defRPr sz="1800" b="0">
                <a:solidFill>
                  <a:srgbClr val="5A6573"/>
                </a:solidFill>
              </a:defRPr>
            </a:pPr>
            <a:r>
              <a:rPr sz="2000" b="0" dirty="0">
                <a:solidFill>
                  <a:srgbClr val="5A6573"/>
                </a:solidFill>
              </a:rPr>
              <a:t>Example: a bank-interest function may accept any account balance.</a:t>
            </a:r>
          </a:p>
        </p:txBody>
      </p:sp>
      <p:sp>
        <p:nvSpPr>
          <p:cNvPr id="4" name="all-inputs">
            <a:extLst>
              <a:ext uri="{FF2B5EF4-FFF2-40B4-BE49-F238E27FC236}">
                <a16:creationId xmlns:a16="http://schemas.microsoft.com/office/drawing/2014/main" id="{F12998BD-9034-4212-A303-6A70F6B0F1B8}"/>
              </a:ext>
            </a:extLst>
          </p:cNvPr>
          <p:cNvSpPr>
            <a:spLocks noGrp="1"/>
          </p:cNvSpPr>
          <p:nvPr/>
        </p:nvSpPr>
        <p:spPr>
          <a:xfrm>
            <a:off x="876300" y="2095500"/>
            <a:ext cx="4000500" cy="2647950"/>
          </a:xfrm>
          <a:prstGeom prst="roundRect">
            <a:avLst>
              <a:gd name="adj" fmla="val 4317"/>
            </a:avLst>
          </a:prstGeom>
          <a:solidFill>
            <a:srgbClr val="F5F8FC"/>
          </a:solidFill>
          <a:ln w="19050">
            <a:solidFill>
              <a:srgbClr val="17365D"/>
            </a:solidFill>
            <a:prstDash val="solid"/>
          </a:ln>
        </p:spPr>
        <p:txBody>
          <a:bodyPr/>
          <a:lstStyle/>
          <a:p>
            <a:endParaRPr lang="en-US"/>
          </a:p>
        </p:txBody>
      </p:sp>
      <p:sp>
        <p:nvSpPr>
          <p:cNvPr id="5" name="all-title">
            <a:extLst>
              <a:ext uri="{FF2B5EF4-FFF2-40B4-BE49-F238E27FC236}">
                <a16:creationId xmlns:a16="http://schemas.microsoft.com/office/drawing/2014/main" id="{567F7666-AA6E-4715-B9FF-EC0D046189EF}"/>
              </a:ext>
            </a:extLst>
          </p:cNvPr>
          <p:cNvSpPr>
            <a:spLocks noGrp="1"/>
          </p:cNvSpPr>
          <p:nvPr/>
        </p:nvSpPr>
        <p:spPr>
          <a:xfrm>
            <a:off x="1162050" y="2324100"/>
            <a:ext cx="3429000" cy="285750"/>
          </a:xfrm>
          <a:prstGeom prst="rect">
            <a:avLst/>
          </a:prstGeom>
          <a:noFill/>
          <a:ln w="0">
            <a:noFill/>
            <a:prstDash val="solid"/>
          </a:ln>
        </p:spPr>
        <p:txBody>
          <a:bodyPr anchor="ctr"/>
          <a:lstStyle/>
          <a:p>
            <a:pPr algn="ctr">
              <a:defRPr sz="1275" b="1">
                <a:solidFill>
                  <a:srgbClr val="244E7A"/>
                </a:solidFill>
              </a:defRPr>
            </a:pPr>
            <a:r>
              <a:rPr sz="1275" b="1">
                <a:solidFill>
                  <a:srgbClr val="244E7A"/>
                </a:solidFill>
              </a:rPr>
              <a:t>POSSIBLE INPUT VALUES</a:t>
            </a:r>
          </a:p>
        </p:txBody>
      </p:sp>
      <p:sp>
        <p:nvSpPr>
          <p:cNvPr id="6" name="axis">
            <a:extLst>
              <a:ext uri="{FF2B5EF4-FFF2-40B4-BE49-F238E27FC236}">
                <a16:creationId xmlns:a16="http://schemas.microsoft.com/office/drawing/2014/main" id="{4B79C4F9-F8AC-448F-9EC7-A28CD2B1935D}"/>
              </a:ext>
            </a:extLst>
          </p:cNvPr>
          <p:cNvSpPr>
            <a:spLocks noGrp="1"/>
          </p:cNvSpPr>
          <p:nvPr/>
        </p:nvSpPr>
        <p:spPr>
          <a:xfrm>
            <a:off x="1285875" y="3276600"/>
            <a:ext cx="3162300" cy="38100"/>
          </a:xfrm>
          <a:prstGeom prst="rect">
            <a:avLst/>
          </a:prstGeom>
          <a:solidFill>
            <a:srgbClr val="111111"/>
          </a:solidFill>
          <a:ln w="0">
            <a:solidFill>
              <a:srgbClr val="111111"/>
            </a:solidFill>
            <a:prstDash val="solid"/>
          </a:ln>
        </p:spPr>
        <p:txBody>
          <a:bodyPr/>
          <a:lstStyle/>
          <a:p>
            <a:endParaRPr lang="en-US"/>
          </a:p>
        </p:txBody>
      </p:sp>
      <p:sp>
        <p:nvSpPr>
          <p:cNvPr id="7" name="axis-arrow">
            <a:extLst>
              <a:ext uri="{FF2B5EF4-FFF2-40B4-BE49-F238E27FC236}">
                <a16:creationId xmlns:a16="http://schemas.microsoft.com/office/drawing/2014/main" id="{D698E623-F3DE-4DAF-98DE-3FD2EA164FC3}"/>
              </a:ext>
            </a:extLst>
          </p:cNvPr>
          <p:cNvSpPr>
            <a:spLocks noGrp="1"/>
          </p:cNvSpPr>
          <p:nvPr/>
        </p:nvSpPr>
        <p:spPr>
          <a:xfrm>
            <a:off x="4359648" y="3105150"/>
            <a:ext cx="514350" cy="381000"/>
          </a:xfrm>
          <a:prstGeom prst="rightArrow">
            <a:avLst/>
          </a:prstGeom>
          <a:solidFill>
            <a:srgbClr val="111111"/>
          </a:solidFill>
          <a:ln w="0">
            <a:solidFill>
              <a:srgbClr val="111111"/>
            </a:solidFill>
            <a:prstDash val="solid"/>
          </a:ln>
        </p:spPr>
        <p:txBody>
          <a:bodyPr/>
          <a:lstStyle/>
          <a:p>
            <a:endParaRPr lang="en-US"/>
          </a:p>
        </p:txBody>
      </p:sp>
      <p:sp>
        <p:nvSpPr>
          <p:cNvPr id="8" name="value-0">
            <a:extLst>
              <a:ext uri="{FF2B5EF4-FFF2-40B4-BE49-F238E27FC236}">
                <a16:creationId xmlns:a16="http://schemas.microsoft.com/office/drawing/2014/main" id="{3258CB23-8F53-41B0-B504-C831C647BA21}"/>
              </a:ext>
            </a:extLst>
          </p:cNvPr>
          <p:cNvSpPr>
            <a:spLocks noGrp="1"/>
          </p:cNvSpPr>
          <p:nvPr/>
        </p:nvSpPr>
        <p:spPr>
          <a:xfrm>
            <a:off x="1381125" y="3105150"/>
            <a:ext cx="190500" cy="190500"/>
          </a:xfrm>
          <a:prstGeom prst="ellipse">
            <a:avLst/>
          </a:prstGeom>
          <a:solidFill>
            <a:srgbClr val="FCEBEC"/>
          </a:solidFill>
          <a:ln w="19050">
            <a:solidFill>
              <a:srgbClr val="C62828"/>
            </a:solidFill>
            <a:prstDash val="solid"/>
          </a:ln>
        </p:spPr>
        <p:txBody>
          <a:bodyPr/>
          <a:lstStyle/>
          <a:p>
            <a:endParaRPr lang="en-US"/>
          </a:p>
        </p:txBody>
      </p:sp>
      <p:sp>
        <p:nvSpPr>
          <p:cNvPr id="9" name="value-1">
            <a:extLst>
              <a:ext uri="{FF2B5EF4-FFF2-40B4-BE49-F238E27FC236}">
                <a16:creationId xmlns:a16="http://schemas.microsoft.com/office/drawing/2014/main" id="{4B523D55-60F2-4F67-984C-F5D7E6041943}"/>
              </a:ext>
            </a:extLst>
          </p:cNvPr>
          <p:cNvSpPr>
            <a:spLocks noGrp="1"/>
          </p:cNvSpPr>
          <p:nvPr/>
        </p:nvSpPr>
        <p:spPr>
          <a:xfrm>
            <a:off x="16668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0" name="value-2">
            <a:extLst>
              <a:ext uri="{FF2B5EF4-FFF2-40B4-BE49-F238E27FC236}">
                <a16:creationId xmlns:a16="http://schemas.microsoft.com/office/drawing/2014/main" id="{03D29E76-6B66-4B3D-8AB0-1FCD0E1BB8DE}"/>
              </a:ext>
            </a:extLst>
          </p:cNvPr>
          <p:cNvSpPr>
            <a:spLocks noGrp="1"/>
          </p:cNvSpPr>
          <p:nvPr/>
        </p:nvSpPr>
        <p:spPr>
          <a:xfrm>
            <a:off x="19716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1" name="value-3">
            <a:extLst>
              <a:ext uri="{FF2B5EF4-FFF2-40B4-BE49-F238E27FC236}">
                <a16:creationId xmlns:a16="http://schemas.microsoft.com/office/drawing/2014/main" id="{5105992D-61FD-488E-9D91-8C370C1B2C8E}"/>
              </a:ext>
            </a:extLst>
          </p:cNvPr>
          <p:cNvSpPr>
            <a:spLocks noGrp="1"/>
          </p:cNvSpPr>
          <p:nvPr/>
        </p:nvSpPr>
        <p:spPr>
          <a:xfrm>
            <a:off x="22764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2" name="value-4">
            <a:extLst>
              <a:ext uri="{FF2B5EF4-FFF2-40B4-BE49-F238E27FC236}">
                <a16:creationId xmlns:a16="http://schemas.microsoft.com/office/drawing/2014/main" id="{FC11741F-DE8D-4B77-B06F-6F84D41EE3FB}"/>
              </a:ext>
            </a:extLst>
          </p:cNvPr>
          <p:cNvSpPr>
            <a:spLocks noGrp="1"/>
          </p:cNvSpPr>
          <p:nvPr/>
        </p:nvSpPr>
        <p:spPr>
          <a:xfrm>
            <a:off x="25812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3" name="value-5">
            <a:extLst>
              <a:ext uri="{FF2B5EF4-FFF2-40B4-BE49-F238E27FC236}">
                <a16:creationId xmlns:a16="http://schemas.microsoft.com/office/drawing/2014/main" id="{1B93173A-2C55-4193-B2CE-A7844DE0C931}"/>
              </a:ext>
            </a:extLst>
          </p:cNvPr>
          <p:cNvSpPr>
            <a:spLocks noGrp="1"/>
          </p:cNvSpPr>
          <p:nvPr/>
        </p:nvSpPr>
        <p:spPr>
          <a:xfrm>
            <a:off x="28860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4" name="value-6">
            <a:extLst>
              <a:ext uri="{FF2B5EF4-FFF2-40B4-BE49-F238E27FC236}">
                <a16:creationId xmlns:a16="http://schemas.microsoft.com/office/drawing/2014/main" id="{E83CA791-6629-4C97-BCCD-E6454C097E7C}"/>
              </a:ext>
            </a:extLst>
          </p:cNvPr>
          <p:cNvSpPr>
            <a:spLocks noGrp="1"/>
          </p:cNvSpPr>
          <p:nvPr/>
        </p:nvSpPr>
        <p:spPr>
          <a:xfrm>
            <a:off x="31908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5" name="value-7">
            <a:extLst>
              <a:ext uri="{FF2B5EF4-FFF2-40B4-BE49-F238E27FC236}">
                <a16:creationId xmlns:a16="http://schemas.microsoft.com/office/drawing/2014/main" id="{E86B52FE-AEA5-4281-B1F5-107F5FB2AA9C}"/>
              </a:ext>
            </a:extLst>
          </p:cNvPr>
          <p:cNvSpPr>
            <a:spLocks noGrp="1"/>
          </p:cNvSpPr>
          <p:nvPr/>
        </p:nvSpPr>
        <p:spPr>
          <a:xfrm>
            <a:off x="34956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6" name="value-8">
            <a:extLst>
              <a:ext uri="{FF2B5EF4-FFF2-40B4-BE49-F238E27FC236}">
                <a16:creationId xmlns:a16="http://schemas.microsoft.com/office/drawing/2014/main" id="{73153703-2B70-4BCA-BE1F-2FD37A20DB01}"/>
              </a:ext>
            </a:extLst>
          </p:cNvPr>
          <p:cNvSpPr>
            <a:spLocks noGrp="1"/>
          </p:cNvSpPr>
          <p:nvPr/>
        </p:nvSpPr>
        <p:spPr>
          <a:xfrm>
            <a:off x="3800475" y="3105150"/>
            <a:ext cx="190500" cy="190500"/>
          </a:xfrm>
          <a:prstGeom prst="ellipse">
            <a:avLst/>
          </a:prstGeom>
          <a:solidFill>
            <a:srgbClr val="FFFFFF"/>
          </a:solidFill>
          <a:ln w="19050">
            <a:solidFill>
              <a:srgbClr val="5A6573"/>
            </a:solidFill>
            <a:prstDash val="solid"/>
          </a:ln>
        </p:spPr>
        <p:txBody>
          <a:bodyPr/>
          <a:lstStyle/>
          <a:p>
            <a:endParaRPr lang="en-US"/>
          </a:p>
        </p:txBody>
      </p:sp>
      <p:sp>
        <p:nvSpPr>
          <p:cNvPr id="17" name="value-9">
            <a:extLst>
              <a:ext uri="{FF2B5EF4-FFF2-40B4-BE49-F238E27FC236}">
                <a16:creationId xmlns:a16="http://schemas.microsoft.com/office/drawing/2014/main" id="{98BAF8D5-A7F7-4FBC-B920-18C07D82099C}"/>
              </a:ext>
            </a:extLst>
          </p:cNvPr>
          <p:cNvSpPr>
            <a:spLocks noGrp="1"/>
          </p:cNvSpPr>
          <p:nvPr/>
        </p:nvSpPr>
        <p:spPr>
          <a:xfrm>
            <a:off x="4105275" y="3105150"/>
            <a:ext cx="190500" cy="190500"/>
          </a:xfrm>
          <a:prstGeom prst="ellipse">
            <a:avLst/>
          </a:prstGeom>
          <a:solidFill>
            <a:srgbClr val="FCEBEC"/>
          </a:solidFill>
          <a:ln w="19050">
            <a:solidFill>
              <a:srgbClr val="C62828"/>
            </a:solidFill>
            <a:prstDash val="solid"/>
          </a:ln>
        </p:spPr>
        <p:txBody>
          <a:bodyPr/>
          <a:lstStyle/>
          <a:p>
            <a:endParaRPr lang="en-US"/>
          </a:p>
        </p:txBody>
      </p:sp>
      <p:sp>
        <p:nvSpPr>
          <p:cNvPr id="18" name="low">
            <a:extLst>
              <a:ext uri="{FF2B5EF4-FFF2-40B4-BE49-F238E27FC236}">
                <a16:creationId xmlns:a16="http://schemas.microsoft.com/office/drawing/2014/main" id="{EC87A143-8379-4277-ABCE-F7743B77EC4D}"/>
              </a:ext>
            </a:extLst>
          </p:cNvPr>
          <p:cNvSpPr>
            <a:spLocks noGrp="1"/>
          </p:cNvSpPr>
          <p:nvPr/>
        </p:nvSpPr>
        <p:spPr>
          <a:xfrm>
            <a:off x="1190625" y="3638550"/>
            <a:ext cx="1000125" cy="266700"/>
          </a:xfrm>
          <a:prstGeom prst="rect">
            <a:avLst/>
          </a:prstGeom>
          <a:noFill/>
          <a:ln w="0">
            <a:noFill/>
            <a:prstDash val="solid"/>
          </a:ln>
        </p:spPr>
        <p:txBody>
          <a:bodyPr anchor="ctr"/>
          <a:lstStyle/>
          <a:p>
            <a:pPr algn="ctr">
              <a:defRPr sz="1200" b="0">
                <a:solidFill>
                  <a:srgbClr val="5A6573"/>
                </a:solidFill>
              </a:defRPr>
            </a:pPr>
            <a:r>
              <a:rPr sz="1200" b="0" dirty="0">
                <a:solidFill>
                  <a:srgbClr val="5A6573"/>
                </a:solidFill>
              </a:rPr>
              <a:t>negative</a:t>
            </a:r>
          </a:p>
        </p:txBody>
      </p:sp>
      <p:sp>
        <p:nvSpPr>
          <p:cNvPr id="19" name="middle">
            <a:extLst>
              <a:ext uri="{FF2B5EF4-FFF2-40B4-BE49-F238E27FC236}">
                <a16:creationId xmlns:a16="http://schemas.microsoft.com/office/drawing/2014/main" id="{71F1769C-CD8D-4EE0-B938-F06137BBECB8}"/>
              </a:ext>
            </a:extLst>
          </p:cNvPr>
          <p:cNvSpPr>
            <a:spLocks noGrp="1"/>
          </p:cNvSpPr>
          <p:nvPr/>
        </p:nvSpPr>
        <p:spPr>
          <a:xfrm>
            <a:off x="2181225" y="3638550"/>
            <a:ext cx="1666875" cy="266700"/>
          </a:xfrm>
          <a:prstGeom prst="rect">
            <a:avLst/>
          </a:prstGeom>
          <a:noFill/>
          <a:ln w="0">
            <a:noFill/>
            <a:prstDash val="solid"/>
          </a:ln>
        </p:spPr>
        <p:txBody>
          <a:bodyPr anchor="ctr"/>
          <a:lstStyle/>
          <a:p>
            <a:pPr algn="ctr">
              <a:defRPr sz="1200" b="0">
                <a:solidFill>
                  <a:srgbClr val="5A6573"/>
                </a:solidFill>
              </a:defRPr>
            </a:pPr>
            <a:r>
              <a:rPr sz="1200" b="0" dirty="0">
                <a:solidFill>
                  <a:srgbClr val="5A6573"/>
                </a:solidFill>
              </a:rPr>
              <a:t>many valid balances</a:t>
            </a:r>
          </a:p>
        </p:txBody>
      </p:sp>
      <p:sp>
        <p:nvSpPr>
          <p:cNvPr id="20" name="high">
            <a:extLst>
              <a:ext uri="{FF2B5EF4-FFF2-40B4-BE49-F238E27FC236}">
                <a16:creationId xmlns:a16="http://schemas.microsoft.com/office/drawing/2014/main" id="{927A6D3E-6847-44B8-A0FA-E97380DF6BE0}"/>
              </a:ext>
            </a:extLst>
          </p:cNvPr>
          <p:cNvSpPr>
            <a:spLocks noGrp="1"/>
          </p:cNvSpPr>
          <p:nvPr/>
        </p:nvSpPr>
        <p:spPr>
          <a:xfrm>
            <a:off x="3705225" y="3638550"/>
            <a:ext cx="952500" cy="26670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very large</a:t>
            </a:r>
          </a:p>
        </p:txBody>
      </p:sp>
      <p:sp>
        <p:nvSpPr>
          <p:cNvPr id="21" name="problem">
            <a:extLst>
              <a:ext uri="{FF2B5EF4-FFF2-40B4-BE49-F238E27FC236}">
                <a16:creationId xmlns:a16="http://schemas.microsoft.com/office/drawing/2014/main" id="{1F52ECA8-6C1D-4699-AEA8-FF2C5B0A7DC6}"/>
              </a:ext>
            </a:extLst>
          </p:cNvPr>
          <p:cNvSpPr>
            <a:spLocks noGrp="1"/>
          </p:cNvSpPr>
          <p:nvPr/>
        </p:nvSpPr>
        <p:spPr>
          <a:xfrm>
            <a:off x="1257300" y="4181475"/>
            <a:ext cx="3238500" cy="304800"/>
          </a:xfrm>
          <a:prstGeom prst="rect">
            <a:avLst/>
          </a:prstGeom>
          <a:noFill/>
          <a:ln w="0">
            <a:noFill/>
            <a:prstDash val="solid"/>
          </a:ln>
        </p:spPr>
        <p:txBody>
          <a:bodyPr anchor="ctr"/>
          <a:lstStyle/>
          <a:p>
            <a:pPr algn="ctr">
              <a:defRPr sz="1575" b="1">
                <a:solidFill>
                  <a:srgbClr val="C62828"/>
                </a:solidFill>
              </a:defRPr>
            </a:pPr>
            <a:r>
              <a:rPr sz="1575" b="1">
                <a:solidFill>
                  <a:srgbClr val="C62828"/>
                </a:solidFill>
              </a:rPr>
              <a:t>Testing every value is impossible.</a:t>
            </a:r>
          </a:p>
        </p:txBody>
      </p:sp>
      <p:sp>
        <p:nvSpPr>
          <p:cNvPr id="22" name="select-label">
            <a:extLst>
              <a:ext uri="{FF2B5EF4-FFF2-40B4-BE49-F238E27FC236}">
                <a16:creationId xmlns:a16="http://schemas.microsoft.com/office/drawing/2014/main" id="{88F4262E-F040-41D0-93C6-AD80352D874D}"/>
              </a:ext>
            </a:extLst>
          </p:cNvPr>
          <p:cNvSpPr>
            <a:spLocks noGrp="1"/>
          </p:cNvSpPr>
          <p:nvPr/>
        </p:nvSpPr>
        <p:spPr>
          <a:xfrm>
            <a:off x="4943475" y="2657475"/>
            <a:ext cx="1790700" cy="381000"/>
          </a:xfrm>
          <a:prstGeom prst="rect">
            <a:avLst/>
          </a:prstGeom>
          <a:noFill/>
          <a:ln w="0">
            <a:noFill/>
            <a:prstDash val="solid"/>
          </a:ln>
        </p:spPr>
        <p:txBody>
          <a:bodyPr anchor="ctr"/>
          <a:lstStyle/>
          <a:p>
            <a:pPr algn="ctr">
              <a:defRPr sz="1425" b="1">
                <a:solidFill>
                  <a:srgbClr val="17365D"/>
                </a:solidFill>
              </a:defRPr>
            </a:pPr>
            <a:r>
              <a:rPr sz="1425" b="1">
                <a:solidFill>
                  <a:srgbClr val="17365D"/>
                </a:solidFill>
              </a:rPr>
              <a:t>Select systematically</a:t>
            </a:r>
          </a:p>
        </p:txBody>
      </p:sp>
      <p:sp>
        <p:nvSpPr>
          <p:cNvPr id="23" name="selection-arrow">
            <a:extLst>
              <a:ext uri="{FF2B5EF4-FFF2-40B4-BE49-F238E27FC236}">
                <a16:creationId xmlns:a16="http://schemas.microsoft.com/office/drawing/2014/main" id="{C379FF50-9EE6-4948-9724-3722815FBCB3}"/>
              </a:ext>
            </a:extLst>
          </p:cNvPr>
          <p:cNvSpPr>
            <a:spLocks noGrp="1"/>
          </p:cNvSpPr>
          <p:nvPr/>
        </p:nvSpPr>
        <p:spPr>
          <a:xfrm>
            <a:off x="5095875" y="3219450"/>
            <a:ext cx="1485900" cy="590550"/>
          </a:xfrm>
          <a:prstGeom prst="rightArrow">
            <a:avLst/>
          </a:prstGeom>
          <a:solidFill>
            <a:srgbClr val="17365D"/>
          </a:solidFill>
          <a:ln w="0">
            <a:solidFill>
              <a:srgbClr val="17365D"/>
            </a:solidFill>
            <a:prstDash val="solid"/>
          </a:ln>
        </p:spPr>
        <p:txBody>
          <a:bodyPr/>
          <a:lstStyle/>
          <a:p>
            <a:endParaRPr lang="en-US"/>
          </a:p>
        </p:txBody>
      </p:sp>
      <p:sp>
        <p:nvSpPr>
          <p:cNvPr id="24" name="selected">
            <a:extLst>
              <a:ext uri="{FF2B5EF4-FFF2-40B4-BE49-F238E27FC236}">
                <a16:creationId xmlns:a16="http://schemas.microsoft.com/office/drawing/2014/main" id="{3C3C8074-86DE-4774-A32C-C6E3D462FABC}"/>
              </a:ext>
            </a:extLst>
          </p:cNvPr>
          <p:cNvSpPr>
            <a:spLocks noGrp="1"/>
          </p:cNvSpPr>
          <p:nvPr/>
        </p:nvSpPr>
        <p:spPr>
          <a:xfrm>
            <a:off x="6858000" y="1943100"/>
            <a:ext cx="4457700" cy="2952750"/>
          </a:xfrm>
          <a:prstGeom prst="roundRect">
            <a:avLst>
              <a:gd name="adj" fmla="val 3871"/>
            </a:avLst>
          </a:prstGeom>
          <a:solidFill>
            <a:srgbClr val="EAF5EB"/>
          </a:solidFill>
          <a:ln w="19050">
            <a:solidFill>
              <a:srgbClr val="2E7D32"/>
            </a:solidFill>
            <a:prstDash val="solid"/>
          </a:ln>
        </p:spPr>
        <p:txBody>
          <a:bodyPr/>
          <a:lstStyle/>
          <a:p>
            <a:endParaRPr lang="en-US"/>
          </a:p>
        </p:txBody>
      </p:sp>
      <p:sp>
        <p:nvSpPr>
          <p:cNvPr id="25" name="selected-title">
            <a:extLst>
              <a:ext uri="{FF2B5EF4-FFF2-40B4-BE49-F238E27FC236}">
                <a16:creationId xmlns:a16="http://schemas.microsoft.com/office/drawing/2014/main" id="{AC980DA1-CDD6-4642-8A81-1FE1D7D4EF99}"/>
              </a:ext>
            </a:extLst>
          </p:cNvPr>
          <p:cNvSpPr>
            <a:spLocks noGrp="1"/>
          </p:cNvSpPr>
          <p:nvPr/>
        </p:nvSpPr>
        <p:spPr>
          <a:xfrm>
            <a:off x="7124700" y="2181225"/>
            <a:ext cx="3924300" cy="285750"/>
          </a:xfrm>
          <a:prstGeom prst="rect">
            <a:avLst/>
          </a:prstGeom>
          <a:noFill/>
          <a:ln w="0">
            <a:noFill/>
            <a:prstDash val="solid"/>
          </a:ln>
        </p:spPr>
        <p:txBody>
          <a:bodyPr anchor="ctr"/>
          <a:lstStyle/>
          <a:p>
            <a:pPr algn="ctr">
              <a:defRPr sz="1275" b="1">
                <a:solidFill>
                  <a:srgbClr val="2E7D32"/>
                </a:solidFill>
              </a:defRPr>
            </a:pPr>
            <a:r>
              <a:rPr sz="1275" b="1">
                <a:solidFill>
                  <a:srgbClr val="2E7D32"/>
                </a:solidFill>
              </a:rPr>
              <a:t>REPRESENTATIVE TEST CASES</a:t>
            </a:r>
          </a:p>
        </p:txBody>
      </p:sp>
      <p:sp>
        <p:nvSpPr>
          <p:cNvPr id="26" name="selected-dot-0">
            <a:extLst>
              <a:ext uri="{FF2B5EF4-FFF2-40B4-BE49-F238E27FC236}">
                <a16:creationId xmlns:a16="http://schemas.microsoft.com/office/drawing/2014/main" id="{D56DD997-6868-469F-BCAE-8F0290C4E9C0}"/>
              </a:ext>
            </a:extLst>
          </p:cNvPr>
          <p:cNvSpPr>
            <a:spLocks noGrp="1"/>
          </p:cNvSpPr>
          <p:nvPr/>
        </p:nvSpPr>
        <p:spPr>
          <a:xfrm>
            <a:off x="7200900" y="2714625"/>
            <a:ext cx="209550" cy="209550"/>
          </a:xfrm>
          <a:prstGeom prst="ellipse">
            <a:avLst/>
          </a:prstGeom>
          <a:solidFill>
            <a:srgbClr val="FFFFFF"/>
          </a:solidFill>
          <a:ln w="19050">
            <a:solidFill>
              <a:srgbClr val="C62828"/>
            </a:solidFill>
            <a:prstDash val="solid"/>
          </a:ln>
        </p:spPr>
        <p:txBody>
          <a:bodyPr/>
          <a:lstStyle/>
          <a:p>
            <a:endParaRPr lang="en-US"/>
          </a:p>
        </p:txBody>
      </p:sp>
      <p:sp>
        <p:nvSpPr>
          <p:cNvPr id="27" name="amount-0">
            <a:extLst>
              <a:ext uri="{FF2B5EF4-FFF2-40B4-BE49-F238E27FC236}">
                <a16:creationId xmlns:a16="http://schemas.microsoft.com/office/drawing/2014/main" id="{7B2379DA-5C8D-423F-B911-89E99FCE2D63}"/>
              </a:ext>
            </a:extLst>
          </p:cNvPr>
          <p:cNvSpPr>
            <a:spLocks noGrp="1"/>
          </p:cNvSpPr>
          <p:nvPr/>
        </p:nvSpPr>
        <p:spPr>
          <a:xfrm>
            <a:off x="7572375" y="2647950"/>
            <a:ext cx="1123950" cy="323850"/>
          </a:xfrm>
          <a:prstGeom prst="rect">
            <a:avLst/>
          </a:prstGeom>
          <a:noFill/>
          <a:ln w="0">
            <a:noFill/>
            <a:prstDash val="solid"/>
          </a:ln>
        </p:spPr>
        <p:txBody>
          <a:bodyPr anchor="ctr"/>
          <a:lstStyle/>
          <a:p>
            <a:pPr algn="l">
              <a:defRPr sz="1425" b="1">
                <a:solidFill>
                  <a:srgbClr val="C62828"/>
                </a:solidFill>
              </a:defRPr>
            </a:pPr>
            <a:r>
              <a:rPr sz="1425" b="1">
                <a:solidFill>
                  <a:srgbClr val="C62828"/>
                </a:solidFill>
              </a:rPr>
              <a:t>−$2,000</a:t>
            </a:r>
          </a:p>
        </p:txBody>
      </p:sp>
      <p:sp>
        <p:nvSpPr>
          <p:cNvPr id="28" name="meaning-0">
            <a:extLst>
              <a:ext uri="{FF2B5EF4-FFF2-40B4-BE49-F238E27FC236}">
                <a16:creationId xmlns:a16="http://schemas.microsoft.com/office/drawing/2014/main" id="{0A387CD7-4719-4270-A8FE-6F408E356947}"/>
              </a:ext>
            </a:extLst>
          </p:cNvPr>
          <p:cNvSpPr>
            <a:spLocks noGrp="1"/>
          </p:cNvSpPr>
          <p:nvPr/>
        </p:nvSpPr>
        <p:spPr>
          <a:xfrm>
            <a:off x="8743950" y="2647950"/>
            <a:ext cx="2143125" cy="323850"/>
          </a:xfrm>
          <a:prstGeom prst="rect">
            <a:avLst/>
          </a:prstGeom>
          <a:noFill/>
          <a:ln w="0">
            <a:noFill/>
            <a:prstDash val="solid"/>
          </a:ln>
        </p:spPr>
        <p:txBody>
          <a:bodyPr anchor="ctr"/>
          <a:lstStyle/>
          <a:p>
            <a:pPr algn="l">
              <a:defRPr sz="1350" b="0">
                <a:solidFill>
                  <a:srgbClr val="5A6573"/>
                </a:solidFill>
              </a:defRPr>
            </a:pPr>
            <a:r>
              <a:rPr sz="1350" b="0">
                <a:solidFill>
                  <a:srgbClr val="5A6573"/>
                </a:solidFill>
              </a:rPr>
              <a:t>overdraft behavior</a:t>
            </a:r>
          </a:p>
        </p:txBody>
      </p:sp>
      <p:sp>
        <p:nvSpPr>
          <p:cNvPr id="29" name="selected-dot-1">
            <a:extLst>
              <a:ext uri="{FF2B5EF4-FFF2-40B4-BE49-F238E27FC236}">
                <a16:creationId xmlns:a16="http://schemas.microsoft.com/office/drawing/2014/main" id="{366902A2-D7B8-4EAA-971E-E50D0479099D}"/>
              </a:ext>
            </a:extLst>
          </p:cNvPr>
          <p:cNvSpPr>
            <a:spLocks noGrp="1"/>
          </p:cNvSpPr>
          <p:nvPr/>
        </p:nvSpPr>
        <p:spPr>
          <a:xfrm>
            <a:off x="7200900" y="3171825"/>
            <a:ext cx="209550" cy="209550"/>
          </a:xfrm>
          <a:prstGeom prst="ellipse">
            <a:avLst/>
          </a:prstGeom>
          <a:solidFill>
            <a:srgbClr val="FFFFFF"/>
          </a:solidFill>
          <a:ln w="19050">
            <a:solidFill>
              <a:srgbClr val="17365D"/>
            </a:solidFill>
            <a:prstDash val="solid"/>
          </a:ln>
        </p:spPr>
        <p:txBody>
          <a:bodyPr/>
          <a:lstStyle/>
          <a:p>
            <a:endParaRPr lang="en-US"/>
          </a:p>
        </p:txBody>
      </p:sp>
      <p:sp>
        <p:nvSpPr>
          <p:cNvPr id="30" name="amount-1">
            <a:extLst>
              <a:ext uri="{FF2B5EF4-FFF2-40B4-BE49-F238E27FC236}">
                <a16:creationId xmlns:a16="http://schemas.microsoft.com/office/drawing/2014/main" id="{80CD2479-B3BC-422B-BEE1-901ABC3558A9}"/>
              </a:ext>
            </a:extLst>
          </p:cNvPr>
          <p:cNvSpPr>
            <a:spLocks noGrp="1"/>
          </p:cNvSpPr>
          <p:nvPr/>
        </p:nvSpPr>
        <p:spPr>
          <a:xfrm>
            <a:off x="7572375" y="3105150"/>
            <a:ext cx="1123950" cy="323850"/>
          </a:xfrm>
          <a:prstGeom prst="rect">
            <a:avLst/>
          </a:prstGeom>
          <a:noFill/>
          <a:ln w="0">
            <a:noFill/>
            <a:prstDash val="solid"/>
          </a:ln>
        </p:spPr>
        <p:txBody>
          <a:bodyPr anchor="ctr"/>
          <a:lstStyle/>
          <a:p>
            <a:pPr algn="l">
              <a:defRPr sz="1425" b="1">
                <a:solidFill>
                  <a:srgbClr val="17365D"/>
                </a:solidFill>
              </a:defRPr>
            </a:pPr>
            <a:r>
              <a:rPr sz="1425" b="1">
                <a:solidFill>
                  <a:srgbClr val="17365D"/>
                </a:solidFill>
              </a:rPr>
              <a:t>$2,500</a:t>
            </a:r>
          </a:p>
        </p:txBody>
      </p:sp>
      <p:sp>
        <p:nvSpPr>
          <p:cNvPr id="31" name="meaning-1">
            <a:extLst>
              <a:ext uri="{FF2B5EF4-FFF2-40B4-BE49-F238E27FC236}">
                <a16:creationId xmlns:a16="http://schemas.microsoft.com/office/drawing/2014/main" id="{547C0754-981D-42BC-84BF-23F88AFC5AB4}"/>
              </a:ext>
            </a:extLst>
          </p:cNvPr>
          <p:cNvSpPr>
            <a:spLocks noGrp="1"/>
          </p:cNvSpPr>
          <p:nvPr/>
        </p:nvSpPr>
        <p:spPr>
          <a:xfrm>
            <a:off x="8743950" y="3105150"/>
            <a:ext cx="2143125" cy="323850"/>
          </a:xfrm>
          <a:prstGeom prst="rect">
            <a:avLst/>
          </a:prstGeom>
          <a:noFill/>
          <a:ln w="0">
            <a:noFill/>
            <a:prstDash val="solid"/>
          </a:ln>
        </p:spPr>
        <p:txBody>
          <a:bodyPr anchor="ctr"/>
          <a:lstStyle/>
          <a:p>
            <a:pPr algn="l">
              <a:defRPr sz="1350" b="0">
                <a:solidFill>
                  <a:srgbClr val="5A6573"/>
                </a:solidFill>
              </a:defRPr>
            </a:pPr>
            <a:r>
              <a:rPr sz="1350" b="0">
                <a:solidFill>
                  <a:srgbClr val="5A6573"/>
                </a:solidFill>
              </a:rPr>
              <a:t>first interest tier</a:t>
            </a:r>
          </a:p>
        </p:txBody>
      </p:sp>
      <p:sp>
        <p:nvSpPr>
          <p:cNvPr id="32" name="selected-dot-2">
            <a:extLst>
              <a:ext uri="{FF2B5EF4-FFF2-40B4-BE49-F238E27FC236}">
                <a16:creationId xmlns:a16="http://schemas.microsoft.com/office/drawing/2014/main" id="{BDACC7A0-954A-44AA-AD2F-B75D44353957}"/>
              </a:ext>
            </a:extLst>
          </p:cNvPr>
          <p:cNvSpPr>
            <a:spLocks noGrp="1"/>
          </p:cNvSpPr>
          <p:nvPr/>
        </p:nvSpPr>
        <p:spPr>
          <a:xfrm>
            <a:off x="7200900" y="3629025"/>
            <a:ext cx="209550" cy="209550"/>
          </a:xfrm>
          <a:prstGeom prst="ellipse">
            <a:avLst/>
          </a:prstGeom>
          <a:solidFill>
            <a:srgbClr val="FFFFFF"/>
          </a:solidFill>
          <a:ln w="19050">
            <a:solidFill>
              <a:srgbClr val="2E7D32"/>
            </a:solidFill>
            <a:prstDash val="solid"/>
          </a:ln>
        </p:spPr>
        <p:txBody>
          <a:bodyPr/>
          <a:lstStyle/>
          <a:p>
            <a:endParaRPr lang="en-US"/>
          </a:p>
        </p:txBody>
      </p:sp>
      <p:sp>
        <p:nvSpPr>
          <p:cNvPr id="33" name="amount-2">
            <a:extLst>
              <a:ext uri="{FF2B5EF4-FFF2-40B4-BE49-F238E27FC236}">
                <a16:creationId xmlns:a16="http://schemas.microsoft.com/office/drawing/2014/main" id="{023C8E32-408E-4019-8A45-1CF01BFE13C6}"/>
              </a:ext>
            </a:extLst>
          </p:cNvPr>
          <p:cNvSpPr>
            <a:spLocks noGrp="1"/>
          </p:cNvSpPr>
          <p:nvPr/>
        </p:nvSpPr>
        <p:spPr>
          <a:xfrm>
            <a:off x="7572375" y="3562350"/>
            <a:ext cx="1123950" cy="323850"/>
          </a:xfrm>
          <a:prstGeom prst="rect">
            <a:avLst/>
          </a:prstGeom>
          <a:noFill/>
          <a:ln w="0">
            <a:noFill/>
            <a:prstDash val="solid"/>
          </a:ln>
        </p:spPr>
        <p:txBody>
          <a:bodyPr anchor="ctr"/>
          <a:lstStyle/>
          <a:p>
            <a:pPr algn="l">
              <a:defRPr sz="1425" b="1">
                <a:solidFill>
                  <a:srgbClr val="2E7D32"/>
                </a:solidFill>
              </a:defRPr>
            </a:pPr>
            <a:r>
              <a:rPr sz="1425" b="1">
                <a:solidFill>
                  <a:srgbClr val="2E7D32"/>
                </a:solidFill>
              </a:rPr>
              <a:t>$7,500</a:t>
            </a:r>
          </a:p>
        </p:txBody>
      </p:sp>
      <p:sp>
        <p:nvSpPr>
          <p:cNvPr id="34" name="meaning-2">
            <a:extLst>
              <a:ext uri="{FF2B5EF4-FFF2-40B4-BE49-F238E27FC236}">
                <a16:creationId xmlns:a16="http://schemas.microsoft.com/office/drawing/2014/main" id="{797C1F40-B1F1-4630-A645-71E4B31A6385}"/>
              </a:ext>
            </a:extLst>
          </p:cNvPr>
          <p:cNvSpPr>
            <a:spLocks noGrp="1"/>
          </p:cNvSpPr>
          <p:nvPr/>
        </p:nvSpPr>
        <p:spPr>
          <a:xfrm>
            <a:off x="8743950" y="3562350"/>
            <a:ext cx="2143125" cy="323850"/>
          </a:xfrm>
          <a:prstGeom prst="rect">
            <a:avLst/>
          </a:prstGeom>
          <a:noFill/>
          <a:ln w="0">
            <a:noFill/>
            <a:prstDash val="solid"/>
          </a:ln>
        </p:spPr>
        <p:txBody>
          <a:bodyPr anchor="ctr"/>
          <a:lstStyle/>
          <a:p>
            <a:pPr algn="l">
              <a:defRPr sz="1350" b="0">
                <a:solidFill>
                  <a:srgbClr val="5A6573"/>
                </a:solidFill>
              </a:defRPr>
            </a:pPr>
            <a:r>
              <a:rPr sz="1350" b="0">
                <a:solidFill>
                  <a:srgbClr val="5A6573"/>
                </a:solidFill>
              </a:rPr>
              <a:t>second interest tier</a:t>
            </a:r>
          </a:p>
        </p:txBody>
      </p:sp>
      <p:sp>
        <p:nvSpPr>
          <p:cNvPr id="35" name="selected-dot-3">
            <a:extLst>
              <a:ext uri="{FF2B5EF4-FFF2-40B4-BE49-F238E27FC236}">
                <a16:creationId xmlns:a16="http://schemas.microsoft.com/office/drawing/2014/main" id="{7BAC9BED-627D-4CC3-9FF8-8B9F2507C8B1}"/>
              </a:ext>
            </a:extLst>
          </p:cNvPr>
          <p:cNvSpPr>
            <a:spLocks noGrp="1"/>
          </p:cNvSpPr>
          <p:nvPr/>
        </p:nvSpPr>
        <p:spPr>
          <a:xfrm>
            <a:off x="7200900" y="4086225"/>
            <a:ext cx="209550" cy="209550"/>
          </a:xfrm>
          <a:prstGeom prst="ellipse">
            <a:avLst/>
          </a:prstGeom>
          <a:solidFill>
            <a:srgbClr val="FFFFFF"/>
          </a:solidFill>
          <a:ln w="19050">
            <a:solidFill>
              <a:srgbClr val="B26A00"/>
            </a:solidFill>
            <a:prstDash val="solid"/>
          </a:ln>
        </p:spPr>
        <p:txBody>
          <a:bodyPr/>
          <a:lstStyle/>
          <a:p>
            <a:endParaRPr lang="en-US"/>
          </a:p>
        </p:txBody>
      </p:sp>
      <p:sp>
        <p:nvSpPr>
          <p:cNvPr id="36" name="amount-3">
            <a:extLst>
              <a:ext uri="{FF2B5EF4-FFF2-40B4-BE49-F238E27FC236}">
                <a16:creationId xmlns:a16="http://schemas.microsoft.com/office/drawing/2014/main" id="{38252AF2-4914-4ED1-BC81-DBC05E9FA529}"/>
              </a:ext>
            </a:extLst>
          </p:cNvPr>
          <p:cNvSpPr>
            <a:spLocks noGrp="1"/>
          </p:cNvSpPr>
          <p:nvPr/>
        </p:nvSpPr>
        <p:spPr>
          <a:xfrm>
            <a:off x="7572375" y="4019550"/>
            <a:ext cx="1123950" cy="323850"/>
          </a:xfrm>
          <a:prstGeom prst="rect">
            <a:avLst/>
          </a:prstGeom>
          <a:noFill/>
          <a:ln w="0">
            <a:noFill/>
            <a:prstDash val="solid"/>
          </a:ln>
        </p:spPr>
        <p:txBody>
          <a:bodyPr anchor="ctr"/>
          <a:lstStyle/>
          <a:p>
            <a:pPr algn="l">
              <a:defRPr sz="1425" b="1">
                <a:solidFill>
                  <a:srgbClr val="B26A00"/>
                </a:solidFill>
              </a:defRPr>
            </a:pPr>
            <a:r>
              <a:rPr sz="1425" b="1">
                <a:solidFill>
                  <a:srgbClr val="B26A00"/>
                </a:solidFill>
              </a:rPr>
              <a:t>$15,000</a:t>
            </a:r>
          </a:p>
        </p:txBody>
      </p:sp>
      <p:sp>
        <p:nvSpPr>
          <p:cNvPr id="37" name="meaning-3">
            <a:extLst>
              <a:ext uri="{FF2B5EF4-FFF2-40B4-BE49-F238E27FC236}">
                <a16:creationId xmlns:a16="http://schemas.microsoft.com/office/drawing/2014/main" id="{A02876BA-34D5-4188-8F9B-58936991ACDA}"/>
              </a:ext>
            </a:extLst>
          </p:cNvPr>
          <p:cNvSpPr>
            <a:spLocks noGrp="1"/>
          </p:cNvSpPr>
          <p:nvPr/>
        </p:nvSpPr>
        <p:spPr>
          <a:xfrm>
            <a:off x="8743950" y="4019550"/>
            <a:ext cx="2143125" cy="323850"/>
          </a:xfrm>
          <a:prstGeom prst="rect">
            <a:avLst/>
          </a:prstGeom>
          <a:noFill/>
          <a:ln w="0">
            <a:noFill/>
            <a:prstDash val="solid"/>
          </a:ln>
        </p:spPr>
        <p:txBody>
          <a:bodyPr anchor="ctr"/>
          <a:lstStyle/>
          <a:p>
            <a:pPr algn="l">
              <a:defRPr sz="1350" b="0">
                <a:solidFill>
                  <a:srgbClr val="5A6573"/>
                </a:solidFill>
              </a:defRPr>
            </a:pPr>
            <a:r>
              <a:rPr sz="1350" b="0">
                <a:solidFill>
                  <a:srgbClr val="5A6573"/>
                </a:solidFill>
              </a:rPr>
              <a:t>highest interest tier</a:t>
            </a:r>
          </a:p>
        </p:txBody>
      </p:sp>
      <p:sp>
        <p:nvSpPr>
          <p:cNvPr id="38" name="selected-note">
            <a:extLst>
              <a:ext uri="{FF2B5EF4-FFF2-40B4-BE49-F238E27FC236}">
                <a16:creationId xmlns:a16="http://schemas.microsoft.com/office/drawing/2014/main" id="{0A49F863-09F5-4AA7-A67D-35BEA21752B3}"/>
              </a:ext>
            </a:extLst>
          </p:cNvPr>
          <p:cNvSpPr>
            <a:spLocks noGrp="1"/>
          </p:cNvSpPr>
          <p:nvPr/>
        </p:nvSpPr>
        <p:spPr>
          <a:xfrm>
            <a:off x="7239000" y="4457700"/>
            <a:ext cx="3695700" cy="266700"/>
          </a:xfrm>
          <a:prstGeom prst="rect">
            <a:avLst/>
          </a:prstGeom>
          <a:noFill/>
          <a:ln w="0">
            <a:noFill/>
            <a:prstDash val="solid"/>
          </a:ln>
        </p:spPr>
        <p:txBody>
          <a:bodyPr anchor="ctr"/>
          <a:lstStyle/>
          <a:p>
            <a:pPr algn="ctr">
              <a:defRPr sz="1200" b="1">
                <a:solidFill>
                  <a:srgbClr val="2E7D32"/>
                </a:solidFill>
              </a:defRPr>
            </a:pPr>
            <a:r>
              <a:rPr sz="1200" b="1">
                <a:solidFill>
                  <a:srgbClr val="2E7D32"/>
                </a:solidFill>
              </a:rPr>
              <a:t>A manageable starting set—not random samples</a:t>
            </a:r>
          </a:p>
        </p:txBody>
      </p:sp>
      <p:sp>
        <p:nvSpPr>
          <p:cNvPr id="39" name="methods">
            <a:extLst>
              <a:ext uri="{FF2B5EF4-FFF2-40B4-BE49-F238E27FC236}">
                <a16:creationId xmlns:a16="http://schemas.microsoft.com/office/drawing/2014/main" id="{3D19C40B-D640-43AF-8E32-B49F3357FAC4}"/>
              </a:ext>
            </a:extLst>
          </p:cNvPr>
          <p:cNvSpPr>
            <a:spLocks noGrp="1"/>
          </p:cNvSpPr>
          <p:nvPr/>
        </p:nvSpPr>
        <p:spPr>
          <a:xfrm>
            <a:off x="876300" y="5219700"/>
            <a:ext cx="10439400" cy="914400"/>
          </a:xfrm>
          <a:prstGeom prst="roundRect">
            <a:avLst>
              <a:gd name="adj" fmla="val 8333"/>
            </a:avLst>
          </a:prstGeom>
          <a:solidFill>
            <a:srgbClr val="FFFFFF"/>
          </a:solidFill>
          <a:ln w="19050">
            <a:solidFill>
              <a:srgbClr val="D6DEE8"/>
            </a:solidFill>
            <a:prstDash val="solid"/>
          </a:ln>
        </p:spPr>
        <p:txBody>
          <a:bodyPr/>
          <a:lstStyle/>
          <a:p>
            <a:endParaRPr lang="en-US"/>
          </a:p>
        </p:txBody>
      </p:sp>
      <p:sp>
        <p:nvSpPr>
          <p:cNvPr id="40" name="partition">
            <a:extLst>
              <a:ext uri="{FF2B5EF4-FFF2-40B4-BE49-F238E27FC236}">
                <a16:creationId xmlns:a16="http://schemas.microsoft.com/office/drawing/2014/main" id="{FC1A3793-4024-4AF3-BB0C-BE620C753ADF}"/>
              </a:ext>
            </a:extLst>
          </p:cNvPr>
          <p:cNvSpPr>
            <a:spLocks noGrp="1"/>
          </p:cNvSpPr>
          <p:nvPr/>
        </p:nvSpPr>
        <p:spPr>
          <a:xfrm>
            <a:off x="1162050" y="5353050"/>
            <a:ext cx="2571750" cy="266700"/>
          </a:xfrm>
          <a:prstGeom prst="rect">
            <a:avLst/>
          </a:prstGeom>
          <a:noFill/>
          <a:ln w="0">
            <a:noFill/>
            <a:prstDash val="solid"/>
          </a:ln>
        </p:spPr>
        <p:txBody>
          <a:bodyPr anchor="ctr"/>
          <a:lstStyle/>
          <a:p>
            <a:pPr algn="l">
              <a:defRPr sz="1575" b="1">
                <a:solidFill>
                  <a:srgbClr val="17365D"/>
                </a:solidFill>
              </a:defRPr>
            </a:pPr>
            <a:r>
              <a:rPr sz="1575" b="1">
                <a:solidFill>
                  <a:srgbClr val="17365D"/>
                </a:solidFill>
              </a:rPr>
              <a:t>Equivalence partitioning</a:t>
            </a:r>
          </a:p>
        </p:txBody>
      </p:sp>
      <p:sp>
        <p:nvSpPr>
          <p:cNvPr id="41" name="partition-detail">
            <a:extLst>
              <a:ext uri="{FF2B5EF4-FFF2-40B4-BE49-F238E27FC236}">
                <a16:creationId xmlns:a16="http://schemas.microsoft.com/office/drawing/2014/main" id="{8BD1D062-A578-49DD-AC78-C43596EF27AA}"/>
              </a:ext>
            </a:extLst>
          </p:cNvPr>
          <p:cNvSpPr>
            <a:spLocks noGrp="1"/>
          </p:cNvSpPr>
          <p:nvPr/>
        </p:nvSpPr>
        <p:spPr>
          <a:xfrm>
            <a:off x="1162050" y="5676900"/>
            <a:ext cx="4095750" cy="247650"/>
          </a:xfrm>
          <a:prstGeom prst="rect">
            <a:avLst/>
          </a:prstGeom>
          <a:noFill/>
          <a:ln w="0">
            <a:noFill/>
            <a:prstDash val="solid"/>
          </a:ln>
        </p:spPr>
        <p:txBody>
          <a:bodyPr anchor="ctr"/>
          <a:lstStyle/>
          <a:p>
            <a:pPr algn="l">
              <a:defRPr sz="1275" b="0">
                <a:solidFill>
                  <a:srgbClr val="5A6573"/>
                </a:solidFill>
              </a:defRPr>
            </a:pPr>
            <a:r>
              <a:rPr sz="1275" b="0">
                <a:solidFill>
                  <a:srgbClr val="5A6573"/>
                </a:solidFill>
              </a:rPr>
              <a:t>Choose values from behaviors that should differ.</a:t>
            </a:r>
          </a:p>
        </p:txBody>
      </p:sp>
      <p:sp>
        <p:nvSpPr>
          <p:cNvPr id="42" name="method-divider">
            <a:extLst>
              <a:ext uri="{FF2B5EF4-FFF2-40B4-BE49-F238E27FC236}">
                <a16:creationId xmlns:a16="http://schemas.microsoft.com/office/drawing/2014/main" id="{195EA548-3404-4C83-96E1-97D16247B975}"/>
              </a:ext>
            </a:extLst>
          </p:cNvPr>
          <p:cNvSpPr>
            <a:spLocks noGrp="1"/>
          </p:cNvSpPr>
          <p:nvPr/>
        </p:nvSpPr>
        <p:spPr>
          <a:xfrm>
            <a:off x="5953125" y="5372100"/>
            <a:ext cx="19050" cy="590550"/>
          </a:xfrm>
          <a:prstGeom prst="rect">
            <a:avLst/>
          </a:prstGeom>
          <a:solidFill>
            <a:srgbClr val="D6DEE8"/>
          </a:solidFill>
          <a:ln w="0">
            <a:solidFill>
              <a:srgbClr val="D6DEE8"/>
            </a:solidFill>
            <a:prstDash val="solid"/>
          </a:ln>
        </p:spPr>
        <p:txBody>
          <a:bodyPr/>
          <a:lstStyle/>
          <a:p>
            <a:endParaRPr lang="en-US"/>
          </a:p>
        </p:txBody>
      </p:sp>
      <p:sp>
        <p:nvSpPr>
          <p:cNvPr id="43" name="boundary">
            <a:extLst>
              <a:ext uri="{FF2B5EF4-FFF2-40B4-BE49-F238E27FC236}">
                <a16:creationId xmlns:a16="http://schemas.microsoft.com/office/drawing/2014/main" id="{AAF2F870-7802-4D87-8846-81FC7BF0AB03}"/>
              </a:ext>
            </a:extLst>
          </p:cNvPr>
          <p:cNvSpPr>
            <a:spLocks noGrp="1"/>
          </p:cNvSpPr>
          <p:nvPr/>
        </p:nvSpPr>
        <p:spPr>
          <a:xfrm>
            <a:off x="6305550" y="5353050"/>
            <a:ext cx="2571750" cy="266700"/>
          </a:xfrm>
          <a:prstGeom prst="rect">
            <a:avLst/>
          </a:prstGeom>
          <a:noFill/>
          <a:ln w="0">
            <a:noFill/>
            <a:prstDash val="solid"/>
          </a:ln>
        </p:spPr>
        <p:txBody>
          <a:bodyPr anchor="ctr"/>
          <a:lstStyle/>
          <a:p>
            <a:pPr algn="l">
              <a:defRPr sz="1575" b="1">
                <a:solidFill>
                  <a:srgbClr val="2E7D32"/>
                </a:solidFill>
              </a:defRPr>
            </a:pPr>
            <a:r>
              <a:rPr sz="1575" b="1">
                <a:solidFill>
                  <a:srgbClr val="2E7D32"/>
                </a:solidFill>
              </a:rPr>
              <a:t>Boundary-value analysis</a:t>
            </a:r>
          </a:p>
        </p:txBody>
      </p:sp>
      <p:sp>
        <p:nvSpPr>
          <p:cNvPr id="44" name="boundary-detail">
            <a:extLst>
              <a:ext uri="{FF2B5EF4-FFF2-40B4-BE49-F238E27FC236}">
                <a16:creationId xmlns:a16="http://schemas.microsoft.com/office/drawing/2014/main" id="{71FC7DCA-09E8-4B2F-8925-9D8148A8A586}"/>
              </a:ext>
            </a:extLst>
          </p:cNvPr>
          <p:cNvSpPr>
            <a:spLocks noGrp="1"/>
          </p:cNvSpPr>
          <p:nvPr/>
        </p:nvSpPr>
        <p:spPr>
          <a:xfrm>
            <a:off x="6305550" y="5676900"/>
            <a:ext cx="4095750" cy="247650"/>
          </a:xfrm>
          <a:prstGeom prst="rect">
            <a:avLst/>
          </a:prstGeom>
          <a:noFill/>
          <a:ln w="0">
            <a:noFill/>
            <a:prstDash val="solid"/>
          </a:ln>
        </p:spPr>
        <p:txBody>
          <a:bodyPr anchor="ctr"/>
          <a:lstStyle/>
          <a:p>
            <a:pPr algn="l">
              <a:defRPr sz="1275" b="0">
                <a:solidFill>
                  <a:srgbClr val="5A6573"/>
                </a:solidFill>
              </a:defRPr>
            </a:pPr>
            <a:r>
              <a:rPr sz="1275" b="0">
                <a:solidFill>
                  <a:srgbClr val="5A6573"/>
                </a:solidFill>
              </a:rPr>
              <a:t>Then test values near each rule change.</a:t>
            </a:r>
          </a:p>
        </p:txBody>
      </p:sp>
    </p:spTree>
    <p:extLst>
      <p:ext uri="{BB962C8B-B14F-4D97-AF65-F5344CB8AC3E}">
        <p14:creationId xmlns:p14="http://schemas.microsoft.com/office/powerpoint/2010/main" val="1970803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50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50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50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500"/>
                                        <p:tgtEl>
                                          <p:spTgt spid="38"/>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39"/>
                                        </p:tgtEl>
                                        <p:attrNameLst>
                                          <p:attrName>style.visibility</p:attrName>
                                        </p:attrNameLst>
                                      </p:cBhvr>
                                      <p:to>
                                        <p:strVal val="visible"/>
                                      </p:to>
                                    </p:set>
                                    <p:animEffect transition="in" filter="fade">
                                      <p:cBhvr>
                                        <p:cTn id="116" dur="500"/>
                                        <p:tgtEl>
                                          <p:spTgt spid="39"/>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0"/>
                                        </p:tgtEl>
                                        <p:attrNameLst>
                                          <p:attrName>style.visibility</p:attrName>
                                        </p:attrNameLst>
                                      </p:cBhvr>
                                      <p:to>
                                        <p:strVal val="visible"/>
                                      </p:to>
                                    </p:set>
                                    <p:animEffect transition="in" filter="fade">
                                      <p:cBhvr>
                                        <p:cTn id="119" dur="500"/>
                                        <p:tgtEl>
                                          <p:spTgt spid="40"/>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1"/>
                                        </p:tgtEl>
                                        <p:attrNameLst>
                                          <p:attrName>style.visibility</p:attrName>
                                        </p:attrNameLst>
                                      </p:cBhvr>
                                      <p:to>
                                        <p:strVal val="visible"/>
                                      </p:to>
                                    </p:set>
                                    <p:animEffect transition="in" filter="fade">
                                      <p:cBhvr>
                                        <p:cTn id="122" dur="500"/>
                                        <p:tgtEl>
                                          <p:spTgt spid="41"/>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500"/>
                                        <p:tgtEl>
                                          <p:spTgt spid="42"/>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fade">
                                      <p:cBhvr>
                                        <p:cTn id="128" dur="500"/>
                                        <p:tgtEl>
                                          <p:spTgt spid="43"/>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4"/>
                                        </p:tgtEl>
                                        <p:attrNameLst>
                                          <p:attrName>style.visibility</p:attrName>
                                        </p:attrNameLst>
                                      </p:cBhvr>
                                      <p:to>
                                        <p:strVal val="visible"/>
                                      </p:to>
                                    </p:set>
                                    <p:animEffect transition="in" filter="fade">
                                      <p:cBhvr>
                                        <p:cTn id="131"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p:bldP spid="19" grpId="0"/>
      <p:bldP spid="20" grpId="0"/>
      <p:bldP spid="21" grpId="0"/>
      <p:bldP spid="22" grpId="0"/>
      <p:bldP spid="23" grpId="0" animBg="1"/>
      <p:bldP spid="24" grpId="0" animBg="1"/>
      <p:bldP spid="25" grpId="0"/>
      <p:bldP spid="26" grpId="0" animBg="1"/>
      <p:bldP spid="27" grpId="0"/>
      <p:bldP spid="28" grpId="0"/>
      <p:bldP spid="29" grpId="0" animBg="1"/>
      <p:bldP spid="30" grpId="0"/>
      <p:bldP spid="31" grpId="0"/>
      <p:bldP spid="32" grpId="0" animBg="1"/>
      <p:bldP spid="33" grpId="0"/>
      <p:bldP spid="34" grpId="0"/>
      <p:bldP spid="35" grpId="0" animBg="1"/>
      <p:bldP spid="36" grpId="0"/>
      <p:bldP spid="37" grpId="0"/>
      <p:bldP spid="38" grpId="0"/>
      <p:bldP spid="39" grpId="0" animBg="1"/>
      <p:bldP spid="40" grpId="0"/>
      <p:bldP spid="41" grpId="0"/>
      <p:bldP spid="42" grpId="0" animBg="1"/>
      <p:bldP spid="43" grpId="0"/>
      <p:bldP spid="4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a:extLst>
              <a:ext uri="{FF2B5EF4-FFF2-40B4-BE49-F238E27FC236}">
                <a16:creationId xmlns:a16="http://schemas.microsoft.com/office/drawing/2014/main" id="{2A373CBC-79DF-4970-946F-1C5A81CBCD12}"/>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11111"/>
                </a:solidFill>
              </a:defRPr>
            </a:pPr>
            <a:r>
              <a:rPr sz="3000" b="0">
                <a:solidFill>
                  <a:srgbClr val="111111"/>
                </a:solidFill>
              </a:rPr>
              <a:t>Equivalence partitioning samples each behavior class</a:t>
            </a:r>
          </a:p>
        </p:txBody>
      </p:sp>
      <p:sp>
        <p:nvSpPr>
          <p:cNvPr id="2" name="title-rule">
            <a:extLst>
              <a:ext uri="{FF2B5EF4-FFF2-40B4-BE49-F238E27FC236}">
                <a16:creationId xmlns:a16="http://schemas.microsoft.com/office/drawing/2014/main" id="{791BD2A3-B334-4C1E-956F-E3DE542437FA}"/>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setup">
            <a:extLst>
              <a:ext uri="{FF2B5EF4-FFF2-40B4-BE49-F238E27FC236}">
                <a16:creationId xmlns:a16="http://schemas.microsoft.com/office/drawing/2014/main" id="{3FDF73DD-F644-4A73-A7A2-E9788210F916}"/>
              </a:ext>
            </a:extLst>
          </p:cNvPr>
          <p:cNvSpPr>
            <a:spLocks noGrp="1"/>
          </p:cNvSpPr>
          <p:nvPr/>
        </p:nvSpPr>
        <p:spPr>
          <a:xfrm>
            <a:off x="895350" y="1381125"/>
            <a:ext cx="10401300" cy="400050"/>
          </a:xfrm>
          <a:prstGeom prst="rect">
            <a:avLst/>
          </a:prstGeom>
          <a:noFill/>
          <a:ln w="0">
            <a:noFill/>
            <a:prstDash val="solid"/>
          </a:ln>
        </p:spPr>
        <p:txBody>
          <a:bodyPr anchor="ctr"/>
          <a:lstStyle/>
          <a:p>
            <a:pPr algn="ctr">
              <a:defRPr sz="1800" b="0">
                <a:solidFill>
                  <a:srgbClr val="5A6573"/>
                </a:solidFill>
              </a:defRPr>
            </a:pPr>
            <a:r>
              <a:rPr sz="1800" b="0">
                <a:solidFill>
                  <a:srgbClr val="5A6573"/>
                </a:solidFill>
              </a:rPr>
              <a:t>Example: a bank applies different interest rules to different account balances.</a:t>
            </a:r>
          </a:p>
        </p:txBody>
      </p:sp>
      <p:sp>
        <p:nvSpPr>
          <p:cNvPr id="4" name="overdraft">
            <a:extLst>
              <a:ext uri="{FF2B5EF4-FFF2-40B4-BE49-F238E27FC236}">
                <a16:creationId xmlns:a16="http://schemas.microsoft.com/office/drawing/2014/main" id="{D9AE1117-50DB-4203-BEE6-1A699A364253}"/>
              </a:ext>
            </a:extLst>
          </p:cNvPr>
          <p:cNvSpPr>
            <a:spLocks noGrp="1"/>
          </p:cNvSpPr>
          <p:nvPr/>
        </p:nvSpPr>
        <p:spPr>
          <a:xfrm>
            <a:off x="952500" y="2714625"/>
            <a:ext cx="2190750" cy="1066800"/>
          </a:xfrm>
          <a:prstGeom prst="roundRect">
            <a:avLst>
              <a:gd name="adj" fmla="val 7143"/>
            </a:avLst>
          </a:prstGeom>
          <a:solidFill>
            <a:srgbClr val="FCEBEC"/>
          </a:solidFill>
          <a:ln w="19050">
            <a:solidFill>
              <a:srgbClr val="C62828"/>
            </a:solidFill>
            <a:prstDash val="solid"/>
          </a:ln>
        </p:spPr>
        <p:txBody>
          <a:bodyPr/>
          <a:lstStyle/>
          <a:p>
            <a:endParaRPr lang="en-US"/>
          </a:p>
        </p:txBody>
      </p:sp>
      <p:sp>
        <p:nvSpPr>
          <p:cNvPr id="5" name="overdraft-label">
            <a:extLst>
              <a:ext uri="{FF2B5EF4-FFF2-40B4-BE49-F238E27FC236}">
                <a16:creationId xmlns:a16="http://schemas.microsoft.com/office/drawing/2014/main" id="{1E7591E8-1700-45FA-AA12-DE92A9F1D37C}"/>
              </a:ext>
            </a:extLst>
          </p:cNvPr>
          <p:cNvSpPr>
            <a:spLocks noGrp="1"/>
          </p:cNvSpPr>
          <p:nvPr/>
        </p:nvSpPr>
        <p:spPr>
          <a:xfrm>
            <a:off x="1028700" y="2838450"/>
            <a:ext cx="2038350" cy="32385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Balance &lt; $0</a:t>
            </a:r>
          </a:p>
        </p:txBody>
      </p:sp>
      <p:sp>
        <p:nvSpPr>
          <p:cNvPr id="6" name="overdraft-sub">
            <a:extLst>
              <a:ext uri="{FF2B5EF4-FFF2-40B4-BE49-F238E27FC236}">
                <a16:creationId xmlns:a16="http://schemas.microsoft.com/office/drawing/2014/main" id="{2EF44B6B-4F5B-4DC9-826C-F95C04ADAF53}"/>
              </a:ext>
            </a:extLst>
          </p:cNvPr>
          <p:cNvSpPr>
            <a:spLocks noGrp="1"/>
          </p:cNvSpPr>
          <p:nvPr/>
        </p:nvSpPr>
        <p:spPr>
          <a:xfrm>
            <a:off x="1028700" y="3257550"/>
            <a:ext cx="2038350" cy="32385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4% overdraft penalty</a:t>
            </a:r>
          </a:p>
        </p:txBody>
      </p:sp>
      <p:sp>
        <p:nvSpPr>
          <p:cNvPr id="7" name="tier1">
            <a:extLst>
              <a:ext uri="{FF2B5EF4-FFF2-40B4-BE49-F238E27FC236}">
                <a16:creationId xmlns:a16="http://schemas.microsoft.com/office/drawing/2014/main" id="{604A075B-CC4D-4CB1-A1E8-32DE7185BA29}"/>
              </a:ext>
            </a:extLst>
          </p:cNvPr>
          <p:cNvSpPr>
            <a:spLocks noGrp="1"/>
          </p:cNvSpPr>
          <p:nvPr/>
        </p:nvSpPr>
        <p:spPr>
          <a:xfrm>
            <a:off x="3143250" y="2714625"/>
            <a:ext cx="2333625" cy="1066800"/>
          </a:xfrm>
          <a:prstGeom prst="roundRect">
            <a:avLst>
              <a:gd name="adj" fmla="val 7143"/>
            </a:avLst>
          </a:prstGeom>
          <a:solidFill>
            <a:srgbClr val="F5F8FC"/>
          </a:solidFill>
          <a:ln w="19050">
            <a:solidFill>
              <a:srgbClr val="17365D"/>
            </a:solidFill>
            <a:prstDash val="solid"/>
          </a:ln>
        </p:spPr>
        <p:txBody>
          <a:bodyPr/>
          <a:lstStyle/>
          <a:p>
            <a:endParaRPr lang="en-US"/>
          </a:p>
        </p:txBody>
      </p:sp>
      <p:sp>
        <p:nvSpPr>
          <p:cNvPr id="8" name="tier1-label">
            <a:extLst>
              <a:ext uri="{FF2B5EF4-FFF2-40B4-BE49-F238E27FC236}">
                <a16:creationId xmlns:a16="http://schemas.microsoft.com/office/drawing/2014/main" id="{0104192B-766A-45D7-861C-8A8C5E30D19F}"/>
              </a:ext>
            </a:extLst>
          </p:cNvPr>
          <p:cNvSpPr>
            <a:spLocks noGrp="1"/>
          </p:cNvSpPr>
          <p:nvPr/>
        </p:nvSpPr>
        <p:spPr>
          <a:xfrm>
            <a:off x="3219450" y="2838450"/>
            <a:ext cx="2181225" cy="32385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$0–$5,000</a:t>
            </a:r>
          </a:p>
        </p:txBody>
      </p:sp>
      <p:sp>
        <p:nvSpPr>
          <p:cNvPr id="9" name="tier1-sub">
            <a:extLst>
              <a:ext uri="{FF2B5EF4-FFF2-40B4-BE49-F238E27FC236}">
                <a16:creationId xmlns:a16="http://schemas.microsoft.com/office/drawing/2014/main" id="{332BE51B-9816-416A-9A57-5C1B3AF5A8DE}"/>
              </a:ext>
            </a:extLst>
          </p:cNvPr>
          <p:cNvSpPr>
            <a:spLocks noGrp="1"/>
          </p:cNvSpPr>
          <p:nvPr/>
        </p:nvSpPr>
        <p:spPr>
          <a:xfrm>
            <a:off x="3219450" y="3257550"/>
            <a:ext cx="2181225" cy="32385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0.5% interest</a:t>
            </a:r>
          </a:p>
        </p:txBody>
      </p:sp>
      <p:sp>
        <p:nvSpPr>
          <p:cNvPr id="10" name="tier2">
            <a:extLst>
              <a:ext uri="{FF2B5EF4-FFF2-40B4-BE49-F238E27FC236}">
                <a16:creationId xmlns:a16="http://schemas.microsoft.com/office/drawing/2014/main" id="{59D7E906-295F-4BCD-A74D-D5E8B4709207}"/>
              </a:ext>
            </a:extLst>
          </p:cNvPr>
          <p:cNvSpPr>
            <a:spLocks noGrp="1"/>
          </p:cNvSpPr>
          <p:nvPr/>
        </p:nvSpPr>
        <p:spPr>
          <a:xfrm>
            <a:off x="5476875" y="2714625"/>
            <a:ext cx="2333625" cy="1066800"/>
          </a:xfrm>
          <a:prstGeom prst="roundRect">
            <a:avLst>
              <a:gd name="adj" fmla="val 7143"/>
            </a:avLst>
          </a:prstGeom>
          <a:solidFill>
            <a:srgbClr val="EAF5EB"/>
          </a:solidFill>
          <a:ln w="19050">
            <a:solidFill>
              <a:srgbClr val="2E7D32"/>
            </a:solidFill>
            <a:prstDash val="solid"/>
          </a:ln>
        </p:spPr>
        <p:txBody>
          <a:bodyPr/>
          <a:lstStyle/>
          <a:p>
            <a:endParaRPr lang="en-US"/>
          </a:p>
        </p:txBody>
      </p:sp>
      <p:sp>
        <p:nvSpPr>
          <p:cNvPr id="11" name="tier2-label">
            <a:extLst>
              <a:ext uri="{FF2B5EF4-FFF2-40B4-BE49-F238E27FC236}">
                <a16:creationId xmlns:a16="http://schemas.microsoft.com/office/drawing/2014/main" id="{45405AF0-FC57-4A9C-B88B-8F3D89D282F4}"/>
              </a:ext>
            </a:extLst>
          </p:cNvPr>
          <p:cNvSpPr>
            <a:spLocks noGrp="1"/>
          </p:cNvSpPr>
          <p:nvPr/>
        </p:nvSpPr>
        <p:spPr>
          <a:xfrm>
            <a:off x="5553075" y="2838450"/>
            <a:ext cx="2181225" cy="323850"/>
          </a:xfrm>
          <a:prstGeom prst="rect">
            <a:avLst/>
          </a:prstGeom>
          <a:noFill/>
          <a:ln w="0">
            <a:noFill/>
            <a:prstDash val="solid"/>
          </a:ln>
        </p:spPr>
        <p:txBody>
          <a:bodyPr anchor="ctr"/>
          <a:lstStyle/>
          <a:p>
            <a:pPr algn="ctr">
              <a:defRPr sz="1500" b="1">
                <a:solidFill>
                  <a:srgbClr val="2E7D32"/>
                </a:solidFill>
              </a:defRPr>
            </a:pPr>
            <a:r>
              <a:rPr sz="1500" b="1">
                <a:solidFill>
                  <a:srgbClr val="2E7D32"/>
                </a:solidFill>
              </a:rPr>
              <a:t>$5,000–$10,000</a:t>
            </a:r>
          </a:p>
        </p:txBody>
      </p:sp>
      <p:sp>
        <p:nvSpPr>
          <p:cNvPr id="12" name="tier2-sub">
            <a:extLst>
              <a:ext uri="{FF2B5EF4-FFF2-40B4-BE49-F238E27FC236}">
                <a16:creationId xmlns:a16="http://schemas.microsoft.com/office/drawing/2014/main" id="{178D4DFC-234D-4DA0-A06B-0AA3B22EEDD5}"/>
              </a:ext>
            </a:extLst>
          </p:cNvPr>
          <p:cNvSpPr>
            <a:spLocks noGrp="1"/>
          </p:cNvSpPr>
          <p:nvPr/>
        </p:nvSpPr>
        <p:spPr>
          <a:xfrm>
            <a:off x="5553075" y="3257550"/>
            <a:ext cx="2181225" cy="32385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1% interest</a:t>
            </a:r>
          </a:p>
        </p:txBody>
      </p:sp>
      <p:sp>
        <p:nvSpPr>
          <p:cNvPr id="13" name="tier3">
            <a:extLst>
              <a:ext uri="{FF2B5EF4-FFF2-40B4-BE49-F238E27FC236}">
                <a16:creationId xmlns:a16="http://schemas.microsoft.com/office/drawing/2014/main" id="{680C0C8A-AC50-42FD-9B17-226D23FF2524}"/>
              </a:ext>
            </a:extLst>
          </p:cNvPr>
          <p:cNvSpPr>
            <a:spLocks noGrp="1"/>
          </p:cNvSpPr>
          <p:nvPr/>
        </p:nvSpPr>
        <p:spPr>
          <a:xfrm>
            <a:off x="7810500" y="2714625"/>
            <a:ext cx="3429000" cy="1066800"/>
          </a:xfrm>
          <a:prstGeom prst="roundRect">
            <a:avLst>
              <a:gd name="adj" fmla="val 7143"/>
            </a:avLst>
          </a:prstGeom>
          <a:solidFill>
            <a:srgbClr val="FFF3DB"/>
          </a:solidFill>
          <a:ln w="19050">
            <a:solidFill>
              <a:srgbClr val="B26A00"/>
            </a:solidFill>
            <a:prstDash val="solid"/>
          </a:ln>
        </p:spPr>
        <p:txBody>
          <a:bodyPr/>
          <a:lstStyle/>
          <a:p>
            <a:endParaRPr lang="en-US"/>
          </a:p>
        </p:txBody>
      </p:sp>
      <p:sp>
        <p:nvSpPr>
          <p:cNvPr id="14" name="tier3-label">
            <a:extLst>
              <a:ext uri="{FF2B5EF4-FFF2-40B4-BE49-F238E27FC236}">
                <a16:creationId xmlns:a16="http://schemas.microsoft.com/office/drawing/2014/main" id="{8BE79DA7-972E-4F5F-8C54-AA6018004057}"/>
              </a:ext>
            </a:extLst>
          </p:cNvPr>
          <p:cNvSpPr>
            <a:spLocks noGrp="1"/>
          </p:cNvSpPr>
          <p:nvPr/>
        </p:nvSpPr>
        <p:spPr>
          <a:xfrm>
            <a:off x="7886700" y="2838450"/>
            <a:ext cx="3276600" cy="323850"/>
          </a:xfrm>
          <a:prstGeom prst="rect">
            <a:avLst/>
          </a:prstGeom>
          <a:noFill/>
          <a:ln w="0">
            <a:noFill/>
            <a:prstDash val="solid"/>
          </a:ln>
        </p:spPr>
        <p:txBody>
          <a:bodyPr anchor="ctr"/>
          <a:lstStyle/>
          <a:p>
            <a:pPr algn="ctr">
              <a:defRPr sz="1500" b="1">
                <a:solidFill>
                  <a:srgbClr val="B26A00"/>
                </a:solidFill>
              </a:defRPr>
            </a:pPr>
            <a:r>
              <a:rPr sz="1500" b="1">
                <a:solidFill>
                  <a:srgbClr val="B26A00"/>
                </a:solidFill>
              </a:rPr>
              <a:t>Balance &gt; $10,000</a:t>
            </a:r>
          </a:p>
        </p:txBody>
      </p:sp>
      <p:sp>
        <p:nvSpPr>
          <p:cNvPr id="15" name="tier3-sub">
            <a:extLst>
              <a:ext uri="{FF2B5EF4-FFF2-40B4-BE49-F238E27FC236}">
                <a16:creationId xmlns:a16="http://schemas.microsoft.com/office/drawing/2014/main" id="{28937338-B759-4ACA-8FB1-5CF518DB2547}"/>
              </a:ext>
            </a:extLst>
          </p:cNvPr>
          <p:cNvSpPr>
            <a:spLocks noGrp="1"/>
          </p:cNvSpPr>
          <p:nvPr/>
        </p:nvSpPr>
        <p:spPr>
          <a:xfrm>
            <a:off x="7886700" y="3257550"/>
            <a:ext cx="3276600" cy="323850"/>
          </a:xfrm>
          <a:prstGeom prst="rect">
            <a:avLst/>
          </a:prstGeom>
          <a:noFill/>
          <a:ln w="0">
            <a:noFill/>
            <a:prstDash val="solid"/>
          </a:ln>
        </p:spPr>
        <p:txBody>
          <a:bodyPr anchor="ctr"/>
          <a:lstStyle/>
          <a:p>
            <a:pPr algn="ctr">
              <a:defRPr sz="1200" b="0">
                <a:solidFill>
                  <a:srgbClr val="5A6573"/>
                </a:solidFill>
              </a:defRPr>
            </a:pPr>
            <a:r>
              <a:rPr sz="1200" b="0">
                <a:solidFill>
                  <a:srgbClr val="5A6573"/>
                </a:solidFill>
              </a:rPr>
              <a:t>2% interest</a:t>
            </a:r>
          </a:p>
        </p:txBody>
      </p:sp>
      <p:sp>
        <p:nvSpPr>
          <p:cNvPr id="16" name="axis">
            <a:extLst>
              <a:ext uri="{FF2B5EF4-FFF2-40B4-BE49-F238E27FC236}">
                <a16:creationId xmlns:a16="http://schemas.microsoft.com/office/drawing/2014/main" id="{5EB1A314-405F-4F0E-9A94-638D523E3395}"/>
              </a:ext>
            </a:extLst>
          </p:cNvPr>
          <p:cNvSpPr>
            <a:spLocks noGrp="1"/>
          </p:cNvSpPr>
          <p:nvPr/>
        </p:nvSpPr>
        <p:spPr>
          <a:xfrm>
            <a:off x="952500" y="4057650"/>
            <a:ext cx="10287000" cy="38100"/>
          </a:xfrm>
          <a:prstGeom prst="rect">
            <a:avLst/>
          </a:prstGeom>
          <a:solidFill>
            <a:srgbClr val="111111"/>
          </a:solidFill>
          <a:ln w="0">
            <a:solidFill>
              <a:srgbClr val="111111"/>
            </a:solidFill>
            <a:prstDash val="solid"/>
          </a:ln>
        </p:spPr>
        <p:txBody>
          <a:bodyPr/>
          <a:lstStyle/>
          <a:p>
            <a:endParaRPr lang="en-US"/>
          </a:p>
        </p:txBody>
      </p:sp>
      <p:sp>
        <p:nvSpPr>
          <p:cNvPr id="17" name="tick-0">
            <a:extLst>
              <a:ext uri="{FF2B5EF4-FFF2-40B4-BE49-F238E27FC236}">
                <a16:creationId xmlns:a16="http://schemas.microsoft.com/office/drawing/2014/main" id="{36CA8344-3F5E-4B67-AA80-6DB711B03FD1}"/>
              </a:ext>
            </a:extLst>
          </p:cNvPr>
          <p:cNvSpPr>
            <a:spLocks noGrp="1"/>
          </p:cNvSpPr>
          <p:nvPr/>
        </p:nvSpPr>
        <p:spPr>
          <a:xfrm>
            <a:off x="2047875" y="3962400"/>
            <a:ext cx="28575" cy="228600"/>
          </a:xfrm>
          <a:prstGeom prst="rect">
            <a:avLst/>
          </a:prstGeom>
          <a:solidFill>
            <a:srgbClr val="C62828"/>
          </a:solidFill>
          <a:ln w="0">
            <a:solidFill>
              <a:srgbClr val="C62828"/>
            </a:solidFill>
            <a:prstDash val="solid"/>
          </a:ln>
        </p:spPr>
        <p:txBody>
          <a:bodyPr/>
          <a:lstStyle/>
          <a:p>
            <a:endParaRPr lang="en-US"/>
          </a:p>
        </p:txBody>
      </p:sp>
      <p:sp>
        <p:nvSpPr>
          <p:cNvPr id="18" name="rep-0-circle">
            <a:extLst>
              <a:ext uri="{FF2B5EF4-FFF2-40B4-BE49-F238E27FC236}">
                <a16:creationId xmlns:a16="http://schemas.microsoft.com/office/drawing/2014/main" id="{7D2F05D9-3A32-4C15-A03E-F95822B70C10}"/>
              </a:ext>
            </a:extLst>
          </p:cNvPr>
          <p:cNvSpPr>
            <a:spLocks noGrp="1"/>
          </p:cNvSpPr>
          <p:nvPr/>
        </p:nvSpPr>
        <p:spPr>
          <a:xfrm>
            <a:off x="1857375" y="4286250"/>
            <a:ext cx="400050" cy="400050"/>
          </a:xfrm>
          <a:prstGeom prst="ellipse">
            <a:avLst/>
          </a:prstGeom>
          <a:solidFill>
            <a:srgbClr val="FFFFFF"/>
          </a:solidFill>
          <a:ln w="28575">
            <a:solidFill>
              <a:srgbClr val="C62828"/>
            </a:solidFill>
            <a:prstDash val="solid"/>
          </a:ln>
        </p:spPr>
        <p:txBody>
          <a:bodyPr/>
          <a:lstStyle/>
          <a:p>
            <a:endParaRPr lang="en-US"/>
          </a:p>
        </p:txBody>
      </p:sp>
      <p:sp>
        <p:nvSpPr>
          <p:cNvPr id="19" name="rep-0-label">
            <a:extLst>
              <a:ext uri="{FF2B5EF4-FFF2-40B4-BE49-F238E27FC236}">
                <a16:creationId xmlns:a16="http://schemas.microsoft.com/office/drawing/2014/main" id="{58559CA4-6BA8-4728-8514-04FECB31CCA6}"/>
              </a:ext>
            </a:extLst>
          </p:cNvPr>
          <p:cNvSpPr>
            <a:spLocks noGrp="1"/>
          </p:cNvSpPr>
          <p:nvPr/>
        </p:nvSpPr>
        <p:spPr>
          <a:xfrm>
            <a:off x="1857375" y="4276725"/>
            <a:ext cx="400050" cy="400050"/>
          </a:xfrm>
          <a:prstGeom prst="rect">
            <a:avLst/>
          </a:prstGeom>
          <a:noFill/>
          <a:ln w="0">
            <a:noFill/>
            <a:prstDash val="solid"/>
          </a:ln>
        </p:spPr>
        <p:txBody>
          <a:bodyPr anchor="ctr"/>
          <a:lstStyle/>
          <a:p>
            <a:pPr algn="ctr">
              <a:defRPr sz="1425" b="1">
                <a:solidFill>
                  <a:srgbClr val="C62828"/>
                </a:solidFill>
              </a:defRPr>
            </a:pPr>
            <a:r>
              <a:rPr sz="1425" b="1">
                <a:solidFill>
                  <a:srgbClr val="C62828"/>
                </a:solidFill>
              </a:rPr>
              <a:t>✓</a:t>
            </a:r>
          </a:p>
        </p:txBody>
      </p:sp>
      <p:sp>
        <p:nvSpPr>
          <p:cNvPr id="20" name="rep-text-0">
            <a:extLst>
              <a:ext uri="{FF2B5EF4-FFF2-40B4-BE49-F238E27FC236}">
                <a16:creationId xmlns:a16="http://schemas.microsoft.com/office/drawing/2014/main" id="{D20C5D53-5213-4EEA-920B-9ABBC044A427}"/>
              </a:ext>
            </a:extLst>
          </p:cNvPr>
          <p:cNvSpPr>
            <a:spLocks noGrp="1"/>
          </p:cNvSpPr>
          <p:nvPr/>
        </p:nvSpPr>
        <p:spPr>
          <a:xfrm>
            <a:off x="1495425" y="4724400"/>
            <a:ext cx="1104900" cy="285750"/>
          </a:xfrm>
          <a:prstGeom prst="rect">
            <a:avLst/>
          </a:prstGeom>
          <a:noFill/>
          <a:ln w="0">
            <a:noFill/>
            <a:prstDash val="solid"/>
          </a:ln>
        </p:spPr>
        <p:txBody>
          <a:bodyPr anchor="ctr"/>
          <a:lstStyle/>
          <a:p>
            <a:pPr algn="ctr">
              <a:defRPr sz="1350" b="1">
                <a:solidFill>
                  <a:srgbClr val="C62828"/>
                </a:solidFill>
              </a:defRPr>
            </a:pPr>
            <a:r>
              <a:rPr sz="1350" b="1">
                <a:solidFill>
                  <a:srgbClr val="C62828"/>
                </a:solidFill>
              </a:rPr>
              <a:t>−$2,000</a:t>
            </a:r>
          </a:p>
        </p:txBody>
      </p:sp>
      <p:sp>
        <p:nvSpPr>
          <p:cNvPr id="21" name="tick-1">
            <a:extLst>
              <a:ext uri="{FF2B5EF4-FFF2-40B4-BE49-F238E27FC236}">
                <a16:creationId xmlns:a16="http://schemas.microsoft.com/office/drawing/2014/main" id="{80FB665D-1F74-4C2D-AE50-2DCC0BFA4A0E}"/>
              </a:ext>
            </a:extLst>
          </p:cNvPr>
          <p:cNvSpPr>
            <a:spLocks noGrp="1"/>
          </p:cNvSpPr>
          <p:nvPr/>
        </p:nvSpPr>
        <p:spPr>
          <a:xfrm>
            <a:off x="4305300" y="3962400"/>
            <a:ext cx="28575" cy="228600"/>
          </a:xfrm>
          <a:prstGeom prst="rect">
            <a:avLst/>
          </a:prstGeom>
          <a:solidFill>
            <a:srgbClr val="17365D"/>
          </a:solidFill>
          <a:ln w="0">
            <a:solidFill>
              <a:srgbClr val="17365D"/>
            </a:solidFill>
            <a:prstDash val="solid"/>
          </a:ln>
        </p:spPr>
        <p:txBody>
          <a:bodyPr/>
          <a:lstStyle/>
          <a:p>
            <a:endParaRPr lang="en-US"/>
          </a:p>
        </p:txBody>
      </p:sp>
      <p:sp>
        <p:nvSpPr>
          <p:cNvPr id="22" name="rep-1-circle">
            <a:extLst>
              <a:ext uri="{FF2B5EF4-FFF2-40B4-BE49-F238E27FC236}">
                <a16:creationId xmlns:a16="http://schemas.microsoft.com/office/drawing/2014/main" id="{46C7AEC9-BD56-43AA-9B6B-25F9A7E1DBE5}"/>
              </a:ext>
            </a:extLst>
          </p:cNvPr>
          <p:cNvSpPr>
            <a:spLocks noGrp="1"/>
          </p:cNvSpPr>
          <p:nvPr/>
        </p:nvSpPr>
        <p:spPr>
          <a:xfrm>
            <a:off x="4114800" y="4286250"/>
            <a:ext cx="400050" cy="400050"/>
          </a:xfrm>
          <a:prstGeom prst="ellipse">
            <a:avLst/>
          </a:prstGeom>
          <a:solidFill>
            <a:srgbClr val="FFFFFF"/>
          </a:solidFill>
          <a:ln w="28575">
            <a:solidFill>
              <a:srgbClr val="17365D"/>
            </a:solidFill>
            <a:prstDash val="solid"/>
          </a:ln>
        </p:spPr>
        <p:txBody>
          <a:bodyPr/>
          <a:lstStyle/>
          <a:p>
            <a:endParaRPr lang="en-US"/>
          </a:p>
        </p:txBody>
      </p:sp>
      <p:sp>
        <p:nvSpPr>
          <p:cNvPr id="23" name="rep-1-label">
            <a:extLst>
              <a:ext uri="{FF2B5EF4-FFF2-40B4-BE49-F238E27FC236}">
                <a16:creationId xmlns:a16="http://schemas.microsoft.com/office/drawing/2014/main" id="{6BF897AB-38B1-477E-9C00-493B728AECD1}"/>
              </a:ext>
            </a:extLst>
          </p:cNvPr>
          <p:cNvSpPr>
            <a:spLocks noGrp="1"/>
          </p:cNvSpPr>
          <p:nvPr/>
        </p:nvSpPr>
        <p:spPr>
          <a:xfrm>
            <a:off x="4114800" y="4276725"/>
            <a:ext cx="400050" cy="400050"/>
          </a:xfrm>
          <a:prstGeom prst="rect">
            <a:avLst/>
          </a:prstGeom>
          <a:noFill/>
          <a:ln w="0">
            <a:noFill/>
            <a:prstDash val="solid"/>
          </a:ln>
        </p:spPr>
        <p:txBody>
          <a:bodyPr anchor="ctr"/>
          <a:lstStyle/>
          <a:p>
            <a:pPr algn="ctr">
              <a:defRPr sz="1425" b="1">
                <a:solidFill>
                  <a:srgbClr val="17365D"/>
                </a:solidFill>
              </a:defRPr>
            </a:pPr>
            <a:r>
              <a:rPr sz="1425" b="1">
                <a:solidFill>
                  <a:srgbClr val="17365D"/>
                </a:solidFill>
              </a:rPr>
              <a:t>✓</a:t>
            </a:r>
          </a:p>
        </p:txBody>
      </p:sp>
      <p:sp>
        <p:nvSpPr>
          <p:cNvPr id="24" name="rep-text-1">
            <a:extLst>
              <a:ext uri="{FF2B5EF4-FFF2-40B4-BE49-F238E27FC236}">
                <a16:creationId xmlns:a16="http://schemas.microsoft.com/office/drawing/2014/main" id="{E1C009A8-379B-4E11-9586-586729FD4EA5}"/>
              </a:ext>
            </a:extLst>
          </p:cNvPr>
          <p:cNvSpPr>
            <a:spLocks noGrp="1"/>
          </p:cNvSpPr>
          <p:nvPr/>
        </p:nvSpPr>
        <p:spPr>
          <a:xfrm>
            <a:off x="3752850" y="4724400"/>
            <a:ext cx="1104900" cy="285750"/>
          </a:xfrm>
          <a:prstGeom prst="rect">
            <a:avLst/>
          </a:prstGeom>
          <a:noFill/>
          <a:ln w="0">
            <a:noFill/>
            <a:prstDash val="solid"/>
          </a:ln>
        </p:spPr>
        <p:txBody>
          <a:bodyPr anchor="ctr"/>
          <a:lstStyle/>
          <a:p>
            <a:pPr algn="ctr">
              <a:defRPr sz="1350" b="1">
                <a:solidFill>
                  <a:srgbClr val="17365D"/>
                </a:solidFill>
              </a:defRPr>
            </a:pPr>
            <a:r>
              <a:rPr sz="1350" b="1">
                <a:solidFill>
                  <a:srgbClr val="17365D"/>
                </a:solidFill>
              </a:rPr>
              <a:t>$2,500</a:t>
            </a:r>
          </a:p>
        </p:txBody>
      </p:sp>
      <p:sp>
        <p:nvSpPr>
          <p:cNvPr id="25" name="tick-2">
            <a:extLst>
              <a:ext uri="{FF2B5EF4-FFF2-40B4-BE49-F238E27FC236}">
                <a16:creationId xmlns:a16="http://schemas.microsoft.com/office/drawing/2014/main" id="{FA25EB3B-916B-4EE5-979A-B1A10B81EF46}"/>
              </a:ext>
            </a:extLst>
          </p:cNvPr>
          <p:cNvSpPr>
            <a:spLocks noGrp="1"/>
          </p:cNvSpPr>
          <p:nvPr/>
        </p:nvSpPr>
        <p:spPr>
          <a:xfrm>
            <a:off x="6638925" y="3962400"/>
            <a:ext cx="28575" cy="228600"/>
          </a:xfrm>
          <a:prstGeom prst="rect">
            <a:avLst/>
          </a:prstGeom>
          <a:solidFill>
            <a:srgbClr val="2E7D32"/>
          </a:solidFill>
          <a:ln w="0">
            <a:solidFill>
              <a:srgbClr val="2E7D32"/>
            </a:solidFill>
            <a:prstDash val="solid"/>
          </a:ln>
        </p:spPr>
        <p:txBody>
          <a:bodyPr/>
          <a:lstStyle/>
          <a:p>
            <a:endParaRPr lang="en-US"/>
          </a:p>
        </p:txBody>
      </p:sp>
      <p:sp>
        <p:nvSpPr>
          <p:cNvPr id="26" name="rep-2-circle">
            <a:extLst>
              <a:ext uri="{FF2B5EF4-FFF2-40B4-BE49-F238E27FC236}">
                <a16:creationId xmlns:a16="http://schemas.microsoft.com/office/drawing/2014/main" id="{4BCA45C0-E6A4-45CD-9F0E-25DBD515F5BD}"/>
              </a:ext>
            </a:extLst>
          </p:cNvPr>
          <p:cNvSpPr>
            <a:spLocks noGrp="1"/>
          </p:cNvSpPr>
          <p:nvPr/>
        </p:nvSpPr>
        <p:spPr>
          <a:xfrm>
            <a:off x="6448425" y="4286250"/>
            <a:ext cx="400050" cy="400050"/>
          </a:xfrm>
          <a:prstGeom prst="ellipse">
            <a:avLst/>
          </a:prstGeom>
          <a:solidFill>
            <a:srgbClr val="FFFFFF"/>
          </a:solidFill>
          <a:ln w="28575">
            <a:solidFill>
              <a:srgbClr val="2E7D32"/>
            </a:solidFill>
            <a:prstDash val="solid"/>
          </a:ln>
        </p:spPr>
        <p:txBody>
          <a:bodyPr/>
          <a:lstStyle/>
          <a:p>
            <a:endParaRPr lang="en-US"/>
          </a:p>
        </p:txBody>
      </p:sp>
      <p:sp>
        <p:nvSpPr>
          <p:cNvPr id="27" name="rep-2-label">
            <a:extLst>
              <a:ext uri="{FF2B5EF4-FFF2-40B4-BE49-F238E27FC236}">
                <a16:creationId xmlns:a16="http://schemas.microsoft.com/office/drawing/2014/main" id="{B3177E26-0356-4798-8A2B-317477479596}"/>
              </a:ext>
            </a:extLst>
          </p:cNvPr>
          <p:cNvSpPr>
            <a:spLocks noGrp="1"/>
          </p:cNvSpPr>
          <p:nvPr/>
        </p:nvSpPr>
        <p:spPr>
          <a:xfrm>
            <a:off x="6448425" y="4276725"/>
            <a:ext cx="400050" cy="400050"/>
          </a:xfrm>
          <a:prstGeom prst="rect">
            <a:avLst/>
          </a:prstGeom>
          <a:noFill/>
          <a:ln w="0">
            <a:noFill/>
            <a:prstDash val="solid"/>
          </a:ln>
        </p:spPr>
        <p:txBody>
          <a:bodyPr anchor="ctr"/>
          <a:lstStyle/>
          <a:p>
            <a:pPr algn="ctr">
              <a:defRPr sz="1425" b="1">
                <a:solidFill>
                  <a:srgbClr val="2E7D32"/>
                </a:solidFill>
              </a:defRPr>
            </a:pPr>
            <a:r>
              <a:rPr sz="1425" b="1">
                <a:solidFill>
                  <a:srgbClr val="2E7D32"/>
                </a:solidFill>
              </a:rPr>
              <a:t>✓</a:t>
            </a:r>
          </a:p>
        </p:txBody>
      </p:sp>
      <p:sp>
        <p:nvSpPr>
          <p:cNvPr id="28" name="rep-text-2">
            <a:extLst>
              <a:ext uri="{FF2B5EF4-FFF2-40B4-BE49-F238E27FC236}">
                <a16:creationId xmlns:a16="http://schemas.microsoft.com/office/drawing/2014/main" id="{36F4542E-2D24-4C05-9CCA-F17ECD467B0B}"/>
              </a:ext>
            </a:extLst>
          </p:cNvPr>
          <p:cNvSpPr>
            <a:spLocks noGrp="1"/>
          </p:cNvSpPr>
          <p:nvPr/>
        </p:nvSpPr>
        <p:spPr>
          <a:xfrm>
            <a:off x="6086475" y="4724400"/>
            <a:ext cx="1104900" cy="285750"/>
          </a:xfrm>
          <a:prstGeom prst="rect">
            <a:avLst/>
          </a:prstGeom>
          <a:noFill/>
          <a:ln w="0">
            <a:noFill/>
            <a:prstDash val="solid"/>
          </a:ln>
        </p:spPr>
        <p:txBody>
          <a:bodyPr anchor="ctr"/>
          <a:lstStyle/>
          <a:p>
            <a:pPr algn="ctr">
              <a:defRPr sz="1350" b="1">
                <a:solidFill>
                  <a:srgbClr val="2E7D32"/>
                </a:solidFill>
              </a:defRPr>
            </a:pPr>
            <a:r>
              <a:rPr sz="1350" b="1">
                <a:solidFill>
                  <a:srgbClr val="2E7D32"/>
                </a:solidFill>
              </a:rPr>
              <a:t>$7,500</a:t>
            </a:r>
          </a:p>
        </p:txBody>
      </p:sp>
      <p:sp>
        <p:nvSpPr>
          <p:cNvPr id="29" name="tick-3">
            <a:extLst>
              <a:ext uri="{FF2B5EF4-FFF2-40B4-BE49-F238E27FC236}">
                <a16:creationId xmlns:a16="http://schemas.microsoft.com/office/drawing/2014/main" id="{A19CF7D1-3972-44C2-8AF8-8A8363908306}"/>
              </a:ext>
            </a:extLst>
          </p:cNvPr>
          <p:cNvSpPr>
            <a:spLocks noGrp="1"/>
          </p:cNvSpPr>
          <p:nvPr/>
        </p:nvSpPr>
        <p:spPr>
          <a:xfrm>
            <a:off x="9496425" y="3962400"/>
            <a:ext cx="28575" cy="228600"/>
          </a:xfrm>
          <a:prstGeom prst="rect">
            <a:avLst/>
          </a:prstGeom>
          <a:solidFill>
            <a:srgbClr val="B26A00"/>
          </a:solidFill>
          <a:ln w="0">
            <a:solidFill>
              <a:srgbClr val="B26A00"/>
            </a:solidFill>
            <a:prstDash val="solid"/>
          </a:ln>
        </p:spPr>
        <p:txBody>
          <a:bodyPr/>
          <a:lstStyle/>
          <a:p>
            <a:endParaRPr lang="en-US"/>
          </a:p>
        </p:txBody>
      </p:sp>
      <p:sp>
        <p:nvSpPr>
          <p:cNvPr id="30" name="rep-3-circle">
            <a:extLst>
              <a:ext uri="{FF2B5EF4-FFF2-40B4-BE49-F238E27FC236}">
                <a16:creationId xmlns:a16="http://schemas.microsoft.com/office/drawing/2014/main" id="{CAAA8659-5B0E-403D-94A4-03AD24396045}"/>
              </a:ext>
            </a:extLst>
          </p:cNvPr>
          <p:cNvSpPr>
            <a:spLocks noGrp="1"/>
          </p:cNvSpPr>
          <p:nvPr/>
        </p:nvSpPr>
        <p:spPr>
          <a:xfrm>
            <a:off x="9305925" y="4286250"/>
            <a:ext cx="400050" cy="400050"/>
          </a:xfrm>
          <a:prstGeom prst="ellipse">
            <a:avLst/>
          </a:prstGeom>
          <a:solidFill>
            <a:srgbClr val="FFFFFF"/>
          </a:solidFill>
          <a:ln w="28575">
            <a:solidFill>
              <a:srgbClr val="B26A00"/>
            </a:solidFill>
            <a:prstDash val="solid"/>
          </a:ln>
        </p:spPr>
        <p:txBody>
          <a:bodyPr/>
          <a:lstStyle/>
          <a:p>
            <a:endParaRPr lang="en-US"/>
          </a:p>
        </p:txBody>
      </p:sp>
      <p:sp>
        <p:nvSpPr>
          <p:cNvPr id="31" name="rep-3-label">
            <a:extLst>
              <a:ext uri="{FF2B5EF4-FFF2-40B4-BE49-F238E27FC236}">
                <a16:creationId xmlns:a16="http://schemas.microsoft.com/office/drawing/2014/main" id="{B91EA2A0-84FC-4427-90BF-F3E602A029C9}"/>
              </a:ext>
            </a:extLst>
          </p:cNvPr>
          <p:cNvSpPr>
            <a:spLocks noGrp="1"/>
          </p:cNvSpPr>
          <p:nvPr/>
        </p:nvSpPr>
        <p:spPr>
          <a:xfrm>
            <a:off x="9305925" y="4276725"/>
            <a:ext cx="400050" cy="400050"/>
          </a:xfrm>
          <a:prstGeom prst="rect">
            <a:avLst/>
          </a:prstGeom>
          <a:noFill/>
          <a:ln w="0">
            <a:noFill/>
            <a:prstDash val="solid"/>
          </a:ln>
        </p:spPr>
        <p:txBody>
          <a:bodyPr anchor="ctr"/>
          <a:lstStyle/>
          <a:p>
            <a:pPr algn="ctr">
              <a:defRPr sz="1425" b="1">
                <a:solidFill>
                  <a:srgbClr val="B26A00"/>
                </a:solidFill>
              </a:defRPr>
            </a:pPr>
            <a:r>
              <a:rPr sz="1425" b="1">
                <a:solidFill>
                  <a:srgbClr val="B26A00"/>
                </a:solidFill>
              </a:rPr>
              <a:t>✓</a:t>
            </a:r>
          </a:p>
        </p:txBody>
      </p:sp>
      <p:sp>
        <p:nvSpPr>
          <p:cNvPr id="32" name="rep-text-3">
            <a:extLst>
              <a:ext uri="{FF2B5EF4-FFF2-40B4-BE49-F238E27FC236}">
                <a16:creationId xmlns:a16="http://schemas.microsoft.com/office/drawing/2014/main" id="{74EFFBAD-FF04-410B-BB75-FE4C48A3DCF6}"/>
              </a:ext>
            </a:extLst>
          </p:cNvPr>
          <p:cNvSpPr>
            <a:spLocks noGrp="1"/>
          </p:cNvSpPr>
          <p:nvPr/>
        </p:nvSpPr>
        <p:spPr>
          <a:xfrm>
            <a:off x="8943975" y="4724400"/>
            <a:ext cx="1104900" cy="285750"/>
          </a:xfrm>
          <a:prstGeom prst="rect">
            <a:avLst/>
          </a:prstGeom>
          <a:noFill/>
          <a:ln w="0">
            <a:noFill/>
            <a:prstDash val="solid"/>
          </a:ln>
        </p:spPr>
        <p:txBody>
          <a:bodyPr anchor="ctr"/>
          <a:lstStyle/>
          <a:p>
            <a:pPr algn="ctr">
              <a:defRPr sz="1350" b="1">
                <a:solidFill>
                  <a:srgbClr val="B26A00"/>
                </a:solidFill>
              </a:defRPr>
            </a:pPr>
            <a:r>
              <a:rPr sz="1350" b="1">
                <a:solidFill>
                  <a:srgbClr val="B26A00"/>
                </a:solidFill>
              </a:rPr>
              <a:t>$15,000</a:t>
            </a:r>
          </a:p>
        </p:txBody>
      </p:sp>
      <p:sp>
        <p:nvSpPr>
          <p:cNvPr id="33" name="takeaway">
            <a:extLst>
              <a:ext uri="{FF2B5EF4-FFF2-40B4-BE49-F238E27FC236}">
                <a16:creationId xmlns:a16="http://schemas.microsoft.com/office/drawing/2014/main" id="{39D6FB25-54C5-420B-A5BC-54CAD28FB28D}"/>
              </a:ext>
            </a:extLst>
          </p:cNvPr>
          <p:cNvSpPr>
            <a:spLocks noGrp="1"/>
          </p:cNvSpPr>
          <p:nvPr/>
        </p:nvSpPr>
        <p:spPr>
          <a:xfrm>
            <a:off x="781050" y="5467350"/>
            <a:ext cx="10629900" cy="723900"/>
          </a:xfrm>
          <a:prstGeom prst="roundRect">
            <a:avLst>
              <a:gd name="adj" fmla="val 10526"/>
            </a:avLst>
          </a:prstGeom>
          <a:solidFill>
            <a:srgbClr val="EAF5EB"/>
          </a:solidFill>
          <a:ln w="19050">
            <a:solidFill>
              <a:srgbClr val="2E7D32"/>
            </a:solidFill>
            <a:prstDash val="solid"/>
          </a:ln>
        </p:spPr>
        <p:txBody>
          <a:bodyPr/>
          <a:lstStyle/>
          <a:p>
            <a:endParaRPr lang="en-US"/>
          </a:p>
        </p:txBody>
      </p:sp>
      <p:sp>
        <p:nvSpPr>
          <p:cNvPr id="34" name="takeaway-text">
            <a:extLst>
              <a:ext uri="{FF2B5EF4-FFF2-40B4-BE49-F238E27FC236}">
                <a16:creationId xmlns:a16="http://schemas.microsoft.com/office/drawing/2014/main" id="{28ADFC45-1000-4026-BDA7-3B1F55D05D76}"/>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E7D32"/>
                </a:solidFill>
              </a:defRPr>
            </a:pPr>
            <a:r>
              <a:rPr sz="1800" b="1">
                <a:solidFill>
                  <a:srgbClr val="2E7D32"/>
                </a:solidFill>
              </a:rPr>
              <a:t>Start with one representative value from every class that should behave differently.</a:t>
            </a:r>
          </a:p>
        </p:txBody>
      </p:sp>
    </p:spTree>
    <p:extLst>
      <p:ext uri="{BB962C8B-B14F-4D97-AF65-F5344CB8AC3E}">
        <p14:creationId xmlns:p14="http://schemas.microsoft.com/office/powerpoint/2010/main" val="1329773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500"/>
                                        <p:tgtEl>
                                          <p:spTgt spid="33"/>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animBg="1"/>
      <p:bldP spid="8" grpId="0"/>
      <p:bldP spid="9" grpId="0"/>
      <p:bldP spid="10" grpId="0" animBg="1"/>
      <p:bldP spid="11" grpId="0"/>
      <p:bldP spid="12" grpId="0"/>
      <p:bldP spid="13" grpId="0" animBg="1"/>
      <p:bldP spid="14" grpId="0"/>
      <p:bldP spid="15" grpId="0"/>
      <p:bldP spid="16" grpId="0" animBg="1"/>
      <p:bldP spid="17" grpId="0" animBg="1"/>
      <p:bldP spid="18" grpId="0" animBg="1"/>
      <p:bldP spid="19" grpId="0"/>
      <p:bldP spid="20" grpId="0"/>
      <p:bldP spid="21" grpId="0" animBg="1"/>
      <p:bldP spid="22" grpId="0" animBg="1"/>
      <p:bldP spid="23" grpId="0"/>
      <p:bldP spid="24" grpId="0"/>
      <p:bldP spid="25" grpId="0" animBg="1"/>
      <p:bldP spid="26" grpId="0" animBg="1"/>
      <p:bldP spid="27" grpId="0"/>
      <p:bldP spid="28" grpId="0"/>
      <p:bldP spid="29" grpId="0" animBg="1"/>
      <p:bldP spid="30" grpId="0" animBg="1"/>
      <p:bldP spid="31" grpId="0"/>
      <p:bldP spid="32" grpId="0"/>
      <p:bldP spid="33" grpId="0" animBg="1"/>
      <p:bldP spid="3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a:extLst>
              <a:ext uri="{FF2B5EF4-FFF2-40B4-BE49-F238E27FC236}">
                <a16:creationId xmlns:a16="http://schemas.microsoft.com/office/drawing/2014/main" id="{1FBBB8D0-D494-4888-8C41-958F526331CF}"/>
              </a:ext>
            </a:extLst>
          </p:cNvPr>
          <p:cNvSpPr>
            <a:spLocks noGrp="1"/>
          </p:cNvSpPr>
          <p:nvPr/>
        </p:nvSpPr>
        <p:spPr>
          <a:xfrm>
            <a:off x="685800" y="361950"/>
            <a:ext cx="10820400" cy="628650"/>
          </a:xfrm>
          <a:prstGeom prst="rect">
            <a:avLst/>
          </a:prstGeom>
          <a:noFill/>
          <a:ln w="0">
            <a:noFill/>
            <a:prstDash val="solid"/>
          </a:ln>
        </p:spPr>
        <p:txBody>
          <a:bodyPr anchor="ctr"/>
          <a:lstStyle/>
          <a:p>
            <a:pPr algn="l">
              <a:defRPr sz="3000" b="0">
                <a:solidFill>
                  <a:srgbClr val="111111"/>
                </a:solidFill>
              </a:defRPr>
            </a:pPr>
            <a:r>
              <a:rPr sz="3000" b="0">
                <a:solidFill>
                  <a:srgbClr val="111111"/>
                </a:solidFill>
              </a:rPr>
              <a:t>Boundary-value analysis tests where behavior changes</a:t>
            </a:r>
          </a:p>
        </p:txBody>
      </p:sp>
      <p:sp>
        <p:nvSpPr>
          <p:cNvPr id="2" name="title-rule">
            <a:extLst>
              <a:ext uri="{FF2B5EF4-FFF2-40B4-BE49-F238E27FC236}">
                <a16:creationId xmlns:a16="http://schemas.microsoft.com/office/drawing/2014/main" id="{4AED3A3C-19AE-4C2B-9151-40CDEFFC1056}"/>
              </a:ext>
            </a:extLst>
          </p:cNvPr>
          <p:cNvSpPr>
            <a:spLocks noGrp="1"/>
          </p:cNvSpPr>
          <p:nvPr/>
        </p:nvSpPr>
        <p:spPr>
          <a:xfrm>
            <a:off x="685800" y="1066800"/>
            <a:ext cx="1571625" cy="38100"/>
          </a:xfrm>
          <a:prstGeom prst="rect">
            <a:avLst/>
          </a:prstGeom>
          <a:solidFill>
            <a:srgbClr val="17365D"/>
          </a:solidFill>
          <a:ln w="0">
            <a:solidFill>
              <a:srgbClr val="17365D"/>
            </a:solidFill>
            <a:prstDash val="solid"/>
          </a:ln>
        </p:spPr>
        <p:txBody>
          <a:bodyPr/>
          <a:lstStyle/>
          <a:p>
            <a:endParaRPr lang="en-US"/>
          </a:p>
        </p:txBody>
      </p:sp>
      <p:sp>
        <p:nvSpPr>
          <p:cNvPr id="3" name="setup">
            <a:extLst>
              <a:ext uri="{FF2B5EF4-FFF2-40B4-BE49-F238E27FC236}">
                <a16:creationId xmlns:a16="http://schemas.microsoft.com/office/drawing/2014/main" id="{ED9D6F5E-1732-48AF-8195-342332367F77}"/>
              </a:ext>
            </a:extLst>
          </p:cNvPr>
          <p:cNvSpPr>
            <a:spLocks noGrp="1"/>
          </p:cNvSpPr>
          <p:nvPr/>
        </p:nvSpPr>
        <p:spPr>
          <a:xfrm>
            <a:off x="895350" y="1381125"/>
            <a:ext cx="10401300" cy="400050"/>
          </a:xfrm>
          <a:prstGeom prst="rect">
            <a:avLst/>
          </a:prstGeom>
          <a:noFill/>
          <a:ln w="0">
            <a:noFill/>
            <a:prstDash val="solid"/>
          </a:ln>
        </p:spPr>
        <p:txBody>
          <a:bodyPr anchor="ctr"/>
          <a:lstStyle/>
          <a:p>
            <a:pPr algn="ctr">
              <a:defRPr sz="1800" b="0">
                <a:solidFill>
                  <a:srgbClr val="5A6573"/>
                </a:solidFill>
              </a:defRPr>
            </a:pPr>
            <a:r>
              <a:rPr sz="1800" b="0">
                <a:solidFill>
                  <a:srgbClr val="5A6573"/>
                </a:solidFill>
              </a:rPr>
              <a:t>Defects often hide immediately below, at, or above a boundary.</a:t>
            </a:r>
          </a:p>
        </p:txBody>
      </p:sp>
      <p:sp>
        <p:nvSpPr>
          <p:cNvPr id="4" name="axis">
            <a:extLst>
              <a:ext uri="{FF2B5EF4-FFF2-40B4-BE49-F238E27FC236}">
                <a16:creationId xmlns:a16="http://schemas.microsoft.com/office/drawing/2014/main" id="{D12B0B33-095D-4652-BD32-E8411BD515F2}"/>
              </a:ext>
            </a:extLst>
          </p:cNvPr>
          <p:cNvSpPr>
            <a:spLocks noGrp="1"/>
          </p:cNvSpPr>
          <p:nvPr/>
        </p:nvSpPr>
        <p:spPr>
          <a:xfrm>
            <a:off x="1238250" y="3143250"/>
            <a:ext cx="9715500" cy="47625"/>
          </a:xfrm>
          <a:prstGeom prst="rect">
            <a:avLst/>
          </a:prstGeom>
          <a:solidFill>
            <a:srgbClr val="111111"/>
          </a:solidFill>
          <a:ln w="0">
            <a:solidFill>
              <a:srgbClr val="111111"/>
            </a:solidFill>
            <a:prstDash val="solid"/>
          </a:ln>
        </p:spPr>
        <p:txBody>
          <a:bodyPr/>
          <a:lstStyle/>
          <a:p>
            <a:endParaRPr lang="en-US"/>
          </a:p>
        </p:txBody>
      </p:sp>
      <p:sp>
        <p:nvSpPr>
          <p:cNvPr id="5" name="axis-arrow">
            <a:extLst>
              <a:ext uri="{FF2B5EF4-FFF2-40B4-BE49-F238E27FC236}">
                <a16:creationId xmlns:a16="http://schemas.microsoft.com/office/drawing/2014/main" id="{3E43436D-08B7-455C-9085-B09107001980}"/>
              </a:ext>
            </a:extLst>
          </p:cNvPr>
          <p:cNvSpPr>
            <a:spLocks noGrp="1"/>
          </p:cNvSpPr>
          <p:nvPr/>
        </p:nvSpPr>
        <p:spPr>
          <a:xfrm>
            <a:off x="10715625" y="2952750"/>
            <a:ext cx="590550" cy="419100"/>
          </a:xfrm>
          <a:prstGeom prst="rightArrow">
            <a:avLst/>
          </a:prstGeom>
          <a:solidFill>
            <a:srgbClr val="111111"/>
          </a:solidFill>
          <a:ln w="0">
            <a:solidFill>
              <a:srgbClr val="111111"/>
            </a:solidFill>
            <a:prstDash val="solid"/>
          </a:ln>
        </p:spPr>
        <p:txBody>
          <a:bodyPr/>
          <a:lstStyle/>
          <a:p>
            <a:endParaRPr lang="en-US"/>
          </a:p>
        </p:txBody>
      </p:sp>
      <p:sp>
        <p:nvSpPr>
          <p:cNvPr id="6" name="boundary-0">
            <a:extLst>
              <a:ext uri="{FF2B5EF4-FFF2-40B4-BE49-F238E27FC236}">
                <a16:creationId xmlns:a16="http://schemas.microsoft.com/office/drawing/2014/main" id="{438CC472-A06F-4F31-9392-5F5A7DF76F43}"/>
              </a:ext>
            </a:extLst>
          </p:cNvPr>
          <p:cNvSpPr>
            <a:spLocks noGrp="1"/>
          </p:cNvSpPr>
          <p:nvPr/>
        </p:nvSpPr>
        <p:spPr>
          <a:xfrm>
            <a:off x="2857500" y="2352675"/>
            <a:ext cx="38100" cy="1600200"/>
          </a:xfrm>
          <a:prstGeom prst="rect">
            <a:avLst/>
          </a:prstGeom>
          <a:solidFill>
            <a:srgbClr val="C62828"/>
          </a:solidFill>
          <a:ln w="0">
            <a:solidFill>
              <a:srgbClr val="C62828"/>
            </a:solidFill>
            <a:prstDash val="solid"/>
          </a:ln>
        </p:spPr>
        <p:txBody>
          <a:bodyPr/>
          <a:lstStyle/>
          <a:p>
            <a:endParaRPr lang="en-US"/>
          </a:p>
        </p:txBody>
      </p:sp>
      <p:sp>
        <p:nvSpPr>
          <p:cNvPr id="7" name="boundary-label-0">
            <a:extLst>
              <a:ext uri="{FF2B5EF4-FFF2-40B4-BE49-F238E27FC236}">
                <a16:creationId xmlns:a16="http://schemas.microsoft.com/office/drawing/2014/main" id="{2D27DCEE-6425-4123-AFDF-06373810E9B8}"/>
              </a:ext>
            </a:extLst>
          </p:cNvPr>
          <p:cNvSpPr>
            <a:spLocks noGrp="1"/>
          </p:cNvSpPr>
          <p:nvPr/>
        </p:nvSpPr>
        <p:spPr>
          <a:xfrm>
            <a:off x="2286000" y="2000250"/>
            <a:ext cx="1143000" cy="28575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$0</a:t>
            </a:r>
          </a:p>
        </p:txBody>
      </p:sp>
      <p:sp>
        <p:nvSpPr>
          <p:cNvPr id="8" name="b0v0-circle">
            <a:extLst>
              <a:ext uri="{FF2B5EF4-FFF2-40B4-BE49-F238E27FC236}">
                <a16:creationId xmlns:a16="http://schemas.microsoft.com/office/drawing/2014/main" id="{63C951F6-B7C9-4DAB-863F-0CE77131CBB5}"/>
              </a:ext>
            </a:extLst>
          </p:cNvPr>
          <p:cNvSpPr>
            <a:spLocks noGrp="1"/>
          </p:cNvSpPr>
          <p:nvPr/>
        </p:nvSpPr>
        <p:spPr>
          <a:xfrm>
            <a:off x="1981200"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9" name="b0v0-label">
            <a:extLst>
              <a:ext uri="{FF2B5EF4-FFF2-40B4-BE49-F238E27FC236}">
                <a16:creationId xmlns:a16="http://schemas.microsoft.com/office/drawing/2014/main" id="{82594F39-4229-4503-A518-50CBF5E8E610}"/>
              </a:ext>
            </a:extLst>
          </p:cNvPr>
          <p:cNvSpPr>
            <a:spLocks noGrp="1"/>
          </p:cNvSpPr>
          <p:nvPr/>
        </p:nvSpPr>
        <p:spPr>
          <a:xfrm>
            <a:off x="1981200"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10" name="b0t0">
            <a:extLst>
              <a:ext uri="{FF2B5EF4-FFF2-40B4-BE49-F238E27FC236}">
                <a16:creationId xmlns:a16="http://schemas.microsoft.com/office/drawing/2014/main" id="{E0DB5863-664D-465E-9E21-01B7EA46BB26}"/>
              </a:ext>
            </a:extLst>
          </p:cNvPr>
          <p:cNvSpPr>
            <a:spLocks noGrp="1"/>
          </p:cNvSpPr>
          <p:nvPr/>
        </p:nvSpPr>
        <p:spPr>
          <a:xfrm>
            <a:off x="1724025"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−1</a:t>
            </a:r>
          </a:p>
        </p:txBody>
      </p:sp>
      <p:sp>
        <p:nvSpPr>
          <p:cNvPr id="11" name="b0v1-circle">
            <a:extLst>
              <a:ext uri="{FF2B5EF4-FFF2-40B4-BE49-F238E27FC236}">
                <a16:creationId xmlns:a16="http://schemas.microsoft.com/office/drawing/2014/main" id="{024DF322-1215-4364-8D85-C1BF31FA9149}"/>
              </a:ext>
            </a:extLst>
          </p:cNvPr>
          <p:cNvSpPr>
            <a:spLocks noGrp="1"/>
          </p:cNvSpPr>
          <p:nvPr/>
        </p:nvSpPr>
        <p:spPr>
          <a:xfrm>
            <a:off x="2667000" y="4219575"/>
            <a:ext cx="381000" cy="381000"/>
          </a:xfrm>
          <a:prstGeom prst="ellipse">
            <a:avLst/>
          </a:prstGeom>
          <a:solidFill>
            <a:srgbClr val="FFFFFF"/>
          </a:solidFill>
          <a:ln w="28575">
            <a:solidFill>
              <a:srgbClr val="C62828"/>
            </a:solidFill>
            <a:prstDash val="solid"/>
          </a:ln>
        </p:spPr>
        <p:txBody>
          <a:bodyPr/>
          <a:lstStyle/>
          <a:p>
            <a:endParaRPr lang="en-US"/>
          </a:p>
        </p:txBody>
      </p:sp>
      <p:sp>
        <p:nvSpPr>
          <p:cNvPr id="12" name="b0v1-label">
            <a:extLst>
              <a:ext uri="{FF2B5EF4-FFF2-40B4-BE49-F238E27FC236}">
                <a16:creationId xmlns:a16="http://schemas.microsoft.com/office/drawing/2014/main" id="{55C9CB75-49D8-4D86-AF61-890B6C0D9C90}"/>
              </a:ext>
            </a:extLst>
          </p:cNvPr>
          <p:cNvSpPr>
            <a:spLocks noGrp="1"/>
          </p:cNvSpPr>
          <p:nvPr/>
        </p:nvSpPr>
        <p:spPr>
          <a:xfrm>
            <a:off x="2667000" y="4210050"/>
            <a:ext cx="381000" cy="381000"/>
          </a:xfrm>
          <a:prstGeom prst="rect">
            <a:avLst/>
          </a:prstGeom>
          <a:noFill/>
          <a:ln w="0">
            <a:noFill/>
            <a:prstDash val="solid"/>
          </a:ln>
        </p:spPr>
        <p:txBody>
          <a:bodyPr anchor="ctr"/>
          <a:lstStyle/>
          <a:p>
            <a:pPr algn="ctr">
              <a:defRPr sz="1275" b="1">
                <a:solidFill>
                  <a:srgbClr val="C62828"/>
                </a:solidFill>
              </a:defRPr>
            </a:pPr>
            <a:r>
              <a:rPr sz="1275" b="1">
                <a:solidFill>
                  <a:srgbClr val="C62828"/>
                </a:solidFill>
              </a:rPr>
              <a:t>●</a:t>
            </a:r>
          </a:p>
        </p:txBody>
      </p:sp>
      <p:sp>
        <p:nvSpPr>
          <p:cNvPr id="13" name="b0t1">
            <a:extLst>
              <a:ext uri="{FF2B5EF4-FFF2-40B4-BE49-F238E27FC236}">
                <a16:creationId xmlns:a16="http://schemas.microsoft.com/office/drawing/2014/main" id="{5A646825-1D95-4997-B1DC-E332B6EBB9F1}"/>
              </a:ext>
            </a:extLst>
          </p:cNvPr>
          <p:cNvSpPr>
            <a:spLocks noGrp="1"/>
          </p:cNvSpPr>
          <p:nvPr/>
        </p:nvSpPr>
        <p:spPr>
          <a:xfrm>
            <a:off x="2409825" y="4667250"/>
            <a:ext cx="895350" cy="266700"/>
          </a:xfrm>
          <a:prstGeom prst="rect">
            <a:avLst/>
          </a:prstGeom>
          <a:noFill/>
          <a:ln w="0">
            <a:noFill/>
            <a:prstDash val="solid"/>
          </a:ln>
        </p:spPr>
        <p:txBody>
          <a:bodyPr anchor="ctr"/>
          <a:lstStyle/>
          <a:p>
            <a:pPr algn="ctr">
              <a:defRPr sz="1200" b="1">
                <a:solidFill>
                  <a:srgbClr val="C62828"/>
                </a:solidFill>
              </a:defRPr>
            </a:pPr>
            <a:r>
              <a:rPr sz="1200" b="1">
                <a:solidFill>
                  <a:srgbClr val="C62828"/>
                </a:solidFill>
              </a:rPr>
              <a:t>0</a:t>
            </a:r>
          </a:p>
        </p:txBody>
      </p:sp>
      <p:sp>
        <p:nvSpPr>
          <p:cNvPr id="14" name="b0v2-circle">
            <a:extLst>
              <a:ext uri="{FF2B5EF4-FFF2-40B4-BE49-F238E27FC236}">
                <a16:creationId xmlns:a16="http://schemas.microsoft.com/office/drawing/2014/main" id="{7C7A2902-81D1-41D4-82F1-D6A603B588E2}"/>
              </a:ext>
            </a:extLst>
          </p:cNvPr>
          <p:cNvSpPr>
            <a:spLocks noGrp="1"/>
          </p:cNvSpPr>
          <p:nvPr/>
        </p:nvSpPr>
        <p:spPr>
          <a:xfrm>
            <a:off x="3371850"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15" name="b0v2-label">
            <a:extLst>
              <a:ext uri="{FF2B5EF4-FFF2-40B4-BE49-F238E27FC236}">
                <a16:creationId xmlns:a16="http://schemas.microsoft.com/office/drawing/2014/main" id="{9AA28BE6-9FFA-4867-9C30-42E62649511F}"/>
              </a:ext>
            </a:extLst>
          </p:cNvPr>
          <p:cNvSpPr>
            <a:spLocks noGrp="1"/>
          </p:cNvSpPr>
          <p:nvPr/>
        </p:nvSpPr>
        <p:spPr>
          <a:xfrm>
            <a:off x="3371850"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16" name="b0t2">
            <a:extLst>
              <a:ext uri="{FF2B5EF4-FFF2-40B4-BE49-F238E27FC236}">
                <a16:creationId xmlns:a16="http://schemas.microsoft.com/office/drawing/2014/main" id="{F7572AA1-6FD4-4384-9680-44B1152DC9A1}"/>
              </a:ext>
            </a:extLst>
          </p:cNvPr>
          <p:cNvSpPr>
            <a:spLocks noGrp="1"/>
          </p:cNvSpPr>
          <p:nvPr/>
        </p:nvSpPr>
        <p:spPr>
          <a:xfrm>
            <a:off x="3114675"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1</a:t>
            </a:r>
          </a:p>
        </p:txBody>
      </p:sp>
      <p:sp>
        <p:nvSpPr>
          <p:cNvPr id="17" name="boundary-1">
            <a:extLst>
              <a:ext uri="{FF2B5EF4-FFF2-40B4-BE49-F238E27FC236}">
                <a16:creationId xmlns:a16="http://schemas.microsoft.com/office/drawing/2014/main" id="{94ADE813-4F39-4F55-9CB3-679934A22AD1}"/>
              </a:ext>
            </a:extLst>
          </p:cNvPr>
          <p:cNvSpPr>
            <a:spLocks noGrp="1"/>
          </p:cNvSpPr>
          <p:nvPr/>
        </p:nvSpPr>
        <p:spPr>
          <a:xfrm>
            <a:off x="5953125" y="2352675"/>
            <a:ext cx="38100" cy="1600200"/>
          </a:xfrm>
          <a:prstGeom prst="rect">
            <a:avLst/>
          </a:prstGeom>
          <a:solidFill>
            <a:srgbClr val="C62828"/>
          </a:solidFill>
          <a:ln w="0">
            <a:solidFill>
              <a:srgbClr val="C62828"/>
            </a:solidFill>
            <a:prstDash val="solid"/>
          </a:ln>
        </p:spPr>
        <p:txBody>
          <a:bodyPr/>
          <a:lstStyle/>
          <a:p>
            <a:endParaRPr lang="en-US"/>
          </a:p>
        </p:txBody>
      </p:sp>
      <p:sp>
        <p:nvSpPr>
          <p:cNvPr id="18" name="boundary-label-1">
            <a:extLst>
              <a:ext uri="{FF2B5EF4-FFF2-40B4-BE49-F238E27FC236}">
                <a16:creationId xmlns:a16="http://schemas.microsoft.com/office/drawing/2014/main" id="{B5D770A1-1945-4082-93CF-4BE5795D7F5B}"/>
              </a:ext>
            </a:extLst>
          </p:cNvPr>
          <p:cNvSpPr>
            <a:spLocks noGrp="1"/>
          </p:cNvSpPr>
          <p:nvPr/>
        </p:nvSpPr>
        <p:spPr>
          <a:xfrm>
            <a:off x="5381625" y="2000250"/>
            <a:ext cx="1143000" cy="28575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$5,000</a:t>
            </a:r>
          </a:p>
        </p:txBody>
      </p:sp>
      <p:sp>
        <p:nvSpPr>
          <p:cNvPr id="19" name="b1v0-circle">
            <a:extLst>
              <a:ext uri="{FF2B5EF4-FFF2-40B4-BE49-F238E27FC236}">
                <a16:creationId xmlns:a16="http://schemas.microsoft.com/office/drawing/2014/main" id="{0256AAD3-7DF4-4EBD-BF70-00B85EE5B36C}"/>
              </a:ext>
            </a:extLst>
          </p:cNvPr>
          <p:cNvSpPr>
            <a:spLocks noGrp="1"/>
          </p:cNvSpPr>
          <p:nvPr/>
        </p:nvSpPr>
        <p:spPr>
          <a:xfrm>
            <a:off x="5076825"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20" name="b1v0-label">
            <a:extLst>
              <a:ext uri="{FF2B5EF4-FFF2-40B4-BE49-F238E27FC236}">
                <a16:creationId xmlns:a16="http://schemas.microsoft.com/office/drawing/2014/main" id="{5D0BB6C7-02AA-46A6-AF13-4F1BA30B1628}"/>
              </a:ext>
            </a:extLst>
          </p:cNvPr>
          <p:cNvSpPr>
            <a:spLocks noGrp="1"/>
          </p:cNvSpPr>
          <p:nvPr/>
        </p:nvSpPr>
        <p:spPr>
          <a:xfrm>
            <a:off x="5076825"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21" name="b1t0">
            <a:extLst>
              <a:ext uri="{FF2B5EF4-FFF2-40B4-BE49-F238E27FC236}">
                <a16:creationId xmlns:a16="http://schemas.microsoft.com/office/drawing/2014/main" id="{2B0B4F1D-296A-4CFD-9983-103818FB8D23}"/>
              </a:ext>
            </a:extLst>
          </p:cNvPr>
          <p:cNvSpPr>
            <a:spLocks noGrp="1"/>
          </p:cNvSpPr>
          <p:nvPr/>
        </p:nvSpPr>
        <p:spPr>
          <a:xfrm>
            <a:off x="4819650"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4,999</a:t>
            </a:r>
          </a:p>
        </p:txBody>
      </p:sp>
      <p:sp>
        <p:nvSpPr>
          <p:cNvPr id="22" name="b1v1-circle">
            <a:extLst>
              <a:ext uri="{FF2B5EF4-FFF2-40B4-BE49-F238E27FC236}">
                <a16:creationId xmlns:a16="http://schemas.microsoft.com/office/drawing/2014/main" id="{485DAEAA-8E3A-4530-ABF4-BDA097F9E140}"/>
              </a:ext>
            </a:extLst>
          </p:cNvPr>
          <p:cNvSpPr>
            <a:spLocks noGrp="1"/>
          </p:cNvSpPr>
          <p:nvPr/>
        </p:nvSpPr>
        <p:spPr>
          <a:xfrm>
            <a:off x="5762625" y="4219575"/>
            <a:ext cx="381000" cy="381000"/>
          </a:xfrm>
          <a:prstGeom prst="ellipse">
            <a:avLst/>
          </a:prstGeom>
          <a:solidFill>
            <a:srgbClr val="FFFFFF"/>
          </a:solidFill>
          <a:ln w="28575">
            <a:solidFill>
              <a:srgbClr val="C62828"/>
            </a:solidFill>
            <a:prstDash val="solid"/>
          </a:ln>
        </p:spPr>
        <p:txBody>
          <a:bodyPr/>
          <a:lstStyle/>
          <a:p>
            <a:endParaRPr lang="en-US"/>
          </a:p>
        </p:txBody>
      </p:sp>
      <p:sp>
        <p:nvSpPr>
          <p:cNvPr id="23" name="b1v1-label">
            <a:extLst>
              <a:ext uri="{FF2B5EF4-FFF2-40B4-BE49-F238E27FC236}">
                <a16:creationId xmlns:a16="http://schemas.microsoft.com/office/drawing/2014/main" id="{7249FC5B-7D68-4FA2-AA93-865D2494155E}"/>
              </a:ext>
            </a:extLst>
          </p:cNvPr>
          <p:cNvSpPr>
            <a:spLocks noGrp="1"/>
          </p:cNvSpPr>
          <p:nvPr/>
        </p:nvSpPr>
        <p:spPr>
          <a:xfrm>
            <a:off x="5762625" y="4210050"/>
            <a:ext cx="381000" cy="381000"/>
          </a:xfrm>
          <a:prstGeom prst="rect">
            <a:avLst/>
          </a:prstGeom>
          <a:noFill/>
          <a:ln w="0">
            <a:noFill/>
            <a:prstDash val="solid"/>
          </a:ln>
        </p:spPr>
        <p:txBody>
          <a:bodyPr anchor="ctr"/>
          <a:lstStyle/>
          <a:p>
            <a:pPr algn="ctr">
              <a:defRPr sz="1275" b="1">
                <a:solidFill>
                  <a:srgbClr val="C62828"/>
                </a:solidFill>
              </a:defRPr>
            </a:pPr>
            <a:r>
              <a:rPr sz="1275" b="1">
                <a:solidFill>
                  <a:srgbClr val="C62828"/>
                </a:solidFill>
              </a:rPr>
              <a:t>●</a:t>
            </a:r>
          </a:p>
        </p:txBody>
      </p:sp>
      <p:sp>
        <p:nvSpPr>
          <p:cNvPr id="24" name="b1t1">
            <a:extLst>
              <a:ext uri="{FF2B5EF4-FFF2-40B4-BE49-F238E27FC236}">
                <a16:creationId xmlns:a16="http://schemas.microsoft.com/office/drawing/2014/main" id="{4039AD06-4059-4CA5-9CF4-A787AFCB0561}"/>
              </a:ext>
            </a:extLst>
          </p:cNvPr>
          <p:cNvSpPr>
            <a:spLocks noGrp="1"/>
          </p:cNvSpPr>
          <p:nvPr/>
        </p:nvSpPr>
        <p:spPr>
          <a:xfrm>
            <a:off x="5505450" y="4667250"/>
            <a:ext cx="895350" cy="266700"/>
          </a:xfrm>
          <a:prstGeom prst="rect">
            <a:avLst/>
          </a:prstGeom>
          <a:noFill/>
          <a:ln w="0">
            <a:noFill/>
            <a:prstDash val="solid"/>
          </a:ln>
        </p:spPr>
        <p:txBody>
          <a:bodyPr anchor="ctr"/>
          <a:lstStyle/>
          <a:p>
            <a:pPr algn="ctr">
              <a:defRPr sz="1200" b="1">
                <a:solidFill>
                  <a:srgbClr val="C62828"/>
                </a:solidFill>
              </a:defRPr>
            </a:pPr>
            <a:r>
              <a:rPr sz="1200" b="1">
                <a:solidFill>
                  <a:srgbClr val="C62828"/>
                </a:solidFill>
              </a:rPr>
              <a:t>5,000</a:t>
            </a:r>
          </a:p>
        </p:txBody>
      </p:sp>
      <p:sp>
        <p:nvSpPr>
          <p:cNvPr id="25" name="b1v2-circle">
            <a:extLst>
              <a:ext uri="{FF2B5EF4-FFF2-40B4-BE49-F238E27FC236}">
                <a16:creationId xmlns:a16="http://schemas.microsoft.com/office/drawing/2014/main" id="{ABFC2D87-8DC9-4884-A65B-6171C82A65DB}"/>
              </a:ext>
            </a:extLst>
          </p:cNvPr>
          <p:cNvSpPr>
            <a:spLocks noGrp="1"/>
          </p:cNvSpPr>
          <p:nvPr/>
        </p:nvSpPr>
        <p:spPr>
          <a:xfrm>
            <a:off x="6467475"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26" name="b1v2-label">
            <a:extLst>
              <a:ext uri="{FF2B5EF4-FFF2-40B4-BE49-F238E27FC236}">
                <a16:creationId xmlns:a16="http://schemas.microsoft.com/office/drawing/2014/main" id="{30AE24CC-4417-4736-A82D-3E3FFBB558CE}"/>
              </a:ext>
            </a:extLst>
          </p:cNvPr>
          <p:cNvSpPr>
            <a:spLocks noGrp="1"/>
          </p:cNvSpPr>
          <p:nvPr/>
        </p:nvSpPr>
        <p:spPr>
          <a:xfrm>
            <a:off x="6467475"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27" name="b1t2">
            <a:extLst>
              <a:ext uri="{FF2B5EF4-FFF2-40B4-BE49-F238E27FC236}">
                <a16:creationId xmlns:a16="http://schemas.microsoft.com/office/drawing/2014/main" id="{2908CBD7-AD0D-408A-81A5-7F8BC8FEC675}"/>
              </a:ext>
            </a:extLst>
          </p:cNvPr>
          <p:cNvSpPr>
            <a:spLocks noGrp="1"/>
          </p:cNvSpPr>
          <p:nvPr/>
        </p:nvSpPr>
        <p:spPr>
          <a:xfrm>
            <a:off x="6210300"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5,001</a:t>
            </a:r>
          </a:p>
        </p:txBody>
      </p:sp>
      <p:sp>
        <p:nvSpPr>
          <p:cNvPr id="28" name="boundary-2">
            <a:extLst>
              <a:ext uri="{FF2B5EF4-FFF2-40B4-BE49-F238E27FC236}">
                <a16:creationId xmlns:a16="http://schemas.microsoft.com/office/drawing/2014/main" id="{8C4D745B-F34D-4BDA-B176-EB43CD829031}"/>
              </a:ext>
            </a:extLst>
          </p:cNvPr>
          <p:cNvSpPr>
            <a:spLocks noGrp="1"/>
          </p:cNvSpPr>
          <p:nvPr/>
        </p:nvSpPr>
        <p:spPr>
          <a:xfrm>
            <a:off x="9048750" y="2352675"/>
            <a:ext cx="38100" cy="1600200"/>
          </a:xfrm>
          <a:prstGeom prst="rect">
            <a:avLst/>
          </a:prstGeom>
          <a:solidFill>
            <a:srgbClr val="C62828"/>
          </a:solidFill>
          <a:ln w="0">
            <a:solidFill>
              <a:srgbClr val="C62828"/>
            </a:solidFill>
            <a:prstDash val="solid"/>
          </a:ln>
        </p:spPr>
        <p:txBody>
          <a:bodyPr/>
          <a:lstStyle/>
          <a:p>
            <a:endParaRPr lang="en-US"/>
          </a:p>
        </p:txBody>
      </p:sp>
      <p:sp>
        <p:nvSpPr>
          <p:cNvPr id="29" name="boundary-label-2">
            <a:extLst>
              <a:ext uri="{FF2B5EF4-FFF2-40B4-BE49-F238E27FC236}">
                <a16:creationId xmlns:a16="http://schemas.microsoft.com/office/drawing/2014/main" id="{92D787D5-C1A9-4E94-A71B-E93AAA8A087D}"/>
              </a:ext>
            </a:extLst>
          </p:cNvPr>
          <p:cNvSpPr>
            <a:spLocks noGrp="1"/>
          </p:cNvSpPr>
          <p:nvPr/>
        </p:nvSpPr>
        <p:spPr>
          <a:xfrm>
            <a:off x="8477250" y="2000250"/>
            <a:ext cx="1143000" cy="285750"/>
          </a:xfrm>
          <a:prstGeom prst="rect">
            <a:avLst/>
          </a:prstGeom>
          <a:noFill/>
          <a:ln w="0">
            <a:noFill/>
            <a:prstDash val="solid"/>
          </a:ln>
        </p:spPr>
        <p:txBody>
          <a:bodyPr anchor="ctr"/>
          <a:lstStyle/>
          <a:p>
            <a:pPr algn="ctr">
              <a:defRPr sz="1500" b="1">
                <a:solidFill>
                  <a:srgbClr val="C62828"/>
                </a:solidFill>
              </a:defRPr>
            </a:pPr>
            <a:r>
              <a:rPr sz="1500" b="1">
                <a:solidFill>
                  <a:srgbClr val="C62828"/>
                </a:solidFill>
              </a:rPr>
              <a:t>$10,000</a:t>
            </a:r>
          </a:p>
        </p:txBody>
      </p:sp>
      <p:sp>
        <p:nvSpPr>
          <p:cNvPr id="30" name="b2v0-circle">
            <a:extLst>
              <a:ext uri="{FF2B5EF4-FFF2-40B4-BE49-F238E27FC236}">
                <a16:creationId xmlns:a16="http://schemas.microsoft.com/office/drawing/2014/main" id="{737485A3-E169-4D11-9AA7-D9544143398E}"/>
              </a:ext>
            </a:extLst>
          </p:cNvPr>
          <p:cNvSpPr>
            <a:spLocks noGrp="1"/>
          </p:cNvSpPr>
          <p:nvPr/>
        </p:nvSpPr>
        <p:spPr>
          <a:xfrm>
            <a:off x="8172450"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31" name="b2v0-label">
            <a:extLst>
              <a:ext uri="{FF2B5EF4-FFF2-40B4-BE49-F238E27FC236}">
                <a16:creationId xmlns:a16="http://schemas.microsoft.com/office/drawing/2014/main" id="{5260CA20-3843-4289-8EB6-20DD4D470628}"/>
              </a:ext>
            </a:extLst>
          </p:cNvPr>
          <p:cNvSpPr>
            <a:spLocks noGrp="1"/>
          </p:cNvSpPr>
          <p:nvPr/>
        </p:nvSpPr>
        <p:spPr>
          <a:xfrm>
            <a:off x="8172450"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32" name="b2t0">
            <a:extLst>
              <a:ext uri="{FF2B5EF4-FFF2-40B4-BE49-F238E27FC236}">
                <a16:creationId xmlns:a16="http://schemas.microsoft.com/office/drawing/2014/main" id="{3E3FEA97-74AB-4039-8EA3-074C5F157B6D}"/>
              </a:ext>
            </a:extLst>
          </p:cNvPr>
          <p:cNvSpPr>
            <a:spLocks noGrp="1"/>
          </p:cNvSpPr>
          <p:nvPr/>
        </p:nvSpPr>
        <p:spPr>
          <a:xfrm>
            <a:off x="7915275"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9,999</a:t>
            </a:r>
          </a:p>
        </p:txBody>
      </p:sp>
      <p:sp>
        <p:nvSpPr>
          <p:cNvPr id="33" name="b2v1-circle">
            <a:extLst>
              <a:ext uri="{FF2B5EF4-FFF2-40B4-BE49-F238E27FC236}">
                <a16:creationId xmlns:a16="http://schemas.microsoft.com/office/drawing/2014/main" id="{BF328E9A-B6BC-45A2-9318-196382DB4204}"/>
              </a:ext>
            </a:extLst>
          </p:cNvPr>
          <p:cNvSpPr>
            <a:spLocks noGrp="1"/>
          </p:cNvSpPr>
          <p:nvPr/>
        </p:nvSpPr>
        <p:spPr>
          <a:xfrm>
            <a:off x="8858250" y="4219575"/>
            <a:ext cx="381000" cy="381000"/>
          </a:xfrm>
          <a:prstGeom prst="ellipse">
            <a:avLst/>
          </a:prstGeom>
          <a:solidFill>
            <a:srgbClr val="FFFFFF"/>
          </a:solidFill>
          <a:ln w="28575">
            <a:solidFill>
              <a:srgbClr val="C62828"/>
            </a:solidFill>
            <a:prstDash val="solid"/>
          </a:ln>
        </p:spPr>
        <p:txBody>
          <a:bodyPr/>
          <a:lstStyle/>
          <a:p>
            <a:endParaRPr lang="en-US"/>
          </a:p>
        </p:txBody>
      </p:sp>
      <p:sp>
        <p:nvSpPr>
          <p:cNvPr id="34" name="b2v1-label">
            <a:extLst>
              <a:ext uri="{FF2B5EF4-FFF2-40B4-BE49-F238E27FC236}">
                <a16:creationId xmlns:a16="http://schemas.microsoft.com/office/drawing/2014/main" id="{041131E5-8C94-4C78-A59B-AE0835C343EF}"/>
              </a:ext>
            </a:extLst>
          </p:cNvPr>
          <p:cNvSpPr>
            <a:spLocks noGrp="1"/>
          </p:cNvSpPr>
          <p:nvPr/>
        </p:nvSpPr>
        <p:spPr>
          <a:xfrm>
            <a:off x="8858250" y="4210050"/>
            <a:ext cx="381000" cy="381000"/>
          </a:xfrm>
          <a:prstGeom prst="rect">
            <a:avLst/>
          </a:prstGeom>
          <a:noFill/>
          <a:ln w="0">
            <a:noFill/>
            <a:prstDash val="solid"/>
          </a:ln>
        </p:spPr>
        <p:txBody>
          <a:bodyPr anchor="ctr"/>
          <a:lstStyle/>
          <a:p>
            <a:pPr algn="ctr">
              <a:defRPr sz="1275" b="1">
                <a:solidFill>
                  <a:srgbClr val="C62828"/>
                </a:solidFill>
              </a:defRPr>
            </a:pPr>
            <a:r>
              <a:rPr sz="1275" b="1">
                <a:solidFill>
                  <a:srgbClr val="C62828"/>
                </a:solidFill>
              </a:rPr>
              <a:t>●</a:t>
            </a:r>
          </a:p>
        </p:txBody>
      </p:sp>
      <p:sp>
        <p:nvSpPr>
          <p:cNvPr id="35" name="b2t1">
            <a:extLst>
              <a:ext uri="{FF2B5EF4-FFF2-40B4-BE49-F238E27FC236}">
                <a16:creationId xmlns:a16="http://schemas.microsoft.com/office/drawing/2014/main" id="{A1B350E7-5399-41DA-87F4-5CCB5B7291AC}"/>
              </a:ext>
            </a:extLst>
          </p:cNvPr>
          <p:cNvSpPr>
            <a:spLocks noGrp="1"/>
          </p:cNvSpPr>
          <p:nvPr/>
        </p:nvSpPr>
        <p:spPr>
          <a:xfrm>
            <a:off x="8601075" y="4667250"/>
            <a:ext cx="895350" cy="266700"/>
          </a:xfrm>
          <a:prstGeom prst="rect">
            <a:avLst/>
          </a:prstGeom>
          <a:noFill/>
          <a:ln w="0">
            <a:noFill/>
            <a:prstDash val="solid"/>
          </a:ln>
        </p:spPr>
        <p:txBody>
          <a:bodyPr anchor="ctr"/>
          <a:lstStyle/>
          <a:p>
            <a:pPr algn="ctr">
              <a:defRPr sz="1200" b="1">
                <a:solidFill>
                  <a:srgbClr val="C62828"/>
                </a:solidFill>
              </a:defRPr>
            </a:pPr>
            <a:r>
              <a:rPr sz="1200" b="1">
                <a:solidFill>
                  <a:srgbClr val="C62828"/>
                </a:solidFill>
              </a:rPr>
              <a:t>10,000</a:t>
            </a:r>
          </a:p>
        </p:txBody>
      </p:sp>
      <p:sp>
        <p:nvSpPr>
          <p:cNvPr id="36" name="b2v2-circle">
            <a:extLst>
              <a:ext uri="{FF2B5EF4-FFF2-40B4-BE49-F238E27FC236}">
                <a16:creationId xmlns:a16="http://schemas.microsoft.com/office/drawing/2014/main" id="{494C78D9-8963-4BC2-B231-692D28009515}"/>
              </a:ext>
            </a:extLst>
          </p:cNvPr>
          <p:cNvSpPr>
            <a:spLocks noGrp="1"/>
          </p:cNvSpPr>
          <p:nvPr/>
        </p:nvSpPr>
        <p:spPr>
          <a:xfrm>
            <a:off x="9563100" y="4219575"/>
            <a:ext cx="381000" cy="381000"/>
          </a:xfrm>
          <a:prstGeom prst="ellipse">
            <a:avLst/>
          </a:prstGeom>
          <a:solidFill>
            <a:srgbClr val="FFFFFF"/>
          </a:solidFill>
          <a:ln w="28575">
            <a:solidFill>
              <a:srgbClr val="17365D"/>
            </a:solidFill>
            <a:prstDash val="solid"/>
          </a:ln>
        </p:spPr>
        <p:txBody>
          <a:bodyPr/>
          <a:lstStyle/>
          <a:p>
            <a:endParaRPr lang="en-US"/>
          </a:p>
        </p:txBody>
      </p:sp>
      <p:sp>
        <p:nvSpPr>
          <p:cNvPr id="37" name="b2v2-label">
            <a:extLst>
              <a:ext uri="{FF2B5EF4-FFF2-40B4-BE49-F238E27FC236}">
                <a16:creationId xmlns:a16="http://schemas.microsoft.com/office/drawing/2014/main" id="{05BF46A6-4CCA-445C-A07E-41571C026D19}"/>
              </a:ext>
            </a:extLst>
          </p:cNvPr>
          <p:cNvSpPr>
            <a:spLocks noGrp="1"/>
          </p:cNvSpPr>
          <p:nvPr/>
        </p:nvSpPr>
        <p:spPr>
          <a:xfrm>
            <a:off x="9563100" y="4210050"/>
            <a:ext cx="381000" cy="381000"/>
          </a:xfrm>
          <a:prstGeom prst="rect">
            <a:avLst/>
          </a:prstGeom>
          <a:noFill/>
          <a:ln w="0">
            <a:noFill/>
            <a:prstDash val="solid"/>
          </a:ln>
        </p:spPr>
        <p:txBody>
          <a:bodyPr anchor="ctr"/>
          <a:lstStyle/>
          <a:p>
            <a:pPr algn="ctr">
              <a:defRPr sz="1500" b="1">
                <a:solidFill>
                  <a:srgbClr val="17365D"/>
                </a:solidFill>
              </a:defRPr>
            </a:pPr>
            <a:r>
              <a:rPr sz="1500" b="1">
                <a:solidFill>
                  <a:srgbClr val="17365D"/>
                </a:solidFill>
              </a:rPr>
              <a:t>○</a:t>
            </a:r>
          </a:p>
        </p:txBody>
      </p:sp>
      <p:sp>
        <p:nvSpPr>
          <p:cNvPr id="38" name="b2t2">
            <a:extLst>
              <a:ext uri="{FF2B5EF4-FFF2-40B4-BE49-F238E27FC236}">
                <a16:creationId xmlns:a16="http://schemas.microsoft.com/office/drawing/2014/main" id="{095406F6-EA23-495C-9662-BD0675C5232C}"/>
              </a:ext>
            </a:extLst>
          </p:cNvPr>
          <p:cNvSpPr>
            <a:spLocks noGrp="1"/>
          </p:cNvSpPr>
          <p:nvPr/>
        </p:nvSpPr>
        <p:spPr>
          <a:xfrm>
            <a:off x="9305925" y="4667250"/>
            <a:ext cx="8953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10,001</a:t>
            </a:r>
          </a:p>
        </p:txBody>
      </p:sp>
      <p:sp>
        <p:nvSpPr>
          <p:cNvPr id="39" name="below">
            <a:extLst>
              <a:ext uri="{FF2B5EF4-FFF2-40B4-BE49-F238E27FC236}">
                <a16:creationId xmlns:a16="http://schemas.microsoft.com/office/drawing/2014/main" id="{C3B1B8A2-0A6B-48D7-A866-AD0AF0AA0A2D}"/>
              </a:ext>
            </a:extLst>
          </p:cNvPr>
          <p:cNvSpPr>
            <a:spLocks noGrp="1"/>
          </p:cNvSpPr>
          <p:nvPr/>
        </p:nvSpPr>
        <p:spPr>
          <a:xfrm>
            <a:off x="1447800" y="3781425"/>
            <a:ext cx="1619250" cy="266700"/>
          </a:xfrm>
          <a:prstGeom prst="rect">
            <a:avLst/>
          </a:prstGeom>
          <a:noFill/>
          <a:ln w="0">
            <a:noFill/>
            <a:prstDash val="solid"/>
          </a:ln>
        </p:spPr>
        <p:txBody>
          <a:bodyPr anchor="ctr"/>
          <a:lstStyle/>
          <a:p>
            <a:pPr algn="ctr">
              <a:defRPr sz="1200" b="0">
                <a:solidFill>
                  <a:srgbClr val="17365D"/>
                </a:solidFill>
              </a:defRPr>
            </a:pPr>
            <a:r>
              <a:rPr sz="1200" b="0" dirty="0">
                <a:solidFill>
                  <a:srgbClr val="17365D"/>
                </a:solidFill>
              </a:rPr>
              <a:t>just below</a:t>
            </a:r>
          </a:p>
        </p:txBody>
      </p:sp>
      <p:sp>
        <p:nvSpPr>
          <p:cNvPr id="40" name="at">
            <a:extLst>
              <a:ext uri="{FF2B5EF4-FFF2-40B4-BE49-F238E27FC236}">
                <a16:creationId xmlns:a16="http://schemas.microsoft.com/office/drawing/2014/main" id="{61CB594D-86CD-42B5-97E4-742209EB2B11}"/>
              </a:ext>
            </a:extLst>
          </p:cNvPr>
          <p:cNvSpPr>
            <a:spLocks noGrp="1"/>
          </p:cNvSpPr>
          <p:nvPr/>
        </p:nvSpPr>
        <p:spPr>
          <a:xfrm>
            <a:off x="3105150" y="3781425"/>
            <a:ext cx="857250" cy="266700"/>
          </a:xfrm>
          <a:prstGeom prst="rect">
            <a:avLst/>
          </a:prstGeom>
          <a:noFill/>
          <a:ln w="0">
            <a:noFill/>
            <a:prstDash val="solid"/>
          </a:ln>
        </p:spPr>
        <p:txBody>
          <a:bodyPr anchor="ctr"/>
          <a:lstStyle/>
          <a:p>
            <a:pPr algn="ctr">
              <a:defRPr sz="1200" b="1">
                <a:solidFill>
                  <a:srgbClr val="C62828"/>
                </a:solidFill>
              </a:defRPr>
            </a:pPr>
            <a:r>
              <a:rPr sz="1200" b="1">
                <a:solidFill>
                  <a:srgbClr val="C62828"/>
                </a:solidFill>
              </a:rPr>
              <a:t>at</a:t>
            </a:r>
          </a:p>
        </p:txBody>
      </p:sp>
      <p:sp>
        <p:nvSpPr>
          <p:cNvPr id="41" name="above">
            <a:extLst>
              <a:ext uri="{FF2B5EF4-FFF2-40B4-BE49-F238E27FC236}">
                <a16:creationId xmlns:a16="http://schemas.microsoft.com/office/drawing/2014/main" id="{FF14720B-11EF-40ED-A94C-4A188E5BB7EE}"/>
              </a:ext>
            </a:extLst>
          </p:cNvPr>
          <p:cNvSpPr>
            <a:spLocks noGrp="1"/>
          </p:cNvSpPr>
          <p:nvPr/>
        </p:nvSpPr>
        <p:spPr>
          <a:xfrm>
            <a:off x="3943350" y="3781425"/>
            <a:ext cx="1619250" cy="266700"/>
          </a:xfrm>
          <a:prstGeom prst="rect">
            <a:avLst/>
          </a:prstGeom>
          <a:noFill/>
          <a:ln w="0">
            <a:noFill/>
            <a:prstDash val="solid"/>
          </a:ln>
        </p:spPr>
        <p:txBody>
          <a:bodyPr anchor="ctr"/>
          <a:lstStyle/>
          <a:p>
            <a:pPr algn="ctr">
              <a:defRPr sz="1200" b="0">
                <a:solidFill>
                  <a:srgbClr val="17365D"/>
                </a:solidFill>
              </a:defRPr>
            </a:pPr>
            <a:r>
              <a:rPr sz="1200" b="0">
                <a:solidFill>
                  <a:srgbClr val="17365D"/>
                </a:solidFill>
              </a:rPr>
              <a:t>just above</a:t>
            </a:r>
          </a:p>
        </p:txBody>
      </p:sp>
      <p:sp>
        <p:nvSpPr>
          <p:cNvPr id="42" name="takeaway">
            <a:extLst>
              <a:ext uri="{FF2B5EF4-FFF2-40B4-BE49-F238E27FC236}">
                <a16:creationId xmlns:a16="http://schemas.microsoft.com/office/drawing/2014/main" id="{5A081469-EDA3-479C-8943-8A98724E3CE6}"/>
              </a:ext>
            </a:extLst>
          </p:cNvPr>
          <p:cNvSpPr>
            <a:spLocks noGrp="1"/>
          </p:cNvSpPr>
          <p:nvPr/>
        </p:nvSpPr>
        <p:spPr>
          <a:xfrm>
            <a:off x="781050" y="5467350"/>
            <a:ext cx="10629900" cy="723900"/>
          </a:xfrm>
          <a:prstGeom prst="roundRect">
            <a:avLst>
              <a:gd name="adj" fmla="val 10526"/>
            </a:avLst>
          </a:prstGeom>
          <a:solidFill>
            <a:srgbClr val="EAF5EB"/>
          </a:solidFill>
          <a:ln w="19050">
            <a:solidFill>
              <a:srgbClr val="2E7D32"/>
            </a:solidFill>
            <a:prstDash val="solid"/>
          </a:ln>
        </p:spPr>
        <p:txBody>
          <a:bodyPr/>
          <a:lstStyle/>
          <a:p>
            <a:endParaRPr lang="en-US"/>
          </a:p>
        </p:txBody>
      </p:sp>
      <p:sp>
        <p:nvSpPr>
          <p:cNvPr id="43" name="takeaway-text">
            <a:extLst>
              <a:ext uri="{FF2B5EF4-FFF2-40B4-BE49-F238E27FC236}">
                <a16:creationId xmlns:a16="http://schemas.microsoft.com/office/drawing/2014/main" id="{FD7C30D4-375B-4C28-814E-66BD4D955061}"/>
              </a:ext>
            </a:extLst>
          </p:cNvPr>
          <p:cNvSpPr>
            <a:spLocks noGrp="1"/>
          </p:cNvSpPr>
          <p:nvPr/>
        </p:nvSpPr>
        <p:spPr>
          <a:xfrm>
            <a:off x="1066800" y="5619750"/>
            <a:ext cx="10058400" cy="419100"/>
          </a:xfrm>
          <a:prstGeom prst="rect">
            <a:avLst/>
          </a:prstGeom>
          <a:noFill/>
          <a:ln w="0">
            <a:noFill/>
            <a:prstDash val="solid"/>
          </a:ln>
        </p:spPr>
        <p:txBody>
          <a:bodyPr anchor="ctr"/>
          <a:lstStyle/>
          <a:p>
            <a:pPr algn="ctr">
              <a:defRPr sz="1800" b="1">
                <a:solidFill>
                  <a:srgbClr val="2E7D32"/>
                </a:solidFill>
              </a:defRPr>
            </a:pPr>
            <a:r>
              <a:rPr sz="1800" b="1">
                <a:solidFill>
                  <a:srgbClr val="2E7D32"/>
                </a:solidFill>
              </a:rPr>
              <a:t>Partitions cover the categories; boundary tests probe the transitions between them.</a:t>
            </a:r>
          </a:p>
        </p:txBody>
      </p:sp>
    </p:spTree>
    <p:extLst>
      <p:ext uri="{BB962C8B-B14F-4D97-AF65-F5344CB8AC3E}">
        <p14:creationId xmlns:p14="http://schemas.microsoft.com/office/powerpoint/2010/main" val="614523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500"/>
                                        <p:tgtEl>
                                          <p:spTgt spid="1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500"/>
                                        <p:tgtEl>
                                          <p:spTgt spid="1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50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50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50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500"/>
                                        <p:tgtEl>
                                          <p:spTgt spid="3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500"/>
                                        <p:tgtEl>
                                          <p:spTgt spid="3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500"/>
                                        <p:tgtEl>
                                          <p:spTgt spid="4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500"/>
                                        <p:tgtEl>
                                          <p:spTgt spid="41"/>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500"/>
                                        <p:tgtEl>
                                          <p:spTgt spid="42"/>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fade">
                                      <p:cBhvr>
                                        <p:cTn id="128"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8" grpId="0" animBg="1"/>
      <p:bldP spid="9" grpId="0"/>
      <p:bldP spid="10" grpId="0"/>
      <p:bldP spid="11" grpId="0" animBg="1"/>
      <p:bldP spid="12" grpId="0"/>
      <p:bldP spid="13" grpId="0"/>
      <p:bldP spid="14" grpId="0" animBg="1"/>
      <p:bldP spid="15" grpId="0"/>
      <p:bldP spid="16" grpId="0"/>
      <p:bldP spid="17" grpId="0" animBg="1"/>
      <p:bldP spid="18" grpId="0"/>
      <p:bldP spid="19" grpId="0" animBg="1"/>
      <p:bldP spid="20" grpId="0"/>
      <p:bldP spid="21" grpId="0"/>
      <p:bldP spid="22" grpId="0" animBg="1"/>
      <p:bldP spid="23" grpId="0"/>
      <p:bldP spid="24" grpId="0"/>
      <p:bldP spid="25" grpId="0" animBg="1"/>
      <p:bldP spid="26" grpId="0"/>
      <p:bldP spid="27" grpId="0"/>
      <p:bldP spid="28" grpId="0" animBg="1"/>
      <p:bldP spid="29" grpId="0"/>
      <p:bldP spid="30" grpId="0" animBg="1"/>
      <p:bldP spid="31" grpId="0"/>
      <p:bldP spid="32" grpId="0"/>
      <p:bldP spid="33" grpId="0" animBg="1"/>
      <p:bldP spid="34" grpId="0"/>
      <p:bldP spid="35" grpId="0"/>
      <p:bldP spid="36" grpId="0" animBg="1"/>
      <p:bldP spid="37" grpId="0"/>
      <p:bldP spid="38" grpId="0"/>
      <p:bldP spid="39" grpId="0"/>
      <p:bldP spid="40" grpId="0"/>
      <p:bldP spid="41" grpId="0"/>
      <p:bldP spid="42" grpId="0" animBg="1"/>
      <p:bldP spid="4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B2A47-9EDA-3CE5-AFA8-568EA9675DA3}"/>
              </a:ext>
            </a:extLst>
          </p:cNvPr>
          <p:cNvSpPr>
            <a:spLocks noGrp="1"/>
          </p:cNvSpPr>
          <p:nvPr>
            <p:ph type="title"/>
          </p:nvPr>
        </p:nvSpPr>
        <p:spPr>
          <a:xfrm>
            <a:off x="838200" y="18255"/>
            <a:ext cx="10515600" cy="1325563"/>
          </a:xfrm>
        </p:spPr>
        <p:txBody>
          <a:bodyPr/>
          <a:lstStyle/>
          <a:p>
            <a:r>
              <a:t>Mutation Testing</a:t>
            </a:r>
          </a:p>
        </p:txBody>
      </p:sp>
      <p:pic>
        <p:nvPicPr>
          <p:cNvPr id="47" name="Picture 2"/>
          <p:cNvPicPr>
            <a:picLocks noChangeAspect="1"/>
          </p:cNvPicPr>
          <p:nvPr/>
        </p:nvPicPr>
        <p:blipFill rotWithShape="1">
          <a:blip r:embed="rId3"/>
          <a:srcRect b="64289"/>
          <a:stretch>
            <a:fillRect/>
          </a:stretch>
        </p:blipFill>
        <p:spPr>
          <a:xfrm>
            <a:off x="390978" y="1191116"/>
            <a:ext cx="4169229" cy="1116655"/>
          </a:xfrm>
          <a:prstGeom prst="rect">
            <a:avLst/>
          </a:prstGeom>
        </p:spPr>
      </p:pic>
      <p:sp>
        <p:nvSpPr>
          <p:cNvPr id="9" name="TextBox 8">
            <a:extLst>
              <a:ext uri="{FF2B5EF4-FFF2-40B4-BE49-F238E27FC236}">
                <a16:creationId xmlns:a16="http://schemas.microsoft.com/office/drawing/2014/main" id="{3C3BDE6E-E065-B18C-CAB8-1917ABCEC7FB}"/>
              </a:ext>
            </a:extLst>
          </p:cNvPr>
          <p:cNvSpPr>
            <a:spLocks noGrp="1"/>
          </p:cNvSpPr>
          <p:nvPr/>
        </p:nvSpPr>
        <p:spPr>
          <a:xfrm>
            <a:off x="6736218" y="1194935"/>
            <a:ext cx="3062513" cy="1938992"/>
          </a:xfrm>
          <a:prstGeom prst="rect">
            <a:avLst/>
          </a:prstGeom>
          <a:noFill/>
          <a:ln w="28575">
            <a:solidFill>
              <a:srgbClr val="0432FF"/>
            </a:solidFill>
          </a:ln>
        </p:spPr>
        <p:txBody>
          <a:bodyPr wrap="square">
            <a:spAutoFit/>
          </a:bodyPr>
          <a:lstStyle/>
          <a:p>
            <a:pPr marL="285750" indent="-285750">
              <a:buFont typeface="Arial"/>
              <a:buChar char="•"/>
            </a:pPr>
            <a:r>
              <a:rPr sz="2400"/>
              <a:t>if(x == y) – Original</a:t>
            </a:r>
          </a:p>
          <a:p>
            <a:pPr marL="285750" indent="-285750">
              <a:buFont typeface="Arial"/>
              <a:buChar char="•"/>
            </a:pPr>
            <a:r>
              <a:rPr sz="2400"/>
              <a:t>if (x != y) – Mutant</a:t>
            </a:r>
          </a:p>
          <a:p>
            <a:pPr marL="285750" indent="-285750">
              <a:buFont typeface="Arial"/>
              <a:buChar char="•"/>
            </a:pPr>
            <a:r>
              <a:rPr sz="2400"/>
              <a:t>if( x &gt; y)  – Mutant</a:t>
            </a:r>
          </a:p>
          <a:p>
            <a:pPr marL="285750" indent="-285750">
              <a:buFont typeface="Arial"/>
              <a:buChar char="•"/>
            </a:pPr>
            <a:r>
              <a:rPr sz="2400"/>
              <a:t>if(x &lt; y)   – Mutant</a:t>
            </a:r>
          </a:p>
          <a:p>
            <a:pPr marL="285750" indent="-285750">
              <a:buFont typeface="Arial"/>
              <a:buChar char="•"/>
            </a:pPr>
            <a:r>
              <a:rPr sz="2400"/>
              <a:t>if(x &gt;= y) – Mutant</a:t>
            </a:r>
          </a:p>
        </p:txBody>
      </p:sp>
      <p:sp>
        <p:nvSpPr>
          <p:cNvPr id="12" name="TextBox 11">
            <a:extLst>
              <a:ext uri="{FF2B5EF4-FFF2-40B4-BE49-F238E27FC236}">
                <a16:creationId xmlns:a16="http://schemas.microsoft.com/office/drawing/2014/main" id="{D553C19C-6565-1A04-FA7F-0B4A5F566FD5}"/>
              </a:ext>
            </a:extLst>
          </p:cNvPr>
          <p:cNvSpPr>
            <a:spLocks noGrp="1"/>
          </p:cNvSpPr>
          <p:nvPr/>
        </p:nvSpPr>
        <p:spPr>
          <a:xfrm>
            <a:off x="390978" y="4693569"/>
            <a:ext cx="11410044" cy="1938992"/>
          </a:xfrm>
          <a:prstGeom prst="rect">
            <a:avLst/>
          </a:prstGeom>
          <a:noFill/>
          <a:ln w="28575">
            <a:solidFill>
              <a:srgbClr val="0432FF"/>
            </a:solidFill>
          </a:ln>
        </p:spPr>
        <p:txBody>
          <a:bodyPr wrap="square">
            <a:spAutoFit/>
          </a:bodyPr>
          <a:lstStyle/>
          <a:p>
            <a:pPr marL="342900" indent="-342900">
              <a:buFont typeface="Arial"/>
              <a:buChar char="•"/>
            </a:pPr>
            <a:r>
              <a:rPr sz="2000"/>
              <a:t>A </a:t>
            </a:r>
            <a:r>
              <a:rPr sz="2000" b="1"/>
              <a:t>mutant</a:t>
            </a:r>
            <a:r>
              <a:rPr sz="2000"/>
              <a:t> in software testing is a </a:t>
            </a:r>
            <a:r>
              <a:rPr sz="2000" b="1"/>
              <a:t>deliberate, small change (fault)</a:t>
            </a:r>
            <a:r>
              <a:rPr sz="2000"/>
              <a:t> introduced into a program’s source code to check whether the existing test suite can detect it.</a:t>
            </a:r>
          </a:p>
          <a:p>
            <a:pPr marL="342900" indent="-342900">
              <a:buFont typeface="Arial"/>
              <a:buChar char="•"/>
            </a:pPr>
            <a:r>
              <a:rPr sz="2000" b="1"/>
              <a:t>Formal Definition</a:t>
            </a:r>
            <a:r>
              <a:rPr sz="2000"/>
              <a:t>: A </a:t>
            </a:r>
            <a:r>
              <a:rPr sz="2000" b="1"/>
              <a:t>mutant</a:t>
            </a:r>
            <a:r>
              <a:rPr sz="2000"/>
              <a:t> is the </a:t>
            </a:r>
            <a:r>
              <a:rPr sz="2000" i="1"/>
              <a:t>modified version of the program</a:t>
            </a:r>
            <a:r>
              <a:rPr sz="2000"/>
              <a:t> created by applying a </a:t>
            </a:r>
            <a:r>
              <a:rPr sz="2000" b="1"/>
              <a:t>mutation operator</a:t>
            </a:r>
            <a:r>
              <a:rPr sz="2000"/>
              <a:t> (like changing </a:t>
            </a:r>
            <a:r>
              <a:t>==</a:t>
            </a:r>
            <a:r>
              <a:rPr sz="2000"/>
              <a:t> to </a:t>
            </a:r>
            <a:r>
              <a:t>!=</a:t>
            </a:r>
            <a:r>
              <a:rPr sz="2000"/>
              <a:t>, </a:t>
            </a:r>
            <a:r>
              <a:t>+</a:t>
            </a:r>
            <a:r>
              <a:rPr sz="2000"/>
              <a:t> to </a:t>
            </a:r>
            <a:r>
              <a:t>-</a:t>
            </a:r>
            <a:r>
              <a:rPr sz="2000"/>
              <a:t>, or </a:t>
            </a:r>
            <a:r>
              <a:t>&amp;&amp;</a:t>
            </a:r>
            <a:r>
              <a:rPr sz="2000"/>
              <a:t> to </a:t>
            </a:r>
            <a:r>
              <a:t>||</a:t>
            </a:r>
            <a:r>
              <a:rPr sz="2000"/>
              <a:t>).</a:t>
            </a:r>
          </a:p>
          <a:p>
            <a:pPr marL="342900" indent="-342900">
              <a:buFont typeface="Arial"/>
              <a:buChar char="•"/>
            </a:pPr>
            <a:r>
              <a:rPr sz="2000"/>
              <a:t>If your tests </a:t>
            </a:r>
            <a:r>
              <a:rPr sz="2000" b="1"/>
              <a:t>fail</a:t>
            </a:r>
            <a:r>
              <a:rPr sz="2000"/>
              <a:t> when run against the mutant → ✅ the mutant is </a:t>
            </a:r>
            <a:r>
              <a:rPr sz="2000" b="1"/>
              <a:t>killed</a:t>
            </a:r>
            <a:r>
              <a:rPr sz="2000"/>
              <a:t> (good test suite).</a:t>
            </a:r>
          </a:p>
          <a:p>
            <a:pPr marL="342900" indent="-342900">
              <a:buFont typeface="Arial"/>
              <a:buChar char="•"/>
            </a:pPr>
            <a:r>
              <a:rPr sz="2000"/>
              <a:t>If your tests </a:t>
            </a:r>
            <a:r>
              <a:rPr sz="2000" b="1"/>
              <a:t>still pass</a:t>
            </a:r>
            <a:r>
              <a:rPr sz="2000"/>
              <a:t> → ❌ the mutant </a:t>
            </a:r>
            <a:r>
              <a:rPr sz="2000" b="1"/>
              <a:t>survives</a:t>
            </a:r>
            <a:r>
              <a:rPr sz="2000"/>
              <a:t> (weak test suite, it missed a fault).</a:t>
            </a:r>
          </a:p>
        </p:txBody>
      </p:sp>
      <p:pic>
        <p:nvPicPr>
          <p:cNvPr id="50" name="Picture 2"/>
          <p:cNvPicPr>
            <a:picLocks noChangeAspect="1"/>
          </p:cNvPicPr>
          <p:nvPr/>
        </p:nvPicPr>
        <p:blipFill rotWithShape="1">
          <a:blip r:embed="rId3"/>
          <a:srcRect t="34530" r="25827"/>
          <a:stretch>
            <a:fillRect/>
          </a:stretch>
        </p:blipFill>
        <p:spPr>
          <a:xfrm>
            <a:off x="390978" y="2259212"/>
            <a:ext cx="3092452" cy="2047195"/>
          </a:xfrm>
          <a:prstGeom prst="rect">
            <a:avLst/>
          </a:prstGeom>
        </p:spPr>
      </p:pic>
      <p:pic>
        <p:nvPicPr>
          <p:cNvPr id="51" name="Picture 2"/>
          <p:cNvPicPr>
            <a:picLocks noChangeAspect="1"/>
          </p:cNvPicPr>
          <p:nvPr/>
        </p:nvPicPr>
        <p:blipFill rotWithShape="1">
          <a:blip r:embed="rId3"/>
          <a:srcRect l="73673" t="37990" b="1"/>
          <a:stretch>
            <a:fillRect/>
          </a:stretch>
        </p:blipFill>
        <p:spPr>
          <a:xfrm>
            <a:off x="3468916" y="2367415"/>
            <a:ext cx="1097640" cy="1938992"/>
          </a:xfrm>
          <a:prstGeom prst="rect">
            <a:avLst/>
          </a:prstGeom>
        </p:spPr>
      </p:pic>
      <p:sp>
        <p:nvSpPr>
          <p:cNvPr id="16" name="mt-background-cover">
            <a:extLst>
              <a:ext uri="{FF2B5EF4-FFF2-40B4-BE49-F238E27FC236}">
                <a16:creationId xmlns:a16="http://schemas.microsoft.com/office/drawing/2014/main" id="{6B9CCBBC-FB7B-48CD-98E4-4728B39C6ECA}"/>
              </a:ext>
            </a:extLst>
          </p:cNvPr>
          <p:cNvSpPr>
            <a:spLocks noGrp="1"/>
          </p:cNvSpPr>
          <p:nvPr/>
        </p:nvSpPr>
        <p:spPr>
          <a:xfrm>
            <a:off x="0" y="0"/>
            <a:ext cx="12192000" cy="6858000"/>
          </a:xfrm>
          <a:prstGeom prst="rect">
            <a:avLst/>
          </a:prstGeom>
          <a:solidFill>
            <a:srgbClr val="FFFFFF"/>
          </a:solidFill>
          <a:ln w="0">
            <a:noFill/>
          </a:ln>
        </p:spPr>
        <p:txBody>
          <a:bodyPr/>
          <a:lstStyle/>
          <a:p>
            <a:endParaRPr lang="en-US"/>
          </a:p>
        </p:txBody>
      </p:sp>
      <p:sp>
        <p:nvSpPr>
          <p:cNvPr id="17" name="mt-title">
            <a:extLst>
              <a:ext uri="{FF2B5EF4-FFF2-40B4-BE49-F238E27FC236}">
                <a16:creationId xmlns:a16="http://schemas.microsoft.com/office/drawing/2014/main" id="{93CFFF61-197A-48F5-8A5B-728CB38BB165}"/>
              </a:ext>
            </a:extLst>
          </p:cNvPr>
          <p:cNvSpPr>
            <a:spLocks noGrp="1"/>
          </p:cNvSpPr>
          <p:nvPr/>
        </p:nvSpPr>
        <p:spPr>
          <a:xfrm>
            <a:off x="781050" y="400050"/>
            <a:ext cx="10620375" cy="609600"/>
          </a:xfrm>
          <a:prstGeom prst="rect">
            <a:avLst/>
          </a:prstGeom>
          <a:noFill/>
          <a:ln w="0">
            <a:noFill/>
          </a:ln>
        </p:spPr>
        <p:txBody>
          <a:bodyPr anchor="ctr">
            <a:normAutofit/>
          </a:bodyPr>
          <a:lstStyle/>
          <a:p>
            <a:pPr algn="l">
              <a:defRPr sz="2850" b="0">
                <a:solidFill>
                  <a:srgbClr val="20364D"/>
                </a:solidFill>
                <a:latin typeface="Calibri"/>
                <a:ea typeface="Calibri"/>
                <a:cs typeface="Calibri"/>
              </a:defRPr>
            </a:pPr>
            <a:r>
              <a:rPr sz="2850" b="0">
                <a:solidFill>
                  <a:srgbClr val="20364D"/>
                </a:solidFill>
                <a:latin typeface="Calibri"/>
                <a:ea typeface="Calibri"/>
                <a:cs typeface="Calibri"/>
              </a:rPr>
              <a:t>Mutation Testing</a:t>
            </a:r>
          </a:p>
        </p:txBody>
      </p:sp>
      <p:sp>
        <p:nvSpPr>
          <p:cNvPr id="18" name="mt-title-rule">
            <a:extLst>
              <a:ext uri="{FF2B5EF4-FFF2-40B4-BE49-F238E27FC236}">
                <a16:creationId xmlns:a16="http://schemas.microsoft.com/office/drawing/2014/main" id="{16E2629A-3BFA-4A58-B92D-695C9A1EB647}"/>
              </a:ext>
            </a:extLst>
          </p:cNvPr>
          <p:cNvSpPr>
            <a:spLocks noGrp="1"/>
          </p:cNvSpPr>
          <p:nvPr/>
        </p:nvSpPr>
        <p:spPr>
          <a:xfrm>
            <a:off x="800100" y="1104900"/>
            <a:ext cx="1571625" cy="0"/>
          </a:xfrm>
          <a:prstGeom prst="line">
            <a:avLst/>
          </a:prstGeom>
          <a:noFill/>
          <a:ln w="38100">
            <a:solidFill>
              <a:srgbClr val="20364D"/>
            </a:solidFill>
            <a:prstDash val="solid"/>
          </a:ln>
        </p:spPr>
        <p:txBody>
          <a:bodyPr/>
          <a:lstStyle/>
          <a:p>
            <a:endParaRPr lang="en-US"/>
          </a:p>
        </p:txBody>
      </p:sp>
      <p:sp>
        <p:nvSpPr>
          <p:cNvPr id="19" name="mt-subtitle">
            <a:extLst>
              <a:ext uri="{FF2B5EF4-FFF2-40B4-BE49-F238E27FC236}">
                <a16:creationId xmlns:a16="http://schemas.microsoft.com/office/drawing/2014/main" id="{7C59D097-CDC0-4B45-B521-B5B5E8DE1477}"/>
              </a:ext>
            </a:extLst>
          </p:cNvPr>
          <p:cNvSpPr>
            <a:spLocks noGrp="1"/>
          </p:cNvSpPr>
          <p:nvPr/>
        </p:nvSpPr>
        <p:spPr>
          <a:xfrm>
            <a:off x="781050" y="1190625"/>
            <a:ext cx="10572750" cy="400050"/>
          </a:xfrm>
          <a:prstGeom prst="rect">
            <a:avLst/>
          </a:prstGeom>
          <a:noFill/>
          <a:ln w="0">
            <a:noFill/>
          </a:ln>
        </p:spPr>
        <p:txBody>
          <a:bodyPr anchor="ctr">
            <a:normAutofit/>
          </a:bodyPr>
          <a:lstStyle/>
          <a:p>
            <a:pPr algn="l">
              <a:defRPr sz="1500" b="0">
                <a:solidFill>
                  <a:srgbClr val="5E6B77"/>
                </a:solidFill>
                <a:latin typeface="Calibri"/>
                <a:ea typeface="Calibri"/>
                <a:cs typeface="Calibri"/>
              </a:defRPr>
            </a:pPr>
            <a:r>
              <a:rPr sz="1500" b="0">
                <a:solidFill>
                  <a:srgbClr val="5E6B77"/>
                </a:solidFill>
                <a:latin typeface="Calibri"/>
                <a:ea typeface="Calibri"/>
                <a:cs typeface="Calibri"/>
              </a:rPr>
              <a:t>A test suite should detect small, deliberate changes to the program.</a:t>
            </a:r>
          </a:p>
        </p:txBody>
      </p:sp>
      <p:sp>
        <p:nvSpPr>
          <p:cNvPr id="20" name="anim-s15-original">
            <a:extLst>
              <a:ext uri="{FF2B5EF4-FFF2-40B4-BE49-F238E27FC236}">
                <a16:creationId xmlns:a16="http://schemas.microsoft.com/office/drawing/2014/main" id="{E0C09355-0ACB-4DD7-A7AD-98145166E1D0}"/>
              </a:ext>
            </a:extLst>
          </p:cNvPr>
          <p:cNvSpPr>
            <a:spLocks noGrp="1"/>
          </p:cNvSpPr>
          <p:nvPr/>
        </p:nvSpPr>
        <p:spPr>
          <a:xfrm>
            <a:off x="781050" y="1952625"/>
            <a:ext cx="1952625" cy="990600"/>
          </a:xfrm>
          <a:prstGeom prst="roundRect">
            <a:avLst>
              <a:gd name="adj" fmla="val 13462"/>
            </a:avLst>
          </a:prstGeom>
          <a:solidFill>
            <a:srgbClr val="EAF4FF"/>
          </a:solidFill>
          <a:ln w="19050">
            <a:solidFill>
              <a:srgbClr val="3978B7"/>
            </a:solidFill>
            <a:prstDash val="solid"/>
          </a:ln>
        </p:spPr>
        <p:txBody>
          <a:bodyPr/>
          <a:lstStyle/>
          <a:p>
            <a:endParaRPr lang="en-US"/>
          </a:p>
        </p:txBody>
      </p:sp>
      <p:sp>
        <p:nvSpPr>
          <p:cNvPr id="21" name="anim-s15-original-head">
            <a:extLst>
              <a:ext uri="{FF2B5EF4-FFF2-40B4-BE49-F238E27FC236}">
                <a16:creationId xmlns:a16="http://schemas.microsoft.com/office/drawing/2014/main" id="{495D91C9-DF61-40F6-ACD8-0ACD20FE87F7}"/>
              </a:ext>
            </a:extLst>
          </p:cNvPr>
          <p:cNvSpPr>
            <a:spLocks noGrp="1"/>
          </p:cNvSpPr>
          <p:nvPr/>
        </p:nvSpPr>
        <p:spPr>
          <a:xfrm>
            <a:off x="914400" y="2047875"/>
            <a:ext cx="1685925" cy="285750"/>
          </a:xfrm>
          <a:prstGeom prst="rect">
            <a:avLst/>
          </a:prstGeom>
          <a:noFill/>
          <a:ln w="0">
            <a:noFill/>
          </a:ln>
        </p:spPr>
        <p:txBody>
          <a:bodyPr anchor="ctr">
            <a:normAutofit fontScale="85000" lnSpcReduction="10000"/>
          </a:bodyPr>
          <a:lstStyle/>
          <a:p>
            <a:pPr algn="ctr">
              <a:defRPr sz="1500" b="1">
                <a:solidFill>
                  <a:srgbClr val="3978B7"/>
                </a:solidFill>
                <a:latin typeface="Calibri"/>
                <a:ea typeface="Calibri"/>
                <a:cs typeface="Calibri"/>
              </a:defRPr>
            </a:pPr>
            <a:r>
              <a:rPr sz="1500" b="1">
                <a:solidFill>
                  <a:srgbClr val="3978B7"/>
                </a:solidFill>
                <a:latin typeface="Calibri"/>
                <a:ea typeface="Calibri"/>
                <a:cs typeface="Calibri"/>
              </a:rPr>
              <a:t>1  Original</a:t>
            </a:r>
          </a:p>
        </p:txBody>
      </p:sp>
      <p:sp>
        <p:nvSpPr>
          <p:cNvPr id="22" name="anim-s15-original-body">
            <a:extLst>
              <a:ext uri="{FF2B5EF4-FFF2-40B4-BE49-F238E27FC236}">
                <a16:creationId xmlns:a16="http://schemas.microsoft.com/office/drawing/2014/main" id="{1FC980C6-8817-41F3-91D1-CF26F0C8A7F3}"/>
              </a:ext>
            </a:extLst>
          </p:cNvPr>
          <p:cNvSpPr>
            <a:spLocks noGrp="1"/>
          </p:cNvSpPr>
          <p:nvPr/>
        </p:nvSpPr>
        <p:spPr>
          <a:xfrm>
            <a:off x="914400" y="2362200"/>
            <a:ext cx="1685925" cy="514350"/>
          </a:xfrm>
          <a:prstGeom prst="rect">
            <a:avLst/>
          </a:prstGeom>
          <a:noFill/>
          <a:ln w="0">
            <a:noFill/>
          </a:ln>
        </p:spPr>
        <p:txBody>
          <a:bodyPr anchor="ctr">
            <a:normAutofit/>
          </a:bodyPr>
          <a:lstStyle/>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if (a &amp;&amp; b)</a:t>
            </a:r>
          </a:p>
        </p:txBody>
      </p:sp>
      <p:sp>
        <p:nvSpPr>
          <p:cNvPr id="23" name="anim-s15-arrow1">
            <a:extLst>
              <a:ext uri="{FF2B5EF4-FFF2-40B4-BE49-F238E27FC236}">
                <a16:creationId xmlns:a16="http://schemas.microsoft.com/office/drawing/2014/main" id="{E203663C-18CF-418A-95A5-032297E026F1}"/>
              </a:ext>
            </a:extLst>
          </p:cNvPr>
          <p:cNvSpPr>
            <a:spLocks noGrp="1"/>
          </p:cNvSpPr>
          <p:nvPr/>
        </p:nvSpPr>
        <p:spPr>
          <a:xfrm>
            <a:off x="2857500" y="2305050"/>
            <a:ext cx="533400" cy="285750"/>
          </a:xfrm>
          <a:prstGeom prst="rightArrow">
            <a:avLst/>
          </a:prstGeom>
          <a:solidFill>
            <a:srgbClr val="20364D"/>
          </a:solidFill>
          <a:ln w="9525">
            <a:solidFill>
              <a:srgbClr val="20364D"/>
            </a:solidFill>
          </a:ln>
        </p:spPr>
        <p:txBody>
          <a:bodyPr/>
          <a:lstStyle/>
          <a:p>
            <a:endParaRPr lang="en-US"/>
          </a:p>
        </p:txBody>
      </p:sp>
      <p:sp>
        <p:nvSpPr>
          <p:cNvPr id="24" name="anim-s15-generate">
            <a:extLst>
              <a:ext uri="{FF2B5EF4-FFF2-40B4-BE49-F238E27FC236}">
                <a16:creationId xmlns:a16="http://schemas.microsoft.com/office/drawing/2014/main" id="{A8408847-E40E-4492-A1F0-0E6541125D2D}"/>
              </a:ext>
            </a:extLst>
          </p:cNvPr>
          <p:cNvSpPr>
            <a:spLocks noGrp="1"/>
          </p:cNvSpPr>
          <p:nvPr/>
        </p:nvSpPr>
        <p:spPr>
          <a:xfrm>
            <a:off x="3524250" y="1952625"/>
            <a:ext cx="1952625" cy="990600"/>
          </a:xfrm>
          <a:prstGeom prst="roundRect">
            <a:avLst>
              <a:gd name="adj" fmla="val 13462"/>
            </a:avLst>
          </a:prstGeom>
          <a:solidFill>
            <a:srgbClr val="FFF8D7"/>
          </a:solidFill>
          <a:ln w="19050">
            <a:solidFill>
              <a:srgbClr val="F2A900"/>
            </a:solidFill>
            <a:prstDash val="solid"/>
          </a:ln>
        </p:spPr>
        <p:txBody>
          <a:bodyPr/>
          <a:lstStyle/>
          <a:p>
            <a:endParaRPr lang="en-US"/>
          </a:p>
        </p:txBody>
      </p:sp>
      <p:sp>
        <p:nvSpPr>
          <p:cNvPr id="25" name="anim-s15-generate-head">
            <a:extLst>
              <a:ext uri="{FF2B5EF4-FFF2-40B4-BE49-F238E27FC236}">
                <a16:creationId xmlns:a16="http://schemas.microsoft.com/office/drawing/2014/main" id="{898E3205-8C32-46EE-816B-688402267F21}"/>
              </a:ext>
            </a:extLst>
          </p:cNvPr>
          <p:cNvSpPr>
            <a:spLocks noGrp="1"/>
          </p:cNvSpPr>
          <p:nvPr/>
        </p:nvSpPr>
        <p:spPr>
          <a:xfrm>
            <a:off x="3657600" y="2047875"/>
            <a:ext cx="1685925" cy="285750"/>
          </a:xfrm>
          <a:prstGeom prst="rect">
            <a:avLst/>
          </a:prstGeom>
          <a:noFill/>
          <a:ln w="0">
            <a:noFill/>
          </a:ln>
        </p:spPr>
        <p:txBody>
          <a:bodyPr anchor="ctr">
            <a:normAutofit fontScale="85000" lnSpcReduction="10000"/>
          </a:bodyPr>
          <a:lstStyle/>
          <a:p>
            <a:pPr algn="ctr">
              <a:defRPr sz="1500" b="1">
                <a:solidFill>
                  <a:srgbClr val="F2A900"/>
                </a:solidFill>
                <a:latin typeface="Calibri"/>
                <a:ea typeface="Calibri"/>
                <a:cs typeface="Calibri"/>
              </a:defRPr>
            </a:pPr>
            <a:r>
              <a:rPr sz="1500" b="1">
                <a:solidFill>
                  <a:srgbClr val="F2A900"/>
                </a:solidFill>
                <a:latin typeface="Calibri"/>
                <a:ea typeface="Calibri"/>
                <a:cs typeface="Calibri"/>
              </a:rPr>
              <a:t>2  Generate mutant</a:t>
            </a:r>
          </a:p>
        </p:txBody>
      </p:sp>
      <p:sp>
        <p:nvSpPr>
          <p:cNvPr id="26" name="anim-s15-generate-body">
            <a:extLst>
              <a:ext uri="{FF2B5EF4-FFF2-40B4-BE49-F238E27FC236}">
                <a16:creationId xmlns:a16="http://schemas.microsoft.com/office/drawing/2014/main" id="{8357E23B-1BD4-4645-BDC6-297BF065B7BF}"/>
              </a:ext>
            </a:extLst>
          </p:cNvPr>
          <p:cNvSpPr>
            <a:spLocks noGrp="1"/>
          </p:cNvSpPr>
          <p:nvPr/>
        </p:nvSpPr>
        <p:spPr>
          <a:xfrm>
            <a:off x="3657600" y="2362200"/>
            <a:ext cx="1685925" cy="514350"/>
          </a:xfrm>
          <a:prstGeom prst="rect">
            <a:avLst/>
          </a:prstGeom>
          <a:noFill/>
          <a:ln w="0">
            <a:noFill/>
          </a:ln>
        </p:spPr>
        <p:txBody>
          <a:bodyPr anchor="ctr">
            <a:normAutofit/>
          </a:bodyPr>
          <a:lstStyle/>
          <a:p>
            <a:pPr algn="ctr">
              <a:defRPr sz="1275" b="0">
                <a:solidFill>
                  <a:srgbClr val="20364D"/>
                </a:solidFill>
                <a:latin typeface="Calibri"/>
                <a:ea typeface="Calibri"/>
                <a:cs typeface="Calibri"/>
              </a:defRPr>
            </a:pPr>
            <a:r>
              <a:rPr sz="1275" b="0" dirty="0">
                <a:solidFill>
                  <a:srgbClr val="20364D"/>
                </a:solidFill>
                <a:latin typeface="Calibri"/>
                <a:ea typeface="Calibri"/>
                <a:cs typeface="Calibri"/>
              </a:rPr>
              <a:t>Change one operator</a:t>
            </a:r>
          </a:p>
        </p:txBody>
      </p:sp>
      <p:sp>
        <p:nvSpPr>
          <p:cNvPr id="27" name="anim-s15-arrow2">
            <a:extLst>
              <a:ext uri="{FF2B5EF4-FFF2-40B4-BE49-F238E27FC236}">
                <a16:creationId xmlns:a16="http://schemas.microsoft.com/office/drawing/2014/main" id="{04A724B7-C95B-42B0-A441-71F820ABAE9F}"/>
              </a:ext>
            </a:extLst>
          </p:cNvPr>
          <p:cNvSpPr>
            <a:spLocks noGrp="1"/>
          </p:cNvSpPr>
          <p:nvPr/>
        </p:nvSpPr>
        <p:spPr>
          <a:xfrm>
            <a:off x="5600700" y="2305050"/>
            <a:ext cx="533400" cy="285750"/>
          </a:xfrm>
          <a:prstGeom prst="rightArrow">
            <a:avLst/>
          </a:prstGeom>
          <a:solidFill>
            <a:srgbClr val="20364D"/>
          </a:solidFill>
          <a:ln w="9525">
            <a:solidFill>
              <a:srgbClr val="20364D"/>
            </a:solidFill>
          </a:ln>
        </p:spPr>
        <p:txBody>
          <a:bodyPr/>
          <a:lstStyle/>
          <a:p>
            <a:endParaRPr lang="en-US"/>
          </a:p>
        </p:txBody>
      </p:sp>
      <p:sp>
        <p:nvSpPr>
          <p:cNvPr id="28" name="anim-s15-run">
            <a:extLst>
              <a:ext uri="{FF2B5EF4-FFF2-40B4-BE49-F238E27FC236}">
                <a16:creationId xmlns:a16="http://schemas.microsoft.com/office/drawing/2014/main" id="{EF32A274-21B6-4515-8625-E94095080A40}"/>
              </a:ext>
            </a:extLst>
          </p:cNvPr>
          <p:cNvSpPr>
            <a:spLocks noGrp="1"/>
          </p:cNvSpPr>
          <p:nvPr/>
        </p:nvSpPr>
        <p:spPr>
          <a:xfrm>
            <a:off x="9118599" y="1977837"/>
            <a:ext cx="1952625" cy="990600"/>
          </a:xfrm>
          <a:prstGeom prst="roundRect">
            <a:avLst>
              <a:gd name="adj" fmla="val 13462"/>
            </a:avLst>
          </a:prstGeom>
          <a:solidFill>
            <a:srgbClr val="E6FAFD"/>
          </a:solidFill>
          <a:ln w="19050">
            <a:solidFill>
              <a:srgbClr val="00B8D9"/>
            </a:solidFill>
            <a:prstDash val="solid"/>
          </a:ln>
        </p:spPr>
        <p:txBody>
          <a:bodyPr/>
          <a:lstStyle/>
          <a:p>
            <a:endParaRPr lang="en-US"/>
          </a:p>
        </p:txBody>
      </p:sp>
      <p:sp>
        <p:nvSpPr>
          <p:cNvPr id="29" name="anim-s15-run-head">
            <a:extLst>
              <a:ext uri="{FF2B5EF4-FFF2-40B4-BE49-F238E27FC236}">
                <a16:creationId xmlns:a16="http://schemas.microsoft.com/office/drawing/2014/main" id="{94F8FD62-4FED-4D3B-B28A-C76E749C536B}"/>
              </a:ext>
            </a:extLst>
          </p:cNvPr>
          <p:cNvSpPr>
            <a:spLocks noGrp="1"/>
          </p:cNvSpPr>
          <p:nvPr/>
        </p:nvSpPr>
        <p:spPr>
          <a:xfrm>
            <a:off x="9251949" y="2073087"/>
            <a:ext cx="1685925" cy="285750"/>
          </a:xfrm>
          <a:prstGeom prst="rect">
            <a:avLst/>
          </a:prstGeom>
          <a:noFill/>
          <a:ln w="0">
            <a:noFill/>
          </a:ln>
        </p:spPr>
        <p:txBody>
          <a:bodyPr anchor="ctr">
            <a:normAutofit fontScale="92500" lnSpcReduction="10000"/>
          </a:bodyPr>
          <a:lstStyle/>
          <a:p>
            <a:pPr algn="ctr">
              <a:defRPr sz="1500" b="1">
                <a:solidFill>
                  <a:srgbClr val="00B8D9"/>
                </a:solidFill>
                <a:latin typeface="Calibri"/>
                <a:ea typeface="Calibri"/>
                <a:cs typeface="Calibri"/>
              </a:defRPr>
            </a:pPr>
            <a:r>
              <a:rPr sz="1500" b="1">
                <a:solidFill>
                  <a:srgbClr val="00B8D9"/>
                </a:solidFill>
                <a:latin typeface="Calibri"/>
                <a:ea typeface="Calibri"/>
                <a:cs typeface="Calibri"/>
              </a:rPr>
              <a:t>3  Run the tests</a:t>
            </a:r>
          </a:p>
        </p:txBody>
      </p:sp>
      <p:sp>
        <p:nvSpPr>
          <p:cNvPr id="30" name="anim-s15-run-body">
            <a:extLst>
              <a:ext uri="{FF2B5EF4-FFF2-40B4-BE49-F238E27FC236}">
                <a16:creationId xmlns:a16="http://schemas.microsoft.com/office/drawing/2014/main" id="{801F8630-46F0-44BA-8889-DA946E382A6D}"/>
              </a:ext>
            </a:extLst>
          </p:cNvPr>
          <p:cNvSpPr>
            <a:spLocks noGrp="1"/>
          </p:cNvSpPr>
          <p:nvPr/>
        </p:nvSpPr>
        <p:spPr>
          <a:xfrm>
            <a:off x="9251949" y="2387412"/>
            <a:ext cx="1685925" cy="514350"/>
          </a:xfrm>
          <a:prstGeom prst="rect">
            <a:avLst/>
          </a:prstGeom>
          <a:noFill/>
          <a:ln w="0">
            <a:noFill/>
          </a:ln>
        </p:spPr>
        <p:txBody>
          <a:bodyPr anchor="ctr">
            <a:normAutofit/>
          </a:bodyPr>
          <a:lstStyle/>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Use the same test suite</a:t>
            </a:r>
          </a:p>
        </p:txBody>
      </p:sp>
      <p:sp>
        <p:nvSpPr>
          <p:cNvPr id="31" name="anim-s15-arrow3">
            <a:extLst>
              <a:ext uri="{FF2B5EF4-FFF2-40B4-BE49-F238E27FC236}">
                <a16:creationId xmlns:a16="http://schemas.microsoft.com/office/drawing/2014/main" id="{E7CA082B-7AC6-405E-A17E-AE1DD1655C02}"/>
              </a:ext>
            </a:extLst>
          </p:cNvPr>
          <p:cNvSpPr>
            <a:spLocks noGrp="1"/>
          </p:cNvSpPr>
          <p:nvPr/>
        </p:nvSpPr>
        <p:spPr>
          <a:xfrm>
            <a:off x="8567192" y="2305050"/>
            <a:ext cx="533400" cy="285750"/>
          </a:xfrm>
          <a:prstGeom prst="rightArrow">
            <a:avLst/>
          </a:prstGeom>
          <a:solidFill>
            <a:srgbClr val="20364D"/>
          </a:solidFill>
          <a:ln w="9525">
            <a:solidFill>
              <a:srgbClr val="20364D"/>
            </a:solidFill>
          </a:ln>
        </p:spPr>
        <p:txBody>
          <a:bodyPr/>
          <a:lstStyle/>
          <a:p>
            <a:endParaRPr lang="en-US"/>
          </a:p>
        </p:txBody>
      </p:sp>
      <p:sp>
        <p:nvSpPr>
          <p:cNvPr id="32" name="anim-s15-mutant">
            <a:extLst>
              <a:ext uri="{FF2B5EF4-FFF2-40B4-BE49-F238E27FC236}">
                <a16:creationId xmlns:a16="http://schemas.microsoft.com/office/drawing/2014/main" id="{762F585E-C429-468A-BAAC-F2F06C460F14}"/>
              </a:ext>
            </a:extLst>
          </p:cNvPr>
          <p:cNvSpPr>
            <a:spLocks noGrp="1"/>
          </p:cNvSpPr>
          <p:nvPr/>
        </p:nvSpPr>
        <p:spPr>
          <a:xfrm>
            <a:off x="6159159" y="1989174"/>
            <a:ext cx="2343150" cy="990600"/>
          </a:xfrm>
          <a:prstGeom prst="roundRect">
            <a:avLst>
              <a:gd name="adj" fmla="val 13462"/>
            </a:avLst>
          </a:prstGeom>
          <a:solidFill>
            <a:srgbClr val="FFF0EE"/>
          </a:solidFill>
          <a:ln w="19050">
            <a:solidFill>
              <a:srgbClr val="E10600"/>
            </a:solidFill>
            <a:prstDash val="solid"/>
          </a:ln>
        </p:spPr>
        <p:txBody>
          <a:bodyPr/>
          <a:lstStyle/>
          <a:p>
            <a:endParaRPr lang="en-US"/>
          </a:p>
        </p:txBody>
      </p:sp>
      <p:sp>
        <p:nvSpPr>
          <p:cNvPr id="33" name="anim-s15-mutant-head">
            <a:extLst>
              <a:ext uri="{FF2B5EF4-FFF2-40B4-BE49-F238E27FC236}">
                <a16:creationId xmlns:a16="http://schemas.microsoft.com/office/drawing/2014/main" id="{B210EE26-1129-40C4-A8B2-9F81D22752F7}"/>
              </a:ext>
            </a:extLst>
          </p:cNvPr>
          <p:cNvSpPr>
            <a:spLocks noGrp="1"/>
          </p:cNvSpPr>
          <p:nvPr/>
        </p:nvSpPr>
        <p:spPr>
          <a:xfrm>
            <a:off x="6292509" y="2084424"/>
            <a:ext cx="2076450" cy="285750"/>
          </a:xfrm>
          <a:prstGeom prst="rect">
            <a:avLst/>
          </a:prstGeom>
          <a:noFill/>
          <a:ln w="0">
            <a:noFill/>
          </a:ln>
        </p:spPr>
        <p:txBody>
          <a:bodyPr anchor="ctr">
            <a:normAutofit fontScale="92500" lnSpcReduction="10000"/>
          </a:bodyPr>
          <a:lstStyle/>
          <a:p>
            <a:pPr algn="ctr">
              <a:defRPr sz="1500" b="1">
                <a:solidFill>
                  <a:srgbClr val="E10600"/>
                </a:solidFill>
                <a:latin typeface="Calibri"/>
                <a:ea typeface="Calibri"/>
                <a:cs typeface="Calibri"/>
              </a:defRPr>
            </a:pPr>
            <a:r>
              <a:rPr sz="1500" b="1">
                <a:solidFill>
                  <a:srgbClr val="E10600"/>
                </a:solidFill>
                <a:latin typeface="Calibri"/>
                <a:ea typeface="Calibri"/>
                <a:cs typeface="Calibri"/>
              </a:rPr>
              <a:t>Mutant</a:t>
            </a:r>
          </a:p>
        </p:txBody>
      </p:sp>
      <p:sp>
        <p:nvSpPr>
          <p:cNvPr id="34" name="anim-s15-mutant-body">
            <a:extLst>
              <a:ext uri="{FF2B5EF4-FFF2-40B4-BE49-F238E27FC236}">
                <a16:creationId xmlns:a16="http://schemas.microsoft.com/office/drawing/2014/main" id="{10D05095-3880-447D-9CD2-5EBD11D1BC21}"/>
              </a:ext>
            </a:extLst>
          </p:cNvPr>
          <p:cNvSpPr>
            <a:spLocks noGrp="1"/>
          </p:cNvSpPr>
          <p:nvPr/>
        </p:nvSpPr>
        <p:spPr>
          <a:xfrm>
            <a:off x="6292509" y="2398749"/>
            <a:ext cx="2076450" cy="514350"/>
          </a:xfrm>
          <a:prstGeom prst="rect">
            <a:avLst/>
          </a:prstGeom>
          <a:noFill/>
          <a:ln w="0">
            <a:noFill/>
          </a:ln>
        </p:spPr>
        <p:txBody>
          <a:bodyPr anchor="ctr">
            <a:normAutofit/>
          </a:bodyPr>
          <a:lstStyle/>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if (a || b)</a:t>
            </a:r>
          </a:p>
        </p:txBody>
      </p:sp>
      <p:sp>
        <p:nvSpPr>
          <p:cNvPr id="35" name="anim-s15-killed">
            <a:extLst>
              <a:ext uri="{FF2B5EF4-FFF2-40B4-BE49-F238E27FC236}">
                <a16:creationId xmlns:a16="http://schemas.microsoft.com/office/drawing/2014/main" id="{5087281D-D71E-41E8-91D6-5AB574B8C6B5}"/>
              </a:ext>
            </a:extLst>
          </p:cNvPr>
          <p:cNvSpPr>
            <a:spLocks noGrp="1"/>
          </p:cNvSpPr>
          <p:nvPr/>
        </p:nvSpPr>
        <p:spPr>
          <a:xfrm>
            <a:off x="781050" y="3543300"/>
            <a:ext cx="5048250" cy="723900"/>
          </a:xfrm>
          <a:prstGeom prst="roundRect">
            <a:avLst>
              <a:gd name="adj" fmla="val 18421"/>
            </a:avLst>
          </a:prstGeom>
          <a:solidFill>
            <a:srgbClr val="EAF8EE"/>
          </a:solidFill>
          <a:ln w="19050">
            <a:solidFill>
              <a:srgbClr val="1F7A3D"/>
            </a:solidFill>
            <a:prstDash val="solid"/>
          </a:ln>
        </p:spPr>
        <p:txBody>
          <a:bodyPr/>
          <a:lstStyle/>
          <a:p>
            <a:endParaRPr lang="en-US"/>
          </a:p>
        </p:txBody>
      </p:sp>
      <p:pic>
        <p:nvPicPr>
          <p:cNvPr id="72" name="Picture 71"/>
          <p:cNvPicPr>
            <a:picLocks noChangeAspect="1"/>
          </p:cNvPicPr>
          <p:nvPr/>
        </p:nvPicPr>
        <p:blipFill>
          <a:blip r:embed="rId4"/>
          <a:stretch/>
        </p:blipFill>
        <p:spPr>
          <a:xfrm>
            <a:off x="963529" y="3619500"/>
            <a:ext cx="377992" cy="552450"/>
          </a:xfrm>
          <a:prstGeom prst="rect">
            <a:avLst/>
          </a:prstGeom>
        </p:spPr>
      </p:pic>
      <p:sp>
        <p:nvSpPr>
          <p:cNvPr id="37" name="anim-s15-killed-head">
            <a:extLst>
              <a:ext uri="{FF2B5EF4-FFF2-40B4-BE49-F238E27FC236}">
                <a16:creationId xmlns:a16="http://schemas.microsoft.com/office/drawing/2014/main" id="{297C829F-58FE-42E2-90E3-BA07BC7FD76B}"/>
              </a:ext>
            </a:extLst>
          </p:cNvPr>
          <p:cNvSpPr>
            <a:spLocks noGrp="1"/>
          </p:cNvSpPr>
          <p:nvPr/>
        </p:nvSpPr>
        <p:spPr>
          <a:xfrm>
            <a:off x="1504950" y="3619500"/>
            <a:ext cx="4210050" cy="266700"/>
          </a:xfrm>
          <a:prstGeom prst="rect">
            <a:avLst/>
          </a:prstGeom>
          <a:noFill/>
          <a:ln w="0">
            <a:noFill/>
          </a:ln>
        </p:spPr>
        <p:txBody>
          <a:bodyPr anchor="ctr">
            <a:normAutofit fontScale="76667" lnSpcReduction="10000"/>
          </a:bodyPr>
          <a:lstStyle/>
          <a:p>
            <a:pPr algn="l">
              <a:defRPr sz="1500" b="1">
                <a:solidFill>
                  <a:srgbClr val="1F7A3D"/>
                </a:solidFill>
                <a:latin typeface="Calibri"/>
                <a:ea typeface="Calibri"/>
                <a:cs typeface="Calibri"/>
              </a:defRPr>
            </a:pPr>
            <a:r>
              <a:rPr sz="1500" b="1">
                <a:solidFill>
                  <a:srgbClr val="1F7A3D"/>
                </a:solidFill>
                <a:latin typeface="Calibri"/>
                <a:ea typeface="Calibri"/>
                <a:cs typeface="Calibri"/>
              </a:rPr>
              <a:t>KILLED</a:t>
            </a:r>
          </a:p>
        </p:txBody>
      </p:sp>
      <p:sp>
        <p:nvSpPr>
          <p:cNvPr id="38" name="anim-s15-killed-body">
            <a:extLst>
              <a:ext uri="{FF2B5EF4-FFF2-40B4-BE49-F238E27FC236}">
                <a16:creationId xmlns:a16="http://schemas.microsoft.com/office/drawing/2014/main" id="{9854AFCD-DF0A-4E54-BB9E-6066C5C1BE49}"/>
              </a:ext>
            </a:extLst>
          </p:cNvPr>
          <p:cNvSpPr>
            <a:spLocks noGrp="1"/>
          </p:cNvSpPr>
          <p:nvPr/>
        </p:nvSpPr>
        <p:spPr>
          <a:xfrm>
            <a:off x="1504950" y="3886200"/>
            <a:ext cx="4210050" cy="285750"/>
          </a:xfrm>
          <a:prstGeom prst="rect">
            <a:avLst/>
          </a:prstGeom>
          <a:noFill/>
          <a:ln w="0">
            <a:noFill/>
          </a:ln>
        </p:spPr>
        <p:txBody>
          <a:bodyPr anchor="ctr">
            <a:normAutofit/>
          </a:bodyPr>
          <a:lstStyle/>
          <a:p>
            <a:pPr algn="l">
              <a:defRPr sz="1275" b="0">
                <a:solidFill>
                  <a:srgbClr val="20364D"/>
                </a:solidFill>
                <a:latin typeface="Calibri"/>
                <a:ea typeface="Calibri"/>
                <a:cs typeface="Calibri"/>
              </a:defRPr>
            </a:pPr>
            <a:r>
              <a:rPr sz="1275" b="0">
                <a:solidFill>
                  <a:srgbClr val="20364D"/>
                </a:solidFill>
                <a:latin typeface="Calibri"/>
                <a:ea typeface="Calibri"/>
                <a:cs typeface="Calibri"/>
              </a:rPr>
              <a:t>At least one test fails.</a:t>
            </a:r>
          </a:p>
        </p:txBody>
      </p:sp>
      <p:sp>
        <p:nvSpPr>
          <p:cNvPr id="39" name="anim-s15-survived">
            <a:extLst>
              <a:ext uri="{FF2B5EF4-FFF2-40B4-BE49-F238E27FC236}">
                <a16:creationId xmlns:a16="http://schemas.microsoft.com/office/drawing/2014/main" id="{5B9B2AAC-AA31-4256-9796-40694B993D32}"/>
              </a:ext>
            </a:extLst>
          </p:cNvPr>
          <p:cNvSpPr>
            <a:spLocks noGrp="1"/>
          </p:cNvSpPr>
          <p:nvPr/>
        </p:nvSpPr>
        <p:spPr>
          <a:xfrm>
            <a:off x="6191250" y="3543300"/>
            <a:ext cx="5162550" cy="723900"/>
          </a:xfrm>
          <a:prstGeom prst="roundRect">
            <a:avLst>
              <a:gd name="adj" fmla="val 18421"/>
            </a:avLst>
          </a:prstGeom>
          <a:solidFill>
            <a:srgbClr val="FFF0EE"/>
          </a:solidFill>
          <a:ln w="19050">
            <a:solidFill>
              <a:srgbClr val="A51E1E"/>
            </a:solidFill>
            <a:prstDash val="solid"/>
          </a:ln>
        </p:spPr>
        <p:txBody>
          <a:bodyPr/>
          <a:lstStyle/>
          <a:p>
            <a:endParaRPr lang="en-US"/>
          </a:p>
        </p:txBody>
      </p:sp>
      <p:pic>
        <p:nvPicPr>
          <p:cNvPr id="76" name="Picture 75"/>
          <p:cNvPicPr>
            <a:picLocks noChangeAspect="1"/>
          </p:cNvPicPr>
          <p:nvPr/>
        </p:nvPicPr>
        <p:blipFill>
          <a:blip r:embed="rId5"/>
          <a:stretch/>
        </p:blipFill>
        <p:spPr>
          <a:xfrm>
            <a:off x="6373729" y="3619500"/>
            <a:ext cx="377992" cy="552450"/>
          </a:xfrm>
          <a:prstGeom prst="rect">
            <a:avLst/>
          </a:prstGeom>
        </p:spPr>
      </p:pic>
      <p:sp>
        <p:nvSpPr>
          <p:cNvPr id="41" name="anim-s15-survived-head">
            <a:extLst>
              <a:ext uri="{FF2B5EF4-FFF2-40B4-BE49-F238E27FC236}">
                <a16:creationId xmlns:a16="http://schemas.microsoft.com/office/drawing/2014/main" id="{1A9AA96E-9F03-43DE-8A8D-633179795493}"/>
              </a:ext>
            </a:extLst>
          </p:cNvPr>
          <p:cNvSpPr>
            <a:spLocks noGrp="1"/>
          </p:cNvSpPr>
          <p:nvPr/>
        </p:nvSpPr>
        <p:spPr>
          <a:xfrm>
            <a:off x="6915150" y="3619500"/>
            <a:ext cx="4324350" cy="266700"/>
          </a:xfrm>
          <a:prstGeom prst="rect">
            <a:avLst/>
          </a:prstGeom>
          <a:noFill/>
          <a:ln w="0">
            <a:noFill/>
          </a:ln>
        </p:spPr>
        <p:txBody>
          <a:bodyPr anchor="ctr">
            <a:normAutofit fontScale="76667" lnSpcReduction="10000"/>
          </a:bodyPr>
          <a:lstStyle/>
          <a:p>
            <a:pPr algn="l">
              <a:defRPr sz="1500" b="1">
                <a:solidFill>
                  <a:srgbClr val="A51E1E"/>
                </a:solidFill>
                <a:latin typeface="Calibri"/>
                <a:ea typeface="Calibri"/>
                <a:cs typeface="Calibri"/>
              </a:defRPr>
            </a:pPr>
            <a:r>
              <a:rPr sz="1500" b="1">
                <a:solidFill>
                  <a:srgbClr val="A51E1E"/>
                </a:solidFill>
                <a:latin typeface="Calibri"/>
                <a:ea typeface="Calibri"/>
                <a:cs typeface="Calibri"/>
              </a:rPr>
              <a:t>SURVIVED</a:t>
            </a:r>
          </a:p>
        </p:txBody>
      </p:sp>
      <p:sp>
        <p:nvSpPr>
          <p:cNvPr id="42" name="anim-s15-survived-body">
            <a:extLst>
              <a:ext uri="{FF2B5EF4-FFF2-40B4-BE49-F238E27FC236}">
                <a16:creationId xmlns:a16="http://schemas.microsoft.com/office/drawing/2014/main" id="{43F46D3C-0A00-4029-BBC6-D3F7A1D5CC2B}"/>
              </a:ext>
            </a:extLst>
          </p:cNvPr>
          <p:cNvSpPr>
            <a:spLocks noGrp="1"/>
          </p:cNvSpPr>
          <p:nvPr/>
        </p:nvSpPr>
        <p:spPr>
          <a:xfrm>
            <a:off x="6915150" y="3886200"/>
            <a:ext cx="4324350" cy="285750"/>
          </a:xfrm>
          <a:prstGeom prst="rect">
            <a:avLst/>
          </a:prstGeom>
          <a:noFill/>
          <a:ln w="0">
            <a:noFill/>
          </a:ln>
        </p:spPr>
        <p:txBody>
          <a:bodyPr anchor="ctr">
            <a:normAutofit/>
          </a:bodyPr>
          <a:lstStyle/>
          <a:p>
            <a:pPr algn="l">
              <a:defRPr sz="1275" b="0">
                <a:solidFill>
                  <a:srgbClr val="20364D"/>
                </a:solidFill>
                <a:latin typeface="Calibri"/>
                <a:ea typeface="Calibri"/>
                <a:cs typeface="Calibri"/>
              </a:defRPr>
            </a:pPr>
            <a:r>
              <a:rPr sz="1275" b="0">
                <a:solidFill>
                  <a:srgbClr val="20364D"/>
                </a:solidFill>
                <a:latin typeface="Calibri"/>
                <a:ea typeface="Calibri"/>
                <a:cs typeface="Calibri"/>
              </a:rPr>
              <a:t>All tests still pass.</a:t>
            </a:r>
          </a:p>
        </p:txBody>
      </p:sp>
      <p:sp>
        <p:nvSpPr>
          <p:cNvPr id="43" name="anim-s15-note">
            <a:extLst>
              <a:ext uri="{FF2B5EF4-FFF2-40B4-BE49-F238E27FC236}">
                <a16:creationId xmlns:a16="http://schemas.microsoft.com/office/drawing/2014/main" id="{3E50D258-78EF-418A-BE4F-9EDA54963059}"/>
              </a:ext>
            </a:extLst>
          </p:cNvPr>
          <p:cNvSpPr>
            <a:spLocks noGrp="1"/>
          </p:cNvSpPr>
          <p:nvPr/>
        </p:nvSpPr>
        <p:spPr>
          <a:xfrm>
            <a:off x="781050" y="4619625"/>
            <a:ext cx="10572750" cy="1066800"/>
          </a:xfrm>
          <a:prstGeom prst="roundRect">
            <a:avLst>
              <a:gd name="adj" fmla="val 10714"/>
            </a:avLst>
          </a:prstGeom>
          <a:solidFill>
            <a:srgbClr val="F3F6F8"/>
          </a:solidFill>
          <a:ln w="19050">
            <a:solidFill>
              <a:srgbClr val="20364D"/>
            </a:solidFill>
            <a:prstDash val="solid"/>
          </a:ln>
        </p:spPr>
        <p:txBody>
          <a:bodyPr/>
          <a:lstStyle/>
          <a:p>
            <a:endParaRPr lang="en-US"/>
          </a:p>
        </p:txBody>
      </p:sp>
      <p:sp>
        <p:nvSpPr>
          <p:cNvPr id="44" name="anim-s15-note-head">
            <a:extLst>
              <a:ext uri="{FF2B5EF4-FFF2-40B4-BE49-F238E27FC236}">
                <a16:creationId xmlns:a16="http://schemas.microsoft.com/office/drawing/2014/main" id="{F8E952A1-2E91-4A6F-98CA-DE563FCA6EB3}"/>
              </a:ext>
            </a:extLst>
          </p:cNvPr>
          <p:cNvSpPr>
            <a:spLocks noGrp="1"/>
          </p:cNvSpPr>
          <p:nvPr/>
        </p:nvSpPr>
        <p:spPr>
          <a:xfrm>
            <a:off x="1000125" y="4762500"/>
            <a:ext cx="3905250" cy="323850"/>
          </a:xfrm>
          <a:prstGeom prst="rect">
            <a:avLst/>
          </a:prstGeom>
          <a:noFill/>
          <a:ln w="0">
            <a:noFill/>
          </a:ln>
        </p:spPr>
        <p:txBody>
          <a:bodyPr anchor="ctr">
            <a:normAutofit fontScale="96825"/>
          </a:bodyPr>
          <a:lstStyle/>
          <a:p>
            <a:pPr algn="l">
              <a:defRPr sz="1575" b="1">
                <a:solidFill>
                  <a:srgbClr val="20364D"/>
                </a:solidFill>
                <a:latin typeface="Calibri"/>
                <a:ea typeface="Calibri"/>
                <a:cs typeface="Calibri"/>
              </a:defRPr>
            </a:pPr>
            <a:r>
              <a:rPr sz="1575" b="1" dirty="0">
                <a:solidFill>
                  <a:srgbClr val="20364D"/>
                </a:solidFill>
                <a:latin typeface="Calibri"/>
                <a:ea typeface="Calibri"/>
                <a:cs typeface="Calibri"/>
              </a:rPr>
              <a:t>What a surviving mutant means</a:t>
            </a:r>
          </a:p>
        </p:txBody>
      </p:sp>
      <p:sp>
        <p:nvSpPr>
          <p:cNvPr id="45" name="anim-s15-note-body">
            <a:extLst>
              <a:ext uri="{FF2B5EF4-FFF2-40B4-BE49-F238E27FC236}">
                <a16:creationId xmlns:a16="http://schemas.microsoft.com/office/drawing/2014/main" id="{848DAA68-CC92-47EF-9687-0A0E7BF4BFBB}"/>
              </a:ext>
            </a:extLst>
          </p:cNvPr>
          <p:cNvSpPr>
            <a:spLocks noGrp="1"/>
          </p:cNvSpPr>
          <p:nvPr/>
        </p:nvSpPr>
        <p:spPr>
          <a:xfrm>
            <a:off x="1000125" y="5095875"/>
            <a:ext cx="9953625" cy="457200"/>
          </a:xfrm>
          <a:prstGeom prst="rect">
            <a:avLst/>
          </a:prstGeom>
          <a:noFill/>
          <a:ln w="0">
            <a:noFill/>
          </a:ln>
        </p:spPr>
        <p:txBody>
          <a:bodyPr anchor="ctr">
            <a:normAutofit/>
          </a:bodyPr>
          <a:lstStyle/>
          <a:p>
            <a:pPr algn="l">
              <a:defRPr sz="1425" b="0">
                <a:solidFill>
                  <a:srgbClr val="5E6B77"/>
                </a:solidFill>
                <a:latin typeface="Calibri"/>
                <a:ea typeface="Calibri"/>
                <a:cs typeface="Calibri"/>
              </a:defRPr>
            </a:pPr>
            <a:r>
              <a:rPr sz="1425" b="0">
                <a:solidFill>
                  <a:srgbClr val="5E6B77"/>
                </a:solidFill>
                <a:latin typeface="Calibri"/>
                <a:ea typeface="Calibri"/>
                <a:cs typeface="Calibri"/>
              </a:rPr>
              <a:t>The tests may be missing an important case. The mutant may also be behaviorally equivalent to the original program.</a:t>
            </a:r>
          </a:p>
        </p:txBody>
      </p:sp>
    </p:spTree>
    <p:extLst>
      <p:ext uri="{BB962C8B-B14F-4D97-AF65-F5344CB8AC3E}">
        <p14:creationId xmlns:p14="http://schemas.microsoft.com/office/powerpoint/2010/main" val="3876970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500"/>
                                        <p:tgtEl>
                                          <p:spTgt spid="3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500"/>
                                        <p:tgtEl>
                                          <p:spTgt spid="2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500"/>
                                        <p:tgtEl>
                                          <p:spTgt spid="3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500"/>
                                        <p:tgtEl>
                                          <p:spTgt spid="3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fade">
                                      <p:cBhvr>
                                        <p:cTn id="50" dur="500"/>
                                        <p:tgtEl>
                                          <p:spTgt spid="3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fade">
                                      <p:cBhvr>
                                        <p:cTn id="53" dur="500"/>
                                        <p:tgtEl>
                                          <p:spTgt spid="38"/>
                                        </p:tgtEl>
                                      </p:cBhvr>
                                    </p:animEffect>
                                  </p:childTnLst>
                                </p:cTn>
                              </p:par>
                              <p:par>
                                <p:cTn id="54" presetID="10" presetClass="entr" presetSubtype="0" fill="hold" nodeType="withEffect">
                                  <p:stCondLst>
                                    <p:cond delay="0"/>
                                  </p:stCondLst>
                                  <p:childTnLst>
                                    <p:set>
                                      <p:cBhvr>
                                        <p:cTn id="55" dur="1" fill="hold">
                                          <p:stCondLst>
                                            <p:cond delay="0"/>
                                          </p:stCondLst>
                                        </p:cTn>
                                        <p:tgtEl>
                                          <p:spTgt spid="72"/>
                                        </p:tgtEl>
                                        <p:attrNameLst>
                                          <p:attrName>style.visibility</p:attrName>
                                        </p:attrNameLst>
                                      </p:cBhvr>
                                      <p:to>
                                        <p:strVal val="visible"/>
                                      </p:to>
                                    </p:set>
                                    <p:animEffect transition="in" filter="fade">
                                      <p:cBhvr>
                                        <p:cTn id="56" dur="500"/>
                                        <p:tgtEl>
                                          <p:spTgt spid="7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76"/>
                                        </p:tgtEl>
                                        <p:attrNameLst>
                                          <p:attrName>style.visibility</p:attrName>
                                        </p:attrNameLst>
                                      </p:cBhvr>
                                      <p:to>
                                        <p:strVal val="visible"/>
                                      </p:to>
                                    </p:set>
                                    <p:animEffect transition="in" filter="fade">
                                      <p:cBhvr>
                                        <p:cTn id="61" dur="500"/>
                                        <p:tgtEl>
                                          <p:spTgt spid="7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fade">
                                      <p:cBhvr>
                                        <p:cTn id="64" dur="500"/>
                                        <p:tgtEl>
                                          <p:spTgt spid="3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fade">
                                      <p:cBhvr>
                                        <p:cTn id="67" dur="500"/>
                                        <p:tgtEl>
                                          <p:spTgt spid="4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2"/>
                                        </p:tgtEl>
                                        <p:attrNameLst>
                                          <p:attrName>style.visibility</p:attrName>
                                        </p:attrNameLst>
                                      </p:cBhvr>
                                      <p:to>
                                        <p:strVal val="visible"/>
                                      </p:to>
                                    </p:set>
                                    <p:animEffect transition="in" filter="fade">
                                      <p:cBhvr>
                                        <p:cTn id="70" dur="500"/>
                                        <p:tgtEl>
                                          <p:spTgt spid="42"/>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44"/>
                                        </p:tgtEl>
                                        <p:attrNameLst>
                                          <p:attrName>style.visibility</p:attrName>
                                        </p:attrNameLst>
                                      </p:cBhvr>
                                      <p:to>
                                        <p:strVal val="visible"/>
                                      </p:to>
                                    </p:set>
                                    <p:animEffect transition="in" filter="fade">
                                      <p:cBhvr>
                                        <p:cTn id="75" dur="500"/>
                                        <p:tgtEl>
                                          <p:spTgt spid="4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animEffect transition="in" filter="fade">
                                      <p:cBhvr>
                                        <p:cTn id="78" dur="500"/>
                                        <p:tgtEl>
                                          <p:spTgt spid="4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p:bldP spid="26" grpId="0"/>
      <p:bldP spid="27" grpId="0" animBg="1"/>
      <p:bldP spid="28" grpId="0" animBg="1"/>
      <p:bldP spid="29" grpId="0"/>
      <p:bldP spid="30" grpId="0"/>
      <p:bldP spid="31" grpId="0" animBg="1"/>
      <p:bldP spid="32" grpId="0" animBg="1"/>
      <p:bldP spid="33" grpId="0"/>
      <p:bldP spid="34" grpId="0"/>
      <p:bldP spid="35" grpId="0" animBg="1"/>
      <p:bldP spid="37" grpId="0"/>
      <p:bldP spid="38" grpId="0"/>
      <p:bldP spid="39" grpId="0" animBg="1"/>
      <p:bldP spid="41" grpId="0"/>
      <p:bldP spid="42" grpId="0"/>
      <p:bldP spid="43" grpId="0" animBg="1"/>
      <p:bldP spid="44" grpId="0"/>
      <p:bldP spid="4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C1F7E-CA60-CE1A-C3B6-8B62BE41AA0D}"/>
              </a:ext>
            </a:extLst>
          </p:cNvPr>
          <p:cNvSpPr>
            <a:spLocks noGrp="1"/>
          </p:cNvSpPr>
          <p:nvPr>
            <p:ph type="title"/>
          </p:nvPr>
        </p:nvSpPr>
        <p:spPr>
          <a:xfrm>
            <a:off x="838200" y="18255"/>
            <a:ext cx="10515600" cy="1325563"/>
          </a:xfrm>
        </p:spPr>
        <p:txBody>
          <a:bodyPr/>
          <a:lstStyle/>
          <a:p>
            <a:r>
              <a:t>Mutation Testing: Small Example</a:t>
            </a:r>
          </a:p>
        </p:txBody>
      </p:sp>
      <p:pic>
        <p:nvPicPr>
          <p:cNvPr id="37" name="Content Placeholder 4"/>
          <p:cNvPicPr>
            <a:picLocks noGrp="1" noChangeAspect="1"/>
          </p:cNvPicPr>
          <p:nvPr>
            <p:ph idx="1"/>
          </p:nvPr>
        </p:nvPicPr>
        <p:blipFill rotWithShape="1">
          <a:blip r:embed="rId3"/>
          <a:srcRect l="45910" b="49746"/>
          <a:stretch/>
        </p:blipFill>
        <p:spPr>
          <a:xfrm>
            <a:off x="5853112" y="1458118"/>
            <a:ext cx="5500688" cy="2143125"/>
          </a:xfrm>
        </p:spPr>
      </p:pic>
      <p:pic>
        <p:nvPicPr>
          <p:cNvPr id="38" name="Content Placeholder 4"/>
          <p:cNvPicPr>
            <a:picLocks noChangeAspect="1"/>
          </p:cNvPicPr>
          <p:nvPr/>
        </p:nvPicPr>
        <p:blipFill rotWithShape="1">
          <a:blip r:embed="rId3"/>
          <a:srcRect r="56681" b="48964"/>
          <a:stretch/>
        </p:blipFill>
        <p:spPr>
          <a:xfrm>
            <a:off x="838198" y="1486693"/>
            <a:ext cx="4405313" cy="2176462"/>
          </a:xfrm>
          <a:prstGeom prst="rect">
            <a:avLst/>
          </a:prstGeom>
        </p:spPr>
      </p:pic>
      <p:pic>
        <p:nvPicPr>
          <p:cNvPr id="39" name="Content Placeholder 4"/>
          <p:cNvPicPr>
            <a:picLocks noChangeAspect="1"/>
          </p:cNvPicPr>
          <p:nvPr/>
        </p:nvPicPr>
        <p:blipFill rotWithShape="1">
          <a:blip r:embed="rId3"/>
          <a:srcRect t="54497" r="56681"/>
          <a:stretch/>
        </p:blipFill>
        <p:spPr>
          <a:xfrm>
            <a:off x="838198" y="4187309"/>
            <a:ext cx="4405313" cy="1940513"/>
          </a:xfrm>
          <a:prstGeom prst="rect">
            <a:avLst/>
          </a:prstGeom>
        </p:spPr>
      </p:pic>
      <p:sp>
        <p:nvSpPr>
          <p:cNvPr id="8" name="TextBox 7">
            <a:extLst>
              <a:ext uri="{FF2B5EF4-FFF2-40B4-BE49-F238E27FC236}">
                <a16:creationId xmlns:a16="http://schemas.microsoft.com/office/drawing/2014/main" id="{B3E41EAE-0284-3E1D-787B-26A0472E280E}"/>
              </a:ext>
            </a:extLst>
          </p:cNvPr>
          <p:cNvSpPr>
            <a:spLocks noGrp="1"/>
          </p:cNvSpPr>
          <p:nvPr/>
        </p:nvSpPr>
        <p:spPr>
          <a:xfrm>
            <a:off x="6700838" y="4187309"/>
            <a:ext cx="3514725" cy="1077218"/>
          </a:xfrm>
          <a:prstGeom prst="rect">
            <a:avLst/>
          </a:prstGeom>
          <a:noFill/>
          <a:ln w="28575">
            <a:solidFill>
              <a:srgbClr val="C00000"/>
            </a:solidFill>
          </a:ln>
        </p:spPr>
        <p:txBody>
          <a:bodyPr wrap="square">
            <a:spAutoFit/>
          </a:bodyPr>
          <a:lstStyle/>
          <a:p>
            <a:pPr algn="ctr">
              <a:buNone/>
            </a:pPr>
            <a:r>
              <a:rPr sz="3200">
                <a:solidFill>
                  <a:srgbClr val="C00000"/>
                </a:solidFill>
              </a:rPr>
              <a:t>Mutant Survives the Test Case</a:t>
            </a:r>
          </a:p>
        </p:txBody>
      </p:sp>
      <p:pic>
        <p:nvPicPr>
          <p:cNvPr id="41" name="Picture 2"/>
          <p:cNvPicPr>
            <a:picLocks noChangeAspect="1"/>
          </p:cNvPicPr>
          <p:nvPr/>
        </p:nvPicPr>
        <p:blipFill rotWithShape="1">
          <a:blip r:embed="rId4"/>
          <a:srcRect l="53846" t="28675" r="11923" b="37857"/>
          <a:stretch/>
        </p:blipFill>
        <p:spPr>
          <a:xfrm>
            <a:off x="9650413" y="570031"/>
            <a:ext cx="1130300" cy="1190109"/>
          </a:xfrm>
          <a:prstGeom prst="rect">
            <a:avLst/>
          </a:prstGeom>
        </p:spPr>
      </p:pic>
      <p:sp>
        <p:nvSpPr>
          <p:cNvPr id="13" name="mt-background-cover">
            <a:extLst>
              <a:ext uri="{FF2B5EF4-FFF2-40B4-BE49-F238E27FC236}">
                <a16:creationId xmlns:a16="http://schemas.microsoft.com/office/drawing/2014/main" id="{A124C161-1B1A-42C3-A283-405B7EFAF020}"/>
              </a:ext>
            </a:extLst>
          </p:cNvPr>
          <p:cNvSpPr>
            <a:spLocks noGrp="1"/>
          </p:cNvSpPr>
          <p:nvPr/>
        </p:nvSpPr>
        <p:spPr>
          <a:xfrm>
            <a:off x="0" y="0"/>
            <a:ext cx="12192000" cy="6858000"/>
          </a:xfrm>
          <a:prstGeom prst="rect">
            <a:avLst/>
          </a:prstGeom>
          <a:solidFill>
            <a:srgbClr val="FFFFFF"/>
          </a:solidFill>
          <a:ln w="0">
            <a:noFill/>
          </a:ln>
        </p:spPr>
        <p:txBody>
          <a:bodyPr/>
          <a:lstStyle/>
          <a:p>
            <a:endParaRPr lang="en-US"/>
          </a:p>
        </p:txBody>
      </p:sp>
      <p:sp>
        <p:nvSpPr>
          <p:cNvPr id="14" name="mt-title">
            <a:extLst>
              <a:ext uri="{FF2B5EF4-FFF2-40B4-BE49-F238E27FC236}">
                <a16:creationId xmlns:a16="http://schemas.microsoft.com/office/drawing/2014/main" id="{20F477C1-00B2-4218-B4EA-5A619BEDB25B}"/>
              </a:ext>
            </a:extLst>
          </p:cNvPr>
          <p:cNvSpPr>
            <a:spLocks noGrp="1"/>
          </p:cNvSpPr>
          <p:nvPr/>
        </p:nvSpPr>
        <p:spPr>
          <a:xfrm>
            <a:off x="781050" y="400050"/>
            <a:ext cx="10620375" cy="609600"/>
          </a:xfrm>
          <a:prstGeom prst="rect">
            <a:avLst/>
          </a:prstGeom>
          <a:noFill/>
          <a:ln w="0">
            <a:noFill/>
          </a:ln>
        </p:spPr>
        <p:txBody>
          <a:bodyPr anchor="ctr">
            <a:normAutofit/>
          </a:bodyPr>
          <a:lstStyle/>
          <a:p>
            <a:pPr algn="l">
              <a:defRPr sz="2850" b="0">
                <a:solidFill>
                  <a:srgbClr val="20364D"/>
                </a:solidFill>
                <a:latin typeface="Calibri"/>
                <a:ea typeface="Calibri"/>
                <a:cs typeface="Calibri"/>
              </a:defRPr>
            </a:pPr>
            <a:r>
              <a:rPr sz="2850" b="0">
                <a:solidFill>
                  <a:srgbClr val="20364D"/>
                </a:solidFill>
                <a:latin typeface="Calibri"/>
                <a:ea typeface="Calibri"/>
                <a:cs typeface="Calibri"/>
              </a:rPr>
              <a:t>Existing Tests Do Not Distinguish the Mutant</a:t>
            </a:r>
          </a:p>
        </p:txBody>
      </p:sp>
      <p:sp>
        <p:nvSpPr>
          <p:cNvPr id="15" name="mt-title-rule">
            <a:extLst>
              <a:ext uri="{FF2B5EF4-FFF2-40B4-BE49-F238E27FC236}">
                <a16:creationId xmlns:a16="http://schemas.microsoft.com/office/drawing/2014/main" id="{661AE649-9464-49F6-B53A-99A065918FE4}"/>
              </a:ext>
            </a:extLst>
          </p:cNvPr>
          <p:cNvSpPr>
            <a:spLocks noGrp="1"/>
          </p:cNvSpPr>
          <p:nvPr/>
        </p:nvSpPr>
        <p:spPr>
          <a:xfrm>
            <a:off x="800100" y="1104900"/>
            <a:ext cx="1571625" cy="0"/>
          </a:xfrm>
          <a:prstGeom prst="line">
            <a:avLst/>
          </a:prstGeom>
          <a:noFill/>
          <a:ln w="38100">
            <a:solidFill>
              <a:srgbClr val="20364D"/>
            </a:solidFill>
            <a:prstDash val="solid"/>
          </a:ln>
        </p:spPr>
        <p:txBody>
          <a:bodyPr/>
          <a:lstStyle/>
          <a:p>
            <a:endParaRPr lang="en-US"/>
          </a:p>
        </p:txBody>
      </p:sp>
      <p:sp>
        <p:nvSpPr>
          <p:cNvPr id="16" name="mt-subtitle">
            <a:extLst>
              <a:ext uri="{FF2B5EF4-FFF2-40B4-BE49-F238E27FC236}">
                <a16:creationId xmlns:a16="http://schemas.microsoft.com/office/drawing/2014/main" id="{87262945-23AC-4647-829A-B38B793D75E4}"/>
              </a:ext>
            </a:extLst>
          </p:cNvPr>
          <p:cNvSpPr>
            <a:spLocks noGrp="1"/>
          </p:cNvSpPr>
          <p:nvPr/>
        </p:nvSpPr>
        <p:spPr>
          <a:xfrm>
            <a:off x="781050" y="1190625"/>
            <a:ext cx="10572750" cy="400050"/>
          </a:xfrm>
          <a:prstGeom prst="rect">
            <a:avLst/>
          </a:prstGeom>
          <a:noFill/>
          <a:ln w="0">
            <a:noFill/>
          </a:ln>
        </p:spPr>
        <p:txBody>
          <a:bodyPr anchor="ctr">
            <a:normAutofit/>
          </a:bodyPr>
          <a:lstStyle/>
          <a:p>
            <a:pPr algn="l">
              <a:defRPr sz="1500" b="0">
                <a:solidFill>
                  <a:srgbClr val="5E6B77"/>
                </a:solidFill>
                <a:latin typeface="Calibri"/>
                <a:ea typeface="Calibri"/>
                <a:cs typeface="Calibri"/>
              </a:defRPr>
            </a:pPr>
            <a:r>
              <a:rPr sz="1500" b="0">
                <a:solidFill>
                  <a:srgbClr val="5E6B77"/>
                </a:solidFill>
                <a:latin typeface="Calibri"/>
                <a:ea typeface="Calibri"/>
                <a:cs typeface="Calibri"/>
              </a:rPr>
              <a:t>The current assertions produce the same result for both programs.</a:t>
            </a:r>
          </a:p>
        </p:txBody>
      </p:sp>
      <p:sp>
        <p:nvSpPr>
          <p:cNvPr id="17" name="anim-s16-original">
            <a:extLst>
              <a:ext uri="{FF2B5EF4-FFF2-40B4-BE49-F238E27FC236}">
                <a16:creationId xmlns:a16="http://schemas.microsoft.com/office/drawing/2014/main" id="{03139141-A218-4D17-BD58-3E18FF9278FF}"/>
              </a:ext>
            </a:extLst>
          </p:cNvPr>
          <p:cNvSpPr>
            <a:spLocks noGrp="1"/>
          </p:cNvSpPr>
          <p:nvPr/>
        </p:nvSpPr>
        <p:spPr>
          <a:xfrm>
            <a:off x="781050" y="1809750"/>
            <a:ext cx="3143250" cy="1200150"/>
          </a:xfrm>
          <a:prstGeom prst="roundRect">
            <a:avLst>
              <a:gd name="adj" fmla="val 11111"/>
            </a:avLst>
          </a:prstGeom>
          <a:solidFill>
            <a:srgbClr val="EAF4FF"/>
          </a:solidFill>
          <a:ln w="19050">
            <a:solidFill>
              <a:srgbClr val="3978B7"/>
            </a:solidFill>
            <a:prstDash val="solid"/>
          </a:ln>
        </p:spPr>
        <p:txBody>
          <a:bodyPr/>
          <a:lstStyle/>
          <a:p>
            <a:endParaRPr lang="en-US"/>
          </a:p>
        </p:txBody>
      </p:sp>
      <p:sp>
        <p:nvSpPr>
          <p:cNvPr id="18" name="anim-s16-original-head">
            <a:extLst>
              <a:ext uri="{FF2B5EF4-FFF2-40B4-BE49-F238E27FC236}">
                <a16:creationId xmlns:a16="http://schemas.microsoft.com/office/drawing/2014/main" id="{9D980CD4-5D93-457B-BFDB-8D90A124C552}"/>
              </a:ext>
            </a:extLst>
          </p:cNvPr>
          <p:cNvSpPr>
            <a:spLocks noGrp="1"/>
          </p:cNvSpPr>
          <p:nvPr/>
        </p:nvSpPr>
        <p:spPr>
          <a:xfrm>
            <a:off x="914400" y="1905000"/>
            <a:ext cx="2876550" cy="285750"/>
          </a:xfrm>
          <a:prstGeom prst="rect">
            <a:avLst/>
          </a:prstGeom>
          <a:noFill/>
          <a:ln w="0">
            <a:noFill/>
          </a:ln>
        </p:spPr>
        <p:txBody>
          <a:bodyPr anchor="ctr">
            <a:normAutofit fontScale="92500" lnSpcReduction="10000"/>
          </a:bodyPr>
          <a:lstStyle/>
          <a:p>
            <a:pPr algn="ctr">
              <a:defRPr sz="1500" b="1">
                <a:solidFill>
                  <a:srgbClr val="3978B7"/>
                </a:solidFill>
                <a:latin typeface="Calibri"/>
                <a:ea typeface="Calibri"/>
                <a:cs typeface="Calibri"/>
              </a:defRPr>
            </a:pPr>
            <a:r>
              <a:rPr sz="1500" b="1">
                <a:solidFill>
                  <a:srgbClr val="3978B7"/>
                </a:solidFill>
                <a:latin typeface="Calibri"/>
                <a:ea typeface="Calibri"/>
                <a:cs typeface="Calibri"/>
              </a:rPr>
              <a:t>ORIGINAL</a:t>
            </a:r>
          </a:p>
        </p:txBody>
      </p:sp>
      <p:sp>
        <p:nvSpPr>
          <p:cNvPr id="19" name="anim-s16-original-body">
            <a:extLst>
              <a:ext uri="{FF2B5EF4-FFF2-40B4-BE49-F238E27FC236}">
                <a16:creationId xmlns:a16="http://schemas.microsoft.com/office/drawing/2014/main" id="{A9585D1E-CA05-4851-85BF-B8F9DC5E0ED2}"/>
              </a:ext>
            </a:extLst>
          </p:cNvPr>
          <p:cNvSpPr>
            <a:spLocks noGrp="1"/>
          </p:cNvSpPr>
          <p:nvPr/>
        </p:nvSpPr>
        <p:spPr>
          <a:xfrm>
            <a:off x="914400" y="2219325"/>
            <a:ext cx="2876550" cy="723900"/>
          </a:xfrm>
          <a:prstGeom prst="rect">
            <a:avLst/>
          </a:prstGeom>
          <a:noFill/>
          <a:ln w="0">
            <a:noFill/>
          </a:ln>
        </p:spPr>
        <p:txBody>
          <a:bodyPr anchor="ctr">
            <a:normAutofit/>
          </a:bodyPr>
          <a:lstStyle/>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if (a &amp;&amp; b) return 1;</a:t>
            </a:r>
          </a:p>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else return 0;</a:t>
            </a:r>
          </a:p>
        </p:txBody>
      </p:sp>
      <p:sp>
        <p:nvSpPr>
          <p:cNvPr id="20" name="anim-s16-mutant">
            <a:extLst>
              <a:ext uri="{FF2B5EF4-FFF2-40B4-BE49-F238E27FC236}">
                <a16:creationId xmlns:a16="http://schemas.microsoft.com/office/drawing/2014/main" id="{5EF6137A-BC99-4C2F-A26C-03ADA2A6F974}"/>
              </a:ext>
            </a:extLst>
          </p:cNvPr>
          <p:cNvSpPr>
            <a:spLocks noGrp="1"/>
          </p:cNvSpPr>
          <p:nvPr/>
        </p:nvSpPr>
        <p:spPr>
          <a:xfrm>
            <a:off x="781050" y="3352800"/>
            <a:ext cx="3143250" cy="1200150"/>
          </a:xfrm>
          <a:prstGeom prst="roundRect">
            <a:avLst>
              <a:gd name="adj" fmla="val 11111"/>
            </a:avLst>
          </a:prstGeom>
          <a:solidFill>
            <a:srgbClr val="FFF8D7"/>
          </a:solidFill>
          <a:ln w="19050">
            <a:solidFill>
              <a:srgbClr val="F2A900"/>
            </a:solidFill>
            <a:prstDash val="solid"/>
          </a:ln>
        </p:spPr>
        <p:txBody>
          <a:bodyPr/>
          <a:lstStyle/>
          <a:p>
            <a:endParaRPr lang="en-US"/>
          </a:p>
        </p:txBody>
      </p:sp>
      <p:sp>
        <p:nvSpPr>
          <p:cNvPr id="21" name="anim-s16-mutant-head">
            <a:extLst>
              <a:ext uri="{FF2B5EF4-FFF2-40B4-BE49-F238E27FC236}">
                <a16:creationId xmlns:a16="http://schemas.microsoft.com/office/drawing/2014/main" id="{440BE97D-2E3F-4E75-BFB3-F165C2A204E8}"/>
              </a:ext>
            </a:extLst>
          </p:cNvPr>
          <p:cNvSpPr>
            <a:spLocks noGrp="1"/>
          </p:cNvSpPr>
          <p:nvPr/>
        </p:nvSpPr>
        <p:spPr>
          <a:xfrm>
            <a:off x="914400" y="3448050"/>
            <a:ext cx="2876550" cy="285750"/>
          </a:xfrm>
          <a:prstGeom prst="rect">
            <a:avLst/>
          </a:prstGeom>
          <a:noFill/>
          <a:ln w="0">
            <a:noFill/>
          </a:ln>
        </p:spPr>
        <p:txBody>
          <a:bodyPr anchor="ctr">
            <a:normAutofit fontScale="92500" lnSpcReduction="10000"/>
          </a:bodyPr>
          <a:lstStyle/>
          <a:p>
            <a:pPr algn="ctr">
              <a:defRPr sz="1500" b="1">
                <a:solidFill>
                  <a:srgbClr val="F2A900"/>
                </a:solidFill>
                <a:latin typeface="Calibri"/>
                <a:ea typeface="Calibri"/>
                <a:cs typeface="Calibri"/>
              </a:defRPr>
            </a:pPr>
            <a:r>
              <a:rPr sz="1500" b="1">
                <a:solidFill>
                  <a:srgbClr val="F2A900"/>
                </a:solidFill>
                <a:latin typeface="Calibri"/>
                <a:ea typeface="Calibri"/>
                <a:cs typeface="Calibri"/>
              </a:rPr>
              <a:t>MUTANT</a:t>
            </a:r>
          </a:p>
        </p:txBody>
      </p:sp>
      <p:sp>
        <p:nvSpPr>
          <p:cNvPr id="22" name="anim-s16-mutant-body">
            <a:extLst>
              <a:ext uri="{FF2B5EF4-FFF2-40B4-BE49-F238E27FC236}">
                <a16:creationId xmlns:a16="http://schemas.microsoft.com/office/drawing/2014/main" id="{39C3F67C-402F-4A4A-8FD3-6E6CF3CCB31E}"/>
              </a:ext>
            </a:extLst>
          </p:cNvPr>
          <p:cNvSpPr>
            <a:spLocks noGrp="1"/>
          </p:cNvSpPr>
          <p:nvPr/>
        </p:nvSpPr>
        <p:spPr>
          <a:xfrm>
            <a:off x="914400" y="3762375"/>
            <a:ext cx="2876550" cy="723900"/>
          </a:xfrm>
          <a:prstGeom prst="rect">
            <a:avLst/>
          </a:prstGeom>
          <a:noFill/>
          <a:ln w="0">
            <a:noFill/>
          </a:ln>
        </p:spPr>
        <p:txBody>
          <a:bodyPr anchor="ctr">
            <a:normAutofit/>
          </a:bodyPr>
          <a:lstStyle/>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if (a || b) return 1;</a:t>
            </a:r>
          </a:p>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else return 0;</a:t>
            </a:r>
          </a:p>
        </p:txBody>
      </p:sp>
      <p:sp>
        <p:nvSpPr>
          <p:cNvPr id="23" name="anim-s16-tests-head">
            <a:extLst>
              <a:ext uri="{FF2B5EF4-FFF2-40B4-BE49-F238E27FC236}">
                <a16:creationId xmlns:a16="http://schemas.microsoft.com/office/drawing/2014/main" id="{75E01A76-36D2-4428-95EB-527AD0A20E6A}"/>
              </a:ext>
            </a:extLst>
          </p:cNvPr>
          <p:cNvSpPr>
            <a:spLocks noGrp="1"/>
          </p:cNvSpPr>
          <p:nvPr/>
        </p:nvSpPr>
        <p:spPr>
          <a:xfrm>
            <a:off x="4572000" y="1790700"/>
            <a:ext cx="6096000" cy="323850"/>
          </a:xfrm>
          <a:prstGeom prst="rect">
            <a:avLst/>
          </a:prstGeom>
          <a:noFill/>
          <a:ln w="0">
            <a:noFill/>
          </a:ln>
        </p:spPr>
        <p:txBody>
          <a:bodyPr anchor="ctr">
            <a:normAutofit/>
          </a:bodyPr>
          <a:lstStyle/>
          <a:p>
            <a:pPr algn="l">
              <a:defRPr sz="1500" b="1">
                <a:solidFill>
                  <a:srgbClr val="20364D"/>
                </a:solidFill>
                <a:latin typeface="Calibri"/>
                <a:ea typeface="Calibri"/>
                <a:cs typeface="Calibri"/>
              </a:defRPr>
            </a:pPr>
            <a:r>
              <a:rPr sz="1500" b="1">
                <a:solidFill>
                  <a:srgbClr val="20364D"/>
                </a:solidFill>
                <a:latin typeface="Calibri"/>
                <a:ea typeface="Calibri"/>
                <a:cs typeface="Calibri"/>
              </a:rPr>
              <a:t>CURRENT TESTS</a:t>
            </a:r>
          </a:p>
        </p:txBody>
      </p:sp>
      <p:sp>
        <p:nvSpPr>
          <p:cNvPr id="24" name="anim-s16-tests">
            <a:extLst>
              <a:ext uri="{FF2B5EF4-FFF2-40B4-BE49-F238E27FC236}">
                <a16:creationId xmlns:a16="http://schemas.microsoft.com/office/drawing/2014/main" id="{8F3CC2DE-72EA-41E9-97C7-971A648A522A}"/>
              </a:ext>
            </a:extLst>
          </p:cNvPr>
          <p:cNvSpPr>
            <a:spLocks noGrp="1"/>
          </p:cNvSpPr>
          <p:nvPr/>
        </p:nvSpPr>
        <p:spPr>
          <a:xfrm>
            <a:off x="4572000" y="2133600"/>
            <a:ext cx="6096000" cy="666750"/>
          </a:xfrm>
          <a:prstGeom prst="rect">
            <a:avLst/>
          </a:prstGeom>
          <a:noFill/>
          <a:ln w="0">
            <a:noFill/>
          </a:ln>
        </p:spPr>
        <p:txBody>
          <a:bodyPr anchor="ctr">
            <a:normAutofit/>
          </a:bodyPr>
          <a:lstStyle/>
          <a:p>
            <a:pPr algn="l">
              <a:defRPr sz="1650" b="1">
                <a:solidFill>
                  <a:srgbClr val="20364D"/>
                </a:solidFill>
                <a:latin typeface="Courier New"/>
                <a:ea typeface="Courier New"/>
                <a:cs typeface="Courier New"/>
              </a:defRPr>
            </a:pPr>
            <a:r>
              <a:rPr sz="1650" b="1" dirty="0">
                <a:solidFill>
                  <a:srgbClr val="20364D"/>
                </a:solidFill>
                <a:latin typeface="Courier New"/>
                <a:ea typeface="Courier New"/>
                <a:cs typeface="Courier New"/>
              </a:rPr>
              <a:t>assert f(true, true) == 1;</a:t>
            </a:r>
          </a:p>
          <a:p>
            <a:pPr algn="l">
              <a:defRPr sz="1650" b="1">
                <a:solidFill>
                  <a:srgbClr val="20364D"/>
                </a:solidFill>
                <a:latin typeface="Courier New"/>
                <a:ea typeface="Courier New"/>
                <a:cs typeface="Courier New"/>
              </a:defRPr>
            </a:pPr>
            <a:r>
              <a:rPr sz="1650" b="1" dirty="0">
                <a:solidFill>
                  <a:srgbClr val="20364D"/>
                </a:solidFill>
                <a:latin typeface="Courier New"/>
                <a:ea typeface="Courier New"/>
                <a:cs typeface="Courier New"/>
              </a:rPr>
              <a:t>assert f(false, false) == 0;</a:t>
            </a:r>
          </a:p>
        </p:txBody>
      </p:sp>
      <p:sp>
        <p:nvSpPr>
          <p:cNvPr id="25" name="anim-s16-table">
            <a:extLst>
              <a:ext uri="{FF2B5EF4-FFF2-40B4-BE49-F238E27FC236}">
                <a16:creationId xmlns:a16="http://schemas.microsoft.com/office/drawing/2014/main" id="{0053B9DE-E656-4B75-919E-AB58961D6273}"/>
              </a:ext>
            </a:extLst>
          </p:cNvPr>
          <p:cNvSpPr>
            <a:spLocks noGrp="1"/>
          </p:cNvSpPr>
          <p:nvPr/>
        </p:nvSpPr>
        <p:spPr>
          <a:xfrm>
            <a:off x="4572000" y="3048000"/>
            <a:ext cx="6096000" cy="1428750"/>
          </a:xfrm>
          <a:prstGeom prst="roundRect">
            <a:avLst>
              <a:gd name="adj" fmla="val 6667"/>
            </a:avLst>
          </a:prstGeom>
          <a:solidFill>
            <a:srgbClr val="F3F6F8"/>
          </a:solidFill>
          <a:ln w="19050">
            <a:solidFill>
              <a:srgbClr val="20364D"/>
            </a:solidFill>
            <a:prstDash val="solid"/>
          </a:ln>
        </p:spPr>
        <p:txBody>
          <a:bodyPr/>
          <a:lstStyle/>
          <a:p>
            <a:endParaRPr lang="en-US"/>
          </a:p>
        </p:txBody>
      </p:sp>
      <p:sp>
        <p:nvSpPr>
          <p:cNvPr id="26" name="anim-s16-h1">
            <a:extLst>
              <a:ext uri="{FF2B5EF4-FFF2-40B4-BE49-F238E27FC236}">
                <a16:creationId xmlns:a16="http://schemas.microsoft.com/office/drawing/2014/main" id="{978AC72C-1D35-4823-A616-80BCB8EB2A19}"/>
              </a:ext>
            </a:extLst>
          </p:cNvPr>
          <p:cNvSpPr>
            <a:spLocks noGrp="1"/>
          </p:cNvSpPr>
          <p:nvPr/>
        </p:nvSpPr>
        <p:spPr>
          <a:xfrm>
            <a:off x="4762500" y="3143250"/>
            <a:ext cx="1524000" cy="285750"/>
          </a:xfrm>
          <a:prstGeom prst="rect">
            <a:avLst/>
          </a:prstGeom>
          <a:noFill/>
          <a:ln w="0">
            <a:noFill/>
          </a:ln>
        </p:spPr>
        <p:txBody>
          <a:bodyPr anchor="ctr">
            <a:normAutofit/>
          </a:bodyPr>
          <a:lstStyle/>
          <a:p>
            <a:pPr algn="ctr">
              <a:defRPr sz="1275" b="1">
                <a:solidFill>
                  <a:srgbClr val="5E6B77"/>
                </a:solidFill>
                <a:latin typeface="Calibri"/>
                <a:ea typeface="Calibri"/>
                <a:cs typeface="Calibri"/>
              </a:defRPr>
            </a:pPr>
            <a:r>
              <a:rPr sz="1275" b="1">
                <a:solidFill>
                  <a:srgbClr val="5E6B77"/>
                </a:solidFill>
                <a:latin typeface="Calibri"/>
                <a:ea typeface="Calibri"/>
                <a:cs typeface="Calibri"/>
              </a:rPr>
              <a:t>INPUT</a:t>
            </a:r>
          </a:p>
        </p:txBody>
      </p:sp>
      <p:sp>
        <p:nvSpPr>
          <p:cNvPr id="27" name="anim-s16-h2">
            <a:extLst>
              <a:ext uri="{FF2B5EF4-FFF2-40B4-BE49-F238E27FC236}">
                <a16:creationId xmlns:a16="http://schemas.microsoft.com/office/drawing/2014/main" id="{0549F903-EF57-4250-9605-5E77622BE26B}"/>
              </a:ext>
            </a:extLst>
          </p:cNvPr>
          <p:cNvSpPr>
            <a:spLocks noGrp="1"/>
          </p:cNvSpPr>
          <p:nvPr/>
        </p:nvSpPr>
        <p:spPr>
          <a:xfrm>
            <a:off x="6429375" y="3143250"/>
            <a:ext cx="1619250" cy="285750"/>
          </a:xfrm>
          <a:prstGeom prst="rect">
            <a:avLst/>
          </a:prstGeom>
          <a:noFill/>
          <a:ln w="0">
            <a:noFill/>
          </a:ln>
        </p:spPr>
        <p:txBody>
          <a:bodyPr anchor="ctr">
            <a:normAutofit/>
          </a:bodyPr>
          <a:lstStyle/>
          <a:p>
            <a:pPr algn="ctr">
              <a:defRPr sz="1275" b="1">
                <a:solidFill>
                  <a:srgbClr val="3978B7"/>
                </a:solidFill>
                <a:latin typeface="Calibri"/>
                <a:ea typeface="Calibri"/>
                <a:cs typeface="Calibri"/>
              </a:defRPr>
            </a:pPr>
            <a:r>
              <a:rPr sz="1275" b="1">
                <a:solidFill>
                  <a:srgbClr val="3978B7"/>
                </a:solidFill>
                <a:latin typeface="Calibri"/>
                <a:ea typeface="Calibri"/>
                <a:cs typeface="Calibri"/>
              </a:rPr>
              <a:t>ORIGINAL</a:t>
            </a:r>
          </a:p>
        </p:txBody>
      </p:sp>
      <p:sp>
        <p:nvSpPr>
          <p:cNvPr id="28" name="anim-s16-h3">
            <a:extLst>
              <a:ext uri="{FF2B5EF4-FFF2-40B4-BE49-F238E27FC236}">
                <a16:creationId xmlns:a16="http://schemas.microsoft.com/office/drawing/2014/main" id="{AB239A19-CF6A-46AB-9079-BF14C0A9484F}"/>
              </a:ext>
            </a:extLst>
          </p:cNvPr>
          <p:cNvSpPr>
            <a:spLocks noGrp="1"/>
          </p:cNvSpPr>
          <p:nvPr/>
        </p:nvSpPr>
        <p:spPr>
          <a:xfrm>
            <a:off x="8239125" y="3143250"/>
            <a:ext cx="1619250" cy="285750"/>
          </a:xfrm>
          <a:prstGeom prst="rect">
            <a:avLst/>
          </a:prstGeom>
          <a:noFill/>
          <a:ln w="0">
            <a:noFill/>
          </a:ln>
        </p:spPr>
        <p:txBody>
          <a:bodyPr anchor="ctr">
            <a:normAutofit/>
          </a:bodyPr>
          <a:lstStyle/>
          <a:p>
            <a:pPr algn="ctr">
              <a:defRPr sz="1275" b="1">
                <a:solidFill>
                  <a:srgbClr val="F2A900"/>
                </a:solidFill>
                <a:latin typeface="Calibri"/>
                <a:ea typeface="Calibri"/>
                <a:cs typeface="Calibri"/>
              </a:defRPr>
            </a:pPr>
            <a:r>
              <a:rPr sz="1275" b="1">
                <a:solidFill>
                  <a:srgbClr val="F2A900"/>
                </a:solidFill>
                <a:latin typeface="Calibri"/>
                <a:ea typeface="Calibri"/>
                <a:cs typeface="Calibri"/>
              </a:rPr>
              <a:t>MUTANT</a:t>
            </a:r>
          </a:p>
        </p:txBody>
      </p:sp>
      <p:sp>
        <p:nvSpPr>
          <p:cNvPr id="29" name="anim-s16-r1">
            <a:extLst>
              <a:ext uri="{FF2B5EF4-FFF2-40B4-BE49-F238E27FC236}">
                <a16:creationId xmlns:a16="http://schemas.microsoft.com/office/drawing/2014/main" id="{B234967B-EC7B-4DDF-A8C9-96FA5DD16C36}"/>
              </a:ext>
            </a:extLst>
          </p:cNvPr>
          <p:cNvSpPr>
            <a:spLocks noGrp="1"/>
          </p:cNvSpPr>
          <p:nvPr/>
        </p:nvSpPr>
        <p:spPr>
          <a:xfrm>
            <a:off x="4762500" y="3524250"/>
            <a:ext cx="1524000" cy="723900"/>
          </a:xfrm>
          <a:prstGeom prst="rect">
            <a:avLst/>
          </a:prstGeom>
          <a:noFill/>
          <a:ln w="0">
            <a:noFill/>
          </a:ln>
        </p:spPr>
        <p:txBody>
          <a:bodyPr anchor="ctr">
            <a:normAutofit/>
          </a:bodyPr>
          <a:lstStyle/>
          <a:p>
            <a:pPr algn="ctr">
              <a:defRPr sz="1425" b="1">
                <a:solidFill>
                  <a:srgbClr val="20364D"/>
                </a:solidFill>
                <a:latin typeface="Courier New"/>
                <a:ea typeface="Courier New"/>
                <a:cs typeface="Courier New"/>
              </a:defRPr>
            </a:pPr>
            <a:r>
              <a:rPr sz="1425" b="1">
                <a:solidFill>
                  <a:srgbClr val="20364D"/>
                </a:solidFill>
                <a:latin typeface="Courier New"/>
                <a:ea typeface="Courier New"/>
                <a:cs typeface="Courier New"/>
              </a:rPr>
              <a:t>true, true</a:t>
            </a:r>
          </a:p>
          <a:p>
            <a:pPr algn="ctr">
              <a:defRPr sz="1425" b="1">
                <a:solidFill>
                  <a:srgbClr val="20364D"/>
                </a:solidFill>
                <a:latin typeface="Courier New"/>
                <a:ea typeface="Courier New"/>
                <a:cs typeface="Courier New"/>
              </a:defRPr>
            </a:pPr>
            <a:r>
              <a:rPr sz="1425" b="1">
                <a:solidFill>
                  <a:srgbClr val="20364D"/>
                </a:solidFill>
                <a:latin typeface="Courier New"/>
                <a:ea typeface="Courier New"/>
                <a:cs typeface="Courier New"/>
              </a:rPr>
              <a:t>false, false</a:t>
            </a:r>
          </a:p>
        </p:txBody>
      </p:sp>
      <p:sp>
        <p:nvSpPr>
          <p:cNvPr id="30" name="anim-s16-r2">
            <a:extLst>
              <a:ext uri="{FF2B5EF4-FFF2-40B4-BE49-F238E27FC236}">
                <a16:creationId xmlns:a16="http://schemas.microsoft.com/office/drawing/2014/main" id="{D2AB753D-6A9E-4C0C-965D-01AAC0D6F042}"/>
              </a:ext>
            </a:extLst>
          </p:cNvPr>
          <p:cNvSpPr>
            <a:spLocks noGrp="1"/>
          </p:cNvSpPr>
          <p:nvPr/>
        </p:nvSpPr>
        <p:spPr>
          <a:xfrm>
            <a:off x="6429375" y="3524250"/>
            <a:ext cx="1619250" cy="723900"/>
          </a:xfrm>
          <a:prstGeom prst="rect">
            <a:avLst/>
          </a:prstGeom>
          <a:noFill/>
          <a:ln w="0">
            <a:noFill/>
          </a:ln>
        </p:spPr>
        <p:txBody>
          <a:bodyPr anchor="ctr">
            <a:normAutofit/>
          </a:bodyPr>
          <a:lstStyle/>
          <a:p>
            <a:pPr algn="ctr">
              <a:defRPr sz="1575" b="1">
                <a:solidFill>
                  <a:srgbClr val="3978B7"/>
                </a:solidFill>
                <a:latin typeface="Courier New"/>
                <a:ea typeface="Courier New"/>
                <a:cs typeface="Courier New"/>
              </a:defRPr>
            </a:pPr>
            <a:r>
              <a:rPr sz="1575" b="1">
                <a:solidFill>
                  <a:srgbClr val="3978B7"/>
                </a:solidFill>
                <a:latin typeface="Courier New"/>
                <a:ea typeface="Courier New"/>
                <a:cs typeface="Courier New"/>
              </a:rPr>
              <a:t>1</a:t>
            </a:r>
          </a:p>
          <a:p>
            <a:pPr algn="ctr">
              <a:defRPr sz="1575" b="1">
                <a:solidFill>
                  <a:srgbClr val="3978B7"/>
                </a:solidFill>
                <a:latin typeface="Courier New"/>
                <a:ea typeface="Courier New"/>
                <a:cs typeface="Courier New"/>
              </a:defRPr>
            </a:pPr>
            <a:r>
              <a:rPr sz="1575" b="1">
                <a:solidFill>
                  <a:srgbClr val="3978B7"/>
                </a:solidFill>
                <a:latin typeface="Courier New"/>
                <a:ea typeface="Courier New"/>
                <a:cs typeface="Courier New"/>
              </a:rPr>
              <a:t>0</a:t>
            </a:r>
          </a:p>
        </p:txBody>
      </p:sp>
      <p:sp>
        <p:nvSpPr>
          <p:cNvPr id="31" name="anim-s16-r3">
            <a:extLst>
              <a:ext uri="{FF2B5EF4-FFF2-40B4-BE49-F238E27FC236}">
                <a16:creationId xmlns:a16="http://schemas.microsoft.com/office/drawing/2014/main" id="{8AF45308-5549-496F-B1A1-85DC407D0CF1}"/>
              </a:ext>
            </a:extLst>
          </p:cNvPr>
          <p:cNvSpPr>
            <a:spLocks noGrp="1"/>
          </p:cNvSpPr>
          <p:nvPr/>
        </p:nvSpPr>
        <p:spPr>
          <a:xfrm>
            <a:off x="8239125" y="3524250"/>
            <a:ext cx="1619250" cy="723900"/>
          </a:xfrm>
          <a:prstGeom prst="rect">
            <a:avLst/>
          </a:prstGeom>
          <a:noFill/>
          <a:ln w="0">
            <a:noFill/>
          </a:ln>
        </p:spPr>
        <p:txBody>
          <a:bodyPr anchor="ctr">
            <a:normAutofit/>
          </a:bodyPr>
          <a:lstStyle/>
          <a:p>
            <a:pPr algn="ctr">
              <a:defRPr sz="1575" b="1">
                <a:solidFill>
                  <a:srgbClr val="F2A900"/>
                </a:solidFill>
                <a:latin typeface="Courier New"/>
                <a:ea typeface="Courier New"/>
                <a:cs typeface="Courier New"/>
              </a:defRPr>
            </a:pPr>
            <a:r>
              <a:rPr sz="1575" b="1">
                <a:solidFill>
                  <a:srgbClr val="F2A900"/>
                </a:solidFill>
                <a:latin typeface="Courier New"/>
                <a:ea typeface="Courier New"/>
                <a:cs typeface="Courier New"/>
              </a:rPr>
              <a:t>1</a:t>
            </a:r>
          </a:p>
          <a:p>
            <a:pPr algn="ctr">
              <a:defRPr sz="1575" b="1">
                <a:solidFill>
                  <a:srgbClr val="F2A900"/>
                </a:solidFill>
                <a:latin typeface="Courier New"/>
                <a:ea typeface="Courier New"/>
                <a:cs typeface="Courier New"/>
              </a:defRPr>
            </a:pPr>
            <a:r>
              <a:rPr sz="1575" b="1">
                <a:solidFill>
                  <a:srgbClr val="F2A900"/>
                </a:solidFill>
                <a:latin typeface="Courier New"/>
                <a:ea typeface="Courier New"/>
                <a:cs typeface="Courier New"/>
              </a:rPr>
              <a:t>0</a:t>
            </a:r>
          </a:p>
        </p:txBody>
      </p:sp>
      <p:sp>
        <p:nvSpPr>
          <p:cNvPr id="32" name="anim-s16-result">
            <a:extLst>
              <a:ext uri="{FF2B5EF4-FFF2-40B4-BE49-F238E27FC236}">
                <a16:creationId xmlns:a16="http://schemas.microsoft.com/office/drawing/2014/main" id="{C2DE3B13-1473-4F9A-847E-97118BC32206}"/>
              </a:ext>
            </a:extLst>
          </p:cNvPr>
          <p:cNvSpPr>
            <a:spLocks noGrp="1"/>
          </p:cNvSpPr>
          <p:nvPr/>
        </p:nvSpPr>
        <p:spPr>
          <a:xfrm>
            <a:off x="4572000" y="4810125"/>
            <a:ext cx="6096000" cy="1000125"/>
          </a:xfrm>
          <a:prstGeom prst="roundRect">
            <a:avLst>
              <a:gd name="adj" fmla="val 13333"/>
            </a:avLst>
          </a:prstGeom>
          <a:solidFill>
            <a:srgbClr val="FFF0EE"/>
          </a:solidFill>
          <a:ln w="19050">
            <a:solidFill>
              <a:srgbClr val="E10600"/>
            </a:solidFill>
            <a:prstDash val="solid"/>
          </a:ln>
        </p:spPr>
        <p:txBody>
          <a:bodyPr/>
          <a:lstStyle/>
          <a:p>
            <a:endParaRPr lang="en-US"/>
          </a:p>
        </p:txBody>
      </p:sp>
      <p:pic>
        <p:nvPicPr>
          <p:cNvPr id="62" name="Picture 61"/>
          <p:cNvPicPr>
            <a:picLocks noChangeAspect="1"/>
          </p:cNvPicPr>
          <p:nvPr/>
        </p:nvPicPr>
        <p:blipFill>
          <a:blip r:embed="rId5"/>
          <a:stretch/>
        </p:blipFill>
        <p:spPr>
          <a:xfrm>
            <a:off x="4838700" y="4914900"/>
            <a:ext cx="495300" cy="723900"/>
          </a:xfrm>
          <a:prstGeom prst="rect">
            <a:avLst/>
          </a:prstGeom>
        </p:spPr>
      </p:pic>
      <p:sp>
        <p:nvSpPr>
          <p:cNvPr id="34" name="anim-s16-result-head">
            <a:extLst>
              <a:ext uri="{FF2B5EF4-FFF2-40B4-BE49-F238E27FC236}">
                <a16:creationId xmlns:a16="http://schemas.microsoft.com/office/drawing/2014/main" id="{028EEA36-E2C8-4940-B807-94CF79848CBD}"/>
              </a:ext>
            </a:extLst>
          </p:cNvPr>
          <p:cNvSpPr>
            <a:spLocks noGrp="1"/>
          </p:cNvSpPr>
          <p:nvPr/>
        </p:nvSpPr>
        <p:spPr>
          <a:xfrm>
            <a:off x="5572125" y="4914900"/>
            <a:ext cx="4762500" cy="333375"/>
          </a:xfrm>
          <a:prstGeom prst="rect">
            <a:avLst/>
          </a:prstGeom>
          <a:noFill/>
          <a:ln w="0">
            <a:noFill/>
          </a:ln>
        </p:spPr>
        <p:txBody>
          <a:bodyPr anchor="ctr">
            <a:normAutofit fontScale="88194" lnSpcReduction="10000"/>
          </a:bodyPr>
          <a:lstStyle/>
          <a:p>
            <a:pPr algn="l">
              <a:defRPr sz="1800" b="1">
                <a:solidFill>
                  <a:srgbClr val="A51E1E"/>
                </a:solidFill>
                <a:latin typeface="Calibri"/>
                <a:ea typeface="Calibri"/>
                <a:cs typeface="Calibri"/>
              </a:defRPr>
            </a:pPr>
            <a:r>
              <a:rPr sz="1800" b="1">
                <a:solidFill>
                  <a:srgbClr val="A51E1E"/>
                </a:solidFill>
                <a:latin typeface="Calibri"/>
                <a:ea typeface="Calibri"/>
                <a:cs typeface="Calibri"/>
              </a:rPr>
              <a:t>No assertion fails</a:t>
            </a:r>
          </a:p>
        </p:txBody>
      </p:sp>
      <p:sp>
        <p:nvSpPr>
          <p:cNvPr id="35" name="anim-s16-result-body">
            <a:extLst>
              <a:ext uri="{FF2B5EF4-FFF2-40B4-BE49-F238E27FC236}">
                <a16:creationId xmlns:a16="http://schemas.microsoft.com/office/drawing/2014/main" id="{8715009C-29E8-4F3F-8A58-85060D93CB83}"/>
              </a:ext>
            </a:extLst>
          </p:cNvPr>
          <p:cNvSpPr>
            <a:spLocks noGrp="1"/>
          </p:cNvSpPr>
          <p:nvPr/>
        </p:nvSpPr>
        <p:spPr>
          <a:xfrm>
            <a:off x="5572125" y="5276850"/>
            <a:ext cx="4762500" cy="304800"/>
          </a:xfrm>
          <a:prstGeom prst="rect">
            <a:avLst/>
          </a:prstGeom>
          <a:noFill/>
          <a:ln w="0">
            <a:noFill/>
          </a:ln>
        </p:spPr>
        <p:txBody>
          <a:bodyPr anchor="ctr">
            <a:normAutofit fontScale="96389" lnSpcReduction="10000"/>
          </a:bodyPr>
          <a:lstStyle/>
          <a:p>
            <a:pPr algn="l">
              <a:defRPr sz="1575" b="1">
                <a:solidFill>
                  <a:srgbClr val="20364D"/>
                </a:solidFill>
                <a:latin typeface="Calibri"/>
                <a:ea typeface="Calibri"/>
                <a:cs typeface="Calibri"/>
              </a:defRPr>
            </a:pPr>
            <a:r>
              <a:rPr sz="1575" b="1">
                <a:solidFill>
                  <a:srgbClr val="20364D"/>
                </a:solidFill>
                <a:latin typeface="Calibri"/>
                <a:ea typeface="Calibri"/>
                <a:cs typeface="Calibri"/>
              </a:rPr>
              <a:t>Result: the mutant survives</a:t>
            </a:r>
          </a:p>
        </p:txBody>
      </p:sp>
    </p:spTree>
    <p:extLst>
      <p:ext uri="{BB962C8B-B14F-4D97-AF65-F5344CB8AC3E}">
        <p14:creationId xmlns:p14="http://schemas.microsoft.com/office/powerpoint/2010/main" val="1682093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500"/>
                                        <p:tgtEl>
                                          <p:spTgt spid="3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500"/>
                                        <p:tgtEl>
                                          <p:spTgt spid="32"/>
                                        </p:tgtEl>
                                      </p:cBhvr>
                                    </p:animEffect>
                                  </p:childTnLst>
                                </p:cTn>
                              </p:par>
                              <p:par>
                                <p:cTn id="32" presetID="10" presetClass="entr" presetSubtype="0" fill="hold" nodeType="withEffect">
                                  <p:stCondLst>
                                    <p:cond delay="0"/>
                                  </p:stCondLst>
                                  <p:childTnLst>
                                    <p:set>
                                      <p:cBhvr>
                                        <p:cTn id="33" dur="1" fill="hold">
                                          <p:stCondLst>
                                            <p:cond delay="0"/>
                                          </p:stCondLst>
                                        </p:cTn>
                                        <p:tgtEl>
                                          <p:spTgt spid="62"/>
                                        </p:tgtEl>
                                        <p:attrNameLst>
                                          <p:attrName>style.visibility</p:attrName>
                                        </p:attrNameLst>
                                      </p:cBhvr>
                                      <p:to>
                                        <p:strVal val="visible"/>
                                      </p:to>
                                    </p:set>
                                    <p:animEffect transition="in" filter="fade">
                                      <p:cBhvr>
                                        <p:cTn id="34" dur="500"/>
                                        <p:tgtEl>
                                          <p:spTgt spid="6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5" grpId="0" animBg="1"/>
      <p:bldP spid="26" grpId="0"/>
      <p:bldP spid="27" grpId="0"/>
      <p:bldP spid="28" grpId="0"/>
      <p:bldP spid="29" grpId="0"/>
      <p:bldP spid="30" grpId="0"/>
      <p:bldP spid="31" grpId="0"/>
      <p:bldP spid="32" grpId="0" animBg="1"/>
      <p:bldP spid="34" grpId="0"/>
      <p:bldP spid="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B2A47-9EDA-3CE5-AFA8-568EA9675DA3}"/>
              </a:ext>
            </a:extLst>
          </p:cNvPr>
          <p:cNvSpPr>
            <a:spLocks noGrp="1"/>
          </p:cNvSpPr>
          <p:nvPr>
            <p:ph type="title"/>
          </p:nvPr>
        </p:nvSpPr>
        <p:spPr>
          <a:xfrm>
            <a:off x="838200" y="18255"/>
            <a:ext cx="10515600" cy="1325563"/>
          </a:xfrm>
        </p:spPr>
        <p:txBody>
          <a:bodyPr/>
          <a:lstStyle/>
          <a:p>
            <a:r>
              <a:t>Mutation Testing: Small Example</a:t>
            </a:r>
          </a:p>
        </p:txBody>
      </p:sp>
      <p:pic>
        <p:nvPicPr>
          <p:cNvPr id="42" name="Content Placeholder 4"/>
          <p:cNvPicPr>
            <a:picLocks noGrp="1" noChangeAspect="1"/>
          </p:cNvPicPr>
          <p:nvPr>
            <p:ph idx="1"/>
          </p:nvPr>
        </p:nvPicPr>
        <p:blipFill rotWithShape="1">
          <a:blip r:embed="rId3"/>
          <a:srcRect l="45910" b="49746"/>
          <a:stretch/>
        </p:blipFill>
        <p:spPr>
          <a:xfrm>
            <a:off x="5853112" y="1458118"/>
            <a:ext cx="5500688" cy="2143125"/>
          </a:xfrm>
        </p:spPr>
      </p:pic>
      <p:pic>
        <p:nvPicPr>
          <p:cNvPr id="43" name="Content Placeholder 4"/>
          <p:cNvPicPr>
            <a:picLocks noChangeAspect="1"/>
          </p:cNvPicPr>
          <p:nvPr/>
        </p:nvPicPr>
        <p:blipFill rotWithShape="1">
          <a:blip r:embed="rId3"/>
          <a:srcRect r="56681" b="48964"/>
          <a:stretch/>
        </p:blipFill>
        <p:spPr>
          <a:xfrm>
            <a:off x="838198" y="1486693"/>
            <a:ext cx="4405313" cy="2176462"/>
          </a:xfrm>
          <a:prstGeom prst="rect">
            <a:avLst/>
          </a:prstGeom>
        </p:spPr>
      </p:pic>
      <p:pic>
        <p:nvPicPr>
          <p:cNvPr id="44" name="Content Placeholder 4"/>
          <p:cNvPicPr>
            <a:picLocks noChangeAspect="1"/>
          </p:cNvPicPr>
          <p:nvPr/>
        </p:nvPicPr>
        <p:blipFill rotWithShape="1">
          <a:blip r:embed="rId3"/>
          <a:srcRect t="54497" r="56681"/>
          <a:stretch/>
        </p:blipFill>
        <p:spPr>
          <a:xfrm>
            <a:off x="838199" y="3971925"/>
            <a:ext cx="4405313" cy="1940513"/>
          </a:xfrm>
          <a:prstGeom prst="rect">
            <a:avLst/>
          </a:prstGeom>
        </p:spPr>
      </p:pic>
      <p:pic>
        <p:nvPicPr>
          <p:cNvPr id="45" name="Picture 3"/>
          <p:cNvPicPr>
            <a:picLocks noChangeAspect="1"/>
          </p:cNvPicPr>
          <p:nvPr/>
        </p:nvPicPr>
        <p:blipFill>
          <a:blip r:embed="rId4"/>
          <a:stretch>
            <a:fillRect/>
          </a:stretch>
        </p:blipFill>
        <p:spPr>
          <a:xfrm>
            <a:off x="6096000" y="3971924"/>
            <a:ext cx="4912787" cy="1775413"/>
          </a:xfrm>
          <a:prstGeom prst="rect">
            <a:avLst/>
          </a:prstGeom>
        </p:spPr>
      </p:pic>
      <p:pic>
        <p:nvPicPr>
          <p:cNvPr id="46" name="Picture 2"/>
          <p:cNvPicPr>
            <a:picLocks noChangeAspect="1"/>
          </p:cNvPicPr>
          <p:nvPr/>
        </p:nvPicPr>
        <p:blipFill rotWithShape="1">
          <a:blip r:embed="rId5"/>
          <a:srcRect l="10000" t="30714" r="55768" b="38243"/>
          <a:stretch/>
        </p:blipFill>
        <p:spPr>
          <a:xfrm>
            <a:off x="10730975" y="3663155"/>
            <a:ext cx="1130300" cy="1103899"/>
          </a:xfrm>
          <a:prstGeom prst="rect">
            <a:avLst/>
          </a:prstGeom>
        </p:spPr>
      </p:pic>
      <p:pic>
        <p:nvPicPr>
          <p:cNvPr id="47" name="Picture 2"/>
          <p:cNvPicPr>
            <a:picLocks noChangeAspect="1"/>
          </p:cNvPicPr>
          <p:nvPr/>
        </p:nvPicPr>
        <p:blipFill rotWithShape="1">
          <a:blip r:embed="rId5"/>
          <a:srcRect l="53846" t="28675" r="11923" b="37857"/>
          <a:stretch/>
        </p:blipFill>
        <p:spPr>
          <a:xfrm>
            <a:off x="9650413" y="570031"/>
            <a:ext cx="1130300" cy="1190109"/>
          </a:xfrm>
          <a:prstGeom prst="rect">
            <a:avLst/>
          </a:prstGeom>
        </p:spPr>
      </p:pic>
      <p:sp>
        <p:nvSpPr>
          <p:cNvPr id="10" name="TextBox 9">
            <a:extLst>
              <a:ext uri="{FF2B5EF4-FFF2-40B4-BE49-F238E27FC236}">
                <a16:creationId xmlns:a16="http://schemas.microsoft.com/office/drawing/2014/main" id="{E6856000-5E0A-739D-DBF1-61AF7D6B2D1B}"/>
              </a:ext>
            </a:extLst>
          </p:cNvPr>
          <p:cNvSpPr>
            <a:spLocks noGrp="1"/>
          </p:cNvSpPr>
          <p:nvPr/>
        </p:nvSpPr>
        <p:spPr>
          <a:xfrm>
            <a:off x="7199086" y="5703474"/>
            <a:ext cx="2451327" cy="923330"/>
          </a:xfrm>
          <a:prstGeom prst="rect">
            <a:avLst/>
          </a:prstGeom>
          <a:noFill/>
        </p:spPr>
        <p:txBody>
          <a:bodyPr wrap="square">
            <a:spAutoFit/>
          </a:bodyPr>
          <a:lstStyle/>
          <a:p>
            <a:r>
              <a:t>Original would give 0.</a:t>
            </a:r>
          </a:p>
          <a:p>
            <a:r>
              <a:t>Mutant would give 1.</a:t>
            </a:r>
          </a:p>
          <a:p>
            <a:r>
              <a:t>That’s the bug!</a:t>
            </a:r>
          </a:p>
        </p:txBody>
      </p:sp>
      <p:sp>
        <p:nvSpPr>
          <p:cNvPr id="17" name="mt-background-cover">
            <a:extLst>
              <a:ext uri="{FF2B5EF4-FFF2-40B4-BE49-F238E27FC236}">
                <a16:creationId xmlns:a16="http://schemas.microsoft.com/office/drawing/2014/main" id="{E17131ED-CECC-454D-B865-D54B6E63F4F7}"/>
              </a:ext>
            </a:extLst>
          </p:cNvPr>
          <p:cNvSpPr>
            <a:spLocks noGrp="1"/>
          </p:cNvSpPr>
          <p:nvPr/>
        </p:nvSpPr>
        <p:spPr>
          <a:xfrm>
            <a:off x="0" y="0"/>
            <a:ext cx="12192000" cy="6858000"/>
          </a:xfrm>
          <a:prstGeom prst="rect">
            <a:avLst/>
          </a:prstGeom>
          <a:solidFill>
            <a:srgbClr val="FFFFFF"/>
          </a:solidFill>
          <a:ln w="0">
            <a:noFill/>
          </a:ln>
        </p:spPr>
        <p:txBody>
          <a:bodyPr/>
          <a:lstStyle/>
          <a:p>
            <a:endParaRPr lang="en-US"/>
          </a:p>
        </p:txBody>
      </p:sp>
      <p:sp>
        <p:nvSpPr>
          <p:cNvPr id="18" name="mt-title">
            <a:extLst>
              <a:ext uri="{FF2B5EF4-FFF2-40B4-BE49-F238E27FC236}">
                <a16:creationId xmlns:a16="http://schemas.microsoft.com/office/drawing/2014/main" id="{58C53A15-1BE9-42DB-8049-F139E323B8A2}"/>
              </a:ext>
            </a:extLst>
          </p:cNvPr>
          <p:cNvSpPr>
            <a:spLocks noGrp="1"/>
          </p:cNvSpPr>
          <p:nvPr/>
        </p:nvSpPr>
        <p:spPr>
          <a:xfrm>
            <a:off x="781050" y="400050"/>
            <a:ext cx="10620375" cy="609600"/>
          </a:xfrm>
          <a:prstGeom prst="rect">
            <a:avLst/>
          </a:prstGeom>
          <a:noFill/>
          <a:ln w="0">
            <a:noFill/>
          </a:ln>
        </p:spPr>
        <p:txBody>
          <a:bodyPr anchor="ctr">
            <a:normAutofit/>
          </a:bodyPr>
          <a:lstStyle/>
          <a:p>
            <a:pPr algn="l">
              <a:defRPr sz="2850" b="0">
                <a:solidFill>
                  <a:srgbClr val="20364D"/>
                </a:solidFill>
                <a:latin typeface="Calibri"/>
                <a:ea typeface="Calibri"/>
                <a:cs typeface="Calibri"/>
              </a:defRPr>
            </a:pPr>
            <a:r>
              <a:rPr sz="2850" b="0">
                <a:solidFill>
                  <a:srgbClr val="20364D"/>
                </a:solidFill>
                <a:latin typeface="Calibri"/>
                <a:ea typeface="Calibri"/>
                <a:cs typeface="Calibri"/>
              </a:rPr>
              <a:t>A Distinguishing Test Kills the Mutant</a:t>
            </a:r>
          </a:p>
        </p:txBody>
      </p:sp>
      <p:sp>
        <p:nvSpPr>
          <p:cNvPr id="19" name="mt-title-rule">
            <a:extLst>
              <a:ext uri="{FF2B5EF4-FFF2-40B4-BE49-F238E27FC236}">
                <a16:creationId xmlns:a16="http://schemas.microsoft.com/office/drawing/2014/main" id="{18363B07-79B0-4C23-9D59-F2444430521B}"/>
              </a:ext>
            </a:extLst>
          </p:cNvPr>
          <p:cNvSpPr>
            <a:spLocks noGrp="1"/>
          </p:cNvSpPr>
          <p:nvPr/>
        </p:nvSpPr>
        <p:spPr>
          <a:xfrm>
            <a:off x="800100" y="1104900"/>
            <a:ext cx="1571625" cy="0"/>
          </a:xfrm>
          <a:prstGeom prst="line">
            <a:avLst/>
          </a:prstGeom>
          <a:noFill/>
          <a:ln w="38100">
            <a:solidFill>
              <a:srgbClr val="20364D"/>
            </a:solidFill>
            <a:prstDash val="solid"/>
          </a:ln>
        </p:spPr>
        <p:txBody>
          <a:bodyPr/>
          <a:lstStyle/>
          <a:p>
            <a:endParaRPr lang="en-US"/>
          </a:p>
        </p:txBody>
      </p:sp>
      <p:sp>
        <p:nvSpPr>
          <p:cNvPr id="20" name="mt-subtitle">
            <a:extLst>
              <a:ext uri="{FF2B5EF4-FFF2-40B4-BE49-F238E27FC236}">
                <a16:creationId xmlns:a16="http://schemas.microsoft.com/office/drawing/2014/main" id="{88811BA7-5143-43C1-8B26-E486B56DFD34}"/>
              </a:ext>
            </a:extLst>
          </p:cNvPr>
          <p:cNvSpPr>
            <a:spLocks noGrp="1"/>
          </p:cNvSpPr>
          <p:nvPr/>
        </p:nvSpPr>
        <p:spPr>
          <a:xfrm>
            <a:off x="781050" y="1190625"/>
            <a:ext cx="10572750" cy="400050"/>
          </a:xfrm>
          <a:prstGeom prst="rect">
            <a:avLst/>
          </a:prstGeom>
          <a:noFill/>
          <a:ln w="0">
            <a:noFill/>
          </a:ln>
        </p:spPr>
        <p:txBody>
          <a:bodyPr anchor="ctr">
            <a:normAutofit/>
          </a:bodyPr>
          <a:lstStyle/>
          <a:p>
            <a:pPr algn="l">
              <a:defRPr sz="1500" b="0">
                <a:solidFill>
                  <a:srgbClr val="5E6B77"/>
                </a:solidFill>
                <a:latin typeface="Calibri"/>
                <a:ea typeface="Calibri"/>
                <a:cs typeface="Calibri"/>
              </a:defRPr>
            </a:pPr>
            <a:r>
              <a:rPr sz="1500" b="0">
                <a:solidFill>
                  <a:srgbClr val="5E6B77"/>
                </a:solidFill>
                <a:latin typeface="Calibri"/>
                <a:ea typeface="Calibri"/>
                <a:cs typeface="Calibri"/>
              </a:rPr>
              <a:t>Use an input for which the original and mutant behave differently.</a:t>
            </a:r>
          </a:p>
        </p:txBody>
      </p:sp>
      <p:sp>
        <p:nvSpPr>
          <p:cNvPr id="21" name="anim-s17-original">
            <a:extLst>
              <a:ext uri="{FF2B5EF4-FFF2-40B4-BE49-F238E27FC236}">
                <a16:creationId xmlns:a16="http://schemas.microsoft.com/office/drawing/2014/main" id="{11DA7501-4913-40E0-BECF-4096F8CA6871}"/>
              </a:ext>
            </a:extLst>
          </p:cNvPr>
          <p:cNvSpPr>
            <a:spLocks noGrp="1"/>
          </p:cNvSpPr>
          <p:nvPr/>
        </p:nvSpPr>
        <p:spPr>
          <a:xfrm>
            <a:off x="781050" y="1809750"/>
            <a:ext cx="3143250" cy="1200150"/>
          </a:xfrm>
          <a:prstGeom prst="roundRect">
            <a:avLst>
              <a:gd name="adj" fmla="val 11111"/>
            </a:avLst>
          </a:prstGeom>
          <a:solidFill>
            <a:srgbClr val="EAF4FF"/>
          </a:solidFill>
          <a:ln w="19050">
            <a:solidFill>
              <a:srgbClr val="3978B7"/>
            </a:solidFill>
            <a:prstDash val="solid"/>
          </a:ln>
        </p:spPr>
        <p:txBody>
          <a:bodyPr/>
          <a:lstStyle/>
          <a:p>
            <a:endParaRPr lang="en-US"/>
          </a:p>
        </p:txBody>
      </p:sp>
      <p:sp>
        <p:nvSpPr>
          <p:cNvPr id="22" name="anim-s17-original-head">
            <a:extLst>
              <a:ext uri="{FF2B5EF4-FFF2-40B4-BE49-F238E27FC236}">
                <a16:creationId xmlns:a16="http://schemas.microsoft.com/office/drawing/2014/main" id="{99D50C76-6880-4228-8715-21FE481ADA75}"/>
              </a:ext>
            </a:extLst>
          </p:cNvPr>
          <p:cNvSpPr>
            <a:spLocks noGrp="1"/>
          </p:cNvSpPr>
          <p:nvPr/>
        </p:nvSpPr>
        <p:spPr>
          <a:xfrm>
            <a:off x="914400" y="1905000"/>
            <a:ext cx="2876550" cy="285750"/>
          </a:xfrm>
          <a:prstGeom prst="rect">
            <a:avLst/>
          </a:prstGeom>
          <a:noFill/>
          <a:ln w="0">
            <a:noFill/>
          </a:ln>
        </p:spPr>
        <p:txBody>
          <a:bodyPr anchor="ctr">
            <a:normAutofit fontScale="92500" lnSpcReduction="10000"/>
          </a:bodyPr>
          <a:lstStyle/>
          <a:p>
            <a:pPr algn="ctr">
              <a:defRPr sz="1500" b="1">
                <a:solidFill>
                  <a:srgbClr val="3978B7"/>
                </a:solidFill>
                <a:latin typeface="Calibri"/>
                <a:ea typeface="Calibri"/>
                <a:cs typeface="Calibri"/>
              </a:defRPr>
            </a:pPr>
            <a:r>
              <a:rPr sz="1500" b="1">
                <a:solidFill>
                  <a:srgbClr val="3978B7"/>
                </a:solidFill>
                <a:latin typeface="Calibri"/>
                <a:ea typeface="Calibri"/>
                <a:cs typeface="Calibri"/>
              </a:rPr>
              <a:t>ORIGINAL</a:t>
            </a:r>
          </a:p>
        </p:txBody>
      </p:sp>
      <p:sp>
        <p:nvSpPr>
          <p:cNvPr id="23" name="anim-s17-original-body">
            <a:extLst>
              <a:ext uri="{FF2B5EF4-FFF2-40B4-BE49-F238E27FC236}">
                <a16:creationId xmlns:a16="http://schemas.microsoft.com/office/drawing/2014/main" id="{A6154A10-7334-431C-8FF9-06D8912177F1}"/>
              </a:ext>
            </a:extLst>
          </p:cNvPr>
          <p:cNvSpPr>
            <a:spLocks noGrp="1"/>
          </p:cNvSpPr>
          <p:nvPr/>
        </p:nvSpPr>
        <p:spPr>
          <a:xfrm>
            <a:off x="914400" y="2219325"/>
            <a:ext cx="2876550" cy="723900"/>
          </a:xfrm>
          <a:prstGeom prst="rect">
            <a:avLst/>
          </a:prstGeom>
          <a:noFill/>
          <a:ln w="0">
            <a:noFill/>
          </a:ln>
        </p:spPr>
        <p:txBody>
          <a:bodyPr anchor="ctr">
            <a:normAutofit/>
          </a:bodyPr>
          <a:lstStyle/>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if (a &amp;&amp; b) return 1;</a:t>
            </a:r>
          </a:p>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else return 0;</a:t>
            </a:r>
          </a:p>
        </p:txBody>
      </p:sp>
      <p:sp>
        <p:nvSpPr>
          <p:cNvPr id="24" name="anim-s17-mutant">
            <a:extLst>
              <a:ext uri="{FF2B5EF4-FFF2-40B4-BE49-F238E27FC236}">
                <a16:creationId xmlns:a16="http://schemas.microsoft.com/office/drawing/2014/main" id="{32157245-5DA1-48E5-931C-ECD9BC39843D}"/>
              </a:ext>
            </a:extLst>
          </p:cNvPr>
          <p:cNvSpPr>
            <a:spLocks noGrp="1"/>
          </p:cNvSpPr>
          <p:nvPr/>
        </p:nvSpPr>
        <p:spPr>
          <a:xfrm>
            <a:off x="781050" y="3352800"/>
            <a:ext cx="3143250" cy="1200150"/>
          </a:xfrm>
          <a:prstGeom prst="roundRect">
            <a:avLst>
              <a:gd name="adj" fmla="val 11111"/>
            </a:avLst>
          </a:prstGeom>
          <a:solidFill>
            <a:srgbClr val="FFF8D7"/>
          </a:solidFill>
          <a:ln w="19050">
            <a:solidFill>
              <a:srgbClr val="F2A900"/>
            </a:solidFill>
            <a:prstDash val="solid"/>
          </a:ln>
        </p:spPr>
        <p:txBody>
          <a:bodyPr/>
          <a:lstStyle/>
          <a:p>
            <a:endParaRPr lang="en-US"/>
          </a:p>
        </p:txBody>
      </p:sp>
      <p:sp>
        <p:nvSpPr>
          <p:cNvPr id="25" name="anim-s17-mutant-head">
            <a:extLst>
              <a:ext uri="{FF2B5EF4-FFF2-40B4-BE49-F238E27FC236}">
                <a16:creationId xmlns:a16="http://schemas.microsoft.com/office/drawing/2014/main" id="{5EB6BB89-8958-43C3-A687-A39B4CADC372}"/>
              </a:ext>
            </a:extLst>
          </p:cNvPr>
          <p:cNvSpPr>
            <a:spLocks noGrp="1"/>
          </p:cNvSpPr>
          <p:nvPr/>
        </p:nvSpPr>
        <p:spPr>
          <a:xfrm>
            <a:off x="914400" y="3448050"/>
            <a:ext cx="2876550" cy="285750"/>
          </a:xfrm>
          <a:prstGeom prst="rect">
            <a:avLst/>
          </a:prstGeom>
          <a:noFill/>
          <a:ln w="0">
            <a:noFill/>
          </a:ln>
        </p:spPr>
        <p:txBody>
          <a:bodyPr anchor="ctr">
            <a:normAutofit fontScale="92500" lnSpcReduction="10000"/>
          </a:bodyPr>
          <a:lstStyle/>
          <a:p>
            <a:pPr algn="ctr">
              <a:defRPr sz="1500" b="1">
                <a:solidFill>
                  <a:srgbClr val="F2A900"/>
                </a:solidFill>
                <a:latin typeface="Calibri"/>
                <a:ea typeface="Calibri"/>
                <a:cs typeface="Calibri"/>
              </a:defRPr>
            </a:pPr>
            <a:r>
              <a:rPr sz="1500" b="1">
                <a:solidFill>
                  <a:srgbClr val="F2A900"/>
                </a:solidFill>
                <a:latin typeface="Calibri"/>
                <a:ea typeface="Calibri"/>
                <a:cs typeface="Calibri"/>
              </a:rPr>
              <a:t>MUTANT</a:t>
            </a:r>
          </a:p>
        </p:txBody>
      </p:sp>
      <p:sp>
        <p:nvSpPr>
          <p:cNvPr id="26" name="anim-s17-mutant-body">
            <a:extLst>
              <a:ext uri="{FF2B5EF4-FFF2-40B4-BE49-F238E27FC236}">
                <a16:creationId xmlns:a16="http://schemas.microsoft.com/office/drawing/2014/main" id="{B54908CD-61CE-4282-BC36-D96043038E21}"/>
              </a:ext>
            </a:extLst>
          </p:cNvPr>
          <p:cNvSpPr>
            <a:spLocks noGrp="1"/>
          </p:cNvSpPr>
          <p:nvPr/>
        </p:nvSpPr>
        <p:spPr>
          <a:xfrm>
            <a:off x="914400" y="3762375"/>
            <a:ext cx="2876550" cy="723900"/>
          </a:xfrm>
          <a:prstGeom prst="rect">
            <a:avLst/>
          </a:prstGeom>
          <a:noFill/>
          <a:ln w="0">
            <a:noFill/>
          </a:ln>
        </p:spPr>
        <p:txBody>
          <a:bodyPr anchor="ctr">
            <a:normAutofit/>
          </a:bodyPr>
          <a:lstStyle/>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if (a || b) return 1;</a:t>
            </a:r>
          </a:p>
          <a:p>
            <a:pPr algn="ctr">
              <a:defRPr sz="1275" b="0">
                <a:solidFill>
                  <a:srgbClr val="20364D"/>
                </a:solidFill>
                <a:latin typeface="Calibri"/>
                <a:ea typeface="Calibri"/>
                <a:cs typeface="Calibri"/>
              </a:defRPr>
            </a:pPr>
            <a:r>
              <a:rPr sz="1275" b="0">
                <a:solidFill>
                  <a:srgbClr val="20364D"/>
                </a:solidFill>
                <a:latin typeface="Calibri"/>
                <a:ea typeface="Calibri"/>
                <a:cs typeface="Calibri"/>
              </a:rPr>
              <a:t>else return 0;</a:t>
            </a:r>
          </a:p>
        </p:txBody>
      </p:sp>
      <p:sp>
        <p:nvSpPr>
          <p:cNvPr id="27" name="anim-s17-test">
            <a:extLst>
              <a:ext uri="{FF2B5EF4-FFF2-40B4-BE49-F238E27FC236}">
                <a16:creationId xmlns:a16="http://schemas.microsoft.com/office/drawing/2014/main" id="{FCC18736-730A-4127-BB41-D509B149A5FF}"/>
              </a:ext>
            </a:extLst>
          </p:cNvPr>
          <p:cNvSpPr>
            <a:spLocks noGrp="1"/>
          </p:cNvSpPr>
          <p:nvPr/>
        </p:nvSpPr>
        <p:spPr>
          <a:xfrm>
            <a:off x="4476750" y="1790700"/>
            <a:ext cx="6381750" cy="1009650"/>
          </a:xfrm>
          <a:prstGeom prst="roundRect">
            <a:avLst>
              <a:gd name="adj" fmla="val 13208"/>
            </a:avLst>
          </a:prstGeom>
          <a:solidFill>
            <a:srgbClr val="FFF8D7"/>
          </a:solidFill>
          <a:ln w="19050">
            <a:solidFill>
              <a:srgbClr val="F2A900"/>
            </a:solidFill>
            <a:prstDash val="solid"/>
          </a:ln>
        </p:spPr>
        <p:txBody>
          <a:bodyPr/>
          <a:lstStyle/>
          <a:p>
            <a:endParaRPr lang="en-US"/>
          </a:p>
        </p:txBody>
      </p:sp>
      <p:sp>
        <p:nvSpPr>
          <p:cNvPr id="28" name="anim-s17-test-head">
            <a:extLst>
              <a:ext uri="{FF2B5EF4-FFF2-40B4-BE49-F238E27FC236}">
                <a16:creationId xmlns:a16="http://schemas.microsoft.com/office/drawing/2014/main" id="{02F0CF3C-F6AE-4382-99FE-FDB83BBD9063}"/>
              </a:ext>
            </a:extLst>
          </p:cNvPr>
          <p:cNvSpPr>
            <a:spLocks noGrp="1"/>
          </p:cNvSpPr>
          <p:nvPr/>
        </p:nvSpPr>
        <p:spPr>
          <a:xfrm>
            <a:off x="4686300" y="1885950"/>
            <a:ext cx="5953125" cy="266700"/>
          </a:xfrm>
          <a:prstGeom prst="rect">
            <a:avLst/>
          </a:prstGeom>
          <a:noFill/>
          <a:ln w="0">
            <a:noFill/>
          </a:ln>
        </p:spPr>
        <p:txBody>
          <a:bodyPr anchor="ctr">
            <a:normAutofit fontScale="85185"/>
          </a:bodyPr>
          <a:lstStyle/>
          <a:p>
            <a:pPr algn="l">
              <a:defRPr sz="1350" b="1">
                <a:solidFill>
                  <a:srgbClr val="F2A900"/>
                </a:solidFill>
                <a:latin typeface="Calibri"/>
                <a:ea typeface="Calibri"/>
                <a:cs typeface="Calibri"/>
              </a:defRPr>
            </a:pPr>
            <a:r>
              <a:rPr sz="1350" b="1">
                <a:solidFill>
                  <a:srgbClr val="F2A900"/>
                </a:solidFill>
                <a:latin typeface="Calibri"/>
                <a:ea typeface="Calibri"/>
                <a:cs typeface="Calibri"/>
              </a:rPr>
              <a:t>ADD EITHER TEST</a:t>
            </a:r>
          </a:p>
        </p:txBody>
      </p:sp>
      <p:sp>
        <p:nvSpPr>
          <p:cNvPr id="29" name="anim-s17-test-body">
            <a:extLst>
              <a:ext uri="{FF2B5EF4-FFF2-40B4-BE49-F238E27FC236}">
                <a16:creationId xmlns:a16="http://schemas.microsoft.com/office/drawing/2014/main" id="{AA0CC422-510F-4E74-8D69-644EAD59C675}"/>
              </a:ext>
            </a:extLst>
          </p:cNvPr>
          <p:cNvSpPr>
            <a:spLocks noGrp="1"/>
          </p:cNvSpPr>
          <p:nvPr/>
        </p:nvSpPr>
        <p:spPr>
          <a:xfrm>
            <a:off x="4686300" y="2171700"/>
            <a:ext cx="5953125" cy="552450"/>
          </a:xfrm>
          <a:prstGeom prst="rect">
            <a:avLst/>
          </a:prstGeom>
          <a:noFill/>
          <a:ln w="0">
            <a:noFill/>
          </a:ln>
        </p:spPr>
        <p:txBody>
          <a:bodyPr anchor="ctr">
            <a:normAutofit fontScale="96032"/>
          </a:bodyPr>
          <a:lstStyle/>
          <a:p>
            <a:pPr algn="l">
              <a:defRPr sz="1575" b="1">
                <a:solidFill>
                  <a:srgbClr val="20364D"/>
                </a:solidFill>
                <a:latin typeface="Courier New"/>
                <a:ea typeface="Courier New"/>
                <a:cs typeface="Courier New"/>
              </a:defRPr>
            </a:pPr>
            <a:r>
              <a:rPr sz="1575" b="1" dirty="0">
                <a:solidFill>
                  <a:srgbClr val="20364D"/>
                </a:solidFill>
                <a:latin typeface="Courier New"/>
                <a:ea typeface="Courier New"/>
                <a:cs typeface="Courier New"/>
              </a:rPr>
              <a:t>assert f(false, true) == 0;</a:t>
            </a:r>
          </a:p>
          <a:p>
            <a:pPr algn="l">
              <a:defRPr sz="1575" b="1">
                <a:solidFill>
                  <a:srgbClr val="20364D"/>
                </a:solidFill>
                <a:latin typeface="Courier New"/>
                <a:ea typeface="Courier New"/>
                <a:cs typeface="Courier New"/>
              </a:defRPr>
            </a:pPr>
            <a:r>
              <a:rPr sz="1575" b="1" dirty="0">
                <a:solidFill>
                  <a:srgbClr val="20364D"/>
                </a:solidFill>
                <a:latin typeface="Courier New"/>
                <a:ea typeface="Courier New"/>
                <a:cs typeface="Courier New"/>
              </a:rPr>
              <a:t>assert f(true, false) == 0;</a:t>
            </a:r>
          </a:p>
        </p:txBody>
      </p:sp>
      <p:sp>
        <p:nvSpPr>
          <p:cNvPr id="30" name="anim-s17-table">
            <a:extLst>
              <a:ext uri="{FF2B5EF4-FFF2-40B4-BE49-F238E27FC236}">
                <a16:creationId xmlns:a16="http://schemas.microsoft.com/office/drawing/2014/main" id="{A81154EF-B38D-4B8D-BDF6-9EEE03BFF1A6}"/>
              </a:ext>
            </a:extLst>
          </p:cNvPr>
          <p:cNvSpPr>
            <a:spLocks noGrp="1"/>
          </p:cNvSpPr>
          <p:nvPr/>
        </p:nvSpPr>
        <p:spPr>
          <a:xfrm>
            <a:off x="4476750" y="3048000"/>
            <a:ext cx="6381750" cy="1428750"/>
          </a:xfrm>
          <a:prstGeom prst="roundRect">
            <a:avLst>
              <a:gd name="adj" fmla="val 6667"/>
            </a:avLst>
          </a:prstGeom>
          <a:solidFill>
            <a:srgbClr val="F3F6F8"/>
          </a:solidFill>
          <a:ln w="19050">
            <a:solidFill>
              <a:srgbClr val="20364D"/>
            </a:solidFill>
            <a:prstDash val="solid"/>
          </a:ln>
        </p:spPr>
        <p:txBody>
          <a:bodyPr/>
          <a:lstStyle/>
          <a:p>
            <a:endParaRPr lang="en-US"/>
          </a:p>
        </p:txBody>
      </p:sp>
      <p:sp>
        <p:nvSpPr>
          <p:cNvPr id="31" name="anim-s17-h1">
            <a:extLst>
              <a:ext uri="{FF2B5EF4-FFF2-40B4-BE49-F238E27FC236}">
                <a16:creationId xmlns:a16="http://schemas.microsoft.com/office/drawing/2014/main" id="{9DF2113C-4358-4145-951D-15C32A730038}"/>
              </a:ext>
            </a:extLst>
          </p:cNvPr>
          <p:cNvSpPr>
            <a:spLocks noGrp="1"/>
          </p:cNvSpPr>
          <p:nvPr/>
        </p:nvSpPr>
        <p:spPr>
          <a:xfrm>
            <a:off x="4619625" y="3143250"/>
            <a:ext cx="1809750" cy="285750"/>
          </a:xfrm>
          <a:prstGeom prst="rect">
            <a:avLst/>
          </a:prstGeom>
          <a:noFill/>
          <a:ln w="0">
            <a:noFill/>
          </a:ln>
        </p:spPr>
        <p:txBody>
          <a:bodyPr anchor="ctr">
            <a:normAutofit/>
          </a:bodyPr>
          <a:lstStyle/>
          <a:p>
            <a:pPr algn="ctr">
              <a:defRPr sz="1275" b="1">
                <a:solidFill>
                  <a:srgbClr val="5E6B77"/>
                </a:solidFill>
                <a:latin typeface="Calibri"/>
                <a:ea typeface="Calibri"/>
                <a:cs typeface="Calibri"/>
              </a:defRPr>
            </a:pPr>
            <a:r>
              <a:rPr sz="1275" b="1">
                <a:solidFill>
                  <a:srgbClr val="5E6B77"/>
                </a:solidFill>
                <a:latin typeface="Calibri"/>
                <a:ea typeface="Calibri"/>
                <a:cs typeface="Calibri"/>
              </a:rPr>
              <a:t>INPUT</a:t>
            </a:r>
          </a:p>
        </p:txBody>
      </p:sp>
      <p:sp>
        <p:nvSpPr>
          <p:cNvPr id="32" name="anim-s17-h2">
            <a:extLst>
              <a:ext uri="{FF2B5EF4-FFF2-40B4-BE49-F238E27FC236}">
                <a16:creationId xmlns:a16="http://schemas.microsoft.com/office/drawing/2014/main" id="{8B67D0BC-08C5-4DAE-9EE9-0488CFE4B0FF}"/>
              </a:ext>
            </a:extLst>
          </p:cNvPr>
          <p:cNvSpPr>
            <a:spLocks noGrp="1"/>
          </p:cNvSpPr>
          <p:nvPr/>
        </p:nvSpPr>
        <p:spPr>
          <a:xfrm>
            <a:off x="6572250" y="3143250"/>
            <a:ext cx="1714500" cy="285750"/>
          </a:xfrm>
          <a:prstGeom prst="rect">
            <a:avLst/>
          </a:prstGeom>
          <a:noFill/>
          <a:ln w="0">
            <a:noFill/>
          </a:ln>
        </p:spPr>
        <p:txBody>
          <a:bodyPr anchor="ctr">
            <a:normAutofit/>
          </a:bodyPr>
          <a:lstStyle/>
          <a:p>
            <a:pPr algn="ctr">
              <a:defRPr sz="1275" b="1">
                <a:solidFill>
                  <a:srgbClr val="3978B7"/>
                </a:solidFill>
                <a:latin typeface="Calibri"/>
                <a:ea typeface="Calibri"/>
                <a:cs typeface="Calibri"/>
              </a:defRPr>
            </a:pPr>
            <a:r>
              <a:rPr sz="1275" b="1">
                <a:solidFill>
                  <a:srgbClr val="3978B7"/>
                </a:solidFill>
                <a:latin typeface="Calibri"/>
                <a:ea typeface="Calibri"/>
                <a:cs typeface="Calibri"/>
              </a:rPr>
              <a:t>ORIGINAL</a:t>
            </a:r>
          </a:p>
        </p:txBody>
      </p:sp>
      <p:sp>
        <p:nvSpPr>
          <p:cNvPr id="33" name="anim-s17-h3">
            <a:extLst>
              <a:ext uri="{FF2B5EF4-FFF2-40B4-BE49-F238E27FC236}">
                <a16:creationId xmlns:a16="http://schemas.microsoft.com/office/drawing/2014/main" id="{BB615DE0-898D-4D6A-9D17-8915FE329EB7}"/>
              </a:ext>
            </a:extLst>
          </p:cNvPr>
          <p:cNvSpPr>
            <a:spLocks noGrp="1"/>
          </p:cNvSpPr>
          <p:nvPr/>
        </p:nvSpPr>
        <p:spPr>
          <a:xfrm>
            <a:off x="8477250" y="3143250"/>
            <a:ext cx="1714500" cy="285750"/>
          </a:xfrm>
          <a:prstGeom prst="rect">
            <a:avLst/>
          </a:prstGeom>
          <a:noFill/>
          <a:ln w="0">
            <a:noFill/>
          </a:ln>
        </p:spPr>
        <p:txBody>
          <a:bodyPr anchor="ctr">
            <a:normAutofit/>
          </a:bodyPr>
          <a:lstStyle/>
          <a:p>
            <a:pPr algn="ctr">
              <a:defRPr sz="1275" b="1">
                <a:solidFill>
                  <a:srgbClr val="F2A900"/>
                </a:solidFill>
                <a:latin typeface="Calibri"/>
                <a:ea typeface="Calibri"/>
                <a:cs typeface="Calibri"/>
              </a:defRPr>
            </a:pPr>
            <a:r>
              <a:rPr sz="1275" b="1">
                <a:solidFill>
                  <a:srgbClr val="F2A900"/>
                </a:solidFill>
                <a:latin typeface="Calibri"/>
                <a:ea typeface="Calibri"/>
                <a:cs typeface="Calibri"/>
              </a:rPr>
              <a:t>MUTANT</a:t>
            </a:r>
          </a:p>
        </p:txBody>
      </p:sp>
      <p:sp>
        <p:nvSpPr>
          <p:cNvPr id="34" name="anim-s17-r1">
            <a:extLst>
              <a:ext uri="{FF2B5EF4-FFF2-40B4-BE49-F238E27FC236}">
                <a16:creationId xmlns:a16="http://schemas.microsoft.com/office/drawing/2014/main" id="{7D9FEC04-A4F1-4936-9B82-0D22FB2B0005}"/>
              </a:ext>
            </a:extLst>
          </p:cNvPr>
          <p:cNvSpPr>
            <a:spLocks noGrp="1"/>
          </p:cNvSpPr>
          <p:nvPr/>
        </p:nvSpPr>
        <p:spPr>
          <a:xfrm>
            <a:off x="4619625" y="3524250"/>
            <a:ext cx="1809750" cy="723900"/>
          </a:xfrm>
          <a:prstGeom prst="rect">
            <a:avLst/>
          </a:prstGeom>
          <a:noFill/>
          <a:ln w="0">
            <a:noFill/>
          </a:ln>
        </p:spPr>
        <p:txBody>
          <a:bodyPr anchor="ctr">
            <a:normAutofit/>
          </a:bodyPr>
          <a:lstStyle/>
          <a:p>
            <a:pPr algn="ctr">
              <a:defRPr sz="1425" b="1">
                <a:solidFill>
                  <a:srgbClr val="20364D"/>
                </a:solidFill>
                <a:latin typeface="Courier New"/>
                <a:ea typeface="Courier New"/>
                <a:cs typeface="Courier New"/>
              </a:defRPr>
            </a:pPr>
            <a:r>
              <a:rPr sz="1425" b="1">
                <a:solidFill>
                  <a:srgbClr val="20364D"/>
                </a:solidFill>
                <a:latin typeface="Courier New"/>
                <a:ea typeface="Courier New"/>
                <a:cs typeface="Courier New"/>
              </a:rPr>
              <a:t>false, true</a:t>
            </a:r>
          </a:p>
          <a:p>
            <a:pPr algn="ctr">
              <a:defRPr sz="1425" b="1">
                <a:solidFill>
                  <a:srgbClr val="20364D"/>
                </a:solidFill>
                <a:latin typeface="Courier New"/>
                <a:ea typeface="Courier New"/>
                <a:cs typeface="Courier New"/>
              </a:defRPr>
            </a:pPr>
            <a:r>
              <a:rPr sz="1425" b="1">
                <a:solidFill>
                  <a:srgbClr val="20364D"/>
                </a:solidFill>
                <a:latin typeface="Courier New"/>
                <a:ea typeface="Courier New"/>
                <a:cs typeface="Courier New"/>
              </a:rPr>
              <a:t>true, false</a:t>
            </a:r>
          </a:p>
        </p:txBody>
      </p:sp>
      <p:sp>
        <p:nvSpPr>
          <p:cNvPr id="35" name="anim-s17-r2">
            <a:extLst>
              <a:ext uri="{FF2B5EF4-FFF2-40B4-BE49-F238E27FC236}">
                <a16:creationId xmlns:a16="http://schemas.microsoft.com/office/drawing/2014/main" id="{FDE412B6-73A0-4DFD-B3E2-27351E1C8662}"/>
              </a:ext>
            </a:extLst>
          </p:cNvPr>
          <p:cNvSpPr>
            <a:spLocks noGrp="1"/>
          </p:cNvSpPr>
          <p:nvPr/>
        </p:nvSpPr>
        <p:spPr>
          <a:xfrm>
            <a:off x="6572250" y="3524250"/>
            <a:ext cx="1714500" cy="723900"/>
          </a:xfrm>
          <a:prstGeom prst="rect">
            <a:avLst/>
          </a:prstGeom>
          <a:noFill/>
          <a:ln w="0">
            <a:noFill/>
          </a:ln>
        </p:spPr>
        <p:txBody>
          <a:bodyPr anchor="ctr">
            <a:normAutofit/>
          </a:bodyPr>
          <a:lstStyle/>
          <a:p>
            <a:pPr algn="ctr">
              <a:defRPr sz="1575" b="1">
                <a:solidFill>
                  <a:srgbClr val="3978B7"/>
                </a:solidFill>
                <a:latin typeface="Courier New"/>
                <a:ea typeface="Courier New"/>
                <a:cs typeface="Courier New"/>
              </a:defRPr>
            </a:pPr>
            <a:r>
              <a:rPr sz="1575" b="1" dirty="0">
                <a:solidFill>
                  <a:srgbClr val="009051"/>
                </a:solidFill>
                <a:latin typeface="Courier New"/>
                <a:ea typeface="Courier New"/>
                <a:cs typeface="Courier New"/>
              </a:rPr>
              <a:t>0</a:t>
            </a:r>
          </a:p>
          <a:p>
            <a:pPr algn="ctr">
              <a:defRPr sz="1575" b="1">
                <a:solidFill>
                  <a:srgbClr val="3978B7"/>
                </a:solidFill>
                <a:latin typeface="Courier New"/>
                <a:ea typeface="Courier New"/>
                <a:cs typeface="Courier New"/>
              </a:defRPr>
            </a:pPr>
            <a:r>
              <a:rPr sz="1575" b="1" dirty="0">
                <a:solidFill>
                  <a:srgbClr val="009051"/>
                </a:solidFill>
                <a:latin typeface="Courier New"/>
                <a:ea typeface="Courier New"/>
                <a:cs typeface="Courier New"/>
              </a:rPr>
              <a:t>0</a:t>
            </a:r>
          </a:p>
        </p:txBody>
      </p:sp>
      <p:sp>
        <p:nvSpPr>
          <p:cNvPr id="36" name="anim-s17-r3">
            <a:extLst>
              <a:ext uri="{FF2B5EF4-FFF2-40B4-BE49-F238E27FC236}">
                <a16:creationId xmlns:a16="http://schemas.microsoft.com/office/drawing/2014/main" id="{220422DB-95F3-4D78-95CD-C676BC8B7488}"/>
              </a:ext>
            </a:extLst>
          </p:cNvPr>
          <p:cNvSpPr>
            <a:spLocks noGrp="1"/>
          </p:cNvSpPr>
          <p:nvPr/>
        </p:nvSpPr>
        <p:spPr>
          <a:xfrm>
            <a:off x="8477250" y="3524250"/>
            <a:ext cx="1714500" cy="723900"/>
          </a:xfrm>
          <a:prstGeom prst="rect">
            <a:avLst/>
          </a:prstGeom>
          <a:noFill/>
          <a:ln w="0">
            <a:noFill/>
          </a:ln>
        </p:spPr>
        <p:txBody>
          <a:bodyPr anchor="ctr">
            <a:normAutofit/>
          </a:bodyPr>
          <a:lstStyle/>
          <a:p>
            <a:pPr algn="ctr">
              <a:defRPr sz="1575" b="1">
                <a:solidFill>
                  <a:srgbClr val="E10600"/>
                </a:solidFill>
                <a:latin typeface="Courier New"/>
                <a:ea typeface="Courier New"/>
                <a:cs typeface="Courier New"/>
              </a:defRPr>
            </a:pPr>
            <a:r>
              <a:rPr sz="1575" b="1">
                <a:solidFill>
                  <a:srgbClr val="E10600"/>
                </a:solidFill>
                <a:latin typeface="Courier New"/>
                <a:ea typeface="Courier New"/>
                <a:cs typeface="Courier New"/>
              </a:rPr>
              <a:t>1</a:t>
            </a:r>
          </a:p>
          <a:p>
            <a:pPr algn="ctr">
              <a:defRPr sz="1575" b="1">
                <a:solidFill>
                  <a:srgbClr val="E10600"/>
                </a:solidFill>
                <a:latin typeface="Courier New"/>
                <a:ea typeface="Courier New"/>
                <a:cs typeface="Courier New"/>
              </a:defRPr>
            </a:pPr>
            <a:r>
              <a:rPr sz="1575" b="1">
                <a:solidFill>
                  <a:srgbClr val="E10600"/>
                </a:solidFill>
                <a:latin typeface="Courier New"/>
                <a:ea typeface="Courier New"/>
                <a:cs typeface="Courier New"/>
              </a:rPr>
              <a:t>1</a:t>
            </a:r>
          </a:p>
        </p:txBody>
      </p:sp>
      <p:sp>
        <p:nvSpPr>
          <p:cNvPr id="37" name="anim-s17-result">
            <a:extLst>
              <a:ext uri="{FF2B5EF4-FFF2-40B4-BE49-F238E27FC236}">
                <a16:creationId xmlns:a16="http://schemas.microsoft.com/office/drawing/2014/main" id="{8166C2D1-C524-4E9A-BA3A-DADCC9F03DC1}"/>
              </a:ext>
            </a:extLst>
          </p:cNvPr>
          <p:cNvSpPr>
            <a:spLocks noGrp="1"/>
          </p:cNvSpPr>
          <p:nvPr/>
        </p:nvSpPr>
        <p:spPr>
          <a:xfrm>
            <a:off x="4476750" y="4810125"/>
            <a:ext cx="6381750" cy="1000125"/>
          </a:xfrm>
          <a:prstGeom prst="roundRect">
            <a:avLst>
              <a:gd name="adj" fmla="val 13333"/>
            </a:avLst>
          </a:prstGeom>
          <a:solidFill>
            <a:srgbClr val="EAF8EE"/>
          </a:solidFill>
          <a:ln w="19050">
            <a:solidFill>
              <a:srgbClr val="1F7A3D"/>
            </a:solidFill>
            <a:prstDash val="solid"/>
          </a:ln>
        </p:spPr>
        <p:txBody>
          <a:bodyPr/>
          <a:lstStyle/>
          <a:p>
            <a:endParaRPr lang="en-US"/>
          </a:p>
        </p:txBody>
      </p:sp>
      <p:pic>
        <p:nvPicPr>
          <p:cNvPr id="70" name="Picture 69"/>
          <p:cNvPicPr>
            <a:picLocks noChangeAspect="1"/>
          </p:cNvPicPr>
          <p:nvPr/>
        </p:nvPicPr>
        <p:blipFill>
          <a:blip r:embed="rId6"/>
          <a:stretch/>
        </p:blipFill>
        <p:spPr>
          <a:xfrm>
            <a:off x="4743450" y="4914900"/>
            <a:ext cx="495300" cy="723900"/>
          </a:xfrm>
          <a:prstGeom prst="rect">
            <a:avLst/>
          </a:prstGeom>
        </p:spPr>
      </p:pic>
      <p:sp>
        <p:nvSpPr>
          <p:cNvPr id="39" name="anim-s17-result-head">
            <a:extLst>
              <a:ext uri="{FF2B5EF4-FFF2-40B4-BE49-F238E27FC236}">
                <a16:creationId xmlns:a16="http://schemas.microsoft.com/office/drawing/2014/main" id="{1357F49E-DF52-4CB7-AF5F-BA028E4D6F63}"/>
              </a:ext>
            </a:extLst>
          </p:cNvPr>
          <p:cNvSpPr>
            <a:spLocks noGrp="1"/>
          </p:cNvSpPr>
          <p:nvPr/>
        </p:nvSpPr>
        <p:spPr>
          <a:xfrm>
            <a:off x="5476875" y="4895850"/>
            <a:ext cx="5095875" cy="361950"/>
          </a:xfrm>
          <a:prstGeom prst="rect">
            <a:avLst/>
          </a:prstGeom>
          <a:noFill/>
          <a:ln w="0">
            <a:noFill/>
          </a:ln>
        </p:spPr>
        <p:txBody>
          <a:bodyPr anchor="ctr">
            <a:normAutofit/>
          </a:bodyPr>
          <a:lstStyle/>
          <a:p>
            <a:pPr algn="l">
              <a:defRPr sz="1725" b="1">
                <a:solidFill>
                  <a:srgbClr val="1F7A3D"/>
                </a:solidFill>
                <a:latin typeface="Calibri"/>
                <a:ea typeface="Calibri"/>
                <a:cs typeface="Calibri"/>
              </a:defRPr>
            </a:pPr>
            <a:r>
              <a:rPr sz="1725" b="1">
                <a:solidFill>
                  <a:srgbClr val="1F7A3D"/>
                </a:solidFill>
                <a:latin typeface="Calibri"/>
                <a:ea typeface="Calibri"/>
                <a:cs typeface="Calibri"/>
              </a:rPr>
              <a:t>The new assertion fails on the mutant</a:t>
            </a:r>
          </a:p>
        </p:txBody>
      </p:sp>
      <p:sp>
        <p:nvSpPr>
          <p:cNvPr id="40" name="anim-s17-result-body">
            <a:extLst>
              <a:ext uri="{FF2B5EF4-FFF2-40B4-BE49-F238E27FC236}">
                <a16:creationId xmlns:a16="http://schemas.microsoft.com/office/drawing/2014/main" id="{576A3830-9C96-4CA4-B31C-7855E94B7429}"/>
              </a:ext>
            </a:extLst>
          </p:cNvPr>
          <p:cNvSpPr>
            <a:spLocks noGrp="1"/>
          </p:cNvSpPr>
          <p:nvPr/>
        </p:nvSpPr>
        <p:spPr>
          <a:xfrm>
            <a:off x="5476875" y="5276850"/>
            <a:ext cx="5095875" cy="304800"/>
          </a:xfrm>
          <a:prstGeom prst="rect">
            <a:avLst/>
          </a:prstGeom>
          <a:noFill/>
          <a:ln w="0">
            <a:noFill/>
          </a:ln>
        </p:spPr>
        <p:txBody>
          <a:bodyPr anchor="ctr">
            <a:normAutofit fontScale="96389" lnSpcReduction="10000"/>
          </a:bodyPr>
          <a:lstStyle/>
          <a:p>
            <a:pPr algn="l">
              <a:defRPr sz="1575" b="1">
                <a:solidFill>
                  <a:srgbClr val="20364D"/>
                </a:solidFill>
                <a:latin typeface="Calibri"/>
                <a:ea typeface="Calibri"/>
                <a:cs typeface="Calibri"/>
              </a:defRPr>
            </a:pPr>
            <a:r>
              <a:rPr sz="1575" b="1">
                <a:solidFill>
                  <a:srgbClr val="20364D"/>
                </a:solidFill>
                <a:latin typeface="Calibri"/>
                <a:ea typeface="Calibri"/>
                <a:cs typeface="Calibri"/>
              </a:rPr>
              <a:t>Result: the mutant is killed</a:t>
            </a:r>
          </a:p>
        </p:txBody>
      </p:sp>
    </p:spTree>
    <p:extLst>
      <p:ext uri="{BB962C8B-B14F-4D97-AF65-F5344CB8AC3E}">
        <p14:creationId xmlns:p14="http://schemas.microsoft.com/office/powerpoint/2010/main" val="2320408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fade">
                                      <p:cBhvr>
                                        <p:cTn id="18" dur="500"/>
                                        <p:tgtEl>
                                          <p:spTgt spid="45"/>
                                        </p:tgtEl>
                                      </p:cBhvr>
                                    </p:animEffect>
                                  </p:childTnLst>
                                </p:cTn>
                              </p:par>
                              <p:par>
                                <p:cTn id="19" presetID="10"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animEffect transition="in" filter="fade">
                                      <p:cBhvr>
                                        <p:cTn id="21" dur="500"/>
                                        <p:tgtEl>
                                          <p:spTgt spid="4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tgtEl>
                                          <p:spTgt spid="3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500"/>
                                        <p:tgtEl>
                                          <p:spTgt spid="3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fade">
                                      <p:cBhvr>
                                        <p:cTn id="39" dur="500"/>
                                        <p:tgtEl>
                                          <p:spTgt spid="3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fade">
                                      <p:cBhvr>
                                        <p:cTn id="45" dur="500"/>
                                        <p:tgtEl>
                                          <p:spTgt spid="3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fade">
                                      <p:cBhvr>
                                        <p:cTn id="48" dur="500"/>
                                        <p:tgtEl>
                                          <p:spTgt spid="37"/>
                                        </p:tgtEl>
                                      </p:cBhvr>
                                    </p:animEffect>
                                  </p:childTnLst>
                                </p:cTn>
                              </p:par>
                              <p:par>
                                <p:cTn id="49" presetID="10" presetClass="entr" presetSubtype="0" fill="hold" nodeType="withEffect">
                                  <p:stCondLst>
                                    <p:cond delay="0"/>
                                  </p:stCondLst>
                                  <p:childTnLst>
                                    <p:set>
                                      <p:cBhvr>
                                        <p:cTn id="50" dur="1" fill="hold">
                                          <p:stCondLst>
                                            <p:cond delay="0"/>
                                          </p:stCondLst>
                                        </p:cTn>
                                        <p:tgtEl>
                                          <p:spTgt spid="70"/>
                                        </p:tgtEl>
                                        <p:attrNameLst>
                                          <p:attrName>style.visibility</p:attrName>
                                        </p:attrNameLst>
                                      </p:cBhvr>
                                      <p:to>
                                        <p:strVal val="visible"/>
                                      </p:to>
                                    </p:set>
                                    <p:animEffect transition="in" filter="fade">
                                      <p:cBhvr>
                                        <p:cTn id="51" dur="500"/>
                                        <p:tgtEl>
                                          <p:spTgt spid="7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fade">
                                      <p:cBhvr>
                                        <p:cTn id="54" dur="500"/>
                                        <p:tgtEl>
                                          <p:spTgt spid="3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7" grpId="0" animBg="1"/>
      <p:bldP spid="28" grpId="0"/>
      <p:bldP spid="29" grpId="0"/>
      <p:bldP spid="30" grpId="0" animBg="1"/>
      <p:bldP spid="31" grpId="0"/>
      <p:bldP spid="32" grpId="0"/>
      <p:bldP spid="33" grpId="0"/>
      <p:bldP spid="34" grpId="0"/>
      <p:bldP spid="35" grpId="0"/>
      <p:bldP spid="36" grpId="0"/>
      <p:bldP spid="37" grpId="0" animBg="1"/>
      <p:bldP spid="39" grpId="0"/>
      <p:bldP spid="4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56637-524E-D998-F8C8-6F864997029C}"/>
              </a:ext>
            </a:extLst>
          </p:cNvPr>
          <p:cNvSpPr>
            <a:spLocks noGrp="1"/>
          </p:cNvSpPr>
          <p:nvPr>
            <p:ph type="title"/>
          </p:nvPr>
        </p:nvSpPr>
        <p:spPr/>
        <p:txBody>
          <a:bodyPr/>
          <a:lstStyle/>
          <a:p>
            <a:r>
              <a:t>Mutation Coverage</a:t>
            </a:r>
          </a:p>
        </p:txBody>
      </p:sp>
      <p:sp>
        <p:nvSpPr>
          <p:cNvPr id="3" name="Content Placeholder 2">
            <a:extLst>
              <a:ext uri="{FF2B5EF4-FFF2-40B4-BE49-F238E27FC236}">
                <a16:creationId xmlns:a16="http://schemas.microsoft.com/office/drawing/2014/main" id="{B18218A5-28C9-602D-B14A-2D0970CEE377}"/>
              </a:ext>
            </a:extLst>
          </p:cNvPr>
          <p:cNvSpPr>
            <a:spLocks noGrp="1"/>
          </p:cNvSpPr>
          <p:nvPr>
            <p:ph idx="1"/>
          </p:nvPr>
        </p:nvSpPr>
        <p:spPr/>
        <p:txBody>
          <a:bodyPr/>
          <a:lstStyle/>
          <a:p>
            <a:r>
              <a:t>Assess how good your test cases are at catching faults by introducing defects into the source code.</a:t>
            </a:r>
          </a:p>
          <a:p>
            <a:endParaRPr/>
          </a:p>
          <a:p>
            <a:r>
              <a:t>More reliable metric to validate test suite effectiveness. </a:t>
            </a:r>
          </a:p>
          <a:p>
            <a:endParaRPr/>
          </a:p>
          <a:p>
            <a:r>
              <a:t>In recent years, mutation testing has been more prominent in academia and less in industry.</a:t>
            </a:r>
          </a:p>
        </p:txBody>
      </p:sp>
      <p:sp>
        <p:nvSpPr>
          <p:cNvPr id="4" name="mt-background-cover">
            <a:extLst>
              <a:ext uri="{FF2B5EF4-FFF2-40B4-BE49-F238E27FC236}">
                <a16:creationId xmlns:a16="http://schemas.microsoft.com/office/drawing/2014/main" id="{957FB2F1-B00F-4F27-BE2A-C7973215EBB5}"/>
              </a:ext>
            </a:extLst>
          </p:cNvPr>
          <p:cNvSpPr>
            <a:spLocks noGrp="1"/>
          </p:cNvSpPr>
          <p:nvPr/>
        </p:nvSpPr>
        <p:spPr>
          <a:xfrm>
            <a:off x="0" y="0"/>
            <a:ext cx="12192000" cy="6858000"/>
          </a:xfrm>
          <a:prstGeom prst="rect">
            <a:avLst/>
          </a:prstGeom>
          <a:solidFill>
            <a:srgbClr val="FFFFFF"/>
          </a:solidFill>
          <a:ln w="0">
            <a:noFill/>
          </a:ln>
        </p:spPr>
        <p:txBody>
          <a:bodyPr/>
          <a:lstStyle/>
          <a:p>
            <a:endParaRPr lang="en-US"/>
          </a:p>
        </p:txBody>
      </p:sp>
      <p:sp>
        <p:nvSpPr>
          <p:cNvPr id="5" name="mt-title">
            <a:extLst>
              <a:ext uri="{FF2B5EF4-FFF2-40B4-BE49-F238E27FC236}">
                <a16:creationId xmlns:a16="http://schemas.microsoft.com/office/drawing/2014/main" id="{33C9534E-2126-4A88-9E63-80D7430EE93B}"/>
              </a:ext>
            </a:extLst>
          </p:cNvPr>
          <p:cNvSpPr>
            <a:spLocks noGrp="1"/>
          </p:cNvSpPr>
          <p:nvPr/>
        </p:nvSpPr>
        <p:spPr>
          <a:xfrm>
            <a:off x="781050" y="400050"/>
            <a:ext cx="10620375" cy="609600"/>
          </a:xfrm>
          <a:prstGeom prst="rect">
            <a:avLst/>
          </a:prstGeom>
          <a:noFill/>
          <a:ln w="0">
            <a:noFill/>
          </a:ln>
        </p:spPr>
        <p:txBody>
          <a:bodyPr anchor="ctr">
            <a:normAutofit/>
          </a:bodyPr>
          <a:lstStyle/>
          <a:p>
            <a:pPr algn="l">
              <a:defRPr sz="2850" b="0">
                <a:solidFill>
                  <a:srgbClr val="20364D"/>
                </a:solidFill>
                <a:latin typeface="Calibri"/>
                <a:ea typeface="Calibri"/>
                <a:cs typeface="Calibri"/>
              </a:defRPr>
            </a:pPr>
            <a:r>
              <a:rPr sz="2850" b="0">
                <a:solidFill>
                  <a:srgbClr val="20364D"/>
                </a:solidFill>
                <a:latin typeface="Calibri"/>
                <a:ea typeface="Calibri"/>
                <a:cs typeface="Calibri"/>
              </a:rPr>
              <a:t>Mutation Score</a:t>
            </a:r>
          </a:p>
        </p:txBody>
      </p:sp>
      <p:sp>
        <p:nvSpPr>
          <p:cNvPr id="6" name="mt-title-rule">
            <a:extLst>
              <a:ext uri="{FF2B5EF4-FFF2-40B4-BE49-F238E27FC236}">
                <a16:creationId xmlns:a16="http://schemas.microsoft.com/office/drawing/2014/main" id="{125143E0-B8DB-4A7B-AD94-28F080A68982}"/>
              </a:ext>
            </a:extLst>
          </p:cNvPr>
          <p:cNvSpPr>
            <a:spLocks noGrp="1"/>
          </p:cNvSpPr>
          <p:nvPr/>
        </p:nvSpPr>
        <p:spPr>
          <a:xfrm>
            <a:off x="800100" y="1104900"/>
            <a:ext cx="1571625" cy="0"/>
          </a:xfrm>
          <a:prstGeom prst="line">
            <a:avLst/>
          </a:prstGeom>
          <a:noFill/>
          <a:ln w="38100">
            <a:solidFill>
              <a:srgbClr val="20364D"/>
            </a:solidFill>
            <a:prstDash val="solid"/>
          </a:ln>
        </p:spPr>
        <p:txBody>
          <a:bodyPr/>
          <a:lstStyle/>
          <a:p>
            <a:endParaRPr lang="en-US"/>
          </a:p>
        </p:txBody>
      </p:sp>
      <p:sp>
        <p:nvSpPr>
          <p:cNvPr id="7" name="mt-subtitle">
            <a:extLst>
              <a:ext uri="{FF2B5EF4-FFF2-40B4-BE49-F238E27FC236}">
                <a16:creationId xmlns:a16="http://schemas.microsoft.com/office/drawing/2014/main" id="{B6ACAE11-0F55-46EB-ABFA-48862F82945F}"/>
              </a:ext>
            </a:extLst>
          </p:cNvPr>
          <p:cNvSpPr>
            <a:spLocks noGrp="1"/>
          </p:cNvSpPr>
          <p:nvPr/>
        </p:nvSpPr>
        <p:spPr>
          <a:xfrm>
            <a:off x="781050" y="1190625"/>
            <a:ext cx="10572750" cy="400050"/>
          </a:xfrm>
          <a:prstGeom prst="rect">
            <a:avLst/>
          </a:prstGeom>
          <a:noFill/>
          <a:ln w="0">
            <a:noFill/>
          </a:ln>
        </p:spPr>
        <p:txBody>
          <a:bodyPr anchor="ctr">
            <a:normAutofit/>
          </a:bodyPr>
          <a:lstStyle/>
          <a:p>
            <a:pPr algn="l">
              <a:defRPr sz="1500" b="0">
                <a:solidFill>
                  <a:srgbClr val="5E6B77"/>
                </a:solidFill>
                <a:latin typeface="Calibri"/>
                <a:ea typeface="Calibri"/>
                <a:cs typeface="Calibri"/>
              </a:defRPr>
            </a:pPr>
            <a:r>
              <a:rPr sz="1500" b="0">
                <a:solidFill>
                  <a:srgbClr val="5E6B77"/>
                </a:solidFill>
                <a:latin typeface="Calibri"/>
                <a:ea typeface="Calibri"/>
                <a:cs typeface="Calibri"/>
              </a:rPr>
              <a:t>Structural coverage and mutation testing answer different questions.</a:t>
            </a:r>
          </a:p>
        </p:txBody>
      </p:sp>
      <p:sp>
        <p:nvSpPr>
          <p:cNvPr id="8" name="anim-s18-struct">
            <a:extLst>
              <a:ext uri="{FF2B5EF4-FFF2-40B4-BE49-F238E27FC236}">
                <a16:creationId xmlns:a16="http://schemas.microsoft.com/office/drawing/2014/main" id="{928AD671-3190-4F97-B9F3-8642EE44018E}"/>
              </a:ext>
            </a:extLst>
          </p:cNvPr>
          <p:cNvSpPr>
            <a:spLocks noGrp="1"/>
          </p:cNvSpPr>
          <p:nvPr/>
        </p:nvSpPr>
        <p:spPr>
          <a:xfrm>
            <a:off x="781050" y="1809750"/>
            <a:ext cx="4667250" cy="1466850"/>
          </a:xfrm>
          <a:prstGeom prst="roundRect">
            <a:avLst>
              <a:gd name="adj" fmla="val 9091"/>
            </a:avLst>
          </a:prstGeom>
          <a:solidFill>
            <a:srgbClr val="EAF4FF"/>
          </a:solidFill>
          <a:ln w="19050">
            <a:solidFill>
              <a:srgbClr val="3978B7"/>
            </a:solidFill>
            <a:prstDash val="solid"/>
          </a:ln>
        </p:spPr>
        <p:txBody>
          <a:bodyPr/>
          <a:lstStyle/>
          <a:p>
            <a:endParaRPr lang="en-US"/>
          </a:p>
        </p:txBody>
      </p:sp>
      <p:sp>
        <p:nvSpPr>
          <p:cNvPr id="9" name="anim-s18-struct-head">
            <a:extLst>
              <a:ext uri="{FF2B5EF4-FFF2-40B4-BE49-F238E27FC236}">
                <a16:creationId xmlns:a16="http://schemas.microsoft.com/office/drawing/2014/main" id="{FEBD2A2C-7E84-495F-A592-40CE0E8A9349}"/>
              </a:ext>
            </a:extLst>
          </p:cNvPr>
          <p:cNvSpPr>
            <a:spLocks noGrp="1"/>
          </p:cNvSpPr>
          <p:nvPr/>
        </p:nvSpPr>
        <p:spPr>
          <a:xfrm>
            <a:off x="1000125" y="1943100"/>
            <a:ext cx="4238625" cy="323850"/>
          </a:xfrm>
          <a:prstGeom prst="rect">
            <a:avLst/>
          </a:prstGeom>
          <a:noFill/>
          <a:ln w="0">
            <a:noFill/>
          </a:ln>
        </p:spPr>
        <p:txBody>
          <a:bodyPr anchor="ctr">
            <a:normAutofit/>
          </a:bodyPr>
          <a:lstStyle/>
          <a:p>
            <a:pPr algn="ctr">
              <a:defRPr sz="1350" b="1">
                <a:solidFill>
                  <a:srgbClr val="3978B7"/>
                </a:solidFill>
                <a:latin typeface="Calibri"/>
                <a:ea typeface="Calibri"/>
                <a:cs typeface="Calibri"/>
              </a:defRPr>
            </a:pPr>
            <a:r>
              <a:rPr sz="1350" b="1">
                <a:solidFill>
                  <a:srgbClr val="3978B7"/>
                </a:solidFill>
                <a:latin typeface="Calibri"/>
                <a:ea typeface="Calibri"/>
                <a:cs typeface="Calibri"/>
              </a:rPr>
              <a:t>LINE, BRANCH, AND PATH COVERAGE</a:t>
            </a:r>
          </a:p>
        </p:txBody>
      </p:sp>
      <p:sp>
        <p:nvSpPr>
          <p:cNvPr id="10" name="anim-s18-struct-body">
            <a:extLst>
              <a:ext uri="{FF2B5EF4-FFF2-40B4-BE49-F238E27FC236}">
                <a16:creationId xmlns:a16="http://schemas.microsoft.com/office/drawing/2014/main" id="{2B9B849F-C00F-449E-BD55-41D9B8847FC4}"/>
              </a:ext>
            </a:extLst>
          </p:cNvPr>
          <p:cNvSpPr>
            <a:spLocks noGrp="1"/>
          </p:cNvSpPr>
          <p:nvPr/>
        </p:nvSpPr>
        <p:spPr>
          <a:xfrm>
            <a:off x="1143000" y="2400300"/>
            <a:ext cx="3952875" cy="571500"/>
          </a:xfrm>
          <a:prstGeom prst="rect">
            <a:avLst/>
          </a:prstGeom>
          <a:noFill/>
          <a:ln w="0">
            <a:noFill/>
          </a:ln>
        </p:spPr>
        <p:txBody>
          <a:bodyPr anchor="ctr">
            <a:normAutofit fontScale="87500" lnSpcReduction="10000"/>
          </a:bodyPr>
          <a:lstStyle/>
          <a:p>
            <a:pPr algn="ctr">
              <a:defRPr sz="1800" b="1">
                <a:solidFill>
                  <a:srgbClr val="20364D"/>
                </a:solidFill>
                <a:latin typeface="Calibri"/>
                <a:ea typeface="Calibri"/>
                <a:cs typeface="Calibri"/>
              </a:defRPr>
            </a:pPr>
            <a:r>
              <a:rPr sz="1800" b="1">
                <a:solidFill>
                  <a:srgbClr val="20364D"/>
                </a:solidFill>
                <a:latin typeface="Calibri"/>
                <a:ea typeface="Calibri"/>
                <a:cs typeface="Calibri"/>
              </a:rPr>
              <a:t>Which code and control-flow outcomes executed?</a:t>
            </a:r>
          </a:p>
        </p:txBody>
      </p:sp>
      <p:sp>
        <p:nvSpPr>
          <p:cNvPr id="11" name="anim-s18-mutation">
            <a:extLst>
              <a:ext uri="{FF2B5EF4-FFF2-40B4-BE49-F238E27FC236}">
                <a16:creationId xmlns:a16="http://schemas.microsoft.com/office/drawing/2014/main" id="{6294006E-5C62-43CB-B490-346F761BBA2C}"/>
              </a:ext>
            </a:extLst>
          </p:cNvPr>
          <p:cNvSpPr>
            <a:spLocks noGrp="1"/>
          </p:cNvSpPr>
          <p:nvPr/>
        </p:nvSpPr>
        <p:spPr>
          <a:xfrm>
            <a:off x="5962650" y="1809750"/>
            <a:ext cx="5391150" cy="1466850"/>
          </a:xfrm>
          <a:prstGeom prst="roundRect">
            <a:avLst>
              <a:gd name="adj" fmla="val 9091"/>
            </a:avLst>
          </a:prstGeom>
          <a:solidFill>
            <a:srgbClr val="FFF8D7"/>
          </a:solidFill>
          <a:ln w="19050">
            <a:solidFill>
              <a:srgbClr val="F2A900"/>
            </a:solidFill>
            <a:prstDash val="solid"/>
          </a:ln>
        </p:spPr>
        <p:txBody>
          <a:bodyPr/>
          <a:lstStyle/>
          <a:p>
            <a:endParaRPr lang="en-US"/>
          </a:p>
        </p:txBody>
      </p:sp>
      <p:sp>
        <p:nvSpPr>
          <p:cNvPr id="12" name="anim-s18-mutation-head">
            <a:extLst>
              <a:ext uri="{FF2B5EF4-FFF2-40B4-BE49-F238E27FC236}">
                <a16:creationId xmlns:a16="http://schemas.microsoft.com/office/drawing/2014/main" id="{2BCFC325-679C-45CF-AD72-E3729C836DDA}"/>
              </a:ext>
            </a:extLst>
          </p:cNvPr>
          <p:cNvSpPr>
            <a:spLocks noGrp="1"/>
          </p:cNvSpPr>
          <p:nvPr/>
        </p:nvSpPr>
        <p:spPr>
          <a:xfrm>
            <a:off x="6191250" y="1943100"/>
            <a:ext cx="4933950" cy="323850"/>
          </a:xfrm>
          <a:prstGeom prst="rect">
            <a:avLst/>
          </a:prstGeom>
          <a:noFill/>
          <a:ln w="0">
            <a:noFill/>
          </a:ln>
        </p:spPr>
        <p:txBody>
          <a:bodyPr anchor="ctr">
            <a:normAutofit/>
          </a:bodyPr>
          <a:lstStyle/>
          <a:p>
            <a:pPr algn="ctr">
              <a:defRPr sz="1350" b="1">
                <a:solidFill>
                  <a:srgbClr val="F2A900"/>
                </a:solidFill>
                <a:latin typeface="Calibri"/>
                <a:ea typeface="Calibri"/>
                <a:cs typeface="Calibri"/>
              </a:defRPr>
            </a:pPr>
            <a:r>
              <a:rPr sz="1350" b="1">
                <a:solidFill>
                  <a:srgbClr val="F2A900"/>
                </a:solidFill>
                <a:latin typeface="Calibri"/>
                <a:ea typeface="Calibri"/>
                <a:cs typeface="Calibri"/>
              </a:rPr>
              <a:t>MUTATION TESTING</a:t>
            </a:r>
          </a:p>
        </p:txBody>
      </p:sp>
      <p:sp>
        <p:nvSpPr>
          <p:cNvPr id="13" name="anim-s18-mutation-body">
            <a:extLst>
              <a:ext uri="{FF2B5EF4-FFF2-40B4-BE49-F238E27FC236}">
                <a16:creationId xmlns:a16="http://schemas.microsoft.com/office/drawing/2014/main" id="{093A1A69-7A7F-492D-B054-DF79FAC5C958}"/>
              </a:ext>
            </a:extLst>
          </p:cNvPr>
          <p:cNvSpPr>
            <a:spLocks noGrp="1"/>
          </p:cNvSpPr>
          <p:nvPr/>
        </p:nvSpPr>
        <p:spPr>
          <a:xfrm>
            <a:off x="6343650" y="2400300"/>
            <a:ext cx="4619625" cy="571500"/>
          </a:xfrm>
          <a:prstGeom prst="rect">
            <a:avLst/>
          </a:prstGeom>
          <a:noFill/>
          <a:ln w="0">
            <a:noFill/>
          </a:ln>
        </p:spPr>
        <p:txBody>
          <a:bodyPr anchor="ctr">
            <a:normAutofit fontScale="95000" lnSpcReduction="10000"/>
          </a:bodyPr>
          <a:lstStyle/>
          <a:p>
            <a:pPr algn="ctr">
              <a:defRPr sz="1800" b="1">
                <a:solidFill>
                  <a:srgbClr val="20364D"/>
                </a:solidFill>
                <a:latin typeface="Calibri"/>
                <a:ea typeface="Calibri"/>
                <a:cs typeface="Calibri"/>
              </a:defRPr>
            </a:pPr>
            <a:r>
              <a:rPr sz="1800" b="1">
                <a:solidFill>
                  <a:srgbClr val="20364D"/>
                </a:solidFill>
                <a:latin typeface="Calibri"/>
                <a:ea typeface="Calibri"/>
                <a:cs typeface="Calibri"/>
              </a:rPr>
              <a:t>Would the tests detect a small behavioral change?</a:t>
            </a:r>
          </a:p>
        </p:txBody>
      </p:sp>
      <p:sp>
        <p:nvSpPr>
          <p:cNvPr id="14" name="anim-s18-formula">
            <a:extLst>
              <a:ext uri="{FF2B5EF4-FFF2-40B4-BE49-F238E27FC236}">
                <a16:creationId xmlns:a16="http://schemas.microsoft.com/office/drawing/2014/main" id="{77D60A26-7F0E-487D-AC75-1592286B4CC9}"/>
              </a:ext>
            </a:extLst>
          </p:cNvPr>
          <p:cNvSpPr>
            <a:spLocks noGrp="1"/>
          </p:cNvSpPr>
          <p:nvPr/>
        </p:nvSpPr>
        <p:spPr>
          <a:xfrm>
            <a:off x="1857375" y="3667125"/>
            <a:ext cx="8429625" cy="1066800"/>
          </a:xfrm>
          <a:prstGeom prst="roundRect">
            <a:avLst>
              <a:gd name="adj" fmla="val 14286"/>
            </a:avLst>
          </a:prstGeom>
          <a:solidFill>
            <a:srgbClr val="E6FAFD"/>
          </a:solidFill>
          <a:ln w="19050">
            <a:solidFill>
              <a:srgbClr val="00B8D9"/>
            </a:solidFill>
            <a:prstDash val="solid"/>
          </a:ln>
        </p:spPr>
        <p:txBody>
          <a:bodyPr/>
          <a:lstStyle/>
          <a:p>
            <a:endParaRPr lang="en-US"/>
          </a:p>
        </p:txBody>
      </p:sp>
      <p:sp>
        <p:nvSpPr>
          <p:cNvPr id="15" name="anim-s18-formula-head">
            <a:extLst>
              <a:ext uri="{FF2B5EF4-FFF2-40B4-BE49-F238E27FC236}">
                <a16:creationId xmlns:a16="http://schemas.microsoft.com/office/drawing/2014/main" id="{7D868978-1301-4FDF-B512-ABC9E863E86C}"/>
              </a:ext>
            </a:extLst>
          </p:cNvPr>
          <p:cNvSpPr>
            <a:spLocks noGrp="1"/>
          </p:cNvSpPr>
          <p:nvPr/>
        </p:nvSpPr>
        <p:spPr>
          <a:xfrm>
            <a:off x="2143125" y="3781425"/>
            <a:ext cx="2190750" cy="323850"/>
          </a:xfrm>
          <a:prstGeom prst="rect">
            <a:avLst/>
          </a:prstGeom>
          <a:noFill/>
          <a:ln w="0">
            <a:noFill/>
          </a:ln>
        </p:spPr>
        <p:txBody>
          <a:bodyPr anchor="ctr">
            <a:normAutofit/>
          </a:bodyPr>
          <a:lstStyle/>
          <a:p>
            <a:pPr algn="l">
              <a:defRPr sz="1425" b="1">
                <a:solidFill>
                  <a:srgbClr val="00B8D9"/>
                </a:solidFill>
                <a:latin typeface="Calibri"/>
                <a:ea typeface="Calibri"/>
                <a:cs typeface="Calibri"/>
              </a:defRPr>
            </a:pPr>
            <a:r>
              <a:rPr sz="1425" b="1">
                <a:solidFill>
                  <a:srgbClr val="00B8D9"/>
                </a:solidFill>
                <a:latin typeface="Calibri"/>
                <a:ea typeface="Calibri"/>
                <a:cs typeface="Calibri"/>
              </a:rPr>
              <a:t>MUTATION SCORE</a:t>
            </a:r>
          </a:p>
        </p:txBody>
      </p:sp>
      <p:sp>
        <p:nvSpPr>
          <p:cNvPr id="16" name="anim-s18-formula-body">
            <a:extLst>
              <a:ext uri="{FF2B5EF4-FFF2-40B4-BE49-F238E27FC236}">
                <a16:creationId xmlns:a16="http://schemas.microsoft.com/office/drawing/2014/main" id="{661A6163-8D9E-4A16-BB04-35B3DCE6626C}"/>
              </a:ext>
            </a:extLst>
          </p:cNvPr>
          <p:cNvSpPr>
            <a:spLocks noGrp="1"/>
          </p:cNvSpPr>
          <p:nvPr/>
        </p:nvSpPr>
        <p:spPr>
          <a:xfrm>
            <a:off x="4381500" y="3790950"/>
            <a:ext cx="5619750" cy="609600"/>
          </a:xfrm>
          <a:prstGeom prst="rect">
            <a:avLst/>
          </a:prstGeom>
          <a:noFill/>
          <a:ln w="0">
            <a:noFill/>
          </a:ln>
        </p:spPr>
        <p:txBody>
          <a:bodyPr anchor="ctr">
            <a:normAutofit fontScale="99976"/>
          </a:bodyPr>
          <a:lstStyle/>
          <a:p>
            <a:pPr algn="ctr">
              <a:defRPr sz="2025" b="1">
                <a:solidFill>
                  <a:srgbClr val="20364D"/>
                </a:solidFill>
                <a:latin typeface="Calibri"/>
                <a:ea typeface="Calibri"/>
                <a:cs typeface="Calibri"/>
              </a:defRPr>
            </a:pPr>
            <a:r>
              <a:rPr sz="2025" b="1">
                <a:solidFill>
                  <a:srgbClr val="20364D"/>
                </a:solidFill>
                <a:latin typeface="Calibri"/>
                <a:ea typeface="Calibri"/>
                <a:cs typeface="Calibri"/>
              </a:rPr>
              <a:t>killed mutants ÷ non-equivalent mutants × 100%</a:t>
            </a:r>
          </a:p>
        </p:txBody>
      </p:sp>
    </p:spTree>
    <p:extLst>
      <p:ext uri="{BB962C8B-B14F-4D97-AF65-F5344CB8AC3E}">
        <p14:creationId xmlns:p14="http://schemas.microsoft.com/office/powerpoint/2010/main" val="1902714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9DFFC-8FA8-EE41-1911-729E07160D28}"/>
              </a:ext>
            </a:extLst>
          </p:cNvPr>
          <p:cNvSpPr>
            <a:spLocks noGrp="1"/>
          </p:cNvSpPr>
          <p:nvPr>
            <p:ph type="title"/>
          </p:nvPr>
        </p:nvSpPr>
        <p:spPr/>
        <p:txBody>
          <a:bodyPr/>
          <a:lstStyle/>
          <a:p>
            <a:r>
              <a:rPr lang="en-GB" dirty="0"/>
              <a:t>Testing Coverage for the Project</a:t>
            </a:r>
            <a:endParaRPr lang="en-BE" dirty="0"/>
          </a:p>
        </p:txBody>
      </p:sp>
      <p:sp>
        <p:nvSpPr>
          <p:cNvPr id="3" name="Content Placeholder 2">
            <a:extLst>
              <a:ext uri="{FF2B5EF4-FFF2-40B4-BE49-F238E27FC236}">
                <a16:creationId xmlns:a16="http://schemas.microsoft.com/office/drawing/2014/main" id="{4A0BD4AA-24AE-4EA8-AE76-56DB2E408BFF}"/>
              </a:ext>
            </a:extLst>
          </p:cNvPr>
          <p:cNvSpPr>
            <a:spLocks noGrp="1"/>
          </p:cNvSpPr>
          <p:nvPr>
            <p:ph idx="1"/>
          </p:nvPr>
        </p:nvSpPr>
        <p:spPr/>
        <p:txBody>
          <a:bodyPr>
            <a:normAutofit/>
          </a:bodyPr>
          <a:lstStyle/>
          <a:p>
            <a:r>
              <a:rPr lang="en-GB" dirty="0"/>
              <a:t>It is required to show coverage for your Project (in both the Intermediate and the Final Report)</a:t>
            </a:r>
          </a:p>
          <a:p>
            <a:pPr lvl="1"/>
            <a:r>
              <a:rPr lang="en-GB" dirty="0"/>
              <a:t>At least Branch Coverage is better.</a:t>
            </a:r>
          </a:p>
          <a:p>
            <a:pPr lvl="1"/>
            <a:r>
              <a:rPr lang="en-GB" dirty="0"/>
              <a:t>You should show the chosen coverage before the refactoring/change and after (where hopefully you also added new tests).</a:t>
            </a:r>
          </a:p>
          <a:p>
            <a:r>
              <a:rPr lang="en-GB" dirty="0"/>
              <a:t>Changes should not regress in the project.</a:t>
            </a:r>
          </a:p>
          <a:p>
            <a:r>
              <a:rPr lang="en-GB" dirty="0"/>
              <a:t>But if your project has very low coverage, you better have a good explanation for that.</a:t>
            </a:r>
          </a:p>
          <a:p>
            <a:r>
              <a:rPr lang="en-GB" dirty="0"/>
              <a:t>Focus on increasing the coverage for the system parts that will be affected by your refactoring/change.</a:t>
            </a:r>
            <a:endParaRPr lang="en-BE" dirty="0"/>
          </a:p>
        </p:txBody>
      </p:sp>
    </p:spTree>
    <p:extLst>
      <p:ext uri="{BB962C8B-B14F-4D97-AF65-F5344CB8AC3E}">
        <p14:creationId xmlns:p14="http://schemas.microsoft.com/office/powerpoint/2010/main" val="27436272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5413</TotalTime>
  <Words>3402</Words>
  <Application>Microsoft Macintosh PowerPoint</Application>
  <PresentationFormat>Widescreen</PresentationFormat>
  <Paragraphs>559</Paragraphs>
  <Slides>23</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Cambria Math</vt:lpstr>
      <vt:lpstr>Courier New</vt:lpstr>
      <vt:lpstr>Roboto</vt:lpstr>
      <vt:lpstr>Office Theme</vt:lpstr>
      <vt:lpstr>Dynamic Analysis: Testing</vt:lpstr>
      <vt:lpstr>Introduction</vt:lpstr>
      <vt:lpstr>Testing in the Book</vt:lpstr>
      <vt:lpstr>Unit Testing</vt:lpstr>
      <vt:lpstr>Quality of a Test Suite</vt:lpstr>
      <vt:lpstr>Test Coverage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Mutation Testing</vt:lpstr>
      <vt:lpstr>Mutation Testing: Small Example</vt:lpstr>
      <vt:lpstr>Mutation Testing: Small Example</vt:lpstr>
      <vt:lpstr>Mutation Coverage</vt:lpstr>
      <vt:lpstr>Testing Coverage for the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Analysis: Testing</dc:title>
  <dc:creator>John Businge</dc:creator>
  <cp:lastModifiedBy>John Businge</cp:lastModifiedBy>
  <cp:revision>25</cp:revision>
  <dcterms:created xsi:type="dcterms:W3CDTF">2022-09-24T23:45:38Z</dcterms:created>
  <dcterms:modified xsi:type="dcterms:W3CDTF">2026-09-17T13:43:15Z</dcterms:modified>
</cp:coreProperties>
</file>