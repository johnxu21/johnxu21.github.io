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318" r:id="rId3"/>
    <p:sldId id="319" r:id="rId4"/>
    <p:sldId id="279" r:id="rId5"/>
    <p:sldId id="307" r:id="rId6"/>
    <p:sldId id="308" r:id="rId7"/>
    <p:sldId id="312" r:id="rId8"/>
    <p:sldId id="264" r:id="rId9"/>
    <p:sldId id="314" r:id="rId10"/>
    <p:sldId id="315" r:id="rId11"/>
    <p:sldId id="280" r:id="rId12"/>
    <p:sldId id="282" r:id="rId13"/>
    <p:sldId id="281" r:id="rId14"/>
    <p:sldId id="316" r:id="rId15"/>
    <p:sldId id="309" r:id="rId16"/>
    <p:sldId id="259" r:id="rId17"/>
    <p:sldId id="310" r:id="rId18"/>
    <p:sldId id="317" r:id="rId19"/>
    <p:sldId id="274" r:id="rId20"/>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B41302-C778-BFBD-79BA-22CE27D7060B}" name="John Businge" initials="JB" userId="John Businge"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401FF"/>
    <a:srgbClr val="07F3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214"/>
    <p:restoredTop sz="68807"/>
  </p:normalViewPr>
  <p:slideViewPr>
    <p:cSldViewPr snapToGrid="0">
      <p:cViewPr varScale="1">
        <p:scale>
          <a:sx n="80" d="100"/>
          <a:sy n="80" d="100"/>
        </p:scale>
        <p:origin x="224"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A50129-FC67-4B32-B72B-70AB5D394994}" type="doc">
      <dgm:prSet loTypeId="urn:microsoft.com/office/officeart/2005/8/layout/hierarchy1" loCatId="hierarchy" qsTypeId="urn:microsoft.com/office/officeart/2005/8/quickstyle/simple1#1" qsCatId="simple" csTypeId="urn:microsoft.com/office/officeart/2005/8/colors/accent1_2#1" csCatId="accent1" phldr="1"/>
      <dgm:spPr/>
      <dgm:t>
        <a:bodyPr/>
        <a:lstStyle/>
        <a:p>
          <a:endParaRPr lang="en-US"/>
        </a:p>
      </dgm:t>
    </dgm:pt>
    <dgm:pt modelId="{68C90ACB-AF83-48F7-9BE9-ED4F9337C803}">
      <dgm:prSet custT="1"/>
      <dgm:spPr/>
      <dgm:t>
        <a:bodyPr/>
        <a:lstStyle/>
        <a:p>
          <a:r>
            <a:rPr lang="en-US" sz="2400" b="0" i="0" baseline="0" dirty="0">
              <a:latin typeface="Calibri Light" panose="020F0302020204030204" pitchFamily="34" charset="0"/>
              <a:cs typeface="Calibri Light" panose="020F0302020204030204" pitchFamily="34" charset="0"/>
            </a:rPr>
            <a:t>Apply a bug‑fix patch from a source variant to a target variant that has drifted</a:t>
          </a:r>
          <a:endParaRPr lang="en-US" sz="2400" b="0" i="0" dirty="0">
            <a:latin typeface="Calibri Light" panose="020F0302020204030204" pitchFamily="34" charset="0"/>
            <a:cs typeface="Calibri Light" panose="020F0302020204030204" pitchFamily="34" charset="0"/>
          </a:endParaRPr>
        </a:p>
      </dgm:t>
    </dgm:pt>
    <dgm:pt modelId="{BC03C010-D8BD-4D24-807F-F7CFF797824D}" type="parTrans" cxnId="{90F3BF12-5D95-4B80-BAF7-5F51CAF5A37F}">
      <dgm:prSet/>
      <dgm:spPr/>
      <dgm:t>
        <a:bodyPr/>
        <a:lstStyle/>
        <a:p>
          <a:endParaRPr lang="en-US" sz="2400" b="0" i="0">
            <a:latin typeface="Calibri Light" panose="020F0302020204030204" pitchFamily="34" charset="0"/>
            <a:cs typeface="Calibri Light" panose="020F0302020204030204" pitchFamily="34" charset="0"/>
          </a:endParaRPr>
        </a:p>
      </dgm:t>
    </dgm:pt>
    <dgm:pt modelId="{5AF69ECE-AD98-45F8-814F-37CCB0C09B7D}" type="sibTrans" cxnId="{90F3BF12-5D95-4B80-BAF7-5F51CAF5A37F}">
      <dgm:prSet/>
      <dgm:spPr/>
      <dgm:t>
        <a:bodyPr/>
        <a:lstStyle/>
        <a:p>
          <a:endParaRPr lang="en-US" sz="2400" b="0" i="0">
            <a:latin typeface="Calibri Light" panose="020F0302020204030204" pitchFamily="34" charset="0"/>
            <a:cs typeface="Calibri Light" panose="020F0302020204030204" pitchFamily="34" charset="0"/>
          </a:endParaRPr>
        </a:p>
      </dgm:t>
    </dgm:pt>
    <dgm:pt modelId="{4367CFF7-8DFE-4685-94E1-F1A60859C3F5}">
      <dgm:prSet custT="1"/>
      <dgm:spPr/>
      <dgm:t>
        <a:bodyPr/>
        <a:lstStyle/>
        <a:p>
          <a:r>
            <a:rPr lang="en-US" sz="2400" b="0" i="0" baseline="0" dirty="0">
              <a:latin typeface="Calibri Light" panose="020F0302020204030204" pitchFamily="34" charset="0"/>
              <a:cs typeface="Calibri Light" panose="020F0302020204030204" pitchFamily="34" charset="0"/>
            </a:rPr>
            <a:t>Structural drift breaks textual correspondence → patch integration may fail</a:t>
          </a:r>
          <a:endParaRPr lang="en-US" sz="2400" b="0" i="0" dirty="0">
            <a:latin typeface="Calibri Light" panose="020F0302020204030204" pitchFamily="34" charset="0"/>
            <a:cs typeface="Calibri Light" panose="020F0302020204030204" pitchFamily="34" charset="0"/>
          </a:endParaRPr>
        </a:p>
      </dgm:t>
    </dgm:pt>
    <dgm:pt modelId="{157BDF24-F2AA-4CEC-9546-3EAD97BF8964}" type="parTrans" cxnId="{1ECD3F6A-9351-4894-A58E-3CDC5D4E2308}">
      <dgm:prSet/>
      <dgm:spPr/>
      <dgm:t>
        <a:bodyPr/>
        <a:lstStyle/>
        <a:p>
          <a:endParaRPr lang="en-US" sz="2400" b="0" i="0">
            <a:latin typeface="Calibri Light" panose="020F0302020204030204" pitchFamily="34" charset="0"/>
            <a:cs typeface="Calibri Light" panose="020F0302020204030204" pitchFamily="34" charset="0"/>
          </a:endParaRPr>
        </a:p>
      </dgm:t>
    </dgm:pt>
    <dgm:pt modelId="{C0C5EB3D-7498-4753-B64B-F6CA3707A16C}" type="sibTrans" cxnId="{1ECD3F6A-9351-4894-A58E-3CDC5D4E2308}">
      <dgm:prSet/>
      <dgm:spPr/>
      <dgm:t>
        <a:bodyPr/>
        <a:lstStyle/>
        <a:p>
          <a:endParaRPr lang="en-US" sz="2400" b="0" i="0">
            <a:latin typeface="Calibri Light" panose="020F0302020204030204" pitchFamily="34" charset="0"/>
            <a:cs typeface="Calibri Light" panose="020F0302020204030204" pitchFamily="34" charset="0"/>
          </a:endParaRPr>
        </a:p>
      </dgm:t>
    </dgm:pt>
    <dgm:pt modelId="{EC131724-4CB9-4AF9-9D15-DA2CD4DC0C06}">
      <dgm:prSet custT="1"/>
      <dgm:spPr/>
      <dgm:t>
        <a:bodyPr/>
        <a:lstStyle/>
        <a:p>
          <a:r>
            <a:rPr lang="en-US" sz="2400" b="0" i="0" baseline="0" dirty="0">
              <a:latin typeface="Calibri Light" panose="020F0302020204030204" pitchFamily="34" charset="0"/>
              <a:cs typeface="Calibri Light" panose="020F0302020204030204" pitchFamily="34" charset="0"/>
            </a:rPr>
            <a:t>Typical sources of drift:</a:t>
          </a:r>
          <a:endParaRPr lang="en-US" sz="2400" b="0" i="0" dirty="0">
            <a:latin typeface="Calibri Light" panose="020F0302020204030204" pitchFamily="34" charset="0"/>
            <a:cs typeface="Calibri Light" panose="020F0302020204030204" pitchFamily="34" charset="0"/>
          </a:endParaRPr>
        </a:p>
      </dgm:t>
    </dgm:pt>
    <dgm:pt modelId="{DD762336-E598-405E-8E8A-C392B14AAC40}" type="parTrans" cxnId="{3BAA501C-05C9-4AC8-9CC1-28DD1112A7BB}">
      <dgm:prSet/>
      <dgm:spPr/>
      <dgm:t>
        <a:bodyPr/>
        <a:lstStyle/>
        <a:p>
          <a:endParaRPr lang="en-US" sz="2400" b="0" i="0">
            <a:latin typeface="Calibri Light" panose="020F0302020204030204" pitchFamily="34" charset="0"/>
            <a:cs typeface="Calibri Light" panose="020F0302020204030204" pitchFamily="34" charset="0"/>
          </a:endParaRPr>
        </a:p>
      </dgm:t>
    </dgm:pt>
    <dgm:pt modelId="{68C0DEE7-EDB0-4980-AEAE-6C6BB1D6E7FC}" type="sibTrans" cxnId="{3BAA501C-05C9-4AC8-9CC1-28DD1112A7BB}">
      <dgm:prSet/>
      <dgm:spPr/>
      <dgm:t>
        <a:bodyPr/>
        <a:lstStyle/>
        <a:p>
          <a:endParaRPr lang="en-US" sz="2400" b="0" i="0">
            <a:latin typeface="Calibri Light" panose="020F0302020204030204" pitchFamily="34" charset="0"/>
            <a:cs typeface="Calibri Light" panose="020F0302020204030204" pitchFamily="34" charset="0"/>
          </a:endParaRPr>
        </a:p>
      </dgm:t>
    </dgm:pt>
    <dgm:pt modelId="{0F31CBDB-58A6-4CEA-BBC1-47BF8AE74475}">
      <dgm:prSet custT="1"/>
      <dgm:spPr/>
      <dgm:t>
        <a:bodyPr/>
        <a:lstStyle/>
        <a:p>
          <a:r>
            <a:rPr lang="en-US" sz="2400" b="0" i="0" baseline="0" dirty="0">
              <a:latin typeface="Calibri Light" panose="020F0302020204030204" pitchFamily="34" charset="0"/>
              <a:cs typeface="Calibri Light" panose="020F0302020204030204" pitchFamily="34" charset="0"/>
            </a:rPr>
            <a:t>Rename/Move/Inline/Extract</a:t>
          </a:r>
          <a:endParaRPr lang="en-US" sz="2400" b="0" i="0" dirty="0">
            <a:latin typeface="Calibri Light" panose="020F0302020204030204" pitchFamily="34" charset="0"/>
            <a:cs typeface="Calibri Light" panose="020F0302020204030204" pitchFamily="34" charset="0"/>
          </a:endParaRPr>
        </a:p>
      </dgm:t>
    </dgm:pt>
    <dgm:pt modelId="{A53EC4A2-7A99-4AD0-BB2F-792F465DBFF6}" type="parTrans" cxnId="{DD131785-391E-4E22-A0A1-FB968FB8B03D}">
      <dgm:prSet/>
      <dgm:spPr/>
      <dgm:t>
        <a:bodyPr/>
        <a:lstStyle/>
        <a:p>
          <a:endParaRPr lang="en-US" sz="2400" b="0" i="0">
            <a:latin typeface="Calibri Light" panose="020F0302020204030204" pitchFamily="34" charset="0"/>
            <a:cs typeface="Calibri Light" panose="020F0302020204030204" pitchFamily="34" charset="0"/>
          </a:endParaRPr>
        </a:p>
      </dgm:t>
    </dgm:pt>
    <dgm:pt modelId="{60F8D79F-838E-4D3B-A528-5F8544043A10}" type="sibTrans" cxnId="{DD131785-391E-4E22-A0A1-FB968FB8B03D}">
      <dgm:prSet/>
      <dgm:spPr/>
      <dgm:t>
        <a:bodyPr/>
        <a:lstStyle/>
        <a:p>
          <a:endParaRPr lang="en-US" sz="2400" b="0" i="0">
            <a:latin typeface="Calibri Light" panose="020F0302020204030204" pitchFamily="34" charset="0"/>
            <a:cs typeface="Calibri Light" panose="020F0302020204030204" pitchFamily="34" charset="0"/>
          </a:endParaRPr>
        </a:p>
      </dgm:t>
    </dgm:pt>
    <dgm:pt modelId="{07FBD6DC-4AC0-4607-A507-B36D0CEC5F0F}">
      <dgm:prSet custT="1"/>
      <dgm:spPr/>
      <dgm:t>
        <a:bodyPr/>
        <a:lstStyle/>
        <a:p>
          <a:r>
            <a:rPr lang="en-US" sz="2400" b="0" i="0" baseline="0" dirty="0">
              <a:latin typeface="Calibri Light" panose="020F0302020204030204" pitchFamily="34" charset="0"/>
              <a:cs typeface="Calibri Light" panose="020F0302020204030204" pitchFamily="34" charset="0"/>
            </a:rPr>
            <a:t>Parameter renames or reordering</a:t>
          </a:r>
          <a:endParaRPr lang="en-US" sz="2400" b="0" i="0" dirty="0">
            <a:latin typeface="Calibri Light" panose="020F0302020204030204" pitchFamily="34" charset="0"/>
            <a:cs typeface="Calibri Light" panose="020F0302020204030204" pitchFamily="34" charset="0"/>
          </a:endParaRPr>
        </a:p>
      </dgm:t>
    </dgm:pt>
    <dgm:pt modelId="{E1FC314D-2005-4550-9EB4-29D917D6A3A7}" type="parTrans" cxnId="{596C3EB0-F381-401B-88C0-EA64BDBD4374}">
      <dgm:prSet/>
      <dgm:spPr/>
      <dgm:t>
        <a:bodyPr/>
        <a:lstStyle/>
        <a:p>
          <a:endParaRPr lang="en-US" sz="2400" b="0" i="0">
            <a:latin typeface="Calibri Light" panose="020F0302020204030204" pitchFamily="34" charset="0"/>
            <a:cs typeface="Calibri Light" panose="020F0302020204030204" pitchFamily="34" charset="0"/>
          </a:endParaRPr>
        </a:p>
      </dgm:t>
    </dgm:pt>
    <dgm:pt modelId="{F4FA36D2-E8A7-4A69-8017-103DEAC4A901}" type="sibTrans" cxnId="{596C3EB0-F381-401B-88C0-EA64BDBD4374}">
      <dgm:prSet/>
      <dgm:spPr/>
      <dgm:t>
        <a:bodyPr/>
        <a:lstStyle/>
        <a:p>
          <a:endParaRPr lang="en-US" sz="2400" b="0" i="0">
            <a:latin typeface="Calibri Light" panose="020F0302020204030204" pitchFamily="34" charset="0"/>
            <a:cs typeface="Calibri Light" panose="020F0302020204030204" pitchFamily="34" charset="0"/>
          </a:endParaRPr>
        </a:p>
      </dgm:t>
    </dgm:pt>
    <dgm:pt modelId="{68E33B74-FA55-40F8-8D59-A2E5C861AE81}">
      <dgm:prSet custT="1"/>
      <dgm:spPr/>
      <dgm:t>
        <a:bodyPr/>
        <a:lstStyle/>
        <a:p>
          <a:r>
            <a:rPr lang="en-US" sz="2400" b="0" i="0" baseline="0" dirty="0">
              <a:latin typeface="Calibri Light" panose="020F0302020204030204" pitchFamily="34" charset="0"/>
              <a:cs typeface="Calibri Light" panose="020F0302020204030204" pitchFamily="34" charset="0"/>
            </a:rPr>
            <a:t>Package/class reshuffling</a:t>
          </a:r>
          <a:endParaRPr lang="en-US" sz="2400" b="0" i="0" dirty="0">
            <a:latin typeface="Calibri Light" panose="020F0302020204030204" pitchFamily="34" charset="0"/>
            <a:cs typeface="Calibri Light" panose="020F0302020204030204" pitchFamily="34" charset="0"/>
          </a:endParaRPr>
        </a:p>
      </dgm:t>
    </dgm:pt>
    <dgm:pt modelId="{2DE2028A-C2DE-4C7E-860E-69BF0AC38E8F}" type="parTrans" cxnId="{47D79C0B-AFB1-492F-ABD1-38DBB8C4392D}">
      <dgm:prSet/>
      <dgm:spPr/>
      <dgm:t>
        <a:bodyPr/>
        <a:lstStyle/>
        <a:p>
          <a:endParaRPr lang="en-US" sz="2400" b="0" i="0">
            <a:latin typeface="Calibri Light" panose="020F0302020204030204" pitchFamily="34" charset="0"/>
            <a:cs typeface="Calibri Light" panose="020F0302020204030204" pitchFamily="34" charset="0"/>
          </a:endParaRPr>
        </a:p>
      </dgm:t>
    </dgm:pt>
    <dgm:pt modelId="{15EF36C0-ADC5-456E-8A5E-3476A5D8DC83}" type="sibTrans" cxnId="{47D79C0B-AFB1-492F-ABD1-38DBB8C4392D}">
      <dgm:prSet/>
      <dgm:spPr/>
      <dgm:t>
        <a:bodyPr/>
        <a:lstStyle/>
        <a:p>
          <a:endParaRPr lang="en-US" sz="2400" b="0" i="0">
            <a:latin typeface="Calibri Light" panose="020F0302020204030204" pitchFamily="34" charset="0"/>
            <a:cs typeface="Calibri Light" panose="020F0302020204030204" pitchFamily="34" charset="0"/>
          </a:endParaRPr>
        </a:p>
      </dgm:t>
    </dgm:pt>
    <dgm:pt modelId="{898B96A1-0E93-ED4A-AAEB-8AC4C4FFCE28}" type="pres">
      <dgm:prSet presAssocID="{CAA50129-FC67-4B32-B72B-70AB5D394994}" presName="hierChild1" presStyleCnt="0">
        <dgm:presLayoutVars>
          <dgm:chPref val="1"/>
          <dgm:dir/>
          <dgm:animOne val="branch"/>
          <dgm:animLvl val="lvl"/>
          <dgm:resizeHandles/>
        </dgm:presLayoutVars>
      </dgm:prSet>
      <dgm:spPr/>
    </dgm:pt>
    <dgm:pt modelId="{C0B70E66-F2EA-464C-A581-638B6D2059DD}" type="pres">
      <dgm:prSet presAssocID="{68C90ACB-AF83-48F7-9BE9-ED4F9337C803}" presName="hierRoot1" presStyleCnt="0"/>
      <dgm:spPr/>
    </dgm:pt>
    <dgm:pt modelId="{6AE86FA4-2895-EA45-A462-43F6531E08E6}" type="pres">
      <dgm:prSet presAssocID="{68C90ACB-AF83-48F7-9BE9-ED4F9337C803}" presName="composite" presStyleCnt="0"/>
      <dgm:spPr/>
    </dgm:pt>
    <dgm:pt modelId="{F50F15C0-F5DE-C740-924D-566BE110E0E1}" type="pres">
      <dgm:prSet presAssocID="{68C90ACB-AF83-48F7-9BE9-ED4F9337C803}" presName="background" presStyleLbl="node0" presStyleIdx="0" presStyleCnt="3"/>
      <dgm:spPr/>
    </dgm:pt>
    <dgm:pt modelId="{5E6055BA-981C-3A42-A816-229B5FDB92C8}" type="pres">
      <dgm:prSet presAssocID="{68C90ACB-AF83-48F7-9BE9-ED4F9337C803}" presName="text" presStyleLbl="fgAcc0" presStyleIdx="0" presStyleCnt="3" custScaleX="251179" custScaleY="238739" custLinFactNeighborX="-5937" custLinFactNeighborY="-88880">
        <dgm:presLayoutVars>
          <dgm:chPref val="3"/>
        </dgm:presLayoutVars>
      </dgm:prSet>
      <dgm:spPr/>
    </dgm:pt>
    <dgm:pt modelId="{D62435A1-3BF0-A34D-9CBE-B546A016BFD5}" type="pres">
      <dgm:prSet presAssocID="{68C90ACB-AF83-48F7-9BE9-ED4F9337C803}" presName="hierChild2" presStyleCnt="0"/>
      <dgm:spPr/>
    </dgm:pt>
    <dgm:pt modelId="{3A1B4376-9FCE-D94B-B361-45FA9B98364C}" type="pres">
      <dgm:prSet presAssocID="{4367CFF7-8DFE-4685-94E1-F1A60859C3F5}" presName="hierRoot1" presStyleCnt="0"/>
      <dgm:spPr/>
    </dgm:pt>
    <dgm:pt modelId="{38446046-1A1A-FF44-B7D8-84C1D630CAEC}" type="pres">
      <dgm:prSet presAssocID="{4367CFF7-8DFE-4685-94E1-F1A60859C3F5}" presName="composite" presStyleCnt="0"/>
      <dgm:spPr/>
    </dgm:pt>
    <dgm:pt modelId="{6D377462-BE73-044C-A387-EDBF085EB9B0}" type="pres">
      <dgm:prSet presAssocID="{4367CFF7-8DFE-4685-94E1-F1A60859C3F5}" presName="background" presStyleLbl="node0" presStyleIdx="1" presStyleCnt="3"/>
      <dgm:spPr/>
    </dgm:pt>
    <dgm:pt modelId="{2E7213F2-55F8-B842-8361-88D789533774}" type="pres">
      <dgm:prSet presAssocID="{4367CFF7-8DFE-4685-94E1-F1A60859C3F5}" presName="text" presStyleLbl="fgAcc0" presStyleIdx="1" presStyleCnt="3" custScaleX="248997" custScaleY="243690" custLinFactNeighborX="11822" custLinFactNeighborY="-88042">
        <dgm:presLayoutVars>
          <dgm:chPref val="3"/>
        </dgm:presLayoutVars>
      </dgm:prSet>
      <dgm:spPr/>
    </dgm:pt>
    <dgm:pt modelId="{0B29D5F5-2FDC-1A48-9DAD-53D196314AD4}" type="pres">
      <dgm:prSet presAssocID="{4367CFF7-8DFE-4685-94E1-F1A60859C3F5}" presName="hierChild2" presStyleCnt="0"/>
      <dgm:spPr/>
    </dgm:pt>
    <dgm:pt modelId="{372E1A55-8394-5F41-A563-ED6B5F7BF1C0}" type="pres">
      <dgm:prSet presAssocID="{EC131724-4CB9-4AF9-9D15-DA2CD4DC0C06}" presName="hierRoot1" presStyleCnt="0"/>
      <dgm:spPr/>
    </dgm:pt>
    <dgm:pt modelId="{5757C9FC-04AB-E74A-9C23-179E8C1A6C1E}" type="pres">
      <dgm:prSet presAssocID="{EC131724-4CB9-4AF9-9D15-DA2CD4DC0C06}" presName="composite" presStyleCnt="0"/>
      <dgm:spPr/>
    </dgm:pt>
    <dgm:pt modelId="{839B87F8-C36B-9E4A-A425-A3C795BAB06E}" type="pres">
      <dgm:prSet presAssocID="{EC131724-4CB9-4AF9-9D15-DA2CD4DC0C06}" presName="background" presStyleLbl="node0" presStyleIdx="2" presStyleCnt="3"/>
      <dgm:spPr/>
    </dgm:pt>
    <dgm:pt modelId="{FA998EF7-FFF4-7D4C-9905-3FDDF6E333BD}" type="pres">
      <dgm:prSet presAssocID="{EC131724-4CB9-4AF9-9D15-DA2CD4DC0C06}" presName="text" presStyleLbl="fgAcc0" presStyleIdx="2" presStyleCnt="3" custScaleX="224566" custScaleY="226627" custLinFactNeighborX="59239" custLinFactNeighborY="-95365">
        <dgm:presLayoutVars>
          <dgm:chPref val="3"/>
        </dgm:presLayoutVars>
      </dgm:prSet>
      <dgm:spPr/>
    </dgm:pt>
    <dgm:pt modelId="{3C32176C-2601-AB46-B7C9-57C41A6087A7}" type="pres">
      <dgm:prSet presAssocID="{EC131724-4CB9-4AF9-9D15-DA2CD4DC0C06}" presName="hierChild2" presStyleCnt="0"/>
      <dgm:spPr/>
    </dgm:pt>
    <dgm:pt modelId="{3A1D1B81-25E9-6F43-97F4-E52181B1ED82}" type="pres">
      <dgm:prSet presAssocID="{A53EC4A2-7A99-4AD0-BB2F-792F465DBFF6}" presName="Name10" presStyleLbl="parChTrans1D2" presStyleIdx="0" presStyleCnt="3"/>
      <dgm:spPr/>
    </dgm:pt>
    <dgm:pt modelId="{BCE20F4B-749B-554C-A6F1-056411984C26}" type="pres">
      <dgm:prSet presAssocID="{0F31CBDB-58A6-4CEA-BBC1-47BF8AE74475}" presName="hierRoot2" presStyleCnt="0"/>
      <dgm:spPr/>
    </dgm:pt>
    <dgm:pt modelId="{1F8CE61B-F733-9543-AEA3-1F300D5EEB3E}" type="pres">
      <dgm:prSet presAssocID="{0F31CBDB-58A6-4CEA-BBC1-47BF8AE74475}" presName="composite2" presStyleCnt="0"/>
      <dgm:spPr/>
    </dgm:pt>
    <dgm:pt modelId="{807F22B5-2476-A144-83CF-A47991129C1A}" type="pres">
      <dgm:prSet presAssocID="{0F31CBDB-58A6-4CEA-BBC1-47BF8AE74475}" presName="background2" presStyleLbl="node2" presStyleIdx="0" presStyleCnt="3"/>
      <dgm:spPr/>
    </dgm:pt>
    <dgm:pt modelId="{AED84A6A-10C3-D649-BB17-EAAA782F671E}" type="pres">
      <dgm:prSet presAssocID="{0F31CBDB-58A6-4CEA-BBC1-47BF8AE74475}" presName="text2" presStyleLbl="fgAcc2" presStyleIdx="0" presStyleCnt="3" custScaleX="276167" custScaleY="147334" custLinFactNeighborX="-1682" custLinFactNeighborY="8767">
        <dgm:presLayoutVars>
          <dgm:chPref val="3"/>
        </dgm:presLayoutVars>
      </dgm:prSet>
      <dgm:spPr/>
    </dgm:pt>
    <dgm:pt modelId="{ECF81CF9-64E6-274B-AE90-55D11FDE8395}" type="pres">
      <dgm:prSet presAssocID="{0F31CBDB-58A6-4CEA-BBC1-47BF8AE74475}" presName="hierChild3" presStyleCnt="0"/>
      <dgm:spPr/>
    </dgm:pt>
    <dgm:pt modelId="{56C7A14E-4AD6-754F-8115-576ECB94C8A2}" type="pres">
      <dgm:prSet presAssocID="{E1FC314D-2005-4550-9EB4-29D917D6A3A7}" presName="Name10" presStyleLbl="parChTrans1D2" presStyleIdx="1" presStyleCnt="3"/>
      <dgm:spPr/>
    </dgm:pt>
    <dgm:pt modelId="{BDF2E2D2-DBE2-7847-A78A-997AD5A576D7}" type="pres">
      <dgm:prSet presAssocID="{07FBD6DC-4AC0-4607-A507-B36D0CEC5F0F}" presName="hierRoot2" presStyleCnt="0"/>
      <dgm:spPr/>
    </dgm:pt>
    <dgm:pt modelId="{ED9E77F0-C0EC-624B-9F71-8AE187B1462C}" type="pres">
      <dgm:prSet presAssocID="{07FBD6DC-4AC0-4607-A507-B36D0CEC5F0F}" presName="composite2" presStyleCnt="0"/>
      <dgm:spPr/>
    </dgm:pt>
    <dgm:pt modelId="{1E68E1A5-9FF9-E54D-8502-5553204715CF}" type="pres">
      <dgm:prSet presAssocID="{07FBD6DC-4AC0-4607-A507-B36D0CEC5F0F}" presName="background2" presStyleLbl="node2" presStyleIdx="1" presStyleCnt="3"/>
      <dgm:spPr/>
    </dgm:pt>
    <dgm:pt modelId="{24D199DE-E947-A341-B030-C6CA44342209}" type="pres">
      <dgm:prSet presAssocID="{07FBD6DC-4AC0-4607-A507-B36D0CEC5F0F}" presName="text2" presStyleLbl="fgAcc2" presStyleIdx="1" presStyleCnt="3" custScaleX="201337" custScaleY="151409" custLinFactNeighborY="9564">
        <dgm:presLayoutVars>
          <dgm:chPref val="3"/>
        </dgm:presLayoutVars>
      </dgm:prSet>
      <dgm:spPr/>
    </dgm:pt>
    <dgm:pt modelId="{5C3135BD-7ADD-464D-BE0D-237F73BA7177}" type="pres">
      <dgm:prSet presAssocID="{07FBD6DC-4AC0-4607-A507-B36D0CEC5F0F}" presName="hierChild3" presStyleCnt="0"/>
      <dgm:spPr/>
    </dgm:pt>
    <dgm:pt modelId="{AD8EB510-2E7D-2649-9515-5C2E62043CA5}" type="pres">
      <dgm:prSet presAssocID="{2DE2028A-C2DE-4C7E-860E-69BF0AC38E8F}" presName="Name10" presStyleLbl="parChTrans1D2" presStyleIdx="2" presStyleCnt="3"/>
      <dgm:spPr/>
    </dgm:pt>
    <dgm:pt modelId="{FAFC8D01-68FE-E944-B877-763E67C021F6}" type="pres">
      <dgm:prSet presAssocID="{68E33B74-FA55-40F8-8D59-A2E5C861AE81}" presName="hierRoot2" presStyleCnt="0"/>
      <dgm:spPr/>
    </dgm:pt>
    <dgm:pt modelId="{9E5CA34D-31AB-6F41-84E8-2BFEF8561352}" type="pres">
      <dgm:prSet presAssocID="{68E33B74-FA55-40F8-8D59-A2E5C861AE81}" presName="composite2" presStyleCnt="0"/>
      <dgm:spPr/>
    </dgm:pt>
    <dgm:pt modelId="{49BE12DE-E6E9-614A-8A29-399ADD817FD1}" type="pres">
      <dgm:prSet presAssocID="{68E33B74-FA55-40F8-8D59-A2E5C861AE81}" presName="background2" presStyleLbl="node2" presStyleIdx="2" presStyleCnt="3"/>
      <dgm:spPr/>
    </dgm:pt>
    <dgm:pt modelId="{A37ABA92-C8AE-F04D-A035-0C00F2FEA4CA}" type="pres">
      <dgm:prSet presAssocID="{68E33B74-FA55-40F8-8D59-A2E5C861AE81}" presName="text2" presStyleLbl="fgAcc2" presStyleIdx="2" presStyleCnt="3" custScaleX="202291" custScaleY="155758">
        <dgm:presLayoutVars>
          <dgm:chPref val="3"/>
        </dgm:presLayoutVars>
      </dgm:prSet>
      <dgm:spPr/>
    </dgm:pt>
    <dgm:pt modelId="{00249D2F-2B6F-BE49-A9A1-6568531776D3}" type="pres">
      <dgm:prSet presAssocID="{68E33B74-FA55-40F8-8D59-A2E5C861AE81}" presName="hierChild3" presStyleCnt="0"/>
      <dgm:spPr/>
    </dgm:pt>
  </dgm:ptLst>
  <dgm:cxnLst>
    <dgm:cxn modelId="{9A378408-32CD-964C-A7B6-6541325C9F48}" type="presOf" srcId="{2DE2028A-C2DE-4C7E-860E-69BF0AC38E8F}" destId="{AD8EB510-2E7D-2649-9515-5C2E62043CA5}" srcOrd="0" destOrd="0" presId="urn:microsoft.com/office/officeart/2005/8/layout/hierarchy1"/>
    <dgm:cxn modelId="{47D79C0B-AFB1-492F-ABD1-38DBB8C4392D}" srcId="{EC131724-4CB9-4AF9-9D15-DA2CD4DC0C06}" destId="{68E33B74-FA55-40F8-8D59-A2E5C861AE81}" srcOrd="2" destOrd="0" parTransId="{2DE2028A-C2DE-4C7E-860E-69BF0AC38E8F}" sibTransId="{15EF36C0-ADC5-456E-8A5E-3476A5D8DC83}"/>
    <dgm:cxn modelId="{90F3BF12-5D95-4B80-BAF7-5F51CAF5A37F}" srcId="{CAA50129-FC67-4B32-B72B-70AB5D394994}" destId="{68C90ACB-AF83-48F7-9BE9-ED4F9337C803}" srcOrd="0" destOrd="0" parTransId="{BC03C010-D8BD-4D24-807F-F7CFF797824D}" sibTransId="{5AF69ECE-AD98-45F8-814F-37CCB0C09B7D}"/>
    <dgm:cxn modelId="{3BAA501C-05C9-4AC8-9CC1-28DD1112A7BB}" srcId="{CAA50129-FC67-4B32-B72B-70AB5D394994}" destId="{EC131724-4CB9-4AF9-9D15-DA2CD4DC0C06}" srcOrd="2" destOrd="0" parTransId="{DD762336-E598-405E-8E8A-C392B14AAC40}" sibTransId="{68C0DEE7-EDB0-4980-AEAE-6C6BB1D6E7FC}"/>
    <dgm:cxn modelId="{2405ED34-4C8E-D441-AF35-FDFBD1434F22}" type="presOf" srcId="{A53EC4A2-7A99-4AD0-BB2F-792F465DBFF6}" destId="{3A1D1B81-25E9-6F43-97F4-E52181B1ED82}" srcOrd="0" destOrd="0" presId="urn:microsoft.com/office/officeart/2005/8/layout/hierarchy1"/>
    <dgm:cxn modelId="{7D29943B-F922-B548-B738-A4B3DC04C561}" type="presOf" srcId="{68C90ACB-AF83-48F7-9BE9-ED4F9337C803}" destId="{5E6055BA-981C-3A42-A816-229B5FDB92C8}" srcOrd="0" destOrd="0" presId="urn:microsoft.com/office/officeart/2005/8/layout/hierarchy1"/>
    <dgm:cxn modelId="{5EB5054B-237C-D143-9CE9-7B5DFEDD13AB}" type="presOf" srcId="{4367CFF7-8DFE-4685-94E1-F1A60859C3F5}" destId="{2E7213F2-55F8-B842-8361-88D789533774}" srcOrd="0" destOrd="0" presId="urn:microsoft.com/office/officeart/2005/8/layout/hierarchy1"/>
    <dgm:cxn modelId="{006D0A65-40AB-094F-B55E-3D0284A4FC94}" type="presOf" srcId="{E1FC314D-2005-4550-9EB4-29D917D6A3A7}" destId="{56C7A14E-4AD6-754F-8115-576ECB94C8A2}" srcOrd="0" destOrd="0" presId="urn:microsoft.com/office/officeart/2005/8/layout/hierarchy1"/>
    <dgm:cxn modelId="{76BD3068-2C0B-0D4D-8D02-94468F86EE88}" type="presOf" srcId="{0F31CBDB-58A6-4CEA-BBC1-47BF8AE74475}" destId="{AED84A6A-10C3-D649-BB17-EAAA782F671E}" srcOrd="0" destOrd="0" presId="urn:microsoft.com/office/officeart/2005/8/layout/hierarchy1"/>
    <dgm:cxn modelId="{1ECD3F6A-9351-4894-A58E-3CDC5D4E2308}" srcId="{CAA50129-FC67-4B32-B72B-70AB5D394994}" destId="{4367CFF7-8DFE-4685-94E1-F1A60859C3F5}" srcOrd="1" destOrd="0" parTransId="{157BDF24-F2AA-4CEC-9546-3EAD97BF8964}" sibTransId="{C0C5EB3D-7498-4753-B64B-F6CA3707A16C}"/>
    <dgm:cxn modelId="{1C283573-80AF-EE45-A85F-DEF7F1A62EB5}" type="presOf" srcId="{07FBD6DC-4AC0-4607-A507-B36D0CEC5F0F}" destId="{24D199DE-E947-A341-B030-C6CA44342209}" srcOrd="0" destOrd="0" presId="urn:microsoft.com/office/officeart/2005/8/layout/hierarchy1"/>
    <dgm:cxn modelId="{DD131785-391E-4E22-A0A1-FB968FB8B03D}" srcId="{EC131724-4CB9-4AF9-9D15-DA2CD4DC0C06}" destId="{0F31CBDB-58A6-4CEA-BBC1-47BF8AE74475}" srcOrd="0" destOrd="0" parTransId="{A53EC4A2-7A99-4AD0-BB2F-792F465DBFF6}" sibTransId="{60F8D79F-838E-4D3B-A528-5F8544043A10}"/>
    <dgm:cxn modelId="{596C3EB0-F381-401B-88C0-EA64BDBD4374}" srcId="{EC131724-4CB9-4AF9-9D15-DA2CD4DC0C06}" destId="{07FBD6DC-4AC0-4607-A507-B36D0CEC5F0F}" srcOrd="1" destOrd="0" parTransId="{E1FC314D-2005-4550-9EB4-29D917D6A3A7}" sibTransId="{F4FA36D2-E8A7-4A69-8017-103DEAC4A901}"/>
    <dgm:cxn modelId="{CF70F7BD-95E9-6E42-BE70-9B1A5CFF3246}" type="presOf" srcId="{68E33B74-FA55-40F8-8D59-A2E5C861AE81}" destId="{A37ABA92-C8AE-F04D-A035-0C00F2FEA4CA}" srcOrd="0" destOrd="0" presId="urn:microsoft.com/office/officeart/2005/8/layout/hierarchy1"/>
    <dgm:cxn modelId="{08021AC6-EDA1-1F44-A8BC-D9A45C51BA7C}" type="presOf" srcId="{EC131724-4CB9-4AF9-9D15-DA2CD4DC0C06}" destId="{FA998EF7-FFF4-7D4C-9905-3FDDF6E333BD}" srcOrd="0" destOrd="0" presId="urn:microsoft.com/office/officeart/2005/8/layout/hierarchy1"/>
    <dgm:cxn modelId="{236325DA-C769-0A4C-9EED-54F327511AEE}" type="presOf" srcId="{CAA50129-FC67-4B32-B72B-70AB5D394994}" destId="{898B96A1-0E93-ED4A-AAEB-8AC4C4FFCE28}" srcOrd="0" destOrd="0" presId="urn:microsoft.com/office/officeart/2005/8/layout/hierarchy1"/>
    <dgm:cxn modelId="{0C21907D-2AC5-D54A-8545-F9B96732E0DB}" type="presParOf" srcId="{898B96A1-0E93-ED4A-AAEB-8AC4C4FFCE28}" destId="{C0B70E66-F2EA-464C-A581-638B6D2059DD}" srcOrd="0" destOrd="0" presId="urn:microsoft.com/office/officeart/2005/8/layout/hierarchy1"/>
    <dgm:cxn modelId="{2A565486-8EBE-8C44-BBB1-A50A8079B29E}" type="presParOf" srcId="{C0B70E66-F2EA-464C-A581-638B6D2059DD}" destId="{6AE86FA4-2895-EA45-A462-43F6531E08E6}" srcOrd="0" destOrd="0" presId="urn:microsoft.com/office/officeart/2005/8/layout/hierarchy1"/>
    <dgm:cxn modelId="{52DA74E2-C298-1542-AFE3-F436D5035674}" type="presParOf" srcId="{6AE86FA4-2895-EA45-A462-43F6531E08E6}" destId="{F50F15C0-F5DE-C740-924D-566BE110E0E1}" srcOrd="0" destOrd="0" presId="urn:microsoft.com/office/officeart/2005/8/layout/hierarchy1"/>
    <dgm:cxn modelId="{7F48B29C-45F1-634B-88CB-F70E039D951C}" type="presParOf" srcId="{6AE86FA4-2895-EA45-A462-43F6531E08E6}" destId="{5E6055BA-981C-3A42-A816-229B5FDB92C8}" srcOrd="1" destOrd="0" presId="urn:microsoft.com/office/officeart/2005/8/layout/hierarchy1"/>
    <dgm:cxn modelId="{5798E183-3315-004F-A814-259394EE9C12}" type="presParOf" srcId="{C0B70E66-F2EA-464C-A581-638B6D2059DD}" destId="{D62435A1-3BF0-A34D-9CBE-B546A016BFD5}" srcOrd="1" destOrd="0" presId="urn:microsoft.com/office/officeart/2005/8/layout/hierarchy1"/>
    <dgm:cxn modelId="{6C3B108C-4F45-A746-8EA4-097401335C58}" type="presParOf" srcId="{898B96A1-0E93-ED4A-AAEB-8AC4C4FFCE28}" destId="{3A1B4376-9FCE-D94B-B361-45FA9B98364C}" srcOrd="1" destOrd="0" presId="urn:microsoft.com/office/officeart/2005/8/layout/hierarchy1"/>
    <dgm:cxn modelId="{BA1ECEEC-F540-474B-8D30-FD76D590F5BF}" type="presParOf" srcId="{3A1B4376-9FCE-D94B-B361-45FA9B98364C}" destId="{38446046-1A1A-FF44-B7D8-84C1D630CAEC}" srcOrd="0" destOrd="0" presId="urn:microsoft.com/office/officeart/2005/8/layout/hierarchy1"/>
    <dgm:cxn modelId="{DC18BB01-B334-934B-8D64-D6012637C0A7}" type="presParOf" srcId="{38446046-1A1A-FF44-B7D8-84C1D630CAEC}" destId="{6D377462-BE73-044C-A387-EDBF085EB9B0}" srcOrd="0" destOrd="0" presId="urn:microsoft.com/office/officeart/2005/8/layout/hierarchy1"/>
    <dgm:cxn modelId="{446BE141-7D11-4748-B306-C2B769DDFDF5}" type="presParOf" srcId="{38446046-1A1A-FF44-B7D8-84C1D630CAEC}" destId="{2E7213F2-55F8-B842-8361-88D789533774}" srcOrd="1" destOrd="0" presId="urn:microsoft.com/office/officeart/2005/8/layout/hierarchy1"/>
    <dgm:cxn modelId="{F93A6DD0-2222-2644-B015-34093D9CAF26}" type="presParOf" srcId="{3A1B4376-9FCE-D94B-B361-45FA9B98364C}" destId="{0B29D5F5-2FDC-1A48-9DAD-53D196314AD4}" srcOrd="1" destOrd="0" presId="urn:microsoft.com/office/officeart/2005/8/layout/hierarchy1"/>
    <dgm:cxn modelId="{791C0488-D205-A54F-A28B-56A2EA5CF0C6}" type="presParOf" srcId="{898B96A1-0E93-ED4A-AAEB-8AC4C4FFCE28}" destId="{372E1A55-8394-5F41-A563-ED6B5F7BF1C0}" srcOrd="2" destOrd="0" presId="urn:microsoft.com/office/officeart/2005/8/layout/hierarchy1"/>
    <dgm:cxn modelId="{FBB8434A-CB1D-9641-AA09-CBCACD0DFA9B}" type="presParOf" srcId="{372E1A55-8394-5F41-A563-ED6B5F7BF1C0}" destId="{5757C9FC-04AB-E74A-9C23-179E8C1A6C1E}" srcOrd="0" destOrd="0" presId="urn:microsoft.com/office/officeart/2005/8/layout/hierarchy1"/>
    <dgm:cxn modelId="{65162C40-9176-DA4D-8772-FB40AD05106E}" type="presParOf" srcId="{5757C9FC-04AB-E74A-9C23-179E8C1A6C1E}" destId="{839B87F8-C36B-9E4A-A425-A3C795BAB06E}" srcOrd="0" destOrd="0" presId="urn:microsoft.com/office/officeart/2005/8/layout/hierarchy1"/>
    <dgm:cxn modelId="{D2640966-0EC2-F747-A6E7-6A5EC032C395}" type="presParOf" srcId="{5757C9FC-04AB-E74A-9C23-179E8C1A6C1E}" destId="{FA998EF7-FFF4-7D4C-9905-3FDDF6E333BD}" srcOrd="1" destOrd="0" presId="urn:microsoft.com/office/officeart/2005/8/layout/hierarchy1"/>
    <dgm:cxn modelId="{DFBEBE89-66FC-D647-BDA1-210B6C6C1AC4}" type="presParOf" srcId="{372E1A55-8394-5F41-A563-ED6B5F7BF1C0}" destId="{3C32176C-2601-AB46-B7C9-57C41A6087A7}" srcOrd="1" destOrd="0" presId="urn:microsoft.com/office/officeart/2005/8/layout/hierarchy1"/>
    <dgm:cxn modelId="{8C74A183-CF80-514C-A20C-43FA7EC8A714}" type="presParOf" srcId="{3C32176C-2601-AB46-B7C9-57C41A6087A7}" destId="{3A1D1B81-25E9-6F43-97F4-E52181B1ED82}" srcOrd="0" destOrd="0" presId="urn:microsoft.com/office/officeart/2005/8/layout/hierarchy1"/>
    <dgm:cxn modelId="{68FB3DD5-532C-3F4A-9516-98074F1E57E8}" type="presParOf" srcId="{3C32176C-2601-AB46-B7C9-57C41A6087A7}" destId="{BCE20F4B-749B-554C-A6F1-056411984C26}" srcOrd="1" destOrd="0" presId="urn:microsoft.com/office/officeart/2005/8/layout/hierarchy1"/>
    <dgm:cxn modelId="{616C276F-4F62-A841-B503-B1616C6D8D11}" type="presParOf" srcId="{BCE20F4B-749B-554C-A6F1-056411984C26}" destId="{1F8CE61B-F733-9543-AEA3-1F300D5EEB3E}" srcOrd="0" destOrd="0" presId="urn:microsoft.com/office/officeart/2005/8/layout/hierarchy1"/>
    <dgm:cxn modelId="{31F508C1-F1D3-6849-BD16-0B0C8087E709}" type="presParOf" srcId="{1F8CE61B-F733-9543-AEA3-1F300D5EEB3E}" destId="{807F22B5-2476-A144-83CF-A47991129C1A}" srcOrd="0" destOrd="0" presId="urn:microsoft.com/office/officeart/2005/8/layout/hierarchy1"/>
    <dgm:cxn modelId="{EC9A4694-E4F7-E44B-8844-A903DFB49690}" type="presParOf" srcId="{1F8CE61B-F733-9543-AEA3-1F300D5EEB3E}" destId="{AED84A6A-10C3-D649-BB17-EAAA782F671E}" srcOrd="1" destOrd="0" presId="urn:microsoft.com/office/officeart/2005/8/layout/hierarchy1"/>
    <dgm:cxn modelId="{A949AA62-2825-0B49-916C-E92F36015A65}" type="presParOf" srcId="{BCE20F4B-749B-554C-A6F1-056411984C26}" destId="{ECF81CF9-64E6-274B-AE90-55D11FDE8395}" srcOrd="1" destOrd="0" presId="urn:microsoft.com/office/officeart/2005/8/layout/hierarchy1"/>
    <dgm:cxn modelId="{6957B3AB-44BE-1542-B0FC-8181F72187C0}" type="presParOf" srcId="{3C32176C-2601-AB46-B7C9-57C41A6087A7}" destId="{56C7A14E-4AD6-754F-8115-576ECB94C8A2}" srcOrd="2" destOrd="0" presId="urn:microsoft.com/office/officeart/2005/8/layout/hierarchy1"/>
    <dgm:cxn modelId="{3F9184EB-3B41-7449-883F-C1568D791492}" type="presParOf" srcId="{3C32176C-2601-AB46-B7C9-57C41A6087A7}" destId="{BDF2E2D2-DBE2-7847-A78A-997AD5A576D7}" srcOrd="3" destOrd="0" presId="urn:microsoft.com/office/officeart/2005/8/layout/hierarchy1"/>
    <dgm:cxn modelId="{7DB3F8BE-DA81-914C-9D2C-6CCF88DD4E69}" type="presParOf" srcId="{BDF2E2D2-DBE2-7847-A78A-997AD5A576D7}" destId="{ED9E77F0-C0EC-624B-9F71-8AE187B1462C}" srcOrd="0" destOrd="0" presId="urn:microsoft.com/office/officeart/2005/8/layout/hierarchy1"/>
    <dgm:cxn modelId="{227EE966-C999-6244-922B-8CAC295C915B}" type="presParOf" srcId="{ED9E77F0-C0EC-624B-9F71-8AE187B1462C}" destId="{1E68E1A5-9FF9-E54D-8502-5553204715CF}" srcOrd="0" destOrd="0" presId="urn:microsoft.com/office/officeart/2005/8/layout/hierarchy1"/>
    <dgm:cxn modelId="{FBE12412-6E83-A147-94FA-7BA74E6EB6CD}" type="presParOf" srcId="{ED9E77F0-C0EC-624B-9F71-8AE187B1462C}" destId="{24D199DE-E947-A341-B030-C6CA44342209}" srcOrd="1" destOrd="0" presId="urn:microsoft.com/office/officeart/2005/8/layout/hierarchy1"/>
    <dgm:cxn modelId="{7C8A52A7-6916-C241-B870-638DF6CE0F57}" type="presParOf" srcId="{BDF2E2D2-DBE2-7847-A78A-997AD5A576D7}" destId="{5C3135BD-7ADD-464D-BE0D-237F73BA7177}" srcOrd="1" destOrd="0" presId="urn:microsoft.com/office/officeart/2005/8/layout/hierarchy1"/>
    <dgm:cxn modelId="{6FBC5D65-8E91-F549-BA20-AAF6AE65AAEB}" type="presParOf" srcId="{3C32176C-2601-AB46-B7C9-57C41A6087A7}" destId="{AD8EB510-2E7D-2649-9515-5C2E62043CA5}" srcOrd="4" destOrd="0" presId="urn:microsoft.com/office/officeart/2005/8/layout/hierarchy1"/>
    <dgm:cxn modelId="{B3CEF0B7-BE4E-0F4E-8C94-911DE4426720}" type="presParOf" srcId="{3C32176C-2601-AB46-B7C9-57C41A6087A7}" destId="{FAFC8D01-68FE-E944-B877-763E67C021F6}" srcOrd="5" destOrd="0" presId="urn:microsoft.com/office/officeart/2005/8/layout/hierarchy1"/>
    <dgm:cxn modelId="{DFA3A094-3103-3548-9668-98119CFF1C2A}" type="presParOf" srcId="{FAFC8D01-68FE-E944-B877-763E67C021F6}" destId="{9E5CA34D-31AB-6F41-84E8-2BFEF8561352}" srcOrd="0" destOrd="0" presId="urn:microsoft.com/office/officeart/2005/8/layout/hierarchy1"/>
    <dgm:cxn modelId="{1BE17922-6D5C-BE44-B66F-9F4E82491B32}" type="presParOf" srcId="{9E5CA34D-31AB-6F41-84E8-2BFEF8561352}" destId="{49BE12DE-E6E9-614A-8A29-399ADD817FD1}" srcOrd="0" destOrd="0" presId="urn:microsoft.com/office/officeart/2005/8/layout/hierarchy1"/>
    <dgm:cxn modelId="{3F09C497-D2C8-9C48-A9D5-43688F1F79A4}" type="presParOf" srcId="{9E5CA34D-31AB-6F41-84E8-2BFEF8561352}" destId="{A37ABA92-C8AE-F04D-A035-0C00F2FEA4CA}" srcOrd="1" destOrd="0" presId="urn:microsoft.com/office/officeart/2005/8/layout/hierarchy1"/>
    <dgm:cxn modelId="{00CB18F8-A5F4-0E41-81B2-2574DB2F674B}" type="presParOf" srcId="{FAFC8D01-68FE-E944-B877-763E67C021F6}" destId="{00249D2F-2B6F-BE49-A9A1-6568531776D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3A01A39-2B9D-4CB2-8CDB-7E561B2518DC}" type="doc">
      <dgm:prSet loTypeId="urn:microsoft.com/office/officeart/2018/2/layout/IconVerticalSolidList" loCatId="icon" qsTypeId="urn:microsoft.com/office/officeart/2005/8/quickstyle/simple1#2" qsCatId="simple" csTypeId="urn:microsoft.com/office/officeart/2005/8/colors/accent1_2#2" csCatId="accent1" phldr="1"/>
      <dgm:spPr/>
      <dgm:t>
        <a:bodyPr/>
        <a:lstStyle/>
        <a:p>
          <a:endParaRPr lang="en-US"/>
        </a:p>
      </dgm:t>
    </dgm:pt>
    <dgm:pt modelId="{2B2B2039-9B75-4C51-9872-9B7C7C76749E}">
      <dgm:prSet custT="1"/>
      <dgm:spPr/>
      <dgm:t>
        <a:bodyPr/>
        <a:lstStyle/>
        <a:p>
          <a:pPr>
            <a:lnSpc>
              <a:spcPct val="100000"/>
            </a:lnSpc>
          </a:pPr>
          <a:r>
            <a:rPr lang="en-US" sz="2400" b="0" i="0" baseline="0" dirty="0">
              <a:latin typeface="Calibri Light" panose="020F0302020204030204" pitchFamily="34" charset="0"/>
              <a:cs typeface="Calibri Light" panose="020F0302020204030204" pitchFamily="34" charset="0"/>
            </a:rPr>
            <a:t>Cherry‑pick fails in 64.4% of the 478 patches (overall)</a:t>
          </a:r>
          <a:endParaRPr lang="en-US" sz="2400" b="0" i="0" dirty="0">
            <a:latin typeface="Calibri Light" panose="020F0302020204030204" pitchFamily="34" charset="0"/>
            <a:cs typeface="Calibri Light" panose="020F0302020204030204" pitchFamily="34" charset="0"/>
          </a:endParaRPr>
        </a:p>
      </dgm:t>
    </dgm:pt>
    <dgm:pt modelId="{98265785-C1FD-4D47-BF57-E1F6D4D697B9}" type="parTrans" cxnId="{DC04B7A2-46E8-4796-A187-A41742CA064D}">
      <dgm:prSet/>
      <dgm:spPr/>
      <dgm:t>
        <a:bodyPr/>
        <a:lstStyle/>
        <a:p>
          <a:endParaRPr lang="en-US" sz="2400" b="0" i="0">
            <a:latin typeface="Calibri Light" panose="020F0302020204030204" pitchFamily="34" charset="0"/>
            <a:cs typeface="Calibri Light" panose="020F0302020204030204" pitchFamily="34" charset="0"/>
          </a:endParaRPr>
        </a:p>
      </dgm:t>
    </dgm:pt>
    <dgm:pt modelId="{5C41F535-F218-447A-92F2-21A3E4420329}" type="sibTrans" cxnId="{DC04B7A2-46E8-4796-A187-A41742CA064D}">
      <dgm:prSet/>
      <dgm:spPr/>
      <dgm:t>
        <a:bodyPr/>
        <a:lstStyle/>
        <a:p>
          <a:endParaRPr lang="en-US" sz="2400" b="0" i="0">
            <a:latin typeface="Calibri Light" panose="020F0302020204030204" pitchFamily="34" charset="0"/>
            <a:cs typeface="Calibri Light" panose="020F0302020204030204" pitchFamily="34" charset="0"/>
          </a:endParaRPr>
        </a:p>
      </dgm:t>
    </dgm:pt>
    <dgm:pt modelId="{FCA7102F-C80E-4626-8DAB-1B82080CE54E}">
      <dgm:prSet custT="1"/>
      <dgm:spPr/>
      <dgm:t>
        <a:bodyPr/>
        <a:lstStyle/>
        <a:p>
          <a:pPr>
            <a:lnSpc>
              <a:spcPct val="100000"/>
            </a:lnSpc>
          </a:pPr>
          <a:r>
            <a:rPr lang="en-US" sz="2400" b="0" i="0" baseline="0">
              <a:latin typeface="Calibri Light" panose="020F0302020204030204" pitchFamily="34" charset="0"/>
              <a:cs typeface="Calibri Light" panose="020F0302020204030204" pitchFamily="34" charset="0"/>
            </a:rPr>
            <a:t>Median failure rate across targets: 85.7%</a:t>
          </a:r>
          <a:endParaRPr lang="en-US" sz="2400" b="0" i="0">
            <a:latin typeface="Calibri Light" panose="020F0302020204030204" pitchFamily="34" charset="0"/>
            <a:cs typeface="Calibri Light" panose="020F0302020204030204" pitchFamily="34" charset="0"/>
          </a:endParaRPr>
        </a:p>
      </dgm:t>
    </dgm:pt>
    <dgm:pt modelId="{097B2EDF-F95D-459A-A626-298736BB9983}" type="parTrans" cxnId="{2158EDED-7FE0-4E35-BADD-A8A590772BA7}">
      <dgm:prSet/>
      <dgm:spPr/>
      <dgm:t>
        <a:bodyPr/>
        <a:lstStyle/>
        <a:p>
          <a:endParaRPr lang="en-US" sz="2400" b="0" i="0">
            <a:latin typeface="Calibri Light" panose="020F0302020204030204" pitchFamily="34" charset="0"/>
            <a:cs typeface="Calibri Light" panose="020F0302020204030204" pitchFamily="34" charset="0"/>
          </a:endParaRPr>
        </a:p>
      </dgm:t>
    </dgm:pt>
    <dgm:pt modelId="{5B5B0B8B-2A55-4876-84EB-931380A087B5}" type="sibTrans" cxnId="{2158EDED-7FE0-4E35-BADD-A8A590772BA7}">
      <dgm:prSet/>
      <dgm:spPr/>
      <dgm:t>
        <a:bodyPr/>
        <a:lstStyle/>
        <a:p>
          <a:endParaRPr lang="en-US" sz="2400" b="0" i="0">
            <a:latin typeface="Calibri Light" panose="020F0302020204030204" pitchFamily="34" charset="0"/>
            <a:cs typeface="Calibri Light" panose="020F0302020204030204" pitchFamily="34" charset="0"/>
          </a:endParaRPr>
        </a:p>
      </dgm:t>
    </dgm:pt>
    <dgm:pt modelId="{4BE7A348-AD35-4E2F-9DA7-70C5BD2D540F}">
      <dgm:prSet custT="1"/>
      <dgm:spPr/>
      <dgm:t>
        <a:bodyPr/>
        <a:lstStyle/>
        <a:p>
          <a:pPr>
            <a:lnSpc>
              <a:spcPct val="100000"/>
            </a:lnSpc>
          </a:pPr>
          <a:r>
            <a:rPr lang="en-US" sz="2400" b="0" i="0" baseline="0">
              <a:latin typeface="Calibri Light" panose="020F0302020204030204" pitchFamily="34" charset="0"/>
              <a:cs typeface="Calibri Light" panose="020F0302020204030204" pitchFamily="34" charset="0"/>
            </a:rPr>
            <a:t>Several projects show 94–100% failure under baseline cherry‑pick</a:t>
          </a:r>
          <a:endParaRPr lang="en-US" sz="2400" b="0" i="0">
            <a:latin typeface="Calibri Light" panose="020F0302020204030204" pitchFamily="34" charset="0"/>
            <a:cs typeface="Calibri Light" panose="020F0302020204030204" pitchFamily="34" charset="0"/>
          </a:endParaRPr>
        </a:p>
      </dgm:t>
    </dgm:pt>
    <dgm:pt modelId="{3D116B16-D661-4B4E-B38A-D29B176AAB73}" type="parTrans" cxnId="{CFB2A2CC-E888-433A-AA0B-B0401461CBB1}">
      <dgm:prSet/>
      <dgm:spPr/>
      <dgm:t>
        <a:bodyPr/>
        <a:lstStyle/>
        <a:p>
          <a:endParaRPr lang="en-US" sz="2400" b="0" i="0">
            <a:latin typeface="Calibri Light" panose="020F0302020204030204" pitchFamily="34" charset="0"/>
            <a:cs typeface="Calibri Light" panose="020F0302020204030204" pitchFamily="34" charset="0"/>
          </a:endParaRPr>
        </a:p>
      </dgm:t>
    </dgm:pt>
    <dgm:pt modelId="{4C8EB598-2F99-42B9-8D65-01AA64B8665E}" type="sibTrans" cxnId="{CFB2A2CC-E888-433A-AA0B-B0401461CBB1}">
      <dgm:prSet/>
      <dgm:spPr/>
      <dgm:t>
        <a:bodyPr/>
        <a:lstStyle/>
        <a:p>
          <a:endParaRPr lang="en-US" sz="2400" b="0" i="0">
            <a:latin typeface="Calibri Light" panose="020F0302020204030204" pitchFamily="34" charset="0"/>
            <a:cs typeface="Calibri Light" panose="020F0302020204030204" pitchFamily="34" charset="0"/>
          </a:endParaRPr>
        </a:p>
      </dgm:t>
    </dgm:pt>
    <dgm:pt modelId="{DA8A6409-A78E-4E58-BEC3-03D5E7B63BEF}" type="pres">
      <dgm:prSet presAssocID="{73A01A39-2B9D-4CB2-8CDB-7E561B2518DC}" presName="root" presStyleCnt="0">
        <dgm:presLayoutVars>
          <dgm:dir/>
          <dgm:resizeHandles val="exact"/>
        </dgm:presLayoutVars>
      </dgm:prSet>
      <dgm:spPr/>
    </dgm:pt>
    <dgm:pt modelId="{81F9E891-AB96-4884-ACAE-09947BC3B81B}" type="pres">
      <dgm:prSet presAssocID="{2B2B2039-9B75-4C51-9872-9B7C7C76749E}" presName="compNode" presStyleCnt="0"/>
      <dgm:spPr/>
    </dgm:pt>
    <dgm:pt modelId="{D279A25C-FAD0-49C8-8DD9-0DD2904FFD44}" type="pres">
      <dgm:prSet presAssocID="{2B2B2039-9B75-4C51-9872-9B7C7C76749E}" presName="bgRect" presStyleLbl="bgShp" presStyleIdx="0" presStyleCnt="3"/>
      <dgm:spPr/>
    </dgm:pt>
    <dgm:pt modelId="{8CEC65FE-A7E2-4D5E-A675-1D5576DDB3D7}" type="pres">
      <dgm:prSet presAssocID="{2B2B2039-9B75-4C51-9872-9B7C7C76749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herries"/>
        </a:ext>
      </dgm:extLst>
    </dgm:pt>
    <dgm:pt modelId="{4D5AC6E6-DAEB-4AEE-A272-46CF83876834}" type="pres">
      <dgm:prSet presAssocID="{2B2B2039-9B75-4C51-9872-9B7C7C76749E}" presName="spaceRect" presStyleCnt="0"/>
      <dgm:spPr/>
    </dgm:pt>
    <dgm:pt modelId="{F5B13224-11F8-4DAA-8789-19F5F042B415}" type="pres">
      <dgm:prSet presAssocID="{2B2B2039-9B75-4C51-9872-9B7C7C76749E}" presName="parTx" presStyleLbl="revTx" presStyleIdx="0" presStyleCnt="3">
        <dgm:presLayoutVars>
          <dgm:chMax val="0"/>
          <dgm:chPref val="0"/>
        </dgm:presLayoutVars>
      </dgm:prSet>
      <dgm:spPr/>
    </dgm:pt>
    <dgm:pt modelId="{8A3A946C-2CA5-4DA4-8ACA-E6BC74F403A4}" type="pres">
      <dgm:prSet presAssocID="{5C41F535-F218-447A-92F2-21A3E4420329}" presName="sibTrans" presStyleCnt="0"/>
      <dgm:spPr/>
    </dgm:pt>
    <dgm:pt modelId="{FD713804-9021-4D33-962C-B93E6EE1F4C6}" type="pres">
      <dgm:prSet presAssocID="{FCA7102F-C80E-4626-8DAB-1B82080CE54E}" presName="compNode" presStyleCnt="0"/>
      <dgm:spPr/>
    </dgm:pt>
    <dgm:pt modelId="{2CA01719-F2C4-48AF-A1E3-B4745950CAAF}" type="pres">
      <dgm:prSet presAssocID="{FCA7102F-C80E-4626-8DAB-1B82080CE54E}" presName="bgRect" presStyleLbl="bgShp" presStyleIdx="1" presStyleCnt="3"/>
      <dgm:spPr/>
    </dgm:pt>
    <dgm:pt modelId="{4592AA4D-0518-45C2-AE55-57CA31680C08}" type="pres">
      <dgm:prSet presAssocID="{FCA7102F-C80E-4626-8DAB-1B82080CE54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A0D77B78-1B64-4AC3-9EDC-C6CB101647AA}" type="pres">
      <dgm:prSet presAssocID="{FCA7102F-C80E-4626-8DAB-1B82080CE54E}" presName="spaceRect" presStyleCnt="0"/>
      <dgm:spPr/>
    </dgm:pt>
    <dgm:pt modelId="{9078CB21-506B-4005-85F0-02684A9E68CB}" type="pres">
      <dgm:prSet presAssocID="{FCA7102F-C80E-4626-8DAB-1B82080CE54E}" presName="parTx" presStyleLbl="revTx" presStyleIdx="1" presStyleCnt="3">
        <dgm:presLayoutVars>
          <dgm:chMax val="0"/>
          <dgm:chPref val="0"/>
        </dgm:presLayoutVars>
      </dgm:prSet>
      <dgm:spPr/>
    </dgm:pt>
    <dgm:pt modelId="{076EE7A0-38E4-455B-917D-4CD510EE1649}" type="pres">
      <dgm:prSet presAssocID="{5B5B0B8B-2A55-4876-84EB-931380A087B5}" presName="sibTrans" presStyleCnt="0"/>
      <dgm:spPr/>
    </dgm:pt>
    <dgm:pt modelId="{6E5A503F-6805-49C3-AD96-A91F0027E731}" type="pres">
      <dgm:prSet presAssocID="{4BE7A348-AD35-4E2F-9DA7-70C5BD2D540F}" presName="compNode" presStyleCnt="0"/>
      <dgm:spPr/>
    </dgm:pt>
    <dgm:pt modelId="{FD661443-17E5-4D43-B5DE-399DB0576D9D}" type="pres">
      <dgm:prSet presAssocID="{4BE7A348-AD35-4E2F-9DA7-70C5BD2D540F}" presName="bgRect" presStyleLbl="bgShp" presStyleIdx="2" presStyleCnt="3"/>
      <dgm:spPr/>
    </dgm:pt>
    <dgm:pt modelId="{018C04C5-8F9E-4C37-9B8F-558303DD5CCA}" type="pres">
      <dgm:prSet presAssocID="{4BE7A348-AD35-4E2F-9DA7-70C5BD2D540F}"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Open folder outline"/>
        </a:ext>
      </dgm:extLst>
    </dgm:pt>
    <dgm:pt modelId="{949B811E-0FE3-4B12-A548-924EF058844D}" type="pres">
      <dgm:prSet presAssocID="{4BE7A348-AD35-4E2F-9DA7-70C5BD2D540F}" presName="spaceRect" presStyleCnt="0"/>
      <dgm:spPr/>
    </dgm:pt>
    <dgm:pt modelId="{BEBFFCEE-0B9D-46DD-A170-6D131156692E}" type="pres">
      <dgm:prSet presAssocID="{4BE7A348-AD35-4E2F-9DA7-70C5BD2D540F}" presName="parTx" presStyleLbl="revTx" presStyleIdx="2" presStyleCnt="3">
        <dgm:presLayoutVars>
          <dgm:chMax val="0"/>
          <dgm:chPref val="0"/>
        </dgm:presLayoutVars>
      </dgm:prSet>
      <dgm:spPr/>
    </dgm:pt>
  </dgm:ptLst>
  <dgm:cxnLst>
    <dgm:cxn modelId="{7804CD16-684A-4395-B4A8-2EC4780B98BB}" type="presOf" srcId="{FCA7102F-C80E-4626-8DAB-1B82080CE54E}" destId="{9078CB21-506B-4005-85F0-02684A9E68CB}" srcOrd="0" destOrd="0" presId="urn:microsoft.com/office/officeart/2018/2/layout/IconVerticalSolidList"/>
    <dgm:cxn modelId="{A6534126-D582-443E-A0B1-C53E76EBE6F1}" type="presOf" srcId="{4BE7A348-AD35-4E2F-9DA7-70C5BD2D540F}" destId="{BEBFFCEE-0B9D-46DD-A170-6D131156692E}" srcOrd="0" destOrd="0" presId="urn:microsoft.com/office/officeart/2018/2/layout/IconVerticalSolidList"/>
    <dgm:cxn modelId="{E5AF6485-3969-4E4F-8A3B-F3BCA5899FE8}" type="presOf" srcId="{73A01A39-2B9D-4CB2-8CDB-7E561B2518DC}" destId="{DA8A6409-A78E-4E58-BEC3-03D5E7B63BEF}" srcOrd="0" destOrd="0" presId="urn:microsoft.com/office/officeart/2018/2/layout/IconVerticalSolidList"/>
    <dgm:cxn modelId="{DC04B7A2-46E8-4796-A187-A41742CA064D}" srcId="{73A01A39-2B9D-4CB2-8CDB-7E561B2518DC}" destId="{2B2B2039-9B75-4C51-9872-9B7C7C76749E}" srcOrd="0" destOrd="0" parTransId="{98265785-C1FD-4D47-BF57-E1F6D4D697B9}" sibTransId="{5C41F535-F218-447A-92F2-21A3E4420329}"/>
    <dgm:cxn modelId="{CFB2A2CC-E888-433A-AA0B-B0401461CBB1}" srcId="{73A01A39-2B9D-4CB2-8CDB-7E561B2518DC}" destId="{4BE7A348-AD35-4E2F-9DA7-70C5BD2D540F}" srcOrd="2" destOrd="0" parTransId="{3D116B16-D661-4B4E-B38A-D29B176AAB73}" sibTransId="{4C8EB598-2F99-42B9-8D65-01AA64B8665E}"/>
    <dgm:cxn modelId="{3E9CD7E8-5FEB-40DE-BE50-A9C0621054BC}" type="presOf" srcId="{2B2B2039-9B75-4C51-9872-9B7C7C76749E}" destId="{F5B13224-11F8-4DAA-8789-19F5F042B415}" srcOrd="0" destOrd="0" presId="urn:microsoft.com/office/officeart/2018/2/layout/IconVerticalSolidList"/>
    <dgm:cxn modelId="{2158EDED-7FE0-4E35-BADD-A8A590772BA7}" srcId="{73A01A39-2B9D-4CB2-8CDB-7E561B2518DC}" destId="{FCA7102F-C80E-4626-8DAB-1B82080CE54E}" srcOrd="1" destOrd="0" parTransId="{097B2EDF-F95D-459A-A626-298736BB9983}" sibTransId="{5B5B0B8B-2A55-4876-84EB-931380A087B5}"/>
    <dgm:cxn modelId="{DA39CE93-A4F2-4A93-B2D1-53EA24D7C152}" type="presParOf" srcId="{DA8A6409-A78E-4E58-BEC3-03D5E7B63BEF}" destId="{81F9E891-AB96-4884-ACAE-09947BC3B81B}" srcOrd="0" destOrd="0" presId="urn:microsoft.com/office/officeart/2018/2/layout/IconVerticalSolidList"/>
    <dgm:cxn modelId="{34513AED-E6F5-42C5-AA32-568140FEDA48}" type="presParOf" srcId="{81F9E891-AB96-4884-ACAE-09947BC3B81B}" destId="{D279A25C-FAD0-49C8-8DD9-0DD2904FFD44}" srcOrd="0" destOrd="0" presId="urn:microsoft.com/office/officeart/2018/2/layout/IconVerticalSolidList"/>
    <dgm:cxn modelId="{0D11843D-BB36-4A31-8129-2C7AE9E492B8}" type="presParOf" srcId="{81F9E891-AB96-4884-ACAE-09947BC3B81B}" destId="{8CEC65FE-A7E2-4D5E-A675-1D5576DDB3D7}" srcOrd="1" destOrd="0" presId="urn:microsoft.com/office/officeart/2018/2/layout/IconVerticalSolidList"/>
    <dgm:cxn modelId="{C0F382EB-6A88-4525-9DF9-667E54DA70F5}" type="presParOf" srcId="{81F9E891-AB96-4884-ACAE-09947BC3B81B}" destId="{4D5AC6E6-DAEB-4AEE-A272-46CF83876834}" srcOrd="2" destOrd="0" presId="urn:microsoft.com/office/officeart/2018/2/layout/IconVerticalSolidList"/>
    <dgm:cxn modelId="{1B2A4443-F91F-4B58-9144-F46E9E3883F3}" type="presParOf" srcId="{81F9E891-AB96-4884-ACAE-09947BC3B81B}" destId="{F5B13224-11F8-4DAA-8789-19F5F042B415}" srcOrd="3" destOrd="0" presId="urn:microsoft.com/office/officeart/2018/2/layout/IconVerticalSolidList"/>
    <dgm:cxn modelId="{2FC8D97D-39C4-4C3D-A9C0-D0BF4C4FBE35}" type="presParOf" srcId="{DA8A6409-A78E-4E58-BEC3-03D5E7B63BEF}" destId="{8A3A946C-2CA5-4DA4-8ACA-E6BC74F403A4}" srcOrd="1" destOrd="0" presId="urn:microsoft.com/office/officeart/2018/2/layout/IconVerticalSolidList"/>
    <dgm:cxn modelId="{D26D121D-E97D-4BB0-9453-9F7A3D17AE0D}" type="presParOf" srcId="{DA8A6409-A78E-4E58-BEC3-03D5E7B63BEF}" destId="{FD713804-9021-4D33-962C-B93E6EE1F4C6}" srcOrd="2" destOrd="0" presId="urn:microsoft.com/office/officeart/2018/2/layout/IconVerticalSolidList"/>
    <dgm:cxn modelId="{16629B3B-B3FF-4AAE-B500-E9304B2064A7}" type="presParOf" srcId="{FD713804-9021-4D33-962C-B93E6EE1F4C6}" destId="{2CA01719-F2C4-48AF-A1E3-B4745950CAAF}" srcOrd="0" destOrd="0" presId="urn:microsoft.com/office/officeart/2018/2/layout/IconVerticalSolidList"/>
    <dgm:cxn modelId="{816FAB54-D2B1-44A5-9CDD-09E0B43E9460}" type="presParOf" srcId="{FD713804-9021-4D33-962C-B93E6EE1F4C6}" destId="{4592AA4D-0518-45C2-AE55-57CA31680C08}" srcOrd="1" destOrd="0" presId="urn:microsoft.com/office/officeart/2018/2/layout/IconVerticalSolidList"/>
    <dgm:cxn modelId="{8986FA68-DA44-4572-A042-05E4D16D8B28}" type="presParOf" srcId="{FD713804-9021-4D33-962C-B93E6EE1F4C6}" destId="{A0D77B78-1B64-4AC3-9EDC-C6CB101647AA}" srcOrd="2" destOrd="0" presId="urn:microsoft.com/office/officeart/2018/2/layout/IconVerticalSolidList"/>
    <dgm:cxn modelId="{2EE5D6B5-0B39-46E4-AE04-5DB658C42959}" type="presParOf" srcId="{FD713804-9021-4D33-962C-B93E6EE1F4C6}" destId="{9078CB21-506B-4005-85F0-02684A9E68CB}" srcOrd="3" destOrd="0" presId="urn:microsoft.com/office/officeart/2018/2/layout/IconVerticalSolidList"/>
    <dgm:cxn modelId="{336E44B4-50A6-4D2D-A496-5F9449A812D0}" type="presParOf" srcId="{DA8A6409-A78E-4E58-BEC3-03D5E7B63BEF}" destId="{076EE7A0-38E4-455B-917D-4CD510EE1649}" srcOrd="3" destOrd="0" presId="urn:microsoft.com/office/officeart/2018/2/layout/IconVerticalSolidList"/>
    <dgm:cxn modelId="{A7F9B74E-B31F-40DE-BE40-959362CC3D9B}" type="presParOf" srcId="{DA8A6409-A78E-4E58-BEC3-03D5E7B63BEF}" destId="{6E5A503F-6805-49C3-AD96-A91F0027E731}" srcOrd="4" destOrd="0" presId="urn:microsoft.com/office/officeart/2018/2/layout/IconVerticalSolidList"/>
    <dgm:cxn modelId="{BAB01102-D710-45F0-BF52-A744CFA1134E}" type="presParOf" srcId="{6E5A503F-6805-49C3-AD96-A91F0027E731}" destId="{FD661443-17E5-4D43-B5DE-399DB0576D9D}" srcOrd="0" destOrd="0" presId="urn:microsoft.com/office/officeart/2018/2/layout/IconVerticalSolidList"/>
    <dgm:cxn modelId="{48CD4D46-234B-4C21-9823-9F0F8FBD84B7}" type="presParOf" srcId="{6E5A503F-6805-49C3-AD96-A91F0027E731}" destId="{018C04C5-8F9E-4C37-9B8F-558303DD5CCA}" srcOrd="1" destOrd="0" presId="urn:microsoft.com/office/officeart/2018/2/layout/IconVerticalSolidList"/>
    <dgm:cxn modelId="{7B94B557-C1DD-4455-8A48-BC7CB1C7164D}" type="presParOf" srcId="{6E5A503F-6805-49C3-AD96-A91F0027E731}" destId="{949B811E-0FE3-4B12-A548-924EF058844D}" srcOrd="2" destOrd="0" presId="urn:microsoft.com/office/officeart/2018/2/layout/IconVerticalSolidList"/>
    <dgm:cxn modelId="{5958F3B1-F1E2-4620-92B1-B38B01D6F94F}" type="presParOf" srcId="{6E5A503F-6805-49C3-AD96-A91F0027E731}" destId="{BEBFFCEE-0B9D-46DD-A170-6D131156692E}"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6FC6101-75D5-407C-B76B-AD5F9875664E}" type="doc">
      <dgm:prSet loTypeId="urn:microsoft.com/office/officeart/2005/8/layout/hierarchy1" loCatId="hierarchy" qsTypeId="urn:microsoft.com/office/officeart/2005/8/quickstyle/simple1#3" qsCatId="simple" csTypeId="urn:microsoft.com/office/officeart/2005/8/colors/accent1_2#3" csCatId="accent1" phldr="1"/>
      <dgm:spPr/>
      <dgm:t>
        <a:bodyPr/>
        <a:lstStyle/>
        <a:p>
          <a:endParaRPr lang="en-US"/>
        </a:p>
      </dgm:t>
    </dgm:pt>
    <dgm:pt modelId="{2DF91B33-51FF-4354-B832-A3E46C72BCBE}">
      <dgm:prSet custT="1"/>
      <dgm:spPr/>
      <dgm:t>
        <a:bodyPr/>
        <a:lstStyle/>
        <a:p>
          <a:r>
            <a:rPr lang="en-US" sz="2200" b="0" i="0" baseline="0" dirty="0">
              <a:latin typeface="Calibri Light" panose="020F0302020204030204" pitchFamily="34" charset="0"/>
              <a:cs typeface="Calibri Light" panose="020F0302020204030204" pitchFamily="34" charset="0"/>
            </a:rPr>
            <a:t>On previously failing cases (n≈292 after constraints):</a:t>
          </a:r>
          <a:endParaRPr lang="en-US" sz="2200" b="0" i="0" dirty="0">
            <a:latin typeface="Calibri Light" panose="020F0302020204030204" pitchFamily="34" charset="0"/>
            <a:cs typeface="Calibri Light" panose="020F0302020204030204" pitchFamily="34" charset="0"/>
          </a:endParaRPr>
        </a:p>
      </dgm:t>
    </dgm:pt>
    <dgm:pt modelId="{942C448C-9794-4B93-8FBC-E3A0E2FF3396}" type="parTrans" cxnId="{9427E7E9-5747-45E8-95F3-6E942C88D2BE}">
      <dgm:prSet/>
      <dgm:spPr/>
      <dgm:t>
        <a:bodyPr/>
        <a:lstStyle/>
        <a:p>
          <a:endParaRPr lang="en-US" sz="2200" b="0" i="0">
            <a:latin typeface="Calibri Light" panose="020F0302020204030204" pitchFamily="34" charset="0"/>
            <a:cs typeface="Calibri Light" panose="020F0302020204030204" pitchFamily="34" charset="0"/>
          </a:endParaRPr>
        </a:p>
      </dgm:t>
    </dgm:pt>
    <dgm:pt modelId="{E8909362-51A1-4A06-B4F0-B2029E6368D3}" type="sibTrans" cxnId="{9427E7E9-5747-45E8-95F3-6E942C88D2BE}">
      <dgm:prSet/>
      <dgm:spPr/>
      <dgm:t>
        <a:bodyPr/>
        <a:lstStyle/>
        <a:p>
          <a:endParaRPr lang="en-US" sz="2200" b="0" i="0">
            <a:latin typeface="Calibri Light" panose="020F0302020204030204" pitchFamily="34" charset="0"/>
            <a:cs typeface="Calibri Light" panose="020F0302020204030204" pitchFamily="34" charset="0"/>
          </a:endParaRPr>
        </a:p>
      </dgm:t>
    </dgm:pt>
    <dgm:pt modelId="{F277FBDA-1D94-428B-B12C-A6ACC64D880B}">
      <dgm:prSet custT="1"/>
      <dgm:spPr/>
      <dgm:t>
        <a:bodyPr/>
        <a:lstStyle/>
        <a:p>
          <a:r>
            <a:rPr lang="en-US" sz="2200" b="0" i="0" baseline="0" dirty="0">
              <a:latin typeface="Calibri Light" panose="020F0302020204030204" pitchFamily="34" charset="0"/>
              <a:cs typeface="Calibri Light" panose="020F0302020204030204" pitchFamily="34" charset="0"/>
            </a:rPr>
            <a:t>Reduces file‑level conflicts in 53.1% of cases; increases in 1.4%</a:t>
          </a:r>
          <a:endParaRPr lang="en-US" sz="2200" b="0" i="0" dirty="0">
            <a:latin typeface="Calibri Light" panose="020F0302020204030204" pitchFamily="34" charset="0"/>
            <a:cs typeface="Calibri Light" panose="020F0302020204030204" pitchFamily="34" charset="0"/>
          </a:endParaRPr>
        </a:p>
      </dgm:t>
    </dgm:pt>
    <dgm:pt modelId="{AE4F54DE-4A5B-47E9-8654-610DE3332A6F}" type="parTrans" cxnId="{9F930CD2-A085-4EE9-BF49-E5D2EC5157CE}">
      <dgm:prSet/>
      <dgm:spPr/>
      <dgm:t>
        <a:bodyPr/>
        <a:lstStyle/>
        <a:p>
          <a:endParaRPr lang="en-US" sz="2200" b="0" i="0">
            <a:latin typeface="Calibri Light" panose="020F0302020204030204" pitchFamily="34" charset="0"/>
            <a:cs typeface="Calibri Light" panose="020F0302020204030204" pitchFamily="34" charset="0"/>
          </a:endParaRPr>
        </a:p>
      </dgm:t>
    </dgm:pt>
    <dgm:pt modelId="{950B15CD-03CA-49DB-8320-536F5DB5FB2D}" type="sibTrans" cxnId="{9F930CD2-A085-4EE9-BF49-E5D2EC5157CE}">
      <dgm:prSet/>
      <dgm:spPr/>
      <dgm:t>
        <a:bodyPr/>
        <a:lstStyle/>
        <a:p>
          <a:endParaRPr lang="en-US" sz="2200" b="0" i="0">
            <a:latin typeface="Calibri Light" panose="020F0302020204030204" pitchFamily="34" charset="0"/>
            <a:cs typeface="Calibri Light" panose="020F0302020204030204" pitchFamily="34" charset="0"/>
          </a:endParaRPr>
        </a:p>
      </dgm:t>
    </dgm:pt>
    <dgm:pt modelId="{6F48C350-70D5-4B18-8736-7C59292CACE0}">
      <dgm:prSet custT="1"/>
      <dgm:spPr/>
      <dgm:t>
        <a:bodyPr/>
        <a:lstStyle/>
        <a:p>
          <a:r>
            <a:rPr lang="en-US" sz="2200" b="0" i="0" baseline="0" dirty="0">
              <a:latin typeface="Calibri Light" panose="020F0302020204030204" pitchFamily="34" charset="0"/>
              <a:cs typeface="Calibri Light" panose="020F0302020204030204" pitchFamily="34" charset="0"/>
            </a:rPr>
            <a:t>Reduces line‑level conflicts in 53.8% of cases; increases in 3.4%</a:t>
          </a:r>
          <a:endParaRPr lang="en-US" sz="2200" b="0" i="0" dirty="0">
            <a:latin typeface="Calibri Light" panose="020F0302020204030204" pitchFamily="34" charset="0"/>
            <a:cs typeface="Calibri Light" panose="020F0302020204030204" pitchFamily="34" charset="0"/>
          </a:endParaRPr>
        </a:p>
      </dgm:t>
    </dgm:pt>
    <dgm:pt modelId="{B592021A-BE17-4A15-BFEB-ED75B98C2A13}" type="parTrans" cxnId="{01E929EC-6B96-4D5B-AD8C-9BC1E0A70940}">
      <dgm:prSet/>
      <dgm:spPr/>
      <dgm:t>
        <a:bodyPr/>
        <a:lstStyle/>
        <a:p>
          <a:endParaRPr lang="en-US" sz="2200" b="0" i="0">
            <a:latin typeface="Calibri Light" panose="020F0302020204030204" pitchFamily="34" charset="0"/>
            <a:cs typeface="Calibri Light" panose="020F0302020204030204" pitchFamily="34" charset="0"/>
          </a:endParaRPr>
        </a:p>
      </dgm:t>
    </dgm:pt>
    <dgm:pt modelId="{C7AF0811-F260-4B70-A575-5990289ABE9A}" type="sibTrans" cxnId="{01E929EC-6B96-4D5B-AD8C-9BC1E0A70940}">
      <dgm:prSet/>
      <dgm:spPr/>
      <dgm:t>
        <a:bodyPr/>
        <a:lstStyle/>
        <a:p>
          <a:endParaRPr lang="en-US" sz="2200" b="0" i="0">
            <a:latin typeface="Calibri Light" panose="020F0302020204030204" pitchFamily="34" charset="0"/>
            <a:cs typeface="Calibri Light" panose="020F0302020204030204" pitchFamily="34" charset="0"/>
          </a:endParaRPr>
        </a:p>
      </dgm:t>
    </dgm:pt>
    <dgm:pt modelId="{6AD189A6-7B79-4948-979F-34050FCAA4AB}">
      <dgm:prSet custT="1"/>
      <dgm:spPr/>
      <dgm:t>
        <a:bodyPr/>
        <a:lstStyle/>
        <a:p>
          <a:r>
            <a:rPr lang="en-US" sz="2200" b="0" i="0" baseline="0" dirty="0">
              <a:latin typeface="Calibri Light" panose="020F0302020204030204" pitchFamily="34" charset="0"/>
              <a:cs typeface="Calibri Light" panose="020F0302020204030204" pitchFamily="34" charset="0"/>
            </a:rPr>
            <a:t>Successfully integrates 52.8% of the previously failing patches</a:t>
          </a:r>
          <a:endParaRPr lang="en-US" sz="2200" b="0" i="0" dirty="0">
            <a:latin typeface="Calibri Light" panose="020F0302020204030204" pitchFamily="34" charset="0"/>
            <a:cs typeface="Calibri Light" panose="020F0302020204030204" pitchFamily="34" charset="0"/>
          </a:endParaRPr>
        </a:p>
      </dgm:t>
    </dgm:pt>
    <dgm:pt modelId="{5C81060E-8894-469D-98BA-E7BA5F8BEB69}" type="parTrans" cxnId="{E5A20755-274B-4D3F-B6C9-FA1A7E068D49}">
      <dgm:prSet/>
      <dgm:spPr/>
      <dgm:t>
        <a:bodyPr/>
        <a:lstStyle/>
        <a:p>
          <a:endParaRPr lang="en-US" sz="2200" b="0" i="0">
            <a:latin typeface="Calibri Light" panose="020F0302020204030204" pitchFamily="34" charset="0"/>
            <a:cs typeface="Calibri Light" panose="020F0302020204030204" pitchFamily="34" charset="0"/>
          </a:endParaRPr>
        </a:p>
      </dgm:t>
    </dgm:pt>
    <dgm:pt modelId="{5E0C777F-43C2-4A93-9DEA-4F26D102CA76}" type="sibTrans" cxnId="{E5A20755-274B-4D3F-B6C9-FA1A7E068D49}">
      <dgm:prSet/>
      <dgm:spPr/>
      <dgm:t>
        <a:bodyPr/>
        <a:lstStyle/>
        <a:p>
          <a:endParaRPr lang="en-US" sz="2200" b="0" i="0">
            <a:latin typeface="Calibri Light" panose="020F0302020204030204" pitchFamily="34" charset="0"/>
            <a:cs typeface="Calibri Light" panose="020F0302020204030204" pitchFamily="34" charset="0"/>
          </a:endParaRPr>
        </a:p>
      </dgm:t>
    </dgm:pt>
    <dgm:pt modelId="{2AEA38DA-B6A2-454E-9AD6-FB30F6F8E97A}" type="pres">
      <dgm:prSet presAssocID="{06FC6101-75D5-407C-B76B-AD5F9875664E}" presName="hierChild1" presStyleCnt="0">
        <dgm:presLayoutVars>
          <dgm:chPref val="1"/>
          <dgm:dir/>
          <dgm:animOne val="branch"/>
          <dgm:animLvl val="lvl"/>
          <dgm:resizeHandles/>
        </dgm:presLayoutVars>
      </dgm:prSet>
      <dgm:spPr/>
    </dgm:pt>
    <dgm:pt modelId="{043E578A-E89F-7343-91DF-14B6C98F01CA}" type="pres">
      <dgm:prSet presAssocID="{2DF91B33-51FF-4354-B832-A3E46C72BCBE}" presName="hierRoot1" presStyleCnt="0"/>
      <dgm:spPr/>
    </dgm:pt>
    <dgm:pt modelId="{C538EC06-5FD6-A74B-87CB-B85FE82DEB1C}" type="pres">
      <dgm:prSet presAssocID="{2DF91B33-51FF-4354-B832-A3E46C72BCBE}" presName="composite" presStyleCnt="0"/>
      <dgm:spPr/>
    </dgm:pt>
    <dgm:pt modelId="{5C42ED28-DF58-0844-A8E0-AD2317C1216F}" type="pres">
      <dgm:prSet presAssocID="{2DF91B33-51FF-4354-B832-A3E46C72BCBE}" presName="background" presStyleLbl="node0" presStyleIdx="0" presStyleCnt="4"/>
      <dgm:spPr/>
    </dgm:pt>
    <dgm:pt modelId="{40039C22-6A2A-8641-865F-0D66910D19DF}" type="pres">
      <dgm:prSet presAssocID="{2DF91B33-51FF-4354-B832-A3E46C72BCBE}" presName="text" presStyleLbl="fgAcc0" presStyleIdx="0" presStyleCnt="4" custScaleX="116179" custScaleY="150020">
        <dgm:presLayoutVars>
          <dgm:chPref val="3"/>
        </dgm:presLayoutVars>
      </dgm:prSet>
      <dgm:spPr/>
    </dgm:pt>
    <dgm:pt modelId="{CB341D4C-3F3E-554F-82EF-41856922CA52}" type="pres">
      <dgm:prSet presAssocID="{2DF91B33-51FF-4354-B832-A3E46C72BCBE}" presName="hierChild2" presStyleCnt="0"/>
      <dgm:spPr/>
    </dgm:pt>
    <dgm:pt modelId="{FDF9AF9B-C32F-A24E-BCBB-9D3A7F6682F8}" type="pres">
      <dgm:prSet presAssocID="{F277FBDA-1D94-428B-B12C-A6ACC64D880B}" presName="hierRoot1" presStyleCnt="0"/>
      <dgm:spPr/>
    </dgm:pt>
    <dgm:pt modelId="{81BCABA2-678E-4245-959C-ACF134EC360D}" type="pres">
      <dgm:prSet presAssocID="{F277FBDA-1D94-428B-B12C-A6ACC64D880B}" presName="composite" presStyleCnt="0"/>
      <dgm:spPr/>
    </dgm:pt>
    <dgm:pt modelId="{2F4DF706-84ED-0B4B-B031-01C2171FFEF4}" type="pres">
      <dgm:prSet presAssocID="{F277FBDA-1D94-428B-B12C-A6ACC64D880B}" presName="background" presStyleLbl="node0" presStyleIdx="1" presStyleCnt="4"/>
      <dgm:spPr/>
    </dgm:pt>
    <dgm:pt modelId="{AE487379-C35A-E847-9BF5-805827FA3A42}" type="pres">
      <dgm:prSet presAssocID="{F277FBDA-1D94-428B-B12C-A6ACC64D880B}" presName="text" presStyleLbl="fgAcc0" presStyleIdx="1" presStyleCnt="4" custScaleX="129825" custScaleY="148483">
        <dgm:presLayoutVars>
          <dgm:chPref val="3"/>
        </dgm:presLayoutVars>
      </dgm:prSet>
      <dgm:spPr/>
    </dgm:pt>
    <dgm:pt modelId="{A5C90D69-D3B4-B244-802C-35BDEC39EB96}" type="pres">
      <dgm:prSet presAssocID="{F277FBDA-1D94-428B-B12C-A6ACC64D880B}" presName="hierChild2" presStyleCnt="0"/>
      <dgm:spPr/>
    </dgm:pt>
    <dgm:pt modelId="{FED4077F-6A3D-6240-8EFD-5A4F3CA2B29E}" type="pres">
      <dgm:prSet presAssocID="{6F48C350-70D5-4B18-8736-7C59292CACE0}" presName="hierRoot1" presStyleCnt="0"/>
      <dgm:spPr/>
    </dgm:pt>
    <dgm:pt modelId="{C07E2507-6229-7F40-8094-FAEF3F047B1F}" type="pres">
      <dgm:prSet presAssocID="{6F48C350-70D5-4B18-8736-7C59292CACE0}" presName="composite" presStyleCnt="0"/>
      <dgm:spPr/>
    </dgm:pt>
    <dgm:pt modelId="{0BB15B16-F99F-AA46-94D2-C98A3B2EDA65}" type="pres">
      <dgm:prSet presAssocID="{6F48C350-70D5-4B18-8736-7C59292CACE0}" presName="background" presStyleLbl="node0" presStyleIdx="2" presStyleCnt="4"/>
      <dgm:spPr/>
    </dgm:pt>
    <dgm:pt modelId="{78FB5BF6-7B46-784C-BDB1-AF3F9B6638C6}" type="pres">
      <dgm:prSet presAssocID="{6F48C350-70D5-4B18-8736-7C59292CACE0}" presName="text" presStyleLbl="fgAcc0" presStyleIdx="2" presStyleCnt="4" custScaleX="144715" custScaleY="146947">
        <dgm:presLayoutVars>
          <dgm:chPref val="3"/>
        </dgm:presLayoutVars>
      </dgm:prSet>
      <dgm:spPr/>
    </dgm:pt>
    <dgm:pt modelId="{725F7FE1-9A90-B743-9EC7-7A3D66B3BBC3}" type="pres">
      <dgm:prSet presAssocID="{6F48C350-70D5-4B18-8736-7C59292CACE0}" presName="hierChild2" presStyleCnt="0"/>
      <dgm:spPr/>
    </dgm:pt>
    <dgm:pt modelId="{59EE5BE5-AEBA-F841-ACB1-963BB1CE20C5}" type="pres">
      <dgm:prSet presAssocID="{6AD189A6-7B79-4948-979F-34050FCAA4AB}" presName="hierRoot1" presStyleCnt="0"/>
      <dgm:spPr/>
    </dgm:pt>
    <dgm:pt modelId="{E0E51B61-35FB-4343-9B00-3933D40305FE}" type="pres">
      <dgm:prSet presAssocID="{6AD189A6-7B79-4948-979F-34050FCAA4AB}" presName="composite" presStyleCnt="0"/>
      <dgm:spPr/>
    </dgm:pt>
    <dgm:pt modelId="{49D5C668-FDEF-FC4F-99EF-EA43282622EF}" type="pres">
      <dgm:prSet presAssocID="{6AD189A6-7B79-4948-979F-34050FCAA4AB}" presName="background" presStyleLbl="node0" presStyleIdx="3" presStyleCnt="4"/>
      <dgm:spPr/>
    </dgm:pt>
    <dgm:pt modelId="{0475CD1A-E3F8-A64A-B63E-982B1A5675B9}" type="pres">
      <dgm:prSet presAssocID="{6AD189A6-7B79-4948-979F-34050FCAA4AB}" presName="text" presStyleLbl="fgAcc0" presStyleIdx="3" presStyleCnt="4" custScaleX="123482" custScaleY="143873">
        <dgm:presLayoutVars>
          <dgm:chPref val="3"/>
        </dgm:presLayoutVars>
      </dgm:prSet>
      <dgm:spPr/>
    </dgm:pt>
    <dgm:pt modelId="{E61D2DD4-3BAA-744D-B71A-73667F49BA96}" type="pres">
      <dgm:prSet presAssocID="{6AD189A6-7B79-4948-979F-34050FCAA4AB}" presName="hierChild2" presStyleCnt="0"/>
      <dgm:spPr/>
    </dgm:pt>
  </dgm:ptLst>
  <dgm:cxnLst>
    <dgm:cxn modelId="{A1257F42-A545-7243-9358-B8DFE01E1B0E}" type="presOf" srcId="{06FC6101-75D5-407C-B76B-AD5F9875664E}" destId="{2AEA38DA-B6A2-454E-9AD6-FB30F6F8E97A}" srcOrd="0" destOrd="0" presId="urn:microsoft.com/office/officeart/2005/8/layout/hierarchy1"/>
    <dgm:cxn modelId="{B828DD53-F45C-6049-8D87-657D1210D8B3}" type="presOf" srcId="{6F48C350-70D5-4B18-8736-7C59292CACE0}" destId="{78FB5BF6-7B46-784C-BDB1-AF3F9B6638C6}" srcOrd="0" destOrd="0" presId="urn:microsoft.com/office/officeart/2005/8/layout/hierarchy1"/>
    <dgm:cxn modelId="{E5A20755-274B-4D3F-B6C9-FA1A7E068D49}" srcId="{06FC6101-75D5-407C-B76B-AD5F9875664E}" destId="{6AD189A6-7B79-4948-979F-34050FCAA4AB}" srcOrd="3" destOrd="0" parTransId="{5C81060E-8894-469D-98BA-E7BA5F8BEB69}" sibTransId="{5E0C777F-43C2-4A93-9DEA-4F26D102CA76}"/>
    <dgm:cxn modelId="{6F97B45A-FE3C-984E-A579-125487F58D5C}" type="presOf" srcId="{6AD189A6-7B79-4948-979F-34050FCAA4AB}" destId="{0475CD1A-E3F8-A64A-B63E-982B1A5675B9}" srcOrd="0" destOrd="0" presId="urn:microsoft.com/office/officeart/2005/8/layout/hierarchy1"/>
    <dgm:cxn modelId="{8EC84572-72B7-6248-8795-2F846E011242}" type="presOf" srcId="{2DF91B33-51FF-4354-B832-A3E46C72BCBE}" destId="{40039C22-6A2A-8641-865F-0D66910D19DF}" srcOrd="0" destOrd="0" presId="urn:microsoft.com/office/officeart/2005/8/layout/hierarchy1"/>
    <dgm:cxn modelId="{A7B42C98-1305-594C-B5A5-A6F4C0B1AD50}" type="presOf" srcId="{F277FBDA-1D94-428B-B12C-A6ACC64D880B}" destId="{AE487379-C35A-E847-9BF5-805827FA3A42}" srcOrd="0" destOrd="0" presId="urn:microsoft.com/office/officeart/2005/8/layout/hierarchy1"/>
    <dgm:cxn modelId="{9F930CD2-A085-4EE9-BF49-E5D2EC5157CE}" srcId="{06FC6101-75D5-407C-B76B-AD5F9875664E}" destId="{F277FBDA-1D94-428B-B12C-A6ACC64D880B}" srcOrd="1" destOrd="0" parTransId="{AE4F54DE-4A5B-47E9-8654-610DE3332A6F}" sibTransId="{950B15CD-03CA-49DB-8320-536F5DB5FB2D}"/>
    <dgm:cxn modelId="{9427E7E9-5747-45E8-95F3-6E942C88D2BE}" srcId="{06FC6101-75D5-407C-B76B-AD5F9875664E}" destId="{2DF91B33-51FF-4354-B832-A3E46C72BCBE}" srcOrd="0" destOrd="0" parTransId="{942C448C-9794-4B93-8FBC-E3A0E2FF3396}" sibTransId="{E8909362-51A1-4A06-B4F0-B2029E6368D3}"/>
    <dgm:cxn modelId="{01E929EC-6B96-4D5B-AD8C-9BC1E0A70940}" srcId="{06FC6101-75D5-407C-B76B-AD5F9875664E}" destId="{6F48C350-70D5-4B18-8736-7C59292CACE0}" srcOrd="2" destOrd="0" parTransId="{B592021A-BE17-4A15-BFEB-ED75B98C2A13}" sibTransId="{C7AF0811-F260-4B70-A575-5990289ABE9A}"/>
    <dgm:cxn modelId="{6DD7E192-0DAE-8441-9946-85DC19D8C9C8}" type="presParOf" srcId="{2AEA38DA-B6A2-454E-9AD6-FB30F6F8E97A}" destId="{043E578A-E89F-7343-91DF-14B6C98F01CA}" srcOrd="0" destOrd="0" presId="urn:microsoft.com/office/officeart/2005/8/layout/hierarchy1"/>
    <dgm:cxn modelId="{865AD741-F1E9-724F-9331-F7624E145C31}" type="presParOf" srcId="{043E578A-E89F-7343-91DF-14B6C98F01CA}" destId="{C538EC06-5FD6-A74B-87CB-B85FE82DEB1C}" srcOrd="0" destOrd="0" presId="urn:microsoft.com/office/officeart/2005/8/layout/hierarchy1"/>
    <dgm:cxn modelId="{26F7F5A3-72D8-B842-842A-AC500E4978A7}" type="presParOf" srcId="{C538EC06-5FD6-A74B-87CB-B85FE82DEB1C}" destId="{5C42ED28-DF58-0844-A8E0-AD2317C1216F}" srcOrd="0" destOrd="0" presId="urn:microsoft.com/office/officeart/2005/8/layout/hierarchy1"/>
    <dgm:cxn modelId="{A51A17CC-D9C7-EB42-BCAB-506561295872}" type="presParOf" srcId="{C538EC06-5FD6-A74B-87CB-B85FE82DEB1C}" destId="{40039C22-6A2A-8641-865F-0D66910D19DF}" srcOrd="1" destOrd="0" presId="urn:microsoft.com/office/officeart/2005/8/layout/hierarchy1"/>
    <dgm:cxn modelId="{BE08927E-AC95-2C4C-83C0-A8B7510C7697}" type="presParOf" srcId="{043E578A-E89F-7343-91DF-14B6C98F01CA}" destId="{CB341D4C-3F3E-554F-82EF-41856922CA52}" srcOrd="1" destOrd="0" presId="urn:microsoft.com/office/officeart/2005/8/layout/hierarchy1"/>
    <dgm:cxn modelId="{9B9F9BF8-38E9-FA43-B605-EA0590EB85EC}" type="presParOf" srcId="{2AEA38DA-B6A2-454E-9AD6-FB30F6F8E97A}" destId="{FDF9AF9B-C32F-A24E-BCBB-9D3A7F6682F8}" srcOrd="1" destOrd="0" presId="urn:microsoft.com/office/officeart/2005/8/layout/hierarchy1"/>
    <dgm:cxn modelId="{23ED0E36-DC32-8A4F-854D-0FE7B2A34756}" type="presParOf" srcId="{FDF9AF9B-C32F-A24E-BCBB-9D3A7F6682F8}" destId="{81BCABA2-678E-4245-959C-ACF134EC360D}" srcOrd="0" destOrd="0" presId="urn:microsoft.com/office/officeart/2005/8/layout/hierarchy1"/>
    <dgm:cxn modelId="{DBFE026E-3AA9-874E-BCC1-AD8D51A4988A}" type="presParOf" srcId="{81BCABA2-678E-4245-959C-ACF134EC360D}" destId="{2F4DF706-84ED-0B4B-B031-01C2171FFEF4}" srcOrd="0" destOrd="0" presId="urn:microsoft.com/office/officeart/2005/8/layout/hierarchy1"/>
    <dgm:cxn modelId="{6E669973-DA5A-1F4E-8C2A-9F231871C1E6}" type="presParOf" srcId="{81BCABA2-678E-4245-959C-ACF134EC360D}" destId="{AE487379-C35A-E847-9BF5-805827FA3A42}" srcOrd="1" destOrd="0" presId="urn:microsoft.com/office/officeart/2005/8/layout/hierarchy1"/>
    <dgm:cxn modelId="{5B76EDA6-508A-E140-B206-37734A21285B}" type="presParOf" srcId="{FDF9AF9B-C32F-A24E-BCBB-9D3A7F6682F8}" destId="{A5C90D69-D3B4-B244-802C-35BDEC39EB96}" srcOrd="1" destOrd="0" presId="urn:microsoft.com/office/officeart/2005/8/layout/hierarchy1"/>
    <dgm:cxn modelId="{6ADC77DD-937D-ED46-B428-4CAF2CD5876B}" type="presParOf" srcId="{2AEA38DA-B6A2-454E-9AD6-FB30F6F8E97A}" destId="{FED4077F-6A3D-6240-8EFD-5A4F3CA2B29E}" srcOrd="2" destOrd="0" presId="urn:microsoft.com/office/officeart/2005/8/layout/hierarchy1"/>
    <dgm:cxn modelId="{56913CD5-7E1D-C147-8D1E-E42C42E045F8}" type="presParOf" srcId="{FED4077F-6A3D-6240-8EFD-5A4F3CA2B29E}" destId="{C07E2507-6229-7F40-8094-FAEF3F047B1F}" srcOrd="0" destOrd="0" presId="urn:microsoft.com/office/officeart/2005/8/layout/hierarchy1"/>
    <dgm:cxn modelId="{E821F312-6409-9245-A9E6-888322E2F25E}" type="presParOf" srcId="{C07E2507-6229-7F40-8094-FAEF3F047B1F}" destId="{0BB15B16-F99F-AA46-94D2-C98A3B2EDA65}" srcOrd="0" destOrd="0" presId="urn:microsoft.com/office/officeart/2005/8/layout/hierarchy1"/>
    <dgm:cxn modelId="{21807F5D-1623-C543-ABA7-DE858A13396A}" type="presParOf" srcId="{C07E2507-6229-7F40-8094-FAEF3F047B1F}" destId="{78FB5BF6-7B46-784C-BDB1-AF3F9B6638C6}" srcOrd="1" destOrd="0" presId="urn:microsoft.com/office/officeart/2005/8/layout/hierarchy1"/>
    <dgm:cxn modelId="{60FC1096-9D43-DE49-9237-02FCBF0416A1}" type="presParOf" srcId="{FED4077F-6A3D-6240-8EFD-5A4F3CA2B29E}" destId="{725F7FE1-9A90-B743-9EC7-7A3D66B3BBC3}" srcOrd="1" destOrd="0" presId="urn:microsoft.com/office/officeart/2005/8/layout/hierarchy1"/>
    <dgm:cxn modelId="{FD96FDB8-BD70-D74F-82D4-CE7F454C2744}" type="presParOf" srcId="{2AEA38DA-B6A2-454E-9AD6-FB30F6F8E97A}" destId="{59EE5BE5-AEBA-F841-ACB1-963BB1CE20C5}" srcOrd="3" destOrd="0" presId="urn:microsoft.com/office/officeart/2005/8/layout/hierarchy1"/>
    <dgm:cxn modelId="{11C73F8B-F3EF-3643-9509-4C8C6A8F65A2}" type="presParOf" srcId="{59EE5BE5-AEBA-F841-ACB1-963BB1CE20C5}" destId="{E0E51B61-35FB-4343-9B00-3933D40305FE}" srcOrd="0" destOrd="0" presId="urn:microsoft.com/office/officeart/2005/8/layout/hierarchy1"/>
    <dgm:cxn modelId="{1CD05FC6-D4D0-4641-ACCD-6AC5F0259D5E}" type="presParOf" srcId="{E0E51B61-35FB-4343-9B00-3933D40305FE}" destId="{49D5C668-FDEF-FC4F-99EF-EA43282622EF}" srcOrd="0" destOrd="0" presId="urn:microsoft.com/office/officeart/2005/8/layout/hierarchy1"/>
    <dgm:cxn modelId="{BE3DA2F6-FB89-5047-A30D-C4F4CBCD0CDC}" type="presParOf" srcId="{E0E51B61-35FB-4343-9B00-3933D40305FE}" destId="{0475CD1A-E3F8-A64A-B63E-982B1A5675B9}" srcOrd="1" destOrd="0" presId="urn:microsoft.com/office/officeart/2005/8/layout/hierarchy1"/>
    <dgm:cxn modelId="{B177F452-37DC-3345-AAC1-051CEF28F202}" type="presParOf" srcId="{59EE5BE5-AEBA-F841-ACB1-963BB1CE20C5}" destId="{E61D2DD4-3BAA-744D-B71A-73667F49BA96}"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8EB510-2E7D-2649-9515-5C2E62043CA5}">
      <dsp:nvSpPr>
        <dsp:cNvPr id="0" name=""/>
        <dsp:cNvSpPr/>
      </dsp:nvSpPr>
      <dsp:spPr>
        <a:xfrm>
          <a:off x="7792019" y="1909089"/>
          <a:ext cx="2193924" cy="974860"/>
        </a:xfrm>
        <a:custGeom>
          <a:avLst/>
          <a:gdLst/>
          <a:ahLst/>
          <a:cxnLst/>
          <a:rect l="0" t="0" r="0" b="0"/>
          <a:pathLst>
            <a:path>
              <a:moveTo>
                <a:pt x="0" y="0"/>
              </a:moveTo>
              <a:lnTo>
                <a:pt x="0" y="874112"/>
              </a:lnTo>
              <a:lnTo>
                <a:pt x="2193924" y="874112"/>
              </a:lnTo>
              <a:lnTo>
                <a:pt x="2193924" y="97486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C7A14E-4AD6-754F-8115-576ECB94C8A2}">
      <dsp:nvSpPr>
        <dsp:cNvPr id="0" name=""/>
        <dsp:cNvSpPr/>
      </dsp:nvSpPr>
      <dsp:spPr>
        <a:xfrm>
          <a:off x="7549490" y="1909089"/>
          <a:ext cx="242529" cy="1040907"/>
        </a:xfrm>
        <a:custGeom>
          <a:avLst/>
          <a:gdLst/>
          <a:ahLst/>
          <a:cxnLst/>
          <a:rect l="0" t="0" r="0" b="0"/>
          <a:pathLst>
            <a:path>
              <a:moveTo>
                <a:pt x="242529" y="0"/>
              </a:moveTo>
              <a:lnTo>
                <a:pt x="242529" y="940159"/>
              </a:lnTo>
              <a:lnTo>
                <a:pt x="0" y="940159"/>
              </a:lnTo>
              <a:lnTo>
                <a:pt x="0" y="104090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1D1B81-25E9-6F43-97F4-E52181B1ED82}">
      <dsp:nvSpPr>
        <dsp:cNvPr id="0" name=""/>
        <dsp:cNvSpPr/>
      </dsp:nvSpPr>
      <dsp:spPr>
        <a:xfrm>
          <a:off x="4693033" y="1909089"/>
          <a:ext cx="3098986" cy="1035403"/>
        </a:xfrm>
        <a:custGeom>
          <a:avLst/>
          <a:gdLst/>
          <a:ahLst/>
          <a:cxnLst/>
          <a:rect l="0" t="0" r="0" b="0"/>
          <a:pathLst>
            <a:path>
              <a:moveTo>
                <a:pt x="3098986" y="0"/>
              </a:moveTo>
              <a:lnTo>
                <a:pt x="3098986" y="934656"/>
              </a:lnTo>
              <a:lnTo>
                <a:pt x="0" y="934656"/>
              </a:lnTo>
              <a:lnTo>
                <a:pt x="0" y="10354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0F15C0-F5DE-C740-924D-566BE110E0E1}">
      <dsp:nvSpPr>
        <dsp:cNvPr id="0" name=""/>
        <dsp:cNvSpPr/>
      </dsp:nvSpPr>
      <dsp:spPr>
        <a:xfrm>
          <a:off x="-60787" y="388834"/>
          <a:ext cx="2731638" cy="16486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6055BA-981C-3A42-A816-229B5FDB92C8}">
      <dsp:nvSpPr>
        <dsp:cNvPr id="0" name=""/>
        <dsp:cNvSpPr/>
      </dsp:nvSpPr>
      <dsp:spPr>
        <a:xfrm>
          <a:off x="60048" y="503628"/>
          <a:ext cx="2731638" cy="164868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latin typeface="Calibri Light" panose="020F0302020204030204" pitchFamily="34" charset="0"/>
              <a:cs typeface="Calibri Light" panose="020F0302020204030204" pitchFamily="34" charset="0"/>
            </a:rPr>
            <a:t>Apply a bug‑fix patch from a source variant to a target variant that has drifted</a:t>
          </a:r>
          <a:endParaRPr lang="en-US" sz="2400" b="0" i="0" kern="1200" dirty="0">
            <a:latin typeface="Calibri Light" panose="020F0302020204030204" pitchFamily="34" charset="0"/>
            <a:cs typeface="Calibri Light" panose="020F0302020204030204" pitchFamily="34" charset="0"/>
          </a:endParaRPr>
        </a:p>
      </dsp:txBody>
      <dsp:txXfrm>
        <a:off x="108336" y="551916"/>
        <a:ext cx="2635062" cy="1552106"/>
      </dsp:txXfrm>
    </dsp:sp>
    <dsp:sp modelId="{6D377462-BE73-044C-A387-EDBF085EB9B0}">
      <dsp:nvSpPr>
        <dsp:cNvPr id="0" name=""/>
        <dsp:cNvSpPr/>
      </dsp:nvSpPr>
      <dsp:spPr>
        <a:xfrm>
          <a:off x="3105657" y="394621"/>
          <a:ext cx="2707909" cy="168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7213F2-55F8-B842-8361-88D789533774}">
      <dsp:nvSpPr>
        <dsp:cNvPr id="0" name=""/>
        <dsp:cNvSpPr/>
      </dsp:nvSpPr>
      <dsp:spPr>
        <a:xfrm>
          <a:off x="3226494" y="509416"/>
          <a:ext cx="2707909" cy="16828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latin typeface="Calibri Light" panose="020F0302020204030204" pitchFamily="34" charset="0"/>
              <a:cs typeface="Calibri Light" panose="020F0302020204030204" pitchFamily="34" charset="0"/>
            </a:rPr>
            <a:t>Structural drift breaks textual correspondence → patch integration may fail</a:t>
          </a:r>
          <a:endParaRPr lang="en-US" sz="2400" b="0" i="0" kern="1200" dirty="0">
            <a:latin typeface="Calibri Light" panose="020F0302020204030204" pitchFamily="34" charset="0"/>
            <a:cs typeface="Calibri Light" panose="020F0302020204030204" pitchFamily="34" charset="0"/>
          </a:endParaRPr>
        </a:p>
      </dsp:txBody>
      <dsp:txXfrm>
        <a:off x="3275784" y="558706"/>
        <a:ext cx="2609329" cy="1584293"/>
      </dsp:txXfrm>
    </dsp:sp>
    <dsp:sp modelId="{839B87F8-C36B-9E4A-A425-A3C795BAB06E}">
      <dsp:nvSpPr>
        <dsp:cNvPr id="0" name=""/>
        <dsp:cNvSpPr/>
      </dsp:nvSpPr>
      <dsp:spPr>
        <a:xfrm>
          <a:off x="6570912" y="344050"/>
          <a:ext cx="2442215" cy="15650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998EF7-FFF4-7D4C-9905-3FDDF6E333BD}">
      <dsp:nvSpPr>
        <dsp:cNvPr id="0" name=""/>
        <dsp:cNvSpPr/>
      </dsp:nvSpPr>
      <dsp:spPr>
        <a:xfrm>
          <a:off x="6691748" y="458844"/>
          <a:ext cx="2442215" cy="156503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latin typeface="Calibri Light" panose="020F0302020204030204" pitchFamily="34" charset="0"/>
              <a:cs typeface="Calibri Light" panose="020F0302020204030204" pitchFamily="34" charset="0"/>
            </a:rPr>
            <a:t>Typical sources of drift:</a:t>
          </a:r>
          <a:endParaRPr lang="en-US" sz="2400" b="0" i="0" kern="1200" dirty="0">
            <a:latin typeface="Calibri Light" panose="020F0302020204030204" pitchFamily="34" charset="0"/>
            <a:cs typeface="Calibri Light" panose="020F0302020204030204" pitchFamily="34" charset="0"/>
          </a:endParaRPr>
        </a:p>
      </dsp:txBody>
      <dsp:txXfrm>
        <a:off x="6737586" y="504682"/>
        <a:ext cx="2350539" cy="1473363"/>
      </dsp:txXfrm>
    </dsp:sp>
    <dsp:sp modelId="{807F22B5-2476-A144-83CF-A47991129C1A}">
      <dsp:nvSpPr>
        <dsp:cNvPr id="0" name=""/>
        <dsp:cNvSpPr/>
      </dsp:nvSpPr>
      <dsp:spPr>
        <a:xfrm>
          <a:off x="3191338" y="2944493"/>
          <a:ext cx="3003390" cy="10174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D84A6A-10C3-D649-BB17-EAAA782F671E}">
      <dsp:nvSpPr>
        <dsp:cNvPr id="0" name=""/>
        <dsp:cNvSpPr/>
      </dsp:nvSpPr>
      <dsp:spPr>
        <a:xfrm>
          <a:off x="3312174" y="3059287"/>
          <a:ext cx="3003390" cy="101745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latin typeface="Calibri Light" panose="020F0302020204030204" pitchFamily="34" charset="0"/>
              <a:cs typeface="Calibri Light" panose="020F0302020204030204" pitchFamily="34" charset="0"/>
            </a:rPr>
            <a:t>Rename/Move/Inline/Extract</a:t>
          </a:r>
          <a:endParaRPr lang="en-US" sz="2400" b="0" i="0" kern="1200" dirty="0">
            <a:latin typeface="Calibri Light" panose="020F0302020204030204" pitchFamily="34" charset="0"/>
            <a:cs typeface="Calibri Light" panose="020F0302020204030204" pitchFamily="34" charset="0"/>
          </a:endParaRPr>
        </a:p>
      </dsp:txBody>
      <dsp:txXfrm>
        <a:off x="3341974" y="3089087"/>
        <a:ext cx="2943790" cy="957858"/>
      </dsp:txXfrm>
    </dsp:sp>
    <dsp:sp modelId="{1E68E1A5-9FF9-E54D-8502-5553204715CF}">
      <dsp:nvSpPr>
        <dsp:cNvPr id="0" name=""/>
        <dsp:cNvSpPr/>
      </dsp:nvSpPr>
      <dsp:spPr>
        <a:xfrm>
          <a:off x="6454693" y="2949997"/>
          <a:ext cx="2189593" cy="1045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D199DE-E947-A341-B030-C6CA44342209}">
      <dsp:nvSpPr>
        <dsp:cNvPr id="0" name=""/>
        <dsp:cNvSpPr/>
      </dsp:nvSpPr>
      <dsp:spPr>
        <a:xfrm>
          <a:off x="6575529" y="3064791"/>
          <a:ext cx="2189593" cy="10455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latin typeface="Calibri Light" panose="020F0302020204030204" pitchFamily="34" charset="0"/>
              <a:cs typeface="Calibri Light" panose="020F0302020204030204" pitchFamily="34" charset="0"/>
            </a:rPr>
            <a:t>Parameter renames or reordering</a:t>
          </a:r>
          <a:endParaRPr lang="en-US" sz="2400" b="0" i="0" kern="1200" dirty="0">
            <a:latin typeface="Calibri Light" panose="020F0302020204030204" pitchFamily="34" charset="0"/>
            <a:cs typeface="Calibri Light" panose="020F0302020204030204" pitchFamily="34" charset="0"/>
          </a:endParaRPr>
        </a:p>
      </dsp:txBody>
      <dsp:txXfrm>
        <a:off x="6606154" y="3095416"/>
        <a:ext cx="2128343" cy="984349"/>
      </dsp:txXfrm>
    </dsp:sp>
    <dsp:sp modelId="{49BE12DE-E6E9-614A-8A29-399ADD817FD1}">
      <dsp:nvSpPr>
        <dsp:cNvPr id="0" name=""/>
        <dsp:cNvSpPr/>
      </dsp:nvSpPr>
      <dsp:spPr>
        <a:xfrm>
          <a:off x="8885959" y="2883950"/>
          <a:ext cx="2199968" cy="107563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7ABA92-C8AE-F04D-A035-0C00F2FEA4CA}">
      <dsp:nvSpPr>
        <dsp:cNvPr id="0" name=""/>
        <dsp:cNvSpPr/>
      </dsp:nvSpPr>
      <dsp:spPr>
        <a:xfrm>
          <a:off x="9006796" y="2998744"/>
          <a:ext cx="2199968" cy="107563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latin typeface="Calibri Light" panose="020F0302020204030204" pitchFamily="34" charset="0"/>
              <a:cs typeface="Calibri Light" panose="020F0302020204030204" pitchFamily="34" charset="0"/>
            </a:rPr>
            <a:t>Package/class reshuffling</a:t>
          </a:r>
          <a:endParaRPr lang="en-US" sz="2400" b="0" i="0" kern="1200" dirty="0">
            <a:latin typeface="Calibri Light" panose="020F0302020204030204" pitchFamily="34" charset="0"/>
            <a:cs typeface="Calibri Light" panose="020F0302020204030204" pitchFamily="34" charset="0"/>
          </a:endParaRPr>
        </a:p>
      </dsp:txBody>
      <dsp:txXfrm>
        <a:off x="9038300" y="3030248"/>
        <a:ext cx="2136960" cy="10126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79A25C-FAD0-49C8-8DD9-0DD2904FFD44}">
      <dsp:nvSpPr>
        <dsp:cNvPr id="0" name=""/>
        <dsp:cNvSpPr/>
      </dsp:nvSpPr>
      <dsp:spPr>
        <a:xfrm>
          <a:off x="0" y="2556"/>
          <a:ext cx="6328961" cy="8756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EC65FE-A7E2-4D5E-A675-1D5576DDB3D7}">
      <dsp:nvSpPr>
        <dsp:cNvPr id="0" name=""/>
        <dsp:cNvSpPr/>
      </dsp:nvSpPr>
      <dsp:spPr>
        <a:xfrm>
          <a:off x="264874" y="199569"/>
          <a:ext cx="482059" cy="4815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B13224-11F8-4DAA-8789-19F5F042B415}">
      <dsp:nvSpPr>
        <dsp:cNvPr id="0" name=""/>
        <dsp:cNvSpPr/>
      </dsp:nvSpPr>
      <dsp:spPr>
        <a:xfrm>
          <a:off x="1011808" y="2556"/>
          <a:ext cx="5264001" cy="876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760" tIns="92760" rIns="92760" bIns="92760" numCol="1" spcCol="1270" anchor="ctr" anchorCtr="0">
          <a:noAutofit/>
        </a:bodyPr>
        <a:lstStyle/>
        <a:p>
          <a:pPr marL="0" lvl="0" indent="0" algn="l" defTabSz="1066800">
            <a:lnSpc>
              <a:spcPct val="100000"/>
            </a:lnSpc>
            <a:spcBef>
              <a:spcPct val="0"/>
            </a:spcBef>
            <a:spcAft>
              <a:spcPct val="35000"/>
            </a:spcAft>
            <a:buNone/>
          </a:pPr>
          <a:r>
            <a:rPr lang="en-US" sz="2400" b="0" i="0" kern="1200" baseline="0" dirty="0">
              <a:latin typeface="Calibri Light" panose="020F0302020204030204" pitchFamily="34" charset="0"/>
              <a:cs typeface="Calibri Light" panose="020F0302020204030204" pitchFamily="34" charset="0"/>
            </a:rPr>
            <a:t>Cherry‑pick fails in 64.4% of the 478 patches (overall)</a:t>
          </a:r>
          <a:endParaRPr lang="en-US" sz="2400" b="0" i="0" kern="1200" dirty="0">
            <a:latin typeface="Calibri Light" panose="020F0302020204030204" pitchFamily="34" charset="0"/>
            <a:cs typeface="Calibri Light" panose="020F0302020204030204" pitchFamily="34" charset="0"/>
          </a:endParaRPr>
        </a:p>
      </dsp:txBody>
      <dsp:txXfrm>
        <a:off x="1011808" y="2556"/>
        <a:ext cx="5264001" cy="876472"/>
      </dsp:txXfrm>
    </dsp:sp>
    <dsp:sp modelId="{2CA01719-F2C4-48AF-A1E3-B4745950CAAF}">
      <dsp:nvSpPr>
        <dsp:cNvPr id="0" name=""/>
        <dsp:cNvSpPr/>
      </dsp:nvSpPr>
      <dsp:spPr>
        <a:xfrm>
          <a:off x="0" y="1085257"/>
          <a:ext cx="6328961" cy="8756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92AA4D-0518-45C2-AE55-57CA31680C08}">
      <dsp:nvSpPr>
        <dsp:cNvPr id="0" name=""/>
        <dsp:cNvSpPr/>
      </dsp:nvSpPr>
      <dsp:spPr>
        <a:xfrm>
          <a:off x="264874" y="1282271"/>
          <a:ext cx="482059" cy="48158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78CB21-506B-4005-85F0-02684A9E68CB}">
      <dsp:nvSpPr>
        <dsp:cNvPr id="0" name=""/>
        <dsp:cNvSpPr/>
      </dsp:nvSpPr>
      <dsp:spPr>
        <a:xfrm>
          <a:off x="1011808" y="1085257"/>
          <a:ext cx="5264001" cy="876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760" tIns="92760" rIns="92760" bIns="92760" numCol="1" spcCol="1270" anchor="ctr" anchorCtr="0">
          <a:noAutofit/>
        </a:bodyPr>
        <a:lstStyle/>
        <a:p>
          <a:pPr marL="0" lvl="0" indent="0" algn="l" defTabSz="1066800">
            <a:lnSpc>
              <a:spcPct val="100000"/>
            </a:lnSpc>
            <a:spcBef>
              <a:spcPct val="0"/>
            </a:spcBef>
            <a:spcAft>
              <a:spcPct val="35000"/>
            </a:spcAft>
            <a:buNone/>
          </a:pPr>
          <a:r>
            <a:rPr lang="en-US" sz="2400" b="0" i="0" kern="1200" baseline="0">
              <a:latin typeface="Calibri Light" panose="020F0302020204030204" pitchFamily="34" charset="0"/>
              <a:cs typeface="Calibri Light" panose="020F0302020204030204" pitchFamily="34" charset="0"/>
            </a:rPr>
            <a:t>Median failure rate across targets: 85.7%</a:t>
          </a:r>
          <a:endParaRPr lang="en-US" sz="2400" b="0" i="0" kern="1200">
            <a:latin typeface="Calibri Light" panose="020F0302020204030204" pitchFamily="34" charset="0"/>
            <a:cs typeface="Calibri Light" panose="020F0302020204030204" pitchFamily="34" charset="0"/>
          </a:endParaRPr>
        </a:p>
      </dsp:txBody>
      <dsp:txXfrm>
        <a:off x="1011808" y="1085257"/>
        <a:ext cx="5264001" cy="876472"/>
      </dsp:txXfrm>
    </dsp:sp>
    <dsp:sp modelId="{FD661443-17E5-4D43-B5DE-399DB0576D9D}">
      <dsp:nvSpPr>
        <dsp:cNvPr id="0" name=""/>
        <dsp:cNvSpPr/>
      </dsp:nvSpPr>
      <dsp:spPr>
        <a:xfrm>
          <a:off x="0" y="2167959"/>
          <a:ext cx="6328961" cy="87561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8C04C5-8F9E-4C37-9B8F-558303DD5CCA}">
      <dsp:nvSpPr>
        <dsp:cNvPr id="0" name=""/>
        <dsp:cNvSpPr/>
      </dsp:nvSpPr>
      <dsp:spPr>
        <a:xfrm>
          <a:off x="264874" y="2364972"/>
          <a:ext cx="482059" cy="481589"/>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BFFCEE-0B9D-46DD-A170-6D131156692E}">
      <dsp:nvSpPr>
        <dsp:cNvPr id="0" name=""/>
        <dsp:cNvSpPr/>
      </dsp:nvSpPr>
      <dsp:spPr>
        <a:xfrm>
          <a:off x="1011808" y="2167959"/>
          <a:ext cx="5264001" cy="876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760" tIns="92760" rIns="92760" bIns="92760" numCol="1" spcCol="1270" anchor="ctr" anchorCtr="0">
          <a:noAutofit/>
        </a:bodyPr>
        <a:lstStyle/>
        <a:p>
          <a:pPr marL="0" lvl="0" indent="0" algn="l" defTabSz="1066800">
            <a:lnSpc>
              <a:spcPct val="100000"/>
            </a:lnSpc>
            <a:spcBef>
              <a:spcPct val="0"/>
            </a:spcBef>
            <a:spcAft>
              <a:spcPct val="35000"/>
            </a:spcAft>
            <a:buNone/>
          </a:pPr>
          <a:r>
            <a:rPr lang="en-US" sz="2400" b="0" i="0" kern="1200" baseline="0">
              <a:latin typeface="Calibri Light" panose="020F0302020204030204" pitchFamily="34" charset="0"/>
              <a:cs typeface="Calibri Light" panose="020F0302020204030204" pitchFamily="34" charset="0"/>
            </a:rPr>
            <a:t>Several projects show 94–100% failure under baseline cherry‑pick</a:t>
          </a:r>
          <a:endParaRPr lang="en-US" sz="2400" b="0" i="0" kern="1200">
            <a:latin typeface="Calibri Light" panose="020F0302020204030204" pitchFamily="34" charset="0"/>
            <a:cs typeface="Calibri Light" panose="020F0302020204030204" pitchFamily="34" charset="0"/>
          </a:endParaRPr>
        </a:p>
      </dsp:txBody>
      <dsp:txXfrm>
        <a:off x="1011808" y="2167959"/>
        <a:ext cx="5264001" cy="8764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42ED28-DF58-0844-A8E0-AD2317C1216F}">
      <dsp:nvSpPr>
        <dsp:cNvPr id="0" name=""/>
        <dsp:cNvSpPr/>
      </dsp:nvSpPr>
      <dsp:spPr>
        <a:xfrm>
          <a:off x="5752" y="425661"/>
          <a:ext cx="2177505" cy="17854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039C22-6A2A-8641-865F-0D66910D19DF}">
      <dsp:nvSpPr>
        <dsp:cNvPr id="0" name=""/>
        <dsp:cNvSpPr/>
      </dsp:nvSpPr>
      <dsp:spPr>
        <a:xfrm>
          <a:off x="214004" y="623500"/>
          <a:ext cx="2177505" cy="17854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baseline="0" dirty="0">
              <a:latin typeface="Calibri Light" panose="020F0302020204030204" pitchFamily="34" charset="0"/>
              <a:cs typeface="Calibri Light" panose="020F0302020204030204" pitchFamily="34" charset="0"/>
            </a:rPr>
            <a:t>On previously failing cases (n≈292 after constraints):</a:t>
          </a:r>
          <a:endParaRPr lang="en-US" sz="2200" b="0" i="0" kern="1200" dirty="0">
            <a:latin typeface="Calibri Light" panose="020F0302020204030204" pitchFamily="34" charset="0"/>
            <a:cs typeface="Calibri Light" panose="020F0302020204030204" pitchFamily="34" charset="0"/>
          </a:endParaRPr>
        </a:p>
      </dsp:txBody>
      <dsp:txXfrm>
        <a:off x="266299" y="675795"/>
        <a:ext cx="2072915" cy="1680887"/>
      </dsp:txXfrm>
    </dsp:sp>
    <dsp:sp modelId="{2F4DF706-84ED-0B4B-B031-01C2171FFEF4}">
      <dsp:nvSpPr>
        <dsp:cNvPr id="0" name=""/>
        <dsp:cNvSpPr/>
      </dsp:nvSpPr>
      <dsp:spPr>
        <a:xfrm>
          <a:off x="2599761" y="425661"/>
          <a:ext cx="2433267" cy="176718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487379-C35A-E847-9BF5-805827FA3A42}">
      <dsp:nvSpPr>
        <dsp:cNvPr id="0" name=""/>
        <dsp:cNvSpPr/>
      </dsp:nvSpPr>
      <dsp:spPr>
        <a:xfrm>
          <a:off x="2808013" y="623500"/>
          <a:ext cx="2433267" cy="176718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baseline="0" dirty="0">
              <a:latin typeface="Calibri Light" panose="020F0302020204030204" pitchFamily="34" charset="0"/>
              <a:cs typeface="Calibri Light" panose="020F0302020204030204" pitchFamily="34" charset="0"/>
            </a:rPr>
            <a:t>Reduces file‑level conflicts in 53.1% of cases; increases in 1.4%</a:t>
          </a:r>
          <a:endParaRPr lang="en-US" sz="2200" b="0" i="0" kern="1200" dirty="0">
            <a:latin typeface="Calibri Light" panose="020F0302020204030204" pitchFamily="34" charset="0"/>
            <a:cs typeface="Calibri Light" panose="020F0302020204030204" pitchFamily="34" charset="0"/>
          </a:endParaRPr>
        </a:p>
      </dsp:txBody>
      <dsp:txXfrm>
        <a:off x="2859772" y="675259"/>
        <a:ext cx="2329749" cy="1663667"/>
      </dsp:txXfrm>
    </dsp:sp>
    <dsp:sp modelId="{0BB15B16-F99F-AA46-94D2-C98A3B2EDA65}">
      <dsp:nvSpPr>
        <dsp:cNvPr id="0" name=""/>
        <dsp:cNvSpPr/>
      </dsp:nvSpPr>
      <dsp:spPr>
        <a:xfrm>
          <a:off x="5449532" y="425661"/>
          <a:ext cx="2712346" cy="17489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FB5BF6-7B46-784C-BDB1-AF3F9B6638C6}">
      <dsp:nvSpPr>
        <dsp:cNvPr id="0" name=""/>
        <dsp:cNvSpPr/>
      </dsp:nvSpPr>
      <dsp:spPr>
        <a:xfrm>
          <a:off x="5657784" y="623500"/>
          <a:ext cx="2712346" cy="17489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baseline="0" dirty="0">
              <a:latin typeface="Calibri Light" panose="020F0302020204030204" pitchFamily="34" charset="0"/>
              <a:cs typeface="Calibri Light" panose="020F0302020204030204" pitchFamily="34" charset="0"/>
            </a:rPr>
            <a:t>Reduces line‑level conflicts in 53.8% of cases; increases in 3.4%</a:t>
          </a:r>
          <a:endParaRPr lang="en-US" sz="2200" b="0" i="0" kern="1200" dirty="0">
            <a:latin typeface="Calibri Light" panose="020F0302020204030204" pitchFamily="34" charset="0"/>
            <a:cs typeface="Calibri Light" panose="020F0302020204030204" pitchFamily="34" charset="0"/>
          </a:endParaRPr>
        </a:p>
      </dsp:txBody>
      <dsp:txXfrm>
        <a:off x="5709008" y="674724"/>
        <a:ext cx="2609898" cy="1646456"/>
      </dsp:txXfrm>
    </dsp:sp>
    <dsp:sp modelId="{49D5C668-FDEF-FC4F-99EF-EA43282622EF}">
      <dsp:nvSpPr>
        <dsp:cNvPr id="0" name=""/>
        <dsp:cNvSpPr/>
      </dsp:nvSpPr>
      <dsp:spPr>
        <a:xfrm>
          <a:off x="8578382" y="425661"/>
          <a:ext cx="2314382" cy="17123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75CD1A-E3F8-A64A-B63E-982B1A5675B9}">
      <dsp:nvSpPr>
        <dsp:cNvPr id="0" name=""/>
        <dsp:cNvSpPr/>
      </dsp:nvSpPr>
      <dsp:spPr>
        <a:xfrm>
          <a:off x="8786634" y="623500"/>
          <a:ext cx="2314382" cy="17123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baseline="0" dirty="0">
              <a:latin typeface="Calibri Light" panose="020F0302020204030204" pitchFamily="34" charset="0"/>
              <a:cs typeface="Calibri Light" panose="020F0302020204030204" pitchFamily="34" charset="0"/>
            </a:rPr>
            <a:t>Successfully integrates 52.8% of the previously failing patches</a:t>
          </a:r>
          <a:endParaRPr lang="en-US" sz="2200" b="0" i="0" kern="1200" dirty="0">
            <a:latin typeface="Calibri Light" panose="020F0302020204030204" pitchFamily="34" charset="0"/>
            <a:cs typeface="Calibri Light" panose="020F0302020204030204" pitchFamily="34" charset="0"/>
          </a:endParaRPr>
        </a:p>
      </dsp:txBody>
      <dsp:txXfrm>
        <a:off x="8836786" y="673652"/>
        <a:ext cx="2214078" cy="161201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A12165-9DB0-5E48-A1C1-D6BA30E53AC2}" type="datetimeFigureOut">
              <a:rPr lang="en-BE" smtClean="0"/>
              <a:t>23/09/2026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6ABE97-046E-D34A-B96D-D42C70581A91}" type="slidenum">
              <a:rPr lang="en-BE" smtClean="0"/>
              <a:t>‹#›</a:t>
            </a:fld>
            <a:endParaRPr lang="en-BE"/>
          </a:p>
        </p:txBody>
      </p:sp>
    </p:spTree>
    <p:extLst>
      <p:ext uri="{BB962C8B-B14F-4D97-AF65-F5344CB8AC3E}">
        <p14:creationId xmlns:p14="http://schemas.microsoft.com/office/powerpoint/2010/main" val="960230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is not static. Developers continuously add features, fix bugs, refactor code, and release new versions. Version control gives us a history of that evolution. Each commit is not just a snapshot; it tells us what changed and how the current codebase came to be.
The important point for this lecture is that this history does not always remain a single straight line. Development can branch, and separate lines can begin evolving independently. That takes us to the next slide.
[Sources]
- Course framing based on the instructor-provided Version Control Systems slide.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version-control history does not have to remain linear. At some point, developers may create a branch or a fork. Initially, both lines share the same history and therefore the same code.
After the split, however, developers can make changes independently. Path A may receive one bug fix or refactoring, while Path B receives a different feature or restructuring. The longer they evolve independently, the more their code can diverge.
This is the key transition to the next slide: when these independently evolving lines represent related versions of the same system, we can think of them as software variants. We are especially interested in what happens when a useful change exists in one variant but not in another.
[Sources]
- Course framing based on the instructor-provided Branching/Forking and Software Variants slides.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Using an illustration, let me explain the context of our problem. (the numbers represent the clicks you will be making)</a:t>
            </a:r>
          </a:p>
          <a:p>
            <a:pPr marL="228600" indent="-228600">
              <a:buAutoNum type="arabicPeriod"/>
            </a:pPr>
            <a:r>
              <a:rPr lang="en-BE" dirty="0"/>
              <a:t>Let’s say we have variant1 on Github with three revisions.</a:t>
            </a:r>
          </a:p>
          <a:p>
            <a:pPr marL="228600" indent="-228600">
              <a:buAutoNum type="arabicPeriod"/>
            </a:pPr>
            <a:r>
              <a:rPr lang="en-BE" dirty="0"/>
              <a:t>A different developer sees variant1, and they want to use it as a starting point to build variant2. They fork, and therefore they would inherit all the revisions of variant1.</a:t>
            </a:r>
          </a:p>
          <a:p>
            <a:pPr marL="228600" indent="-228600">
              <a:buAutoNum type="arabicPeriod"/>
            </a:pPr>
            <a:r>
              <a:rPr lang="en-BE" dirty="0"/>
              <a:t>Between the fork_date and the divergence date, the two variants pull from each other updates and synchronize commits. At this point, the two variants are even.</a:t>
            </a:r>
          </a:p>
          <a:p>
            <a:pPr marL="228600" indent="-228600">
              <a:buAutoNum type="arabicPeriod"/>
            </a:pPr>
            <a:r>
              <a:rPr lang="en-BE" dirty="0"/>
              <a:t>Between the divergence_date and the current_date, for some reason, the two variants stop synchronizing commits. Each variant has got commits not present in the other (unique commits)</a:t>
            </a:r>
          </a:p>
          <a:p>
            <a:pPr marL="228600" indent="-228600">
              <a:buAutoNum type="arabicPeriod"/>
            </a:pPr>
            <a:r>
              <a:rPr lang="en-BE" dirty="0"/>
              <a:t>Let us assume that a bug was found at this commit. The developer created a social fork or a bug-fixing-branch, patched the bug, and then integrated the patch back into variant1.</a:t>
            </a:r>
          </a:p>
          <a:p>
            <a:pPr marL="228600" indent="-228600">
              <a:buAutoNum type="arabicPeriod"/>
            </a:pPr>
            <a:r>
              <a:rPr lang="en-BE" dirty="0"/>
              <a:t>At the git_head of the target variant, four scenarios are possible:</a:t>
            </a:r>
          </a:p>
          <a:p>
            <a:pPr marL="685800" lvl="1" indent="-228600">
              <a:buAutoNum type="arabicPeriod"/>
            </a:pPr>
            <a:r>
              <a:rPr lang="en-GB" dirty="0"/>
              <a:t>F</a:t>
            </a:r>
            <a:r>
              <a:rPr lang="en-BE" dirty="0"/>
              <a:t>oo has been patched by the developer in variant2 – effort duplication</a:t>
            </a:r>
          </a:p>
          <a:p>
            <a:pPr marL="685800" lvl="1" indent="-228600">
              <a:buAutoNum type="arabicPeriod"/>
            </a:pPr>
            <a:r>
              <a:rPr lang="en-GB" dirty="0"/>
              <a:t>F</a:t>
            </a:r>
            <a:r>
              <a:rPr lang="en-BE" dirty="0"/>
              <a:t>oo is still buggy  - missed opportunity</a:t>
            </a:r>
          </a:p>
          <a:p>
            <a:pPr marL="685800" lvl="1" indent="-228600">
              <a:buAutoNum type="arabicPeriod"/>
            </a:pPr>
            <a:r>
              <a:rPr lang="en-GB" dirty="0"/>
              <a:t>F</a:t>
            </a:r>
            <a:r>
              <a:rPr lang="en-BE" dirty="0"/>
              <a:t>oo has both buggy and patched lines – split case</a:t>
            </a:r>
          </a:p>
          <a:p>
            <a:pPr marL="685800" lvl="1" indent="-228600">
              <a:buAutoNum type="arabicPeriod"/>
            </a:pPr>
            <a:r>
              <a:rPr lang="en-GB" dirty="0"/>
              <a:t>Foo is changed beyond comparison of V1.foo and V2.foo</a:t>
            </a:r>
            <a:r>
              <a:rPr lang="en-BE" dirty="0"/>
              <a:t> – uninteresting.</a:t>
            </a:r>
          </a:p>
        </p:txBody>
      </p:sp>
      <p:sp>
        <p:nvSpPr>
          <p:cNvPr id="4" name="Slide Number Placeholder 3"/>
          <p:cNvSpPr>
            <a:spLocks noGrp="1"/>
          </p:cNvSpPr>
          <p:nvPr>
            <p:ph type="sldNum" sz="quarter" idx="10"/>
          </p:nvPr>
        </p:nvSpPr>
        <p:spPr/>
        <p:txBody>
          <a:bodyPr/>
          <a:lstStyle/>
          <a:p>
            <a:fld id="{D6877B5D-AAE1-48EB-A531-4EDCDAF5B6E4}" type="slidenum">
              <a:rPr lang="nl-NL" smtClean="0"/>
              <a:t>4</a:t>
            </a:fld>
            <a:endParaRPr lang="nl-NL"/>
          </a:p>
        </p:txBody>
      </p:sp>
    </p:spTree>
    <p:extLst>
      <p:ext uri="{BB962C8B-B14F-4D97-AF65-F5344CB8AC3E}">
        <p14:creationId xmlns:p14="http://schemas.microsoft.com/office/powerpoint/2010/main" val="465290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Let me use a concrete example on GitHub, that we also have in our dataset.</a:t>
            </a:r>
          </a:p>
          <a:p>
            <a:pPr marL="228600" indent="-228600">
              <a:buAutoNum type="arabicPeriod"/>
            </a:pPr>
            <a:r>
              <a:rPr lang="en-BE" dirty="0"/>
              <a:t>The divergent pair apache/kafka and linked/kafka are hosted on Github.  Linked in is a version of kafka running at linked (in fact, this is our most favorite example)</a:t>
            </a:r>
          </a:p>
          <a:p>
            <a:pPr marL="228600" indent="-228600">
              <a:buAutoNum type="arabicPeriod"/>
            </a:pPr>
            <a:r>
              <a:rPr lang="en-US" dirty="0"/>
              <a:t>As you can see, </a:t>
            </a:r>
            <a:r>
              <a:rPr lang="en-US" dirty="0" err="1"/>
              <a:t>linkedin</a:t>
            </a:r>
            <a:r>
              <a:rPr lang="en-US" dirty="0"/>
              <a:t> is a fork of </a:t>
            </a:r>
            <a:r>
              <a:rPr lang="en-US" dirty="0" err="1"/>
              <a:t>apache</a:t>
            </a:r>
            <a:endParaRPr lang="en-US" dirty="0"/>
          </a:p>
          <a:p>
            <a:pPr marL="228600" indent="-228600">
              <a:buAutoNum type="arabicPeriod"/>
            </a:pPr>
            <a:r>
              <a:rPr lang="en-US" dirty="0"/>
              <a:t>Linked in is ahead of </a:t>
            </a:r>
            <a:r>
              <a:rPr lang="en-US" dirty="0" err="1"/>
              <a:t>apache</a:t>
            </a:r>
            <a:r>
              <a:rPr lang="en-US" dirty="0"/>
              <a:t> by 371 commits and behind </a:t>
            </a:r>
            <a:r>
              <a:rPr lang="en-US" dirty="0" err="1"/>
              <a:t>apache</a:t>
            </a:r>
            <a:r>
              <a:rPr lang="en-US" dirty="0"/>
              <a:t> by 1,243. In other words, linked and </a:t>
            </a:r>
            <a:r>
              <a:rPr lang="en-US" dirty="0" err="1"/>
              <a:t>apache</a:t>
            </a:r>
            <a:r>
              <a:rPr lang="en-US" dirty="0"/>
              <a:t> has 371 and 1,243 unique, respectively.</a:t>
            </a:r>
          </a:p>
          <a:p>
            <a:pPr marL="228600" indent="-228600">
              <a:buAutoNum type="arabicPeriod"/>
            </a:pPr>
            <a:r>
              <a:rPr lang="en-US" dirty="0"/>
              <a:t>The variants are pretty very active. Their </a:t>
            </a:r>
            <a:r>
              <a:rPr lang="en-US" dirty="0" err="1"/>
              <a:t>git_head</a:t>
            </a:r>
            <a:r>
              <a:rPr lang="en-US" dirty="0"/>
              <a:t> commits were med 3 days and 4 hours ago, respectively. </a:t>
            </a:r>
            <a:endParaRPr lang="en-BE" dirty="0"/>
          </a:p>
        </p:txBody>
      </p:sp>
      <p:sp>
        <p:nvSpPr>
          <p:cNvPr id="4" name="Slide Number Placeholder 3"/>
          <p:cNvSpPr>
            <a:spLocks noGrp="1"/>
          </p:cNvSpPr>
          <p:nvPr>
            <p:ph type="sldNum" sz="quarter" idx="5"/>
          </p:nvPr>
        </p:nvSpPr>
        <p:spPr/>
        <p:txBody>
          <a:bodyPr/>
          <a:lstStyle/>
          <a:p>
            <a:fld id="{C6D8BF64-0326-BE4A-AB72-A48A49249BDA}" type="slidenum">
              <a:rPr lang="en-BE" smtClean="0"/>
              <a:t>5</a:t>
            </a:fld>
            <a:endParaRPr lang="en-BE"/>
          </a:p>
        </p:txBody>
      </p:sp>
    </p:spTree>
    <p:extLst>
      <p:ext uri="{BB962C8B-B14F-4D97-AF65-F5344CB8AC3E}">
        <p14:creationId xmlns:p14="http://schemas.microsoft.com/office/powerpoint/2010/main" val="231723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a:t>
            </a:r>
            <a:r>
              <a:rPr lang="en-US" baseline="0" dirty="0"/>
              <a:t> MO from </a:t>
            </a:r>
            <a:r>
              <a:rPr lang="en-US" baseline="0" dirty="0" err="1"/>
              <a:t>kafka</a:t>
            </a:r>
            <a:endParaRPr lang="nl-NL" dirty="0"/>
          </a:p>
        </p:txBody>
      </p:sp>
      <p:sp>
        <p:nvSpPr>
          <p:cNvPr id="4" name="Slide Number Placeholder 3"/>
          <p:cNvSpPr>
            <a:spLocks noGrp="1"/>
          </p:cNvSpPr>
          <p:nvPr>
            <p:ph type="sldNum" sz="quarter" idx="10"/>
          </p:nvPr>
        </p:nvSpPr>
        <p:spPr/>
        <p:txBody>
          <a:bodyPr/>
          <a:lstStyle/>
          <a:p>
            <a:fld id="{D6877B5D-AAE1-48EB-A531-4EDCDAF5B6E4}" type="slidenum">
              <a:rPr lang="nl-NL" smtClean="0"/>
              <a:t>6</a:t>
            </a:fld>
            <a:endParaRPr lang="nl-NL"/>
          </a:p>
        </p:txBody>
      </p:sp>
    </p:spTree>
    <p:extLst>
      <p:ext uri="{BB962C8B-B14F-4D97-AF65-F5344CB8AC3E}">
        <p14:creationId xmlns:p14="http://schemas.microsoft.com/office/powerpoint/2010/main" val="3016020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6ABE97-046E-D34A-B96D-D42C70581A91}" type="slidenum">
              <a:rPr lang="en-BE" smtClean="0"/>
              <a:t>7</a:t>
            </a:fld>
            <a:endParaRPr lang="en-BE"/>
          </a:p>
        </p:txBody>
      </p:sp>
    </p:spTree>
    <p:extLst>
      <p:ext uri="{BB962C8B-B14F-4D97-AF65-F5344CB8AC3E}">
        <p14:creationId xmlns:p14="http://schemas.microsoft.com/office/powerpoint/2010/main" val="300272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fbf074ffb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1" name="Google Shape;441;g3fbf074ffb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g3fbf074ffb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earlier example, the missed opportunity was small enough that we could recognize it with our own eyes. But the complex example shows why that does not scale. A real patch may contain multiple hunks, many changed lines, and potentially changes across several files. Manually searching a divergent variant for the corresponding code becomes difficult.
This is one of the problems we have been working on in my research lab. We started with PaReco, which identifies missed patching opportunities between divergent variants. We then developed GACPD to generalize MO detection across programming languages and more complex code changes. Detection alone is not enough, however. Once an MO is identified, a developer still needs to understand the evidence. That motivated MOVis, which visualizes the patch and the corresponding code in the divergent variant.
Let me show you what that looks like.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slide where I show MOVis after explaining that simple missed opportunities can be identified with our eyes, but complex cases become difficult.
Start by telling students that detection is only the first step. A tool may tell us that a patch looks missing, duplicated, or partially present, but a developer still needs to inspect the evidence.
Walk through the screen in three passes. First, point to the context area at the top: the classification, PR number, PR title, and result files. Second, point to the left pane: this is the patch hunk from the source or upstream side. Third, point to the right pane: this is the corresponding code in the divergent fork.
Emphasize that MOVis is useful when the case has many hunks or files. Instead of manually jumping between GitHub, diff files, and target repository files, the tool organizes the evidence side by side.
Transition to the demo or discussion by saying: Now we can use this view to reason about whether the patch is really missing, already duplicated, or only partially integrated.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two variants that start in sync, then split at a divergence point. After that, each evolves on its own. A developer fixes a bug in </a:t>
            </a:r>
            <a:r>
              <a:rPr lang="en-US" sz="1200" kern="1200" dirty="0" err="1">
                <a:solidFill>
                  <a:schemeClr val="tx1"/>
                </a:solidFill>
                <a:latin typeface="+mn-lt"/>
                <a:ea typeface="+mn-ea"/>
                <a:cs typeface="+mn-cs"/>
              </a:rPr>
              <a:t>Foo.java</a:t>
            </a:r>
            <a:r>
              <a:rPr lang="en-US" dirty="0"/>
              <a:t> on the source side—very likely the same bug exists in the target—but there’s no direct way to transfer that fix. In practice, we try </a:t>
            </a:r>
            <a:r>
              <a:rPr lang="en-US" sz="1200" kern="1200" dirty="0">
                <a:solidFill>
                  <a:schemeClr val="tx1"/>
                </a:solidFill>
                <a:latin typeface="+mn-lt"/>
                <a:ea typeface="+mn-ea"/>
                <a:cs typeface="+mn-cs"/>
              </a:rPr>
              <a:t>git cherry-pick</a:t>
            </a:r>
            <a:r>
              <a:rPr lang="en-US" dirty="0"/>
              <a:t> onto the target’s </a:t>
            </a:r>
            <a:r>
              <a:rPr lang="en-US" sz="1200" kern="1200" dirty="0" err="1">
                <a:solidFill>
                  <a:schemeClr val="tx1"/>
                </a:solidFill>
                <a:latin typeface="+mn-lt"/>
                <a:ea typeface="+mn-ea"/>
                <a:cs typeface="+mn-cs"/>
              </a:rPr>
              <a:t>git_head</a:t>
            </a:r>
            <a:r>
              <a:rPr lang="en-US" dirty="0"/>
              <a:t>. That works only when the change is purely textual. It breaks the moment the target has refactorings or even small independent edits—like renamed methods, moved classes, or tweaked signatures—because the patch’s assumptions no longer hold. The punchline: success depends on structural consistency between the source’s merge commit and the target’s current state.”</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Figure 1 shows patch integration between two variants that initially share a synchronized history but diverge at a specific point (</a:t>
            </a:r>
            <a:r>
              <a:rPr lang="en-US" sz="1200" kern="1200" dirty="0" err="1">
                <a:solidFill>
                  <a:schemeClr val="tx1"/>
                </a:solidFill>
                <a:effectLst/>
                <a:latin typeface="+mn-lt"/>
                <a:ea typeface="+mn-ea"/>
                <a:cs typeface="+mn-cs"/>
              </a:rPr>
              <a:t>divergence_date</a:t>
            </a:r>
            <a:r>
              <a:rPr lang="en-US" sz="1200" kern="1200" dirty="0">
                <a:solidFill>
                  <a:schemeClr val="tx1"/>
                </a:solidFill>
                <a:effectLst/>
                <a:latin typeface="+mn-lt"/>
                <a:ea typeface="+mn-ea"/>
                <a:cs typeface="+mn-cs"/>
              </a:rPr>
              <a:t>). After this point, both </a:t>
            </a:r>
            <a:r>
              <a:rPr lang="en-US" sz="1200" kern="1200" dirty="0" err="1">
                <a:solidFill>
                  <a:schemeClr val="tx1"/>
                </a:solidFill>
                <a:effectLst/>
                <a:latin typeface="+mn-lt"/>
                <a:ea typeface="+mn-ea"/>
                <a:cs typeface="+mn-cs"/>
              </a:rPr>
              <a:t>vari</a:t>
            </a:r>
            <a:r>
              <a:rPr lang="en-US" sz="1200" kern="1200" dirty="0">
                <a:solidFill>
                  <a:schemeClr val="tx1"/>
                </a:solidFill>
                <a:effectLst/>
                <a:latin typeface="+mn-lt"/>
                <a:ea typeface="+mn-ea"/>
                <a:cs typeface="+mn-cs"/>
              </a:rPr>
              <a:t>- ants evolve independently and no longer share synchronized commits. Suppose a developer identifies and fixes a bug in </a:t>
            </a:r>
            <a:r>
              <a:rPr lang="en-US" sz="1200" kern="1200" dirty="0" err="1">
                <a:solidFill>
                  <a:schemeClr val="tx1"/>
                </a:solidFill>
                <a:effectLst/>
                <a:latin typeface="+mn-lt"/>
                <a:ea typeface="+mn-ea"/>
                <a:cs typeface="+mn-cs"/>
              </a:rPr>
              <a:t>Foo.java</a:t>
            </a:r>
            <a:r>
              <a:rPr lang="en-US" sz="1200" kern="1200" dirty="0">
                <a:solidFill>
                  <a:schemeClr val="tx1"/>
                </a:solidFill>
                <a:effectLst/>
                <a:latin typeface="+mn-lt"/>
                <a:ea typeface="+mn-ea"/>
                <a:cs typeface="+mn-cs"/>
              </a:rPr>
              <a:t>, a file present in both source and target variants, by submitting a pull request in the source repository. Although the same bug likely exists in the target variant, there is no direct mechanism to transfer the patch. Developers often use Git’s cherry-pick to apply the source commit to the target’s </a:t>
            </a:r>
            <a:r>
              <a:rPr lang="en-US" sz="1200" kern="1200" dirty="0" err="1">
                <a:solidFill>
                  <a:schemeClr val="tx1"/>
                </a:solidFill>
                <a:effectLst/>
                <a:latin typeface="+mn-lt"/>
                <a:ea typeface="+mn-ea"/>
                <a:cs typeface="+mn-cs"/>
              </a:rPr>
              <a:t>git_head</a:t>
            </a:r>
            <a:r>
              <a:rPr lang="en-US" sz="1200" kern="1200" dirty="0">
                <a:solidFill>
                  <a:schemeClr val="tx1"/>
                </a:solidFill>
                <a:effectLst/>
                <a:latin typeface="+mn-lt"/>
                <a:ea typeface="+mn-ea"/>
                <a:cs typeface="+mn-cs"/>
              </a:rPr>
              <a:t>, with two possible outcomes: </a:t>
            </a:r>
            <a:endParaRPr lang="en-US" dirty="0">
              <a:effectLst/>
            </a:endParaRPr>
          </a:p>
          <a:p>
            <a:pPr lvl="1"/>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The patch applies cleanly if the change involves simple textual edits. </a:t>
            </a:r>
            <a:endParaRPr lang="en-US" dirty="0">
              <a:effectLst/>
            </a:endParaRPr>
          </a:p>
          <a:p>
            <a:pPr lvl="1"/>
            <a:r>
              <a:rPr lang="en-US" sz="1200" kern="1200" dirty="0">
                <a:solidFill>
                  <a:schemeClr val="tx1"/>
                </a:solidFill>
                <a:effectLst/>
                <a:latin typeface="+mn-lt"/>
                <a:ea typeface="+mn-ea"/>
                <a:cs typeface="+mn-cs"/>
              </a:rPr>
              <a:t>(ii)  The patch fails if structural changes in the target, such as refactorings or reorganizations, conflict with the </a:t>
            </a:r>
            <a:r>
              <a:rPr lang="en-US" sz="1200" kern="1200" dirty="0" err="1">
                <a:solidFill>
                  <a:schemeClr val="tx1"/>
                </a:solidFill>
                <a:effectLst/>
                <a:latin typeface="+mn-lt"/>
                <a:ea typeface="+mn-ea"/>
                <a:cs typeface="+mn-cs"/>
              </a:rPr>
              <a:t>assump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tions</a:t>
            </a:r>
            <a:r>
              <a:rPr lang="en-US" sz="1200" kern="1200" dirty="0">
                <a:solidFill>
                  <a:schemeClr val="tx1"/>
                </a:solidFill>
                <a:effectLst/>
                <a:latin typeface="+mn-lt"/>
                <a:ea typeface="+mn-ea"/>
                <a:cs typeface="+mn-cs"/>
              </a:rPr>
              <a:t> of the patch. </a:t>
            </a:r>
            <a:endParaRPr lang="en-US" dirty="0">
              <a:effectLst/>
            </a:endParaRPr>
          </a:p>
          <a:p>
            <a:r>
              <a:rPr lang="en-US" sz="1200" kern="1200" dirty="0">
                <a:solidFill>
                  <a:schemeClr val="tx1"/>
                </a:solidFill>
                <a:effectLst/>
                <a:latin typeface="+mn-lt"/>
                <a:ea typeface="+mn-ea"/>
                <a:cs typeface="+mn-cs"/>
              </a:rPr>
              <a:t>Even small independent edits can cause patch failures due to mismatches in method signatures, class structures, or identifier names.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CAA83D12-F41A-4044-A881-14FE50F70EBD}" type="slidenum">
              <a:rPr lang="en-US" smtClean="0"/>
              <a:t>11</a:t>
            </a:fld>
            <a:endParaRPr lang="en-US"/>
          </a:p>
        </p:txBody>
      </p:sp>
    </p:spTree>
    <p:extLst>
      <p:ext uri="{BB962C8B-B14F-4D97-AF65-F5344CB8AC3E}">
        <p14:creationId xmlns:p14="http://schemas.microsoft.com/office/powerpoint/2010/main" val="616847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a:t>
            </a:r>
            <a:r>
              <a:rPr lang="en-US" dirty="0"/>
              <a:t> We phrase as variant‑to‑variant </a:t>
            </a:r>
            <a:r>
              <a:rPr lang="en-US" i="1" dirty="0"/>
              <a:t>asymmetric</a:t>
            </a:r>
            <a:r>
              <a:rPr lang="en-US" dirty="0"/>
              <a:t> patch transfer…..</a:t>
            </a:r>
          </a:p>
          <a:p>
            <a:endParaRPr lang="en-US" dirty="0"/>
          </a:p>
          <a:p>
            <a:endParaRPr lang="en-US" dirty="0"/>
          </a:p>
          <a:p>
            <a:r>
              <a:rPr lang="en-US" dirty="0"/>
              <a:t>Structural and semantic divergence poses a major barrier</a:t>
            </a:r>
          </a:p>
          <a:p>
            <a:r>
              <a:rPr lang="en-US" dirty="0"/>
              <a:t>to patch propagation. As variants undergo refactoring, such</a:t>
            </a:r>
          </a:p>
          <a:p>
            <a:r>
              <a:rPr lang="en-US" dirty="0"/>
              <a:t>as method renaming, class movement, or interface </a:t>
            </a:r>
            <a:r>
              <a:rPr lang="en-US" dirty="0" err="1"/>
              <a:t>modifica</a:t>
            </a:r>
            <a:r>
              <a:rPr lang="en-US" dirty="0"/>
              <a:t>-</a:t>
            </a:r>
          </a:p>
          <a:p>
            <a:r>
              <a:rPr lang="en-US" dirty="0" err="1"/>
              <a:t>tion</a:t>
            </a:r>
            <a:r>
              <a:rPr lang="en-US" dirty="0"/>
              <a:t> [14]–[16], syntactic similarity with the source </a:t>
            </a:r>
            <a:r>
              <a:rPr lang="en-US" dirty="0" err="1"/>
              <a:t>deterio</a:t>
            </a:r>
            <a:r>
              <a:rPr lang="en-US" dirty="0"/>
              <a:t>-</a:t>
            </a:r>
          </a:p>
          <a:p>
            <a:r>
              <a:rPr lang="en-US" dirty="0"/>
              <a:t>rates. Tools like Git cherry-pick, which rely on textual</a:t>
            </a:r>
          </a:p>
          <a:p>
            <a:r>
              <a:rPr lang="en-US" dirty="0"/>
              <a:t>alignment, often fail when entities have been reorganized or</a:t>
            </a:r>
          </a:p>
          <a:p>
            <a:r>
              <a:rPr lang="en-US" dirty="0"/>
              <a:t>renamed [15], [16].</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structural and semantic divergence over time complicates the reuse of upstream patches such as bug fixes or enhancements.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Tools like Git cherry-pick, which rely on textual alignment, often fail when entities have been reorganized or renamed </a:t>
            </a:r>
            <a:endParaRPr lang="en-US" dirty="0"/>
          </a:p>
          <a:p>
            <a:endParaRPr lang="en-US" dirty="0"/>
          </a:p>
        </p:txBody>
      </p:sp>
      <p:sp>
        <p:nvSpPr>
          <p:cNvPr id="4" name="Slide Number Placeholder 3"/>
          <p:cNvSpPr>
            <a:spLocks noGrp="1"/>
          </p:cNvSpPr>
          <p:nvPr>
            <p:ph type="sldNum" sz="quarter" idx="5"/>
          </p:nvPr>
        </p:nvSpPr>
        <p:spPr/>
        <p:txBody>
          <a:bodyPr/>
          <a:lstStyle/>
          <a:p>
            <a:fld id="{CAA83D12-F41A-4044-A881-14FE50F70EBD}" type="slidenum">
              <a:rPr lang="en-US" smtClean="0"/>
              <a:t>12</a:t>
            </a:fld>
            <a:endParaRPr lang="en-US"/>
          </a:p>
        </p:txBody>
      </p:sp>
    </p:spTree>
    <p:extLst>
      <p:ext uri="{BB962C8B-B14F-4D97-AF65-F5344CB8AC3E}">
        <p14:creationId xmlns:p14="http://schemas.microsoft.com/office/powerpoint/2010/main" val="3694727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3D7B6-6AFE-E927-A9FF-08AA2D875D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266B83-FBA2-E546-F79C-07EB7788A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CC6D2C-2FF0-18A9-9FEE-41A934C3CB88}"/>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E" dirty="0"/>
              <a:t>Let us look at a concrete example of how structural drift can create a merge conflict. Alice and Bob begin with the same codebase. After the variants diverge, they independently modify the same code.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E" dirty="0"/>
              <a:t>On Alice's side, she performs a refactoring. She </a:t>
            </a:r>
            <a:r>
              <a:rPr lang="en-BE" b="1" dirty="0"/>
              <a:t>moves </a:t>
            </a:r>
            <a:r>
              <a:rPr lang="en-BE" sz="1200" b="1" kern="1200" dirty="0">
                <a:solidFill>
                  <a:schemeClr val="tx1"/>
                </a:solidFill>
                <a:latin typeface="+mn-lt"/>
                <a:ea typeface="+mn-ea"/>
                <a:cs typeface="+mn-cs"/>
              </a:rPr>
              <a:t>foo()</a:t>
            </a:r>
            <a:r>
              <a:rPr lang="en-BE" b="1" dirty="0"/>
              <a:t> from </a:t>
            </a:r>
            <a:r>
              <a:rPr lang="en-BE" sz="1200" b="1" kern="1200" dirty="0">
                <a:solidFill>
                  <a:schemeClr val="tx1"/>
                </a:solidFill>
                <a:latin typeface="+mn-lt"/>
                <a:ea typeface="+mn-ea"/>
                <a:cs typeface="+mn-cs"/>
              </a:rPr>
              <a:t>Foo.java</a:t>
            </a:r>
            <a:r>
              <a:rPr lang="en-BE" b="1" dirty="0"/>
              <a:t> to </a:t>
            </a:r>
            <a:r>
              <a:rPr lang="en-BE" sz="1200" b="1" kern="1200" dirty="0">
                <a:solidFill>
                  <a:schemeClr val="tx1"/>
                </a:solidFill>
                <a:latin typeface="+mn-lt"/>
                <a:ea typeface="+mn-ea"/>
                <a:cs typeface="+mn-cs"/>
              </a:rPr>
              <a:t>FooHelper.java</a:t>
            </a:r>
            <a:r>
              <a:rPr lang="en-BE" dirty="0"/>
              <a:t>. Notice that the behavior has not necessarily changed. The code has simply been reorganized.</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E" dirty="0"/>
              <a:t>Meanwhile, on Bob's side, Bob modifies </a:t>
            </a:r>
            <a:r>
              <a:rPr lang="en-BE" sz="1200" kern="1200" dirty="0">
                <a:solidFill>
                  <a:schemeClr val="tx1"/>
                </a:solidFill>
                <a:latin typeface="+mn-lt"/>
                <a:ea typeface="+mn-ea"/>
                <a:cs typeface="+mn-cs"/>
              </a:rPr>
              <a:t>foo()</a:t>
            </a:r>
            <a:r>
              <a:rPr lang="en-BE" dirty="0"/>
              <a:t> in its original location in </a:t>
            </a:r>
            <a:r>
              <a:rPr lang="en-BE" sz="1200" kern="1200" dirty="0">
                <a:solidFill>
                  <a:schemeClr val="tx1"/>
                </a:solidFill>
                <a:latin typeface="+mn-lt"/>
                <a:ea typeface="+mn-ea"/>
                <a:cs typeface="+mn-cs"/>
              </a:rPr>
              <a:t>Foo.java</a:t>
            </a:r>
            <a:r>
              <a:rPr lang="en-BE" dirty="0"/>
              <a:t>. In this example, he adds the line </a:t>
            </a:r>
            <a:r>
              <a:rPr lang="en-BE" sz="1200" kern="1200" dirty="0">
                <a:solidFill>
                  <a:schemeClr val="tx1"/>
                </a:solidFill>
                <a:latin typeface="+mn-lt"/>
                <a:ea typeface="+mn-ea"/>
                <a:cs typeface="+mn-cs"/>
              </a:rPr>
              <a:t>x += 2</a:t>
            </a:r>
            <a:r>
              <a:rPr lang="en-BE" dirty="0"/>
              <a: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E" dirty="0"/>
              <a:t>Now suppose we want to bring Bob's change into Alice's variant. We try to cherry-pick the change.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E" dirty="0"/>
              <a:t>Git sees a problem. Bob's patch says: modify </a:t>
            </a:r>
            <a:r>
              <a:rPr lang="en-BE" sz="1200" kern="1200" dirty="0">
                <a:solidFill>
                  <a:schemeClr val="tx1"/>
                </a:solidFill>
                <a:latin typeface="+mn-lt"/>
                <a:ea typeface="+mn-ea"/>
                <a:cs typeface="+mn-cs"/>
              </a:rPr>
              <a:t>foo()</a:t>
            </a:r>
            <a:r>
              <a:rPr lang="en-BE" dirty="0"/>
              <a:t> in </a:t>
            </a:r>
            <a:r>
              <a:rPr lang="en-BE" sz="1200" kern="1200" dirty="0">
                <a:solidFill>
                  <a:schemeClr val="tx1"/>
                </a:solidFill>
                <a:latin typeface="+mn-lt"/>
                <a:ea typeface="+mn-ea"/>
                <a:cs typeface="+mn-cs"/>
              </a:rPr>
              <a:t>Foo.java</a:t>
            </a:r>
            <a:r>
              <a:rPr lang="en-BE" dirty="0"/>
              <a:t>. But in Alice's version, </a:t>
            </a:r>
            <a:r>
              <a:rPr lang="en-BE" sz="1200" kern="1200" dirty="0">
                <a:solidFill>
                  <a:schemeClr val="tx1"/>
                </a:solidFill>
                <a:latin typeface="+mn-lt"/>
                <a:ea typeface="+mn-ea"/>
                <a:cs typeface="+mn-cs"/>
              </a:rPr>
              <a:t>foo()</a:t>
            </a:r>
            <a:r>
              <a:rPr lang="en-BE" dirty="0"/>
              <a:t> is no longer there. From Git's textual perspective, Alice deleted the method while Bob modified it. So Git reports a merge conflict.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E" dirty="0"/>
              <a:t>But look at what actually happened. This is not necessarily a difficult semantic conflict. Alice </a:t>
            </a:r>
            <a:r>
              <a:rPr lang="en-BE" b="1" dirty="0"/>
              <a:t>moved</a:t>
            </a:r>
            <a:r>
              <a:rPr lang="en-BE" dirty="0"/>
              <a:t> the method, while Bob </a:t>
            </a:r>
            <a:r>
              <a:rPr lang="en-BE" b="1" dirty="0"/>
              <a:t>modified</a:t>
            </a:r>
            <a:r>
              <a:rPr lang="en-BE" dirty="0"/>
              <a:t> it. If we understand the refactoring, the resolution is straightforward: apply Bob's change to </a:t>
            </a:r>
            <a:r>
              <a:rPr lang="en-BE" sz="1200" kern="1200" dirty="0">
                <a:solidFill>
                  <a:schemeClr val="tx1"/>
                </a:solidFill>
                <a:latin typeface="+mn-lt"/>
                <a:ea typeface="+mn-ea"/>
                <a:cs typeface="+mn-cs"/>
              </a:rPr>
              <a:t>foo()</a:t>
            </a:r>
            <a:r>
              <a:rPr lang="en-BE" dirty="0"/>
              <a:t> in its new location, </a:t>
            </a:r>
            <a:r>
              <a:rPr lang="en-BE" sz="1200" kern="1200" dirty="0">
                <a:solidFill>
                  <a:schemeClr val="tx1"/>
                </a:solidFill>
                <a:latin typeface="+mn-lt"/>
                <a:ea typeface="+mn-ea"/>
                <a:cs typeface="+mn-cs"/>
              </a:rPr>
              <a:t>FooHelper.java</a:t>
            </a:r>
            <a:r>
              <a:rPr lang="en-BE" dirty="0"/>
              <a:t>.</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BE" dirty="0"/>
              <a:t>This illustrates an important limitation of traditional textual integration. </a:t>
            </a:r>
            <a:r>
              <a:rPr lang="en-BE" b="1" dirty="0"/>
              <a:t>The conflict may look complex textually, even when the underlying change is conceptually simple.</a:t>
            </a:r>
            <a:endParaRPr lang="en-US" b="1" dirty="0">
              <a:effectLst/>
            </a:endParaRPr>
          </a:p>
          <a:p>
            <a:endParaRPr lang="en-US" dirty="0"/>
          </a:p>
          <a:p>
            <a:r>
              <a:rPr lang="en-BE" b="1" dirty="0"/>
              <a:t>So, what if our integration tool could recognize the refactoring before trying to apply the patch?</a:t>
            </a:r>
            <a:endParaRPr lang="en-US" b="1" dirty="0"/>
          </a:p>
        </p:txBody>
      </p:sp>
      <p:sp>
        <p:nvSpPr>
          <p:cNvPr id="4" name="Slide Number Placeholder 3">
            <a:extLst>
              <a:ext uri="{FF2B5EF4-FFF2-40B4-BE49-F238E27FC236}">
                <a16:creationId xmlns:a16="http://schemas.microsoft.com/office/drawing/2014/main" id="{A8B945EB-1CCC-CAB7-03DC-DD12C88E614A}"/>
              </a:ext>
            </a:extLst>
          </p:cNvPr>
          <p:cNvSpPr>
            <a:spLocks noGrp="1"/>
          </p:cNvSpPr>
          <p:nvPr>
            <p:ph type="sldNum" sz="quarter" idx="5"/>
          </p:nvPr>
        </p:nvSpPr>
        <p:spPr/>
        <p:txBody>
          <a:bodyPr/>
          <a:lstStyle/>
          <a:p>
            <a:fld id="{CAA83D12-F41A-4044-A881-14FE50F70EBD}" type="slidenum">
              <a:rPr lang="en-US" smtClean="0"/>
              <a:t>13</a:t>
            </a:fld>
            <a:endParaRPr lang="en-US"/>
          </a:p>
        </p:txBody>
      </p:sp>
    </p:spTree>
    <p:extLst>
      <p:ext uri="{BB962C8B-B14F-4D97-AF65-F5344CB8AC3E}">
        <p14:creationId xmlns:p14="http://schemas.microsoft.com/office/powerpoint/2010/main" val="4268964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example, Git reported a conflict because it could not see that Alice had moved foo() from Foo.java to FooHelper.java. A refactoring-aware approach adds structural knowledge to the integration process.
First, locate the region where the patch fails to apply. Second, trace the evolution of that code in the source and target variants using their commit histories. Third, detect refactorings such as Move Method, Rename Method, Extract Method, or Inline Method. Finally, connect the detected refactoring to the conflict. If we know that foo() was moved rather than deleted, we can understand where Bob's modification should be applied.
The key idea is that the conflict may be textual, while the cause is structural.
Animation suggestion: reveal the four cards one at a time from left to right. Keep each card's icon and text together as one animation.
[Sources]
- User-provided course slides and examples in the current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a:t>
            </a:r>
            <a:r>
              <a:rPr lang="en-US" b="1" dirty="0" err="1"/>
              <a:t>PaReco</a:t>
            </a:r>
            <a:r>
              <a:rPr lang="en-US" dirty="0"/>
              <a:t> variant‑pair corpus; re‑filter to </a:t>
            </a:r>
            <a:r>
              <a:rPr lang="en-US" b="1" dirty="0"/>
              <a:t>active as of May 15, 2025</a:t>
            </a:r>
            <a:r>
              <a:rPr lang="en-US" dirty="0"/>
              <a:t>.</a:t>
            </a:r>
          </a:p>
          <a:p>
            <a:r>
              <a:rPr lang="en-US" dirty="0"/>
              <a:t>Focus on </a:t>
            </a:r>
            <a:r>
              <a:rPr lang="en-US" b="1" dirty="0"/>
              <a:t>Java</a:t>
            </a:r>
            <a:r>
              <a:rPr lang="en-US" dirty="0"/>
              <a:t> to leverage refactoring tooling.</a:t>
            </a:r>
          </a:p>
          <a:p>
            <a:r>
              <a:rPr lang="en-US" b="1" dirty="0"/>
              <a:t>14 divergent variant pairs</a:t>
            </a:r>
            <a:r>
              <a:rPr lang="en-US" dirty="0"/>
              <a:t>, </a:t>
            </a:r>
            <a:r>
              <a:rPr lang="en-US" b="1" dirty="0"/>
              <a:t>478 bug‑fix PRs</a:t>
            </a:r>
            <a:r>
              <a:rPr lang="en-US" dirty="0"/>
              <a:t> (merge commits) as integration units.</a:t>
            </a:r>
          </a:p>
          <a:p>
            <a:r>
              <a:rPr lang="en-US" b="1" dirty="0"/>
              <a:t>Notes:</a:t>
            </a:r>
            <a:r>
              <a:rPr lang="en-US" dirty="0"/>
              <a:t> Clarify "Missed Opportunities" = bug‑fix present in source, absent/partial in target.</a:t>
            </a:r>
          </a:p>
          <a:p>
            <a:endParaRPr lang="en-US" dirty="0"/>
          </a:p>
          <a:p>
            <a:r>
              <a:rPr lang="en-US" dirty="0"/>
              <a:t>A </a:t>
            </a:r>
            <a:r>
              <a:rPr lang="en-US" b="1" dirty="0"/>
              <a:t>refactoring‑aware</a:t>
            </a:r>
            <a:r>
              <a:rPr lang="en-US" dirty="0"/>
              <a:t> patch integration system for </a:t>
            </a:r>
            <a:r>
              <a:rPr lang="en-US" b="1" dirty="0"/>
              <a:t>asymmetric</a:t>
            </a:r>
            <a:r>
              <a:rPr lang="en-US" dirty="0"/>
              <a:t> (cross‑fork) settings.</a:t>
            </a:r>
          </a:p>
          <a:p>
            <a:r>
              <a:rPr lang="en-US" dirty="0"/>
              <a:t>Extends </a:t>
            </a:r>
            <a:r>
              <a:rPr lang="en-US" b="1" dirty="0" err="1"/>
              <a:t>RefMerge</a:t>
            </a:r>
            <a:r>
              <a:rPr lang="en-US" dirty="0"/>
              <a:t> ideas to </a:t>
            </a:r>
            <a:r>
              <a:rPr lang="en-US" b="1" dirty="0"/>
              <a:t>commit‑level</a:t>
            </a:r>
            <a:r>
              <a:rPr lang="en-US" dirty="0"/>
              <a:t> patch transfer.</a:t>
            </a:r>
          </a:p>
          <a:p>
            <a:r>
              <a:rPr lang="en-US" dirty="0"/>
              <a:t>Integrates with </a:t>
            </a:r>
            <a:r>
              <a:rPr lang="en-US" b="1" dirty="0" err="1"/>
              <a:t>RefactoringMiner</a:t>
            </a:r>
            <a:r>
              <a:rPr lang="en-US" dirty="0"/>
              <a:t> for detection; uses a </a:t>
            </a:r>
            <a:r>
              <a:rPr lang="en-US" b="1" dirty="0"/>
              <a:t>conflict matrix</a:t>
            </a:r>
            <a:r>
              <a:rPr lang="en-US" dirty="0"/>
              <a:t> to order transformations.</a:t>
            </a:r>
          </a:p>
          <a:p>
            <a:endParaRPr lang="en-US" dirty="0"/>
          </a:p>
          <a:p>
            <a:r>
              <a:rPr lang="en-US" dirty="0"/>
              <a:t>1. Identify Missed Opportunities (</a:t>
            </a:r>
            <a:r>
              <a:rPr lang="en-US" dirty="0" err="1"/>
              <a:t>PaReco</a:t>
            </a:r>
            <a:r>
              <a:rPr lang="en-US" dirty="0"/>
              <a:t>).</a:t>
            </a:r>
          </a:p>
          <a:p>
            <a:r>
              <a:rPr lang="en-US" dirty="0"/>
              <a:t>2. Link repos &amp; cherry‑pick the merge commit (baseline).</a:t>
            </a:r>
          </a:p>
          <a:p>
            <a:r>
              <a:rPr lang="en-US" dirty="0"/>
              <a:t>3. Detect </a:t>
            </a:r>
            <a:r>
              <a:rPr lang="en-US" b="1" dirty="0"/>
              <a:t>refactorings</a:t>
            </a:r>
            <a:r>
              <a:rPr lang="en-US" dirty="0"/>
              <a:t> in source &amp; target.</a:t>
            </a:r>
          </a:p>
          <a:p>
            <a:r>
              <a:rPr lang="en-US" b="1" dirty="0"/>
              <a:t>4. Invert</a:t>
            </a:r>
            <a:r>
              <a:rPr lang="en-US" dirty="0"/>
              <a:t> refactorings to re‑align context.</a:t>
            </a:r>
          </a:p>
          <a:p>
            <a:r>
              <a:rPr lang="en-US" dirty="0"/>
              <a:t>5. Apply patch → </a:t>
            </a:r>
            <a:r>
              <a:rPr lang="en-US" b="1" dirty="0"/>
              <a:t>Replay</a:t>
            </a:r>
            <a:r>
              <a:rPr lang="en-US" dirty="0"/>
              <a:t> refactorings.</a:t>
            </a:r>
          </a:p>
          <a:p>
            <a:r>
              <a:rPr lang="en-US" dirty="0"/>
              <a:t>6. Compare to baseline (conflicts, success).</a:t>
            </a:r>
          </a:p>
          <a:p>
            <a:r>
              <a:rPr lang="en-US" b="1" dirty="0"/>
              <a:t>Notes:</a:t>
            </a:r>
            <a:r>
              <a:rPr lang="en-US" dirty="0"/>
              <a:t> Visually annotate invert → apply → replay.</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CAA83D12-F41A-4044-A881-14FE50F70EBD}" type="slidenum">
              <a:rPr lang="en-US" smtClean="0"/>
              <a:t>15</a:t>
            </a:fld>
            <a:endParaRPr lang="en-US"/>
          </a:p>
        </p:txBody>
      </p:sp>
    </p:spTree>
    <p:extLst>
      <p:ext uri="{BB962C8B-B14F-4D97-AF65-F5344CB8AC3E}">
        <p14:creationId xmlns:p14="http://schemas.microsoft.com/office/powerpoint/2010/main" val="866834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NimbusRomNo9L"/>
              </a:rPr>
              <a:t>Summary of RQ1 Results: </a:t>
            </a:r>
            <a:r>
              <a:rPr lang="en-US" sz="1200" i="1" dirty="0">
                <a:effectLst/>
                <a:latin typeface="NimbusRomNo9L"/>
              </a:rPr>
              <a:t>The results of RQ1 demonstrate that traditional syntax-based patch integration mechanisms, such as Git’s </a:t>
            </a:r>
            <a:r>
              <a:rPr lang="en-US" sz="1200" i="1" dirty="0">
                <a:effectLst/>
                <a:latin typeface="NimbusMonL"/>
              </a:rPr>
              <a:t>cherry-pick</a:t>
            </a:r>
            <a:r>
              <a:rPr lang="en-US" sz="1200" i="1" dirty="0">
                <a:effectLst/>
                <a:latin typeface="NimbusRomNo9L"/>
              </a:rPr>
              <a:t>, are inadequate for reliably propagating bug-fix patches across structurally diverged software variants. High failure rates across multiple projects reflect the compounding effects of semantic drift, architectural changes, and uncoordinated evolution. </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CAA83D12-F41A-4044-A881-14FE50F70EBD}" type="slidenum">
              <a:rPr lang="en-US" smtClean="0"/>
              <a:t>16</a:t>
            </a:fld>
            <a:endParaRPr lang="en-US"/>
          </a:p>
        </p:txBody>
      </p:sp>
    </p:spTree>
    <p:extLst>
      <p:ext uri="{BB962C8B-B14F-4D97-AF65-F5344CB8AC3E}">
        <p14:creationId xmlns:p14="http://schemas.microsoft.com/office/powerpoint/2010/main" val="7143159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effectLst/>
                <a:latin typeface="NimbusRomNo9L"/>
              </a:rPr>
              <a:t>Summary of RQ3 Results: </a:t>
            </a:r>
            <a:r>
              <a:rPr lang="en-US" sz="1200" i="1" dirty="0">
                <a:effectLst/>
                <a:latin typeface="NimbusRomNo9L"/>
              </a:rPr>
              <a:t>Out of 292 previously failing patch applications, </a:t>
            </a:r>
            <a:r>
              <a:rPr lang="en-US" sz="1200" i="1" dirty="0">
                <a:effectLst/>
                <a:latin typeface="NimbusMonL"/>
              </a:rPr>
              <a:t>RePatch </a:t>
            </a:r>
            <a:r>
              <a:rPr lang="en-US" sz="1200" i="1" dirty="0">
                <a:effectLst/>
                <a:latin typeface="NimbusRomNo9L"/>
              </a:rPr>
              <a:t>reduced file-level merge conflicts in </a:t>
            </a:r>
            <a:r>
              <a:rPr lang="en-US" sz="1200" b="0" i="1" dirty="0">
                <a:effectLst/>
                <a:latin typeface="NimbusRomNo9L"/>
              </a:rPr>
              <a:t>53.1% </a:t>
            </a:r>
            <a:r>
              <a:rPr lang="en-US" sz="1200" i="1" dirty="0">
                <a:effectLst/>
                <a:latin typeface="NimbusRomNo9L"/>
              </a:rPr>
              <a:t>of cases and line-level conflicts in </a:t>
            </a:r>
            <a:r>
              <a:rPr lang="en-US" sz="1200" b="0" i="1" dirty="0">
                <a:effectLst/>
                <a:latin typeface="NimbusRomNo9L"/>
              </a:rPr>
              <a:t>53.8%</a:t>
            </a:r>
            <a:r>
              <a:rPr lang="en-US" sz="1200" i="1" dirty="0">
                <a:effectLst/>
                <a:latin typeface="NimbusRomNo9L"/>
              </a:rPr>
              <a:t>. In contrast, it introduced new conflicts in only </a:t>
            </a:r>
            <a:r>
              <a:rPr lang="en-US" sz="1200" b="0" i="1" dirty="0">
                <a:effectLst/>
                <a:latin typeface="NimbusRomNo9L"/>
              </a:rPr>
              <a:t>1.4% </a:t>
            </a:r>
            <a:r>
              <a:rPr lang="en-US" sz="1200" i="1" dirty="0">
                <a:effectLst/>
                <a:latin typeface="NimbusRomNo9L"/>
              </a:rPr>
              <a:t>and </a:t>
            </a:r>
            <a:r>
              <a:rPr lang="en-US" sz="1200" b="0" i="1" dirty="0">
                <a:effectLst/>
                <a:latin typeface="NimbusRomNo9L"/>
              </a:rPr>
              <a:t>3.4%</a:t>
            </a:r>
            <a:r>
              <a:rPr lang="en-US" sz="1200" i="1" dirty="0">
                <a:effectLst/>
                <a:latin typeface="NimbusRomNo9L"/>
              </a:rPr>
              <a:t>, respectively. Overall, </a:t>
            </a:r>
            <a:r>
              <a:rPr lang="en-US" sz="1200" i="1" dirty="0">
                <a:effectLst/>
                <a:latin typeface="NimbusMonL"/>
              </a:rPr>
              <a:t>RePatch </a:t>
            </a:r>
            <a:r>
              <a:rPr lang="en-US" sz="1200" i="1" dirty="0">
                <a:effectLst/>
                <a:latin typeface="NimbusRomNo9L"/>
              </a:rPr>
              <a:t>successfully integrated </a:t>
            </a:r>
            <a:r>
              <a:rPr lang="en-US" sz="1200" b="0" i="1" dirty="0">
                <a:effectLst/>
                <a:latin typeface="NimbusRomNo9L"/>
              </a:rPr>
              <a:t>155 </a:t>
            </a:r>
            <a:r>
              <a:rPr lang="en-US" sz="1200" i="1" dirty="0">
                <a:effectLst/>
                <a:latin typeface="NimbusRomNo9L"/>
              </a:rPr>
              <a:t>of the </a:t>
            </a:r>
            <a:r>
              <a:rPr lang="en-US" sz="1200" b="0" i="1" dirty="0">
                <a:effectLst/>
                <a:latin typeface="NimbusRomNo9L"/>
              </a:rPr>
              <a:t>292 </a:t>
            </a:r>
            <a:r>
              <a:rPr lang="en-US" sz="1200" i="1" dirty="0">
                <a:effectLst/>
                <a:latin typeface="NimbusRomNo9L"/>
              </a:rPr>
              <a:t>failed patches, achieving a resolution rate of </a:t>
            </a:r>
            <a:r>
              <a:rPr lang="en-US" sz="1200" b="0" i="1" dirty="0">
                <a:effectLst/>
                <a:latin typeface="NimbusRomNo9L"/>
              </a:rPr>
              <a:t>52.8%</a:t>
            </a:r>
            <a:r>
              <a:rPr lang="en-US" sz="1200" i="1" dirty="0">
                <a:effectLst/>
                <a:latin typeface="NimbusRomNo9L"/>
              </a:rPr>
              <a:t>. These findings show that refactoring-aware integration can substantially improve patch applicability while reducing manual effort and semantic misalignment associated with structural divergence. </a:t>
            </a:r>
            <a:endParaRPr lang="en-US" dirty="0"/>
          </a:p>
        </p:txBody>
      </p:sp>
      <p:sp>
        <p:nvSpPr>
          <p:cNvPr id="4" name="Slide Number Placeholder 3"/>
          <p:cNvSpPr>
            <a:spLocks noGrp="1"/>
          </p:cNvSpPr>
          <p:nvPr>
            <p:ph type="sldNum" sz="quarter" idx="5"/>
          </p:nvPr>
        </p:nvSpPr>
        <p:spPr/>
        <p:txBody>
          <a:bodyPr/>
          <a:lstStyle/>
          <a:p>
            <a:fld id="{CAA83D12-F41A-4044-A881-14FE50F70EBD}" type="slidenum">
              <a:rPr lang="en-US" smtClean="0"/>
              <a:t>17</a:t>
            </a:fld>
            <a:endParaRPr lang="en-US"/>
          </a:p>
        </p:txBody>
      </p:sp>
    </p:spTree>
    <p:extLst>
      <p:ext uri="{BB962C8B-B14F-4D97-AF65-F5344CB8AC3E}">
        <p14:creationId xmlns:p14="http://schemas.microsoft.com/office/powerpoint/2010/main" val="16651023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RePatch can resolve a merge conflict, but that does not prove that the resulting program is correct. A syntactically successful integration can still fail to compile, violate the intended behavior of the patch, or introduce regressions elsewhere in the target variant.
So after integration we need validation. First, build the target project. Then add or adjust focused unit or integration tests around the changed behavior and its immediate collaborators. Finally, run the existing regression suite. Only then do we have stronger evidence that the patch was integrated correctly.
This connects directly to the OORP testing patterns. Tests: Your Life Insurance emphasizes protection against regressions. Grow Your Test Base Incrementally tells us to add focused tests as we change the system. Write Tests to Understand is useful when we need to clarify the intended behavior of the code we are integrating.
The key message is: a clean merge is necessary, but it is not sufficient.
[Sources]
- Object-Oriented Reengineering Patterns (OORP), patterns and page references supplied in the course slide: Tests: Your Life Insurance (p.149); Grow Your Test Base Incrementally (p.159); Write Tests to Understand (p.179).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6AA03-AB2A-2D4A-AD52-6BB824D76DA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EED447F2-5586-E410-A090-D394FFB81A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05B319B0-B28F-7DF4-E696-8D5BDA5A3E91}"/>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5" name="Footer Placeholder 4">
            <a:extLst>
              <a:ext uri="{FF2B5EF4-FFF2-40B4-BE49-F238E27FC236}">
                <a16:creationId xmlns:a16="http://schemas.microsoft.com/office/drawing/2014/main" id="{BD50B2A5-E5A9-4E4A-066F-A171C0B464A0}"/>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2B1568A7-417F-A15E-3100-330E6402DC2F}"/>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2362462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47F77-C84B-4F07-F624-1CB8B7E44885}"/>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FF8F7C86-CDAB-8775-F7F3-A1F95B6835F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CB4B61B2-EE5A-BF06-5CD1-4954331C3E15}"/>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5" name="Footer Placeholder 4">
            <a:extLst>
              <a:ext uri="{FF2B5EF4-FFF2-40B4-BE49-F238E27FC236}">
                <a16:creationId xmlns:a16="http://schemas.microsoft.com/office/drawing/2014/main" id="{611FAAE3-A5EA-3132-4033-12465EC1B631}"/>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FB77618F-6346-1B73-8F45-93212399FCB5}"/>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415216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FAA50-8B2B-9DB7-CED1-C4A69E594E1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D8467958-FBE8-EC1C-0651-91BACFBA25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4D96E0D-9274-EFED-D478-680589C76B45}"/>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5" name="Footer Placeholder 4">
            <a:extLst>
              <a:ext uri="{FF2B5EF4-FFF2-40B4-BE49-F238E27FC236}">
                <a16:creationId xmlns:a16="http://schemas.microsoft.com/office/drawing/2014/main" id="{341B6B39-6356-53C2-AE5C-DDCD357749FB}"/>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3C094D0D-CAE5-E71D-23C7-C84B614BCE0E}"/>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4186956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319C1-276E-0E20-C2BB-B7B972936C8C}"/>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60AFE96A-2306-DC78-B060-9D6A4A815E7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ECFDA258-BC92-BAC4-DD55-39F0D9BB3AD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0ECE24F6-9073-14D8-193B-7B9035C106DB}"/>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6" name="Footer Placeholder 5">
            <a:extLst>
              <a:ext uri="{FF2B5EF4-FFF2-40B4-BE49-F238E27FC236}">
                <a16:creationId xmlns:a16="http://schemas.microsoft.com/office/drawing/2014/main" id="{1D1E24BA-399D-E326-BA9F-26B9DE107FAB}"/>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EEF0C74A-190A-F2E8-751C-A6C6128B04B4}"/>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288347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00518-6266-93F4-CFC2-AF465B64C9A5}"/>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99813B9A-0A3D-0F26-4EA4-F2C13DDF7C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C7D6170-C6DA-ECC8-E5DF-EFDDEB72D81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F9C27617-7038-97B0-4691-78A573CDE7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76D5E68-1654-2EAB-075B-B3C2053D24F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281B5305-24D3-6314-3532-96F74BDA4A30}"/>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8" name="Footer Placeholder 7">
            <a:extLst>
              <a:ext uri="{FF2B5EF4-FFF2-40B4-BE49-F238E27FC236}">
                <a16:creationId xmlns:a16="http://schemas.microsoft.com/office/drawing/2014/main" id="{1834DB30-5F77-6DD0-89C9-8C100A67B823}"/>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12FDEA67-48C4-E6E9-E6B3-854C1DD9C48B}"/>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2272521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E71DC-ACAE-0956-0C34-316883731036}"/>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3E87DF3C-4CEB-86A5-9855-44C8527BD170}"/>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4" name="Footer Placeholder 3">
            <a:extLst>
              <a:ext uri="{FF2B5EF4-FFF2-40B4-BE49-F238E27FC236}">
                <a16:creationId xmlns:a16="http://schemas.microsoft.com/office/drawing/2014/main" id="{D98BE839-326C-511A-DCFC-7E7E94486D94}"/>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0D86BBED-0F8F-E229-41EF-16E3EDCB3D55}"/>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1629040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FF4CC7-E795-D7DC-91FF-DC47C9B401F1}"/>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3" name="Footer Placeholder 2">
            <a:extLst>
              <a:ext uri="{FF2B5EF4-FFF2-40B4-BE49-F238E27FC236}">
                <a16:creationId xmlns:a16="http://schemas.microsoft.com/office/drawing/2014/main" id="{6DEE6CFD-0B19-5ABD-8206-5652D2CB1132}"/>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4DC8298B-CCC3-AA79-0ADF-3ABE11394699}"/>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3377804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30B9D-FF9C-A879-5FD1-C7F2FFC7305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F44C22F5-D7D5-9B39-6021-5777B03855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192D3473-7430-9C8E-2AAA-01945B0269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6E0128D-2B51-32F7-6086-35C3FE071FEB}"/>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6" name="Footer Placeholder 5">
            <a:extLst>
              <a:ext uri="{FF2B5EF4-FFF2-40B4-BE49-F238E27FC236}">
                <a16:creationId xmlns:a16="http://schemas.microsoft.com/office/drawing/2014/main" id="{714BEC34-EF13-87B8-F0E6-5F9FD7ECD5B8}"/>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6BE17DC8-208A-F2B5-0712-76D898EFD458}"/>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1699757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1E902-40C8-9148-7F72-F96FD47CA4B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CAC9998D-8741-991B-0B86-FF0F17AE60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A1318F5E-2F9A-60EB-3B15-8FD9DCD0AA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F56B76-97F8-C457-C60C-21F5BF5A3C72}"/>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6" name="Footer Placeholder 5">
            <a:extLst>
              <a:ext uri="{FF2B5EF4-FFF2-40B4-BE49-F238E27FC236}">
                <a16:creationId xmlns:a16="http://schemas.microsoft.com/office/drawing/2014/main" id="{21EDCCCB-105A-5A34-37DF-0BD888933A3A}"/>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BF0DAA78-940C-69C9-79C3-7168C11BCCF5}"/>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2178921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D21E2-16B4-2146-6A21-C03B23FAA8EA}"/>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FB95B21D-D67E-C231-ABF4-63321588F35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341CEA81-1CB9-93BB-91C6-8E20FF7C3D4F}"/>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5" name="Footer Placeholder 4">
            <a:extLst>
              <a:ext uri="{FF2B5EF4-FFF2-40B4-BE49-F238E27FC236}">
                <a16:creationId xmlns:a16="http://schemas.microsoft.com/office/drawing/2014/main" id="{F4925230-7721-F594-CBA5-2B710D396234}"/>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380B0F27-281B-0EE0-2C06-EF13674E3DEA}"/>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2621901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875A75-8260-01EC-8948-EEA236348FC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E49470BB-5892-4D67-EF73-FED5B1885F2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5F4C793F-DB60-5BDE-D8AD-DB39F20290C4}"/>
              </a:ext>
            </a:extLst>
          </p:cNvPr>
          <p:cNvSpPr>
            <a:spLocks noGrp="1"/>
          </p:cNvSpPr>
          <p:nvPr>
            <p:ph type="dt" sz="half" idx="10"/>
          </p:nvPr>
        </p:nvSpPr>
        <p:spPr/>
        <p:txBody>
          <a:bodyPr/>
          <a:lstStyle/>
          <a:p>
            <a:fld id="{64AA5CA1-4F07-8848-BD31-B8F34B4D9FAC}" type="datetimeFigureOut">
              <a:rPr lang="en-BE" smtClean="0"/>
              <a:t>23/09/2026</a:t>
            </a:fld>
            <a:endParaRPr lang="en-BE"/>
          </a:p>
        </p:txBody>
      </p:sp>
      <p:sp>
        <p:nvSpPr>
          <p:cNvPr id="5" name="Footer Placeholder 4">
            <a:extLst>
              <a:ext uri="{FF2B5EF4-FFF2-40B4-BE49-F238E27FC236}">
                <a16:creationId xmlns:a16="http://schemas.microsoft.com/office/drawing/2014/main" id="{5BFD01FE-3293-91A5-9F83-2993B534112D}"/>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923F2CB6-41CC-874B-0E8E-5BC3245E48D1}"/>
              </a:ext>
            </a:extLst>
          </p:cNvPr>
          <p:cNvSpPr>
            <a:spLocks noGrp="1"/>
          </p:cNvSpPr>
          <p:nvPr>
            <p:ph type="sldNum" sz="quarter" idx="12"/>
          </p:nvPr>
        </p:nvSpPr>
        <p:spPr/>
        <p:txBody>
          <a:bodyPr/>
          <a:lstStyle/>
          <a:p>
            <a:fld id="{34889494-CDA2-5C40-BDF9-57446B5F9E14}" type="slidenum">
              <a:rPr lang="en-BE" smtClean="0"/>
              <a:t>‹#›</a:t>
            </a:fld>
            <a:endParaRPr lang="en-BE"/>
          </a:p>
        </p:txBody>
      </p:sp>
    </p:spTree>
    <p:extLst>
      <p:ext uri="{BB962C8B-B14F-4D97-AF65-F5344CB8AC3E}">
        <p14:creationId xmlns:p14="http://schemas.microsoft.com/office/powerpoint/2010/main" val="1316306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UAntwerpen_enkeltek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2A766-FA6C-4E42-BAD1-58E378599FB5}"/>
              </a:ext>
            </a:extLst>
          </p:cNvPr>
          <p:cNvSpPr>
            <a:spLocks noGrp="1"/>
          </p:cNvSpPr>
          <p:nvPr>
            <p:ph type="title" hasCustomPrompt="1"/>
          </p:nvPr>
        </p:nvSpPr>
        <p:spPr/>
        <p:txBody>
          <a:bodyPr/>
          <a:lstStyle>
            <a:lvl1pPr>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B21DCFB5-39F0-E04F-B592-B890194C076F}"/>
              </a:ext>
            </a:extLst>
          </p:cNvPr>
          <p:cNvSpPr>
            <a:spLocks noGrp="1"/>
          </p:cNvSpPr>
          <p:nvPr>
            <p:ph type="sldNum" sz="quarter" idx="10"/>
          </p:nvPr>
        </p:nvSpPr>
        <p:spPr/>
        <p:txBody>
          <a:bodyPr/>
          <a:lstStyle/>
          <a:p>
            <a:fld id="{E038E271-308C-2E46-A3EC-56326F9084CC}" type="slidenum">
              <a:rPr lang="nl-BE" smtClean="0"/>
              <a:pPr/>
              <a:t>‹#›</a:t>
            </a:fld>
            <a:endParaRPr lang="nl-BE" dirty="0"/>
          </a:p>
        </p:txBody>
      </p:sp>
      <p:sp>
        <p:nvSpPr>
          <p:cNvPr id="4" name="Tijdelijke aanduiding voor tekst 2">
            <a:extLst>
              <a:ext uri="{FF2B5EF4-FFF2-40B4-BE49-F238E27FC236}">
                <a16:creationId xmlns:a16="http://schemas.microsoft.com/office/drawing/2014/main" id="{1F0EA669-8677-CD4C-AD8D-C4852AC0E3E4}"/>
              </a:ext>
            </a:extLst>
          </p:cNvPr>
          <p:cNvSpPr>
            <a:spLocks noGrp="1"/>
          </p:cNvSpPr>
          <p:nvPr>
            <p:ph idx="1" hasCustomPrompt="1"/>
          </p:nvPr>
        </p:nvSpPr>
        <p:spPr>
          <a:xfrm>
            <a:off x="623887" y="1577009"/>
            <a:ext cx="10944226" cy="4660279"/>
          </a:xfrm>
          <a:prstGeom prst="rect">
            <a:avLst/>
          </a:prstGeom>
        </p:spPr>
        <p:txBody>
          <a:bodyPr vert="horz" wrap="square" lIns="0" tIns="0" rIns="0" bIns="0" rtlCol="0">
            <a:noAutofit/>
          </a:bodyPr>
          <a:lstStyle>
            <a:lvl1pPr marL="274638" indent="-274638">
              <a:buClr>
                <a:schemeClr val="accent2"/>
              </a:buClr>
              <a:buSzPct val="75000"/>
              <a:buFont typeface="Wingdings" pitchFamily="2" charset="2"/>
              <a:buChar char="§"/>
              <a:tabLst/>
              <a:defRPr b="1" i="0">
                <a:solidFill>
                  <a:schemeClr val="accent1"/>
                </a:solidFill>
                <a:latin typeface="+mn-lt"/>
                <a:cs typeface="Calibri" panose="020F0502020204030204" pitchFamily="34" charset="0"/>
              </a:defRPr>
            </a:lvl1pPr>
            <a:lvl2pPr>
              <a:buSzPct val="75000"/>
              <a:buFont typeface="Wingdings" pitchFamily="2" charset="2"/>
              <a:buChar char="§"/>
              <a:defRPr sz="2400" b="0" i="0">
                <a:solidFill>
                  <a:schemeClr val="accent1"/>
                </a:solidFill>
                <a:latin typeface="+mn-lt"/>
                <a:cs typeface="Calibri Light" panose="020F0302020204030204" pitchFamily="34" charset="0"/>
              </a:defRPr>
            </a:lvl2pPr>
            <a:lvl3pPr>
              <a:defRPr>
                <a:solidFill>
                  <a:schemeClr val="accent1"/>
                </a:solidFill>
                <a:latin typeface="+mn-lt"/>
              </a:defRPr>
            </a:lvl3pPr>
            <a:lvl4pPr>
              <a:defRPr>
                <a:solidFill>
                  <a:schemeClr val="accent1"/>
                </a:solidFill>
                <a:latin typeface="+mn-lt"/>
              </a:defRPr>
            </a:lvl4pPr>
          </a:lstStyle>
          <a:p>
            <a:r>
              <a:rPr lang="nl-NL" dirty="0"/>
              <a:t>Eerste niveau</a:t>
            </a:r>
          </a:p>
          <a:p>
            <a:pPr lvl="1"/>
            <a:r>
              <a:rPr lang="nl-NL" dirty="0"/>
              <a:t>Tweede niveau</a:t>
            </a:r>
          </a:p>
          <a:p>
            <a:pPr lvl="2"/>
            <a:r>
              <a:rPr lang="nl-NL" dirty="0"/>
              <a:t>Derde niveau</a:t>
            </a:r>
          </a:p>
          <a:p>
            <a:pPr lvl="3"/>
            <a:r>
              <a:rPr lang="nl-NL" dirty="0"/>
              <a:t>Vierde niveau</a:t>
            </a:r>
            <a:endParaRPr lang="nl-BE" dirty="0"/>
          </a:p>
        </p:txBody>
      </p:sp>
    </p:spTree>
    <p:extLst>
      <p:ext uri="{BB962C8B-B14F-4D97-AF65-F5344CB8AC3E}">
        <p14:creationId xmlns:p14="http://schemas.microsoft.com/office/powerpoint/2010/main" val="22455480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634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779402-D792-6990-BED0-B1B4A75F6F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91613181-F20C-47C6-D843-EEF75E00F1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7E71C55B-C781-6E91-4949-E13CF60A09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AA5CA1-4F07-8848-BD31-B8F34B4D9FAC}" type="datetimeFigureOut">
              <a:rPr lang="en-BE" smtClean="0"/>
              <a:t>23/09/2026</a:t>
            </a:fld>
            <a:endParaRPr lang="en-BE"/>
          </a:p>
        </p:txBody>
      </p:sp>
      <p:sp>
        <p:nvSpPr>
          <p:cNvPr id="5" name="Footer Placeholder 4">
            <a:extLst>
              <a:ext uri="{FF2B5EF4-FFF2-40B4-BE49-F238E27FC236}">
                <a16:creationId xmlns:a16="http://schemas.microsoft.com/office/drawing/2014/main" id="{BC3F16BB-017B-A57D-97D8-E3E1BBA869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BFD2100D-83BF-E887-DA2B-6A983995B2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889494-CDA2-5C40-BDF9-57446B5F9E14}" type="slidenum">
              <a:rPr lang="en-BE" smtClean="0"/>
              <a:t>‹#›</a:t>
            </a:fld>
            <a:endParaRPr lang="en-BE"/>
          </a:p>
        </p:txBody>
      </p:sp>
    </p:spTree>
    <p:extLst>
      <p:ext uri="{BB962C8B-B14F-4D97-AF65-F5344CB8AC3E}">
        <p14:creationId xmlns:p14="http://schemas.microsoft.com/office/powerpoint/2010/main" val="655832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emf"/></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7.emf"/></Relationships>
</file>

<file path=ppt/slides/_rels/slide1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9.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7.emf"/><Relationship Id="rId4" Type="http://schemas.openxmlformats.org/officeDocument/2006/relationships/image" Target="../media/image30.pn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emf"/><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36.png"/><Relationship Id="rId7" Type="http://schemas.openxmlformats.org/officeDocument/2006/relationships/diagramQuickStyle" Target="../diagrams/quickStyle2.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7.emf"/><Relationship Id="rId9" Type="http://schemas.microsoft.com/office/2007/relationships/diagramDrawing" Target="../diagrams/drawing2.xml"/></Relationships>
</file>

<file path=ppt/slides/_rels/slide1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7.emf"/><Relationship Id="rId7" Type="http://schemas.openxmlformats.org/officeDocument/2006/relationships/diagramColors" Target="../diagrams/colors3.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8.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9C327-EF6C-4C62-06A3-A9B3B85872ED}"/>
              </a:ext>
            </a:extLst>
          </p:cNvPr>
          <p:cNvSpPr>
            <a:spLocks noGrp="1"/>
          </p:cNvSpPr>
          <p:nvPr>
            <p:ph type="ctrTitle"/>
          </p:nvPr>
        </p:nvSpPr>
        <p:spPr/>
        <p:txBody>
          <a:bodyPr/>
          <a:lstStyle/>
          <a:p>
            <a:r>
              <a:rPr lang="en-BE" b="1" dirty="0"/>
              <a:t>Software Integration</a:t>
            </a:r>
          </a:p>
        </p:txBody>
      </p:sp>
      <p:sp>
        <p:nvSpPr>
          <p:cNvPr id="3" name="Subtitle 2">
            <a:extLst>
              <a:ext uri="{FF2B5EF4-FFF2-40B4-BE49-F238E27FC236}">
                <a16:creationId xmlns:a16="http://schemas.microsoft.com/office/drawing/2014/main" id="{1102B4A6-8510-29FD-8B1F-32AB3F0B9C38}"/>
              </a:ext>
            </a:extLst>
          </p:cNvPr>
          <p:cNvSpPr>
            <a:spLocks noGrp="1"/>
          </p:cNvSpPr>
          <p:nvPr>
            <p:ph type="subTitle" idx="1"/>
          </p:nvPr>
        </p:nvSpPr>
        <p:spPr>
          <a:xfrm>
            <a:off x="1524000" y="4559301"/>
            <a:ext cx="9144000" cy="1655762"/>
          </a:xfrm>
        </p:spPr>
        <p:txBody>
          <a:bodyPr/>
          <a:lstStyle/>
          <a:p>
            <a:r>
              <a:rPr lang="en-BE" dirty="0"/>
              <a:t>John Businge</a:t>
            </a:r>
          </a:p>
          <a:p>
            <a:r>
              <a:rPr lang="en-BE" dirty="0"/>
              <a:t>john.businge@unlv.edu</a:t>
            </a:r>
          </a:p>
        </p:txBody>
      </p:sp>
    </p:spTree>
    <p:extLst>
      <p:ext uri="{BB962C8B-B14F-4D97-AF65-F5344CB8AC3E}">
        <p14:creationId xmlns:p14="http://schemas.microsoft.com/office/powerpoint/2010/main" val="4107348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04672"/>
          </a:xfrm>
          <a:prstGeom prst="rect">
            <a:avLst/>
          </a:prstGeom>
          <a:solidFill>
            <a:srgbClr val="66737A"/>
          </a:solidFill>
          <a:ln w="12700">
            <a:solidFill>
              <a:srgbClr val="66737A"/>
            </a:solidFill>
            <a:prstDash val="solid"/>
          </a:ln>
        </p:spPr>
        <p:txBody>
          <a:bodyPr/>
          <a:lstStyle/>
          <a:p>
            <a:endParaRPr lang="en-US"/>
          </a:p>
        </p:txBody>
      </p:sp>
      <p:sp>
        <p:nvSpPr>
          <p:cNvPr id="3" name="Text 1"/>
          <p:cNvSpPr/>
          <p:nvPr/>
        </p:nvSpPr>
        <p:spPr>
          <a:xfrm>
            <a:off x="594360" y="155448"/>
            <a:ext cx="10789920" cy="438912"/>
          </a:xfrm>
          <a:prstGeom prst="rect">
            <a:avLst/>
          </a:prstGeom>
          <a:noFill/>
          <a:ln/>
        </p:spPr>
        <p:txBody>
          <a:bodyPr wrap="square" lIns="0" tIns="0" rIns="0" bIns="0" rtlCol="0" anchor="ctr"/>
          <a:lstStyle/>
          <a:p>
            <a:pPr marL="0" indent="0">
              <a:buNone/>
            </a:pPr>
            <a:r>
              <a:rPr lang="en-US" sz="2700" b="1" dirty="0">
                <a:solidFill>
                  <a:srgbClr val="FFFFFF"/>
                </a:solidFill>
                <a:latin typeface="Aptos" pitchFamily="34" charset="0"/>
                <a:ea typeface="Aptos" pitchFamily="34" charset="-122"/>
                <a:cs typeface="Aptos" pitchFamily="34" charset="-120"/>
              </a:rPr>
              <a:t>Software Evolves Through Changes</a:t>
            </a:r>
            <a:endParaRPr lang="en-US" sz="2700" dirty="0"/>
          </a:p>
        </p:txBody>
      </p:sp>
      <p:sp>
        <p:nvSpPr>
          <p:cNvPr id="4" name="Text 2"/>
          <p:cNvSpPr/>
          <p:nvPr/>
        </p:nvSpPr>
        <p:spPr>
          <a:xfrm>
            <a:off x="685800" y="1078992"/>
            <a:ext cx="10881360" cy="384048"/>
          </a:xfrm>
          <a:prstGeom prst="rect">
            <a:avLst/>
          </a:prstGeom>
          <a:noFill/>
          <a:ln/>
        </p:spPr>
        <p:txBody>
          <a:bodyPr wrap="square" lIns="0" tIns="0" rIns="0" bIns="0" rtlCol="0" anchor="ctr"/>
          <a:lstStyle/>
          <a:p>
            <a:pPr marL="0" indent="0" algn="ctr">
              <a:buNone/>
            </a:pPr>
            <a:r>
              <a:rPr lang="en-US" sz="2000" b="1" dirty="0">
                <a:solidFill>
                  <a:srgbClr val="162033"/>
                </a:solidFill>
              </a:rPr>
              <a:t>Version control records the evolution of a software system over time.</a:t>
            </a:r>
            <a:endParaRPr lang="en-US" sz="2000" dirty="0"/>
          </a:p>
        </p:txBody>
      </p:sp>
      <p:sp>
        <p:nvSpPr>
          <p:cNvPr id="5" name="Text 3"/>
          <p:cNvSpPr/>
          <p:nvPr/>
        </p:nvSpPr>
        <p:spPr>
          <a:xfrm>
            <a:off x="1234440" y="1508760"/>
            <a:ext cx="9692640" cy="310896"/>
          </a:xfrm>
          <a:prstGeom prst="rect">
            <a:avLst/>
          </a:prstGeom>
          <a:noFill/>
          <a:ln/>
        </p:spPr>
        <p:txBody>
          <a:bodyPr wrap="square" lIns="0" tIns="0" rIns="0" bIns="0" rtlCol="0" anchor="ctr"/>
          <a:lstStyle/>
          <a:p>
            <a:pPr marL="0" indent="0" algn="ctr">
              <a:buNone/>
            </a:pPr>
            <a:r>
              <a:rPr lang="en-US" sz="1600" dirty="0">
                <a:solidFill>
                  <a:srgbClr val="42506A"/>
                </a:solidFill>
              </a:rPr>
              <a:t>Each commit captures a change and preserves how the current system came to be.</a:t>
            </a:r>
            <a:endParaRPr lang="en-US" sz="1600" dirty="0"/>
          </a:p>
        </p:txBody>
      </p:sp>
      <p:sp>
        <p:nvSpPr>
          <p:cNvPr id="6" name="Shape 4"/>
          <p:cNvSpPr/>
          <p:nvPr/>
        </p:nvSpPr>
        <p:spPr>
          <a:xfrm>
            <a:off x="658368" y="2057400"/>
            <a:ext cx="10881360" cy="2514600"/>
          </a:xfrm>
          <a:prstGeom prst="roundRect">
            <a:avLst>
              <a:gd name="adj" fmla="val 2909"/>
            </a:avLst>
          </a:prstGeom>
          <a:solidFill>
            <a:srgbClr val="F8FAFD"/>
          </a:solidFill>
          <a:ln w="19050">
            <a:solidFill>
              <a:srgbClr val="D5DFEF"/>
            </a:solidFill>
            <a:prstDash val="solid"/>
          </a:ln>
        </p:spPr>
        <p:txBody>
          <a:bodyPr/>
          <a:lstStyle/>
          <a:p>
            <a:endParaRPr lang="en-US"/>
          </a:p>
        </p:txBody>
      </p:sp>
      <p:sp>
        <p:nvSpPr>
          <p:cNvPr id="7" name="Shape 5"/>
          <p:cNvSpPr/>
          <p:nvPr/>
        </p:nvSpPr>
        <p:spPr>
          <a:xfrm>
            <a:off x="1234440" y="3063240"/>
            <a:ext cx="9464040" cy="0"/>
          </a:xfrm>
          <a:prstGeom prst="line">
            <a:avLst/>
          </a:prstGeom>
          <a:noFill/>
          <a:ln w="38100">
            <a:solidFill>
              <a:srgbClr val="183153"/>
            </a:solidFill>
            <a:prstDash val="solid"/>
            <a:headEnd type="none"/>
            <a:tailEnd type="triangle"/>
          </a:ln>
        </p:spPr>
        <p:txBody>
          <a:bodyPr/>
          <a:lstStyle/>
          <a:p>
            <a:endParaRPr lang="en-US"/>
          </a:p>
        </p:txBody>
      </p:sp>
      <p:sp>
        <p:nvSpPr>
          <p:cNvPr id="8" name="Shape 6"/>
          <p:cNvSpPr/>
          <p:nvPr/>
        </p:nvSpPr>
        <p:spPr>
          <a:xfrm>
            <a:off x="1508760" y="2935224"/>
            <a:ext cx="256032" cy="256032"/>
          </a:xfrm>
          <a:prstGeom prst="ellipse">
            <a:avLst/>
          </a:prstGeom>
          <a:solidFill>
            <a:srgbClr val="2161D1"/>
          </a:solidFill>
          <a:ln w="12700">
            <a:solidFill>
              <a:srgbClr val="FFFFFF"/>
            </a:solidFill>
            <a:prstDash val="solid"/>
          </a:ln>
        </p:spPr>
        <p:txBody>
          <a:bodyPr/>
          <a:lstStyle/>
          <a:p>
            <a:endParaRPr lang="en-US"/>
          </a:p>
        </p:txBody>
      </p:sp>
      <p:sp>
        <p:nvSpPr>
          <p:cNvPr id="9" name="Text 7"/>
          <p:cNvSpPr/>
          <p:nvPr/>
        </p:nvSpPr>
        <p:spPr>
          <a:xfrm>
            <a:off x="1115568" y="3401568"/>
            <a:ext cx="1051560" cy="274320"/>
          </a:xfrm>
          <a:prstGeom prst="rect">
            <a:avLst/>
          </a:prstGeom>
          <a:noFill/>
          <a:ln/>
        </p:spPr>
        <p:txBody>
          <a:bodyPr wrap="square" lIns="0" tIns="0" rIns="0" bIns="0" rtlCol="0" anchor="ctr"/>
          <a:lstStyle/>
          <a:p>
            <a:pPr marL="0" indent="0" algn="ctr">
              <a:buNone/>
            </a:pPr>
            <a:r>
              <a:rPr lang="en-US" sz="1200" dirty="0">
                <a:solidFill>
                  <a:srgbClr val="162033"/>
                </a:solidFill>
              </a:rPr>
              <a:t>Initial code</a:t>
            </a:r>
            <a:endParaRPr lang="en-US" sz="1200" dirty="0"/>
          </a:p>
        </p:txBody>
      </p:sp>
      <p:sp>
        <p:nvSpPr>
          <p:cNvPr id="10" name="Shape 8"/>
          <p:cNvSpPr/>
          <p:nvPr/>
        </p:nvSpPr>
        <p:spPr>
          <a:xfrm>
            <a:off x="2880360" y="2935224"/>
            <a:ext cx="256032" cy="256032"/>
          </a:xfrm>
          <a:prstGeom prst="ellipse">
            <a:avLst/>
          </a:prstGeom>
          <a:solidFill>
            <a:srgbClr val="4D86E8"/>
          </a:solidFill>
          <a:ln w="12700">
            <a:solidFill>
              <a:srgbClr val="FFFFFF"/>
            </a:solidFill>
            <a:prstDash val="solid"/>
          </a:ln>
        </p:spPr>
        <p:txBody>
          <a:bodyPr/>
          <a:lstStyle/>
          <a:p>
            <a:endParaRPr lang="en-US"/>
          </a:p>
        </p:txBody>
      </p:sp>
      <p:sp>
        <p:nvSpPr>
          <p:cNvPr id="11" name="Text 9"/>
          <p:cNvSpPr/>
          <p:nvPr/>
        </p:nvSpPr>
        <p:spPr>
          <a:xfrm>
            <a:off x="2487168" y="3401568"/>
            <a:ext cx="1051560" cy="274320"/>
          </a:xfrm>
          <a:prstGeom prst="rect">
            <a:avLst/>
          </a:prstGeom>
          <a:noFill/>
          <a:ln/>
        </p:spPr>
        <p:txBody>
          <a:bodyPr wrap="square" lIns="0" tIns="0" rIns="0" bIns="0" rtlCol="0" anchor="ctr"/>
          <a:lstStyle/>
          <a:p>
            <a:pPr marL="0" indent="0" algn="ctr">
              <a:buNone/>
            </a:pPr>
            <a:r>
              <a:rPr lang="en-US" sz="1200" dirty="0">
                <a:solidFill>
                  <a:srgbClr val="162033"/>
                </a:solidFill>
              </a:rPr>
              <a:t>Feature</a:t>
            </a:r>
            <a:endParaRPr lang="en-US" sz="1200" dirty="0"/>
          </a:p>
        </p:txBody>
      </p:sp>
      <p:sp>
        <p:nvSpPr>
          <p:cNvPr id="12" name="Shape 10"/>
          <p:cNvSpPr/>
          <p:nvPr/>
        </p:nvSpPr>
        <p:spPr>
          <a:xfrm>
            <a:off x="4251960" y="2935224"/>
            <a:ext cx="256032" cy="256032"/>
          </a:xfrm>
          <a:prstGeom prst="ellipse">
            <a:avLst/>
          </a:prstGeom>
          <a:solidFill>
            <a:srgbClr val="E39A27"/>
          </a:solidFill>
          <a:ln w="12700">
            <a:solidFill>
              <a:srgbClr val="FFFFFF"/>
            </a:solidFill>
            <a:prstDash val="solid"/>
          </a:ln>
        </p:spPr>
        <p:txBody>
          <a:bodyPr/>
          <a:lstStyle/>
          <a:p>
            <a:endParaRPr lang="en-US"/>
          </a:p>
        </p:txBody>
      </p:sp>
      <p:sp>
        <p:nvSpPr>
          <p:cNvPr id="13" name="Text 11"/>
          <p:cNvSpPr/>
          <p:nvPr/>
        </p:nvSpPr>
        <p:spPr>
          <a:xfrm>
            <a:off x="3858768" y="3401568"/>
            <a:ext cx="1051560" cy="274320"/>
          </a:xfrm>
          <a:prstGeom prst="rect">
            <a:avLst/>
          </a:prstGeom>
          <a:noFill/>
          <a:ln/>
        </p:spPr>
        <p:txBody>
          <a:bodyPr wrap="square" lIns="0" tIns="0" rIns="0" bIns="0" rtlCol="0" anchor="ctr"/>
          <a:lstStyle/>
          <a:p>
            <a:pPr marL="0" indent="0" algn="ctr">
              <a:buNone/>
            </a:pPr>
            <a:r>
              <a:rPr lang="en-US" sz="1200" dirty="0">
                <a:solidFill>
                  <a:srgbClr val="162033"/>
                </a:solidFill>
              </a:rPr>
              <a:t>Bug fix</a:t>
            </a:r>
            <a:endParaRPr lang="en-US" sz="1200" dirty="0"/>
          </a:p>
        </p:txBody>
      </p:sp>
      <p:sp>
        <p:nvSpPr>
          <p:cNvPr id="14" name="Shape 12"/>
          <p:cNvSpPr/>
          <p:nvPr/>
        </p:nvSpPr>
        <p:spPr>
          <a:xfrm>
            <a:off x="5623560" y="2935224"/>
            <a:ext cx="256032" cy="256032"/>
          </a:xfrm>
          <a:prstGeom prst="ellipse">
            <a:avLst/>
          </a:prstGeom>
          <a:solidFill>
            <a:srgbClr val="8657D9"/>
          </a:solidFill>
          <a:ln w="12700">
            <a:solidFill>
              <a:srgbClr val="FFFFFF"/>
            </a:solidFill>
            <a:prstDash val="solid"/>
          </a:ln>
        </p:spPr>
        <p:txBody>
          <a:bodyPr/>
          <a:lstStyle/>
          <a:p>
            <a:endParaRPr lang="en-US"/>
          </a:p>
        </p:txBody>
      </p:sp>
      <p:sp>
        <p:nvSpPr>
          <p:cNvPr id="15" name="Text 13"/>
          <p:cNvSpPr/>
          <p:nvPr/>
        </p:nvSpPr>
        <p:spPr>
          <a:xfrm>
            <a:off x="5230368" y="3401568"/>
            <a:ext cx="1051560" cy="274320"/>
          </a:xfrm>
          <a:prstGeom prst="rect">
            <a:avLst/>
          </a:prstGeom>
          <a:noFill/>
          <a:ln/>
        </p:spPr>
        <p:txBody>
          <a:bodyPr wrap="square" lIns="0" tIns="0" rIns="0" bIns="0" rtlCol="0" anchor="ctr"/>
          <a:lstStyle/>
          <a:p>
            <a:pPr marL="0" indent="0" algn="ctr">
              <a:buNone/>
            </a:pPr>
            <a:r>
              <a:rPr lang="en-US" sz="1200" dirty="0">
                <a:solidFill>
                  <a:srgbClr val="162033"/>
                </a:solidFill>
              </a:rPr>
              <a:t>Refactoring</a:t>
            </a:r>
            <a:endParaRPr lang="en-US" sz="1200" dirty="0"/>
          </a:p>
        </p:txBody>
      </p:sp>
      <p:sp>
        <p:nvSpPr>
          <p:cNvPr id="16" name="Shape 14"/>
          <p:cNvSpPr/>
          <p:nvPr/>
        </p:nvSpPr>
        <p:spPr>
          <a:xfrm>
            <a:off x="6995160" y="2935224"/>
            <a:ext cx="256032" cy="256032"/>
          </a:xfrm>
          <a:prstGeom prst="ellipse">
            <a:avLst/>
          </a:prstGeom>
          <a:solidFill>
            <a:srgbClr val="31A354"/>
          </a:solidFill>
          <a:ln w="12700">
            <a:solidFill>
              <a:srgbClr val="FFFFFF"/>
            </a:solidFill>
            <a:prstDash val="solid"/>
          </a:ln>
        </p:spPr>
        <p:txBody>
          <a:bodyPr/>
          <a:lstStyle/>
          <a:p>
            <a:endParaRPr lang="en-US"/>
          </a:p>
        </p:txBody>
      </p:sp>
      <p:sp>
        <p:nvSpPr>
          <p:cNvPr id="17" name="Text 15"/>
          <p:cNvSpPr/>
          <p:nvPr/>
        </p:nvSpPr>
        <p:spPr>
          <a:xfrm>
            <a:off x="6601968" y="3401568"/>
            <a:ext cx="1051560" cy="274320"/>
          </a:xfrm>
          <a:prstGeom prst="rect">
            <a:avLst/>
          </a:prstGeom>
          <a:noFill/>
          <a:ln/>
        </p:spPr>
        <p:txBody>
          <a:bodyPr wrap="square" lIns="0" tIns="0" rIns="0" bIns="0" rtlCol="0" anchor="ctr"/>
          <a:lstStyle/>
          <a:p>
            <a:pPr marL="0" indent="0" algn="ctr">
              <a:buNone/>
            </a:pPr>
            <a:r>
              <a:rPr lang="en-US" sz="1200" dirty="0">
                <a:solidFill>
                  <a:srgbClr val="162033"/>
                </a:solidFill>
              </a:rPr>
              <a:t>Tests</a:t>
            </a:r>
            <a:endParaRPr lang="en-US" sz="1200" dirty="0"/>
          </a:p>
        </p:txBody>
      </p:sp>
      <p:sp>
        <p:nvSpPr>
          <p:cNvPr id="18" name="Shape 16"/>
          <p:cNvSpPr/>
          <p:nvPr/>
        </p:nvSpPr>
        <p:spPr>
          <a:xfrm>
            <a:off x="8366760" y="2935224"/>
            <a:ext cx="256032" cy="256032"/>
          </a:xfrm>
          <a:prstGeom prst="ellipse">
            <a:avLst/>
          </a:prstGeom>
          <a:solidFill>
            <a:srgbClr val="2161D1"/>
          </a:solidFill>
          <a:ln w="12700">
            <a:solidFill>
              <a:srgbClr val="FFFFFF"/>
            </a:solidFill>
            <a:prstDash val="solid"/>
          </a:ln>
        </p:spPr>
        <p:txBody>
          <a:bodyPr/>
          <a:lstStyle/>
          <a:p>
            <a:endParaRPr lang="en-US"/>
          </a:p>
        </p:txBody>
      </p:sp>
      <p:sp>
        <p:nvSpPr>
          <p:cNvPr id="19" name="Text 17"/>
          <p:cNvSpPr/>
          <p:nvPr/>
        </p:nvSpPr>
        <p:spPr>
          <a:xfrm>
            <a:off x="7973568" y="3401568"/>
            <a:ext cx="1051560" cy="274320"/>
          </a:xfrm>
          <a:prstGeom prst="rect">
            <a:avLst/>
          </a:prstGeom>
          <a:noFill/>
          <a:ln/>
        </p:spPr>
        <p:txBody>
          <a:bodyPr wrap="square" lIns="0" tIns="0" rIns="0" bIns="0" rtlCol="0" anchor="ctr"/>
          <a:lstStyle/>
          <a:p>
            <a:pPr marL="0" indent="0" algn="ctr">
              <a:buNone/>
            </a:pPr>
            <a:r>
              <a:rPr lang="en-US" sz="1200" dirty="0">
                <a:solidFill>
                  <a:srgbClr val="162033"/>
                </a:solidFill>
              </a:rPr>
              <a:t>Release</a:t>
            </a:r>
            <a:endParaRPr lang="en-US" sz="1200" dirty="0"/>
          </a:p>
        </p:txBody>
      </p:sp>
      <p:sp>
        <p:nvSpPr>
          <p:cNvPr id="20" name="Shape 18"/>
          <p:cNvSpPr/>
          <p:nvPr/>
        </p:nvSpPr>
        <p:spPr>
          <a:xfrm>
            <a:off x="9738360" y="2935224"/>
            <a:ext cx="256032" cy="256032"/>
          </a:xfrm>
          <a:prstGeom prst="ellipse">
            <a:avLst/>
          </a:prstGeom>
          <a:solidFill>
            <a:srgbClr val="183153"/>
          </a:solidFill>
          <a:ln w="12700">
            <a:solidFill>
              <a:srgbClr val="FFFFFF"/>
            </a:solidFill>
            <a:prstDash val="solid"/>
          </a:ln>
        </p:spPr>
        <p:txBody>
          <a:bodyPr/>
          <a:lstStyle/>
          <a:p>
            <a:endParaRPr lang="en-US"/>
          </a:p>
        </p:txBody>
      </p:sp>
      <p:sp>
        <p:nvSpPr>
          <p:cNvPr id="21" name="Text 19"/>
          <p:cNvSpPr/>
          <p:nvPr/>
        </p:nvSpPr>
        <p:spPr>
          <a:xfrm>
            <a:off x="9345168" y="3401568"/>
            <a:ext cx="1051560" cy="274320"/>
          </a:xfrm>
          <a:prstGeom prst="rect">
            <a:avLst/>
          </a:prstGeom>
          <a:noFill/>
          <a:ln/>
        </p:spPr>
        <p:txBody>
          <a:bodyPr wrap="square" lIns="0" tIns="0" rIns="0" bIns="0" rtlCol="0" anchor="ctr"/>
          <a:lstStyle/>
          <a:p>
            <a:pPr marL="0" indent="0" algn="ctr">
              <a:buNone/>
            </a:pPr>
            <a:r>
              <a:rPr lang="en-US" sz="1200" b="1" dirty="0">
                <a:solidFill>
                  <a:srgbClr val="162033"/>
                </a:solidFill>
              </a:rPr>
              <a:t>Current</a:t>
            </a:r>
            <a:endParaRPr lang="en-US" sz="1200" dirty="0"/>
          </a:p>
        </p:txBody>
      </p:sp>
      <p:sp>
        <p:nvSpPr>
          <p:cNvPr id="22" name="Shape 20"/>
          <p:cNvSpPr/>
          <p:nvPr/>
        </p:nvSpPr>
        <p:spPr>
          <a:xfrm>
            <a:off x="2642616" y="2423160"/>
            <a:ext cx="731520" cy="310896"/>
          </a:xfrm>
          <a:prstGeom prst="roundRect">
            <a:avLst>
              <a:gd name="adj" fmla="val 11765"/>
            </a:avLst>
          </a:prstGeom>
          <a:solidFill>
            <a:srgbClr val="FFFFFF"/>
          </a:solidFill>
          <a:ln w="16510">
            <a:solidFill>
              <a:srgbClr val="4D86E8"/>
            </a:solidFill>
            <a:prstDash val="solid"/>
          </a:ln>
        </p:spPr>
        <p:txBody>
          <a:bodyPr/>
          <a:lstStyle/>
          <a:p>
            <a:endParaRPr lang="en-US"/>
          </a:p>
        </p:txBody>
      </p:sp>
      <p:sp>
        <p:nvSpPr>
          <p:cNvPr id="23" name="Text 21"/>
          <p:cNvSpPr/>
          <p:nvPr/>
        </p:nvSpPr>
        <p:spPr>
          <a:xfrm>
            <a:off x="2670048" y="2496312"/>
            <a:ext cx="676656" cy="128016"/>
          </a:xfrm>
          <a:prstGeom prst="rect">
            <a:avLst/>
          </a:prstGeom>
          <a:noFill/>
          <a:ln/>
        </p:spPr>
        <p:txBody>
          <a:bodyPr wrap="square" lIns="0" tIns="0" rIns="0" bIns="0" rtlCol="0" anchor="ctr"/>
          <a:lstStyle/>
          <a:p>
            <a:pPr marL="0" indent="0" algn="ctr">
              <a:buNone/>
            </a:pPr>
            <a:r>
              <a:rPr lang="en-US" sz="950" dirty="0">
                <a:solidFill>
                  <a:srgbClr val="4D86E8"/>
                </a:solidFill>
              </a:rPr>
              <a:t>+ feature</a:t>
            </a:r>
            <a:endParaRPr lang="en-US" sz="950" dirty="0"/>
          </a:p>
        </p:txBody>
      </p:sp>
      <p:sp>
        <p:nvSpPr>
          <p:cNvPr id="24" name="Shape 22"/>
          <p:cNvSpPr/>
          <p:nvPr/>
        </p:nvSpPr>
        <p:spPr>
          <a:xfrm>
            <a:off x="3008376" y="2734056"/>
            <a:ext cx="0" cy="201168"/>
          </a:xfrm>
          <a:prstGeom prst="line">
            <a:avLst/>
          </a:prstGeom>
          <a:noFill/>
          <a:ln w="12700">
            <a:solidFill>
              <a:srgbClr val="4D86E8"/>
            </a:solidFill>
            <a:prstDash val="solid"/>
          </a:ln>
        </p:spPr>
        <p:txBody>
          <a:bodyPr/>
          <a:lstStyle/>
          <a:p>
            <a:endParaRPr lang="en-US"/>
          </a:p>
        </p:txBody>
      </p:sp>
      <p:sp>
        <p:nvSpPr>
          <p:cNvPr id="25" name="Shape 23"/>
          <p:cNvSpPr/>
          <p:nvPr/>
        </p:nvSpPr>
        <p:spPr>
          <a:xfrm>
            <a:off x="4014216" y="2423160"/>
            <a:ext cx="731520" cy="310896"/>
          </a:xfrm>
          <a:prstGeom prst="roundRect">
            <a:avLst>
              <a:gd name="adj" fmla="val 11765"/>
            </a:avLst>
          </a:prstGeom>
          <a:solidFill>
            <a:srgbClr val="FFFFFF"/>
          </a:solidFill>
          <a:ln w="16510">
            <a:solidFill>
              <a:srgbClr val="E39A27"/>
            </a:solidFill>
            <a:prstDash val="solid"/>
          </a:ln>
        </p:spPr>
        <p:txBody>
          <a:bodyPr/>
          <a:lstStyle/>
          <a:p>
            <a:endParaRPr lang="en-US"/>
          </a:p>
        </p:txBody>
      </p:sp>
      <p:sp>
        <p:nvSpPr>
          <p:cNvPr id="26" name="Text 24"/>
          <p:cNvSpPr/>
          <p:nvPr/>
        </p:nvSpPr>
        <p:spPr>
          <a:xfrm>
            <a:off x="4041648" y="2496312"/>
            <a:ext cx="676656" cy="128016"/>
          </a:xfrm>
          <a:prstGeom prst="rect">
            <a:avLst/>
          </a:prstGeom>
          <a:noFill/>
          <a:ln/>
        </p:spPr>
        <p:txBody>
          <a:bodyPr wrap="square" lIns="0" tIns="0" rIns="0" bIns="0" rtlCol="0" anchor="ctr"/>
          <a:lstStyle/>
          <a:p>
            <a:pPr marL="0" indent="0" algn="ctr">
              <a:buNone/>
            </a:pPr>
            <a:r>
              <a:rPr lang="en-US" sz="950" dirty="0">
                <a:solidFill>
                  <a:srgbClr val="E39A27"/>
                </a:solidFill>
              </a:rPr>
              <a:t>fix()</a:t>
            </a:r>
            <a:endParaRPr lang="en-US" sz="950" dirty="0"/>
          </a:p>
        </p:txBody>
      </p:sp>
      <p:sp>
        <p:nvSpPr>
          <p:cNvPr id="27" name="Shape 25"/>
          <p:cNvSpPr/>
          <p:nvPr/>
        </p:nvSpPr>
        <p:spPr>
          <a:xfrm>
            <a:off x="4379976" y="2734056"/>
            <a:ext cx="0" cy="201168"/>
          </a:xfrm>
          <a:prstGeom prst="line">
            <a:avLst/>
          </a:prstGeom>
          <a:noFill/>
          <a:ln w="12700">
            <a:solidFill>
              <a:srgbClr val="E39A27"/>
            </a:solidFill>
            <a:prstDash val="solid"/>
          </a:ln>
        </p:spPr>
        <p:txBody>
          <a:bodyPr/>
          <a:lstStyle/>
          <a:p>
            <a:endParaRPr lang="en-US"/>
          </a:p>
        </p:txBody>
      </p:sp>
      <p:sp>
        <p:nvSpPr>
          <p:cNvPr id="28" name="Shape 26"/>
          <p:cNvSpPr/>
          <p:nvPr/>
        </p:nvSpPr>
        <p:spPr>
          <a:xfrm>
            <a:off x="5385816" y="2423160"/>
            <a:ext cx="731520" cy="310896"/>
          </a:xfrm>
          <a:prstGeom prst="roundRect">
            <a:avLst>
              <a:gd name="adj" fmla="val 11765"/>
            </a:avLst>
          </a:prstGeom>
          <a:solidFill>
            <a:srgbClr val="FFFFFF"/>
          </a:solidFill>
          <a:ln w="16510">
            <a:solidFill>
              <a:srgbClr val="8657D9"/>
            </a:solidFill>
            <a:prstDash val="solid"/>
          </a:ln>
        </p:spPr>
        <p:txBody>
          <a:bodyPr/>
          <a:lstStyle/>
          <a:p>
            <a:endParaRPr lang="en-US"/>
          </a:p>
        </p:txBody>
      </p:sp>
      <p:sp>
        <p:nvSpPr>
          <p:cNvPr id="29" name="Text 27"/>
          <p:cNvSpPr/>
          <p:nvPr/>
        </p:nvSpPr>
        <p:spPr>
          <a:xfrm>
            <a:off x="5413248" y="2496312"/>
            <a:ext cx="676656" cy="128016"/>
          </a:xfrm>
          <a:prstGeom prst="rect">
            <a:avLst/>
          </a:prstGeom>
          <a:noFill/>
          <a:ln/>
        </p:spPr>
        <p:txBody>
          <a:bodyPr wrap="square" lIns="0" tIns="0" rIns="0" bIns="0" rtlCol="0" anchor="ctr"/>
          <a:lstStyle/>
          <a:p>
            <a:pPr marL="0" indent="0" algn="ctr">
              <a:buNone/>
            </a:pPr>
            <a:r>
              <a:rPr lang="en-US" sz="950" dirty="0">
                <a:solidFill>
                  <a:srgbClr val="8657D9"/>
                </a:solidFill>
              </a:rPr>
              <a:t>rename</a:t>
            </a:r>
            <a:endParaRPr lang="en-US" sz="950" dirty="0"/>
          </a:p>
        </p:txBody>
      </p:sp>
      <p:sp>
        <p:nvSpPr>
          <p:cNvPr id="30" name="Shape 28"/>
          <p:cNvSpPr/>
          <p:nvPr/>
        </p:nvSpPr>
        <p:spPr>
          <a:xfrm>
            <a:off x="5751576" y="2734056"/>
            <a:ext cx="0" cy="201168"/>
          </a:xfrm>
          <a:prstGeom prst="line">
            <a:avLst/>
          </a:prstGeom>
          <a:noFill/>
          <a:ln w="12700">
            <a:solidFill>
              <a:srgbClr val="8657D9"/>
            </a:solidFill>
            <a:prstDash val="solid"/>
          </a:ln>
        </p:spPr>
        <p:txBody>
          <a:bodyPr/>
          <a:lstStyle/>
          <a:p>
            <a:endParaRPr lang="en-US"/>
          </a:p>
        </p:txBody>
      </p:sp>
      <p:sp>
        <p:nvSpPr>
          <p:cNvPr id="31" name="Shape 29"/>
          <p:cNvSpPr/>
          <p:nvPr/>
        </p:nvSpPr>
        <p:spPr>
          <a:xfrm>
            <a:off x="6757416" y="2423160"/>
            <a:ext cx="731520" cy="310896"/>
          </a:xfrm>
          <a:prstGeom prst="roundRect">
            <a:avLst>
              <a:gd name="adj" fmla="val 11765"/>
            </a:avLst>
          </a:prstGeom>
          <a:solidFill>
            <a:srgbClr val="FFFFFF"/>
          </a:solidFill>
          <a:ln w="16510">
            <a:solidFill>
              <a:srgbClr val="31A354"/>
            </a:solidFill>
            <a:prstDash val="solid"/>
          </a:ln>
        </p:spPr>
        <p:txBody>
          <a:bodyPr/>
          <a:lstStyle/>
          <a:p>
            <a:endParaRPr lang="en-US"/>
          </a:p>
        </p:txBody>
      </p:sp>
      <p:sp>
        <p:nvSpPr>
          <p:cNvPr id="32" name="Text 30"/>
          <p:cNvSpPr/>
          <p:nvPr/>
        </p:nvSpPr>
        <p:spPr>
          <a:xfrm>
            <a:off x="6784848" y="2496312"/>
            <a:ext cx="676656" cy="128016"/>
          </a:xfrm>
          <a:prstGeom prst="rect">
            <a:avLst/>
          </a:prstGeom>
          <a:noFill/>
          <a:ln/>
        </p:spPr>
        <p:txBody>
          <a:bodyPr wrap="square" lIns="0" tIns="0" rIns="0" bIns="0" rtlCol="0" anchor="ctr"/>
          <a:lstStyle/>
          <a:p>
            <a:pPr marL="0" indent="0" algn="ctr">
              <a:buNone/>
            </a:pPr>
            <a:r>
              <a:rPr lang="en-US" sz="950" dirty="0">
                <a:solidFill>
                  <a:srgbClr val="31A354"/>
                </a:solidFill>
              </a:rPr>
              <a:t>test ✓</a:t>
            </a:r>
            <a:endParaRPr lang="en-US" sz="950" dirty="0"/>
          </a:p>
        </p:txBody>
      </p:sp>
      <p:sp>
        <p:nvSpPr>
          <p:cNvPr id="33" name="Shape 31"/>
          <p:cNvSpPr/>
          <p:nvPr/>
        </p:nvSpPr>
        <p:spPr>
          <a:xfrm>
            <a:off x="7123176" y="2734056"/>
            <a:ext cx="0" cy="201168"/>
          </a:xfrm>
          <a:prstGeom prst="line">
            <a:avLst/>
          </a:prstGeom>
          <a:noFill/>
          <a:ln w="12700">
            <a:solidFill>
              <a:srgbClr val="31A354"/>
            </a:solidFill>
            <a:prstDash val="solid"/>
          </a:ln>
        </p:spPr>
        <p:txBody>
          <a:bodyPr/>
          <a:lstStyle/>
          <a:p>
            <a:endParaRPr lang="en-US"/>
          </a:p>
        </p:txBody>
      </p:sp>
      <p:sp>
        <p:nvSpPr>
          <p:cNvPr id="34" name="Shape 32"/>
          <p:cNvSpPr/>
          <p:nvPr/>
        </p:nvSpPr>
        <p:spPr>
          <a:xfrm>
            <a:off x="8129016" y="2423160"/>
            <a:ext cx="731520" cy="310896"/>
          </a:xfrm>
          <a:prstGeom prst="roundRect">
            <a:avLst>
              <a:gd name="adj" fmla="val 11765"/>
            </a:avLst>
          </a:prstGeom>
          <a:solidFill>
            <a:srgbClr val="FFFFFF"/>
          </a:solidFill>
          <a:ln w="16510">
            <a:solidFill>
              <a:srgbClr val="2161D1"/>
            </a:solidFill>
            <a:prstDash val="solid"/>
          </a:ln>
        </p:spPr>
        <p:txBody>
          <a:bodyPr/>
          <a:lstStyle/>
          <a:p>
            <a:endParaRPr lang="en-US"/>
          </a:p>
        </p:txBody>
      </p:sp>
      <p:sp>
        <p:nvSpPr>
          <p:cNvPr id="35" name="Text 33"/>
          <p:cNvSpPr/>
          <p:nvPr/>
        </p:nvSpPr>
        <p:spPr>
          <a:xfrm>
            <a:off x="8156448" y="2496312"/>
            <a:ext cx="676656" cy="128016"/>
          </a:xfrm>
          <a:prstGeom prst="rect">
            <a:avLst/>
          </a:prstGeom>
          <a:noFill/>
          <a:ln/>
        </p:spPr>
        <p:txBody>
          <a:bodyPr wrap="square" lIns="0" tIns="0" rIns="0" bIns="0" rtlCol="0" anchor="ctr"/>
          <a:lstStyle/>
          <a:p>
            <a:pPr marL="0" indent="0" algn="ctr">
              <a:buNone/>
            </a:pPr>
            <a:r>
              <a:rPr lang="en-US" sz="950" dirty="0">
                <a:solidFill>
                  <a:srgbClr val="2161D1"/>
                </a:solidFill>
              </a:rPr>
              <a:t>v2.0</a:t>
            </a:r>
            <a:endParaRPr lang="en-US" sz="950" dirty="0"/>
          </a:p>
        </p:txBody>
      </p:sp>
      <p:sp>
        <p:nvSpPr>
          <p:cNvPr id="36" name="Shape 34"/>
          <p:cNvSpPr/>
          <p:nvPr/>
        </p:nvSpPr>
        <p:spPr>
          <a:xfrm>
            <a:off x="8494776" y="2734056"/>
            <a:ext cx="0" cy="201168"/>
          </a:xfrm>
          <a:prstGeom prst="line">
            <a:avLst/>
          </a:prstGeom>
          <a:noFill/>
          <a:ln w="12700">
            <a:solidFill>
              <a:srgbClr val="2161D1"/>
            </a:solidFill>
            <a:prstDash val="solid"/>
          </a:ln>
        </p:spPr>
        <p:txBody>
          <a:bodyPr/>
          <a:lstStyle/>
          <a:p>
            <a:endParaRPr lang="en-US"/>
          </a:p>
        </p:txBody>
      </p:sp>
      <p:sp>
        <p:nvSpPr>
          <p:cNvPr id="37" name="Shape 35"/>
          <p:cNvSpPr/>
          <p:nvPr/>
        </p:nvSpPr>
        <p:spPr>
          <a:xfrm>
            <a:off x="960120" y="4892040"/>
            <a:ext cx="2788920" cy="1078992"/>
          </a:xfrm>
          <a:prstGeom prst="roundRect">
            <a:avLst>
              <a:gd name="adj" fmla="val 4237"/>
            </a:avLst>
          </a:prstGeom>
          <a:solidFill>
            <a:srgbClr val="EEF4FF"/>
          </a:solidFill>
          <a:ln w="15240">
            <a:solidFill>
              <a:srgbClr val="B7C9EC"/>
            </a:solidFill>
            <a:prstDash val="solid"/>
          </a:ln>
        </p:spPr>
        <p:txBody>
          <a:bodyPr/>
          <a:lstStyle/>
          <a:p>
            <a:endParaRPr lang="en-US"/>
          </a:p>
        </p:txBody>
      </p:sp>
      <p:sp>
        <p:nvSpPr>
          <p:cNvPr id="38" name="Text 36"/>
          <p:cNvSpPr/>
          <p:nvPr/>
        </p:nvSpPr>
        <p:spPr>
          <a:xfrm>
            <a:off x="1097280" y="5074920"/>
            <a:ext cx="2514600" cy="237744"/>
          </a:xfrm>
          <a:prstGeom prst="rect">
            <a:avLst/>
          </a:prstGeom>
          <a:noFill/>
          <a:ln/>
        </p:spPr>
        <p:txBody>
          <a:bodyPr wrap="square" lIns="0" tIns="0" rIns="0" bIns="0" rtlCol="0" anchor="ctr"/>
          <a:lstStyle/>
          <a:p>
            <a:pPr marL="0" indent="0" algn="ctr">
              <a:buNone/>
            </a:pPr>
            <a:r>
              <a:rPr lang="en-US" sz="1500" b="1" dirty="0">
                <a:solidFill>
                  <a:srgbClr val="183153"/>
                </a:solidFill>
              </a:rPr>
              <a:t>What changed?</a:t>
            </a:r>
            <a:endParaRPr lang="en-US" sz="1500" dirty="0"/>
          </a:p>
        </p:txBody>
      </p:sp>
      <p:sp>
        <p:nvSpPr>
          <p:cNvPr id="39" name="Text 37"/>
          <p:cNvSpPr/>
          <p:nvPr/>
        </p:nvSpPr>
        <p:spPr>
          <a:xfrm>
            <a:off x="1143000" y="5404104"/>
            <a:ext cx="2423160" cy="384048"/>
          </a:xfrm>
          <a:prstGeom prst="rect">
            <a:avLst/>
          </a:prstGeom>
          <a:noFill/>
          <a:ln/>
        </p:spPr>
        <p:txBody>
          <a:bodyPr wrap="square" lIns="0" tIns="0" rIns="0" bIns="0" rtlCol="0" anchor="ctr"/>
          <a:lstStyle/>
          <a:p>
            <a:pPr marL="0" indent="0" algn="ctr">
              <a:buNone/>
            </a:pPr>
            <a:r>
              <a:rPr lang="en-US" sz="1150" dirty="0">
                <a:solidFill>
                  <a:srgbClr val="42506A"/>
                </a:solidFill>
              </a:rPr>
              <a:t>Commits preserve features, fixes, and refactorings.</a:t>
            </a:r>
            <a:endParaRPr lang="en-US" sz="1150" dirty="0"/>
          </a:p>
        </p:txBody>
      </p:sp>
      <p:sp>
        <p:nvSpPr>
          <p:cNvPr id="40" name="Shape 38"/>
          <p:cNvSpPr/>
          <p:nvPr/>
        </p:nvSpPr>
        <p:spPr>
          <a:xfrm>
            <a:off x="4251960" y="4892040"/>
            <a:ext cx="2788920" cy="1078992"/>
          </a:xfrm>
          <a:prstGeom prst="roundRect">
            <a:avLst>
              <a:gd name="adj" fmla="val 4237"/>
            </a:avLst>
          </a:prstGeom>
          <a:solidFill>
            <a:srgbClr val="EEF4FF"/>
          </a:solidFill>
          <a:ln w="15240">
            <a:solidFill>
              <a:srgbClr val="B7C9EC"/>
            </a:solidFill>
            <a:prstDash val="solid"/>
          </a:ln>
        </p:spPr>
        <p:txBody>
          <a:bodyPr/>
          <a:lstStyle/>
          <a:p>
            <a:endParaRPr lang="en-US"/>
          </a:p>
        </p:txBody>
      </p:sp>
      <p:sp>
        <p:nvSpPr>
          <p:cNvPr id="41" name="Text 39"/>
          <p:cNvSpPr/>
          <p:nvPr/>
        </p:nvSpPr>
        <p:spPr>
          <a:xfrm>
            <a:off x="4389120" y="5074920"/>
            <a:ext cx="2514600" cy="237744"/>
          </a:xfrm>
          <a:prstGeom prst="rect">
            <a:avLst/>
          </a:prstGeom>
          <a:noFill/>
          <a:ln/>
        </p:spPr>
        <p:txBody>
          <a:bodyPr wrap="square" lIns="0" tIns="0" rIns="0" bIns="0" rtlCol="0" anchor="ctr"/>
          <a:lstStyle/>
          <a:p>
            <a:pPr marL="0" indent="0" algn="ctr">
              <a:buNone/>
            </a:pPr>
            <a:r>
              <a:rPr lang="en-US" sz="1500" b="1" dirty="0">
                <a:solidFill>
                  <a:srgbClr val="183153"/>
                </a:solidFill>
              </a:rPr>
              <a:t>When did it change?</a:t>
            </a:r>
            <a:endParaRPr lang="en-US" sz="1500" dirty="0"/>
          </a:p>
        </p:txBody>
      </p:sp>
      <p:sp>
        <p:nvSpPr>
          <p:cNvPr id="42" name="Text 40"/>
          <p:cNvSpPr/>
          <p:nvPr/>
        </p:nvSpPr>
        <p:spPr>
          <a:xfrm>
            <a:off x="4434840" y="5404104"/>
            <a:ext cx="2423160" cy="384048"/>
          </a:xfrm>
          <a:prstGeom prst="rect">
            <a:avLst/>
          </a:prstGeom>
          <a:noFill/>
          <a:ln/>
        </p:spPr>
        <p:txBody>
          <a:bodyPr wrap="square" lIns="0" tIns="0" rIns="0" bIns="0" rtlCol="0" anchor="ctr"/>
          <a:lstStyle/>
          <a:p>
            <a:pPr marL="0" indent="0" algn="ctr">
              <a:buNone/>
            </a:pPr>
            <a:r>
              <a:rPr lang="en-US" sz="1150" dirty="0">
                <a:solidFill>
                  <a:srgbClr val="42506A"/>
                </a:solidFill>
              </a:rPr>
              <a:t>History orders changes and identifies versions.</a:t>
            </a:r>
            <a:endParaRPr lang="en-US" sz="1150" dirty="0"/>
          </a:p>
        </p:txBody>
      </p:sp>
      <p:sp>
        <p:nvSpPr>
          <p:cNvPr id="43" name="Shape 41"/>
          <p:cNvSpPr/>
          <p:nvPr/>
        </p:nvSpPr>
        <p:spPr>
          <a:xfrm>
            <a:off x="7543800" y="4892040"/>
            <a:ext cx="2788920" cy="1078992"/>
          </a:xfrm>
          <a:prstGeom prst="roundRect">
            <a:avLst>
              <a:gd name="adj" fmla="val 4237"/>
            </a:avLst>
          </a:prstGeom>
          <a:solidFill>
            <a:srgbClr val="EEF4FF"/>
          </a:solidFill>
          <a:ln w="15240">
            <a:solidFill>
              <a:srgbClr val="B7C9EC"/>
            </a:solidFill>
            <a:prstDash val="solid"/>
          </a:ln>
        </p:spPr>
        <p:txBody>
          <a:bodyPr/>
          <a:lstStyle/>
          <a:p>
            <a:endParaRPr lang="en-US"/>
          </a:p>
        </p:txBody>
      </p:sp>
      <p:sp>
        <p:nvSpPr>
          <p:cNvPr id="44" name="Text 42"/>
          <p:cNvSpPr/>
          <p:nvPr/>
        </p:nvSpPr>
        <p:spPr>
          <a:xfrm>
            <a:off x="7680960" y="5074920"/>
            <a:ext cx="2514600" cy="237744"/>
          </a:xfrm>
          <a:prstGeom prst="rect">
            <a:avLst/>
          </a:prstGeom>
          <a:noFill/>
          <a:ln/>
        </p:spPr>
        <p:txBody>
          <a:bodyPr wrap="square" lIns="0" tIns="0" rIns="0" bIns="0" rtlCol="0" anchor="ctr"/>
          <a:lstStyle/>
          <a:p>
            <a:pPr marL="0" indent="0" algn="ctr">
              <a:buNone/>
            </a:pPr>
            <a:r>
              <a:rPr lang="en-US" sz="1500" b="1" dirty="0">
                <a:solidFill>
                  <a:srgbClr val="183153"/>
                </a:solidFill>
              </a:rPr>
              <a:t>How did we get here?</a:t>
            </a:r>
            <a:endParaRPr lang="en-US" sz="1500" dirty="0"/>
          </a:p>
        </p:txBody>
      </p:sp>
      <p:sp>
        <p:nvSpPr>
          <p:cNvPr id="45" name="Text 43"/>
          <p:cNvSpPr/>
          <p:nvPr/>
        </p:nvSpPr>
        <p:spPr>
          <a:xfrm>
            <a:off x="7726680" y="5404104"/>
            <a:ext cx="2423160" cy="384048"/>
          </a:xfrm>
          <a:prstGeom prst="rect">
            <a:avLst/>
          </a:prstGeom>
          <a:noFill/>
          <a:ln/>
        </p:spPr>
        <p:txBody>
          <a:bodyPr wrap="square" lIns="0" tIns="0" rIns="0" bIns="0" rtlCol="0" anchor="ctr"/>
          <a:lstStyle/>
          <a:p>
            <a:pPr marL="0" indent="0" algn="ctr">
              <a:buNone/>
            </a:pPr>
            <a:r>
              <a:rPr lang="en-US" sz="1150" dirty="0">
                <a:solidFill>
                  <a:srgbClr val="42506A"/>
                </a:solidFill>
              </a:rPr>
              <a:t>Relationships among commits explain the current codebase.</a:t>
            </a:r>
            <a:endParaRPr lang="en-US" sz="1150" dirty="0"/>
          </a:p>
        </p:txBody>
      </p:sp>
      <p:sp>
        <p:nvSpPr>
          <p:cNvPr id="47" name="Text 44"/>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900" dirty="0">
                <a:solidFill>
                  <a:srgbClr val="777777"/>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04672"/>
          </a:xfrm>
          <a:prstGeom prst="rect">
            <a:avLst/>
          </a:prstGeom>
          <a:solidFill>
            <a:srgbClr val="66737A"/>
          </a:solidFill>
          <a:ln w="12700">
            <a:solidFill>
              <a:srgbClr val="66737A"/>
            </a:solidFill>
            <a:prstDash val="solid"/>
          </a:ln>
        </p:spPr>
        <p:txBody>
          <a:bodyPr/>
          <a:lstStyle/>
          <a:p>
            <a:endParaRPr lang="en-US"/>
          </a:p>
        </p:txBody>
      </p:sp>
      <p:sp>
        <p:nvSpPr>
          <p:cNvPr id="3" name="Text 1"/>
          <p:cNvSpPr/>
          <p:nvPr/>
        </p:nvSpPr>
        <p:spPr>
          <a:xfrm>
            <a:off x="594360" y="155448"/>
            <a:ext cx="10789920" cy="438912"/>
          </a:xfrm>
          <a:prstGeom prst="rect">
            <a:avLst/>
          </a:prstGeom>
          <a:noFill/>
          <a:ln/>
        </p:spPr>
        <p:txBody>
          <a:bodyPr wrap="square" lIns="0" tIns="0" rIns="0" bIns="0" rtlCol="0" anchor="ctr"/>
          <a:lstStyle/>
          <a:p>
            <a:pPr marL="0" indent="0">
              <a:buNone/>
            </a:pPr>
            <a:r>
              <a:rPr lang="en-US" sz="2700" b="1" dirty="0">
                <a:solidFill>
                  <a:srgbClr val="FFFFFF"/>
                </a:solidFill>
                <a:latin typeface="Aptos" pitchFamily="34" charset="0"/>
                <a:ea typeface="Aptos" pitchFamily="34" charset="-122"/>
                <a:cs typeface="Aptos" pitchFamily="34" charset="-120"/>
              </a:rPr>
              <a:t>One Codebase Can Evolve Along Different Paths</a:t>
            </a:r>
            <a:endParaRPr lang="en-US" sz="2700" dirty="0"/>
          </a:p>
        </p:txBody>
      </p:sp>
      <p:sp>
        <p:nvSpPr>
          <p:cNvPr id="4" name="Text 2"/>
          <p:cNvSpPr/>
          <p:nvPr/>
        </p:nvSpPr>
        <p:spPr>
          <a:xfrm>
            <a:off x="685800" y="1078992"/>
            <a:ext cx="10881360" cy="411480"/>
          </a:xfrm>
          <a:prstGeom prst="rect">
            <a:avLst/>
          </a:prstGeom>
          <a:noFill/>
          <a:ln/>
        </p:spPr>
        <p:txBody>
          <a:bodyPr wrap="square" lIns="0" tIns="0" rIns="0" bIns="0" rtlCol="0" anchor="ctr"/>
          <a:lstStyle/>
          <a:p>
            <a:pPr marL="0" indent="0" algn="ctr">
              <a:buNone/>
            </a:pPr>
            <a:r>
              <a:rPr lang="en-US" sz="1900" b="1" dirty="0">
                <a:solidFill>
                  <a:srgbClr val="162033"/>
                </a:solidFill>
              </a:rPr>
              <a:t>Branches and forks share a common origin, but they can accumulate different changes over time.</a:t>
            </a:r>
            <a:endParaRPr lang="en-US" sz="1900" dirty="0"/>
          </a:p>
        </p:txBody>
      </p:sp>
      <p:sp>
        <p:nvSpPr>
          <p:cNvPr id="5" name="Shape 3"/>
          <p:cNvSpPr/>
          <p:nvPr/>
        </p:nvSpPr>
        <p:spPr>
          <a:xfrm>
            <a:off x="658368" y="1783080"/>
            <a:ext cx="10881360" cy="3520440"/>
          </a:xfrm>
          <a:prstGeom prst="roundRect">
            <a:avLst>
              <a:gd name="adj" fmla="val 1558"/>
            </a:avLst>
          </a:prstGeom>
          <a:solidFill>
            <a:srgbClr val="F8FAFD"/>
          </a:solidFill>
          <a:ln w="19050">
            <a:solidFill>
              <a:srgbClr val="D5DFEF"/>
            </a:solidFill>
            <a:prstDash val="solid"/>
          </a:ln>
        </p:spPr>
        <p:txBody>
          <a:bodyPr/>
          <a:lstStyle/>
          <a:p>
            <a:endParaRPr lang="en-US"/>
          </a:p>
        </p:txBody>
      </p:sp>
      <p:sp>
        <p:nvSpPr>
          <p:cNvPr id="6" name="Text 4"/>
          <p:cNvSpPr/>
          <p:nvPr/>
        </p:nvSpPr>
        <p:spPr>
          <a:xfrm>
            <a:off x="960120" y="2039112"/>
            <a:ext cx="2103120" cy="228600"/>
          </a:xfrm>
          <a:prstGeom prst="rect">
            <a:avLst/>
          </a:prstGeom>
          <a:noFill/>
          <a:ln/>
        </p:spPr>
        <p:txBody>
          <a:bodyPr wrap="square" lIns="0" tIns="0" rIns="0" bIns="0" rtlCol="0" anchor="ctr"/>
          <a:lstStyle/>
          <a:p>
            <a:pPr marL="0" indent="0" algn="ctr">
              <a:buNone/>
            </a:pPr>
            <a:r>
              <a:rPr lang="en-US" sz="1200" b="1" dirty="0">
                <a:solidFill>
                  <a:srgbClr val="66737A"/>
                </a:solidFill>
              </a:rPr>
              <a:t>COMMON HISTORY</a:t>
            </a:r>
            <a:endParaRPr lang="en-US" sz="1200" dirty="0"/>
          </a:p>
        </p:txBody>
      </p:sp>
      <p:sp>
        <p:nvSpPr>
          <p:cNvPr id="7" name="Shape 5"/>
          <p:cNvSpPr/>
          <p:nvPr/>
        </p:nvSpPr>
        <p:spPr>
          <a:xfrm>
            <a:off x="1051560" y="3246120"/>
            <a:ext cx="3154680" cy="0"/>
          </a:xfrm>
          <a:prstGeom prst="line">
            <a:avLst/>
          </a:prstGeom>
          <a:noFill/>
          <a:ln w="38100">
            <a:solidFill>
              <a:srgbClr val="183153"/>
            </a:solidFill>
            <a:prstDash val="solid"/>
          </a:ln>
        </p:spPr>
        <p:txBody>
          <a:bodyPr/>
          <a:lstStyle/>
          <a:p>
            <a:endParaRPr lang="en-US"/>
          </a:p>
        </p:txBody>
      </p:sp>
      <p:sp>
        <p:nvSpPr>
          <p:cNvPr id="8" name="Shape 6"/>
          <p:cNvSpPr/>
          <p:nvPr/>
        </p:nvSpPr>
        <p:spPr>
          <a:xfrm>
            <a:off x="1325880" y="3118104"/>
            <a:ext cx="256032" cy="256032"/>
          </a:xfrm>
          <a:prstGeom prst="ellipse">
            <a:avLst/>
          </a:prstGeom>
          <a:solidFill>
            <a:srgbClr val="2161D1"/>
          </a:solidFill>
          <a:ln w="12700">
            <a:solidFill>
              <a:srgbClr val="FFFFFF"/>
            </a:solidFill>
            <a:prstDash val="solid"/>
          </a:ln>
        </p:spPr>
        <p:txBody>
          <a:bodyPr/>
          <a:lstStyle/>
          <a:p>
            <a:endParaRPr lang="en-US"/>
          </a:p>
        </p:txBody>
      </p:sp>
      <p:sp>
        <p:nvSpPr>
          <p:cNvPr id="9" name="Shape 7"/>
          <p:cNvSpPr/>
          <p:nvPr/>
        </p:nvSpPr>
        <p:spPr>
          <a:xfrm>
            <a:off x="1965960" y="3118104"/>
            <a:ext cx="256032" cy="256032"/>
          </a:xfrm>
          <a:prstGeom prst="ellipse">
            <a:avLst/>
          </a:prstGeom>
          <a:solidFill>
            <a:srgbClr val="2161D1"/>
          </a:solidFill>
          <a:ln w="12700">
            <a:solidFill>
              <a:srgbClr val="FFFFFF"/>
            </a:solidFill>
            <a:prstDash val="solid"/>
          </a:ln>
        </p:spPr>
        <p:txBody>
          <a:bodyPr/>
          <a:lstStyle/>
          <a:p>
            <a:endParaRPr lang="en-US"/>
          </a:p>
        </p:txBody>
      </p:sp>
      <p:sp>
        <p:nvSpPr>
          <p:cNvPr id="10" name="Shape 8"/>
          <p:cNvSpPr/>
          <p:nvPr/>
        </p:nvSpPr>
        <p:spPr>
          <a:xfrm>
            <a:off x="2606040" y="3118104"/>
            <a:ext cx="256032" cy="256032"/>
          </a:xfrm>
          <a:prstGeom prst="ellipse">
            <a:avLst/>
          </a:prstGeom>
          <a:solidFill>
            <a:srgbClr val="2161D1"/>
          </a:solidFill>
          <a:ln w="12700">
            <a:solidFill>
              <a:srgbClr val="FFFFFF"/>
            </a:solidFill>
            <a:prstDash val="solid"/>
          </a:ln>
        </p:spPr>
        <p:txBody>
          <a:bodyPr/>
          <a:lstStyle/>
          <a:p>
            <a:endParaRPr lang="en-US"/>
          </a:p>
        </p:txBody>
      </p:sp>
      <p:sp>
        <p:nvSpPr>
          <p:cNvPr id="11" name="Shape 9"/>
          <p:cNvSpPr/>
          <p:nvPr/>
        </p:nvSpPr>
        <p:spPr>
          <a:xfrm>
            <a:off x="3246120" y="3118104"/>
            <a:ext cx="256032" cy="256032"/>
          </a:xfrm>
          <a:prstGeom prst="ellipse">
            <a:avLst/>
          </a:prstGeom>
          <a:solidFill>
            <a:srgbClr val="31A354"/>
          </a:solidFill>
          <a:ln w="12700">
            <a:solidFill>
              <a:srgbClr val="FFFFFF"/>
            </a:solidFill>
            <a:prstDash val="solid"/>
          </a:ln>
        </p:spPr>
        <p:txBody>
          <a:bodyPr/>
          <a:lstStyle/>
          <a:p>
            <a:endParaRPr lang="en-US"/>
          </a:p>
        </p:txBody>
      </p:sp>
      <p:sp>
        <p:nvSpPr>
          <p:cNvPr id="12" name="Shape 10"/>
          <p:cNvSpPr/>
          <p:nvPr/>
        </p:nvSpPr>
        <p:spPr>
          <a:xfrm>
            <a:off x="3886200" y="3118104"/>
            <a:ext cx="256032" cy="256032"/>
          </a:xfrm>
          <a:prstGeom prst="ellipse">
            <a:avLst/>
          </a:prstGeom>
          <a:solidFill>
            <a:srgbClr val="31A354"/>
          </a:solidFill>
          <a:ln w="12700">
            <a:solidFill>
              <a:srgbClr val="FFFFFF"/>
            </a:solidFill>
            <a:prstDash val="solid"/>
          </a:ln>
        </p:spPr>
        <p:txBody>
          <a:bodyPr/>
          <a:lstStyle/>
          <a:p>
            <a:endParaRPr lang="en-US"/>
          </a:p>
        </p:txBody>
      </p:sp>
      <p:sp>
        <p:nvSpPr>
          <p:cNvPr id="13" name="Shape 11"/>
          <p:cNvSpPr/>
          <p:nvPr/>
        </p:nvSpPr>
        <p:spPr>
          <a:xfrm>
            <a:off x="4206240" y="2606040"/>
            <a:ext cx="0" cy="1325880"/>
          </a:xfrm>
          <a:prstGeom prst="line">
            <a:avLst/>
          </a:prstGeom>
          <a:noFill/>
          <a:ln w="25400">
            <a:solidFill>
              <a:srgbClr val="162033"/>
            </a:solidFill>
            <a:prstDash val="solid"/>
          </a:ln>
        </p:spPr>
        <p:txBody>
          <a:bodyPr/>
          <a:lstStyle/>
          <a:p>
            <a:endParaRPr lang="en-US"/>
          </a:p>
        </p:txBody>
      </p:sp>
      <p:sp>
        <p:nvSpPr>
          <p:cNvPr id="14" name="Text 12"/>
          <p:cNvSpPr/>
          <p:nvPr/>
        </p:nvSpPr>
        <p:spPr>
          <a:xfrm>
            <a:off x="3657600" y="2331720"/>
            <a:ext cx="1097280" cy="201168"/>
          </a:xfrm>
          <a:prstGeom prst="rect">
            <a:avLst/>
          </a:prstGeom>
          <a:noFill/>
          <a:ln/>
        </p:spPr>
        <p:txBody>
          <a:bodyPr wrap="square" lIns="0" tIns="0" rIns="0" bIns="0" rtlCol="0" anchor="ctr"/>
          <a:lstStyle/>
          <a:p>
            <a:pPr marL="0" indent="0" algn="ctr">
              <a:buNone/>
            </a:pPr>
            <a:r>
              <a:rPr lang="en-US" sz="1100" b="1" dirty="0">
                <a:solidFill>
                  <a:srgbClr val="162033"/>
                </a:solidFill>
              </a:rPr>
              <a:t>branch / fork</a:t>
            </a:r>
            <a:endParaRPr lang="en-US" sz="1100" dirty="0"/>
          </a:p>
        </p:txBody>
      </p:sp>
      <p:sp>
        <p:nvSpPr>
          <p:cNvPr id="15" name="Shape 13"/>
          <p:cNvSpPr/>
          <p:nvPr/>
        </p:nvSpPr>
        <p:spPr>
          <a:xfrm flipV="1">
            <a:off x="4216750" y="2467515"/>
            <a:ext cx="914348" cy="768095"/>
          </a:xfrm>
          <a:prstGeom prst="line">
            <a:avLst/>
          </a:prstGeom>
          <a:noFill/>
          <a:ln w="38100">
            <a:solidFill>
              <a:srgbClr val="2161D1"/>
            </a:solidFill>
            <a:prstDash val="solid"/>
          </a:ln>
        </p:spPr>
        <p:txBody>
          <a:bodyPr/>
          <a:lstStyle/>
          <a:p>
            <a:endParaRPr lang="en-US"/>
          </a:p>
        </p:txBody>
      </p:sp>
      <p:sp>
        <p:nvSpPr>
          <p:cNvPr id="16" name="Shape 14"/>
          <p:cNvSpPr/>
          <p:nvPr/>
        </p:nvSpPr>
        <p:spPr>
          <a:xfrm>
            <a:off x="5120640" y="2468880"/>
            <a:ext cx="5029200" cy="0"/>
          </a:xfrm>
          <a:prstGeom prst="line">
            <a:avLst/>
          </a:prstGeom>
          <a:noFill/>
          <a:ln w="38100">
            <a:solidFill>
              <a:srgbClr val="2161D1"/>
            </a:solidFill>
            <a:prstDash val="solid"/>
            <a:tailEnd type="triangle"/>
          </a:ln>
        </p:spPr>
        <p:txBody>
          <a:bodyPr/>
          <a:lstStyle/>
          <a:p>
            <a:endParaRPr lang="en-US"/>
          </a:p>
        </p:txBody>
      </p:sp>
      <p:sp>
        <p:nvSpPr>
          <p:cNvPr id="17" name="Shape 15"/>
          <p:cNvSpPr/>
          <p:nvPr/>
        </p:nvSpPr>
        <p:spPr>
          <a:xfrm>
            <a:off x="5394960" y="2340864"/>
            <a:ext cx="256032" cy="256032"/>
          </a:xfrm>
          <a:prstGeom prst="ellipse">
            <a:avLst/>
          </a:prstGeom>
          <a:solidFill>
            <a:srgbClr val="2161D1"/>
          </a:solidFill>
          <a:ln w="12700">
            <a:solidFill>
              <a:srgbClr val="FFFFFF"/>
            </a:solidFill>
            <a:prstDash val="solid"/>
          </a:ln>
        </p:spPr>
        <p:txBody>
          <a:bodyPr/>
          <a:lstStyle/>
          <a:p>
            <a:endParaRPr lang="en-US"/>
          </a:p>
        </p:txBody>
      </p:sp>
      <p:sp>
        <p:nvSpPr>
          <p:cNvPr id="18" name="Shape 16"/>
          <p:cNvSpPr/>
          <p:nvPr/>
        </p:nvSpPr>
        <p:spPr>
          <a:xfrm>
            <a:off x="6172200" y="2340864"/>
            <a:ext cx="256032" cy="256032"/>
          </a:xfrm>
          <a:prstGeom prst="ellipse">
            <a:avLst/>
          </a:prstGeom>
          <a:solidFill>
            <a:srgbClr val="E39A27"/>
          </a:solidFill>
          <a:ln w="12700">
            <a:solidFill>
              <a:srgbClr val="FFFFFF"/>
            </a:solidFill>
            <a:prstDash val="solid"/>
          </a:ln>
        </p:spPr>
        <p:txBody>
          <a:bodyPr/>
          <a:lstStyle/>
          <a:p>
            <a:endParaRPr lang="en-US"/>
          </a:p>
        </p:txBody>
      </p:sp>
      <p:sp>
        <p:nvSpPr>
          <p:cNvPr id="19" name="Shape 17"/>
          <p:cNvSpPr/>
          <p:nvPr/>
        </p:nvSpPr>
        <p:spPr>
          <a:xfrm>
            <a:off x="6949440" y="2340864"/>
            <a:ext cx="256032" cy="256032"/>
          </a:xfrm>
          <a:prstGeom prst="ellipse">
            <a:avLst/>
          </a:prstGeom>
          <a:solidFill>
            <a:srgbClr val="8657D9"/>
          </a:solidFill>
          <a:ln w="12700">
            <a:solidFill>
              <a:srgbClr val="FFFFFF"/>
            </a:solidFill>
            <a:prstDash val="solid"/>
          </a:ln>
        </p:spPr>
        <p:txBody>
          <a:bodyPr/>
          <a:lstStyle/>
          <a:p>
            <a:endParaRPr lang="en-US"/>
          </a:p>
        </p:txBody>
      </p:sp>
      <p:sp>
        <p:nvSpPr>
          <p:cNvPr id="20" name="Shape 18"/>
          <p:cNvSpPr/>
          <p:nvPr/>
        </p:nvSpPr>
        <p:spPr>
          <a:xfrm>
            <a:off x="7726680" y="2340864"/>
            <a:ext cx="256032" cy="256032"/>
          </a:xfrm>
          <a:prstGeom prst="ellipse">
            <a:avLst/>
          </a:prstGeom>
          <a:solidFill>
            <a:srgbClr val="4D86E8"/>
          </a:solidFill>
          <a:ln w="12700">
            <a:solidFill>
              <a:srgbClr val="FFFFFF"/>
            </a:solidFill>
            <a:prstDash val="solid"/>
          </a:ln>
        </p:spPr>
        <p:txBody>
          <a:bodyPr/>
          <a:lstStyle/>
          <a:p>
            <a:endParaRPr lang="en-US"/>
          </a:p>
        </p:txBody>
      </p:sp>
      <p:sp>
        <p:nvSpPr>
          <p:cNvPr id="21" name="Shape 19"/>
          <p:cNvSpPr/>
          <p:nvPr/>
        </p:nvSpPr>
        <p:spPr>
          <a:xfrm>
            <a:off x="8503920" y="2340864"/>
            <a:ext cx="256032" cy="256032"/>
          </a:xfrm>
          <a:prstGeom prst="ellipse">
            <a:avLst/>
          </a:prstGeom>
          <a:solidFill>
            <a:srgbClr val="31A354"/>
          </a:solidFill>
          <a:ln w="12700">
            <a:solidFill>
              <a:srgbClr val="FFFFFF"/>
            </a:solidFill>
            <a:prstDash val="solid"/>
          </a:ln>
        </p:spPr>
        <p:txBody>
          <a:bodyPr/>
          <a:lstStyle/>
          <a:p>
            <a:endParaRPr lang="en-US"/>
          </a:p>
        </p:txBody>
      </p:sp>
      <p:sp>
        <p:nvSpPr>
          <p:cNvPr id="22" name="Shape 20"/>
          <p:cNvSpPr/>
          <p:nvPr/>
        </p:nvSpPr>
        <p:spPr>
          <a:xfrm>
            <a:off x="9281160" y="2340864"/>
            <a:ext cx="256032" cy="256032"/>
          </a:xfrm>
          <a:prstGeom prst="ellipse">
            <a:avLst/>
          </a:prstGeom>
          <a:solidFill>
            <a:srgbClr val="E39A27"/>
          </a:solidFill>
          <a:ln w="12700">
            <a:solidFill>
              <a:srgbClr val="FFFFFF"/>
            </a:solidFill>
            <a:prstDash val="solid"/>
          </a:ln>
        </p:spPr>
        <p:txBody>
          <a:bodyPr/>
          <a:lstStyle/>
          <a:p>
            <a:endParaRPr lang="en-US"/>
          </a:p>
        </p:txBody>
      </p:sp>
      <p:sp>
        <p:nvSpPr>
          <p:cNvPr id="23" name="Text 21"/>
          <p:cNvSpPr/>
          <p:nvPr/>
        </p:nvSpPr>
        <p:spPr>
          <a:xfrm>
            <a:off x="4983480" y="1947672"/>
            <a:ext cx="2011680" cy="228600"/>
          </a:xfrm>
          <a:prstGeom prst="rect">
            <a:avLst/>
          </a:prstGeom>
          <a:noFill/>
          <a:ln/>
        </p:spPr>
        <p:txBody>
          <a:bodyPr wrap="square" lIns="0" tIns="0" rIns="0" bIns="0" rtlCol="0" anchor="ctr"/>
          <a:lstStyle/>
          <a:p>
            <a:pPr marL="0" indent="0">
              <a:buNone/>
            </a:pPr>
            <a:r>
              <a:rPr lang="en-US" sz="1400" b="1" dirty="0">
                <a:solidFill>
                  <a:srgbClr val="2161D1"/>
                </a:solidFill>
              </a:rPr>
              <a:t>Development path A</a:t>
            </a:r>
            <a:endParaRPr lang="en-US" sz="1400" dirty="0"/>
          </a:p>
        </p:txBody>
      </p:sp>
      <p:sp>
        <p:nvSpPr>
          <p:cNvPr id="24" name="Shape 22"/>
          <p:cNvSpPr/>
          <p:nvPr/>
        </p:nvSpPr>
        <p:spPr>
          <a:xfrm>
            <a:off x="4206240" y="3246120"/>
            <a:ext cx="914400" cy="777240"/>
          </a:xfrm>
          <a:prstGeom prst="line">
            <a:avLst/>
          </a:prstGeom>
          <a:noFill/>
          <a:ln w="38100">
            <a:solidFill>
              <a:srgbClr val="8657D9"/>
            </a:solidFill>
            <a:prstDash val="solid"/>
          </a:ln>
        </p:spPr>
        <p:txBody>
          <a:bodyPr/>
          <a:lstStyle/>
          <a:p>
            <a:endParaRPr lang="en-US"/>
          </a:p>
        </p:txBody>
      </p:sp>
      <p:sp>
        <p:nvSpPr>
          <p:cNvPr id="25" name="Shape 23"/>
          <p:cNvSpPr/>
          <p:nvPr/>
        </p:nvSpPr>
        <p:spPr>
          <a:xfrm>
            <a:off x="5120640" y="4023360"/>
            <a:ext cx="5029200" cy="0"/>
          </a:xfrm>
          <a:prstGeom prst="line">
            <a:avLst/>
          </a:prstGeom>
          <a:noFill/>
          <a:ln w="38100">
            <a:solidFill>
              <a:srgbClr val="8657D9"/>
            </a:solidFill>
            <a:prstDash val="solid"/>
            <a:tailEnd type="triangle"/>
          </a:ln>
        </p:spPr>
        <p:txBody>
          <a:bodyPr/>
          <a:lstStyle/>
          <a:p>
            <a:endParaRPr lang="en-US"/>
          </a:p>
        </p:txBody>
      </p:sp>
      <p:sp>
        <p:nvSpPr>
          <p:cNvPr id="26" name="Shape 24"/>
          <p:cNvSpPr/>
          <p:nvPr/>
        </p:nvSpPr>
        <p:spPr>
          <a:xfrm>
            <a:off x="5394960" y="3895344"/>
            <a:ext cx="256032" cy="256032"/>
          </a:xfrm>
          <a:prstGeom prst="ellipse">
            <a:avLst/>
          </a:prstGeom>
          <a:solidFill>
            <a:srgbClr val="8657D9"/>
          </a:solidFill>
          <a:ln w="12700">
            <a:solidFill>
              <a:srgbClr val="FFFFFF"/>
            </a:solidFill>
            <a:prstDash val="solid"/>
          </a:ln>
        </p:spPr>
        <p:txBody>
          <a:bodyPr/>
          <a:lstStyle/>
          <a:p>
            <a:endParaRPr lang="en-US"/>
          </a:p>
        </p:txBody>
      </p:sp>
      <p:sp>
        <p:nvSpPr>
          <p:cNvPr id="27" name="Shape 25"/>
          <p:cNvSpPr/>
          <p:nvPr/>
        </p:nvSpPr>
        <p:spPr>
          <a:xfrm>
            <a:off x="6172200" y="3895344"/>
            <a:ext cx="256032" cy="256032"/>
          </a:xfrm>
          <a:prstGeom prst="ellipse">
            <a:avLst/>
          </a:prstGeom>
          <a:solidFill>
            <a:srgbClr val="31A354"/>
          </a:solidFill>
          <a:ln w="12700">
            <a:solidFill>
              <a:srgbClr val="FFFFFF"/>
            </a:solidFill>
            <a:prstDash val="solid"/>
          </a:ln>
        </p:spPr>
        <p:txBody>
          <a:bodyPr/>
          <a:lstStyle/>
          <a:p>
            <a:endParaRPr lang="en-US"/>
          </a:p>
        </p:txBody>
      </p:sp>
      <p:sp>
        <p:nvSpPr>
          <p:cNvPr id="28" name="Shape 26"/>
          <p:cNvSpPr/>
          <p:nvPr/>
        </p:nvSpPr>
        <p:spPr>
          <a:xfrm>
            <a:off x="6949440" y="3895344"/>
            <a:ext cx="256032" cy="256032"/>
          </a:xfrm>
          <a:prstGeom prst="ellipse">
            <a:avLst/>
          </a:prstGeom>
          <a:solidFill>
            <a:srgbClr val="D64B4B"/>
          </a:solidFill>
          <a:ln w="12700">
            <a:solidFill>
              <a:srgbClr val="FFFFFF"/>
            </a:solidFill>
            <a:prstDash val="solid"/>
          </a:ln>
        </p:spPr>
        <p:txBody>
          <a:bodyPr/>
          <a:lstStyle/>
          <a:p>
            <a:endParaRPr lang="en-US"/>
          </a:p>
        </p:txBody>
      </p:sp>
      <p:sp>
        <p:nvSpPr>
          <p:cNvPr id="29" name="Shape 27"/>
          <p:cNvSpPr/>
          <p:nvPr/>
        </p:nvSpPr>
        <p:spPr>
          <a:xfrm>
            <a:off x="7726680" y="3895344"/>
            <a:ext cx="256032" cy="256032"/>
          </a:xfrm>
          <a:prstGeom prst="ellipse">
            <a:avLst/>
          </a:prstGeom>
          <a:solidFill>
            <a:srgbClr val="8657D9"/>
          </a:solidFill>
          <a:ln w="12700">
            <a:solidFill>
              <a:srgbClr val="FFFFFF"/>
            </a:solidFill>
            <a:prstDash val="solid"/>
          </a:ln>
        </p:spPr>
        <p:txBody>
          <a:bodyPr/>
          <a:lstStyle/>
          <a:p>
            <a:endParaRPr lang="en-US"/>
          </a:p>
        </p:txBody>
      </p:sp>
      <p:sp>
        <p:nvSpPr>
          <p:cNvPr id="30" name="Shape 28"/>
          <p:cNvSpPr/>
          <p:nvPr/>
        </p:nvSpPr>
        <p:spPr>
          <a:xfrm>
            <a:off x="8503920" y="3895344"/>
            <a:ext cx="256032" cy="256032"/>
          </a:xfrm>
          <a:prstGeom prst="ellipse">
            <a:avLst/>
          </a:prstGeom>
          <a:solidFill>
            <a:srgbClr val="E39A27"/>
          </a:solidFill>
          <a:ln w="12700">
            <a:solidFill>
              <a:srgbClr val="FFFFFF"/>
            </a:solidFill>
            <a:prstDash val="solid"/>
          </a:ln>
        </p:spPr>
        <p:txBody>
          <a:bodyPr/>
          <a:lstStyle/>
          <a:p>
            <a:endParaRPr lang="en-US"/>
          </a:p>
        </p:txBody>
      </p:sp>
      <p:sp>
        <p:nvSpPr>
          <p:cNvPr id="31" name="Shape 29"/>
          <p:cNvSpPr/>
          <p:nvPr/>
        </p:nvSpPr>
        <p:spPr>
          <a:xfrm>
            <a:off x="9281160" y="3895344"/>
            <a:ext cx="256032" cy="256032"/>
          </a:xfrm>
          <a:prstGeom prst="ellipse">
            <a:avLst/>
          </a:prstGeom>
          <a:solidFill>
            <a:srgbClr val="4D86E8"/>
          </a:solidFill>
          <a:ln w="12700">
            <a:solidFill>
              <a:srgbClr val="FFFFFF"/>
            </a:solidFill>
            <a:prstDash val="solid"/>
          </a:ln>
        </p:spPr>
        <p:txBody>
          <a:bodyPr/>
          <a:lstStyle/>
          <a:p>
            <a:endParaRPr lang="en-US"/>
          </a:p>
        </p:txBody>
      </p:sp>
      <p:sp>
        <p:nvSpPr>
          <p:cNvPr id="32" name="Text 30"/>
          <p:cNvSpPr/>
          <p:nvPr/>
        </p:nvSpPr>
        <p:spPr>
          <a:xfrm>
            <a:off x="4983480" y="4279392"/>
            <a:ext cx="2011680" cy="228600"/>
          </a:xfrm>
          <a:prstGeom prst="rect">
            <a:avLst/>
          </a:prstGeom>
          <a:noFill/>
          <a:ln/>
        </p:spPr>
        <p:txBody>
          <a:bodyPr wrap="square" lIns="0" tIns="0" rIns="0" bIns="0" rtlCol="0" anchor="ctr"/>
          <a:lstStyle/>
          <a:p>
            <a:pPr marL="0" indent="0">
              <a:buNone/>
            </a:pPr>
            <a:r>
              <a:rPr lang="en-US" sz="1400" b="1" dirty="0">
                <a:solidFill>
                  <a:srgbClr val="8657D9"/>
                </a:solidFill>
              </a:rPr>
              <a:t>Development path B</a:t>
            </a:r>
            <a:endParaRPr lang="en-US" sz="1400" dirty="0"/>
          </a:p>
        </p:txBody>
      </p:sp>
      <p:sp>
        <p:nvSpPr>
          <p:cNvPr id="33" name="Shape 31"/>
          <p:cNvSpPr/>
          <p:nvPr/>
        </p:nvSpPr>
        <p:spPr>
          <a:xfrm>
            <a:off x="8732520" y="2889504"/>
            <a:ext cx="2011680" cy="621792"/>
          </a:xfrm>
          <a:prstGeom prst="roundRect">
            <a:avLst>
              <a:gd name="adj" fmla="val 5882"/>
            </a:avLst>
          </a:prstGeom>
          <a:solidFill>
            <a:srgbClr val="FFF4DE"/>
          </a:solidFill>
          <a:ln w="12700">
            <a:solidFill>
              <a:srgbClr val="F1C66E"/>
            </a:solidFill>
            <a:prstDash val="solid"/>
          </a:ln>
        </p:spPr>
        <p:txBody>
          <a:bodyPr/>
          <a:lstStyle/>
          <a:p>
            <a:endParaRPr lang="en-US"/>
          </a:p>
        </p:txBody>
      </p:sp>
      <p:sp>
        <p:nvSpPr>
          <p:cNvPr id="34" name="Text 32"/>
          <p:cNvSpPr/>
          <p:nvPr/>
        </p:nvSpPr>
        <p:spPr>
          <a:xfrm>
            <a:off x="8851392" y="2999232"/>
            <a:ext cx="1783080" cy="365760"/>
          </a:xfrm>
          <a:prstGeom prst="rect">
            <a:avLst/>
          </a:prstGeom>
          <a:noFill/>
          <a:ln/>
        </p:spPr>
        <p:txBody>
          <a:bodyPr wrap="square" lIns="0" tIns="0" rIns="0" bIns="0" rtlCol="0" anchor="ctr"/>
          <a:lstStyle/>
          <a:p>
            <a:pPr marL="0" indent="0" algn="ctr">
              <a:buNone/>
            </a:pPr>
            <a:r>
              <a:rPr lang="en-US" sz="1300" b="1" dirty="0">
                <a:solidFill>
                  <a:srgbClr val="8B5A00"/>
                </a:solidFill>
              </a:rPr>
              <a:t>Different changes</a:t>
            </a:r>
            <a:endParaRPr lang="en-US" sz="1300" dirty="0"/>
          </a:p>
          <a:p>
            <a:pPr marL="0" indent="0" algn="ctr">
              <a:buNone/>
            </a:pPr>
            <a:r>
              <a:rPr lang="en-US" sz="1300" b="1" dirty="0">
                <a:solidFill>
                  <a:srgbClr val="8B5A00"/>
                </a:solidFill>
              </a:rPr>
              <a:t>→ divergence</a:t>
            </a:r>
            <a:endParaRPr lang="en-US" sz="1300" dirty="0"/>
          </a:p>
        </p:txBody>
      </p:sp>
      <p:sp>
        <p:nvSpPr>
          <p:cNvPr id="35" name="Shape 33"/>
          <p:cNvSpPr/>
          <p:nvPr/>
        </p:nvSpPr>
        <p:spPr>
          <a:xfrm>
            <a:off x="1005840" y="5623560"/>
            <a:ext cx="10149840" cy="621792"/>
          </a:xfrm>
          <a:prstGeom prst="roundRect">
            <a:avLst>
              <a:gd name="adj" fmla="val 5882"/>
            </a:avLst>
          </a:prstGeom>
          <a:solidFill>
            <a:srgbClr val="EEF4FF"/>
          </a:solidFill>
          <a:ln w="15240">
            <a:solidFill>
              <a:srgbClr val="B7C9EC"/>
            </a:solidFill>
            <a:prstDash val="solid"/>
          </a:ln>
        </p:spPr>
        <p:txBody>
          <a:bodyPr/>
          <a:lstStyle/>
          <a:p>
            <a:endParaRPr lang="en-US"/>
          </a:p>
        </p:txBody>
      </p:sp>
      <p:sp>
        <p:nvSpPr>
          <p:cNvPr id="36" name="Text 34"/>
          <p:cNvSpPr/>
          <p:nvPr/>
        </p:nvSpPr>
        <p:spPr>
          <a:xfrm>
            <a:off x="1234440" y="5815584"/>
            <a:ext cx="9692640" cy="228600"/>
          </a:xfrm>
          <a:prstGeom prst="rect">
            <a:avLst/>
          </a:prstGeom>
          <a:noFill/>
          <a:ln/>
        </p:spPr>
        <p:txBody>
          <a:bodyPr wrap="square" lIns="0" tIns="0" rIns="0" bIns="0" rtlCol="0" anchor="ctr"/>
          <a:lstStyle/>
          <a:p>
            <a:pPr marL="0" indent="0" algn="ctr">
              <a:buNone/>
            </a:pPr>
            <a:r>
              <a:rPr lang="en-US" sz="1500" dirty="0">
                <a:solidFill>
                  <a:srgbClr val="162033"/>
                </a:solidFill>
              </a:rPr>
              <a:t>Independent evolution can produce different </a:t>
            </a:r>
            <a:r>
              <a:rPr lang="en-US" sz="1500" b="1" dirty="0">
                <a:solidFill>
                  <a:srgbClr val="162033"/>
                </a:solidFill>
              </a:rPr>
              <a:t>features, bug fixes, and refactorings</a:t>
            </a:r>
            <a:r>
              <a:rPr lang="en-US" sz="1500" dirty="0">
                <a:solidFill>
                  <a:srgbClr val="162033"/>
                </a:solidFill>
              </a:rPr>
              <a:t> in each line.</a:t>
            </a:r>
            <a:endParaRPr lang="en-US" sz="1500" dirty="0"/>
          </a:p>
        </p:txBody>
      </p:sp>
      <p:sp>
        <p:nvSpPr>
          <p:cNvPr id="38" name="Text 35"/>
          <p:cNvSpPr/>
          <p:nvPr/>
        </p:nvSpPr>
        <p:spPr>
          <a:xfrm>
            <a:off x="11475720" y="6510528"/>
            <a:ext cx="320040" cy="182880"/>
          </a:xfrm>
          <a:prstGeom prst="rect">
            <a:avLst/>
          </a:prstGeom>
          <a:noFill/>
          <a:ln/>
        </p:spPr>
        <p:txBody>
          <a:bodyPr wrap="square" lIns="0" tIns="0" rIns="0" bIns="0" rtlCol="0" anchor="ctr"/>
          <a:lstStyle/>
          <a:p>
            <a:pPr marL="0" indent="0" algn="r">
              <a:buNone/>
            </a:pPr>
            <a:r>
              <a:rPr lang="en-US" sz="900" dirty="0">
                <a:solidFill>
                  <a:srgbClr val="777777"/>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DD9C863-A5D5-2E4E-BD1E-C5C0C33F5D39}"/>
              </a:ext>
            </a:extLst>
          </p:cNvPr>
          <p:cNvSpPr>
            <a:spLocks noGrp="1"/>
          </p:cNvSpPr>
          <p:nvPr>
            <p:ph type="sldNum" sz="quarter" idx="10"/>
          </p:nvPr>
        </p:nvSpPr>
        <p:spPr/>
        <p:txBody>
          <a:bodyPr/>
          <a:lstStyle/>
          <a:p>
            <a:fld id="{E038E271-308C-2E46-A3EC-56326F9084CC}" type="slidenum">
              <a:rPr lang="nl-BE" smtClean="0"/>
              <a:pPr/>
              <a:t>4</a:t>
            </a:fld>
            <a:endParaRPr lang="nl-BE" dirty="0"/>
          </a:p>
        </p:txBody>
      </p:sp>
      <p:grpSp>
        <p:nvGrpSpPr>
          <p:cNvPr id="5" name="Group 4">
            <a:extLst>
              <a:ext uri="{FF2B5EF4-FFF2-40B4-BE49-F238E27FC236}">
                <a16:creationId xmlns:a16="http://schemas.microsoft.com/office/drawing/2014/main" id="{EBF34ABB-87B7-59F1-82F4-7AD483E5E978}"/>
              </a:ext>
            </a:extLst>
          </p:cNvPr>
          <p:cNvGrpSpPr/>
          <p:nvPr/>
        </p:nvGrpSpPr>
        <p:grpSpPr>
          <a:xfrm>
            <a:off x="211702" y="1521308"/>
            <a:ext cx="10820475" cy="2838048"/>
            <a:chOff x="211702" y="1521308"/>
            <a:chExt cx="10820475" cy="2838048"/>
          </a:xfrm>
        </p:grpSpPr>
        <p:grpSp>
          <p:nvGrpSpPr>
            <p:cNvPr id="6" name="Group 5">
              <a:extLst>
                <a:ext uri="{FF2B5EF4-FFF2-40B4-BE49-F238E27FC236}">
                  <a16:creationId xmlns:a16="http://schemas.microsoft.com/office/drawing/2014/main" id="{1C4824C3-5D82-4224-27F4-39905763F4BA}"/>
                </a:ext>
              </a:extLst>
            </p:cNvPr>
            <p:cNvGrpSpPr/>
            <p:nvPr/>
          </p:nvGrpSpPr>
          <p:grpSpPr>
            <a:xfrm>
              <a:off x="488274" y="1521308"/>
              <a:ext cx="10543903" cy="2838048"/>
              <a:chOff x="488274" y="1521308"/>
              <a:chExt cx="10543903" cy="2838048"/>
            </a:xfrm>
          </p:grpSpPr>
          <p:cxnSp>
            <p:nvCxnSpPr>
              <p:cNvPr id="8" name="Straight Arrow Connector 7">
                <a:extLst>
                  <a:ext uri="{FF2B5EF4-FFF2-40B4-BE49-F238E27FC236}">
                    <a16:creationId xmlns:a16="http://schemas.microsoft.com/office/drawing/2014/main" id="{E1F5E120-DBB8-C443-83F9-E13F664B0DA7}"/>
                  </a:ext>
                </a:extLst>
              </p:cNvPr>
              <p:cNvCxnSpPr>
                <a:stCxn id="27" idx="4"/>
                <a:endCxn id="14" idx="0"/>
              </p:cNvCxnSpPr>
              <p:nvPr/>
            </p:nvCxnSpPr>
            <p:spPr>
              <a:xfrm>
                <a:off x="1966755" y="2372932"/>
                <a:ext cx="0" cy="12898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19F2355-D95B-B244-BA1C-B259F4395EDD}"/>
                  </a:ext>
                </a:extLst>
              </p:cNvPr>
              <p:cNvCxnSpPr>
                <a:stCxn id="28" idx="4"/>
                <a:endCxn id="15" idx="0"/>
              </p:cNvCxnSpPr>
              <p:nvPr/>
            </p:nvCxnSpPr>
            <p:spPr>
              <a:xfrm>
                <a:off x="2448763" y="2381738"/>
                <a:ext cx="0" cy="12898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0C1C2C7-9307-AC43-A7BF-E85DE5B0BFF2}"/>
                  </a:ext>
                </a:extLst>
              </p:cNvPr>
              <p:cNvCxnSpPr>
                <a:stCxn id="29" idx="4"/>
                <a:endCxn id="16" idx="0"/>
              </p:cNvCxnSpPr>
              <p:nvPr/>
            </p:nvCxnSpPr>
            <p:spPr>
              <a:xfrm>
                <a:off x="2899153" y="2371105"/>
                <a:ext cx="0" cy="12898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E8CD8395-3F31-0C2A-1E69-5C07CE15FE5D}"/>
                  </a:ext>
                </a:extLst>
              </p:cNvPr>
              <p:cNvGrpSpPr/>
              <p:nvPr/>
            </p:nvGrpSpPr>
            <p:grpSpPr>
              <a:xfrm>
                <a:off x="488274" y="1521308"/>
                <a:ext cx="10543903" cy="2838048"/>
                <a:chOff x="488274" y="1521308"/>
                <a:chExt cx="10543903" cy="2838048"/>
              </a:xfrm>
            </p:grpSpPr>
            <p:sp>
              <p:nvSpPr>
                <p:cNvPr id="12" name="TextBox 11">
                  <a:extLst>
                    <a:ext uri="{FF2B5EF4-FFF2-40B4-BE49-F238E27FC236}">
                      <a16:creationId xmlns:a16="http://schemas.microsoft.com/office/drawing/2014/main" id="{320B4049-5C92-AD4D-A285-95E231C0243B}"/>
                    </a:ext>
                  </a:extLst>
                </p:cNvPr>
                <p:cNvSpPr txBox="1"/>
                <p:nvPr/>
              </p:nvSpPr>
              <p:spPr>
                <a:xfrm>
                  <a:off x="2384454" y="1521308"/>
                  <a:ext cx="1486839" cy="369332"/>
                </a:xfrm>
                <a:prstGeom prst="rect">
                  <a:avLst/>
                </a:prstGeom>
                <a:noFill/>
              </p:spPr>
              <p:txBody>
                <a:bodyPr wrap="square" rtlCol="0">
                  <a:spAutoFit/>
                </a:bodyPr>
                <a:lstStyle/>
                <a:p>
                  <a:pPr algn="ctr"/>
                  <a:r>
                    <a:rPr lang="en-BE" dirty="0"/>
                    <a:t>fork_date</a:t>
                  </a:r>
                </a:p>
              </p:txBody>
            </p:sp>
            <p:cxnSp>
              <p:nvCxnSpPr>
                <p:cNvPr id="13" name="Straight Arrow Connector 12">
                  <a:extLst>
                    <a:ext uri="{FF2B5EF4-FFF2-40B4-BE49-F238E27FC236}">
                      <a16:creationId xmlns:a16="http://schemas.microsoft.com/office/drawing/2014/main" id="{DF68E4AD-796E-CC4A-9873-4336F115606F}"/>
                    </a:ext>
                  </a:extLst>
                </p:cNvPr>
                <p:cNvCxnSpPr>
                  <a:cxnSpLocks/>
                </p:cNvCxnSpPr>
                <p:nvPr/>
              </p:nvCxnSpPr>
              <p:spPr>
                <a:xfrm flipV="1">
                  <a:off x="1657358" y="3786350"/>
                  <a:ext cx="9374819" cy="13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63A66D56-E175-3841-B7AF-1CB14857BABB}"/>
                    </a:ext>
                  </a:extLst>
                </p:cNvPr>
                <p:cNvSpPr/>
                <p:nvPr/>
              </p:nvSpPr>
              <p:spPr>
                <a:xfrm>
                  <a:off x="1871339" y="3662813"/>
                  <a:ext cx="190832" cy="232254"/>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5" name="Oval 14">
                  <a:extLst>
                    <a:ext uri="{FF2B5EF4-FFF2-40B4-BE49-F238E27FC236}">
                      <a16:creationId xmlns:a16="http://schemas.microsoft.com/office/drawing/2014/main" id="{39BBE975-FA6F-FC44-950E-31579D3A35D3}"/>
                    </a:ext>
                  </a:extLst>
                </p:cNvPr>
                <p:cNvSpPr/>
                <p:nvPr/>
              </p:nvSpPr>
              <p:spPr>
                <a:xfrm>
                  <a:off x="2353347" y="3671619"/>
                  <a:ext cx="190832" cy="232254"/>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6" name="Oval 15">
                  <a:extLst>
                    <a:ext uri="{FF2B5EF4-FFF2-40B4-BE49-F238E27FC236}">
                      <a16:creationId xmlns:a16="http://schemas.microsoft.com/office/drawing/2014/main" id="{0B2095F2-EA1F-EE49-86B7-51F5177A8321}"/>
                    </a:ext>
                  </a:extLst>
                </p:cNvPr>
                <p:cNvSpPr/>
                <p:nvPr/>
              </p:nvSpPr>
              <p:spPr>
                <a:xfrm>
                  <a:off x="2803737" y="3660986"/>
                  <a:ext cx="190832" cy="232254"/>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8" name="Straight Connector 17">
                  <a:extLst>
                    <a:ext uri="{FF2B5EF4-FFF2-40B4-BE49-F238E27FC236}">
                      <a16:creationId xmlns:a16="http://schemas.microsoft.com/office/drawing/2014/main" id="{E839EB8A-3F0F-334D-835E-A43E30C5D4D2}"/>
                    </a:ext>
                  </a:extLst>
                </p:cNvPr>
                <p:cNvCxnSpPr>
                  <a:cxnSpLocks/>
                </p:cNvCxnSpPr>
                <p:nvPr/>
              </p:nvCxnSpPr>
              <p:spPr>
                <a:xfrm>
                  <a:off x="3168510" y="1871337"/>
                  <a:ext cx="0" cy="248801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0D08E0A-9962-A74B-A19E-D450F3E175C8}"/>
                    </a:ext>
                  </a:extLst>
                </p:cNvPr>
                <p:cNvSpPr txBox="1"/>
                <p:nvPr/>
              </p:nvSpPr>
              <p:spPr>
                <a:xfrm>
                  <a:off x="1819178" y="2663080"/>
                  <a:ext cx="1214654" cy="584775"/>
                </a:xfrm>
                <a:prstGeom prst="rect">
                  <a:avLst/>
                </a:prstGeom>
                <a:solidFill>
                  <a:schemeClr val="bg2"/>
                </a:solidFill>
                <a:ln w="28575">
                  <a:solidFill>
                    <a:schemeClr val="tx1"/>
                  </a:solidFill>
                </a:ln>
              </p:spPr>
              <p:txBody>
                <a:bodyPr wrap="square" rtlCol="0">
                  <a:spAutoFit/>
                </a:bodyPr>
                <a:lstStyle/>
                <a:p>
                  <a:pPr algn="ctr"/>
                  <a:r>
                    <a:rPr lang="en-GB" sz="1600" dirty="0"/>
                    <a:t>I</a:t>
                  </a:r>
                  <a:r>
                    <a:rPr lang="en-BE" sz="1600" dirty="0"/>
                    <a:t>nherited commits</a:t>
                  </a:r>
                </a:p>
              </p:txBody>
            </p:sp>
            <p:sp>
              <p:nvSpPr>
                <p:cNvPr id="20" name="TextBox 19">
                  <a:extLst>
                    <a:ext uri="{FF2B5EF4-FFF2-40B4-BE49-F238E27FC236}">
                      <a16:creationId xmlns:a16="http://schemas.microsoft.com/office/drawing/2014/main" id="{12133541-FD49-0A46-ACA6-AC2F90600AA5}"/>
                    </a:ext>
                  </a:extLst>
                </p:cNvPr>
                <p:cNvSpPr txBox="1"/>
                <p:nvPr/>
              </p:nvSpPr>
              <p:spPr>
                <a:xfrm>
                  <a:off x="488274" y="3404145"/>
                  <a:ext cx="1151527" cy="646331"/>
                </a:xfrm>
                <a:prstGeom prst="rect">
                  <a:avLst/>
                </a:prstGeom>
                <a:noFill/>
              </p:spPr>
              <p:txBody>
                <a:bodyPr wrap="square" rtlCol="0">
                  <a:spAutoFit/>
                </a:bodyPr>
                <a:lstStyle/>
                <a:p>
                  <a:pPr algn="ctr"/>
                  <a:r>
                    <a:rPr lang="en-US" dirty="0"/>
                    <a:t>variant2</a:t>
                  </a:r>
                </a:p>
                <a:p>
                  <a:pPr algn="ctr"/>
                  <a:r>
                    <a:rPr lang="en-US" dirty="0"/>
                    <a:t>(target)</a:t>
                  </a:r>
                  <a:endParaRPr lang="en-BE" dirty="0"/>
                </a:p>
              </p:txBody>
            </p:sp>
          </p:grpSp>
        </p:grpSp>
        <p:pic>
          <p:nvPicPr>
            <p:cNvPr id="7" name="Picture 6" descr="Sebastian Richards">
              <a:extLst>
                <a:ext uri="{FF2B5EF4-FFF2-40B4-BE49-F238E27FC236}">
                  <a16:creationId xmlns:a16="http://schemas.microsoft.com/office/drawing/2014/main" id="{7ED07CC6-C4AD-99F4-529F-3602E4CE40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702" y="3555493"/>
              <a:ext cx="417012" cy="41701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a:extLst>
              <a:ext uri="{FF2B5EF4-FFF2-40B4-BE49-F238E27FC236}">
                <a16:creationId xmlns:a16="http://schemas.microsoft.com/office/drawing/2014/main" id="{07702068-2770-000E-CB78-48454C500B5A}"/>
              </a:ext>
            </a:extLst>
          </p:cNvPr>
          <p:cNvGrpSpPr/>
          <p:nvPr/>
        </p:nvGrpSpPr>
        <p:grpSpPr>
          <a:xfrm>
            <a:off x="166098" y="1079181"/>
            <a:ext cx="10866079" cy="1584312"/>
            <a:chOff x="166098" y="1162376"/>
            <a:chExt cx="10866079" cy="1584312"/>
          </a:xfrm>
        </p:grpSpPr>
        <p:grpSp>
          <p:nvGrpSpPr>
            <p:cNvPr id="22" name="Group 21">
              <a:extLst>
                <a:ext uri="{FF2B5EF4-FFF2-40B4-BE49-F238E27FC236}">
                  <a16:creationId xmlns:a16="http://schemas.microsoft.com/office/drawing/2014/main" id="{0812F12E-DE4E-46D9-5BC7-A2057AB35392}"/>
                </a:ext>
              </a:extLst>
            </p:cNvPr>
            <p:cNvGrpSpPr/>
            <p:nvPr/>
          </p:nvGrpSpPr>
          <p:grpSpPr>
            <a:xfrm>
              <a:off x="577698" y="1162376"/>
              <a:ext cx="10454479" cy="1584312"/>
              <a:chOff x="577698" y="1162376"/>
              <a:chExt cx="10454479" cy="1584312"/>
            </a:xfrm>
          </p:grpSpPr>
          <p:grpSp>
            <p:nvGrpSpPr>
              <p:cNvPr id="24" name="Group 23">
                <a:extLst>
                  <a:ext uri="{FF2B5EF4-FFF2-40B4-BE49-F238E27FC236}">
                    <a16:creationId xmlns:a16="http://schemas.microsoft.com/office/drawing/2014/main" id="{6FC18D1D-44C5-89A3-2426-931334FCCAA4}"/>
                  </a:ext>
                </a:extLst>
              </p:cNvPr>
              <p:cNvGrpSpPr/>
              <p:nvPr/>
            </p:nvGrpSpPr>
            <p:grpSpPr>
              <a:xfrm>
                <a:off x="577698" y="2100357"/>
                <a:ext cx="10454479" cy="646331"/>
                <a:chOff x="577698" y="2100357"/>
                <a:chExt cx="10454479" cy="646331"/>
              </a:xfrm>
            </p:grpSpPr>
            <p:cxnSp>
              <p:nvCxnSpPr>
                <p:cNvPr id="26" name="Straight Arrow Connector 25">
                  <a:extLst>
                    <a:ext uri="{FF2B5EF4-FFF2-40B4-BE49-F238E27FC236}">
                      <a16:creationId xmlns:a16="http://schemas.microsoft.com/office/drawing/2014/main" id="{7B388FA8-DC92-A947-A1DB-3BC46C306E22}"/>
                    </a:ext>
                  </a:extLst>
                </p:cNvPr>
                <p:cNvCxnSpPr>
                  <a:cxnSpLocks/>
                </p:cNvCxnSpPr>
                <p:nvPr/>
              </p:nvCxnSpPr>
              <p:spPr>
                <a:xfrm>
                  <a:off x="1657358" y="2348806"/>
                  <a:ext cx="937481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99357051-28D8-8B49-8B13-FF4D5241300A}"/>
                    </a:ext>
                  </a:extLst>
                </p:cNvPr>
                <p:cNvSpPr/>
                <p:nvPr/>
              </p:nvSpPr>
              <p:spPr>
                <a:xfrm>
                  <a:off x="1871339" y="2223873"/>
                  <a:ext cx="190832" cy="232254"/>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8" name="Oval 27">
                  <a:extLst>
                    <a:ext uri="{FF2B5EF4-FFF2-40B4-BE49-F238E27FC236}">
                      <a16:creationId xmlns:a16="http://schemas.microsoft.com/office/drawing/2014/main" id="{8DCBA8B1-AE5D-0843-A9DD-B3E412924B83}"/>
                    </a:ext>
                  </a:extLst>
                </p:cNvPr>
                <p:cNvSpPr/>
                <p:nvPr/>
              </p:nvSpPr>
              <p:spPr>
                <a:xfrm>
                  <a:off x="2353347" y="2232679"/>
                  <a:ext cx="190832" cy="232254"/>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9" name="Oval 28">
                  <a:extLst>
                    <a:ext uri="{FF2B5EF4-FFF2-40B4-BE49-F238E27FC236}">
                      <a16:creationId xmlns:a16="http://schemas.microsoft.com/office/drawing/2014/main" id="{82480E70-C749-4B4D-8E58-FAF69558B1B7}"/>
                    </a:ext>
                  </a:extLst>
                </p:cNvPr>
                <p:cNvSpPr/>
                <p:nvPr/>
              </p:nvSpPr>
              <p:spPr>
                <a:xfrm>
                  <a:off x="2803737" y="2222046"/>
                  <a:ext cx="190832" cy="232254"/>
                </a:xfrm>
                <a:prstGeom prst="ellipse">
                  <a:avLst/>
                </a:prstGeom>
                <a:solidFill>
                  <a:srgbClr val="0432FF"/>
                </a:solidFill>
                <a:ln>
                  <a:solidFill>
                    <a:srgbClr val="043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0" name="TextBox 29">
                  <a:extLst>
                    <a:ext uri="{FF2B5EF4-FFF2-40B4-BE49-F238E27FC236}">
                      <a16:creationId xmlns:a16="http://schemas.microsoft.com/office/drawing/2014/main" id="{F11BCB99-1AAA-8142-BE94-2B0F7FC1BA0E}"/>
                    </a:ext>
                  </a:extLst>
                </p:cNvPr>
                <p:cNvSpPr txBox="1"/>
                <p:nvPr/>
              </p:nvSpPr>
              <p:spPr>
                <a:xfrm>
                  <a:off x="577698" y="2100357"/>
                  <a:ext cx="1085627" cy="646331"/>
                </a:xfrm>
                <a:prstGeom prst="rect">
                  <a:avLst/>
                </a:prstGeom>
                <a:noFill/>
              </p:spPr>
              <p:txBody>
                <a:bodyPr wrap="square" rtlCol="0">
                  <a:spAutoFit/>
                </a:bodyPr>
                <a:lstStyle/>
                <a:p>
                  <a:pPr algn="ctr"/>
                  <a:r>
                    <a:rPr lang="en-US" dirty="0"/>
                    <a:t>variant1</a:t>
                  </a:r>
                </a:p>
                <a:p>
                  <a:pPr algn="ctr"/>
                  <a:r>
                    <a:rPr lang="en-US" dirty="0"/>
                    <a:t>(source)</a:t>
                  </a:r>
                  <a:endParaRPr lang="en-BE" dirty="0"/>
                </a:p>
              </p:txBody>
            </p:sp>
          </p:grpSp>
          <p:pic>
            <p:nvPicPr>
              <p:cNvPr id="25" name="Picture 2" descr="GitHub logo and symbol, meaning, history, PNG">
                <a:extLst>
                  <a:ext uri="{FF2B5EF4-FFF2-40B4-BE49-F238E27FC236}">
                    <a16:creationId xmlns:a16="http://schemas.microsoft.com/office/drawing/2014/main" id="{126970AC-53F6-2902-7D35-C95C5B0AB0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106" r="19303"/>
              <a:stretch/>
            </p:blipFill>
            <p:spPr bwMode="auto">
              <a:xfrm>
                <a:off x="659639" y="1162376"/>
                <a:ext cx="965577" cy="881836"/>
              </a:xfrm>
              <a:prstGeom prst="rect">
                <a:avLst/>
              </a:prstGeom>
              <a:noFill/>
              <a:extLst>
                <a:ext uri="{909E8E84-426E-40DD-AFC4-6F175D3DCCD1}">
                  <a14:hiddenFill xmlns:a14="http://schemas.microsoft.com/office/drawing/2010/main">
                    <a:solidFill>
                      <a:srgbClr val="FFFFFF"/>
                    </a:solidFill>
                  </a14:hiddenFill>
                </a:ext>
              </a:extLst>
            </p:spPr>
          </p:pic>
        </p:grpSp>
        <p:pic>
          <p:nvPicPr>
            <p:cNvPr id="23" name="Picture 4" descr="GitHub Logo PNG Transparent &amp; SVG Vector - Freebie Supply">
              <a:extLst>
                <a:ext uri="{FF2B5EF4-FFF2-40B4-BE49-F238E27FC236}">
                  <a16:creationId xmlns:a16="http://schemas.microsoft.com/office/drawing/2014/main" id="{253F18C0-0992-255C-D092-8C89704A4B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098" y="2283810"/>
              <a:ext cx="558862" cy="41914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Group 30">
            <a:extLst>
              <a:ext uri="{FF2B5EF4-FFF2-40B4-BE49-F238E27FC236}">
                <a16:creationId xmlns:a16="http://schemas.microsoft.com/office/drawing/2014/main" id="{C7197617-0B61-D8FC-10F0-5BE707E7DFB4}"/>
              </a:ext>
            </a:extLst>
          </p:cNvPr>
          <p:cNvGrpSpPr/>
          <p:nvPr/>
        </p:nvGrpSpPr>
        <p:grpSpPr>
          <a:xfrm>
            <a:off x="4746821" y="1442484"/>
            <a:ext cx="2249009" cy="2859168"/>
            <a:chOff x="4746821" y="1442484"/>
            <a:chExt cx="2249009" cy="2859168"/>
          </a:xfrm>
        </p:grpSpPr>
        <p:cxnSp>
          <p:nvCxnSpPr>
            <p:cNvPr id="32" name="Straight Connector 31">
              <a:extLst>
                <a:ext uri="{FF2B5EF4-FFF2-40B4-BE49-F238E27FC236}">
                  <a16:creationId xmlns:a16="http://schemas.microsoft.com/office/drawing/2014/main" id="{BA059FA3-6C91-234A-90E7-1B8875EC393F}"/>
                </a:ext>
              </a:extLst>
            </p:cNvPr>
            <p:cNvCxnSpPr>
              <a:cxnSpLocks/>
            </p:cNvCxnSpPr>
            <p:nvPr/>
          </p:nvCxnSpPr>
          <p:spPr>
            <a:xfrm>
              <a:off x="6170435" y="1813633"/>
              <a:ext cx="0" cy="248801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E165BEB-787B-7E44-ABB5-D9DA00F2D540}"/>
                </a:ext>
              </a:extLst>
            </p:cNvPr>
            <p:cNvSpPr txBox="1"/>
            <p:nvPr/>
          </p:nvSpPr>
          <p:spPr>
            <a:xfrm>
              <a:off x="4746821" y="1442484"/>
              <a:ext cx="2249009" cy="369332"/>
            </a:xfrm>
            <a:prstGeom prst="rect">
              <a:avLst/>
            </a:prstGeom>
            <a:noFill/>
          </p:spPr>
          <p:txBody>
            <a:bodyPr wrap="square" rtlCol="0">
              <a:spAutoFit/>
            </a:bodyPr>
            <a:lstStyle/>
            <a:p>
              <a:pPr algn="ctr"/>
              <a:r>
                <a:rPr lang="en-GB" dirty="0"/>
                <a:t>d</a:t>
              </a:r>
              <a:r>
                <a:rPr lang="en-BE" dirty="0"/>
                <a:t>ivergence_date</a:t>
              </a:r>
            </a:p>
          </p:txBody>
        </p:sp>
      </p:grpSp>
      <p:grpSp>
        <p:nvGrpSpPr>
          <p:cNvPr id="34" name="Group 33">
            <a:extLst>
              <a:ext uri="{FF2B5EF4-FFF2-40B4-BE49-F238E27FC236}">
                <a16:creationId xmlns:a16="http://schemas.microsoft.com/office/drawing/2014/main" id="{726895C7-0D8B-7362-D137-E32361C232AF}"/>
              </a:ext>
            </a:extLst>
          </p:cNvPr>
          <p:cNvGrpSpPr/>
          <p:nvPr/>
        </p:nvGrpSpPr>
        <p:grpSpPr>
          <a:xfrm>
            <a:off x="9745601" y="1273429"/>
            <a:ext cx="1736408" cy="2869381"/>
            <a:chOff x="9745601" y="1273429"/>
            <a:chExt cx="1736408" cy="2869381"/>
          </a:xfrm>
        </p:grpSpPr>
        <p:cxnSp>
          <p:nvCxnSpPr>
            <p:cNvPr id="35" name="Straight Connector 34">
              <a:extLst>
                <a:ext uri="{FF2B5EF4-FFF2-40B4-BE49-F238E27FC236}">
                  <a16:creationId xmlns:a16="http://schemas.microsoft.com/office/drawing/2014/main" id="{8148DCF1-6928-A74B-B113-3FCB3A59A948}"/>
                </a:ext>
              </a:extLst>
            </p:cNvPr>
            <p:cNvCxnSpPr>
              <a:cxnSpLocks/>
            </p:cNvCxnSpPr>
            <p:nvPr/>
          </p:nvCxnSpPr>
          <p:spPr>
            <a:xfrm>
              <a:off x="10533328" y="1654791"/>
              <a:ext cx="0" cy="248801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3C07D0FE-BBD3-ED42-90A4-87936F938E15}"/>
                </a:ext>
              </a:extLst>
            </p:cNvPr>
            <p:cNvSpPr txBox="1"/>
            <p:nvPr/>
          </p:nvSpPr>
          <p:spPr>
            <a:xfrm>
              <a:off x="9745601" y="1273429"/>
              <a:ext cx="1736408" cy="369332"/>
            </a:xfrm>
            <a:prstGeom prst="rect">
              <a:avLst/>
            </a:prstGeom>
            <a:noFill/>
          </p:spPr>
          <p:txBody>
            <a:bodyPr wrap="square" rtlCol="0">
              <a:spAutoFit/>
            </a:bodyPr>
            <a:lstStyle/>
            <a:p>
              <a:pPr algn="ctr"/>
              <a:r>
                <a:rPr lang="en-GB" dirty="0"/>
                <a:t>c</a:t>
              </a:r>
              <a:r>
                <a:rPr lang="en-BE" dirty="0"/>
                <a:t>urrent_date</a:t>
              </a:r>
            </a:p>
          </p:txBody>
        </p:sp>
      </p:grpSp>
      <p:sp>
        <p:nvSpPr>
          <p:cNvPr id="37" name="TextBox 36">
            <a:extLst>
              <a:ext uri="{FF2B5EF4-FFF2-40B4-BE49-F238E27FC236}">
                <a16:creationId xmlns:a16="http://schemas.microsoft.com/office/drawing/2014/main" id="{5315A1AE-F0D1-084B-AF86-76015D45FA39}"/>
              </a:ext>
            </a:extLst>
          </p:cNvPr>
          <p:cNvSpPr txBox="1"/>
          <p:nvPr/>
        </p:nvSpPr>
        <p:spPr>
          <a:xfrm>
            <a:off x="6524628" y="2772399"/>
            <a:ext cx="1274011" cy="584775"/>
          </a:xfrm>
          <a:prstGeom prst="rect">
            <a:avLst/>
          </a:prstGeom>
          <a:solidFill>
            <a:schemeClr val="bg2"/>
          </a:solidFill>
          <a:ln w="28575">
            <a:solidFill>
              <a:schemeClr val="tx1"/>
            </a:solidFill>
          </a:ln>
        </p:spPr>
        <p:txBody>
          <a:bodyPr wrap="square" rtlCol="0">
            <a:spAutoFit/>
          </a:bodyPr>
          <a:lstStyle/>
          <a:p>
            <a:pPr algn="ctr"/>
            <a:r>
              <a:rPr lang="en-GB" sz="1600" dirty="0"/>
              <a:t>Unique</a:t>
            </a:r>
            <a:r>
              <a:rPr lang="en-BE" sz="1600" dirty="0"/>
              <a:t> commits</a:t>
            </a:r>
          </a:p>
        </p:txBody>
      </p:sp>
      <p:grpSp>
        <p:nvGrpSpPr>
          <p:cNvPr id="38" name="Group 37">
            <a:extLst>
              <a:ext uri="{FF2B5EF4-FFF2-40B4-BE49-F238E27FC236}">
                <a16:creationId xmlns:a16="http://schemas.microsoft.com/office/drawing/2014/main" id="{BE33D0EF-4776-CBC8-8B71-D32AB54C57A3}"/>
              </a:ext>
            </a:extLst>
          </p:cNvPr>
          <p:cNvGrpSpPr/>
          <p:nvPr/>
        </p:nvGrpSpPr>
        <p:grpSpPr>
          <a:xfrm>
            <a:off x="5872197" y="3786350"/>
            <a:ext cx="3990402" cy="2382277"/>
            <a:chOff x="5872197" y="3786350"/>
            <a:chExt cx="3990402" cy="2382277"/>
          </a:xfrm>
        </p:grpSpPr>
        <p:grpSp>
          <p:nvGrpSpPr>
            <p:cNvPr id="39" name="Group 38">
              <a:extLst>
                <a:ext uri="{FF2B5EF4-FFF2-40B4-BE49-F238E27FC236}">
                  <a16:creationId xmlns:a16="http://schemas.microsoft.com/office/drawing/2014/main" id="{23B97618-1FC6-6B8E-7B8E-D18B04615D7D}"/>
                </a:ext>
              </a:extLst>
            </p:cNvPr>
            <p:cNvGrpSpPr/>
            <p:nvPr/>
          </p:nvGrpSpPr>
          <p:grpSpPr>
            <a:xfrm>
              <a:off x="5872197" y="3786350"/>
              <a:ext cx="3990402" cy="2382277"/>
              <a:chOff x="5872197" y="3786350"/>
              <a:chExt cx="3990402" cy="2382277"/>
            </a:xfrm>
          </p:grpSpPr>
          <p:cxnSp>
            <p:nvCxnSpPr>
              <p:cNvPr id="41" name="Straight Arrow Connector 40">
                <a:extLst>
                  <a:ext uri="{FF2B5EF4-FFF2-40B4-BE49-F238E27FC236}">
                    <a16:creationId xmlns:a16="http://schemas.microsoft.com/office/drawing/2014/main" id="{53E7B652-733E-F349-938B-2A9258DDD1A8}"/>
                  </a:ext>
                </a:extLst>
              </p:cNvPr>
              <p:cNvCxnSpPr>
                <a:cxnSpLocks/>
              </p:cNvCxnSpPr>
              <p:nvPr/>
            </p:nvCxnSpPr>
            <p:spPr>
              <a:xfrm flipH="1">
                <a:off x="6968614" y="3786350"/>
                <a:ext cx="2893985" cy="11065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54984363-62BF-AB45-A97B-82DF1E676C1C}"/>
                  </a:ext>
                </a:extLst>
              </p:cNvPr>
              <p:cNvGrpSpPr/>
              <p:nvPr/>
            </p:nvGrpSpPr>
            <p:grpSpPr>
              <a:xfrm>
                <a:off x="5872197" y="4930908"/>
                <a:ext cx="1791346" cy="1237719"/>
                <a:chOff x="6057396" y="4974638"/>
                <a:chExt cx="1791346" cy="1237719"/>
              </a:xfrm>
            </p:grpSpPr>
            <p:grpSp>
              <p:nvGrpSpPr>
                <p:cNvPr id="43" name="Group 42">
                  <a:extLst>
                    <a:ext uri="{FF2B5EF4-FFF2-40B4-BE49-F238E27FC236}">
                      <a16:creationId xmlns:a16="http://schemas.microsoft.com/office/drawing/2014/main" id="{26EA2D71-0FDB-4242-93DD-6F3838B63797}"/>
                    </a:ext>
                  </a:extLst>
                </p:cNvPr>
                <p:cNvGrpSpPr/>
                <p:nvPr/>
              </p:nvGrpSpPr>
              <p:grpSpPr>
                <a:xfrm>
                  <a:off x="6530770" y="4974638"/>
                  <a:ext cx="611244" cy="938756"/>
                  <a:chOff x="6861567" y="4491574"/>
                  <a:chExt cx="611244" cy="938756"/>
                </a:xfrm>
              </p:grpSpPr>
              <p:pic>
                <p:nvPicPr>
                  <p:cNvPr id="45" name="Picture 8" descr="Document, file Free Icon of Office Workers">
                    <a:extLst>
                      <a:ext uri="{FF2B5EF4-FFF2-40B4-BE49-F238E27FC236}">
                        <a16:creationId xmlns:a16="http://schemas.microsoft.com/office/drawing/2014/main" id="{9C225101-B6AE-AA42-BA1A-5A586EA0DB8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4023" t="8133" r="14686" b="8980"/>
                  <a:stretch/>
                </p:blipFill>
                <p:spPr bwMode="auto">
                  <a:xfrm>
                    <a:off x="6863438" y="4790537"/>
                    <a:ext cx="550286" cy="639793"/>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CD1E2E68-9EF7-7E4E-AD36-CCAAF8442DAB}"/>
                      </a:ext>
                    </a:extLst>
                  </p:cNvPr>
                  <p:cNvSpPr txBox="1"/>
                  <p:nvPr/>
                </p:nvSpPr>
                <p:spPr>
                  <a:xfrm>
                    <a:off x="6861567" y="4491574"/>
                    <a:ext cx="611244" cy="369332"/>
                  </a:xfrm>
                  <a:prstGeom prst="rect">
                    <a:avLst/>
                  </a:prstGeom>
                  <a:noFill/>
                </p:spPr>
                <p:txBody>
                  <a:bodyPr wrap="square" rtlCol="0">
                    <a:spAutoFit/>
                  </a:bodyPr>
                  <a:lstStyle/>
                  <a:p>
                    <a:r>
                      <a:rPr lang="en-BE" dirty="0"/>
                      <a:t>foo</a:t>
                    </a:r>
                  </a:p>
                </p:txBody>
              </p:sp>
            </p:grpSp>
            <p:sp>
              <p:nvSpPr>
                <p:cNvPr id="44" name="TextBox 43">
                  <a:extLst>
                    <a:ext uri="{FF2B5EF4-FFF2-40B4-BE49-F238E27FC236}">
                      <a16:creationId xmlns:a16="http://schemas.microsoft.com/office/drawing/2014/main" id="{6D267214-2E89-AA48-8818-03DC8A343E1C}"/>
                    </a:ext>
                  </a:extLst>
                </p:cNvPr>
                <p:cNvSpPr txBox="1"/>
                <p:nvPr/>
              </p:nvSpPr>
              <p:spPr>
                <a:xfrm>
                  <a:off x="6057396" y="5843025"/>
                  <a:ext cx="1791346" cy="369332"/>
                </a:xfrm>
                <a:prstGeom prst="rect">
                  <a:avLst/>
                </a:prstGeom>
                <a:noFill/>
              </p:spPr>
              <p:txBody>
                <a:bodyPr wrap="square" rtlCol="0">
                  <a:spAutoFit/>
                </a:bodyPr>
                <a:lstStyle/>
                <a:p>
                  <a:r>
                    <a:rPr lang="en-BE" dirty="0"/>
                    <a:t>Uninteresting</a:t>
                  </a:r>
                </a:p>
              </p:txBody>
            </p:sp>
          </p:grpSp>
        </p:grpSp>
        <p:pic>
          <p:nvPicPr>
            <p:cNvPr id="40" name="Picture 8" descr="Document, file Free Icon of Office Workers">
              <a:extLst>
                <a:ext uri="{FF2B5EF4-FFF2-40B4-BE49-F238E27FC236}">
                  <a16:creationId xmlns:a16="http://schemas.microsoft.com/office/drawing/2014/main" id="{14DAF5AB-41EC-DD47-889F-023B0B100A2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5109" t="46969" r="29930" b="32388"/>
            <a:stretch/>
          </p:blipFill>
          <p:spPr bwMode="auto">
            <a:xfrm>
              <a:off x="6440902" y="5686562"/>
              <a:ext cx="347051" cy="159352"/>
            </a:xfrm>
            <a:prstGeom prst="rect">
              <a:avLst/>
            </a:prstGeom>
            <a:noFill/>
            <a:extLst>
              <a:ext uri="{909E8E84-426E-40DD-AFC4-6F175D3DCCD1}">
                <a14:hiddenFill xmlns:a14="http://schemas.microsoft.com/office/drawing/2010/main">
                  <a:solidFill>
                    <a:srgbClr val="FFFFFF"/>
                  </a:solidFill>
                </a14:hiddenFill>
              </a:ext>
            </a:extLst>
          </p:spPr>
        </p:pic>
      </p:grpSp>
      <p:sp>
        <p:nvSpPr>
          <p:cNvPr id="47" name="TextBox 46">
            <a:extLst>
              <a:ext uri="{FF2B5EF4-FFF2-40B4-BE49-F238E27FC236}">
                <a16:creationId xmlns:a16="http://schemas.microsoft.com/office/drawing/2014/main" id="{C80E4180-04B1-8044-8105-04CFA55CDC67}"/>
              </a:ext>
            </a:extLst>
          </p:cNvPr>
          <p:cNvSpPr txBox="1"/>
          <p:nvPr/>
        </p:nvSpPr>
        <p:spPr>
          <a:xfrm>
            <a:off x="1136822" y="1618735"/>
            <a:ext cx="184731" cy="369332"/>
          </a:xfrm>
          <a:prstGeom prst="rect">
            <a:avLst/>
          </a:prstGeom>
          <a:noFill/>
        </p:spPr>
        <p:txBody>
          <a:bodyPr wrap="none" rtlCol="0">
            <a:spAutoFit/>
          </a:bodyPr>
          <a:lstStyle/>
          <a:p>
            <a:endParaRPr lang="en-BE" dirty="0"/>
          </a:p>
        </p:txBody>
      </p:sp>
      <p:grpSp>
        <p:nvGrpSpPr>
          <p:cNvPr id="48" name="Group 47">
            <a:extLst>
              <a:ext uri="{FF2B5EF4-FFF2-40B4-BE49-F238E27FC236}">
                <a16:creationId xmlns:a16="http://schemas.microsoft.com/office/drawing/2014/main" id="{B40ACA78-EBDC-0339-3DA8-E7862348982B}"/>
              </a:ext>
            </a:extLst>
          </p:cNvPr>
          <p:cNvGrpSpPr/>
          <p:nvPr/>
        </p:nvGrpSpPr>
        <p:grpSpPr>
          <a:xfrm>
            <a:off x="8946028" y="2999658"/>
            <a:ext cx="1533741" cy="564446"/>
            <a:chOff x="8946028" y="2999658"/>
            <a:chExt cx="1533741" cy="564446"/>
          </a:xfrm>
        </p:grpSpPr>
        <p:sp>
          <p:nvSpPr>
            <p:cNvPr id="49" name="TextBox 48">
              <a:extLst>
                <a:ext uri="{FF2B5EF4-FFF2-40B4-BE49-F238E27FC236}">
                  <a16:creationId xmlns:a16="http://schemas.microsoft.com/office/drawing/2014/main" id="{86C7A9CF-841B-8441-8B56-674D95F0AA56}"/>
                </a:ext>
              </a:extLst>
            </p:cNvPr>
            <p:cNvSpPr txBox="1"/>
            <p:nvPr/>
          </p:nvSpPr>
          <p:spPr>
            <a:xfrm>
              <a:off x="8946028" y="2999658"/>
              <a:ext cx="1533741" cy="307777"/>
            </a:xfrm>
            <a:prstGeom prst="rect">
              <a:avLst/>
            </a:prstGeom>
            <a:solidFill>
              <a:srgbClr val="FFC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cs typeface="Calibri"/>
                </a:rPr>
                <a:t>target </a:t>
              </a:r>
              <a:r>
                <a:rPr lang="en-GB" sz="1400" dirty="0" err="1">
                  <a:cs typeface="Calibri"/>
                </a:rPr>
                <a:t>git_head</a:t>
              </a:r>
              <a:endParaRPr lang="en-GB" sz="1400" dirty="0">
                <a:cs typeface="Calibri"/>
              </a:endParaRPr>
            </a:p>
          </p:txBody>
        </p:sp>
        <p:cxnSp>
          <p:nvCxnSpPr>
            <p:cNvPr id="50" name="Straight Arrow Connector 49">
              <a:extLst>
                <a:ext uri="{FF2B5EF4-FFF2-40B4-BE49-F238E27FC236}">
                  <a16:creationId xmlns:a16="http://schemas.microsoft.com/office/drawing/2014/main" id="{6F3E0258-0B56-9444-8638-5053A8A4B693}"/>
                </a:ext>
              </a:extLst>
            </p:cNvPr>
            <p:cNvCxnSpPr>
              <a:cxnSpLocks/>
            </p:cNvCxnSpPr>
            <p:nvPr/>
          </p:nvCxnSpPr>
          <p:spPr>
            <a:xfrm>
              <a:off x="10011795" y="3295308"/>
              <a:ext cx="0" cy="2687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1" name="Group 50">
            <a:extLst>
              <a:ext uri="{FF2B5EF4-FFF2-40B4-BE49-F238E27FC236}">
                <a16:creationId xmlns:a16="http://schemas.microsoft.com/office/drawing/2014/main" id="{E382BF06-34A6-A349-F939-9284CC170D36}"/>
              </a:ext>
            </a:extLst>
          </p:cNvPr>
          <p:cNvGrpSpPr/>
          <p:nvPr/>
        </p:nvGrpSpPr>
        <p:grpSpPr>
          <a:xfrm>
            <a:off x="7554439" y="3917147"/>
            <a:ext cx="2308160" cy="2367257"/>
            <a:chOff x="7554439" y="3917147"/>
            <a:chExt cx="2308160" cy="2367257"/>
          </a:xfrm>
        </p:grpSpPr>
        <p:grpSp>
          <p:nvGrpSpPr>
            <p:cNvPr id="52" name="Group 51">
              <a:extLst>
                <a:ext uri="{FF2B5EF4-FFF2-40B4-BE49-F238E27FC236}">
                  <a16:creationId xmlns:a16="http://schemas.microsoft.com/office/drawing/2014/main" id="{AF166DB7-0995-0367-B2C4-A06A9A124233}"/>
                </a:ext>
              </a:extLst>
            </p:cNvPr>
            <p:cNvGrpSpPr/>
            <p:nvPr/>
          </p:nvGrpSpPr>
          <p:grpSpPr>
            <a:xfrm>
              <a:off x="7967215" y="4652949"/>
              <a:ext cx="701330" cy="977226"/>
              <a:chOff x="8862660" y="4490647"/>
              <a:chExt cx="701330" cy="977226"/>
            </a:xfrm>
          </p:grpSpPr>
          <p:pic>
            <p:nvPicPr>
              <p:cNvPr id="57" name="Picture 2" descr="Bug Report - Free technology icons">
                <a:extLst>
                  <a:ext uri="{FF2B5EF4-FFF2-40B4-BE49-F238E27FC236}">
                    <a16:creationId xmlns:a16="http://schemas.microsoft.com/office/drawing/2014/main" id="{7057BA81-787D-60A6-ED92-7AAAEC994F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24197" y="4828080"/>
                <a:ext cx="639793" cy="639793"/>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a:extLst>
                  <a:ext uri="{FF2B5EF4-FFF2-40B4-BE49-F238E27FC236}">
                    <a16:creationId xmlns:a16="http://schemas.microsoft.com/office/drawing/2014/main" id="{6DF05709-43DA-AFDE-BFAD-EA01327633CF}"/>
                  </a:ext>
                </a:extLst>
              </p:cNvPr>
              <p:cNvSpPr txBox="1"/>
              <p:nvPr/>
            </p:nvSpPr>
            <p:spPr>
              <a:xfrm>
                <a:off x="8862660" y="4490647"/>
                <a:ext cx="584862" cy="369332"/>
              </a:xfrm>
              <a:prstGeom prst="rect">
                <a:avLst/>
              </a:prstGeom>
              <a:noFill/>
            </p:spPr>
            <p:txBody>
              <a:bodyPr wrap="square" rtlCol="0">
                <a:spAutoFit/>
              </a:bodyPr>
              <a:lstStyle/>
              <a:p>
                <a:r>
                  <a:rPr lang="en-BE" dirty="0"/>
                  <a:t>foo</a:t>
                </a:r>
              </a:p>
            </p:txBody>
          </p:sp>
        </p:grpSp>
        <p:sp>
          <p:nvSpPr>
            <p:cNvPr id="53" name="TextBox 52">
              <a:extLst>
                <a:ext uri="{FF2B5EF4-FFF2-40B4-BE49-F238E27FC236}">
                  <a16:creationId xmlns:a16="http://schemas.microsoft.com/office/drawing/2014/main" id="{3A565BB9-4425-7F19-6D04-6199BBBEBCC1}"/>
                </a:ext>
              </a:extLst>
            </p:cNvPr>
            <p:cNvSpPr txBox="1"/>
            <p:nvPr/>
          </p:nvSpPr>
          <p:spPr>
            <a:xfrm>
              <a:off x="7554439" y="5638073"/>
              <a:ext cx="1391589" cy="646331"/>
            </a:xfrm>
            <a:prstGeom prst="rect">
              <a:avLst/>
            </a:prstGeom>
            <a:noFill/>
          </p:spPr>
          <p:txBody>
            <a:bodyPr wrap="square" rtlCol="0">
              <a:spAutoFit/>
            </a:bodyPr>
            <a:lstStyle/>
            <a:p>
              <a:pPr algn="ctr"/>
              <a:r>
                <a:rPr lang="en-US" dirty="0"/>
                <a:t>Split</a:t>
              </a:r>
              <a:endParaRPr lang="en-BE" dirty="0"/>
            </a:p>
            <a:p>
              <a:pPr algn="ctr"/>
              <a:r>
                <a:rPr lang="en-BE" dirty="0"/>
                <a:t>case</a:t>
              </a:r>
            </a:p>
          </p:txBody>
        </p:sp>
        <p:pic>
          <p:nvPicPr>
            <p:cNvPr id="54" name="Picture 53">
              <a:extLst>
                <a:ext uri="{FF2B5EF4-FFF2-40B4-BE49-F238E27FC236}">
                  <a16:creationId xmlns:a16="http://schemas.microsoft.com/office/drawing/2014/main" id="{850D25A0-282E-55B9-A1BD-4401C8276F2B}"/>
                </a:ext>
              </a:extLst>
            </p:cNvPr>
            <p:cNvPicPr>
              <a:picLocks noChangeAspect="1"/>
            </p:cNvPicPr>
            <p:nvPr/>
          </p:nvPicPr>
          <p:blipFill rotWithShape="1">
            <a:blip r:embed="rId8"/>
            <a:srcRect l="5953" t="10534" r="2533" b="6922"/>
            <a:stretch/>
          </p:blipFill>
          <p:spPr>
            <a:xfrm>
              <a:off x="8313865" y="5252547"/>
              <a:ext cx="369247" cy="295486"/>
            </a:xfrm>
            <a:prstGeom prst="rect">
              <a:avLst/>
            </a:prstGeom>
          </p:spPr>
        </p:pic>
        <p:pic>
          <p:nvPicPr>
            <p:cNvPr id="55" name="Picture 2" descr="Bug Report - Free technology icons">
              <a:extLst>
                <a:ext uri="{FF2B5EF4-FFF2-40B4-BE49-F238E27FC236}">
                  <a16:creationId xmlns:a16="http://schemas.microsoft.com/office/drawing/2014/main" id="{E64B5E30-8964-C312-55D6-5E0DD6A79A6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8987" t="49067"/>
            <a:stretch/>
          </p:blipFill>
          <p:spPr bwMode="auto">
            <a:xfrm flipH="1">
              <a:off x="7852041" y="5301845"/>
              <a:ext cx="407605" cy="325864"/>
            </a:xfrm>
            <a:prstGeom prst="rect">
              <a:avLst/>
            </a:prstGeom>
            <a:noFill/>
            <a:extLst>
              <a:ext uri="{909E8E84-426E-40DD-AFC4-6F175D3DCCD1}">
                <a14:hiddenFill xmlns:a14="http://schemas.microsoft.com/office/drawing/2010/main">
                  <a:solidFill>
                    <a:srgbClr val="FFFFFF"/>
                  </a:solidFill>
                </a14:hiddenFill>
              </a:ext>
            </a:extLst>
          </p:spPr>
        </p:pic>
        <p:cxnSp>
          <p:nvCxnSpPr>
            <p:cNvPr id="56" name="Straight Arrow Connector 55">
              <a:extLst>
                <a:ext uri="{FF2B5EF4-FFF2-40B4-BE49-F238E27FC236}">
                  <a16:creationId xmlns:a16="http://schemas.microsoft.com/office/drawing/2014/main" id="{352C121F-8001-F9BF-0107-1892AED4F6A2}"/>
                </a:ext>
              </a:extLst>
            </p:cNvPr>
            <p:cNvCxnSpPr>
              <a:cxnSpLocks/>
            </p:cNvCxnSpPr>
            <p:nvPr/>
          </p:nvCxnSpPr>
          <p:spPr>
            <a:xfrm flipH="1">
              <a:off x="8450363" y="3917147"/>
              <a:ext cx="1412236" cy="84787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03B4FE5B-E4F9-3467-7683-35108E74C0FF}"/>
              </a:ext>
            </a:extLst>
          </p:cNvPr>
          <p:cNvGrpSpPr/>
          <p:nvPr/>
        </p:nvGrpSpPr>
        <p:grpSpPr>
          <a:xfrm>
            <a:off x="6794987" y="1333490"/>
            <a:ext cx="620136" cy="774245"/>
            <a:chOff x="6794987" y="1333490"/>
            <a:chExt cx="620136" cy="774245"/>
          </a:xfrm>
        </p:grpSpPr>
        <p:grpSp>
          <p:nvGrpSpPr>
            <p:cNvPr id="60" name="Group 59">
              <a:extLst>
                <a:ext uri="{FF2B5EF4-FFF2-40B4-BE49-F238E27FC236}">
                  <a16:creationId xmlns:a16="http://schemas.microsoft.com/office/drawing/2014/main" id="{73EBD5D7-2C62-3742-8EFD-ECF6D94C842F}"/>
                </a:ext>
              </a:extLst>
            </p:cNvPr>
            <p:cNvGrpSpPr/>
            <p:nvPr/>
          </p:nvGrpSpPr>
          <p:grpSpPr>
            <a:xfrm>
              <a:off x="6838647" y="1333490"/>
              <a:ext cx="576476" cy="774245"/>
              <a:chOff x="6823982" y="1095479"/>
              <a:chExt cx="790388" cy="1004781"/>
            </a:xfrm>
          </p:grpSpPr>
          <p:pic>
            <p:nvPicPr>
              <p:cNvPr id="62" name="Picture 2" descr="Bug Report - Free technology icons">
                <a:extLst>
                  <a:ext uri="{FF2B5EF4-FFF2-40B4-BE49-F238E27FC236}">
                    <a16:creationId xmlns:a16="http://schemas.microsoft.com/office/drawing/2014/main" id="{420E4DC0-4585-F642-9A0E-A2820E88B99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74577" y="1460467"/>
                <a:ext cx="639793" cy="639793"/>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53FAA8AE-6283-BE4F-99B2-86727428437B}"/>
                  </a:ext>
                </a:extLst>
              </p:cNvPr>
              <p:cNvSpPr txBox="1"/>
              <p:nvPr/>
            </p:nvSpPr>
            <p:spPr>
              <a:xfrm>
                <a:off x="6823982" y="1095479"/>
                <a:ext cx="775331" cy="479303"/>
              </a:xfrm>
              <a:prstGeom prst="rect">
                <a:avLst/>
              </a:prstGeom>
              <a:noFill/>
            </p:spPr>
            <p:txBody>
              <a:bodyPr wrap="square" rtlCol="0">
                <a:spAutoFit/>
              </a:bodyPr>
              <a:lstStyle/>
              <a:p>
                <a:r>
                  <a:rPr lang="en-BE" dirty="0"/>
                  <a:t>foo</a:t>
                </a:r>
              </a:p>
            </p:txBody>
          </p:sp>
        </p:grpSp>
        <p:pic>
          <p:nvPicPr>
            <p:cNvPr id="61" name="Picture 2" descr="Bug Report - Free technology icons">
              <a:extLst>
                <a:ext uri="{FF2B5EF4-FFF2-40B4-BE49-F238E27FC236}">
                  <a16:creationId xmlns:a16="http://schemas.microsoft.com/office/drawing/2014/main" id="{2BFAAF66-721F-9879-43B8-BAB5735EF83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8987" t="49067"/>
            <a:stretch/>
          </p:blipFill>
          <p:spPr bwMode="auto">
            <a:xfrm flipH="1">
              <a:off x="6794987" y="1877304"/>
              <a:ext cx="288017" cy="23025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4" name="Group 63">
            <a:extLst>
              <a:ext uri="{FF2B5EF4-FFF2-40B4-BE49-F238E27FC236}">
                <a16:creationId xmlns:a16="http://schemas.microsoft.com/office/drawing/2014/main" id="{3C2087B9-0FFA-1CE8-5BA0-5225AA8ADDCA}"/>
              </a:ext>
            </a:extLst>
          </p:cNvPr>
          <p:cNvGrpSpPr/>
          <p:nvPr/>
        </p:nvGrpSpPr>
        <p:grpSpPr>
          <a:xfrm>
            <a:off x="8778211" y="3903873"/>
            <a:ext cx="1526468" cy="2368638"/>
            <a:chOff x="8778211" y="3903873"/>
            <a:chExt cx="1526468" cy="2368638"/>
          </a:xfrm>
        </p:grpSpPr>
        <p:grpSp>
          <p:nvGrpSpPr>
            <p:cNvPr id="65" name="Group 64">
              <a:extLst>
                <a:ext uri="{FF2B5EF4-FFF2-40B4-BE49-F238E27FC236}">
                  <a16:creationId xmlns:a16="http://schemas.microsoft.com/office/drawing/2014/main" id="{610A2910-8EF0-B52D-C47B-80D472CAD637}"/>
                </a:ext>
              </a:extLst>
            </p:cNvPr>
            <p:cNvGrpSpPr/>
            <p:nvPr/>
          </p:nvGrpSpPr>
          <p:grpSpPr>
            <a:xfrm>
              <a:off x="8778211" y="3903873"/>
              <a:ext cx="1526468" cy="2368638"/>
              <a:chOff x="8778211" y="3903873"/>
              <a:chExt cx="1526468" cy="2368638"/>
            </a:xfrm>
          </p:grpSpPr>
          <p:grpSp>
            <p:nvGrpSpPr>
              <p:cNvPr id="67" name="Group 66">
                <a:extLst>
                  <a:ext uri="{FF2B5EF4-FFF2-40B4-BE49-F238E27FC236}">
                    <a16:creationId xmlns:a16="http://schemas.microsoft.com/office/drawing/2014/main" id="{05E49D18-1861-CB49-9CB8-556B3530684E}"/>
                  </a:ext>
                </a:extLst>
              </p:cNvPr>
              <p:cNvGrpSpPr/>
              <p:nvPr/>
            </p:nvGrpSpPr>
            <p:grpSpPr>
              <a:xfrm>
                <a:off x="9277737" y="4641056"/>
                <a:ext cx="701330" cy="977226"/>
                <a:chOff x="8862660" y="4490647"/>
                <a:chExt cx="701330" cy="977226"/>
              </a:xfrm>
            </p:grpSpPr>
            <p:pic>
              <p:nvPicPr>
                <p:cNvPr id="70" name="Picture 2" descr="Bug Report - Free technology icons">
                  <a:extLst>
                    <a:ext uri="{FF2B5EF4-FFF2-40B4-BE49-F238E27FC236}">
                      <a16:creationId xmlns:a16="http://schemas.microsoft.com/office/drawing/2014/main" id="{A0CDB595-E4A9-954C-B314-82F0CA67AC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24197" y="4828080"/>
                  <a:ext cx="639793" cy="639793"/>
                </a:xfrm>
                <a:prstGeom prst="rect">
                  <a:avLst/>
                </a:prstGeom>
                <a:noFill/>
                <a:extLst>
                  <a:ext uri="{909E8E84-426E-40DD-AFC4-6F175D3DCCD1}">
                    <a14:hiddenFill xmlns:a14="http://schemas.microsoft.com/office/drawing/2010/main">
                      <a:solidFill>
                        <a:srgbClr val="FFFFFF"/>
                      </a:solidFill>
                    </a14:hiddenFill>
                  </a:ext>
                </a:extLst>
              </p:spPr>
            </p:pic>
            <p:sp>
              <p:nvSpPr>
                <p:cNvPr id="71" name="TextBox 70">
                  <a:extLst>
                    <a:ext uri="{FF2B5EF4-FFF2-40B4-BE49-F238E27FC236}">
                      <a16:creationId xmlns:a16="http://schemas.microsoft.com/office/drawing/2014/main" id="{369413E0-6869-E349-AB14-1EC9C826F8F5}"/>
                    </a:ext>
                  </a:extLst>
                </p:cNvPr>
                <p:cNvSpPr txBox="1"/>
                <p:nvPr/>
              </p:nvSpPr>
              <p:spPr>
                <a:xfrm>
                  <a:off x="8862660" y="4490647"/>
                  <a:ext cx="584862" cy="369332"/>
                </a:xfrm>
                <a:prstGeom prst="rect">
                  <a:avLst/>
                </a:prstGeom>
                <a:noFill/>
              </p:spPr>
              <p:txBody>
                <a:bodyPr wrap="square" rtlCol="0">
                  <a:spAutoFit/>
                </a:bodyPr>
                <a:lstStyle/>
                <a:p>
                  <a:r>
                    <a:rPr lang="en-BE" dirty="0"/>
                    <a:t>foo</a:t>
                  </a:r>
                </a:p>
              </p:txBody>
            </p:sp>
          </p:grpSp>
          <p:cxnSp>
            <p:nvCxnSpPr>
              <p:cNvPr id="68" name="Straight Arrow Connector 67">
                <a:extLst>
                  <a:ext uri="{FF2B5EF4-FFF2-40B4-BE49-F238E27FC236}">
                    <a16:creationId xmlns:a16="http://schemas.microsoft.com/office/drawing/2014/main" id="{C4A73B05-EE37-4540-8ADC-1CAE0D8F04E0}"/>
                  </a:ext>
                </a:extLst>
              </p:cNvPr>
              <p:cNvCxnSpPr>
                <a:cxnSpLocks/>
              </p:cNvCxnSpPr>
              <p:nvPr/>
            </p:nvCxnSpPr>
            <p:spPr>
              <a:xfrm flipH="1">
                <a:off x="9659170" y="3903873"/>
                <a:ext cx="344514" cy="76438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91BDD3B4-AFC5-0F47-BBB2-DA3930D988F4}"/>
                  </a:ext>
                </a:extLst>
              </p:cNvPr>
              <p:cNvSpPr txBox="1"/>
              <p:nvPr/>
            </p:nvSpPr>
            <p:spPr>
              <a:xfrm>
                <a:off x="8778211" y="5626180"/>
                <a:ext cx="1526468" cy="646331"/>
              </a:xfrm>
              <a:prstGeom prst="rect">
                <a:avLst/>
              </a:prstGeom>
              <a:noFill/>
            </p:spPr>
            <p:txBody>
              <a:bodyPr wrap="square" rtlCol="0">
                <a:spAutoFit/>
              </a:bodyPr>
              <a:lstStyle/>
              <a:p>
                <a:pPr algn="ctr"/>
                <a:r>
                  <a:rPr lang="en-GB" dirty="0"/>
                  <a:t>M</a:t>
                </a:r>
                <a:r>
                  <a:rPr lang="en-BE" dirty="0"/>
                  <a:t>issed </a:t>
                </a:r>
              </a:p>
              <a:p>
                <a:pPr algn="ctr"/>
                <a:r>
                  <a:rPr lang="en-BE" dirty="0"/>
                  <a:t>opportunity</a:t>
                </a:r>
              </a:p>
            </p:txBody>
          </p:sp>
        </p:grpSp>
        <p:pic>
          <p:nvPicPr>
            <p:cNvPr id="66" name="Picture 2" descr="Bug Report - Free technology icons">
              <a:extLst>
                <a:ext uri="{FF2B5EF4-FFF2-40B4-BE49-F238E27FC236}">
                  <a16:creationId xmlns:a16="http://schemas.microsoft.com/office/drawing/2014/main" id="{17019AD0-D0CA-403F-7AF4-B84BA608CFB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8987" t="49067"/>
            <a:stretch/>
          </p:blipFill>
          <p:spPr bwMode="auto">
            <a:xfrm flipH="1">
              <a:off x="9151005" y="5274434"/>
              <a:ext cx="407605" cy="32586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2" name="Group 71">
            <a:extLst>
              <a:ext uri="{FF2B5EF4-FFF2-40B4-BE49-F238E27FC236}">
                <a16:creationId xmlns:a16="http://schemas.microsoft.com/office/drawing/2014/main" id="{634DDFD9-35FD-F351-7734-FE1E93F54DC1}"/>
              </a:ext>
            </a:extLst>
          </p:cNvPr>
          <p:cNvGrpSpPr/>
          <p:nvPr/>
        </p:nvGrpSpPr>
        <p:grpSpPr>
          <a:xfrm>
            <a:off x="10132345" y="3903873"/>
            <a:ext cx="1667769" cy="2347286"/>
            <a:chOff x="10132345" y="3903873"/>
            <a:chExt cx="1667769" cy="2347286"/>
          </a:xfrm>
        </p:grpSpPr>
        <p:grpSp>
          <p:nvGrpSpPr>
            <p:cNvPr id="73" name="Group 72">
              <a:extLst>
                <a:ext uri="{FF2B5EF4-FFF2-40B4-BE49-F238E27FC236}">
                  <a16:creationId xmlns:a16="http://schemas.microsoft.com/office/drawing/2014/main" id="{F51C46FF-D252-F541-90B0-FBDA28777130}"/>
                </a:ext>
              </a:extLst>
            </p:cNvPr>
            <p:cNvGrpSpPr/>
            <p:nvPr/>
          </p:nvGrpSpPr>
          <p:grpSpPr>
            <a:xfrm>
              <a:off x="10132345" y="3903873"/>
              <a:ext cx="1667769" cy="2347286"/>
              <a:chOff x="10132345" y="3903873"/>
              <a:chExt cx="1667769" cy="2347286"/>
            </a:xfrm>
          </p:grpSpPr>
          <p:grpSp>
            <p:nvGrpSpPr>
              <p:cNvPr id="76" name="Group 75">
                <a:extLst>
                  <a:ext uri="{FF2B5EF4-FFF2-40B4-BE49-F238E27FC236}">
                    <a16:creationId xmlns:a16="http://schemas.microsoft.com/office/drawing/2014/main" id="{DA77788A-C3CC-4740-9B75-E66895733224}"/>
                  </a:ext>
                </a:extLst>
              </p:cNvPr>
              <p:cNvGrpSpPr/>
              <p:nvPr/>
            </p:nvGrpSpPr>
            <p:grpSpPr>
              <a:xfrm>
                <a:off x="10613805" y="4652949"/>
                <a:ext cx="729472" cy="973231"/>
                <a:chOff x="9830140" y="4454037"/>
                <a:chExt cx="729472" cy="973231"/>
              </a:xfrm>
            </p:grpSpPr>
            <p:pic>
              <p:nvPicPr>
                <p:cNvPr id="79" name="Picture 2" descr="Bug Report - Free technology icons">
                  <a:extLst>
                    <a:ext uri="{FF2B5EF4-FFF2-40B4-BE49-F238E27FC236}">
                      <a16:creationId xmlns:a16="http://schemas.microsoft.com/office/drawing/2014/main" id="{9303C15C-2551-DB41-B973-83F3CB5D54A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93834" y="4787475"/>
                  <a:ext cx="639793" cy="63979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79">
                  <a:extLst>
                    <a:ext uri="{FF2B5EF4-FFF2-40B4-BE49-F238E27FC236}">
                      <a16:creationId xmlns:a16="http://schemas.microsoft.com/office/drawing/2014/main" id="{6E650507-7A2E-8443-8239-03E5C41FE60B}"/>
                    </a:ext>
                  </a:extLst>
                </p:cNvPr>
                <p:cNvPicPr>
                  <a:picLocks noChangeAspect="1"/>
                </p:cNvPicPr>
                <p:nvPr/>
              </p:nvPicPr>
              <p:blipFill rotWithShape="1">
                <a:blip r:embed="rId8"/>
                <a:srcRect l="5953" t="10534" r="2533" b="6922"/>
                <a:stretch/>
              </p:blipFill>
              <p:spPr>
                <a:xfrm>
                  <a:off x="10152405" y="5023257"/>
                  <a:ext cx="407207" cy="325864"/>
                </a:xfrm>
                <a:prstGeom prst="rect">
                  <a:avLst/>
                </a:prstGeom>
              </p:spPr>
            </p:pic>
            <p:sp>
              <p:nvSpPr>
                <p:cNvPr id="81" name="TextBox 80">
                  <a:extLst>
                    <a:ext uri="{FF2B5EF4-FFF2-40B4-BE49-F238E27FC236}">
                      <a16:creationId xmlns:a16="http://schemas.microsoft.com/office/drawing/2014/main" id="{12B2A462-86C1-174D-84DD-DDE8E5BFE6FB}"/>
                    </a:ext>
                  </a:extLst>
                </p:cNvPr>
                <p:cNvSpPr txBox="1"/>
                <p:nvPr/>
              </p:nvSpPr>
              <p:spPr>
                <a:xfrm>
                  <a:off x="9830140" y="4454037"/>
                  <a:ext cx="661784" cy="369332"/>
                </a:xfrm>
                <a:prstGeom prst="rect">
                  <a:avLst/>
                </a:prstGeom>
                <a:noFill/>
              </p:spPr>
              <p:txBody>
                <a:bodyPr wrap="square" rtlCol="0">
                  <a:spAutoFit/>
                </a:bodyPr>
                <a:lstStyle/>
                <a:p>
                  <a:r>
                    <a:rPr lang="en-BE" dirty="0"/>
                    <a:t>foo</a:t>
                  </a:r>
                </a:p>
              </p:txBody>
            </p:sp>
          </p:grpSp>
          <p:cxnSp>
            <p:nvCxnSpPr>
              <p:cNvPr id="77" name="Straight Arrow Connector 76">
                <a:extLst>
                  <a:ext uri="{FF2B5EF4-FFF2-40B4-BE49-F238E27FC236}">
                    <a16:creationId xmlns:a16="http://schemas.microsoft.com/office/drawing/2014/main" id="{D1EB732B-104E-AA42-AAEF-CCA8BFB0FBDE}"/>
                  </a:ext>
                </a:extLst>
              </p:cNvPr>
              <p:cNvCxnSpPr/>
              <p:nvPr/>
            </p:nvCxnSpPr>
            <p:spPr>
              <a:xfrm>
                <a:off x="10132345" y="3903873"/>
                <a:ext cx="545154" cy="76438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782E131D-14FE-4D4C-9856-55F8CC975E14}"/>
                  </a:ext>
                </a:extLst>
              </p:cNvPr>
              <p:cNvSpPr txBox="1"/>
              <p:nvPr/>
            </p:nvSpPr>
            <p:spPr>
              <a:xfrm>
                <a:off x="10301600" y="5604828"/>
                <a:ext cx="1498514" cy="646331"/>
              </a:xfrm>
              <a:prstGeom prst="rect">
                <a:avLst/>
              </a:prstGeom>
              <a:noFill/>
            </p:spPr>
            <p:txBody>
              <a:bodyPr wrap="square" rtlCol="0">
                <a:spAutoFit/>
              </a:bodyPr>
              <a:lstStyle/>
              <a:p>
                <a:pPr algn="ctr"/>
                <a:r>
                  <a:rPr lang="en-US" dirty="0"/>
                  <a:t>Effort duplication</a:t>
                </a:r>
                <a:endParaRPr lang="en-BE" dirty="0"/>
              </a:p>
            </p:txBody>
          </p:sp>
        </p:grpSp>
        <p:pic>
          <p:nvPicPr>
            <p:cNvPr id="74" name="Picture 2" descr="Bug Report - Free technology icons">
              <a:extLst>
                <a:ext uri="{FF2B5EF4-FFF2-40B4-BE49-F238E27FC236}">
                  <a16:creationId xmlns:a16="http://schemas.microsoft.com/office/drawing/2014/main" id="{1B512237-4718-0B15-29D6-585A3AA5AEF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8987" t="49067"/>
            <a:stretch/>
          </p:blipFill>
          <p:spPr bwMode="auto">
            <a:xfrm flipH="1">
              <a:off x="10510931" y="5274434"/>
              <a:ext cx="407605" cy="325864"/>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74">
              <a:extLst>
                <a:ext uri="{FF2B5EF4-FFF2-40B4-BE49-F238E27FC236}">
                  <a16:creationId xmlns:a16="http://schemas.microsoft.com/office/drawing/2014/main" id="{0CEE5518-CA2E-4495-30E2-ECDDA8AA0188}"/>
                </a:ext>
              </a:extLst>
            </p:cNvPr>
            <p:cNvPicPr>
              <a:picLocks noChangeAspect="1"/>
            </p:cNvPicPr>
            <p:nvPr/>
          </p:nvPicPr>
          <p:blipFill rotWithShape="1">
            <a:blip r:embed="rId8"/>
            <a:srcRect l="5953" t="10534" r="2533" b="6922"/>
            <a:stretch/>
          </p:blipFill>
          <p:spPr>
            <a:xfrm>
              <a:off x="10503026" y="5184348"/>
              <a:ext cx="407207" cy="325864"/>
            </a:xfrm>
            <a:prstGeom prst="rect">
              <a:avLst/>
            </a:prstGeom>
          </p:spPr>
        </p:pic>
      </p:grpSp>
      <p:grpSp>
        <p:nvGrpSpPr>
          <p:cNvPr id="82" name="Group 81">
            <a:extLst>
              <a:ext uri="{FF2B5EF4-FFF2-40B4-BE49-F238E27FC236}">
                <a16:creationId xmlns:a16="http://schemas.microsoft.com/office/drawing/2014/main" id="{FE35CF33-28BB-D922-33FD-110373398578}"/>
              </a:ext>
            </a:extLst>
          </p:cNvPr>
          <p:cNvGrpSpPr/>
          <p:nvPr/>
        </p:nvGrpSpPr>
        <p:grpSpPr>
          <a:xfrm>
            <a:off x="3491032" y="2165784"/>
            <a:ext cx="2460441" cy="1708718"/>
            <a:chOff x="3491032" y="1973281"/>
            <a:chExt cx="2460441" cy="1708718"/>
          </a:xfrm>
        </p:grpSpPr>
        <p:cxnSp>
          <p:nvCxnSpPr>
            <p:cNvPr id="83" name="Straight Arrow Connector 82">
              <a:extLst>
                <a:ext uri="{FF2B5EF4-FFF2-40B4-BE49-F238E27FC236}">
                  <a16:creationId xmlns:a16="http://schemas.microsoft.com/office/drawing/2014/main" id="{66BFC631-67E1-D9E7-C261-83D81C52D383}"/>
                </a:ext>
              </a:extLst>
            </p:cNvPr>
            <p:cNvCxnSpPr>
              <a:cxnSpLocks/>
              <a:stCxn id="86" idx="4"/>
              <a:endCxn id="89" idx="0"/>
            </p:cNvCxnSpPr>
            <p:nvPr/>
          </p:nvCxnSpPr>
          <p:spPr>
            <a:xfrm>
              <a:off x="5405667" y="2229942"/>
              <a:ext cx="0" cy="121856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984BC21B-5EB4-B23E-842E-2444216296B3}"/>
                </a:ext>
              </a:extLst>
            </p:cNvPr>
            <p:cNvGrpSpPr/>
            <p:nvPr/>
          </p:nvGrpSpPr>
          <p:grpSpPr>
            <a:xfrm>
              <a:off x="3491032" y="1973281"/>
              <a:ext cx="2460441" cy="1708718"/>
              <a:chOff x="3491032" y="1877029"/>
              <a:chExt cx="2460441" cy="1708718"/>
            </a:xfrm>
          </p:grpSpPr>
          <p:sp>
            <p:nvSpPr>
              <p:cNvPr id="85" name="Oval 84">
                <a:extLst>
                  <a:ext uri="{FF2B5EF4-FFF2-40B4-BE49-F238E27FC236}">
                    <a16:creationId xmlns:a16="http://schemas.microsoft.com/office/drawing/2014/main" id="{A6A19BA7-4199-DC04-FB4E-3ED2841E3D76}"/>
                  </a:ext>
                </a:extLst>
              </p:cNvPr>
              <p:cNvSpPr/>
              <p:nvPr/>
            </p:nvSpPr>
            <p:spPr>
              <a:xfrm>
                <a:off x="3491032" y="1877029"/>
                <a:ext cx="190832" cy="232254"/>
              </a:xfrm>
              <a:prstGeom prst="ellipse">
                <a:avLst/>
              </a:prstGeom>
              <a:solidFill>
                <a:srgbClr val="008F00"/>
              </a:solidFill>
              <a:ln>
                <a:solidFill>
                  <a:srgbClr val="008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86" name="Oval 85">
                <a:extLst>
                  <a:ext uri="{FF2B5EF4-FFF2-40B4-BE49-F238E27FC236}">
                    <a16:creationId xmlns:a16="http://schemas.microsoft.com/office/drawing/2014/main" id="{E3266ADE-C9C3-DEF3-1BFD-DC1985F2A518}"/>
                  </a:ext>
                </a:extLst>
              </p:cNvPr>
              <p:cNvSpPr/>
              <p:nvPr/>
            </p:nvSpPr>
            <p:spPr>
              <a:xfrm>
                <a:off x="5310251" y="1901436"/>
                <a:ext cx="190832" cy="232254"/>
              </a:xfrm>
              <a:prstGeom prst="ellipse">
                <a:avLst/>
              </a:prstGeom>
              <a:solidFill>
                <a:srgbClr val="008F00"/>
              </a:solidFill>
              <a:ln>
                <a:solidFill>
                  <a:srgbClr val="008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87" name="Oval 86">
                <a:extLst>
                  <a:ext uri="{FF2B5EF4-FFF2-40B4-BE49-F238E27FC236}">
                    <a16:creationId xmlns:a16="http://schemas.microsoft.com/office/drawing/2014/main" id="{22404D65-C44B-CFA4-6783-1C052819705D}"/>
                  </a:ext>
                </a:extLst>
              </p:cNvPr>
              <p:cNvSpPr/>
              <p:nvPr/>
            </p:nvSpPr>
            <p:spPr>
              <a:xfrm>
                <a:off x="5760641" y="1878928"/>
                <a:ext cx="190832" cy="232254"/>
              </a:xfrm>
              <a:prstGeom prst="ellipse">
                <a:avLst/>
              </a:prstGeom>
              <a:solidFill>
                <a:srgbClr val="008F00"/>
              </a:solidFill>
              <a:ln>
                <a:solidFill>
                  <a:srgbClr val="008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88" name="Oval 87">
                <a:extLst>
                  <a:ext uri="{FF2B5EF4-FFF2-40B4-BE49-F238E27FC236}">
                    <a16:creationId xmlns:a16="http://schemas.microsoft.com/office/drawing/2014/main" id="{ACF978D9-67C8-FAD0-6945-172D3AC5E892}"/>
                  </a:ext>
                </a:extLst>
              </p:cNvPr>
              <p:cNvSpPr/>
              <p:nvPr/>
            </p:nvSpPr>
            <p:spPr>
              <a:xfrm>
                <a:off x="3491032" y="3351594"/>
                <a:ext cx="190832" cy="232254"/>
              </a:xfrm>
              <a:prstGeom prst="ellipse">
                <a:avLst/>
              </a:prstGeom>
              <a:solidFill>
                <a:srgbClr val="008F00"/>
              </a:solidFill>
              <a:ln>
                <a:solidFill>
                  <a:srgbClr val="008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89" name="Oval 88">
                <a:extLst>
                  <a:ext uri="{FF2B5EF4-FFF2-40B4-BE49-F238E27FC236}">
                    <a16:creationId xmlns:a16="http://schemas.microsoft.com/office/drawing/2014/main" id="{4EC5C0DB-76FD-9A32-A364-E3978CFDEDFE}"/>
                  </a:ext>
                </a:extLst>
              </p:cNvPr>
              <p:cNvSpPr/>
              <p:nvPr/>
            </p:nvSpPr>
            <p:spPr>
              <a:xfrm>
                <a:off x="5310251" y="3352251"/>
                <a:ext cx="190832" cy="232254"/>
              </a:xfrm>
              <a:prstGeom prst="ellipse">
                <a:avLst/>
              </a:prstGeom>
              <a:solidFill>
                <a:srgbClr val="008F00"/>
              </a:solidFill>
              <a:ln>
                <a:solidFill>
                  <a:srgbClr val="008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0" name="Oval 89">
                <a:extLst>
                  <a:ext uri="{FF2B5EF4-FFF2-40B4-BE49-F238E27FC236}">
                    <a16:creationId xmlns:a16="http://schemas.microsoft.com/office/drawing/2014/main" id="{85474FED-098B-A445-6DBD-231C16405626}"/>
                  </a:ext>
                </a:extLst>
              </p:cNvPr>
              <p:cNvSpPr/>
              <p:nvPr/>
            </p:nvSpPr>
            <p:spPr>
              <a:xfrm>
                <a:off x="5760641" y="3353493"/>
                <a:ext cx="190832" cy="232254"/>
              </a:xfrm>
              <a:prstGeom prst="ellipse">
                <a:avLst/>
              </a:prstGeom>
              <a:solidFill>
                <a:srgbClr val="008F00"/>
              </a:solidFill>
              <a:ln>
                <a:solidFill>
                  <a:srgbClr val="008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91" name="Straight Arrow Connector 90">
                <a:extLst>
                  <a:ext uri="{FF2B5EF4-FFF2-40B4-BE49-F238E27FC236}">
                    <a16:creationId xmlns:a16="http://schemas.microsoft.com/office/drawing/2014/main" id="{EEA47157-76E0-325D-6F9B-0429817BBF13}"/>
                  </a:ext>
                </a:extLst>
              </p:cNvPr>
              <p:cNvCxnSpPr>
                <a:cxnSpLocks/>
                <a:stCxn id="85" idx="4"/>
                <a:endCxn id="88" idx="0"/>
              </p:cNvCxnSpPr>
              <p:nvPr/>
            </p:nvCxnSpPr>
            <p:spPr>
              <a:xfrm>
                <a:off x="3586448" y="2109283"/>
                <a:ext cx="0" cy="12423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4B34ED7A-76FA-B9CD-95B7-43FF48035DE9}"/>
                  </a:ext>
                </a:extLst>
              </p:cNvPr>
              <p:cNvCxnSpPr>
                <a:cxnSpLocks/>
                <a:stCxn id="87" idx="4"/>
                <a:endCxn id="90" idx="0"/>
              </p:cNvCxnSpPr>
              <p:nvPr/>
            </p:nvCxnSpPr>
            <p:spPr>
              <a:xfrm>
                <a:off x="5856057" y="2111182"/>
                <a:ext cx="0" cy="12423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3" name="Group 92">
            <a:extLst>
              <a:ext uri="{FF2B5EF4-FFF2-40B4-BE49-F238E27FC236}">
                <a16:creationId xmlns:a16="http://schemas.microsoft.com/office/drawing/2014/main" id="{3B2FB3BD-728B-E5C6-4D36-478A4DD038A1}"/>
              </a:ext>
            </a:extLst>
          </p:cNvPr>
          <p:cNvGrpSpPr/>
          <p:nvPr/>
        </p:nvGrpSpPr>
        <p:grpSpPr>
          <a:xfrm>
            <a:off x="4178327" y="2178034"/>
            <a:ext cx="840748" cy="1731811"/>
            <a:chOff x="4178327" y="2187663"/>
            <a:chExt cx="840748" cy="1731811"/>
          </a:xfrm>
        </p:grpSpPr>
        <p:sp>
          <p:nvSpPr>
            <p:cNvPr id="94" name="Oval 93">
              <a:extLst>
                <a:ext uri="{FF2B5EF4-FFF2-40B4-BE49-F238E27FC236}">
                  <a16:creationId xmlns:a16="http://schemas.microsoft.com/office/drawing/2014/main" id="{E2CE45C6-35E9-303A-CE4A-B8E722C178DC}"/>
                </a:ext>
              </a:extLst>
            </p:cNvPr>
            <p:cNvSpPr/>
            <p:nvPr/>
          </p:nvSpPr>
          <p:spPr>
            <a:xfrm>
              <a:off x="4178327" y="2187663"/>
              <a:ext cx="190832" cy="232254"/>
            </a:xfrm>
            <a:prstGeom prst="ellipse">
              <a:avLst/>
            </a:prstGeom>
            <a:solidFill>
              <a:srgbClr val="9437FF"/>
            </a:solidFill>
            <a:ln>
              <a:solidFill>
                <a:srgbClr val="943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5" name="Oval 94">
              <a:extLst>
                <a:ext uri="{FF2B5EF4-FFF2-40B4-BE49-F238E27FC236}">
                  <a16:creationId xmlns:a16="http://schemas.microsoft.com/office/drawing/2014/main" id="{54D03B28-6249-F0FB-B8B2-31DBABF6E8AD}"/>
                </a:ext>
              </a:extLst>
            </p:cNvPr>
            <p:cNvSpPr/>
            <p:nvPr/>
          </p:nvSpPr>
          <p:spPr>
            <a:xfrm>
              <a:off x="4178327" y="3685978"/>
              <a:ext cx="190832" cy="232254"/>
            </a:xfrm>
            <a:prstGeom prst="ellipse">
              <a:avLst/>
            </a:prstGeom>
            <a:solidFill>
              <a:srgbClr val="9437FF"/>
            </a:solidFill>
            <a:ln>
              <a:solidFill>
                <a:srgbClr val="943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6" name="Oval 95">
              <a:extLst>
                <a:ext uri="{FF2B5EF4-FFF2-40B4-BE49-F238E27FC236}">
                  <a16:creationId xmlns:a16="http://schemas.microsoft.com/office/drawing/2014/main" id="{73247A3C-C296-6ED0-E1D4-993C9F1EEA4E}"/>
                </a:ext>
              </a:extLst>
            </p:cNvPr>
            <p:cNvSpPr/>
            <p:nvPr/>
          </p:nvSpPr>
          <p:spPr>
            <a:xfrm>
              <a:off x="4828243" y="3687220"/>
              <a:ext cx="190832" cy="232254"/>
            </a:xfrm>
            <a:prstGeom prst="ellipse">
              <a:avLst/>
            </a:prstGeom>
            <a:solidFill>
              <a:srgbClr val="9437FF"/>
            </a:solidFill>
            <a:ln>
              <a:solidFill>
                <a:srgbClr val="943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97" name="Straight Arrow Connector 96">
              <a:extLst>
                <a:ext uri="{FF2B5EF4-FFF2-40B4-BE49-F238E27FC236}">
                  <a16:creationId xmlns:a16="http://schemas.microsoft.com/office/drawing/2014/main" id="{1BF8472A-164C-56B6-DACA-C83B1A6D300B}"/>
                </a:ext>
              </a:extLst>
            </p:cNvPr>
            <p:cNvCxnSpPr>
              <a:stCxn id="96" idx="0"/>
              <a:endCxn id="98" idx="4"/>
            </p:cNvCxnSpPr>
            <p:nvPr/>
          </p:nvCxnSpPr>
          <p:spPr>
            <a:xfrm flipV="1">
              <a:off x="4923659" y="2426050"/>
              <a:ext cx="0" cy="12611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335769D0-A26B-4933-8B75-41CDF6494C6A}"/>
                </a:ext>
              </a:extLst>
            </p:cNvPr>
            <p:cNvSpPr/>
            <p:nvPr/>
          </p:nvSpPr>
          <p:spPr>
            <a:xfrm>
              <a:off x="4828243" y="2193796"/>
              <a:ext cx="190832" cy="232254"/>
            </a:xfrm>
            <a:prstGeom prst="ellipse">
              <a:avLst/>
            </a:prstGeom>
            <a:solidFill>
              <a:srgbClr val="9437FF"/>
            </a:solidFill>
            <a:ln>
              <a:solidFill>
                <a:srgbClr val="943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99" name="Straight Arrow Connector 98">
              <a:extLst>
                <a:ext uri="{FF2B5EF4-FFF2-40B4-BE49-F238E27FC236}">
                  <a16:creationId xmlns:a16="http://schemas.microsoft.com/office/drawing/2014/main" id="{5825524E-7D07-7104-3F3E-F8C68C03082E}"/>
                </a:ext>
              </a:extLst>
            </p:cNvPr>
            <p:cNvCxnSpPr>
              <a:stCxn id="95" idx="0"/>
              <a:endCxn id="94" idx="4"/>
            </p:cNvCxnSpPr>
            <p:nvPr/>
          </p:nvCxnSpPr>
          <p:spPr>
            <a:xfrm flipV="1">
              <a:off x="4273743" y="2419917"/>
              <a:ext cx="0" cy="126606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0" name="TextBox 99">
            <a:extLst>
              <a:ext uri="{FF2B5EF4-FFF2-40B4-BE49-F238E27FC236}">
                <a16:creationId xmlns:a16="http://schemas.microsoft.com/office/drawing/2014/main" id="{C728B716-17A4-E2C2-25FC-0AA3AB582D33}"/>
              </a:ext>
            </a:extLst>
          </p:cNvPr>
          <p:cNvSpPr txBox="1"/>
          <p:nvPr/>
        </p:nvSpPr>
        <p:spPr>
          <a:xfrm>
            <a:off x="3994507" y="2705164"/>
            <a:ext cx="1554248" cy="584775"/>
          </a:xfrm>
          <a:prstGeom prst="rect">
            <a:avLst/>
          </a:prstGeom>
          <a:solidFill>
            <a:schemeClr val="bg2"/>
          </a:solidFill>
          <a:ln w="28575">
            <a:solidFill>
              <a:schemeClr val="tx1"/>
            </a:solidFill>
          </a:ln>
        </p:spPr>
        <p:txBody>
          <a:bodyPr wrap="square" rtlCol="0">
            <a:spAutoFit/>
          </a:bodyPr>
          <a:lstStyle/>
          <a:p>
            <a:pPr algn="ctr"/>
            <a:r>
              <a:rPr lang="en-GB" sz="1600" dirty="0"/>
              <a:t>Synchronized</a:t>
            </a:r>
            <a:r>
              <a:rPr lang="en-BE" sz="1600" dirty="0"/>
              <a:t> commits</a:t>
            </a:r>
          </a:p>
        </p:txBody>
      </p:sp>
      <p:grpSp>
        <p:nvGrpSpPr>
          <p:cNvPr id="101" name="Group 100">
            <a:extLst>
              <a:ext uri="{FF2B5EF4-FFF2-40B4-BE49-F238E27FC236}">
                <a16:creationId xmlns:a16="http://schemas.microsoft.com/office/drawing/2014/main" id="{E7B36919-2220-3C07-97A7-5EEB0B6F73A5}"/>
              </a:ext>
            </a:extLst>
          </p:cNvPr>
          <p:cNvGrpSpPr/>
          <p:nvPr/>
        </p:nvGrpSpPr>
        <p:grpSpPr>
          <a:xfrm>
            <a:off x="6447936" y="2142062"/>
            <a:ext cx="3731200" cy="290866"/>
            <a:chOff x="6447936" y="2142062"/>
            <a:chExt cx="3731200" cy="290866"/>
          </a:xfrm>
        </p:grpSpPr>
        <p:sp>
          <p:nvSpPr>
            <p:cNvPr id="102" name="Oval 101">
              <a:extLst>
                <a:ext uri="{FF2B5EF4-FFF2-40B4-BE49-F238E27FC236}">
                  <a16:creationId xmlns:a16="http://schemas.microsoft.com/office/drawing/2014/main" id="{27AA491F-A273-AF41-E3BD-53894F38509D}"/>
                </a:ext>
              </a:extLst>
            </p:cNvPr>
            <p:cNvSpPr/>
            <p:nvPr/>
          </p:nvSpPr>
          <p:spPr>
            <a:xfrm>
              <a:off x="6447936" y="2142062"/>
              <a:ext cx="190832" cy="232254"/>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3" name="Oval 102">
              <a:extLst>
                <a:ext uri="{FF2B5EF4-FFF2-40B4-BE49-F238E27FC236}">
                  <a16:creationId xmlns:a16="http://schemas.microsoft.com/office/drawing/2014/main" id="{96A4341A-A27E-8FE0-0A1C-718AB8885E5F}"/>
                </a:ext>
              </a:extLst>
            </p:cNvPr>
            <p:cNvSpPr/>
            <p:nvPr/>
          </p:nvSpPr>
          <p:spPr>
            <a:xfrm>
              <a:off x="7135231" y="2153937"/>
              <a:ext cx="190832" cy="232254"/>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4" name="Oval 103">
              <a:extLst>
                <a:ext uri="{FF2B5EF4-FFF2-40B4-BE49-F238E27FC236}">
                  <a16:creationId xmlns:a16="http://schemas.microsoft.com/office/drawing/2014/main" id="{27BFED67-A08F-0DEE-7FEC-C9DCB188A9BA}"/>
                </a:ext>
              </a:extLst>
            </p:cNvPr>
            <p:cNvSpPr/>
            <p:nvPr/>
          </p:nvSpPr>
          <p:spPr>
            <a:xfrm>
              <a:off x="8549924" y="2148451"/>
              <a:ext cx="190832" cy="232254"/>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5" name="Oval 104">
              <a:extLst>
                <a:ext uri="{FF2B5EF4-FFF2-40B4-BE49-F238E27FC236}">
                  <a16:creationId xmlns:a16="http://schemas.microsoft.com/office/drawing/2014/main" id="{115D1E0E-35BE-433F-D03C-BDB1A3E2D4A4}"/>
                </a:ext>
              </a:extLst>
            </p:cNvPr>
            <p:cNvSpPr/>
            <p:nvPr/>
          </p:nvSpPr>
          <p:spPr>
            <a:xfrm>
              <a:off x="9439470" y="2200674"/>
              <a:ext cx="190832" cy="232254"/>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6" name="Oval 105">
              <a:extLst>
                <a:ext uri="{FF2B5EF4-FFF2-40B4-BE49-F238E27FC236}">
                  <a16:creationId xmlns:a16="http://schemas.microsoft.com/office/drawing/2014/main" id="{9FC4C845-7329-746B-33C4-2770B3C923D0}"/>
                </a:ext>
              </a:extLst>
            </p:cNvPr>
            <p:cNvSpPr/>
            <p:nvPr/>
          </p:nvSpPr>
          <p:spPr>
            <a:xfrm>
              <a:off x="9988304" y="2156775"/>
              <a:ext cx="190832" cy="232254"/>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07" name="Group 106">
            <a:extLst>
              <a:ext uri="{FF2B5EF4-FFF2-40B4-BE49-F238E27FC236}">
                <a16:creationId xmlns:a16="http://schemas.microsoft.com/office/drawing/2014/main" id="{04F88CAA-3DBE-828D-96A3-1D7EC3329A8C}"/>
              </a:ext>
            </a:extLst>
          </p:cNvPr>
          <p:cNvGrpSpPr/>
          <p:nvPr/>
        </p:nvGrpSpPr>
        <p:grpSpPr>
          <a:xfrm>
            <a:off x="6794987" y="3650492"/>
            <a:ext cx="3337358" cy="257764"/>
            <a:chOff x="6794987" y="3650492"/>
            <a:chExt cx="3337358" cy="257764"/>
          </a:xfrm>
        </p:grpSpPr>
        <p:sp>
          <p:nvSpPr>
            <p:cNvPr id="108" name="Oval 107">
              <a:extLst>
                <a:ext uri="{FF2B5EF4-FFF2-40B4-BE49-F238E27FC236}">
                  <a16:creationId xmlns:a16="http://schemas.microsoft.com/office/drawing/2014/main" id="{236E10C2-1B3D-D140-6884-B09CE521B160}"/>
                </a:ext>
              </a:extLst>
            </p:cNvPr>
            <p:cNvSpPr/>
            <p:nvPr/>
          </p:nvSpPr>
          <p:spPr>
            <a:xfrm>
              <a:off x="6794987" y="3676002"/>
              <a:ext cx="190832" cy="232254"/>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9" name="Oval 108">
              <a:extLst>
                <a:ext uri="{FF2B5EF4-FFF2-40B4-BE49-F238E27FC236}">
                  <a16:creationId xmlns:a16="http://schemas.microsoft.com/office/drawing/2014/main" id="{E246B65D-7D0C-BEB4-6B26-0ECC3F0883BE}"/>
                </a:ext>
              </a:extLst>
            </p:cNvPr>
            <p:cNvSpPr/>
            <p:nvPr/>
          </p:nvSpPr>
          <p:spPr>
            <a:xfrm>
              <a:off x="7886874" y="3669274"/>
              <a:ext cx="190832" cy="232254"/>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0" name="Oval 109">
              <a:extLst>
                <a:ext uri="{FF2B5EF4-FFF2-40B4-BE49-F238E27FC236}">
                  <a16:creationId xmlns:a16="http://schemas.microsoft.com/office/drawing/2014/main" id="{1BF016C2-8A8F-7EF1-48C3-FE35B587FFB2}"/>
                </a:ext>
              </a:extLst>
            </p:cNvPr>
            <p:cNvSpPr/>
            <p:nvPr/>
          </p:nvSpPr>
          <p:spPr>
            <a:xfrm>
              <a:off x="9941513" y="3650492"/>
              <a:ext cx="190832" cy="232254"/>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1" name="Oval 110">
              <a:extLst>
                <a:ext uri="{FF2B5EF4-FFF2-40B4-BE49-F238E27FC236}">
                  <a16:creationId xmlns:a16="http://schemas.microsoft.com/office/drawing/2014/main" id="{39F88FE0-CE8B-AD77-EE5D-5EC159F5D22E}"/>
                </a:ext>
              </a:extLst>
            </p:cNvPr>
            <p:cNvSpPr/>
            <p:nvPr/>
          </p:nvSpPr>
          <p:spPr>
            <a:xfrm>
              <a:off x="8981528" y="3658640"/>
              <a:ext cx="190832" cy="232254"/>
            </a:xfrm>
            <a:prstGeom prst="ellipse">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112" name="Group 111">
            <a:extLst>
              <a:ext uri="{FF2B5EF4-FFF2-40B4-BE49-F238E27FC236}">
                <a16:creationId xmlns:a16="http://schemas.microsoft.com/office/drawing/2014/main" id="{BDF71005-4CB4-6FF0-151A-6632E7C63836}"/>
              </a:ext>
            </a:extLst>
          </p:cNvPr>
          <p:cNvGrpSpPr/>
          <p:nvPr/>
        </p:nvGrpSpPr>
        <p:grpSpPr>
          <a:xfrm>
            <a:off x="7480386" y="407241"/>
            <a:ext cx="2078220" cy="2462219"/>
            <a:chOff x="7480386" y="407241"/>
            <a:chExt cx="2078220" cy="2462219"/>
          </a:xfrm>
        </p:grpSpPr>
        <p:cxnSp>
          <p:nvCxnSpPr>
            <p:cNvPr id="113" name="Straight Arrow Connector 112">
              <a:extLst>
                <a:ext uri="{FF2B5EF4-FFF2-40B4-BE49-F238E27FC236}">
                  <a16:creationId xmlns:a16="http://schemas.microsoft.com/office/drawing/2014/main" id="{BD13E7C8-7E8F-090B-3C9A-E6B05CB0581D}"/>
                </a:ext>
              </a:extLst>
            </p:cNvPr>
            <p:cNvCxnSpPr>
              <a:cxnSpLocks/>
            </p:cNvCxnSpPr>
            <p:nvPr/>
          </p:nvCxnSpPr>
          <p:spPr>
            <a:xfrm flipV="1">
              <a:off x="8655083" y="2403776"/>
              <a:ext cx="0" cy="1899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4" name="Group 113">
              <a:extLst>
                <a:ext uri="{FF2B5EF4-FFF2-40B4-BE49-F238E27FC236}">
                  <a16:creationId xmlns:a16="http://schemas.microsoft.com/office/drawing/2014/main" id="{E3678AC5-32F1-59E3-D1F3-AEAD7AA82F14}"/>
                </a:ext>
              </a:extLst>
            </p:cNvPr>
            <p:cNvGrpSpPr/>
            <p:nvPr/>
          </p:nvGrpSpPr>
          <p:grpSpPr>
            <a:xfrm>
              <a:off x="7480386" y="407241"/>
              <a:ext cx="2078220" cy="2462219"/>
              <a:chOff x="7480386" y="407241"/>
              <a:chExt cx="2078220" cy="2462219"/>
            </a:xfrm>
          </p:grpSpPr>
          <p:cxnSp>
            <p:nvCxnSpPr>
              <p:cNvPr id="115" name="Straight Arrow Connector 114">
                <a:extLst>
                  <a:ext uri="{FF2B5EF4-FFF2-40B4-BE49-F238E27FC236}">
                    <a16:creationId xmlns:a16="http://schemas.microsoft.com/office/drawing/2014/main" id="{F2D05A28-26EB-384B-8033-804729CB6FBE}"/>
                  </a:ext>
                </a:extLst>
              </p:cNvPr>
              <p:cNvCxnSpPr>
                <a:cxnSpLocks/>
              </p:cNvCxnSpPr>
              <p:nvPr/>
            </p:nvCxnSpPr>
            <p:spPr>
              <a:xfrm flipH="1">
                <a:off x="8624981" y="1417213"/>
                <a:ext cx="5937" cy="7521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6" name="Group 115">
                <a:extLst>
                  <a:ext uri="{FF2B5EF4-FFF2-40B4-BE49-F238E27FC236}">
                    <a16:creationId xmlns:a16="http://schemas.microsoft.com/office/drawing/2014/main" id="{A24EC1BB-E591-44C6-10D4-43E856456430}"/>
                  </a:ext>
                </a:extLst>
              </p:cNvPr>
              <p:cNvGrpSpPr/>
              <p:nvPr/>
            </p:nvGrpSpPr>
            <p:grpSpPr>
              <a:xfrm>
                <a:off x="7480386" y="407241"/>
                <a:ext cx="2078220" cy="2462219"/>
                <a:chOff x="7509552" y="406975"/>
                <a:chExt cx="2078220" cy="2462219"/>
              </a:xfrm>
            </p:grpSpPr>
            <p:sp>
              <p:nvSpPr>
                <p:cNvPr id="117" name="TextBox 116">
                  <a:extLst>
                    <a:ext uri="{FF2B5EF4-FFF2-40B4-BE49-F238E27FC236}">
                      <a16:creationId xmlns:a16="http://schemas.microsoft.com/office/drawing/2014/main" id="{2C8810D0-2BCD-DD4D-8D54-32E3F947DF67}"/>
                    </a:ext>
                  </a:extLst>
                </p:cNvPr>
                <p:cNvSpPr txBox="1"/>
                <p:nvPr/>
              </p:nvSpPr>
              <p:spPr>
                <a:xfrm rot="17556102">
                  <a:off x="7394605" y="1295635"/>
                  <a:ext cx="814669" cy="584775"/>
                </a:xfrm>
                <a:prstGeom prst="rect">
                  <a:avLst/>
                </a:prstGeom>
                <a:noFill/>
              </p:spPr>
              <p:txBody>
                <a:bodyPr wrap="square" rtlCol="0">
                  <a:spAutoFit/>
                </a:bodyPr>
                <a:lstStyle/>
                <a:p>
                  <a:r>
                    <a:rPr lang="en-BE" sz="1600" dirty="0"/>
                    <a:t>social fork</a:t>
                  </a:r>
                </a:p>
              </p:txBody>
            </p:sp>
            <p:grpSp>
              <p:nvGrpSpPr>
                <p:cNvPr id="118" name="Group 117">
                  <a:extLst>
                    <a:ext uri="{FF2B5EF4-FFF2-40B4-BE49-F238E27FC236}">
                      <a16:creationId xmlns:a16="http://schemas.microsoft.com/office/drawing/2014/main" id="{B72EA332-C5B5-4C65-FCE2-E4600AC84437}"/>
                    </a:ext>
                  </a:extLst>
                </p:cNvPr>
                <p:cNvGrpSpPr/>
                <p:nvPr/>
              </p:nvGrpSpPr>
              <p:grpSpPr>
                <a:xfrm>
                  <a:off x="7580502" y="406975"/>
                  <a:ext cx="2007270" cy="2462219"/>
                  <a:chOff x="7580502" y="406975"/>
                  <a:chExt cx="2007270" cy="2462219"/>
                </a:xfrm>
              </p:grpSpPr>
              <p:grpSp>
                <p:nvGrpSpPr>
                  <p:cNvPr id="121" name="Group 120">
                    <a:extLst>
                      <a:ext uri="{FF2B5EF4-FFF2-40B4-BE49-F238E27FC236}">
                        <a16:creationId xmlns:a16="http://schemas.microsoft.com/office/drawing/2014/main" id="{CF1837D7-0F49-2741-A28B-82D1815A44C4}"/>
                      </a:ext>
                    </a:extLst>
                  </p:cNvPr>
                  <p:cNvGrpSpPr/>
                  <p:nvPr/>
                </p:nvGrpSpPr>
                <p:grpSpPr>
                  <a:xfrm>
                    <a:off x="8535921" y="406975"/>
                    <a:ext cx="682506" cy="870825"/>
                    <a:chOff x="8219466" y="1034845"/>
                    <a:chExt cx="740282" cy="1035443"/>
                  </a:xfrm>
                </p:grpSpPr>
                <p:pic>
                  <p:nvPicPr>
                    <p:cNvPr id="126" name="Picture 2" descr="Bug Report - Free technology icons">
                      <a:extLst>
                        <a:ext uri="{FF2B5EF4-FFF2-40B4-BE49-F238E27FC236}">
                          <a16:creationId xmlns:a16="http://schemas.microsoft.com/office/drawing/2014/main" id="{9E6A71DC-E134-714A-81D9-BAAFB9937D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84464" y="1430495"/>
                      <a:ext cx="639793" cy="639793"/>
                    </a:xfrm>
                    <a:prstGeom prst="rect">
                      <a:avLst/>
                    </a:prstGeom>
                    <a:noFill/>
                    <a:extLst>
                      <a:ext uri="{909E8E84-426E-40DD-AFC4-6F175D3DCCD1}">
                        <a14:hiddenFill xmlns:a14="http://schemas.microsoft.com/office/drawing/2010/main">
                          <a:solidFill>
                            <a:srgbClr val="FFFFFF"/>
                          </a:solidFill>
                        </a14:hiddenFill>
                      </a:ext>
                    </a:extLst>
                  </p:spPr>
                </p:pic>
                <p:pic>
                  <p:nvPicPr>
                    <p:cNvPr id="127" name="Picture 126">
                      <a:extLst>
                        <a:ext uri="{FF2B5EF4-FFF2-40B4-BE49-F238E27FC236}">
                          <a16:creationId xmlns:a16="http://schemas.microsoft.com/office/drawing/2014/main" id="{7147B0B1-20A1-964B-9D2C-86936FA74402}"/>
                        </a:ext>
                      </a:extLst>
                    </p:cNvPr>
                    <p:cNvPicPr>
                      <a:picLocks noChangeAspect="1"/>
                    </p:cNvPicPr>
                    <p:nvPr/>
                  </p:nvPicPr>
                  <p:blipFill rotWithShape="1">
                    <a:blip r:embed="rId8"/>
                    <a:srcRect l="5953" t="10534" r="2533" b="6922"/>
                    <a:stretch/>
                  </p:blipFill>
                  <p:spPr>
                    <a:xfrm>
                      <a:off x="8548420" y="1700816"/>
                      <a:ext cx="411328" cy="329162"/>
                    </a:xfrm>
                    <a:prstGeom prst="rect">
                      <a:avLst/>
                    </a:prstGeom>
                  </p:spPr>
                </p:pic>
                <p:sp>
                  <p:nvSpPr>
                    <p:cNvPr id="128" name="TextBox 127">
                      <a:extLst>
                        <a:ext uri="{FF2B5EF4-FFF2-40B4-BE49-F238E27FC236}">
                          <a16:creationId xmlns:a16="http://schemas.microsoft.com/office/drawing/2014/main" id="{2534D5D0-410C-D141-BF9C-36158DA05DAD}"/>
                        </a:ext>
                      </a:extLst>
                    </p:cNvPr>
                    <p:cNvSpPr txBox="1"/>
                    <p:nvPr/>
                  </p:nvSpPr>
                  <p:spPr>
                    <a:xfrm>
                      <a:off x="8219466" y="1034845"/>
                      <a:ext cx="613366" cy="439149"/>
                    </a:xfrm>
                    <a:prstGeom prst="rect">
                      <a:avLst/>
                    </a:prstGeom>
                    <a:noFill/>
                  </p:spPr>
                  <p:txBody>
                    <a:bodyPr wrap="square" rtlCol="0">
                      <a:spAutoFit/>
                    </a:bodyPr>
                    <a:lstStyle/>
                    <a:p>
                      <a:r>
                        <a:rPr lang="en-BE" dirty="0"/>
                        <a:t>foo</a:t>
                      </a:r>
                    </a:p>
                  </p:txBody>
                </p:sp>
              </p:grpSp>
              <p:cxnSp>
                <p:nvCxnSpPr>
                  <p:cNvPr id="122" name="Straight Connector 121">
                    <a:extLst>
                      <a:ext uri="{FF2B5EF4-FFF2-40B4-BE49-F238E27FC236}">
                        <a16:creationId xmlns:a16="http://schemas.microsoft.com/office/drawing/2014/main" id="{306AB541-FB5A-8B47-B045-91320D0221A5}"/>
                      </a:ext>
                    </a:extLst>
                  </p:cNvPr>
                  <p:cNvCxnSpPr>
                    <a:cxnSpLocks/>
                  </p:cNvCxnSpPr>
                  <p:nvPr/>
                </p:nvCxnSpPr>
                <p:spPr>
                  <a:xfrm flipV="1">
                    <a:off x="7580502" y="1391741"/>
                    <a:ext cx="282127" cy="8832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25238644-403F-E44E-A68E-2B38BB0CAB3B}"/>
                      </a:ext>
                    </a:extLst>
                  </p:cNvPr>
                  <p:cNvCxnSpPr>
                    <a:cxnSpLocks/>
                  </p:cNvCxnSpPr>
                  <p:nvPr/>
                </p:nvCxnSpPr>
                <p:spPr>
                  <a:xfrm>
                    <a:off x="7837587" y="1409203"/>
                    <a:ext cx="100161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4" name="TextBox 123">
                    <a:extLst>
                      <a:ext uri="{FF2B5EF4-FFF2-40B4-BE49-F238E27FC236}">
                        <a16:creationId xmlns:a16="http://schemas.microsoft.com/office/drawing/2014/main" id="{88C00984-7F98-2944-9FDD-149450269EBE}"/>
                      </a:ext>
                    </a:extLst>
                  </p:cNvPr>
                  <p:cNvSpPr txBox="1"/>
                  <p:nvPr/>
                </p:nvSpPr>
                <p:spPr>
                  <a:xfrm rot="5400000">
                    <a:off x="8186955" y="1538027"/>
                    <a:ext cx="926800" cy="584775"/>
                  </a:xfrm>
                  <a:prstGeom prst="rect">
                    <a:avLst/>
                  </a:prstGeom>
                  <a:noFill/>
                </p:spPr>
                <p:txBody>
                  <a:bodyPr wrap="square" rtlCol="0">
                    <a:spAutoFit/>
                  </a:bodyPr>
                  <a:lstStyle/>
                  <a:p>
                    <a:pPr algn="ctr"/>
                    <a:r>
                      <a:rPr lang="en-GB" sz="1600" dirty="0"/>
                      <a:t>P</a:t>
                    </a:r>
                    <a:r>
                      <a:rPr lang="en-BE" sz="1600" dirty="0"/>
                      <a:t>ull request</a:t>
                    </a:r>
                  </a:p>
                </p:txBody>
              </p:sp>
              <p:sp>
                <p:nvSpPr>
                  <p:cNvPr id="125" name="TextBox 124">
                    <a:extLst>
                      <a:ext uri="{FF2B5EF4-FFF2-40B4-BE49-F238E27FC236}">
                        <a16:creationId xmlns:a16="http://schemas.microsoft.com/office/drawing/2014/main" id="{3D42D2C9-63E4-6A98-1F70-D9080521547A}"/>
                      </a:ext>
                    </a:extLst>
                  </p:cNvPr>
                  <p:cNvSpPr txBox="1"/>
                  <p:nvPr/>
                </p:nvSpPr>
                <p:spPr>
                  <a:xfrm>
                    <a:off x="7906813" y="2561417"/>
                    <a:ext cx="1680959" cy="307777"/>
                  </a:xfrm>
                  <a:prstGeom prst="rect">
                    <a:avLst/>
                  </a:prstGeom>
                  <a:solidFill>
                    <a:srgbClr val="FFC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dirty="0">
                        <a:cs typeface="Calibri"/>
                      </a:rPr>
                      <a:t>PR </a:t>
                    </a:r>
                    <a:r>
                      <a:rPr lang="en-GB" sz="1400" dirty="0" err="1">
                        <a:cs typeface="Calibri"/>
                      </a:rPr>
                      <a:t>merge_commit</a:t>
                    </a:r>
                    <a:endParaRPr lang="en-GB" sz="1400" dirty="0">
                      <a:cs typeface="Calibri"/>
                    </a:endParaRPr>
                  </a:p>
                </p:txBody>
              </p:sp>
            </p:grpSp>
            <p:pic>
              <p:nvPicPr>
                <p:cNvPr id="119" name="Picture 2" descr="Bug Report - Free technology icons">
                  <a:extLst>
                    <a:ext uri="{FF2B5EF4-FFF2-40B4-BE49-F238E27FC236}">
                      <a16:creationId xmlns:a16="http://schemas.microsoft.com/office/drawing/2014/main" id="{C544F9A6-22AC-D435-ECD7-E9E107F5BBF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8987" t="49067"/>
                <a:stretch/>
              </p:blipFill>
              <p:spPr bwMode="auto">
                <a:xfrm flipH="1">
                  <a:off x="8396793" y="957435"/>
                  <a:ext cx="373434" cy="298546"/>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119">
                  <a:extLst>
                    <a:ext uri="{FF2B5EF4-FFF2-40B4-BE49-F238E27FC236}">
                      <a16:creationId xmlns:a16="http://schemas.microsoft.com/office/drawing/2014/main" id="{19F88BD3-7E8D-0EA5-FE10-894F762C4B5B}"/>
                    </a:ext>
                  </a:extLst>
                </p:cNvPr>
                <p:cNvPicPr>
                  <a:picLocks noChangeAspect="1"/>
                </p:cNvPicPr>
                <p:nvPr/>
              </p:nvPicPr>
              <p:blipFill rotWithShape="1">
                <a:blip r:embed="rId8"/>
                <a:srcRect l="5953" t="10534" r="2533" b="6922"/>
                <a:stretch/>
              </p:blipFill>
              <p:spPr>
                <a:xfrm>
                  <a:off x="8391001" y="989512"/>
                  <a:ext cx="379226" cy="276831"/>
                </a:xfrm>
                <a:prstGeom prst="rect">
                  <a:avLst/>
                </a:prstGeom>
              </p:spPr>
            </p:pic>
          </p:grpSp>
        </p:grpSp>
      </p:grpSp>
      <p:sp>
        <p:nvSpPr>
          <p:cNvPr id="129" name="Rectangle 128">
            <a:extLst>
              <a:ext uri="{FF2B5EF4-FFF2-40B4-BE49-F238E27FC236}">
                <a16:creationId xmlns:a16="http://schemas.microsoft.com/office/drawing/2014/main" id="{F58352C4-2AD7-A5DF-F633-24445C690B8C}"/>
              </a:ext>
            </a:extLst>
          </p:cNvPr>
          <p:cNvSpPr/>
          <p:nvPr/>
        </p:nvSpPr>
        <p:spPr>
          <a:xfrm>
            <a:off x="6425" y="-8907"/>
            <a:ext cx="12192000" cy="480194"/>
          </a:xfrm>
          <a:prstGeom prst="rect">
            <a:avLst/>
          </a:prstGeom>
          <a:gradFill flip="none" rotWithShape="1">
            <a:gsLst>
              <a:gs pos="0">
                <a:srgbClr val="65757C"/>
              </a:gs>
              <a:gs pos="42000">
                <a:srgbClr val="65757C"/>
              </a:gs>
              <a:gs pos="73000">
                <a:srgbClr val="A0A2A5"/>
              </a:gs>
              <a:gs pos="100000">
                <a:schemeClr val="bg2">
                  <a:lumMod val="9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3600" dirty="0"/>
              <a:t>From Forks to Divergent Software Variants</a:t>
            </a:r>
            <a:endParaRPr lang="en-US" sz="3600" dirty="0"/>
          </a:p>
        </p:txBody>
      </p:sp>
      <p:sp>
        <p:nvSpPr>
          <p:cNvPr id="130" name="TextBox 129">
            <a:extLst>
              <a:ext uri="{FF2B5EF4-FFF2-40B4-BE49-F238E27FC236}">
                <a16:creationId xmlns:a16="http://schemas.microsoft.com/office/drawing/2014/main" id="{9FB76B6D-214B-2A24-C30B-875E55B93F54}"/>
              </a:ext>
            </a:extLst>
          </p:cNvPr>
          <p:cNvSpPr txBox="1"/>
          <p:nvPr/>
        </p:nvSpPr>
        <p:spPr>
          <a:xfrm>
            <a:off x="1252476" y="6476268"/>
            <a:ext cx="9011958" cy="276999"/>
          </a:xfrm>
          <a:prstGeom prst="rect">
            <a:avLst/>
          </a:prstGeom>
          <a:noFill/>
        </p:spPr>
        <p:txBody>
          <a:bodyPr wrap="square" rtlCol="0">
            <a:spAutoFit/>
          </a:bodyPr>
          <a:lstStyle/>
          <a:p>
            <a:r>
              <a:rPr lang="en-US" sz="1200" dirty="0"/>
              <a:t>P.K </a:t>
            </a:r>
            <a:r>
              <a:rPr lang="en-US" sz="1200" dirty="0" err="1"/>
              <a:t>Ramkisoen</a:t>
            </a:r>
            <a:r>
              <a:rPr lang="en-US" sz="1200" dirty="0"/>
              <a:t>, J. Businge, et. al. </a:t>
            </a:r>
            <a:r>
              <a:rPr lang="en-US" sz="1200" dirty="0" err="1"/>
              <a:t>PaReco</a:t>
            </a:r>
            <a:r>
              <a:rPr lang="en-US" sz="1200" dirty="0"/>
              <a:t>: patched clones and missed patches among the divergent variants of a software family, FSE, 2022.</a:t>
            </a:r>
          </a:p>
        </p:txBody>
      </p:sp>
      <p:pic>
        <p:nvPicPr>
          <p:cNvPr id="2" name="Picture 1">
            <a:extLst>
              <a:ext uri="{FF2B5EF4-FFF2-40B4-BE49-F238E27FC236}">
                <a16:creationId xmlns:a16="http://schemas.microsoft.com/office/drawing/2014/main" id="{B861E09F-9F7B-56E8-4B5E-5BAEC3D39D01}"/>
              </a:ext>
            </a:extLst>
          </p:cNvPr>
          <p:cNvPicPr>
            <a:picLocks noChangeAspect="1"/>
          </p:cNvPicPr>
          <p:nvPr/>
        </p:nvPicPr>
        <p:blipFill>
          <a:blip r:embed="rId9"/>
          <a:stretch>
            <a:fillRect/>
          </a:stretch>
        </p:blipFill>
        <p:spPr>
          <a:xfrm>
            <a:off x="10930270" y="48128"/>
            <a:ext cx="1136947" cy="725711"/>
          </a:xfrm>
          <a:prstGeom prst="rect">
            <a:avLst/>
          </a:prstGeom>
        </p:spPr>
      </p:pic>
    </p:spTree>
    <p:extLst>
      <p:ext uri="{BB962C8B-B14F-4D97-AF65-F5344CB8AC3E}">
        <p14:creationId xmlns:p14="http://schemas.microsoft.com/office/powerpoint/2010/main" val="1465319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1000"/>
                                  </p:stCondLst>
                                  <p:childTnLst>
                                    <p:set>
                                      <p:cBhvr>
                                        <p:cTn id="17" dur="1" fill="hold">
                                          <p:stCondLst>
                                            <p:cond delay="0"/>
                                          </p:stCondLst>
                                        </p:cTn>
                                        <p:tgtEl>
                                          <p:spTgt spid="82"/>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nodeType="afterEffect">
                                  <p:stCondLst>
                                    <p:cond delay="500"/>
                                  </p:stCondLst>
                                  <p:childTnLst>
                                    <p:set>
                                      <p:cBhvr>
                                        <p:cTn id="20" dur="1" fill="hold">
                                          <p:stCondLst>
                                            <p:cond delay="0"/>
                                          </p:stCondLst>
                                        </p:cTn>
                                        <p:tgtEl>
                                          <p:spTgt spid="93"/>
                                        </p:tgtEl>
                                        <p:attrNameLst>
                                          <p:attrName>style.visibility</p:attrName>
                                        </p:attrNameLst>
                                      </p:cBhvr>
                                      <p:to>
                                        <p:strVal val="visible"/>
                                      </p:to>
                                    </p:set>
                                  </p:childTnLst>
                                </p:cTn>
                              </p:par>
                            </p:childTnLst>
                          </p:cTn>
                        </p:par>
                        <p:par>
                          <p:cTn id="21" fill="hold">
                            <p:stCondLst>
                              <p:cond delay="1500"/>
                            </p:stCondLst>
                            <p:childTnLst>
                              <p:par>
                                <p:cTn id="22" presetID="1" presetClass="entr" presetSubtype="0" fill="hold" grpId="0" nodeType="afterEffect">
                                  <p:stCondLst>
                                    <p:cond delay="1000"/>
                                  </p:stCondLst>
                                  <p:childTnLst>
                                    <p:set>
                                      <p:cBhvr>
                                        <p:cTn id="23" dur="1" fill="hold">
                                          <p:stCondLst>
                                            <p:cond delay="0"/>
                                          </p:stCondLst>
                                        </p:cTn>
                                        <p:tgtEl>
                                          <p:spTgt spid="10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4"/>
                                        </p:tgtEl>
                                        <p:attrNameLst>
                                          <p:attrName>style.visibility</p:attrName>
                                        </p:attrNameLst>
                                      </p:cBhvr>
                                      <p:to>
                                        <p:strVal val="visible"/>
                                      </p:to>
                                    </p:set>
                                  </p:childTnLst>
                                </p:cTn>
                              </p:par>
                            </p:childTnLst>
                          </p:cTn>
                        </p:par>
                        <p:par>
                          <p:cTn id="28" fill="hold">
                            <p:stCondLst>
                              <p:cond delay="0"/>
                            </p:stCondLst>
                            <p:childTnLst>
                              <p:par>
                                <p:cTn id="29" presetID="9" presetClass="entr" presetSubtype="0" fill="hold" nodeType="afterEffect">
                                  <p:stCondLst>
                                    <p:cond delay="0"/>
                                  </p:stCondLst>
                                  <p:childTnLst>
                                    <p:set>
                                      <p:cBhvr>
                                        <p:cTn id="30" dur="1" fill="hold">
                                          <p:stCondLst>
                                            <p:cond delay="0"/>
                                          </p:stCondLst>
                                        </p:cTn>
                                        <p:tgtEl>
                                          <p:spTgt spid="101"/>
                                        </p:tgtEl>
                                        <p:attrNameLst>
                                          <p:attrName>style.visibility</p:attrName>
                                        </p:attrNameLst>
                                      </p:cBhvr>
                                      <p:to>
                                        <p:strVal val="visible"/>
                                      </p:to>
                                    </p:set>
                                    <p:animEffect transition="in" filter="dissolve">
                                      <p:cBhvr>
                                        <p:cTn id="31" dur="1000"/>
                                        <p:tgtEl>
                                          <p:spTgt spid="101"/>
                                        </p:tgtEl>
                                      </p:cBhvr>
                                    </p:animEffect>
                                  </p:childTnLst>
                                </p:cTn>
                              </p:par>
                            </p:childTnLst>
                          </p:cTn>
                        </p:par>
                        <p:par>
                          <p:cTn id="32" fill="hold">
                            <p:stCondLst>
                              <p:cond delay="1000"/>
                            </p:stCondLst>
                            <p:childTnLst>
                              <p:par>
                                <p:cTn id="33" presetID="9" presetClass="entr" presetSubtype="0" fill="hold" nodeType="afterEffect">
                                  <p:stCondLst>
                                    <p:cond delay="0"/>
                                  </p:stCondLst>
                                  <p:childTnLst>
                                    <p:set>
                                      <p:cBhvr>
                                        <p:cTn id="34" dur="1" fill="hold">
                                          <p:stCondLst>
                                            <p:cond delay="0"/>
                                          </p:stCondLst>
                                        </p:cTn>
                                        <p:tgtEl>
                                          <p:spTgt spid="107"/>
                                        </p:tgtEl>
                                        <p:attrNameLst>
                                          <p:attrName>style.visibility</p:attrName>
                                        </p:attrNameLst>
                                      </p:cBhvr>
                                      <p:to>
                                        <p:strVal val="visible"/>
                                      </p:to>
                                    </p:set>
                                    <p:animEffect transition="in" filter="dissolve">
                                      <p:cBhvr>
                                        <p:cTn id="35" dur="500"/>
                                        <p:tgtEl>
                                          <p:spTgt spid="107"/>
                                        </p:tgtEl>
                                      </p:cBhvr>
                                    </p:animEffect>
                                  </p:childTnLst>
                                </p:cTn>
                              </p:par>
                            </p:childTnLst>
                          </p:cTn>
                        </p:par>
                        <p:par>
                          <p:cTn id="36" fill="hold">
                            <p:stCondLst>
                              <p:cond delay="1500"/>
                            </p:stCondLst>
                            <p:childTnLst>
                              <p:par>
                                <p:cTn id="37" presetID="1" presetClass="entr" presetSubtype="0" fill="hold" grpId="0" nodeType="afterEffect">
                                  <p:stCondLst>
                                    <p:cond delay="100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nodeType="afterEffect">
                                  <p:stCondLst>
                                    <p:cond delay="1500"/>
                                  </p:stCondLst>
                                  <p:childTnLst>
                                    <p:set>
                                      <p:cBhvr>
                                        <p:cTn id="45" dur="1" fill="hold">
                                          <p:stCondLst>
                                            <p:cond delay="0"/>
                                          </p:stCondLst>
                                        </p:cTn>
                                        <p:tgtEl>
                                          <p:spTgt spid="11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7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6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5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10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DEA71139-B799-A267-5C4C-7F0263C7C598}"/>
              </a:ext>
            </a:extLst>
          </p:cNvPr>
          <p:cNvGrpSpPr/>
          <p:nvPr/>
        </p:nvGrpSpPr>
        <p:grpSpPr>
          <a:xfrm>
            <a:off x="1709705" y="446083"/>
            <a:ext cx="8722836" cy="6269385"/>
            <a:chOff x="1003879" y="134236"/>
            <a:chExt cx="8722836" cy="6269385"/>
          </a:xfrm>
        </p:grpSpPr>
        <p:grpSp>
          <p:nvGrpSpPr>
            <p:cNvPr id="53" name="Group 52">
              <a:extLst>
                <a:ext uri="{FF2B5EF4-FFF2-40B4-BE49-F238E27FC236}">
                  <a16:creationId xmlns:a16="http://schemas.microsoft.com/office/drawing/2014/main" id="{6A9DAEEE-789B-F963-BF1D-F9A99E2B2F9D}"/>
                </a:ext>
              </a:extLst>
            </p:cNvPr>
            <p:cNvGrpSpPr/>
            <p:nvPr/>
          </p:nvGrpSpPr>
          <p:grpSpPr>
            <a:xfrm>
              <a:off x="1003879" y="134236"/>
              <a:ext cx="8722836" cy="5786168"/>
              <a:chOff x="1003879" y="134236"/>
              <a:chExt cx="8722836" cy="5786168"/>
            </a:xfrm>
          </p:grpSpPr>
          <p:grpSp>
            <p:nvGrpSpPr>
              <p:cNvPr id="55" name="Group 54">
                <a:extLst>
                  <a:ext uri="{FF2B5EF4-FFF2-40B4-BE49-F238E27FC236}">
                    <a16:creationId xmlns:a16="http://schemas.microsoft.com/office/drawing/2014/main" id="{1ED7634D-7F90-4DED-0204-44A49B44C6D6}"/>
                  </a:ext>
                </a:extLst>
              </p:cNvPr>
              <p:cNvGrpSpPr/>
              <p:nvPr/>
            </p:nvGrpSpPr>
            <p:grpSpPr>
              <a:xfrm>
                <a:off x="1499946" y="2941623"/>
                <a:ext cx="7885326" cy="2978781"/>
                <a:chOff x="1499946" y="3083863"/>
                <a:chExt cx="7885326" cy="2978781"/>
              </a:xfrm>
            </p:grpSpPr>
            <p:grpSp>
              <p:nvGrpSpPr>
                <p:cNvPr id="76" name="Group 75">
                  <a:extLst>
                    <a:ext uri="{FF2B5EF4-FFF2-40B4-BE49-F238E27FC236}">
                      <a16:creationId xmlns:a16="http://schemas.microsoft.com/office/drawing/2014/main" id="{AB9DD38B-12FC-52DE-A41E-EB997DB67298}"/>
                    </a:ext>
                  </a:extLst>
                </p:cNvPr>
                <p:cNvGrpSpPr/>
                <p:nvPr/>
              </p:nvGrpSpPr>
              <p:grpSpPr>
                <a:xfrm>
                  <a:off x="1499946" y="3083863"/>
                  <a:ext cx="7885326" cy="2952975"/>
                  <a:chOff x="1499946" y="3083863"/>
                  <a:chExt cx="7885326" cy="2952975"/>
                </a:xfrm>
              </p:grpSpPr>
              <p:grpSp>
                <p:nvGrpSpPr>
                  <p:cNvPr id="78" name="Group 77">
                    <a:extLst>
                      <a:ext uri="{FF2B5EF4-FFF2-40B4-BE49-F238E27FC236}">
                        <a16:creationId xmlns:a16="http://schemas.microsoft.com/office/drawing/2014/main" id="{F82CEAD4-70AF-1440-AC7B-9FA67A0ECA58}"/>
                      </a:ext>
                    </a:extLst>
                  </p:cNvPr>
                  <p:cNvGrpSpPr/>
                  <p:nvPr/>
                </p:nvGrpSpPr>
                <p:grpSpPr>
                  <a:xfrm>
                    <a:off x="1514610" y="3083863"/>
                    <a:ext cx="7850342" cy="1261637"/>
                    <a:chOff x="1638472" y="4053743"/>
                    <a:chExt cx="6304992" cy="863308"/>
                  </a:xfrm>
                </p:grpSpPr>
                <p:pic>
                  <p:nvPicPr>
                    <p:cNvPr id="80" name="Picture 79" descr="Graphical user interface, text, application&#10;&#10;Description automatically generated">
                      <a:extLst>
                        <a:ext uri="{FF2B5EF4-FFF2-40B4-BE49-F238E27FC236}">
                          <a16:creationId xmlns:a16="http://schemas.microsoft.com/office/drawing/2014/main" id="{EAA720F3-ED7B-084F-A0A4-4CAB399C5E5B}"/>
                        </a:ext>
                      </a:extLst>
                    </p:cNvPr>
                    <p:cNvPicPr>
                      <a:picLocks noChangeAspect="1"/>
                    </p:cNvPicPr>
                    <p:nvPr/>
                  </p:nvPicPr>
                  <p:blipFill rotWithShape="1">
                    <a:blip r:embed="rId3"/>
                    <a:srcRect l="69640" b="60933"/>
                    <a:stretch/>
                  </p:blipFill>
                  <p:spPr>
                    <a:xfrm>
                      <a:off x="4376932" y="4053744"/>
                      <a:ext cx="3566532" cy="863307"/>
                    </a:xfrm>
                    <a:prstGeom prst="rect">
                      <a:avLst/>
                    </a:prstGeom>
                  </p:spPr>
                </p:pic>
                <p:pic>
                  <p:nvPicPr>
                    <p:cNvPr id="82" name="Picture 81" descr="Graphical user interface, text, application&#10;&#10;Description automatically generated">
                      <a:extLst>
                        <a:ext uri="{FF2B5EF4-FFF2-40B4-BE49-F238E27FC236}">
                          <a16:creationId xmlns:a16="http://schemas.microsoft.com/office/drawing/2014/main" id="{99F44CAE-300E-2747-8B12-4A32B730B1BF}"/>
                        </a:ext>
                      </a:extLst>
                    </p:cNvPr>
                    <p:cNvPicPr>
                      <a:picLocks noChangeAspect="1"/>
                    </p:cNvPicPr>
                    <p:nvPr/>
                  </p:nvPicPr>
                  <p:blipFill rotWithShape="1">
                    <a:blip r:embed="rId3"/>
                    <a:srcRect r="71541" b="60933"/>
                    <a:stretch/>
                  </p:blipFill>
                  <p:spPr>
                    <a:xfrm>
                      <a:off x="1638472" y="4053743"/>
                      <a:ext cx="3343227" cy="863307"/>
                    </a:xfrm>
                    <a:prstGeom prst="rect">
                      <a:avLst/>
                    </a:prstGeom>
                  </p:spPr>
                </p:pic>
              </p:grpSp>
              <p:pic>
                <p:nvPicPr>
                  <p:cNvPr id="79" name="Picture 78" descr="Graphical user interface, text, application&#10;&#10;Description automatically generated">
                    <a:extLst>
                      <a:ext uri="{FF2B5EF4-FFF2-40B4-BE49-F238E27FC236}">
                        <a16:creationId xmlns:a16="http://schemas.microsoft.com/office/drawing/2014/main" id="{CDFDA69B-7F47-3CE8-E15F-DA9696639596}"/>
                      </a:ext>
                    </a:extLst>
                  </p:cNvPr>
                  <p:cNvPicPr>
                    <a:picLocks noChangeAspect="1"/>
                  </p:cNvPicPr>
                  <p:nvPr/>
                </p:nvPicPr>
                <p:blipFill>
                  <a:blip r:embed="rId4"/>
                  <a:stretch>
                    <a:fillRect/>
                  </a:stretch>
                </p:blipFill>
                <p:spPr>
                  <a:xfrm>
                    <a:off x="1499946" y="4399361"/>
                    <a:ext cx="7885326" cy="1637477"/>
                  </a:xfrm>
                  <a:prstGeom prst="rect">
                    <a:avLst/>
                  </a:prstGeom>
                </p:spPr>
              </p:pic>
            </p:grpSp>
            <p:sp>
              <p:nvSpPr>
                <p:cNvPr id="77" name="Rectangle 76">
                  <a:extLst>
                    <a:ext uri="{FF2B5EF4-FFF2-40B4-BE49-F238E27FC236}">
                      <a16:creationId xmlns:a16="http://schemas.microsoft.com/office/drawing/2014/main" id="{3E8541C3-5337-C9B5-04E5-C762CE2A4481}"/>
                    </a:ext>
                  </a:extLst>
                </p:cNvPr>
                <p:cNvSpPr/>
                <p:nvPr/>
              </p:nvSpPr>
              <p:spPr>
                <a:xfrm>
                  <a:off x="1499947" y="3083864"/>
                  <a:ext cx="7885324" cy="297878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57" name="Group 56">
                <a:extLst>
                  <a:ext uri="{FF2B5EF4-FFF2-40B4-BE49-F238E27FC236}">
                    <a16:creationId xmlns:a16="http://schemas.microsoft.com/office/drawing/2014/main" id="{BA380EB9-24C0-8AA2-986D-491A18C0D714}"/>
                  </a:ext>
                </a:extLst>
              </p:cNvPr>
              <p:cNvGrpSpPr/>
              <p:nvPr/>
            </p:nvGrpSpPr>
            <p:grpSpPr>
              <a:xfrm>
                <a:off x="1003879" y="134236"/>
                <a:ext cx="8722836" cy="2732691"/>
                <a:chOff x="1003879" y="134236"/>
                <a:chExt cx="8722836" cy="2732691"/>
              </a:xfrm>
            </p:grpSpPr>
            <p:grpSp>
              <p:nvGrpSpPr>
                <p:cNvPr id="60" name="Group 59">
                  <a:extLst>
                    <a:ext uri="{FF2B5EF4-FFF2-40B4-BE49-F238E27FC236}">
                      <a16:creationId xmlns:a16="http://schemas.microsoft.com/office/drawing/2014/main" id="{4F9FE7B5-23DA-C838-F303-1532F28B09FC}"/>
                    </a:ext>
                  </a:extLst>
                </p:cNvPr>
                <p:cNvGrpSpPr/>
                <p:nvPr/>
              </p:nvGrpSpPr>
              <p:grpSpPr>
                <a:xfrm>
                  <a:off x="1003879" y="496062"/>
                  <a:ext cx="8722836" cy="2370865"/>
                  <a:chOff x="1003879" y="343662"/>
                  <a:chExt cx="8722836" cy="2370865"/>
                </a:xfrm>
              </p:grpSpPr>
              <p:grpSp>
                <p:nvGrpSpPr>
                  <p:cNvPr id="62" name="Group 61">
                    <a:extLst>
                      <a:ext uri="{FF2B5EF4-FFF2-40B4-BE49-F238E27FC236}">
                        <a16:creationId xmlns:a16="http://schemas.microsoft.com/office/drawing/2014/main" id="{F1914D89-1DDD-649C-7B2B-18046EB27820}"/>
                      </a:ext>
                    </a:extLst>
                  </p:cNvPr>
                  <p:cNvGrpSpPr/>
                  <p:nvPr/>
                </p:nvGrpSpPr>
                <p:grpSpPr>
                  <a:xfrm>
                    <a:off x="1003879" y="351136"/>
                    <a:ext cx="8722836" cy="2343891"/>
                    <a:chOff x="1003879" y="351136"/>
                    <a:chExt cx="8722836" cy="2343891"/>
                  </a:xfrm>
                </p:grpSpPr>
                <p:grpSp>
                  <p:nvGrpSpPr>
                    <p:cNvPr id="68" name="Group 67">
                      <a:extLst>
                        <a:ext uri="{FF2B5EF4-FFF2-40B4-BE49-F238E27FC236}">
                          <a16:creationId xmlns:a16="http://schemas.microsoft.com/office/drawing/2014/main" id="{AD058F8C-EF7A-A3CC-6496-73F2AEA4BD84}"/>
                        </a:ext>
                      </a:extLst>
                    </p:cNvPr>
                    <p:cNvGrpSpPr/>
                    <p:nvPr/>
                  </p:nvGrpSpPr>
                  <p:grpSpPr>
                    <a:xfrm>
                      <a:off x="1003879" y="351136"/>
                      <a:ext cx="8722836" cy="1354805"/>
                      <a:chOff x="1003879" y="351136"/>
                      <a:chExt cx="8722836" cy="1354805"/>
                    </a:xfrm>
                  </p:grpSpPr>
                  <p:grpSp>
                    <p:nvGrpSpPr>
                      <p:cNvPr id="70" name="Group 69">
                        <a:extLst>
                          <a:ext uri="{FF2B5EF4-FFF2-40B4-BE49-F238E27FC236}">
                            <a16:creationId xmlns:a16="http://schemas.microsoft.com/office/drawing/2014/main" id="{35D37ADF-E175-D142-8030-44AF404F3973}"/>
                          </a:ext>
                        </a:extLst>
                      </p:cNvPr>
                      <p:cNvGrpSpPr/>
                      <p:nvPr/>
                    </p:nvGrpSpPr>
                    <p:grpSpPr>
                      <a:xfrm>
                        <a:off x="1003879" y="351136"/>
                        <a:ext cx="8722835" cy="1354805"/>
                        <a:chOff x="225937" y="4040168"/>
                        <a:chExt cx="6328391" cy="799471"/>
                      </a:xfrm>
                    </p:grpSpPr>
                    <p:pic>
                      <p:nvPicPr>
                        <p:cNvPr id="74" name="Picture 73" descr="Graphical user interface, application&#10;&#10;Description automatically generated">
                          <a:extLst>
                            <a:ext uri="{FF2B5EF4-FFF2-40B4-BE49-F238E27FC236}">
                              <a16:creationId xmlns:a16="http://schemas.microsoft.com/office/drawing/2014/main" id="{90E99FC7-9B35-484F-95EB-E42AEBB4BB11}"/>
                            </a:ext>
                          </a:extLst>
                        </p:cNvPr>
                        <p:cNvPicPr>
                          <a:picLocks noChangeAspect="1"/>
                        </p:cNvPicPr>
                        <p:nvPr/>
                      </p:nvPicPr>
                      <p:blipFill rotWithShape="1">
                        <a:blip r:embed="rId5"/>
                        <a:srcRect l="68771" b="50146"/>
                        <a:stretch/>
                      </p:blipFill>
                      <p:spPr>
                        <a:xfrm>
                          <a:off x="2869801" y="4041878"/>
                          <a:ext cx="3684527" cy="797761"/>
                        </a:xfrm>
                        <a:prstGeom prst="rect">
                          <a:avLst/>
                        </a:prstGeom>
                      </p:spPr>
                    </p:pic>
                    <p:pic>
                      <p:nvPicPr>
                        <p:cNvPr id="75" name="Picture 74" descr="Graphical user interface, application&#10;&#10;Description automatically generated">
                          <a:extLst>
                            <a:ext uri="{FF2B5EF4-FFF2-40B4-BE49-F238E27FC236}">
                              <a16:creationId xmlns:a16="http://schemas.microsoft.com/office/drawing/2014/main" id="{178D4C0D-DB4A-AA42-9685-753326C98671}"/>
                            </a:ext>
                          </a:extLst>
                        </p:cNvPr>
                        <p:cNvPicPr>
                          <a:picLocks noChangeAspect="1"/>
                        </p:cNvPicPr>
                        <p:nvPr/>
                      </p:nvPicPr>
                      <p:blipFill rotWithShape="1">
                        <a:blip r:embed="rId5"/>
                        <a:srcRect r="70816" b="50146"/>
                        <a:stretch/>
                      </p:blipFill>
                      <p:spPr>
                        <a:xfrm>
                          <a:off x="225937" y="4040168"/>
                          <a:ext cx="3443237" cy="797761"/>
                        </a:xfrm>
                        <a:prstGeom prst="rect">
                          <a:avLst/>
                        </a:prstGeom>
                      </p:spPr>
                    </p:pic>
                  </p:grpSp>
                  <p:pic>
                    <p:nvPicPr>
                      <p:cNvPr id="71" name="Picture 70">
                        <a:extLst>
                          <a:ext uri="{FF2B5EF4-FFF2-40B4-BE49-F238E27FC236}">
                            <a16:creationId xmlns:a16="http://schemas.microsoft.com/office/drawing/2014/main" id="{87D7DB19-22A7-846C-5CAB-941E5D424A1C}"/>
                          </a:ext>
                        </a:extLst>
                      </p:cNvPr>
                      <p:cNvPicPr>
                        <a:picLocks noChangeAspect="1"/>
                      </p:cNvPicPr>
                      <p:nvPr/>
                    </p:nvPicPr>
                    <p:blipFill>
                      <a:blip r:embed="rId6"/>
                      <a:stretch>
                        <a:fillRect/>
                      </a:stretch>
                    </p:blipFill>
                    <p:spPr>
                      <a:xfrm>
                        <a:off x="1901836" y="1072861"/>
                        <a:ext cx="1822673" cy="307192"/>
                      </a:xfrm>
                      <a:prstGeom prst="rect">
                        <a:avLst/>
                      </a:prstGeom>
                    </p:spPr>
                  </p:pic>
                  <p:pic>
                    <p:nvPicPr>
                      <p:cNvPr id="72" name="Picture 71">
                        <a:extLst>
                          <a:ext uri="{FF2B5EF4-FFF2-40B4-BE49-F238E27FC236}">
                            <a16:creationId xmlns:a16="http://schemas.microsoft.com/office/drawing/2014/main" id="{225C4CFE-AEB5-6B47-3BD8-2673618204C5}"/>
                          </a:ext>
                        </a:extLst>
                      </p:cNvPr>
                      <p:cNvPicPr>
                        <a:picLocks noChangeAspect="1"/>
                      </p:cNvPicPr>
                      <p:nvPr/>
                    </p:nvPicPr>
                    <p:blipFill rotWithShape="1">
                      <a:blip r:embed="rId7"/>
                      <a:srcRect r="38170" b="-5583"/>
                      <a:stretch/>
                    </p:blipFill>
                    <p:spPr>
                      <a:xfrm>
                        <a:off x="5333133" y="352547"/>
                        <a:ext cx="2968454" cy="446070"/>
                      </a:xfrm>
                      <a:prstGeom prst="rect">
                        <a:avLst/>
                      </a:prstGeom>
                    </p:spPr>
                  </p:pic>
                  <p:pic>
                    <p:nvPicPr>
                      <p:cNvPr id="73" name="Picture 72">
                        <a:extLst>
                          <a:ext uri="{FF2B5EF4-FFF2-40B4-BE49-F238E27FC236}">
                            <a16:creationId xmlns:a16="http://schemas.microsoft.com/office/drawing/2014/main" id="{4C0D2462-3B45-0FF8-72E7-362CF5815A2A}"/>
                          </a:ext>
                        </a:extLst>
                      </p:cNvPr>
                      <p:cNvPicPr>
                        <a:picLocks noChangeAspect="1"/>
                      </p:cNvPicPr>
                      <p:nvPr/>
                    </p:nvPicPr>
                    <p:blipFill rotWithShape="1">
                      <a:blip r:embed="rId7"/>
                      <a:srcRect l="68605" b="-5468"/>
                      <a:stretch/>
                    </p:blipFill>
                    <p:spPr>
                      <a:xfrm>
                        <a:off x="8219444" y="360505"/>
                        <a:ext cx="1507271" cy="445586"/>
                      </a:xfrm>
                      <a:prstGeom prst="rect">
                        <a:avLst/>
                      </a:prstGeom>
                    </p:spPr>
                  </p:pic>
                </p:grpSp>
                <p:pic>
                  <p:nvPicPr>
                    <p:cNvPr id="69" name="Picture 68">
                      <a:extLst>
                        <a:ext uri="{FF2B5EF4-FFF2-40B4-BE49-F238E27FC236}">
                          <a16:creationId xmlns:a16="http://schemas.microsoft.com/office/drawing/2014/main" id="{F94C5B01-D6BF-BDAA-5639-123005DD7FF1}"/>
                        </a:ext>
                      </a:extLst>
                    </p:cNvPr>
                    <p:cNvPicPr>
                      <a:picLocks noChangeAspect="1"/>
                    </p:cNvPicPr>
                    <p:nvPr/>
                  </p:nvPicPr>
                  <p:blipFill>
                    <a:blip r:embed="rId8"/>
                    <a:stretch>
                      <a:fillRect/>
                    </a:stretch>
                  </p:blipFill>
                  <p:spPr>
                    <a:xfrm>
                      <a:off x="1003879" y="1662403"/>
                      <a:ext cx="8699056" cy="1032624"/>
                    </a:xfrm>
                    <a:prstGeom prst="rect">
                      <a:avLst/>
                    </a:prstGeom>
                  </p:spPr>
                </p:pic>
              </p:grpSp>
              <p:sp>
                <p:nvSpPr>
                  <p:cNvPr id="67" name="Rectangle 66">
                    <a:extLst>
                      <a:ext uri="{FF2B5EF4-FFF2-40B4-BE49-F238E27FC236}">
                        <a16:creationId xmlns:a16="http://schemas.microsoft.com/office/drawing/2014/main" id="{D1AD5202-C25D-A3AF-0858-08B07BDEDE09}"/>
                      </a:ext>
                    </a:extLst>
                  </p:cNvPr>
                  <p:cNvSpPr/>
                  <p:nvPr/>
                </p:nvSpPr>
                <p:spPr>
                  <a:xfrm>
                    <a:off x="1003879" y="343662"/>
                    <a:ext cx="8699056" cy="2370865"/>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sp>
              <p:nvSpPr>
                <p:cNvPr id="61" name="TextBox 60">
                  <a:extLst>
                    <a:ext uri="{FF2B5EF4-FFF2-40B4-BE49-F238E27FC236}">
                      <a16:creationId xmlns:a16="http://schemas.microsoft.com/office/drawing/2014/main" id="{23F1AB58-8F00-4C48-A97C-7210BF0AA789}"/>
                    </a:ext>
                  </a:extLst>
                </p:cNvPr>
                <p:cNvSpPr txBox="1"/>
                <p:nvPr/>
              </p:nvSpPr>
              <p:spPr>
                <a:xfrm>
                  <a:off x="7105061" y="134236"/>
                  <a:ext cx="2404745" cy="307777"/>
                </a:xfrm>
                <a:prstGeom prst="rect">
                  <a:avLst/>
                </a:prstGeom>
                <a:solidFill>
                  <a:schemeClr val="bg1"/>
                </a:solidFill>
                <a:ln w="28575">
                  <a:solidFill>
                    <a:srgbClr val="0432FF"/>
                  </a:solidFill>
                </a:ln>
              </p:spPr>
              <p:txBody>
                <a:bodyPr wrap="square" rtlCol="0">
                  <a:spAutoFit/>
                </a:bodyPr>
                <a:lstStyle/>
                <a:p>
                  <a:pPr algn="ctr"/>
                  <a:r>
                    <a:rPr lang="en-BE" sz="1400" dirty="0"/>
                    <a:t>Current_date 2022-10-07</a:t>
                  </a:r>
                </a:p>
              </p:txBody>
            </p:sp>
          </p:grpSp>
        </p:grpSp>
        <p:sp>
          <p:nvSpPr>
            <p:cNvPr id="54" name="Rectangle 53">
              <a:extLst>
                <a:ext uri="{FF2B5EF4-FFF2-40B4-BE49-F238E27FC236}">
                  <a16:creationId xmlns:a16="http://schemas.microsoft.com/office/drawing/2014/main" id="{F2E7C41F-EB96-5C40-42DB-A9CB22E9411D}"/>
                </a:ext>
              </a:extLst>
            </p:cNvPr>
            <p:cNvSpPr/>
            <p:nvPr/>
          </p:nvSpPr>
          <p:spPr>
            <a:xfrm>
              <a:off x="1639010" y="6034289"/>
              <a:ext cx="5056430" cy="369332"/>
            </a:xfrm>
            <a:prstGeom prst="rect">
              <a:avLst/>
            </a:prstGeom>
            <a:solidFill>
              <a:schemeClr val="bg1"/>
            </a:solidFill>
            <a:ln w="28575">
              <a:solidFill>
                <a:srgbClr val="0432FF"/>
              </a:solidFill>
            </a:ln>
          </p:spPr>
          <p:txBody>
            <a:bodyPr wrap="square">
              <a:spAutoFit/>
            </a:bodyPr>
            <a:lstStyle/>
            <a:p>
              <a:r>
                <a:rPr lang="en-GB" dirty="0">
                  <a:solidFill>
                    <a:srgbClr val="24292F"/>
                  </a:solidFill>
                  <a:latin typeface="-apple-system"/>
                </a:rPr>
                <a:t>This is the version of Kafka running at LinkedIn.</a:t>
              </a:r>
              <a:endParaRPr lang="en-BE" dirty="0"/>
            </a:p>
          </p:txBody>
        </p:sp>
      </p:grpSp>
      <p:grpSp>
        <p:nvGrpSpPr>
          <p:cNvPr id="90" name="Group 89">
            <a:extLst>
              <a:ext uri="{FF2B5EF4-FFF2-40B4-BE49-F238E27FC236}">
                <a16:creationId xmlns:a16="http://schemas.microsoft.com/office/drawing/2014/main" id="{70CBFD4E-7ECA-1C48-9418-2DAB233AF5C4}"/>
              </a:ext>
            </a:extLst>
          </p:cNvPr>
          <p:cNvGrpSpPr/>
          <p:nvPr/>
        </p:nvGrpSpPr>
        <p:grpSpPr>
          <a:xfrm>
            <a:off x="989686" y="1043367"/>
            <a:ext cx="1184119" cy="2697480"/>
            <a:chOff x="1122744" y="601884"/>
            <a:chExt cx="1184119" cy="2951544"/>
          </a:xfrm>
        </p:grpSpPr>
        <p:cxnSp>
          <p:nvCxnSpPr>
            <p:cNvPr id="91" name="Straight Connector 90">
              <a:extLst>
                <a:ext uri="{FF2B5EF4-FFF2-40B4-BE49-F238E27FC236}">
                  <a16:creationId xmlns:a16="http://schemas.microsoft.com/office/drawing/2014/main" id="{E71A265A-642F-B247-87F7-C6FD262F92E0}"/>
                </a:ext>
              </a:extLst>
            </p:cNvPr>
            <p:cNvCxnSpPr/>
            <p:nvPr/>
          </p:nvCxnSpPr>
          <p:spPr>
            <a:xfrm flipH="1">
              <a:off x="1122744" y="3535140"/>
              <a:ext cx="1184119" cy="0"/>
            </a:xfrm>
            <a:prstGeom prst="line">
              <a:avLst/>
            </a:prstGeom>
            <a:ln w="38100">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92" name="Straight Connector 91">
              <a:extLst>
                <a:ext uri="{FF2B5EF4-FFF2-40B4-BE49-F238E27FC236}">
                  <a16:creationId xmlns:a16="http://schemas.microsoft.com/office/drawing/2014/main" id="{F42C3397-B335-694B-A8A4-810F7518872D}"/>
                </a:ext>
              </a:extLst>
            </p:cNvPr>
            <p:cNvCxnSpPr>
              <a:cxnSpLocks/>
            </p:cNvCxnSpPr>
            <p:nvPr/>
          </p:nvCxnSpPr>
          <p:spPr>
            <a:xfrm flipV="1">
              <a:off x="1122744" y="601884"/>
              <a:ext cx="0" cy="2951544"/>
            </a:xfrm>
            <a:prstGeom prst="line">
              <a:avLst/>
            </a:prstGeom>
            <a:ln w="38100">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93" name="Straight Arrow Connector 92">
              <a:extLst>
                <a:ext uri="{FF2B5EF4-FFF2-40B4-BE49-F238E27FC236}">
                  <a16:creationId xmlns:a16="http://schemas.microsoft.com/office/drawing/2014/main" id="{5FCF3BB5-D4D0-5549-879A-767C2E0D5D44}"/>
                </a:ext>
              </a:extLst>
            </p:cNvPr>
            <p:cNvCxnSpPr/>
            <p:nvPr/>
          </p:nvCxnSpPr>
          <p:spPr>
            <a:xfrm>
              <a:off x="1122744" y="623150"/>
              <a:ext cx="695531" cy="0"/>
            </a:xfrm>
            <a:prstGeom prst="straightConnector1">
              <a:avLst/>
            </a:prstGeom>
            <a:ln w="38100">
              <a:solidFill>
                <a:srgbClr val="C00000"/>
              </a:solidFill>
              <a:tailEnd type="triangle"/>
            </a:ln>
          </p:spPr>
          <p:style>
            <a:lnRef idx="1">
              <a:schemeClr val="accent2"/>
            </a:lnRef>
            <a:fillRef idx="0">
              <a:schemeClr val="accent2"/>
            </a:fillRef>
            <a:effectRef idx="0">
              <a:schemeClr val="accent2"/>
            </a:effectRef>
            <a:fontRef idx="minor">
              <a:schemeClr val="tx1"/>
            </a:fontRef>
          </p:style>
        </p:cxnSp>
      </p:grpSp>
      <p:grpSp>
        <p:nvGrpSpPr>
          <p:cNvPr id="94" name="Group 93">
            <a:extLst>
              <a:ext uri="{FF2B5EF4-FFF2-40B4-BE49-F238E27FC236}">
                <a16:creationId xmlns:a16="http://schemas.microsoft.com/office/drawing/2014/main" id="{D5B878F0-CE00-938D-6F9F-69AD49A90EDA}"/>
              </a:ext>
            </a:extLst>
          </p:cNvPr>
          <p:cNvGrpSpPr/>
          <p:nvPr/>
        </p:nvGrpSpPr>
        <p:grpSpPr>
          <a:xfrm>
            <a:off x="7299666" y="2686317"/>
            <a:ext cx="4552875" cy="3397907"/>
            <a:chOff x="6593840" y="2374470"/>
            <a:chExt cx="4552875" cy="3397907"/>
          </a:xfrm>
        </p:grpSpPr>
        <p:sp>
          <p:nvSpPr>
            <p:cNvPr id="95" name="TextBox 94">
              <a:extLst>
                <a:ext uri="{FF2B5EF4-FFF2-40B4-BE49-F238E27FC236}">
                  <a16:creationId xmlns:a16="http://schemas.microsoft.com/office/drawing/2014/main" id="{5B17B49A-7385-F64F-80F8-95BFA2FD78C1}"/>
                </a:ext>
              </a:extLst>
            </p:cNvPr>
            <p:cNvSpPr txBox="1"/>
            <p:nvPr/>
          </p:nvSpPr>
          <p:spPr>
            <a:xfrm>
              <a:off x="10202198" y="3868234"/>
              <a:ext cx="944517" cy="646331"/>
            </a:xfrm>
            <a:prstGeom prst="rect">
              <a:avLst/>
            </a:prstGeom>
            <a:noFill/>
          </p:spPr>
          <p:txBody>
            <a:bodyPr wrap="square" rtlCol="0">
              <a:spAutoFit/>
            </a:bodyPr>
            <a:lstStyle/>
            <a:p>
              <a:r>
                <a:rPr lang="en-GB" dirty="0"/>
                <a:t>V</a:t>
              </a:r>
              <a:r>
                <a:rPr lang="en-BE" dirty="0"/>
                <a:t>ery active</a:t>
              </a:r>
            </a:p>
          </p:txBody>
        </p:sp>
        <p:grpSp>
          <p:nvGrpSpPr>
            <p:cNvPr id="96" name="Group 95">
              <a:extLst>
                <a:ext uri="{FF2B5EF4-FFF2-40B4-BE49-F238E27FC236}">
                  <a16:creationId xmlns:a16="http://schemas.microsoft.com/office/drawing/2014/main" id="{5FB89D1D-F16D-808D-5FA7-D4DD95C21E7A}"/>
                </a:ext>
              </a:extLst>
            </p:cNvPr>
            <p:cNvGrpSpPr/>
            <p:nvPr/>
          </p:nvGrpSpPr>
          <p:grpSpPr>
            <a:xfrm>
              <a:off x="6593840" y="2374470"/>
              <a:ext cx="4439359" cy="3397907"/>
              <a:chOff x="6549373" y="2157195"/>
              <a:chExt cx="4439359" cy="3672514"/>
            </a:xfrm>
          </p:grpSpPr>
          <p:sp>
            <p:nvSpPr>
              <p:cNvPr id="97" name="Rectangle 96">
                <a:extLst>
                  <a:ext uri="{FF2B5EF4-FFF2-40B4-BE49-F238E27FC236}">
                    <a16:creationId xmlns:a16="http://schemas.microsoft.com/office/drawing/2014/main" id="{20378C5A-56B3-0FA5-5C4F-510D63E57844}"/>
                  </a:ext>
                </a:extLst>
              </p:cNvPr>
              <p:cNvSpPr/>
              <p:nvPr/>
            </p:nvSpPr>
            <p:spPr>
              <a:xfrm>
                <a:off x="6650973" y="5507395"/>
                <a:ext cx="2580641" cy="32231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sp>
            <p:nvSpPr>
              <p:cNvPr id="98" name="Rectangle 97">
                <a:extLst>
                  <a:ext uri="{FF2B5EF4-FFF2-40B4-BE49-F238E27FC236}">
                    <a16:creationId xmlns:a16="http://schemas.microsoft.com/office/drawing/2014/main" id="{5211128A-9131-7BBF-8B7E-55918478417A}"/>
                  </a:ext>
                </a:extLst>
              </p:cNvPr>
              <p:cNvSpPr/>
              <p:nvPr/>
            </p:nvSpPr>
            <p:spPr>
              <a:xfrm>
                <a:off x="6549373" y="2157195"/>
                <a:ext cx="3032284" cy="361162"/>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nvGrpSpPr>
              <p:cNvPr id="99" name="Group 98">
                <a:extLst>
                  <a:ext uri="{FF2B5EF4-FFF2-40B4-BE49-F238E27FC236}">
                    <a16:creationId xmlns:a16="http://schemas.microsoft.com/office/drawing/2014/main" id="{78BC1573-FDC3-3444-6E97-C757B958D89C}"/>
                  </a:ext>
                </a:extLst>
              </p:cNvPr>
              <p:cNvGrpSpPr/>
              <p:nvPr/>
            </p:nvGrpSpPr>
            <p:grpSpPr>
              <a:xfrm flipH="1">
                <a:off x="9231613" y="2270413"/>
                <a:ext cx="1757119" cy="3408913"/>
                <a:chOff x="1116227" y="337238"/>
                <a:chExt cx="1127017" cy="3408913"/>
              </a:xfrm>
            </p:grpSpPr>
            <p:cxnSp>
              <p:nvCxnSpPr>
                <p:cNvPr id="100" name="Straight Connector 99">
                  <a:extLst>
                    <a:ext uri="{FF2B5EF4-FFF2-40B4-BE49-F238E27FC236}">
                      <a16:creationId xmlns:a16="http://schemas.microsoft.com/office/drawing/2014/main" id="{3CEC92EF-B661-44D4-4A41-BEF747D43BD6}"/>
                    </a:ext>
                  </a:extLst>
                </p:cNvPr>
                <p:cNvCxnSpPr>
                  <a:cxnSpLocks/>
                  <a:endCxn id="97" idx="3"/>
                </p:cNvCxnSpPr>
                <p:nvPr/>
              </p:nvCxnSpPr>
              <p:spPr>
                <a:xfrm flipV="1">
                  <a:off x="1116227" y="3735379"/>
                  <a:ext cx="1127017" cy="10772"/>
                </a:xfrm>
                <a:prstGeom prst="line">
                  <a:avLst/>
                </a:prstGeom>
                <a:ln w="38100"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1" name="Straight Connector 100">
                  <a:extLst>
                    <a:ext uri="{FF2B5EF4-FFF2-40B4-BE49-F238E27FC236}">
                      <a16:creationId xmlns:a16="http://schemas.microsoft.com/office/drawing/2014/main" id="{B7A5680A-BA3C-4296-6779-9A9DDE6046FB}"/>
                    </a:ext>
                  </a:extLst>
                </p:cNvPr>
                <p:cNvCxnSpPr>
                  <a:cxnSpLocks/>
                </p:cNvCxnSpPr>
                <p:nvPr/>
              </p:nvCxnSpPr>
              <p:spPr>
                <a:xfrm flipH="1" flipV="1">
                  <a:off x="1122744" y="337238"/>
                  <a:ext cx="0" cy="3408913"/>
                </a:xfrm>
                <a:prstGeom prst="line">
                  <a:avLst/>
                </a:prstGeom>
                <a:ln w="38100">
                  <a:solidFill>
                    <a:srgbClr val="C00000"/>
                  </a:solidFill>
                </a:ln>
              </p:spPr>
              <p:style>
                <a:lnRef idx="1">
                  <a:schemeClr val="accent2"/>
                </a:lnRef>
                <a:fillRef idx="0">
                  <a:schemeClr val="accent2"/>
                </a:fillRef>
                <a:effectRef idx="0">
                  <a:schemeClr val="accent2"/>
                </a:effectRef>
                <a:fontRef idx="minor">
                  <a:schemeClr val="tx1"/>
                </a:fontRef>
              </p:style>
            </p:cxnSp>
            <p:cxnSp>
              <p:nvCxnSpPr>
                <p:cNvPr id="102" name="Straight Arrow Connector 101">
                  <a:extLst>
                    <a:ext uri="{FF2B5EF4-FFF2-40B4-BE49-F238E27FC236}">
                      <a16:creationId xmlns:a16="http://schemas.microsoft.com/office/drawing/2014/main" id="{FDAC5706-2E2E-BF09-EB54-336D97BF2882}"/>
                    </a:ext>
                  </a:extLst>
                </p:cNvPr>
                <p:cNvCxnSpPr>
                  <a:cxnSpLocks/>
                </p:cNvCxnSpPr>
                <p:nvPr/>
              </p:nvCxnSpPr>
              <p:spPr>
                <a:xfrm>
                  <a:off x="1122744" y="347240"/>
                  <a:ext cx="895981" cy="0"/>
                </a:xfrm>
                <a:prstGeom prst="straightConnector1">
                  <a:avLst/>
                </a:prstGeom>
                <a:ln w="38100"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grpSp>
      </p:grpSp>
      <p:grpSp>
        <p:nvGrpSpPr>
          <p:cNvPr id="104" name="Group 103">
            <a:extLst>
              <a:ext uri="{FF2B5EF4-FFF2-40B4-BE49-F238E27FC236}">
                <a16:creationId xmlns:a16="http://schemas.microsoft.com/office/drawing/2014/main" id="{F8AFC539-1A60-1B4F-3059-D3EF228BA3E0}"/>
              </a:ext>
            </a:extLst>
          </p:cNvPr>
          <p:cNvGrpSpPr/>
          <p:nvPr/>
        </p:nvGrpSpPr>
        <p:grpSpPr>
          <a:xfrm>
            <a:off x="2314357" y="3310251"/>
            <a:ext cx="4213149" cy="2227160"/>
            <a:chOff x="1608531" y="2998404"/>
            <a:chExt cx="4213149" cy="2227160"/>
          </a:xfrm>
        </p:grpSpPr>
        <p:sp>
          <p:nvSpPr>
            <p:cNvPr id="105" name="Rectangle 104">
              <a:extLst>
                <a:ext uri="{FF2B5EF4-FFF2-40B4-BE49-F238E27FC236}">
                  <a16:creationId xmlns:a16="http://schemas.microsoft.com/office/drawing/2014/main" id="{DDA53C33-CCF6-604C-9575-C89BD77102FE}"/>
                </a:ext>
              </a:extLst>
            </p:cNvPr>
            <p:cNvSpPr/>
            <p:nvPr/>
          </p:nvSpPr>
          <p:spPr>
            <a:xfrm>
              <a:off x="1608531" y="4763286"/>
              <a:ext cx="4213149" cy="462278"/>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106" name="Group 105">
              <a:extLst>
                <a:ext uri="{FF2B5EF4-FFF2-40B4-BE49-F238E27FC236}">
                  <a16:creationId xmlns:a16="http://schemas.microsoft.com/office/drawing/2014/main" id="{A577F038-080F-0D20-34F2-AE4CB7A88E47}"/>
                </a:ext>
              </a:extLst>
            </p:cNvPr>
            <p:cNvGrpSpPr/>
            <p:nvPr/>
          </p:nvGrpSpPr>
          <p:grpSpPr>
            <a:xfrm>
              <a:off x="2565876" y="2998404"/>
              <a:ext cx="2816956" cy="1878396"/>
              <a:chOff x="2565876" y="2998404"/>
              <a:chExt cx="2816956" cy="1878396"/>
            </a:xfrm>
          </p:grpSpPr>
          <p:sp>
            <p:nvSpPr>
              <p:cNvPr id="107" name="TextBox 106">
                <a:extLst>
                  <a:ext uri="{FF2B5EF4-FFF2-40B4-BE49-F238E27FC236}">
                    <a16:creationId xmlns:a16="http://schemas.microsoft.com/office/drawing/2014/main" id="{B4593091-E9B5-F8A1-10A7-81725C58E82C}"/>
                  </a:ext>
                </a:extLst>
              </p:cNvPr>
              <p:cNvSpPr txBox="1"/>
              <p:nvPr/>
            </p:nvSpPr>
            <p:spPr>
              <a:xfrm>
                <a:off x="3307501" y="3012443"/>
                <a:ext cx="981070" cy="738664"/>
              </a:xfrm>
              <a:prstGeom prst="rect">
                <a:avLst/>
              </a:prstGeom>
              <a:noFill/>
              <a:ln w="28575">
                <a:solidFill>
                  <a:srgbClr val="0432FF"/>
                </a:solidFill>
              </a:ln>
            </p:spPr>
            <p:txBody>
              <a:bodyPr wrap="square" rtlCol="0">
                <a:spAutoFit/>
              </a:bodyPr>
              <a:lstStyle/>
              <a:p>
                <a:pPr algn="ctr"/>
                <a:r>
                  <a:rPr lang="en-GB" sz="1400" dirty="0" err="1"/>
                  <a:t>linkedin</a:t>
                </a:r>
                <a:r>
                  <a:rPr lang="en-GB" sz="1400" dirty="0"/>
                  <a:t> </a:t>
                </a:r>
              </a:p>
              <a:p>
                <a:pPr algn="ctr"/>
                <a:r>
                  <a:rPr lang="en-GB" sz="1400" dirty="0"/>
                  <a:t>u</a:t>
                </a:r>
                <a:r>
                  <a:rPr lang="en-BE" sz="1400" dirty="0"/>
                  <a:t>nique commits</a:t>
                </a:r>
              </a:p>
            </p:txBody>
          </p:sp>
          <p:sp>
            <p:nvSpPr>
              <p:cNvPr id="108" name="TextBox 107">
                <a:extLst>
                  <a:ext uri="{FF2B5EF4-FFF2-40B4-BE49-F238E27FC236}">
                    <a16:creationId xmlns:a16="http://schemas.microsoft.com/office/drawing/2014/main" id="{E5D23C6D-73F3-5F89-DF6C-C48ADB24C79F}"/>
                  </a:ext>
                </a:extLst>
              </p:cNvPr>
              <p:cNvSpPr txBox="1"/>
              <p:nvPr/>
            </p:nvSpPr>
            <p:spPr>
              <a:xfrm>
                <a:off x="4401762" y="2998404"/>
                <a:ext cx="981070" cy="738664"/>
              </a:xfrm>
              <a:prstGeom prst="rect">
                <a:avLst/>
              </a:prstGeom>
              <a:noFill/>
              <a:ln w="28575">
                <a:solidFill>
                  <a:srgbClr val="0432FF"/>
                </a:solidFill>
              </a:ln>
            </p:spPr>
            <p:txBody>
              <a:bodyPr wrap="square" rtlCol="0">
                <a:spAutoFit/>
              </a:bodyPr>
              <a:lstStyle/>
              <a:p>
                <a:pPr algn="ctr"/>
                <a:r>
                  <a:rPr lang="en-GB" sz="1400" dirty="0" err="1"/>
                  <a:t>apache</a:t>
                </a:r>
                <a:r>
                  <a:rPr lang="en-GB" sz="1400" dirty="0"/>
                  <a:t> </a:t>
                </a:r>
              </a:p>
              <a:p>
                <a:pPr algn="ctr"/>
                <a:r>
                  <a:rPr lang="en-GB" sz="1400" dirty="0"/>
                  <a:t>u</a:t>
                </a:r>
                <a:r>
                  <a:rPr lang="en-BE" sz="1400" dirty="0"/>
                  <a:t>nique commits</a:t>
                </a:r>
              </a:p>
            </p:txBody>
          </p:sp>
          <p:cxnSp>
            <p:nvCxnSpPr>
              <p:cNvPr id="109" name="Straight Arrow Connector 108">
                <a:extLst>
                  <a:ext uri="{FF2B5EF4-FFF2-40B4-BE49-F238E27FC236}">
                    <a16:creationId xmlns:a16="http://schemas.microsoft.com/office/drawing/2014/main" id="{70092E37-E277-7735-A03F-28C5EB3C4F4F}"/>
                  </a:ext>
                </a:extLst>
              </p:cNvPr>
              <p:cNvCxnSpPr/>
              <p:nvPr/>
            </p:nvCxnSpPr>
            <p:spPr>
              <a:xfrm flipH="1">
                <a:off x="2565876" y="3751107"/>
                <a:ext cx="1202302" cy="1125693"/>
              </a:xfrm>
              <a:prstGeom prst="straightConnector1">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169B3469-EA68-E9EC-B55C-4D8D704BEAC6}"/>
                  </a:ext>
                </a:extLst>
              </p:cNvPr>
              <p:cNvCxnSpPr>
                <a:cxnSpLocks/>
              </p:cNvCxnSpPr>
              <p:nvPr/>
            </p:nvCxnSpPr>
            <p:spPr>
              <a:xfrm flipH="1">
                <a:off x="3876762" y="3751107"/>
                <a:ext cx="950740" cy="1125693"/>
              </a:xfrm>
              <a:prstGeom prst="straightConnector1">
                <a:avLst/>
              </a:prstGeom>
              <a:ln w="28575">
                <a:solidFill>
                  <a:srgbClr val="0432FF"/>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11" name="Title 1">
            <a:extLst>
              <a:ext uri="{FF2B5EF4-FFF2-40B4-BE49-F238E27FC236}">
                <a16:creationId xmlns:a16="http://schemas.microsoft.com/office/drawing/2014/main" id="{097B0AD0-D595-E14F-B23C-32853A0954F6}"/>
              </a:ext>
            </a:extLst>
          </p:cNvPr>
          <p:cNvSpPr>
            <a:spLocks noGrp="1"/>
          </p:cNvSpPr>
          <p:nvPr>
            <p:ph type="title"/>
          </p:nvPr>
        </p:nvSpPr>
        <p:spPr>
          <a:xfrm>
            <a:off x="157978" y="-33414"/>
            <a:ext cx="10944226" cy="791794"/>
          </a:xfrm>
        </p:spPr>
        <p:txBody>
          <a:bodyPr>
            <a:normAutofit/>
          </a:bodyPr>
          <a:lstStyle/>
          <a:p>
            <a:r>
              <a:rPr lang="en-BE" sz="2400" b="1" dirty="0"/>
              <a:t>A Real-World Variant: LinkedIn's Fork of Apache Kafka</a:t>
            </a:r>
          </a:p>
        </p:txBody>
      </p:sp>
    </p:spTree>
    <p:extLst>
      <p:ext uri="{BB962C8B-B14F-4D97-AF65-F5344CB8AC3E}">
        <p14:creationId xmlns:p14="http://schemas.microsoft.com/office/powerpoint/2010/main" val="378161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B0AD0-D595-E14F-B23C-32853A0954F6}"/>
              </a:ext>
            </a:extLst>
          </p:cNvPr>
          <p:cNvSpPr>
            <a:spLocks noGrp="1"/>
          </p:cNvSpPr>
          <p:nvPr>
            <p:ph type="title"/>
          </p:nvPr>
        </p:nvSpPr>
        <p:spPr>
          <a:xfrm>
            <a:off x="623887" y="228823"/>
            <a:ext cx="10944226" cy="882430"/>
          </a:xfrm>
        </p:spPr>
        <p:txBody>
          <a:bodyPr>
            <a:normAutofit fontScale="90000"/>
          </a:bodyPr>
          <a:lstStyle/>
          <a:p>
            <a:pPr algn="r"/>
            <a:r>
              <a:rPr lang="en-US" sz="4200" dirty="0"/>
              <a:t>Concrete Example:</a:t>
            </a:r>
            <a:br>
              <a:rPr lang="en-US" sz="4900" dirty="0"/>
            </a:br>
            <a:r>
              <a:rPr lang="en-US" sz="3100" b="0" dirty="0"/>
              <a:t>Missed Opportunity</a:t>
            </a:r>
            <a:endParaRPr lang="en-BE" b="0" dirty="0"/>
          </a:p>
        </p:txBody>
      </p:sp>
      <p:sp>
        <p:nvSpPr>
          <p:cNvPr id="3" name="Slide Number Placeholder 2">
            <a:extLst>
              <a:ext uri="{FF2B5EF4-FFF2-40B4-BE49-F238E27FC236}">
                <a16:creationId xmlns:a16="http://schemas.microsoft.com/office/drawing/2014/main" id="{ADD9C863-A5D5-2E4E-BD1E-C5C0C33F5D39}"/>
              </a:ext>
            </a:extLst>
          </p:cNvPr>
          <p:cNvSpPr>
            <a:spLocks noGrp="1"/>
          </p:cNvSpPr>
          <p:nvPr>
            <p:ph type="sldNum" sz="quarter" idx="10"/>
          </p:nvPr>
        </p:nvSpPr>
        <p:spPr/>
        <p:txBody>
          <a:bodyPr/>
          <a:lstStyle/>
          <a:p>
            <a:fld id="{E038E271-308C-2E46-A3EC-56326F9084CC}" type="slidenum">
              <a:rPr lang="nl-BE" smtClean="0"/>
              <a:pPr/>
              <a:t>6</a:t>
            </a:fld>
            <a:endParaRPr lang="nl-BE" dirty="0"/>
          </a:p>
        </p:txBody>
      </p:sp>
      <p:pic>
        <p:nvPicPr>
          <p:cNvPr id="18" name="Picture 17"/>
          <p:cNvPicPr>
            <a:picLocks noChangeAspect="1"/>
          </p:cNvPicPr>
          <p:nvPr/>
        </p:nvPicPr>
        <p:blipFill>
          <a:blip r:embed="rId3"/>
          <a:stretch>
            <a:fillRect/>
          </a:stretch>
        </p:blipFill>
        <p:spPr>
          <a:xfrm>
            <a:off x="1407846" y="1159676"/>
            <a:ext cx="6789330" cy="954969"/>
          </a:xfrm>
          <a:prstGeom prst="rect">
            <a:avLst/>
          </a:prstGeom>
        </p:spPr>
      </p:pic>
      <p:pic>
        <p:nvPicPr>
          <p:cNvPr id="19" name="Picture 18"/>
          <p:cNvPicPr>
            <a:picLocks noChangeAspect="1"/>
          </p:cNvPicPr>
          <p:nvPr/>
        </p:nvPicPr>
        <p:blipFill>
          <a:blip r:embed="rId4"/>
          <a:stretch>
            <a:fillRect/>
          </a:stretch>
        </p:blipFill>
        <p:spPr>
          <a:xfrm>
            <a:off x="1407847" y="2483836"/>
            <a:ext cx="6789331" cy="963512"/>
          </a:xfrm>
          <a:prstGeom prst="rect">
            <a:avLst/>
          </a:prstGeom>
        </p:spPr>
      </p:pic>
      <p:pic>
        <p:nvPicPr>
          <p:cNvPr id="20" name="Picture 19"/>
          <p:cNvPicPr>
            <a:picLocks noChangeAspect="1"/>
          </p:cNvPicPr>
          <p:nvPr/>
        </p:nvPicPr>
        <p:blipFill>
          <a:blip r:embed="rId5"/>
          <a:stretch>
            <a:fillRect/>
          </a:stretch>
        </p:blipFill>
        <p:spPr>
          <a:xfrm>
            <a:off x="1407846" y="3908854"/>
            <a:ext cx="6789330" cy="960068"/>
          </a:xfrm>
          <a:prstGeom prst="rect">
            <a:avLst/>
          </a:prstGeom>
        </p:spPr>
      </p:pic>
      <p:pic>
        <p:nvPicPr>
          <p:cNvPr id="21" name="Picture 20"/>
          <p:cNvPicPr>
            <a:picLocks noChangeAspect="1"/>
          </p:cNvPicPr>
          <p:nvPr/>
        </p:nvPicPr>
        <p:blipFill>
          <a:blip r:embed="rId6"/>
          <a:stretch>
            <a:fillRect/>
          </a:stretch>
        </p:blipFill>
        <p:spPr>
          <a:xfrm>
            <a:off x="1407846" y="5332396"/>
            <a:ext cx="6789330" cy="965230"/>
          </a:xfrm>
          <a:prstGeom prst="rect">
            <a:avLst/>
          </a:prstGeom>
        </p:spPr>
      </p:pic>
      <p:sp>
        <p:nvSpPr>
          <p:cNvPr id="22" name="Content Placeholder 2"/>
          <p:cNvSpPr txBox="1">
            <a:spLocks/>
          </p:cNvSpPr>
          <p:nvPr/>
        </p:nvSpPr>
        <p:spPr>
          <a:xfrm>
            <a:off x="1332447" y="860003"/>
            <a:ext cx="3609209" cy="2923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Times New Roman" panose="02020603050405020304" pitchFamily="18" charset="0"/>
                <a:cs typeface="Times New Roman" panose="02020603050405020304" pitchFamily="18" charset="0"/>
              </a:rPr>
              <a:t>Buggy code from source – </a:t>
            </a:r>
            <a:r>
              <a:rPr lang="en-US" sz="1600" dirty="0" err="1">
                <a:latin typeface="Times New Roman" panose="02020603050405020304" pitchFamily="18" charset="0"/>
                <a:cs typeface="Times New Roman" panose="02020603050405020304" pitchFamily="18" charset="0"/>
              </a:rPr>
              <a:t>apache</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kafka</a:t>
            </a:r>
            <a:r>
              <a:rPr lang="en-US" sz="1600" dirty="0">
                <a:latin typeface="Times New Roman" panose="02020603050405020304" pitchFamily="18" charset="0"/>
                <a:cs typeface="Times New Roman" panose="02020603050405020304" pitchFamily="18" charset="0"/>
              </a:rPr>
              <a:t> </a:t>
            </a:r>
            <a:endParaRPr lang="nl-NL" sz="1600" dirty="0">
              <a:latin typeface="Times New Roman" panose="02020603050405020304" pitchFamily="18" charset="0"/>
              <a:cs typeface="Times New Roman" panose="02020603050405020304" pitchFamily="18" charset="0"/>
            </a:endParaRPr>
          </a:p>
        </p:txBody>
      </p:sp>
      <p:sp>
        <p:nvSpPr>
          <p:cNvPr id="23" name="Content Placeholder 2"/>
          <p:cNvSpPr txBox="1">
            <a:spLocks/>
          </p:cNvSpPr>
          <p:nvPr/>
        </p:nvSpPr>
        <p:spPr>
          <a:xfrm>
            <a:off x="1332445" y="5030717"/>
            <a:ext cx="4640340" cy="4203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Times New Roman" panose="02020603050405020304" pitchFamily="18" charset="0"/>
                <a:cs typeface="Times New Roman" panose="02020603050405020304" pitchFamily="18" charset="0"/>
              </a:rPr>
              <a:t>File from target </a:t>
            </a:r>
            <a:r>
              <a:rPr lang="en-US" sz="1600" dirty="0" err="1">
                <a:latin typeface="Courier New" panose="02070309020205020404" pitchFamily="49" charset="0"/>
                <a:cs typeface="Courier New" panose="02070309020205020404" pitchFamily="49" charset="0"/>
              </a:rPr>
              <a:t>git_head</a:t>
            </a:r>
            <a:r>
              <a:rPr lang="en-US" sz="1600" dirty="0">
                <a:latin typeface="Courier New" panose="02070309020205020404" pitchFamily="49" charset="0"/>
                <a:cs typeface="Courier New" panose="02070309020205020404" pitchFamily="49" charset="0"/>
              </a:rPr>
              <a:t> – </a:t>
            </a:r>
            <a:r>
              <a:rPr lang="en-US" sz="1600" dirty="0" err="1">
                <a:latin typeface="Times New Roman" panose="02020603050405020304" pitchFamily="18" charset="0"/>
                <a:cs typeface="Times New Roman" panose="02020603050405020304" pitchFamily="18" charset="0"/>
              </a:rPr>
              <a:t>linkedin</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kafka</a:t>
            </a:r>
            <a:r>
              <a:rPr lang="en-US" sz="1600" dirty="0">
                <a:latin typeface="Courier New" panose="02070309020205020404" pitchFamily="49" charset="0"/>
                <a:cs typeface="Courier New" panose="02070309020205020404" pitchFamily="49" charset="0"/>
              </a:rPr>
              <a:t> </a:t>
            </a:r>
            <a:r>
              <a:rPr lang="en-US" sz="1600" dirty="0">
                <a:latin typeface="Times New Roman" panose="02020603050405020304" pitchFamily="18" charset="0"/>
                <a:cs typeface="Times New Roman" panose="02020603050405020304" pitchFamily="18" charset="0"/>
              </a:rPr>
              <a:t> </a:t>
            </a:r>
            <a:endParaRPr lang="nl-NL" sz="1600" dirty="0">
              <a:latin typeface="Times New Roman" panose="02020603050405020304" pitchFamily="18" charset="0"/>
              <a:cs typeface="Times New Roman" panose="02020603050405020304" pitchFamily="18" charset="0"/>
            </a:endParaRPr>
          </a:p>
        </p:txBody>
      </p:sp>
      <p:sp>
        <p:nvSpPr>
          <p:cNvPr id="24" name="Rectangle 23"/>
          <p:cNvSpPr/>
          <p:nvPr/>
        </p:nvSpPr>
        <p:spPr>
          <a:xfrm>
            <a:off x="1414329" y="1687138"/>
            <a:ext cx="6776362" cy="216635"/>
          </a:xfrm>
          <a:prstGeom prst="rect">
            <a:avLst/>
          </a:prstGeom>
          <a:no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tangle 24"/>
          <p:cNvSpPr/>
          <p:nvPr/>
        </p:nvSpPr>
        <p:spPr>
          <a:xfrm>
            <a:off x="1414329" y="5852982"/>
            <a:ext cx="6764186" cy="217714"/>
          </a:xfrm>
          <a:prstGeom prst="rect">
            <a:avLst/>
          </a:prstGeom>
          <a:noFill/>
          <a:ln w="190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6" name="Rectangle 25"/>
          <p:cNvSpPr/>
          <p:nvPr/>
        </p:nvSpPr>
        <p:spPr>
          <a:xfrm>
            <a:off x="1417175" y="3004786"/>
            <a:ext cx="6773516" cy="217714"/>
          </a:xfrm>
          <a:prstGeom prst="rect">
            <a:avLst/>
          </a:prstGeom>
          <a:noFill/>
          <a:ln w="19050">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7" name="Content Placeholder 2"/>
          <p:cNvSpPr txBox="1">
            <a:spLocks/>
          </p:cNvSpPr>
          <p:nvPr/>
        </p:nvSpPr>
        <p:spPr>
          <a:xfrm>
            <a:off x="8556696" y="1630177"/>
            <a:ext cx="998153" cy="2968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rgbClr val="FF0000"/>
                </a:solidFill>
                <a:latin typeface="Times New Roman" panose="02020603050405020304" pitchFamily="18" charset="0"/>
                <a:cs typeface="Times New Roman" panose="02020603050405020304" pitchFamily="18" charset="0"/>
              </a:rPr>
              <a:t>Buggy line</a:t>
            </a:r>
            <a:endParaRPr lang="nl-NL" sz="1400" dirty="0">
              <a:solidFill>
                <a:srgbClr val="FF0000"/>
              </a:solidFill>
              <a:latin typeface="Times New Roman" panose="02020603050405020304" pitchFamily="18" charset="0"/>
              <a:cs typeface="Times New Roman" panose="02020603050405020304" pitchFamily="18" charset="0"/>
            </a:endParaRPr>
          </a:p>
        </p:txBody>
      </p:sp>
      <p:sp>
        <p:nvSpPr>
          <p:cNvPr id="28" name="Content Placeholder 2"/>
          <p:cNvSpPr txBox="1">
            <a:spLocks/>
          </p:cNvSpPr>
          <p:nvPr/>
        </p:nvSpPr>
        <p:spPr>
          <a:xfrm>
            <a:off x="1332447" y="2198639"/>
            <a:ext cx="3609209" cy="2923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Times New Roman" panose="02020603050405020304" pitchFamily="18" charset="0"/>
                <a:cs typeface="Times New Roman" panose="02020603050405020304" pitchFamily="18" charset="0"/>
              </a:rPr>
              <a:t>Patched code from source – </a:t>
            </a:r>
            <a:r>
              <a:rPr lang="en-US" sz="1600" dirty="0" err="1">
                <a:latin typeface="Times New Roman" panose="02020603050405020304" pitchFamily="18" charset="0"/>
                <a:cs typeface="Times New Roman" panose="02020603050405020304" pitchFamily="18" charset="0"/>
              </a:rPr>
              <a:t>apache</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kafka</a:t>
            </a:r>
            <a:r>
              <a:rPr lang="en-US" sz="1600" dirty="0">
                <a:latin typeface="Times New Roman" panose="02020603050405020304" pitchFamily="18" charset="0"/>
                <a:cs typeface="Times New Roman" panose="02020603050405020304" pitchFamily="18" charset="0"/>
              </a:rPr>
              <a:t> </a:t>
            </a:r>
            <a:endParaRPr lang="nl-NL" sz="1600" dirty="0">
              <a:latin typeface="Times New Roman" panose="02020603050405020304" pitchFamily="18" charset="0"/>
              <a:cs typeface="Times New Roman" panose="02020603050405020304" pitchFamily="18" charset="0"/>
            </a:endParaRPr>
          </a:p>
        </p:txBody>
      </p:sp>
      <p:sp>
        <p:nvSpPr>
          <p:cNvPr id="30" name="Content Placeholder 2"/>
          <p:cNvSpPr txBox="1">
            <a:spLocks/>
          </p:cNvSpPr>
          <p:nvPr/>
        </p:nvSpPr>
        <p:spPr>
          <a:xfrm>
            <a:off x="1332447" y="3609383"/>
            <a:ext cx="3609209" cy="2923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Times New Roman" panose="02020603050405020304" pitchFamily="18" charset="0"/>
                <a:cs typeface="Times New Roman" panose="02020603050405020304" pitchFamily="18" charset="0"/>
              </a:rPr>
              <a:t>Diff for patch in source – </a:t>
            </a:r>
            <a:r>
              <a:rPr lang="en-US" sz="1600" dirty="0" err="1">
                <a:latin typeface="Times New Roman" panose="02020603050405020304" pitchFamily="18" charset="0"/>
                <a:cs typeface="Times New Roman" panose="02020603050405020304" pitchFamily="18" charset="0"/>
              </a:rPr>
              <a:t>apache</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kafka</a:t>
            </a:r>
            <a:r>
              <a:rPr lang="en-US" sz="1600" dirty="0">
                <a:latin typeface="Times New Roman" panose="02020603050405020304" pitchFamily="18" charset="0"/>
                <a:cs typeface="Times New Roman" panose="02020603050405020304" pitchFamily="18" charset="0"/>
              </a:rPr>
              <a:t> </a:t>
            </a:r>
            <a:endParaRPr lang="nl-NL" sz="1600" dirty="0">
              <a:latin typeface="Times New Roman" panose="02020603050405020304" pitchFamily="18" charset="0"/>
              <a:cs typeface="Times New Roman" panose="02020603050405020304" pitchFamily="18" charset="0"/>
            </a:endParaRPr>
          </a:p>
        </p:txBody>
      </p:sp>
      <p:sp>
        <p:nvSpPr>
          <p:cNvPr id="31" name="Content Placeholder 2"/>
          <p:cNvSpPr txBox="1">
            <a:spLocks/>
          </p:cNvSpPr>
          <p:nvPr/>
        </p:nvSpPr>
        <p:spPr>
          <a:xfrm>
            <a:off x="8556696" y="2977115"/>
            <a:ext cx="1157997" cy="2968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chemeClr val="accent6"/>
                </a:solidFill>
                <a:latin typeface="Times New Roman" panose="02020603050405020304" pitchFamily="18" charset="0"/>
                <a:cs typeface="Times New Roman" panose="02020603050405020304" pitchFamily="18" charset="0"/>
              </a:rPr>
              <a:t>Patched line</a:t>
            </a:r>
            <a:endParaRPr lang="nl-NL" sz="1400" dirty="0">
              <a:solidFill>
                <a:schemeClr val="accent6"/>
              </a:solidFill>
              <a:latin typeface="Times New Roman" panose="02020603050405020304" pitchFamily="18" charset="0"/>
              <a:cs typeface="Times New Roman" panose="02020603050405020304" pitchFamily="18" charset="0"/>
            </a:endParaRPr>
          </a:p>
        </p:txBody>
      </p:sp>
      <p:sp>
        <p:nvSpPr>
          <p:cNvPr id="34" name="Content Placeholder 2"/>
          <p:cNvSpPr txBox="1">
            <a:spLocks/>
          </p:cNvSpPr>
          <p:nvPr/>
        </p:nvSpPr>
        <p:spPr>
          <a:xfrm>
            <a:off x="8556696" y="5813411"/>
            <a:ext cx="998153" cy="2968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solidFill>
                  <a:srgbClr val="FF0000"/>
                </a:solidFill>
                <a:latin typeface="Times New Roman" panose="02020603050405020304" pitchFamily="18" charset="0"/>
                <a:cs typeface="Times New Roman" panose="02020603050405020304" pitchFamily="18" charset="0"/>
              </a:rPr>
              <a:t>Buggy line</a:t>
            </a:r>
            <a:endParaRPr lang="nl-NL" sz="1400" dirty="0">
              <a:solidFill>
                <a:srgbClr val="FF0000"/>
              </a:solidFill>
              <a:latin typeface="Times New Roman" panose="02020603050405020304" pitchFamily="18" charset="0"/>
              <a:cs typeface="Times New Roman" panose="02020603050405020304" pitchFamily="18" charset="0"/>
            </a:endParaRPr>
          </a:p>
        </p:txBody>
      </p:sp>
      <p:cxnSp>
        <p:nvCxnSpPr>
          <p:cNvPr id="35" name="Straight Arrow Connector 34"/>
          <p:cNvCxnSpPr>
            <a:stCxn id="27" idx="1"/>
          </p:cNvCxnSpPr>
          <p:nvPr/>
        </p:nvCxnSpPr>
        <p:spPr>
          <a:xfrm flipH="1">
            <a:off x="8178517" y="1778607"/>
            <a:ext cx="378179" cy="13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a:off x="8187848" y="3132497"/>
            <a:ext cx="378179" cy="13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8192509" y="5965009"/>
            <a:ext cx="378179" cy="13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ight Brace 37"/>
          <p:cNvSpPr/>
          <p:nvPr/>
        </p:nvSpPr>
        <p:spPr>
          <a:xfrm>
            <a:off x="8178517" y="4277433"/>
            <a:ext cx="168613" cy="460067"/>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39" name="Content Placeholder 2"/>
          <p:cNvSpPr txBox="1">
            <a:spLocks/>
          </p:cNvSpPr>
          <p:nvPr/>
        </p:nvSpPr>
        <p:spPr>
          <a:xfrm>
            <a:off x="8444571" y="4361357"/>
            <a:ext cx="679977" cy="2968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a:latin typeface="Times New Roman" panose="02020603050405020304" pitchFamily="18" charset="0"/>
                <a:cs typeface="Times New Roman" panose="02020603050405020304" pitchFamily="18" charset="0"/>
              </a:rPr>
              <a:t>Hunk</a:t>
            </a:r>
            <a:endParaRPr lang="nl-NL"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67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animBg="1"/>
      <p:bldP spid="25" grpId="0" animBg="1"/>
      <p:bldP spid="26" grpId="0" animBg="1"/>
      <p:bldP spid="27" grpId="0"/>
      <p:bldP spid="28" grpId="0"/>
      <p:bldP spid="30" grpId="0"/>
      <p:bldP spid="31" grpId="0"/>
      <p:bldP spid="34" grpId="0"/>
      <p:bldP spid="38" grpId="0" animBg="1"/>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DBE1FF-1972-1197-158E-CA81FD4752BE}"/>
              </a:ext>
            </a:extLst>
          </p:cNvPr>
          <p:cNvPicPr>
            <a:picLocks noChangeAspect="1"/>
          </p:cNvPicPr>
          <p:nvPr/>
        </p:nvPicPr>
        <p:blipFill>
          <a:blip r:embed="rId3"/>
          <a:stretch>
            <a:fillRect/>
          </a:stretch>
        </p:blipFill>
        <p:spPr>
          <a:xfrm>
            <a:off x="12193" y="1028197"/>
            <a:ext cx="8413024" cy="5439852"/>
          </a:xfrm>
          <a:prstGeom prst="rect">
            <a:avLst/>
          </a:prstGeom>
          <a:ln>
            <a:solidFill>
              <a:schemeClr val="tx1"/>
            </a:solidFill>
          </a:ln>
        </p:spPr>
      </p:pic>
      <p:pic>
        <p:nvPicPr>
          <p:cNvPr id="5" name="Picture 4">
            <a:extLst>
              <a:ext uri="{FF2B5EF4-FFF2-40B4-BE49-F238E27FC236}">
                <a16:creationId xmlns:a16="http://schemas.microsoft.com/office/drawing/2014/main" id="{8874A123-4BE4-6B03-6D04-28BF85054CCC}"/>
              </a:ext>
            </a:extLst>
          </p:cNvPr>
          <p:cNvPicPr>
            <a:picLocks noChangeAspect="1"/>
          </p:cNvPicPr>
          <p:nvPr/>
        </p:nvPicPr>
        <p:blipFill rotWithShape="1">
          <a:blip r:embed="rId4"/>
          <a:srcRect l="3105" t="-487" r="10645" b="487"/>
          <a:stretch/>
        </p:blipFill>
        <p:spPr>
          <a:xfrm>
            <a:off x="5691808" y="1029938"/>
            <a:ext cx="6500192" cy="5439852"/>
          </a:xfrm>
          <a:prstGeom prst="rect">
            <a:avLst/>
          </a:prstGeom>
          <a:ln>
            <a:solidFill>
              <a:schemeClr val="tx1"/>
            </a:solidFill>
          </a:ln>
        </p:spPr>
      </p:pic>
      <p:sp>
        <p:nvSpPr>
          <p:cNvPr id="6" name="Title 1">
            <a:extLst>
              <a:ext uri="{FF2B5EF4-FFF2-40B4-BE49-F238E27FC236}">
                <a16:creationId xmlns:a16="http://schemas.microsoft.com/office/drawing/2014/main" id="{AEE6F09C-BD20-652A-0A0B-72C0207AC665}"/>
              </a:ext>
            </a:extLst>
          </p:cNvPr>
          <p:cNvSpPr>
            <a:spLocks noGrp="1"/>
          </p:cNvSpPr>
          <p:nvPr>
            <p:ph type="title"/>
          </p:nvPr>
        </p:nvSpPr>
        <p:spPr>
          <a:xfrm>
            <a:off x="12193" y="135953"/>
            <a:ext cx="9877834" cy="654051"/>
          </a:xfr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10800000" scaled="1"/>
            <a:tileRect/>
          </a:gradFill>
        </p:spPr>
        <p:txBody>
          <a:bodyPr rtlCol="0">
            <a:normAutofit fontScale="90000"/>
          </a:bodyPr>
          <a:lstStyle/>
          <a:p>
            <a:r>
              <a:rPr lang="en-US" b="1" dirty="0"/>
              <a:t>  Complex </a:t>
            </a:r>
            <a:r>
              <a:rPr lang="nl-BE" b="1" dirty="0"/>
              <a:t>Example 1</a:t>
            </a:r>
            <a:endParaRPr lang="en-US" b="1" dirty="0"/>
          </a:p>
        </p:txBody>
      </p:sp>
      <p:sp>
        <p:nvSpPr>
          <p:cNvPr id="7" name="Right Brace 6">
            <a:extLst>
              <a:ext uri="{FF2B5EF4-FFF2-40B4-BE49-F238E27FC236}">
                <a16:creationId xmlns:a16="http://schemas.microsoft.com/office/drawing/2014/main" id="{775EEA51-053C-CA74-B7A0-E6AB933C958F}"/>
              </a:ext>
            </a:extLst>
          </p:cNvPr>
          <p:cNvSpPr/>
          <p:nvPr/>
        </p:nvSpPr>
        <p:spPr>
          <a:xfrm>
            <a:off x="4218705" y="1392523"/>
            <a:ext cx="252910" cy="125128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8" name="Right Brace 7">
            <a:extLst>
              <a:ext uri="{FF2B5EF4-FFF2-40B4-BE49-F238E27FC236}">
                <a16:creationId xmlns:a16="http://schemas.microsoft.com/office/drawing/2014/main" id="{E4507DBE-408F-8A14-1CCF-4110D036FC98}"/>
              </a:ext>
            </a:extLst>
          </p:cNvPr>
          <p:cNvSpPr/>
          <p:nvPr/>
        </p:nvSpPr>
        <p:spPr>
          <a:xfrm rot="10800000">
            <a:off x="123782" y="2890019"/>
            <a:ext cx="252911" cy="357803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9" name="TextBox 8">
            <a:extLst>
              <a:ext uri="{FF2B5EF4-FFF2-40B4-BE49-F238E27FC236}">
                <a16:creationId xmlns:a16="http://schemas.microsoft.com/office/drawing/2014/main" id="{52748531-49CB-900C-400E-FD6A2C46DBAE}"/>
              </a:ext>
            </a:extLst>
          </p:cNvPr>
          <p:cNvSpPr txBox="1"/>
          <p:nvPr/>
        </p:nvSpPr>
        <p:spPr>
          <a:xfrm>
            <a:off x="4345160" y="1624687"/>
            <a:ext cx="286475" cy="369332"/>
          </a:xfrm>
          <a:prstGeom prst="rect">
            <a:avLst/>
          </a:prstGeom>
          <a:noFill/>
        </p:spPr>
        <p:txBody>
          <a:bodyPr wrap="square" rtlCol="0">
            <a:spAutoFit/>
          </a:bodyPr>
          <a:lstStyle/>
          <a:p>
            <a:r>
              <a:rPr lang="en-US" dirty="0"/>
              <a:t>1</a:t>
            </a:r>
          </a:p>
        </p:txBody>
      </p:sp>
      <p:sp>
        <p:nvSpPr>
          <p:cNvPr id="10" name="TextBox 9">
            <a:extLst>
              <a:ext uri="{FF2B5EF4-FFF2-40B4-BE49-F238E27FC236}">
                <a16:creationId xmlns:a16="http://schemas.microsoft.com/office/drawing/2014/main" id="{A23BD3B0-3267-6621-4F27-FBFBC15A97FF}"/>
              </a:ext>
            </a:extLst>
          </p:cNvPr>
          <p:cNvSpPr txBox="1"/>
          <p:nvPr/>
        </p:nvSpPr>
        <p:spPr>
          <a:xfrm>
            <a:off x="256863" y="4309702"/>
            <a:ext cx="286475" cy="369332"/>
          </a:xfrm>
          <a:prstGeom prst="rect">
            <a:avLst/>
          </a:prstGeom>
          <a:noFill/>
        </p:spPr>
        <p:txBody>
          <a:bodyPr wrap="square" rtlCol="0">
            <a:spAutoFit/>
          </a:bodyPr>
          <a:lstStyle/>
          <a:p>
            <a:r>
              <a:rPr lang="en-US" dirty="0"/>
              <a:t>2</a:t>
            </a:r>
          </a:p>
        </p:txBody>
      </p:sp>
      <p:sp>
        <p:nvSpPr>
          <p:cNvPr id="11" name="Content Placeholder 2">
            <a:extLst>
              <a:ext uri="{FF2B5EF4-FFF2-40B4-BE49-F238E27FC236}">
                <a16:creationId xmlns:a16="http://schemas.microsoft.com/office/drawing/2014/main" id="{809A3646-4D4B-80E5-A3CD-5C27D3CED036}"/>
              </a:ext>
            </a:extLst>
          </p:cNvPr>
          <p:cNvSpPr txBox="1">
            <a:spLocks/>
          </p:cNvSpPr>
          <p:nvPr/>
        </p:nvSpPr>
        <p:spPr>
          <a:xfrm>
            <a:off x="12193" y="762912"/>
            <a:ext cx="3609209" cy="2923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Times New Roman" panose="02020603050405020304" pitchFamily="18" charset="0"/>
                <a:cs typeface="Times New Roman" panose="02020603050405020304" pitchFamily="18" charset="0"/>
              </a:rPr>
              <a:t>Diff for patch in upstream </a:t>
            </a:r>
            <a:endParaRPr lang="nl-NL" sz="1600" dirty="0">
              <a:latin typeface="Times New Roman" panose="02020603050405020304" pitchFamily="18" charset="0"/>
              <a:cs typeface="Times New Roman" panose="02020603050405020304" pitchFamily="18" charset="0"/>
            </a:endParaRPr>
          </a:p>
        </p:txBody>
      </p:sp>
      <p:sp>
        <p:nvSpPr>
          <p:cNvPr id="12" name="Content Placeholder 2">
            <a:extLst>
              <a:ext uri="{FF2B5EF4-FFF2-40B4-BE49-F238E27FC236}">
                <a16:creationId xmlns:a16="http://schemas.microsoft.com/office/drawing/2014/main" id="{D96E982D-D36A-9205-7354-4B1016B49311}"/>
              </a:ext>
            </a:extLst>
          </p:cNvPr>
          <p:cNvSpPr txBox="1">
            <a:spLocks/>
          </p:cNvSpPr>
          <p:nvPr/>
        </p:nvSpPr>
        <p:spPr>
          <a:xfrm>
            <a:off x="5691808" y="757439"/>
            <a:ext cx="4198219" cy="29237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dirty="0" err="1">
                <a:latin typeface="Courier New" panose="02070309020205020404" pitchFamily="49" charset="0"/>
                <a:cs typeface="Courier New" panose="02070309020205020404" pitchFamily="49" charset="0"/>
              </a:rPr>
              <a:t>Latest_commit</a:t>
            </a:r>
            <a:r>
              <a:rPr lang="en-US" sz="1600" dirty="0">
                <a:latin typeface="Times New Roman" panose="02020603050405020304" pitchFamily="18" charset="0"/>
                <a:cs typeface="Times New Roman" panose="02020603050405020304" pitchFamily="18" charset="0"/>
              </a:rPr>
              <a:t> snippet from divergent fork</a:t>
            </a:r>
            <a:endParaRPr lang="nl-NL" sz="1600" dirty="0">
              <a:latin typeface="Times New Roman" panose="02020603050405020304" pitchFamily="18" charset="0"/>
              <a:cs typeface="Times New Roman" panose="02020603050405020304" pitchFamily="18" charset="0"/>
            </a:endParaRPr>
          </a:p>
        </p:txBody>
      </p:sp>
      <p:sp>
        <p:nvSpPr>
          <p:cNvPr id="13" name="Content Placeholder 2">
            <a:extLst>
              <a:ext uri="{FF2B5EF4-FFF2-40B4-BE49-F238E27FC236}">
                <a16:creationId xmlns:a16="http://schemas.microsoft.com/office/drawing/2014/main" id="{096CF0F0-1113-F802-10F8-0D7C4F3D8BDA}"/>
              </a:ext>
            </a:extLst>
          </p:cNvPr>
          <p:cNvSpPr txBox="1">
            <a:spLocks/>
          </p:cNvSpPr>
          <p:nvPr/>
        </p:nvSpPr>
        <p:spPr>
          <a:xfrm>
            <a:off x="3725332" y="3240297"/>
            <a:ext cx="4179590" cy="569703"/>
          </a:xfrm>
          <a:prstGeom prst="rect">
            <a:avLst/>
          </a:prstGeom>
          <a:solidFill>
            <a:schemeClr val="tx1"/>
          </a:solidFill>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ln>
                  <a:solidFill>
                    <a:schemeClr val="bg1"/>
                  </a:solidFill>
                </a:ln>
                <a:solidFill>
                  <a:schemeClr val="bg1"/>
                </a:solidFill>
                <a:latin typeface="Times New Roman" panose="02020603050405020304" pitchFamily="18" charset="0"/>
                <a:cs typeface="Times New Roman" panose="02020603050405020304" pitchFamily="18" charset="0"/>
              </a:rPr>
              <a:t>Effort Duplication</a:t>
            </a:r>
            <a:endParaRPr lang="nl-NL" sz="3600" dirty="0">
              <a:ln>
                <a:solidFill>
                  <a:schemeClr val="bg1"/>
                </a:solidFill>
              </a:ln>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398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p:bldP spid="12" grpId="0"/>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pic>
        <p:nvPicPr>
          <p:cNvPr id="444" name="Google Shape;444;p23" title="Screenshot 2026-09-23 at 5.03.51 PM.png"/>
          <p:cNvPicPr preferRelativeResize="0"/>
          <p:nvPr/>
        </p:nvPicPr>
        <p:blipFill>
          <a:blip r:embed="rId3">
            <a:alphaModFix/>
          </a:blip>
          <a:stretch>
            <a:fillRect/>
          </a:stretch>
        </p:blipFill>
        <p:spPr>
          <a:xfrm>
            <a:off x="5691800" y="1202350"/>
            <a:ext cx="6347799" cy="5204076"/>
          </a:xfrm>
          <a:prstGeom prst="rect">
            <a:avLst/>
          </a:prstGeom>
          <a:noFill/>
          <a:ln>
            <a:noFill/>
          </a:ln>
        </p:spPr>
      </p:pic>
      <p:pic>
        <p:nvPicPr>
          <p:cNvPr id="445" name="Google Shape;445;p23" title="Screenshot 2026-09-23 at 5.00.07 PM.png"/>
          <p:cNvPicPr preferRelativeResize="0"/>
          <p:nvPr/>
        </p:nvPicPr>
        <p:blipFill>
          <a:blip r:embed="rId4">
            <a:alphaModFix/>
          </a:blip>
          <a:stretch>
            <a:fillRect/>
          </a:stretch>
        </p:blipFill>
        <p:spPr>
          <a:xfrm>
            <a:off x="256875" y="1093338"/>
            <a:ext cx="5218723" cy="5313077"/>
          </a:xfrm>
          <a:prstGeom prst="rect">
            <a:avLst/>
          </a:prstGeom>
          <a:noFill/>
          <a:ln>
            <a:noFill/>
          </a:ln>
        </p:spPr>
      </p:pic>
      <p:sp>
        <p:nvSpPr>
          <p:cNvPr id="446" name="Google Shape;446;p23"/>
          <p:cNvSpPr txBox="1">
            <a:spLocks noGrp="1"/>
          </p:cNvSpPr>
          <p:nvPr>
            <p:ph type="title"/>
          </p:nvPr>
        </p:nvSpPr>
        <p:spPr>
          <a:xfrm>
            <a:off x="12193" y="135953"/>
            <a:ext cx="9877800" cy="654000"/>
          </a:xfrm>
          <a:prstGeom prst="rect">
            <a:avLst/>
          </a:prstGeom>
          <a:gradFill>
            <a:gsLst>
              <a:gs pos="0">
                <a:srgbClr val="8C8C8C"/>
              </a:gs>
              <a:gs pos="50000">
                <a:srgbClr val="CACACA"/>
              </a:gs>
              <a:gs pos="100000">
                <a:srgbClr val="F2F2F2"/>
              </a:gs>
            </a:gsLst>
            <a:lin ang="10800025" scaled="0"/>
          </a:grad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dirty="0"/>
              <a:t>  Complex Example 2</a:t>
            </a:r>
            <a:endParaRPr b="1" dirty="0"/>
          </a:p>
        </p:txBody>
      </p:sp>
      <p:sp>
        <p:nvSpPr>
          <p:cNvPr id="447" name="Google Shape;447;p23"/>
          <p:cNvSpPr/>
          <p:nvPr/>
        </p:nvSpPr>
        <p:spPr>
          <a:xfrm>
            <a:off x="4218700" y="1392527"/>
            <a:ext cx="252900" cy="2344200"/>
          </a:xfrm>
          <a:prstGeom prst="rightBrace">
            <a:avLst>
              <a:gd name="adj1" fmla="val 8333"/>
              <a:gd name="adj2" fmla="val 50000"/>
            </a:avLst>
          </a:prstGeom>
          <a:noFill/>
          <a:ln w="28575" cap="flat" cmpd="sng">
            <a:solidFill>
              <a:srgbClr val="C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48" name="Google Shape;448;p23"/>
          <p:cNvSpPr/>
          <p:nvPr/>
        </p:nvSpPr>
        <p:spPr>
          <a:xfrm rot="10800000">
            <a:off x="339800" y="3736800"/>
            <a:ext cx="252900" cy="2733000"/>
          </a:xfrm>
          <a:prstGeom prst="rightBrace">
            <a:avLst>
              <a:gd name="adj1" fmla="val 8333"/>
              <a:gd name="adj2" fmla="val 50000"/>
            </a:avLst>
          </a:prstGeom>
          <a:noFill/>
          <a:ln w="28575" cap="flat" cmpd="sng">
            <a:solidFill>
              <a:srgbClr val="C0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49" name="Google Shape;449;p23"/>
          <p:cNvSpPr txBox="1"/>
          <p:nvPr/>
        </p:nvSpPr>
        <p:spPr>
          <a:xfrm>
            <a:off x="4345160" y="1624687"/>
            <a:ext cx="2865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alibri"/>
                <a:ea typeface="Calibri"/>
                <a:cs typeface="Calibri"/>
                <a:sym typeface="Calibri"/>
              </a:rPr>
              <a:t>1</a:t>
            </a:r>
            <a:endParaRPr>
              <a:solidFill>
                <a:srgbClr val="C00000"/>
              </a:solidFill>
            </a:endParaRPr>
          </a:p>
        </p:txBody>
      </p:sp>
      <p:sp>
        <p:nvSpPr>
          <p:cNvPr id="450" name="Google Shape;450;p23"/>
          <p:cNvSpPr txBox="1"/>
          <p:nvPr/>
        </p:nvSpPr>
        <p:spPr>
          <a:xfrm>
            <a:off x="256863" y="4309702"/>
            <a:ext cx="2865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alibri"/>
                <a:ea typeface="Calibri"/>
                <a:cs typeface="Calibri"/>
                <a:sym typeface="Calibri"/>
              </a:rPr>
              <a:t>2</a:t>
            </a:r>
            <a:endParaRPr>
              <a:solidFill>
                <a:srgbClr val="C00000"/>
              </a:solidFill>
            </a:endParaRPr>
          </a:p>
        </p:txBody>
      </p:sp>
      <p:sp>
        <p:nvSpPr>
          <p:cNvPr id="451" name="Google Shape;451;p23"/>
          <p:cNvSpPr txBox="1"/>
          <p:nvPr/>
        </p:nvSpPr>
        <p:spPr>
          <a:xfrm>
            <a:off x="12193" y="762912"/>
            <a:ext cx="3609300" cy="292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Diff for patch in upstream </a:t>
            </a:r>
            <a:endParaRPr sz="1600">
              <a:solidFill>
                <a:schemeClr val="dk1"/>
              </a:solidFill>
              <a:latin typeface="Times New Roman"/>
              <a:ea typeface="Times New Roman"/>
              <a:cs typeface="Times New Roman"/>
              <a:sym typeface="Times New Roman"/>
            </a:endParaRPr>
          </a:p>
        </p:txBody>
      </p:sp>
      <p:sp>
        <p:nvSpPr>
          <p:cNvPr id="452" name="Google Shape;452;p23"/>
          <p:cNvSpPr txBox="1"/>
          <p:nvPr/>
        </p:nvSpPr>
        <p:spPr>
          <a:xfrm>
            <a:off x="5691808" y="757439"/>
            <a:ext cx="4198200" cy="292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Courier New"/>
                <a:ea typeface="Courier New"/>
                <a:cs typeface="Courier New"/>
                <a:sym typeface="Courier New"/>
              </a:rPr>
              <a:t>Latest_commit</a:t>
            </a:r>
            <a:r>
              <a:rPr lang="en-US" sz="1600">
                <a:solidFill>
                  <a:schemeClr val="dk1"/>
                </a:solidFill>
                <a:latin typeface="Times New Roman"/>
                <a:ea typeface="Times New Roman"/>
                <a:cs typeface="Times New Roman"/>
                <a:sym typeface="Times New Roman"/>
              </a:rPr>
              <a:t> snippet from divergent fork</a:t>
            </a:r>
            <a:endParaRPr sz="1600">
              <a:solidFill>
                <a:schemeClr val="dk1"/>
              </a:solidFill>
              <a:latin typeface="Times New Roman"/>
              <a:ea typeface="Times New Roman"/>
              <a:cs typeface="Times New Roman"/>
              <a:sym typeface="Times New Roman"/>
            </a:endParaRPr>
          </a:p>
        </p:txBody>
      </p:sp>
      <p:sp>
        <p:nvSpPr>
          <p:cNvPr id="453" name="Google Shape;453;p23"/>
          <p:cNvSpPr txBox="1"/>
          <p:nvPr/>
        </p:nvSpPr>
        <p:spPr>
          <a:xfrm>
            <a:off x="3621507" y="2419497"/>
            <a:ext cx="4179600" cy="5697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3600"/>
              <a:buFont typeface="Arial"/>
              <a:buNone/>
            </a:pPr>
            <a:r>
              <a:rPr lang="en-US" sz="3600">
                <a:solidFill>
                  <a:schemeClr val="lt1"/>
                </a:solidFill>
                <a:latin typeface="Times New Roman"/>
                <a:ea typeface="Times New Roman"/>
                <a:cs typeface="Times New Roman"/>
                <a:sym typeface="Times New Roman"/>
              </a:rPr>
              <a:t>Missed Opportunity</a:t>
            </a:r>
            <a:endParaRPr sz="3600">
              <a:solidFill>
                <a:schemeClr val="lt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5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657174"/>
          </a:solidFill>
          <a:ln w="12700">
            <a:solidFill>
              <a:srgbClr val="657174"/>
            </a:solidFill>
            <a:prstDash val="solid"/>
          </a:ln>
        </p:spPr>
        <p:txBody>
          <a:bodyPr/>
          <a:lstStyle/>
          <a:p>
            <a:endParaRPr lang="en-US"/>
          </a:p>
        </p:txBody>
      </p:sp>
      <p:sp>
        <p:nvSpPr>
          <p:cNvPr id="3" name="Text 1"/>
          <p:cNvSpPr/>
          <p:nvPr/>
        </p:nvSpPr>
        <p:spPr>
          <a:xfrm>
            <a:off x="502920" y="320040"/>
            <a:ext cx="11155680" cy="502920"/>
          </a:xfrm>
          <a:prstGeom prst="rect">
            <a:avLst/>
          </a:prstGeom>
          <a:noFill/>
          <a:ln/>
        </p:spPr>
        <p:txBody>
          <a:bodyPr wrap="square" lIns="0" tIns="0" rIns="0" bIns="0" rtlCol="0" anchor="ctr"/>
          <a:lstStyle/>
          <a:p>
            <a:pPr marL="0" indent="0">
              <a:buNone/>
            </a:pPr>
            <a:r>
              <a:rPr lang="en-US" sz="2800" b="1" dirty="0">
                <a:solidFill>
                  <a:srgbClr val="111827"/>
                </a:solidFill>
                <a:latin typeface="Aptos Display" pitchFamily="34" charset="0"/>
                <a:ea typeface="Aptos Display" pitchFamily="34" charset="-122"/>
                <a:cs typeface="Aptos Display" pitchFamily="34" charset="-120"/>
              </a:rPr>
              <a:t>From Manual Inspection to Automated Detection</a:t>
            </a:r>
            <a:endParaRPr lang="en-US" sz="2800" dirty="0"/>
          </a:p>
        </p:txBody>
      </p:sp>
      <p:sp>
        <p:nvSpPr>
          <p:cNvPr id="4" name="Text 2"/>
          <p:cNvSpPr/>
          <p:nvPr/>
        </p:nvSpPr>
        <p:spPr>
          <a:xfrm>
            <a:off x="530352" y="960120"/>
            <a:ext cx="11018520" cy="548640"/>
          </a:xfrm>
          <a:prstGeom prst="rect">
            <a:avLst/>
          </a:prstGeom>
          <a:noFill/>
          <a:ln/>
        </p:spPr>
        <p:txBody>
          <a:bodyPr wrap="square" lIns="254" tIns="254" rIns="254" bIns="254" rtlCol="0" anchor="ctr"/>
          <a:lstStyle/>
          <a:p>
            <a:pPr marL="0" indent="0">
              <a:buNone/>
            </a:pPr>
            <a:r>
              <a:rPr lang="en-US" sz="1800" dirty="0">
                <a:solidFill>
                  <a:srgbClr val="374151"/>
                </a:solidFill>
              </a:rPr>
              <a:t>Simple MOs may be recognizable by inspection. As patches and variants become larger and more complex, identifying them manually becomes difficult.</a:t>
            </a:r>
            <a:endParaRPr lang="en-US" sz="1800" dirty="0"/>
          </a:p>
        </p:txBody>
      </p:sp>
      <p:sp>
        <p:nvSpPr>
          <p:cNvPr id="5" name="Shape 3"/>
          <p:cNvSpPr/>
          <p:nvPr/>
        </p:nvSpPr>
        <p:spPr>
          <a:xfrm>
            <a:off x="594360" y="1874520"/>
            <a:ext cx="3154680" cy="2880360"/>
          </a:xfrm>
          <a:prstGeom prst="roundRect">
            <a:avLst>
              <a:gd name="adj" fmla="val 2540"/>
            </a:avLst>
          </a:prstGeom>
          <a:solidFill>
            <a:srgbClr val="FFFFFF"/>
          </a:solidFill>
          <a:ln w="15240">
            <a:solidFill>
              <a:srgbClr val="1401FF"/>
            </a:solidFill>
            <a:prstDash val="solid"/>
          </a:ln>
          <a:effectLst>
            <a:outerShdw blurRad="19050" dist="6350" dir="2700000" algn="bl" rotWithShape="0">
              <a:srgbClr val="000000">
                <a:alpha val="12000"/>
              </a:srgbClr>
            </a:outerShdw>
          </a:effectLst>
        </p:spPr>
        <p:txBody>
          <a:bodyPr/>
          <a:lstStyle/>
          <a:p>
            <a:endParaRPr lang="en-US"/>
          </a:p>
        </p:txBody>
      </p:sp>
      <p:sp>
        <p:nvSpPr>
          <p:cNvPr id="6" name="Shape 4"/>
          <p:cNvSpPr/>
          <p:nvPr/>
        </p:nvSpPr>
        <p:spPr>
          <a:xfrm>
            <a:off x="795528" y="2084832"/>
            <a:ext cx="457200" cy="457200"/>
          </a:xfrm>
          <a:prstGeom prst="ellipse">
            <a:avLst/>
          </a:prstGeom>
          <a:solidFill>
            <a:srgbClr val="1401FF"/>
          </a:solidFill>
          <a:ln w="12700">
            <a:solidFill>
              <a:srgbClr val="657174"/>
            </a:solidFill>
            <a:prstDash val="solid"/>
          </a:ln>
        </p:spPr>
        <p:txBody>
          <a:bodyPr/>
          <a:lstStyle/>
          <a:p>
            <a:endParaRPr lang="en-US"/>
          </a:p>
        </p:txBody>
      </p:sp>
      <p:sp>
        <p:nvSpPr>
          <p:cNvPr id="7" name="Text 5"/>
          <p:cNvSpPr/>
          <p:nvPr/>
        </p:nvSpPr>
        <p:spPr>
          <a:xfrm>
            <a:off x="795528" y="2157984"/>
            <a:ext cx="457200" cy="18288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8" name="Text 6"/>
          <p:cNvSpPr/>
          <p:nvPr/>
        </p:nvSpPr>
        <p:spPr>
          <a:xfrm>
            <a:off x="1371600" y="2057400"/>
            <a:ext cx="2057400" cy="411480"/>
          </a:xfrm>
          <a:prstGeom prst="rect">
            <a:avLst/>
          </a:prstGeom>
          <a:noFill/>
          <a:ln/>
        </p:spPr>
        <p:txBody>
          <a:bodyPr wrap="square" lIns="0" tIns="0" rIns="0" bIns="0" rtlCol="0" anchor="ctr"/>
          <a:lstStyle/>
          <a:p>
            <a:pPr marL="0" indent="0">
              <a:buNone/>
            </a:pPr>
            <a:r>
              <a:rPr lang="en-US" sz="2500" b="1" dirty="0">
                <a:solidFill>
                  <a:srgbClr val="111827"/>
                </a:solidFill>
              </a:rPr>
              <a:t>PaReco</a:t>
            </a:r>
            <a:endParaRPr lang="en-US" sz="2500" dirty="0"/>
          </a:p>
        </p:txBody>
      </p:sp>
      <p:sp>
        <p:nvSpPr>
          <p:cNvPr id="9" name="Text 7"/>
          <p:cNvSpPr/>
          <p:nvPr/>
        </p:nvSpPr>
        <p:spPr>
          <a:xfrm>
            <a:off x="822960" y="2788920"/>
            <a:ext cx="2697480" cy="502920"/>
          </a:xfrm>
          <a:prstGeom prst="rect">
            <a:avLst/>
          </a:prstGeom>
          <a:noFill/>
          <a:ln/>
        </p:spPr>
        <p:txBody>
          <a:bodyPr wrap="square" lIns="0" tIns="0" rIns="0" bIns="0" rtlCol="0" anchor="ctr"/>
          <a:lstStyle/>
          <a:p>
            <a:pPr marL="0" indent="0" algn="ctr">
              <a:buNone/>
            </a:pPr>
            <a:r>
              <a:rPr lang="en-US" sz="1700" b="1" dirty="0">
                <a:solidFill>
                  <a:srgbClr val="374151"/>
                </a:solidFill>
              </a:rPr>
              <a:t>Detect missed opportunities</a:t>
            </a:r>
            <a:endParaRPr lang="en-US" sz="1700" dirty="0"/>
          </a:p>
        </p:txBody>
      </p:sp>
      <p:sp>
        <p:nvSpPr>
          <p:cNvPr id="10" name="Text 8"/>
          <p:cNvSpPr/>
          <p:nvPr/>
        </p:nvSpPr>
        <p:spPr>
          <a:xfrm>
            <a:off x="850392" y="3456432"/>
            <a:ext cx="2651760" cy="914400"/>
          </a:xfrm>
          <a:prstGeom prst="rect">
            <a:avLst/>
          </a:prstGeom>
          <a:noFill/>
          <a:ln/>
        </p:spPr>
        <p:txBody>
          <a:bodyPr wrap="square" lIns="381" tIns="381" rIns="381" bIns="381" rtlCol="0" anchor="ctr"/>
          <a:lstStyle/>
          <a:p>
            <a:pPr marL="0" indent="0" algn="ctr">
              <a:buNone/>
            </a:pPr>
            <a:r>
              <a:rPr lang="en-US" sz="1550" dirty="0">
                <a:solidFill>
                  <a:srgbClr val="4B5563"/>
                </a:solidFill>
              </a:rPr>
              <a:t>Finds patches present in one variant that may be missing from a divergent variant.</a:t>
            </a:r>
            <a:endParaRPr lang="en-US" sz="1550" dirty="0"/>
          </a:p>
        </p:txBody>
      </p:sp>
      <p:sp>
        <p:nvSpPr>
          <p:cNvPr id="11" name="Shape 9"/>
          <p:cNvSpPr/>
          <p:nvPr/>
        </p:nvSpPr>
        <p:spPr>
          <a:xfrm>
            <a:off x="4315968" y="1874520"/>
            <a:ext cx="3154680" cy="2880360"/>
          </a:xfrm>
          <a:prstGeom prst="roundRect">
            <a:avLst>
              <a:gd name="adj" fmla="val 2540"/>
            </a:avLst>
          </a:prstGeom>
          <a:solidFill>
            <a:srgbClr val="FFFFFF"/>
          </a:solidFill>
          <a:ln w="15240">
            <a:solidFill>
              <a:srgbClr val="1401FF"/>
            </a:solidFill>
            <a:prstDash val="solid"/>
          </a:ln>
          <a:effectLst>
            <a:outerShdw blurRad="19050" dist="6350" dir="2700000" algn="bl" rotWithShape="0">
              <a:srgbClr val="000000">
                <a:alpha val="12000"/>
              </a:srgbClr>
            </a:outerShdw>
          </a:effectLst>
        </p:spPr>
        <p:txBody>
          <a:bodyPr/>
          <a:lstStyle/>
          <a:p>
            <a:endParaRPr lang="en-US"/>
          </a:p>
        </p:txBody>
      </p:sp>
      <p:sp>
        <p:nvSpPr>
          <p:cNvPr id="12" name="Shape 10"/>
          <p:cNvSpPr/>
          <p:nvPr/>
        </p:nvSpPr>
        <p:spPr>
          <a:xfrm>
            <a:off x="4517136" y="2084832"/>
            <a:ext cx="457200" cy="457200"/>
          </a:xfrm>
          <a:prstGeom prst="ellipse">
            <a:avLst/>
          </a:prstGeom>
          <a:solidFill>
            <a:srgbClr val="1401FF"/>
          </a:solidFill>
          <a:ln w="12700">
            <a:solidFill>
              <a:srgbClr val="657174"/>
            </a:solidFill>
            <a:prstDash val="solid"/>
          </a:ln>
        </p:spPr>
        <p:txBody>
          <a:bodyPr/>
          <a:lstStyle/>
          <a:p>
            <a:endParaRPr lang="en-US"/>
          </a:p>
        </p:txBody>
      </p:sp>
      <p:sp>
        <p:nvSpPr>
          <p:cNvPr id="13" name="Text 11"/>
          <p:cNvSpPr/>
          <p:nvPr/>
        </p:nvSpPr>
        <p:spPr>
          <a:xfrm>
            <a:off x="4517136" y="2157984"/>
            <a:ext cx="457200" cy="18288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4" name="Text 12"/>
          <p:cNvSpPr/>
          <p:nvPr/>
        </p:nvSpPr>
        <p:spPr>
          <a:xfrm>
            <a:off x="5093208" y="2057400"/>
            <a:ext cx="2057400" cy="411480"/>
          </a:xfrm>
          <a:prstGeom prst="rect">
            <a:avLst/>
          </a:prstGeom>
          <a:noFill/>
          <a:ln/>
        </p:spPr>
        <p:txBody>
          <a:bodyPr wrap="square" lIns="0" tIns="0" rIns="0" bIns="0" rtlCol="0" anchor="ctr"/>
          <a:lstStyle/>
          <a:p>
            <a:pPr marL="0" indent="0">
              <a:buNone/>
            </a:pPr>
            <a:r>
              <a:rPr lang="en-US" sz="2500" b="1" dirty="0">
                <a:solidFill>
                  <a:srgbClr val="111827"/>
                </a:solidFill>
              </a:rPr>
              <a:t>GACPD</a:t>
            </a:r>
            <a:endParaRPr lang="en-US" sz="2500" dirty="0"/>
          </a:p>
        </p:txBody>
      </p:sp>
      <p:sp>
        <p:nvSpPr>
          <p:cNvPr id="15" name="Text 13"/>
          <p:cNvSpPr/>
          <p:nvPr/>
        </p:nvSpPr>
        <p:spPr>
          <a:xfrm>
            <a:off x="4544568" y="2788920"/>
            <a:ext cx="2697480" cy="502920"/>
          </a:xfrm>
          <a:prstGeom prst="rect">
            <a:avLst/>
          </a:prstGeom>
          <a:noFill/>
          <a:ln/>
        </p:spPr>
        <p:txBody>
          <a:bodyPr wrap="square" lIns="0" tIns="0" rIns="0" bIns="0" rtlCol="0" anchor="ctr"/>
          <a:lstStyle/>
          <a:p>
            <a:pPr marL="0" indent="0" algn="ctr">
              <a:buNone/>
            </a:pPr>
            <a:r>
              <a:rPr lang="en-US" sz="1700" b="1" dirty="0">
                <a:solidFill>
                  <a:srgbClr val="374151"/>
                </a:solidFill>
              </a:rPr>
              <a:t>Generalize detection</a:t>
            </a:r>
            <a:endParaRPr lang="en-US" sz="1700" dirty="0"/>
          </a:p>
        </p:txBody>
      </p:sp>
      <p:sp>
        <p:nvSpPr>
          <p:cNvPr id="16" name="Text 14"/>
          <p:cNvSpPr/>
          <p:nvPr/>
        </p:nvSpPr>
        <p:spPr>
          <a:xfrm>
            <a:off x="4572000" y="3456432"/>
            <a:ext cx="2651760" cy="914400"/>
          </a:xfrm>
          <a:prstGeom prst="rect">
            <a:avLst/>
          </a:prstGeom>
          <a:noFill/>
          <a:ln/>
        </p:spPr>
        <p:txBody>
          <a:bodyPr wrap="square" lIns="381" tIns="381" rIns="381" bIns="381" rtlCol="0" anchor="ctr"/>
          <a:lstStyle/>
          <a:p>
            <a:pPr marL="0" indent="0" algn="ctr">
              <a:buNone/>
            </a:pPr>
            <a:r>
              <a:rPr lang="en-US" sz="1550" dirty="0">
                <a:solidFill>
                  <a:srgbClr val="4B5563"/>
                </a:solidFill>
              </a:rPr>
              <a:t>Extends detection across programming languages and more complex code changes.</a:t>
            </a:r>
            <a:endParaRPr lang="en-US" sz="1550" dirty="0"/>
          </a:p>
        </p:txBody>
      </p:sp>
      <p:sp>
        <p:nvSpPr>
          <p:cNvPr id="17" name="Shape 15"/>
          <p:cNvSpPr/>
          <p:nvPr/>
        </p:nvSpPr>
        <p:spPr>
          <a:xfrm>
            <a:off x="8037576" y="1874520"/>
            <a:ext cx="3154680" cy="2880360"/>
          </a:xfrm>
          <a:prstGeom prst="roundRect">
            <a:avLst>
              <a:gd name="adj" fmla="val 2540"/>
            </a:avLst>
          </a:prstGeom>
          <a:solidFill>
            <a:srgbClr val="FFFFFF"/>
          </a:solidFill>
          <a:ln w="15240">
            <a:solidFill>
              <a:srgbClr val="1401FF"/>
            </a:solidFill>
            <a:prstDash val="solid"/>
          </a:ln>
          <a:effectLst>
            <a:outerShdw blurRad="19050" dist="6350" dir="2700000" algn="bl" rotWithShape="0">
              <a:srgbClr val="000000">
                <a:alpha val="12000"/>
              </a:srgbClr>
            </a:outerShdw>
          </a:effectLst>
        </p:spPr>
        <p:txBody>
          <a:bodyPr/>
          <a:lstStyle/>
          <a:p>
            <a:endParaRPr lang="en-US"/>
          </a:p>
        </p:txBody>
      </p:sp>
      <p:sp>
        <p:nvSpPr>
          <p:cNvPr id="18" name="Shape 16"/>
          <p:cNvSpPr/>
          <p:nvPr/>
        </p:nvSpPr>
        <p:spPr>
          <a:xfrm>
            <a:off x="8238744" y="2084832"/>
            <a:ext cx="457200" cy="457200"/>
          </a:xfrm>
          <a:prstGeom prst="ellipse">
            <a:avLst/>
          </a:prstGeom>
          <a:solidFill>
            <a:srgbClr val="1401FF"/>
          </a:solidFill>
          <a:ln w="12700">
            <a:solidFill>
              <a:srgbClr val="657174"/>
            </a:solidFill>
            <a:prstDash val="solid"/>
          </a:ln>
        </p:spPr>
        <p:txBody>
          <a:bodyPr/>
          <a:lstStyle/>
          <a:p>
            <a:endParaRPr lang="en-US"/>
          </a:p>
        </p:txBody>
      </p:sp>
      <p:sp>
        <p:nvSpPr>
          <p:cNvPr id="19" name="Text 17"/>
          <p:cNvSpPr/>
          <p:nvPr/>
        </p:nvSpPr>
        <p:spPr>
          <a:xfrm>
            <a:off x="8238744" y="2157984"/>
            <a:ext cx="457200" cy="18288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20" name="Text 18"/>
          <p:cNvSpPr/>
          <p:nvPr/>
        </p:nvSpPr>
        <p:spPr>
          <a:xfrm>
            <a:off x="8814816" y="2057400"/>
            <a:ext cx="2057400" cy="411480"/>
          </a:xfrm>
          <a:prstGeom prst="rect">
            <a:avLst/>
          </a:prstGeom>
          <a:noFill/>
          <a:ln/>
        </p:spPr>
        <p:txBody>
          <a:bodyPr wrap="square" lIns="0" tIns="0" rIns="0" bIns="0" rtlCol="0" anchor="ctr"/>
          <a:lstStyle/>
          <a:p>
            <a:pPr marL="0" indent="0">
              <a:buNone/>
            </a:pPr>
            <a:r>
              <a:rPr lang="en-US" sz="2500" b="1" dirty="0">
                <a:solidFill>
                  <a:srgbClr val="111827"/>
                </a:solidFill>
              </a:rPr>
              <a:t>MOVis</a:t>
            </a:r>
            <a:endParaRPr lang="en-US" sz="2500" dirty="0"/>
          </a:p>
        </p:txBody>
      </p:sp>
      <p:sp>
        <p:nvSpPr>
          <p:cNvPr id="21" name="Text 19"/>
          <p:cNvSpPr/>
          <p:nvPr/>
        </p:nvSpPr>
        <p:spPr>
          <a:xfrm>
            <a:off x="8266176" y="2788920"/>
            <a:ext cx="2697480" cy="502920"/>
          </a:xfrm>
          <a:prstGeom prst="rect">
            <a:avLst/>
          </a:prstGeom>
          <a:noFill/>
          <a:ln/>
        </p:spPr>
        <p:txBody>
          <a:bodyPr wrap="square" lIns="0" tIns="0" rIns="0" bIns="0" rtlCol="0" anchor="ctr"/>
          <a:lstStyle/>
          <a:p>
            <a:pPr marL="0" indent="0" algn="ctr">
              <a:buNone/>
            </a:pPr>
            <a:r>
              <a:rPr lang="en-US" sz="1700" b="1" dirty="0">
                <a:solidFill>
                  <a:srgbClr val="374151"/>
                </a:solidFill>
              </a:rPr>
              <a:t>Visualize and inspect changes</a:t>
            </a:r>
            <a:endParaRPr lang="en-US" sz="1700" dirty="0"/>
          </a:p>
        </p:txBody>
      </p:sp>
      <p:sp>
        <p:nvSpPr>
          <p:cNvPr id="22" name="Text 20"/>
          <p:cNvSpPr/>
          <p:nvPr/>
        </p:nvSpPr>
        <p:spPr>
          <a:xfrm>
            <a:off x="8293608" y="3456432"/>
            <a:ext cx="2651760" cy="914400"/>
          </a:xfrm>
          <a:prstGeom prst="rect">
            <a:avLst/>
          </a:prstGeom>
          <a:noFill/>
          <a:ln/>
        </p:spPr>
        <p:txBody>
          <a:bodyPr wrap="square" lIns="381" tIns="381" rIns="381" bIns="381" rtlCol="0" anchor="ctr"/>
          <a:lstStyle/>
          <a:p>
            <a:pPr marL="0" indent="0" algn="ctr">
              <a:buNone/>
            </a:pPr>
            <a:r>
              <a:rPr lang="en-US" sz="1550" dirty="0">
                <a:solidFill>
                  <a:srgbClr val="4B5563"/>
                </a:solidFill>
              </a:rPr>
              <a:t>Shows the patch alongside corresponding code in the divergent variant so developers can inspect the evidence.</a:t>
            </a:r>
            <a:endParaRPr lang="en-US" sz="1550" dirty="0"/>
          </a:p>
        </p:txBody>
      </p:sp>
      <p:sp>
        <p:nvSpPr>
          <p:cNvPr id="23" name="Shape 21"/>
          <p:cNvSpPr/>
          <p:nvPr/>
        </p:nvSpPr>
        <p:spPr>
          <a:xfrm>
            <a:off x="3822192" y="2880360"/>
            <a:ext cx="347472" cy="594360"/>
          </a:xfrm>
          <a:prstGeom prst="chevron">
            <a:avLst/>
          </a:prstGeom>
          <a:solidFill>
            <a:srgbClr val="1401FF"/>
          </a:solidFill>
          <a:ln w="12700">
            <a:solidFill>
              <a:srgbClr val="9CA3AF"/>
            </a:solidFill>
            <a:prstDash val="solid"/>
          </a:ln>
        </p:spPr>
        <p:txBody>
          <a:bodyPr/>
          <a:lstStyle/>
          <a:p>
            <a:endParaRPr lang="en-US"/>
          </a:p>
        </p:txBody>
      </p:sp>
      <p:sp>
        <p:nvSpPr>
          <p:cNvPr id="24" name="Shape 22"/>
          <p:cNvSpPr/>
          <p:nvPr/>
        </p:nvSpPr>
        <p:spPr>
          <a:xfrm>
            <a:off x="7543800" y="2880360"/>
            <a:ext cx="347472" cy="594360"/>
          </a:xfrm>
          <a:prstGeom prst="chevron">
            <a:avLst/>
          </a:prstGeom>
          <a:solidFill>
            <a:srgbClr val="1401FF"/>
          </a:solidFill>
          <a:ln w="12700">
            <a:solidFill>
              <a:srgbClr val="9CA3AF"/>
            </a:solidFill>
            <a:prstDash val="solid"/>
          </a:ln>
        </p:spPr>
        <p:txBody>
          <a:bodyPr/>
          <a:lstStyle/>
          <a:p>
            <a:endParaRPr lang="en-US"/>
          </a:p>
        </p:txBody>
      </p:sp>
      <p:sp>
        <p:nvSpPr>
          <p:cNvPr id="25" name="Shape 23"/>
          <p:cNvSpPr/>
          <p:nvPr/>
        </p:nvSpPr>
        <p:spPr>
          <a:xfrm>
            <a:off x="1051560" y="5230368"/>
            <a:ext cx="10058400" cy="822960"/>
          </a:xfrm>
          <a:prstGeom prst="roundRect">
            <a:avLst/>
          </a:prstGeom>
          <a:solidFill>
            <a:srgbClr val="EEF1F3"/>
          </a:solidFill>
          <a:ln w="19050">
            <a:solidFill>
              <a:srgbClr val="1401FF"/>
            </a:solidFill>
            <a:prstDash val="solid"/>
          </a:ln>
        </p:spPr>
        <p:txBody>
          <a:bodyPr/>
          <a:lstStyle/>
          <a:p>
            <a:endParaRPr lang="en-US"/>
          </a:p>
        </p:txBody>
      </p:sp>
      <p:sp>
        <p:nvSpPr>
          <p:cNvPr id="26" name="Text 24"/>
          <p:cNvSpPr/>
          <p:nvPr/>
        </p:nvSpPr>
        <p:spPr>
          <a:xfrm>
            <a:off x="1325880" y="5468112"/>
            <a:ext cx="9509760" cy="274320"/>
          </a:xfrm>
          <a:prstGeom prst="rect">
            <a:avLst/>
          </a:prstGeom>
          <a:noFill/>
          <a:ln/>
        </p:spPr>
        <p:txBody>
          <a:bodyPr wrap="square" lIns="0" tIns="0" rIns="0" bIns="0" rtlCol="0" anchor="ctr"/>
          <a:lstStyle/>
          <a:p>
            <a:pPr marL="0" indent="0" algn="ctr">
              <a:buNone/>
            </a:pPr>
            <a:r>
              <a:rPr lang="en-US" sz="1700" b="1" dirty="0">
                <a:solidFill>
                  <a:srgbClr val="263238"/>
                </a:solidFill>
              </a:rPr>
              <a:t>Research progression: </a:t>
            </a:r>
            <a:r>
              <a:rPr lang="en-US" sz="1700" dirty="0">
                <a:solidFill>
                  <a:srgbClr val="263238"/>
                </a:solidFill>
              </a:rPr>
              <a:t>detect the MO → generalize detection → help developers understand the evidence</a:t>
            </a:r>
            <a:endParaRPr lang="en-US" sz="1700" dirty="0"/>
          </a:p>
        </p:txBody>
      </p:sp>
      <p:pic>
        <p:nvPicPr>
          <p:cNvPr id="27" name="Picture 26">
            <a:extLst>
              <a:ext uri="{FF2B5EF4-FFF2-40B4-BE49-F238E27FC236}">
                <a16:creationId xmlns:a16="http://schemas.microsoft.com/office/drawing/2014/main" id="{20DC7A01-9910-30E6-5C7C-004BC28D4FEA}"/>
              </a:ext>
            </a:extLst>
          </p:cNvPr>
          <p:cNvPicPr>
            <a:picLocks noChangeAspect="1"/>
          </p:cNvPicPr>
          <p:nvPr/>
        </p:nvPicPr>
        <p:blipFill>
          <a:blip r:embed="rId3"/>
          <a:stretch>
            <a:fillRect/>
          </a:stretch>
        </p:blipFill>
        <p:spPr>
          <a:xfrm>
            <a:off x="10930270" y="48128"/>
            <a:ext cx="1136947" cy="7257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5F6B6F"/>
          </a:solidFill>
          <a:ln w="12700">
            <a:solidFill>
              <a:srgbClr val="5F6B6F"/>
            </a:solidFill>
            <a:prstDash val="solid"/>
          </a:ln>
        </p:spPr>
        <p:txBody>
          <a:bodyPr/>
          <a:lstStyle/>
          <a:p>
            <a:endParaRPr lang="en-US"/>
          </a:p>
        </p:txBody>
      </p:sp>
      <p:sp>
        <p:nvSpPr>
          <p:cNvPr id="3" name="Text 1"/>
          <p:cNvSpPr/>
          <p:nvPr/>
        </p:nvSpPr>
        <p:spPr>
          <a:xfrm>
            <a:off x="438912" y="274320"/>
            <a:ext cx="8046720" cy="411480"/>
          </a:xfrm>
          <a:prstGeom prst="rect">
            <a:avLst/>
          </a:prstGeom>
          <a:noFill/>
          <a:ln/>
        </p:spPr>
        <p:txBody>
          <a:bodyPr wrap="square" lIns="0" tIns="0" rIns="0" bIns="0" rtlCol="0" anchor="ctr"/>
          <a:lstStyle/>
          <a:p>
            <a:pPr marL="0" indent="0">
              <a:buNone/>
            </a:pPr>
            <a:r>
              <a:rPr lang="en-US" sz="3100" b="1" dirty="0">
                <a:solidFill>
                  <a:srgbClr val="111827"/>
                </a:solidFill>
                <a:latin typeface="Aptos Display" pitchFamily="34" charset="0"/>
                <a:ea typeface="Aptos Display" pitchFamily="34" charset="-122"/>
                <a:cs typeface="Aptos Display" pitchFamily="34" charset="-120"/>
              </a:rPr>
              <a:t>MOVis: inspecting the evidence</a:t>
            </a:r>
            <a:endParaRPr lang="en-US" sz="3100" dirty="0"/>
          </a:p>
        </p:txBody>
      </p:sp>
      <p:sp>
        <p:nvSpPr>
          <p:cNvPr id="4" name="Text 2"/>
          <p:cNvSpPr/>
          <p:nvPr/>
        </p:nvSpPr>
        <p:spPr>
          <a:xfrm>
            <a:off x="457200" y="758952"/>
            <a:ext cx="10607040" cy="320040"/>
          </a:xfrm>
          <a:prstGeom prst="rect">
            <a:avLst/>
          </a:prstGeom>
          <a:noFill/>
          <a:ln/>
        </p:spPr>
        <p:txBody>
          <a:bodyPr wrap="square" lIns="0" tIns="0" rIns="0" bIns="0" rtlCol="0" anchor="ctr"/>
          <a:lstStyle/>
          <a:p>
            <a:pPr marL="0" indent="0">
              <a:buNone/>
            </a:pPr>
            <a:r>
              <a:rPr lang="en-US" sz="1450" dirty="0">
                <a:solidFill>
                  <a:srgbClr val="374151"/>
                </a:solidFill>
                <a:latin typeface="Aptos" pitchFamily="34" charset="0"/>
                <a:ea typeface="Aptos" pitchFamily="34" charset="-122"/>
                <a:cs typeface="Aptos" pitchFamily="34" charset="-120"/>
              </a:rPr>
              <a:t>Detection finds a candidate; visualization helps developers decide whether the patch is really missing, duplicated, or partially present.</a:t>
            </a:r>
            <a:endParaRPr lang="en-US" sz="1450" dirty="0"/>
          </a:p>
        </p:txBody>
      </p:sp>
      <p:sp>
        <p:nvSpPr>
          <p:cNvPr id="5" name="Shape 3"/>
          <p:cNvSpPr/>
          <p:nvPr/>
        </p:nvSpPr>
        <p:spPr>
          <a:xfrm>
            <a:off x="411480" y="1216152"/>
            <a:ext cx="8549640" cy="5166360"/>
          </a:xfrm>
          <a:prstGeom prst="roundRect">
            <a:avLst>
              <a:gd name="adj" fmla="val 1416"/>
            </a:avLst>
          </a:prstGeom>
          <a:solidFill>
            <a:srgbClr val="FFFFFF"/>
          </a:solidFill>
          <a:ln w="12700">
            <a:solidFill>
              <a:srgbClr val="CDD3DA"/>
            </a:solidFill>
            <a:prstDash val="solid"/>
          </a:ln>
          <a:effectLst>
            <a:outerShdw blurRad="19050" dist="12700" dir="2700000" algn="bl" rotWithShape="0">
              <a:srgbClr val="000000">
                <a:alpha val="13000"/>
              </a:srgbClr>
            </a:outerShdw>
          </a:effectLst>
        </p:spPr>
        <p:txBody>
          <a:bodyPr/>
          <a:lstStyle/>
          <a:p>
            <a:endParaRPr lang="en-US"/>
          </a:p>
        </p:txBody>
      </p:sp>
      <p:sp>
        <p:nvSpPr>
          <p:cNvPr id="7" name="Shape 4"/>
          <p:cNvSpPr/>
          <p:nvPr/>
        </p:nvSpPr>
        <p:spPr>
          <a:xfrm>
            <a:off x="9189720" y="1216152"/>
            <a:ext cx="2606040" cy="5166360"/>
          </a:xfrm>
          <a:prstGeom prst="roundRect">
            <a:avLst>
              <a:gd name="adj" fmla="val 3509"/>
            </a:avLst>
          </a:prstGeom>
          <a:solidFill>
            <a:srgbClr val="FFFFFF"/>
          </a:solidFill>
          <a:ln w="12700">
            <a:solidFill>
              <a:srgbClr val="CDD3DA"/>
            </a:solidFill>
            <a:prstDash val="solid"/>
          </a:ln>
          <a:effectLst>
            <a:outerShdw blurRad="12700" dist="12700" dir="2700000" algn="bl" rotWithShape="0">
              <a:srgbClr val="000000">
                <a:alpha val="10000"/>
              </a:srgbClr>
            </a:outerShdw>
          </a:effectLst>
        </p:spPr>
        <p:txBody>
          <a:bodyPr/>
          <a:lstStyle/>
          <a:p>
            <a:endParaRPr lang="en-US"/>
          </a:p>
        </p:txBody>
      </p:sp>
      <p:sp>
        <p:nvSpPr>
          <p:cNvPr id="8" name="Text 5"/>
          <p:cNvSpPr/>
          <p:nvPr/>
        </p:nvSpPr>
        <p:spPr>
          <a:xfrm>
            <a:off x="9390888" y="1417320"/>
            <a:ext cx="2194560" cy="566928"/>
          </a:xfrm>
          <a:prstGeom prst="rect">
            <a:avLst/>
          </a:prstGeom>
          <a:noFill/>
          <a:ln/>
        </p:spPr>
        <p:txBody>
          <a:bodyPr wrap="square" lIns="0" tIns="0" rIns="0" bIns="0" rtlCol="0" anchor="ctr">
            <a:normAutofit lnSpcReduction="10000"/>
          </a:bodyPr>
          <a:lstStyle/>
          <a:p>
            <a:pPr marL="0" indent="0">
              <a:buNone/>
            </a:pPr>
            <a:r>
              <a:rPr lang="en-US" sz="1900" b="1" dirty="0">
                <a:solidFill>
                  <a:srgbClr val="111827"/>
                </a:solidFill>
                <a:latin typeface="Aptos Display" pitchFamily="34" charset="0"/>
                <a:ea typeface="Aptos Display" pitchFamily="34" charset="-122"/>
                <a:cs typeface="Aptos Display" pitchFamily="34" charset="-120"/>
              </a:rPr>
              <a:t>Read the view in</a:t>
            </a:r>
            <a:endParaRPr lang="en-US" sz="1900" dirty="0"/>
          </a:p>
          <a:p>
            <a:pPr marL="0" indent="0">
              <a:buNone/>
            </a:pPr>
            <a:r>
              <a:rPr lang="en-US" sz="1900" b="1" dirty="0">
                <a:solidFill>
                  <a:srgbClr val="111827"/>
                </a:solidFill>
                <a:latin typeface="Aptos Display" pitchFamily="34" charset="0"/>
                <a:ea typeface="Aptos Display" pitchFamily="34" charset="-122"/>
                <a:cs typeface="Aptos Display" pitchFamily="34" charset="-120"/>
              </a:rPr>
              <a:t>three passes</a:t>
            </a:r>
            <a:endParaRPr lang="en-US" sz="1900" dirty="0"/>
          </a:p>
        </p:txBody>
      </p:sp>
      <p:sp>
        <p:nvSpPr>
          <p:cNvPr id="9" name="Shape 6"/>
          <p:cNvSpPr/>
          <p:nvPr/>
        </p:nvSpPr>
        <p:spPr>
          <a:xfrm>
            <a:off x="9390888" y="2194560"/>
            <a:ext cx="384048" cy="384048"/>
          </a:xfrm>
          <a:prstGeom prst="ellipse">
            <a:avLst/>
          </a:prstGeom>
          <a:solidFill>
            <a:srgbClr val="5F6B6F"/>
          </a:solidFill>
          <a:ln w="12700">
            <a:solidFill>
              <a:srgbClr val="5F6B6F"/>
            </a:solidFill>
            <a:prstDash val="solid"/>
          </a:ln>
        </p:spPr>
        <p:txBody>
          <a:bodyPr/>
          <a:lstStyle/>
          <a:p>
            <a:endParaRPr lang="en-US"/>
          </a:p>
        </p:txBody>
      </p:sp>
      <p:sp>
        <p:nvSpPr>
          <p:cNvPr id="10" name="Text 7"/>
          <p:cNvSpPr/>
          <p:nvPr/>
        </p:nvSpPr>
        <p:spPr>
          <a:xfrm>
            <a:off x="9390888" y="2253996"/>
            <a:ext cx="384048" cy="20116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1" name="Text 8"/>
          <p:cNvSpPr/>
          <p:nvPr/>
        </p:nvSpPr>
        <p:spPr>
          <a:xfrm>
            <a:off x="9902952" y="2185416"/>
            <a:ext cx="1600200" cy="246888"/>
          </a:xfrm>
          <a:prstGeom prst="rect">
            <a:avLst/>
          </a:prstGeom>
          <a:noFill/>
          <a:ln/>
        </p:spPr>
        <p:txBody>
          <a:bodyPr wrap="square" lIns="0" tIns="0" rIns="0" bIns="0" rtlCol="0" anchor="ctr"/>
          <a:lstStyle/>
          <a:p>
            <a:pPr marL="0" indent="0">
              <a:buNone/>
            </a:pPr>
            <a:r>
              <a:rPr lang="en-US" sz="1360" b="1" dirty="0">
                <a:solidFill>
                  <a:srgbClr val="111827"/>
                </a:solidFill>
                <a:latin typeface="Aptos" pitchFamily="34" charset="0"/>
                <a:ea typeface="Aptos" pitchFamily="34" charset="-122"/>
                <a:cs typeface="Aptos" pitchFamily="34" charset="-120"/>
              </a:rPr>
              <a:t>Context</a:t>
            </a:r>
            <a:endParaRPr lang="en-US" sz="1360" dirty="0"/>
          </a:p>
        </p:txBody>
      </p:sp>
      <p:sp>
        <p:nvSpPr>
          <p:cNvPr id="12" name="Text 9"/>
          <p:cNvSpPr/>
          <p:nvPr/>
        </p:nvSpPr>
        <p:spPr>
          <a:xfrm>
            <a:off x="9902952" y="2468880"/>
            <a:ext cx="1645920" cy="512064"/>
          </a:xfrm>
          <a:prstGeom prst="rect">
            <a:avLst/>
          </a:prstGeom>
          <a:noFill/>
          <a:ln/>
        </p:spPr>
        <p:txBody>
          <a:bodyPr wrap="square" lIns="127" tIns="127" rIns="127" bIns="127" rtlCol="0" anchor="ctr">
            <a:normAutofit/>
          </a:bodyPr>
          <a:lstStyle/>
          <a:p>
            <a:pPr marL="0" indent="0">
              <a:buNone/>
            </a:pPr>
            <a:r>
              <a:rPr lang="en-US" sz="1080" dirty="0">
                <a:solidFill>
                  <a:srgbClr val="4B5563"/>
                </a:solidFill>
                <a:latin typeface="Aptos" pitchFamily="34" charset="0"/>
                <a:ea typeface="Aptos" pitchFamily="34" charset="-122"/>
                <a:cs typeface="Aptos" pitchFamily="34" charset="-120"/>
              </a:rPr>
              <a:t>PR number, title, classification, and result files.</a:t>
            </a:r>
            <a:endParaRPr lang="en-US" sz="1080" dirty="0"/>
          </a:p>
        </p:txBody>
      </p:sp>
      <p:sp>
        <p:nvSpPr>
          <p:cNvPr id="13" name="Shape 10"/>
          <p:cNvSpPr/>
          <p:nvPr/>
        </p:nvSpPr>
        <p:spPr>
          <a:xfrm>
            <a:off x="9390888" y="3246120"/>
            <a:ext cx="384048" cy="384048"/>
          </a:xfrm>
          <a:prstGeom prst="ellipse">
            <a:avLst/>
          </a:prstGeom>
          <a:solidFill>
            <a:srgbClr val="5F6B6F"/>
          </a:solidFill>
          <a:ln w="12700">
            <a:solidFill>
              <a:srgbClr val="5F6B6F"/>
            </a:solidFill>
            <a:prstDash val="solid"/>
          </a:ln>
        </p:spPr>
        <p:txBody>
          <a:bodyPr/>
          <a:lstStyle/>
          <a:p>
            <a:endParaRPr lang="en-US"/>
          </a:p>
        </p:txBody>
      </p:sp>
      <p:sp>
        <p:nvSpPr>
          <p:cNvPr id="14" name="Text 11"/>
          <p:cNvSpPr/>
          <p:nvPr/>
        </p:nvSpPr>
        <p:spPr>
          <a:xfrm>
            <a:off x="9390888" y="3305556"/>
            <a:ext cx="384048" cy="20116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5" name="Text 12"/>
          <p:cNvSpPr/>
          <p:nvPr/>
        </p:nvSpPr>
        <p:spPr>
          <a:xfrm>
            <a:off x="9902952" y="3236976"/>
            <a:ext cx="1600200" cy="246888"/>
          </a:xfrm>
          <a:prstGeom prst="rect">
            <a:avLst/>
          </a:prstGeom>
          <a:noFill/>
          <a:ln/>
        </p:spPr>
        <p:txBody>
          <a:bodyPr wrap="square" lIns="0" tIns="0" rIns="0" bIns="0" rtlCol="0" anchor="ctr"/>
          <a:lstStyle/>
          <a:p>
            <a:pPr marL="0" indent="0">
              <a:buNone/>
            </a:pPr>
            <a:r>
              <a:rPr lang="en-US" sz="1360" b="1" dirty="0">
                <a:solidFill>
                  <a:srgbClr val="111827"/>
                </a:solidFill>
                <a:latin typeface="Aptos" pitchFamily="34" charset="0"/>
                <a:ea typeface="Aptos" pitchFamily="34" charset="-122"/>
                <a:cs typeface="Aptos" pitchFamily="34" charset="-120"/>
              </a:rPr>
              <a:t>Source patch</a:t>
            </a:r>
            <a:endParaRPr lang="en-US" sz="1360" dirty="0"/>
          </a:p>
        </p:txBody>
      </p:sp>
      <p:sp>
        <p:nvSpPr>
          <p:cNvPr id="16" name="Text 13"/>
          <p:cNvSpPr/>
          <p:nvPr/>
        </p:nvSpPr>
        <p:spPr>
          <a:xfrm>
            <a:off x="9902952" y="3520440"/>
            <a:ext cx="1645920" cy="512064"/>
          </a:xfrm>
          <a:prstGeom prst="rect">
            <a:avLst/>
          </a:prstGeom>
          <a:noFill/>
          <a:ln/>
        </p:spPr>
        <p:txBody>
          <a:bodyPr wrap="square" lIns="127" tIns="127" rIns="127" bIns="127" rtlCol="0" anchor="ctr">
            <a:normAutofit/>
          </a:bodyPr>
          <a:lstStyle/>
          <a:p>
            <a:pPr marL="0" indent="0">
              <a:buNone/>
            </a:pPr>
            <a:r>
              <a:rPr lang="en-US" sz="1080" dirty="0">
                <a:solidFill>
                  <a:srgbClr val="4B5563"/>
                </a:solidFill>
                <a:latin typeface="Aptos" pitchFamily="34" charset="0"/>
                <a:ea typeface="Aptos" pitchFamily="34" charset="-122"/>
                <a:cs typeface="Aptos" pitchFamily="34" charset="-120"/>
              </a:rPr>
              <a:t>Changed hunks from the upstream patch.</a:t>
            </a:r>
            <a:endParaRPr lang="en-US" sz="1080" dirty="0"/>
          </a:p>
        </p:txBody>
      </p:sp>
      <p:sp>
        <p:nvSpPr>
          <p:cNvPr id="17" name="Shape 14"/>
          <p:cNvSpPr/>
          <p:nvPr/>
        </p:nvSpPr>
        <p:spPr>
          <a:xfrm>
            <a:off x="9390888" y="4297680"/>
            <a:ext cx="384048" cy="384048"/>
          </a:xfrm>
          <a:prstGeom prst="ellipse">
            <a:avLst/>
          </a:prstGeom>
          <a:solidFill>
            <a:srgbClr val="5F6B6F"/>
          </a:solidFill>
          <a:ln w="12700">
            <a:solidFill>
              <a:srgbClr val="5F6B6F"/>
            </a:solidFill>
            <a:prstDash val="solid"/>
          </a:ln>
        </p:spPr>
        <p:txBody>
          <a:bodyPr/>
          <a:lstStyle/>
          <a:p>
            <a:endParaRPr lang="en-US"/>
          </a:p>
        </p:txBody>
      </p:sp>
      <p:sp>
        <p:nvSpPr>
          <p:cNvPr id="18" name="Text 15"/>
          <p:cNvSpPr/>
          <p:nvPr/>
        </p:nvSpPr>
        <p:spPr>
          <a:xfrm>
            <a:off x="9390888" y="4357116"/>
            <a:ext cx="384048" cy="20116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9" name="Text 16"/>
          <p:cNvSpPr/>
          <p:nvPr/>
        </p:nvSpPr>
        <p:spPr>
          <a:xfrm>
            <a:off x="9902952" y="4288536"/>
            <a:ext cx="1600200" cy="246888"/>
          </a:xfrm>
          <a:prstGeom prst="rect">
            <a:avLst/>
          </a:prstGeom>
          <a:noFill/>
          <a:ln/>
        </p:spPr>
        <p:txBody>
          <a:bodyPr wrap="square" lIns="0" tIns="0" rIns="0" bIns="0" rtlCol="0" anchor="ctr"/>
          <a:lstStyle/>
          <a:p>
            <a:pPr marL="0" indent="0">
              <a:buNone/>
            </a:pPr>
            <a:r>
              <a:rPr lang="en-US" sz="1360" b="1" dirty="0">
                <a:solidFill>
                  <a:srgbClr val="111827"/>
                </a:solidFill>
                <a:latin typeface="Aptos" pitchFamily="34" charset="0"/>
                <a:ea typeface="Aptos" pitchFamily="34" charset="-122"/>
                <a:cs typeface="Aptos" pitchFamily="34" charset="-120"/>
              </a:rPr>
              <a:t>Divergent fork</a:t>
            </a:r>
            <a:endParaRPr lang="en-US" sz="1360" dirty="0"/>
          </a:p>
        </p:txBody>
      </p:sp>
      <p:sp>
        <p:nvSpPr>
          <p:cNvPr id="20" name="Text 17"/>
          <p:cNvSpPr/>
          <p:nvPr/>
        </p:nvSpPr>
        <p:spPr>
          <a:xfrm>
            <a:off x="9902952" y="4572000"/>
            <a:ext cx="1645920" cy="512064"/>
          </a:xfrm>
          <a:prstGeom prst="rect">
            <a:avLst/>
          </a:prstGeom>
          <a:noFill/>
          <a:ln/>
        </p:spPr>
        <p:txBody>
          <a:bodyPr wrap="square" lIns="127" tIns="127" rIns="127" bIns="127" rtlCol="0" anchor="ctr">
            <a:normAutofit/>
          </a:bodyPr>
          <a:lstStyle/>
          <a:p>
            <a:pPr marL="0" indent="0">
              <a:buNone/>
            </a:pPr>
            <a:r>
              <a:rPr lang="en-US" sz="1080" dirty="0">
                <a:solidFill>
                  <a:srgbClr val="4B5563"/>
                </a:solidFill>
                <a:latin typeface="Aptos" pitchFamily="34" charset="0"/>
                <a:ea typeface="Aptos" pitchFamily="34" charset="-122"/>
                <a:cs typeface="Aptos" pitchFamily="34" charset="-120"/>
              </a:rPr>
              <a:t>Corresponding target code shown beside the patch.</a:t>
            </a:r>
            <a:endParaRPr lang="en-US" sz="1080" dirty="0"/>
          </a:p>
        </p:txBody>
      </p:sp>
      <p:sp>
        <p:nvSpPr>
          <p:cNvPr id="21" name="Shape 18"/>
          <p:cNvSpPr/>
          <p:nvPr/>
        </p:nvSpPr>
        <p:spPr>
          <a:xfrm>
            <a:off x="9390888" y="5605272"/>
            <a:ext cx="2194560" cy="493776"/>
          </a:xfrm>
          <a:prstGeom prst="roundRect">
            <a:avLst>
              <a:gd name="adj" fmla="val 11111"/>
            </a:avLst>
          </a:prstGeom>
          <a:solidFill>
            <a:srgbClr val="EEF2F4"/>
          </a:solidFill>
          <a:ln w="9525">
            <a:solidFill>
              <a:srgbClr val="D5DCE3"/>
            </a:solidFill>
            <a:prstDash val="solid"/>
          </a:ln>
        </p:spPr>
        <p:txBody>
          <a:bodyPr/>
          <a:lstStyle/>
          <a:p>
            <a:endParaRPr lang="en-US"/>
          </a:p>
        </p:txBody>
      </p:sp>
      <p:sp>
        <p:nvSpPr>
          <p:cNvPr id="22" name="Text 19"/>
          <p:cNvSpPr/>
          <p:nvPr/>
        </p:nvSpPr>
        <p:spPr>
          <a:xfrm>
            <a:off x="9528048" y="5715000"/>
            <a:ext cx="1920240" cy="237744"/>
          </a:xfrm>
          <a:prstGeom prst="rect">
            <a:avLst/>
          </a:prstGeom>
          <a:noFill/>
          <a:ln/>
        </p:spPr>
        <p:txBody>
          <a:bodyPr wrap="square" lIns="0" tIns="0" rIns="0" bIns="0" rtlCol="0" anchor="ctr"/>
          <a:lstStyle/>
          <a:p>
            <a:pPr marL="0" indent="0" algn="ctr">
              <a:buNone/>
            </a:pPr>
            <a:r>
              <a:rPr lang="en-US" sz="1050" b="1" dirty="0">
                <a:solidFill>
                  <a:srgbClr val="263238"/>
                </a:solidFill>
                <a:latin typeface="Aptos" pitchFamily="34" charset="0"/>
                <a:ea typeface="Aptos" pitchFamily="34" charset="-122"/>
                <a:cs typeface="Aptos" pitchFamily="34" charset="-120"/>
              </a:rPr>
              <a:t>Goal: move from detection to developer understanding.</a:t>
            </a:r>
            <a:endParaRPr lang="en-US" sz="1050" dirty="0"/>
          </a:p>
        </p:txBody>
      </p:sp>
      <p:sp>
        <p:nvSpPr>
          <p:cNvPr id="23" name="Text 20"/>
          <p:cNvSpPr/>
          <p:nvPr/>
        </p:nvSpPr>
        <p:spPr>
          <a:xfrm>
            <a:off x="457200" y="6537960"/>
            <a:ext cx="8503920" cy="182880"/>
          </a:xfrm>
          <a:prstGeom prst="rect">
            <a:avLst/>
          </a:prstGeom>
          <a:noFill/>
          <a:ln/>
        </p:spPr>
        <p:txBody>
          <a:bodyPr wrap="square" lIns="0" tIns="0" rIns="0" bIns="0" rtlCol="0" anchor="ctr"/>
          <a:lstStyle/>
          <a:p>
            <a:pPr marL="0" indent="0">
              <a:buNone/>
            </a:pPr>
            <a:r>
              <a:rPr lang="en-US" sz="920" dirty="0">
                <a:solidFill>
                  <a:srgbClr val="6B7280"/>
                </a:solidFill>
                <a:latin typeface="Aptos" pitchFamily="34" charset="0"/>
                <a:ea typeface="Aptos" pitchFamily="34" charset="-122"/>
                <a:cs typeface="Aptos" pitchFamily="34" charset="-120"/>
              </a:rPr>
              <a:t>MOVis helps inspect why a candidate matters, not just whether a tool reported it.</a:t>
            </a:r>
            <a:endParaRPr lang="en-US" sz="920" dirty="0"/>
          </a:p>
        </p:txBody>
      </p:sp>
      <p:pic>
        <p:nvPicPr>
          <p:cNvPr id="25" name="Picture 24">
            <a:extLst>
              <a:ext uri="{FF2B5EF4-FFF2-40B4-BE49-F238E27FC236}">
                <a16:creationId xmlns:a16="http://schemas.microsoft.com/office/drawing/2014/main" id="{4AE2E42B-3161-FAC6-3477-8B3F32768F5F}"/>
              </a:ext>
            </a:extLst>
          </p:cNvPr>
          <p:cNvPicPr>
            <a:picLocks noChangeAspect="1"/>
          </p:cNvPicPr>
          <p:nvPr/>
        </p:nvPicPr>
        <p:blipFill>
          <a:blip r:embed="rId3"/>
          <a:stretch>
            <a:fillRect/>
          </a:stretch>
        </p:blipFill>
        <p:spPr>
          <a:xfrm>
            <a:off x="10930270" y="48128"/>
            <a:ext cx="1136947" cy="725711"/>
          </a:xfrm>
          <a:prstGeom prst="rect">
            <a:avLst/>
          </a:prstGeom>
        </p:spPr>
      </p:pic>
      <p:pic>
        <p:nvPicPr>
          <p:cNvPr id="26" name="Picture 25">
            <a:extLst>
              <a:ext uri="{FF2B5EF4-FFF2-40B4-BE49-F238E27FC236}">
                <a16:creationId xmlns:a16="http://schemas.microsoft.com/office/drawing/2014/main" id="{83000BAB-0E62-F73F-2D22-783EA99EB73B}"/>
              </a:ext>
            </a:extLst>
          </p:cNvPr>
          <p:cNvPicPr>
            <a:picLocks noChangeAspect="1"/>
          </p:cNvPicPr>
          <p:nvPr/>
        </p:nvPicPr>
        <p:blipFill>
          <a:blip r:embed="rId4"/>
          <a:stretch>
            <a:fillRect/>
          </a:stretch>
        </p:blipFill>
        <p:spPr>
          <a:xfrm>
            <a:off x="822960" y="1303028"/>
            <a:ext cx="7772400" cy="50108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E55A8-0FD1-5B08-ACE5-29DB77B622E0}"/>
            </a:ext>
          </a:extLst>
        </p:cNvPr>
        <p:cNvGrpSpPr/>
        <p:nvPr/>
      </p:nvGrpSpPr>
      <p:grpSpPr>
        <a:xfrm>
          <a:off x="0" y="0"/>
          <a:ext cx="0" cy="0"/>
          <a:chOff x="0" y="0"/>
          <a:chExt cx="0" cy="0"/>
        </a:xfrm>
      </p:grpSpPr>
      <p:cxnSp>
        <p:nvCxnSpPr>
          <p:cNvPr id="1094" name="Straight Connector 1093">
            <a:extLst>
              <a:ext uri="{FF2B5EF4-FFF2-40B4-BE49-F238E27FC236}">
                <a16:creationId xmlns:a16="http://schemas.microsoft.com/office/drawing/2014/main" id="{10BAA19B-D869-AB99-0852-2773ED22CABC}"/>
              </a:ext>
            </a:extLst>
          </p:cNvPr>
          <p:cNvCxnSpPr>
            <a:cxnSpLocks/>
            <a:stCxn id="15" idx="3"/>
          </p:cNvCxnSpPr>
          <p:nvPr/>
        </p:nvCxnSpPr>
        <p:spPr>
          <a:xfrm>
            <a:off x="1581665" y="4747115"/>
            <a:ext cx="1853482" cy="0"/>
          </a:xfrm>
          <a:prstGeom prst="line">
            <a:avLst/>
          </a:prstGeom>
          <a:ln w="762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070" name="Straight Connector 1069">
            <a:extLst>
              <a:ext uri="{FF2B5EF4-FFF2-40B4-BE49-F238E27FC236}">
                <a16:creationId xmlns:a16="http://schemas.microsoft.com/office/drawing/2014/main" id="{9D10BEBF-6C8C-6818-FCE9-46319C1DF971}"/>
              </a:ext>
            </a:extLst>
          </p:cNvPr>
          <p:cNvCxnSpPr>
            <a:cxnSpLocks/>
          </p:cNvCxnSpPr>
          <p:nvPr/>
        </p:nvCxnSpPr>
        <p:spPr>
          <a:xfrm>
            <a:off x="5999716" y="3000353"/>
            <a:ext cx="0" cy="194390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782E6450-E1D3-C909-93D5-C6EC32C73A18}"/>
              </a:ext>
            </a:extLst>
          </p:cNvPr>
          <p:cNvSpPr/>
          <p:nvPr/>
        </p:nvSpPr>
        <p:spPr>
          <a:xfrm>
            <a:off x="6425" y="-8907"/>
            <a:ext cx="12192000" cy="817582"/>
          </a:xfrm>
          <a:prstGeom prst="rect">
            <a:avLst/>
          </a:prstGeom>
          <a:gradFill flip="none" rotWithShape="1">
            <a:gsLst>
              <a:gs pos="0">
                <a:srgbClr val="65757C"/>
              </a:gs>
              <a:gs pos="42000">
                <a:srgbClr val="65757C"/>
              </a:gs>
              <a:gs pos="73000">
                <a:srgbClr val="A0A2A5"/>
              </a:gs>
              <a:gs pos="100000">
                <a:schemeClr val="bg2">
                  <a:lumMod val="9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dirty="0"/>
              <a:t> </a:t>
            </a:r>
            <a:r>
              <a:rPr lang="en-BE" sz="4000" dirty="0"/>
              <a:t>Finding the Missing Patch Is Only the First Step</a:t>
            </a:r>
            <a:endParaRPr lang="en-US" sz="4000" dirty="0"/>
          </a:p>
        </p:txBody>
      </p:sp>
      <p:cxnSp>
        <p:nvCxnSpPr>
          <p:cNvPr id="12" name="Straight Arrow Connector 11">
            <a:extLst>
              <a:ext uri="{FF2B5EF4-FFF2-40B4-BE49-F238E27FC236}">
                <a16:creationId xmlns:a16="http://schemas.microsoft.com/office/drawing/2014/main" id="{07C62B96-AEC2-052E-FF47-363EBAF99AE9}"/>
              </a:ext>
            </a:extLst>
          </p:cNvPr>
          <p:cNvCxnSpPr>
            <a:cxnSpLocks/>
          </p:cNvCxnSpPr>
          <p:nvPr/>
        </p:nvCxnSpPr>
        <p:spPr>
          <a:xfrm>
            <a:off x="1581665" y="3374289"/>
            <a:ext cx="10417830" cy="22372"/>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57C7311F-E40B-1F88-0611-4702A084D337}"/>
              </a:ext>
            </a:extLst>
          </p:cNvPr>
          <p:cNvCxnSpPr>
            <a:cxnSpLocks/>
          </p:cNvCxnSpPr>
          <p:nvPr/>
        </p:nvCxnSpPr>
        <p:spPr>
          <a:xfrm flipV="1">
            <a:off x="3429000" y="4622287"/>
            <a:ext cx="8662987" cy="125815"/>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DC2243E3-EEF7-78B2-8AE8-6124D0DB1107}"/>
              </a:ext>
            </a:extLst>
          </p:cNvPr>
          <p:cNvSpPr/>
          <p:nvPr/>
        </p:nvSpPr>
        <p:spPr>
          <a:xfrm>
            <a:off x="100013" y="3131401"/>
            <a:ext cx="1481652" cy="485775"/>
          </a:xfrm>
          <a:prstGeom prst="rect">
            <a:avLst/>
          </a:prstGeom>
          <a:solidFill>
            <a:schemeClr val="accent2">
              <a:lumMod val="20000"/>
              <a:lumOff val="80000"/>
            </a:schemeClr>
          </a:solidFill>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Source Variant</a:t>
            </a:r>
          </a:p>
        </p:txBody>
      </p:sp>
      <p:sp>
        <p:nvSpPr>
          <p:cNvPr id="15" name="Rectangle 14">
            <a:extLst>
              <a:ext uri="{FF2B5EF4-FFF2-40B4-BE49-F238E27FC236}">
                <a16:creationId xmlns:a16="http://schemas.microsoft.com/office/drawing/2014/main" id="{08F04FF6-EF30-E241-6F58-54067F582AC9}"/>
              </a:ext>
            </a:extLst>
          </p:cNvPr>
          <p:cNvSpPr/>
          <p:nvPr/>
        </p:nvSpPr>
        <p:spPr>
          <a:xfrm>
            <a:off x="100013" y="4504227"/>
            <a:ext cx="1481652" cy="485775"/>
          </a:xfrm>
          <a:prstGeom prst="rect">
            <a:avLst/>
          </a:prstGeom>
          <a:solidFill>
            <a:schemeClr val="accent2">
              <a:lumMod val="20000"/>
              <a:lumOff val="80000"/>
            </a:schemeClr>
          </a:solidFill>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Target Variant</a:t>
            </a:r>
          </a:p>
        </p:txBody>
      </p:sp>
      <p:sp>
        <p:nvSpPr>
          <p:cNvPr id="16" name="Oval 15">
            <a:extLst>
              <a:ext uri="{FF2B5EF4-FFF2-40B4-BE49-F238E27FC236}">
                <a16:creationId xmlns:a16="http://schemas.microsoft.com/office/drawing/2014/main" id="{0314DC7F-8654-6CB1-368B-2377134C551D}"/>
              </a:ext>
            </a:extLst>
          </p:cNvPr>
          <p:cNvSpPr/>
          <p:nvPr/>
        </p:nvSpPr>
        <p:spPr>
          <a:xfrm>
            <a:off x="1885952" y="3186272"/>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E8A30AC-CEE7-6AF0-7673-836D27AE03EF}"/>
              </a:ext>
            </a:extLst>
          </p:cNvPr>
          <p:cNvSpPr/>
          <p:nvPr/>
        </p:nvSpPr>
        <p:spPr>
          <a:xfrm>
            <a:off x="2376233" y="3186271"/>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88F80DA-A20C-6283-8D32-27083C4A4E4E}"/>
              </a:ext>
            </a:extLst>
          </p:cNvPr>
          <p:cNvSpPr/>
          <p:nvPr/>
        </p:nvSpPr>
        <p:spPr>
          <a:xfrm>
            <a:off x="2861750" y="3186272"/>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64935B59-A23B-F3F3-EC77-060B62A57D25}"/>
              </a:ext>
            </a:extLst>
          </p:cNvPr>
          <p:cNvSpPr/>
          <p:nvPr/>
        </p:nvSpPr>
        <p:spPr>
          <a:xfrm>
            <a:off x="1885952" y="4502626"/>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72642DD-0C4E-2810-9B7B-04BE70E989DC}"/>
              </a:ext>
            </a:extLst>
          </p:cNvPr>
          <p:cNvSpPr/>
          <p:nvPr/>
        </p:nvSpPr>
        <p:spPr>
          <a:xfrm>
            <a:off x="2376233" y="4508891"/>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EDD3D68-9AD5-E367-7F72-7674211EA535}"/>
              </a:ext>
            </a:extLst>
          </p:cNvPr>
          <p:cNvSpPr/>
          <p:nvPr/>
        </p:nvSpPr>
        <p:spPr>
          <a:xfrm>
            <a:off x="2861750" y="4523568"/>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114A0C81-AFC8-6A4C-AC80-2FF61631C322}"/>
              </a:ext>
            </a:extLst>
          </p:cNvPr>
          <p:cNvCxnSpPr>
            <a:cxnSpLocks/>
          </p:cNvCxnSpPr>
          <p:nvPr/>
        </p:nvCxnSpPr>
        <p:spPr>
          <a:xfrm>
            <a:off x="3429000" y="2989992"/>
            <a:ext cx="0" cy="194390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FEB3C7BE-FE05-63DC-0F92-91ABCC5685B8}"/>
              </a:ext>
            </a:extLst>
          </p:cNvPr>
          <p:cNvSpPr/>
          <p:nvPr/>
        </p:nvSpPr>
        <p:spPr>
          <a:xfrm>
            <a:off x="3658955" y="3186271"/>
            <a:ext cx="357186" cy="37603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0CE3EBC-1724-F5D6-F9E9-AB8B67143C52}"/>
              </a:ext>
            </a:extLst>
          </p:cNvPr>
          <p:cNvSpPr/>
          <p:nvPr/>
        </p:nvSpPr>
        <p:spPr>
          <a:xfrm>
            <a:off x="3658650" y="4502626"/>
            <a:ext cx="357186" cy="37603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C0A3C8A-7FC9-F89B-0BB9-597596EFAB07}"/>
              </a:ext>
            </a:extLst>
          </p:cNvPr>
          <p:cNvSpPr/>
          <p:nvPr/>
        </p:nvSpPr>
        <p:spPr>
          <a:xfrm>
            <a:off x="5457314" y="3200171"/>
            <a:ext cx="357186" cy="37603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A71D692-458F-0D06-6399-361036C3F6F4}"/>
              </a:ext>
            </a:extLst>
          </p:cNvPr>
          <p:cNvSpPr/>
          <p:nvPr/>
        </p:nvSpPr>
        <p:spPr>
          <a:xfrm>
            <a:off x="5457314" y="4471568"/>
            <a:ext cx="357186" cy="37603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64AA002B-6376-69A2-103B-0A30AE43B7D2}"/>
              </a:ext>
            </a:extLst>
          </p:cNvPr>
          <p:cNvSpPr/>
          <p:nvPr/>
        </p:nvSpPr>
        <p:spPr>
          <a:xfrm>
            <a:off x="4098134" y="3186270"/>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6A0F9AF-0104-4E73-25D0-F0A9DE406368}"/>
              </a:ext>
            </a:extLst>
          </p:cNvPr>
          <p:cNvSpPr/>
          <p:nvPr/>
        </p:nvSpPr>
        <p:spPr>
          <a:xfrm>
            <a:off x="4535511" y="3200171"/>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3A16561-1F4A-E4C4-4F76-81980D4A93BD}"/>
              </a:ext>
            </a:extLst>
          </p:cNvPr>
          <p:cNvSpPr/>
          <p:nvPr/>
        </p:nvSpPr>
        <p:spPr>
          <a:xfrm>
            <a:off x="4973661" y="3208646"/>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F205875-27D0-5859-9551-A7E57CA2DFFD}"/>
              </a:ext>
            </a:extLst>
          </p:cNvPr>
          <p:cNvSpPr/>
          <p:nvPr/>
        </p:nvSpPr>
        <p:spPr>
          <a:xfrm>
            <a:off x="4088718" y="4467390"/>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7529B72-A3A9-7833-5F9A-DCC7655A2189}"/>
              </a:ext>
            </a:extLst>
          </p:cNvPr>
          <p:cNvSpPr/>
          <p:nvPr/>
        </p:nvSpPr>
        <p:spPr>
          <a:xfrm>
            <a:off x="4538374" y="4467390"/>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3DC9AFF3-A57D-821B-A5AB-B2CA693B6394}"/>
              </a:ext>
            </a:extLst>
          </p:cNvPr>
          <p:cNvSpPr/>
          <p:nvPr/>
        </p:nvSpPr>
        <p:spPr>
          <a:xfrm>
            <a:off x="4962739" y="4471567"/>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5A21C9C-26D0-25DB-D774-B54B9FCB82DE}"/>
              </a:ext>
            </a:extLst>
          </p:cNvPr>
          <p:cNvSpPr/>
          <p:nvPr/>
        </p:nvSpPr>
        <p:spPr>
          <a:xfrm>
            <a:off x="6474222" y="3185447"/>
            <a:ext cx="357186" cy="376031"/>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EA06268-D7A2-0FA1-4B60-B3BD20BF2F24}"/>
              </a:ext>
            </a:extLst>
          </p:cNvPr>
          <p:cNvSpPr/>
          <p:nvPr/>
        </p:nvSpPr>
        <p:spPr>
          <a:xfrm>
            <a:off x="7461694" y="3184624"/>
            <a:ext cx="357186" cy="376031"/>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595747CC-E6AF-B5A6-B6F1-F74AA0669F99}"/>
              </a:ext>
            </a:extLst>
          </p:cNvPr>
          <p:cNvSpPr/>
          <p:nvPr/>
        </p:nvSpPr>
        <p:spPr>
          <a:xfrm>
            <a:off x="9356631" y="3200170"/>
            <a:ext cx="357186" cy="376031"/>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52F45C74-170A-9163-4BB4-761DE30F51BF}"/>
              </a:ext>
            </a:extLst>
          </p:cNvPr>
          <p:cNvSpPr/>
          <p:nvPr/>
        </p:nvSpPr>
        <p:spPr>
          <a:xfrm>
            <a:off x="10134665" y="3179311"/>
            <a:ext cx="357186" cy="376031"/>
          </a:xfrm>
          <a:prstGeom prst="ellipse">
            <a:avLst/>
          </a:prstGeom>
          <a:solidFill>
            <a:srgbClr val="C79504"/>
          </a:solidFill>
          <a:ln w="28575">
            <a:solidFill>
              <a:srgbClr val="A943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5AA8C886-7919-5C03-F4E4-B9B7967E683B}"/>
              </a:ext>
            </a:extLst>
          </p:cNvPr>
          <p:cNvCxnSpPr>
            <a:cxnSpLocks/>
          </p:cNvCxnSpPr>
          <p:nvPr/>
        </p:nvCxnSpPr>
        <p:spPr>
          <a:xfrm flipV="1">
            <a:off x="7925376" y="1933759"/>
            <a:ext cx="472030" cy="145442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413FBC8-2C7A-3D45-DA0C-6797BBFC5B4A}"/>
              </a:ext>
            </a:extLst>
          </p:cNvPr>
          <p:cNvCxnSpPr>
            <a:cxnSpLocks/>
          </p:cNvCxnSpPr>
          <p:nvPr/>
        </p:nvCxnSpPr>
        <p:spPr>
          <a:xfrm flipV="1">
            <a:off x="8397406" y="1933759"/>
            <a:ext cx="2427401" cy="6523"/>
          </a:xfrm>
          <a:prstGeom prst="line">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DAA37638-ABBE-F17D-5084-675575572918}"/>
              </a:ext>
            </a:extLst>
          </p:cNvPr>
          <p:cNvCxnSpPr>
            <a:cxnSpLocks/>
            <a:stCxn id="37" idx="0"/>
          </p:cNvCxnSpPr>
          <p:nvPr/>
        </p:nvCxnSpPr>
        <p:spPr>
          <a:xfrm flipV="1">
            <a:off x="10313258" y="1933759"/>
            <a:ext cx="0" cy="1245552"/>
          </a:xfrm>
          <a:prstGeom prst="line">
            <a:avLst/>
          </a:prstGeom>
          <a:ln w="38100">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41" name="Oval 40">
            <a:extLst>
              <a:ext uri="{FF2B5EF4-FFF2-40B4-BE49-F238E27FC236}">
                <a16:creationId xmlns:a16="http://schemas.microsoft.com/office/drawing/2014/main" id="{94E42755-DB06-73F9-CCCE-A90355868CD6}"/>
              </a:ext>
            </a:extLst>
          </p:cNvPr>
          <p:cNvSpPr/>
          <p:nvPr/>
        </p:nvSpPr>
        <p:spPr>
          <a:xfrm>
            <a:off x="8636321" y="1752266"/>
            <a:ext cx="357186" cy="376031"/>
          </a:xfrm>
          <a:prstGeom prst="ellipse">
            <a:avLst/>
          </a:prstGeom>
          <a:solidFill>
            <a:schemeClr val="accent5">
              <a:lumMod val="20000"/>
              <a:lumOff val="80000"/>
            </a:schemeClr>
          </a:solid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2EAC16BD-4C7E-8D32-6FDD-145F685AE070}"/>
              </a:ext>
            </a:extLst>
          </p:cNvPr>
          <p:cNvSpPr/>
          <p:nvPr/>
        </p:nvSpPr>
        <p:spPr>
          <a:xfrm>
            <a:off x="9620048" y="1730482"/>
            <a:ext cx="357186" cy="376031"/>
          </a:xfrm>
          <a:prstGeom prst="ellipse">
            <a:avLst/>
          </a:prstGeom>
          <a:solidFill>
            <a:schemeClr val="accent5">
              <a:lumMod val="20000"/>
              <a:lumOff val="80000"/>
            </a:schemeClr>
          </a:solidFill>
          <a:ln w="952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4A260B4D-4BCB-FCF9-229F-AD3B3E6068F7}"/>
              </a:ext>
            </a:extLst>
          </p:cNvPr>
          <p:cNvSpPr/>
          <p:nvPr/>
        </p:nvSpPr>
        <p:spPr>
          <a:xfrm>
            <a:off x="6196338" y="4480356"/>
            <a:ext cx="357186" cy="376031"/>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AE85368-C795-47D8-331E-20DAF7F77DA4}"/>
              </a:ext>
            </a:extLst>
          </p:cNvPr>
          <p:cNvSpPr/>
          <p:nvPr/>
        </p:nvSpPr>
        <p:spPr>
          <a:xfrm>
            <a:off x="6988873" y="4453802"/>
            <a:ext cx="357186" cy="376031"/>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54DEF33-E697-9E59-BF15-050D6090F51E}"/>
              </a:ext>
            </a:extLst>
          </p:cNvPr>
          <p:cNvSpPr/>
          <p:nvPr/>
        </p:nvSpPr>
        <p:spPr>
          <a:xfrm>
            <a:off x="8669549" y="4480435"/>
            <a:ext cx="357186" cy="376031"/>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99694A7A-F8A3-86C5-5715-3C2100F1021D}"/>
              </a:ext>
            </a:extLst>
          </p:cNvPr>
          <p:cNvSpPr/>
          <p:nvPr/>
        </p:nvSpPr>
        <p:spPr>
          <a:xfrm>
            <a:off x="10943129" y="4427139"/>
            <a:ext cx="357186" cy="376031"/>
          </a:xfrm>
          <a:prstGeom prst="ellipse">
            <a:avLst/>
          </a:prstGeom>
          <a:solidFill>
            <a:srgbClr val="FFC000"/>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85BA86A-BD91-91D6-D837-619427CDFD69}"/>
              </a:ext>
            </a:extLst>
          </p:cNvPr>
          <p:cNvSpPr/>
          <p:nvPr/>
        </p:nvSpPr>
        <p:spPr>
          <a:xfrm rot="5400000">
            <a:off x="9543992" y="2460345"/>
            <a:ext cx="1122018" cy="256011"/>
          </a:xfrm>
          <a:prstGeom prst="rect">
            <a:avLst/>
          </a:prstGeom>
          <a:solidFill>
            <a:srgbClr val="FFD28B"/>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pull request</a:t>
            </a:r>
          </a:p>
        </p:txBody>
      </p:sp>
      <p:cxnSp>
        <p:nvCxnSpPr>
          <p:cNvPr id="48" name="Straight Connector 47">
            <a:extLst>
              <a:ext uri="{FF2B5EF4-FFF2-40B4-BE49-F238E27FC236}">
                <a16:creationId xmlns:a16="http://schemas.microsoft.com/office/drawing/2014/main" id="{A7CB222E-D2F2-7414-4D09-69581D595B5D}"/>
              </a:ext>
            </a:extLst>
          </p:cNvPr>
          <p:cNvCxnSpPr>
            <a:stCxn id="16" idx="4"/>
            <a:endCxn id="19" idx="0"/>
          </p:cNvCxnSpPr>
          <p:nvPr/>
        </p:nvCxnSpPr>
        <p:spPr>
          <a:xfrm>
            <a:off x="2064545" y="3562303"/>
            <a:ext cx="0" cy="940323"/>
          </a:xfrm>
          <a:prstGeom prst="line">
            <a:avLst/>
          </a:prstGeom>
          <a:ln>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88F5BF7A-DEA6-24C9-E911-727ABD47D29C}"/>
              </a:ext>
            </a:extLst>
          </p:cNvPr>
          <p:cNvCxnSpPr>
            <a:cxnSpLocks/>
            <a:stCxn id="17" idx="4"/>
            <a:endCxn id="20" idx="0"/>
          </p:cNvCxnSpPr>
          <p:nvPr/>
        </p:nvCxnSpPr>
        <p:spPr>
          <a:xfrm>
            <a:off x="2554826" y="3562302"/>
            <a:ext cx="0" cy="946589"/>
          </a:xfrm>
          <a:prstGeom prst="line">
            <a:avLst/>
          </a:prstGeom>
          <a:ln>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26069D8-F497-622F-ACDB-DFF81E3A5330}"/>
              </a:ext>
            </a:extLst>
          </p:cNvPr>
          <p:cNvCxnSpPr>
            <a:cxnSpLocks/>
            <a:stCxn id="18" idx="4"/>
            <a:endCxn id="21" idx="0"/>
          </p:cNvCxnSpPr>
          <p:nvPr/>
        </p:nvCxnSpPr>
        <p:spPr>
          <a:xfrm>
            <a:off x="3040343" y="3562303"/>
            <a:ext cx="0" cy="961265"/>
          </a:xfrm>
          <a:prstGeom prst="line">
            <a:avLst/>
          </a:prstGeom>
          <a:ln>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26A22418-65F0-6D79-27E9-313E7A8F2F0C}"/>
              </a:ext>
            </a:extLst>
          </p:cNvPr>
          <p:cNvCxnSpPr>
            <a:cxnSpLocks/>
            <a:stCxn id="24" idx="4"/>
            <a:endCxn id="25" idx="0"/>
          </p:cNvCxnSpPr>
          <p:nvPr/>
        </p:nvCxnSpPr>
        <p:spPr>
          <a:xfrm flipH="1">
            <a:off x="3837243" y="3562302"/>
            <a:ext cx="305" cy="940324"/>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77153AC6-6007-EA66-B8B3-FA6DB0ECBE6A}"/>
              </a:ext>
            </a:extLst>
          </p:cNvPr>
          <p:cNvCxnSpPr>
            <a:cxnSpLocks/>
            <a:stCxn id="26" idx="4"/>
            <a:endCxn id="27" idx="0"/>
          </p:cNvCxnSpPr>
          <p:nvPr/>
        </p:nvCxnSpPr>
        <p:spPr>
          <a:xfrm>
            <a:off x="5635907" y="3576202"/>
            <a:ext cx="0" cy="895366"/>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421746BC-8417-663A-0DE6-AD66B30C8A24}"/>
              </a:ext>
            </a:extLst>
          </p:cNvPr>
          <p:cNvCxnSpPr>
            <a:cxnSpLocks/>
            <a:stCxn id="30" idx="4"/>
            <a:endCxn id="33" idx="0"/>
          </p:cNvCxnSpPr>
          <p:nvPr/>
        </p:nvCxnSpPr>
        <p:spPr>
          <a:xfrm flipH="1">
            <a:off x="5141332" y="3584677"/>
            <a:ext cx="10922" cy="886890"/>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3F2212C0-1846-A8B8-A0EE-614D4F901803}"/>
              </a:ext>
            </a:extLst>
          </p:cNvPr>
          <p:cNvCxnSpPr>
            <a:cxnSpLocks/>
            <a:stCxn id="32" idx="0"/>
            <a:endCxn id="29" idx="4"/>
          </p:cNvCxnSpPr>
          <p:nvPr/>
        </p:nvCxnSpPr>
        <p:spPr>
          <a:xfrm flipH="1" flipV="1">
            <a:off x="4714104" y="3576202"/>
            <a:ext cx="2863" cy="891188"/>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94E47B7A-0566-7931-56A5-4BCBAC4C169D}"/>
              </a:ext>
            </a:extLst>
          </p:cNvPr>
          <p:cNvCxnSpPr>
            <a:cxnSpLocks/>
            <a:stCxn id="31" idx="0"/>
            <a:endCxn id="28" idx="4"/>
          </p:cNvCxnSpPr>
          <p:nvPr/>
        </p:nvCxnSpPr>
        <p:spPr>
          <a:xfrm flipV="1">
            <a:off x="4267311" y="3562301"/>
            <a:ext cx="9416" cy="905089"/>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7C2C9595-4239-CB0D-E0BA-B56908D2B633}"/>
              </a:ext>
            </a:extLst>
          </p:cNvPr>
          <p:cNvSpPr/>
          <p:nvPr/>
        </p:nvSpPr>
        <p:spPr>
          <a:xfrm>
            <a:off x="9354658" y="3759099"/>
            <a:ext cx="1942192" cy="567214"/>
          </a:xfrm>
          <a:prstGeom prst="rect">
            <a:avLst/>
          </a:prstGeom>
          <a:solidFill>
            <a:srgbClr val="A9430E"/>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solidFill>
                  <a:schemeClr val="bg1"/>
                </a:solidFill>
              </a:rPr>
              <a:t>cherry-pick and apply to target</a:t>
            </a:r>
          </a:p>
        </p:txBody>
      </p:sp>
      <p:sp>
        <p:nvSpPr>
          <p:cNvPr id="57" name="Rectangle 56">
            <a:extLst>
              <a:ext uri="{FF2B5EF4-FFF2-40B4-BE49-F238E27FC236}">
                <a16:creationId xmlns:a16="http://schemas.microsoft.com/office/drawing/2014/main" id="{24567DD3-1DB1-9963-63F7-1A3E5C5F9427}"/>
              </a:ext>
            </a:extLst>
          </p:cNvPr>
          <p:cNvSpPr/>
          <p:nvPr/>
        </p:nvSpPr>
        <p:spPr>
          <a:xfrm>
            <a:off x="6611187" y="3774618"/>
            <a:ext cx="1481650" cy="430975"/>
          </a:xfrm>
          <a:prstGeom prst="rect">
            <a:avLst/>
          </a:prstGeom>
          <a:solidFill>
            <a:schemeClr val="bg1">
              <a:lumMod val="95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Unique commits</a:t>
            </a:r>
          </a:p>
        </p:txBody>
      </p:sp>
      <p:sp>
        <p:nvSpPr>
          <p:cNvPr id="58" name="Rectangle 57">
            <a:extLst>
              <a:ext uri="{FF2B5EF4-FFF2-40B4-BE49-F238E27FC236}">
                <a16:creationId xmlns:a16="http://schemas.microsoft.com/office/drawing/2014/main" id="{766CDF9A-05A2-C6E1-5B95-641DEF61D12E}"/>
              </a:ext>
            </a:extLst>
          </p:cNvPr>
          <p:cNvSpPr/>
          <p:nvPr/>
        </p:nvSpPr>
        <p:spPr>
          <a:xfrm>
            <a:off x="3982485" y="3777792"/>
            <a:ext cx="1478787" cy="422185"/>
          </a:xfrm>
          <a:prstGeom prst="rect">
            <a:avLst/>
          </a:prstGeom>
          <a:solidFill>
            <a:schemeClr val="bg1">
              <a:lumMod val="95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Synchronized commits</a:t>
            </a:r>
          </a:p>
        </p:txBody>
      </p:sp>
      <p:sp>
        <p:nvSpPr>
          <p:cNvPr id="59" name="Rectangle 58">
            <a:extLst>
              <a:ext uri="{FF2B5EF4-FFF2-40B4-BE49-F238E27FC236}">
                <a16:creationId xmlns:a16="http://schemas.microsoft.com/office/drawing/2014/main" id="{09D8338B-35B8-372D-292C-D15A4B06A90D}"/>
              </a:ext>
            </a:extLst>
          </p:cNvPr>
          <p:cNvSpPr/>
          <p:nvPr/>
        </p:nvSpPr>
        <p:spPr>
          <a:xfrm>
            <a:off x="1627678" y="3768038"/>
            <a:ext cx="1681143" cy="450252"/>
          </a:xfrm>
          <a:prstGeom prst="rect">
            <a:avLst/>
          </a:prstGeom>
          <a:solidFill>
            <a:schemeClr val="bg1">
              <a:lumMod val="95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Shared commits common codebase</a:t>
            </a:r>
          </a:p>
        </p:txBody>
      </p:sp>
      <p:pic>
        <p:nvPicPr>
          <p:cNvPr id="60" name="Picture 4">
            <a:extLst>
              <a:ext uri="{FF2B5EF4-FFF2-40B4-BE49-F238E27FC236}">
                <a16:creationId xmlns:a16="http://schemas.microsoft.com/office/drawing/2014/main" id="{0FF746FA-DE25-4165-78A9-387C6431D0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891" t="9462" r="31231" b="13390"/>
          <a:stretch>
            <a:fillRect/>
          </a:stretch>
        </p:blipFill>
        <p:spPr bwMode="auto">
          <a:xfrm>
            <a:off x="9976995" y="816392"/>
            <a:ext cx="871769" cy="1068406"/>
          </a:xfrm>
          <a:prstGeom prst="rect">
            <a:avLst/>
          </a:prstGeom>
          <a:noFill/>
          <a:extLst>
            <a:ext uri="{909E8E84-426E-40DD-AFC4-6F175D3DCCD1}">
              <a14:hiddenFill xmlns:a14="http://schemas.microsoft.com/office/drawing/2010/main">
                <a:solidFill>
                  <a:srgbClr val="FFFFFF"/>
                </a:solidFill>
              </a14:hiddenFill>
            </a:ext>
          </a:extLst>
        </p:spPr>
      </p:pic>
      <p:grpSp>
        <p:nvGrpSpPr>
          <p:cNvPr id="1073" name="Group 1072">
            <a:extLst>
              <a:ext uri="{FF2B5EF4-FFF2-40B4-BE49-F238E27FC236}">
                <a16:creationId xmlns:a16="http://schemas.microsoft.com/office/drawing/2014/main" id="{8D087FF1-1496-939B-C6F7-6151DB8DF29C}"/>
              </a:ext>
            </a:extLst>
          </p:cNvPr>
          <p:cNvGrpSpPr/>
          <p:nvPr/>
        </p:nvGrpSpPr>
        <p:grpSpPr>
          <a:xfrm>
            <a:off x="6762785" y="1828514"/>
            <a:ext cx="1397817" cy="1324248"/>
            <a:chOff x="6762785" y="1828514"/>
            <a:chExt cx="1397817" cy="1324248"/>
          </a:xfrm>
        </p:grpSpPr>
        <p:pic>
          <p:nvPicPr>
            <p:cNvPr id="61" name="Picture 6">
              <a:extLst>
                <a:ext uri="{FF2B5EF4-FFF2-40B4-BE49-F238E27FC236}">
                  <a16:creationId xmlns:a16="http://schemas.microsoft.com/office/drawing/2014/main" id="{A566876B-97F6-CB8A-B1C3-40E065CDBC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785" y="1828514"/>
              <a:ext cx="1397817" cy="1324248"/>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8">
              <a:extLst>
                <a:ext uri="{FF2B5EF4-FFF2-40B4-BE49-F238E27FC236}">
                  <a16:creationId xmlns:a16="http://schemas.microsoft.com/office/drawing/2014/main" id="{E7F1192E-FE36-5CB9-BC93-542427EFE9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0649" y="2383678"/>
              <a:ext cx="692854" cy="692854"/>
            </a:xfrm>
            <a:prstGeom prst="rect">
              <a:avLst/>
            </a:prstGeom>
            <a:noFill/>
            <a:extLst>
              <a:ext uri="{909E8E84-426E-40DD-AFC4-6F175D3DCCD1}">
                <a14:hiddenFill xmlns:a14="http://schemas.microsoft.com/office/drawing/2010/main">
                  <a:solidFill>
                    <a:srgbClr val="FFFFFF"/>
                  </a:solidFill>
                </a14:hiddenFill>
              </a:ext>
            </a:extLst>
          </p:spPr>
        </p:pic>
      </p:grpSp>
      <p:sp>
        <p:nvSpPr>
          <p:cNvPr id="63" name="Rectangle 62">
            <a:extLst>
              <a:ext uri="{FF2B5EF4-FFF2-40B4-BE49-F238E27FC236}">
                <a16:creationId xmlns:a16="http://schemas.microsoft.com/office/drawing/2014/main" id="{7AD4874F-DF5A-167A-5A4A-8DBCA29178F5}"/>
              </a:ext>
            </a:extLst>
          </p:cNvPr>
          <p:cNvSpPr/>
          <p:nvPr/>
        </p:nvSpPr>
        <p:spPr>
          <a:xfrm>
            <a:off x="8344710" y="1414668"/>
            <a:ext cx="1494122" cy="272282"/>
          </a:xfrm>
          <a:prstGeom prst="rect">
            <a:avLst/>
          </a:prstGeom>
          <a:solidFill>
            <a:srgbClr val="FFD28B"/>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Bug fixing branch</a:t>
            </a:r>
          </a:p>
        </p:txBody>
      </p:sp>
      <p:sp>
        <p:nvSpPr>
          <p:cNvPr id="1024" name="Rectangle 1023">
            <a:extLst>
              <a:ext uri="{FF2B5EF4-FFF2-40B4-BE49-F238E27FC236}">
                <a16:creationId xmlns:a16="http://schemas.microsoft.com/office/drawing/2014/main" id="{81486BAD-07AE-D737-3975-3A148FA51BCA}"/>
              </a:ext>
            </a:extLst>
          </p:cNvPr>
          <p:cNvSpPr/>
          <p:nvPr/>
        </p:nvSpPr>
        <p:spPr>
          <a:xfrm>
            <a:off x="2854720" y="2794788"/>
            <a:ext cx="1243414" cy="339426"/>
          </a:xfrm>
          <a:prstGeom prst="rect">
            <a:avLst/>
          </a:prstGeom>
          <a:solidFill>
            <a:srgbClr val="FFD28B"/>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Fork date</a:t>
            </a:r>
          </a:p>
        </p:txBody>
      </p:sp>
      <p:sp>
        <p:nvSpPr>
          <p:cNvPr id="1025" name="Rectangle 1024">
            <a:extLst>
              <a:ext uri="{FF2B5EF4-FFF2-40B4-BE49-F238E27FC236}">
                <a16:creationId xmlns:a16="http://schemas.microsoft.com/office/drawing/2014/main" id="{A686C654-52C4-985A-76A4-3D3EC8461BFD}"/>
              </a:ext>
            </a:extLst>
          </p:cNvPr>
          <p:cNvSpPr/>
          <p:nvPr/>
        </p:nvSpPr>
        <p:spPr>
          <a:xfrm>
            <a:off x="5341651" y="2805358"/>
            <a:ext cx="1316130" cy="339426"/>
          </a:xfrm>
          <a:prstGeom prst="rect">
            <a:avLst/>
          </a:prstGeom>
          <a:solidFill>
            <a:srgbClr val="FFD28B"/>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Divergent date</a:t>
            </a:r>
          </a:p>
        </p:txBody>
      </p:sp>
      <p:grpSp>
        <p:nvGrpSpPr>
          <p:cNvPr id="1076" name="Group 1075">
            <a:extLst>
              <a:ext uri="{FF2B5EF4-FFF2-40B4-BE49-F238E27FC236}">
                <a16:creationId xmlns:a16="http://schemas.microsoft.com/office/drawing/2014/main" id="{E0DFA541-0219-F164-DE78-5D8A9D4FE392}"/>
              </a:ext>
            </a:extLst>
          </p:cNvPr>
          <p:cNvGrpSpPr/>
          <p:nvPr/>
        </p:nvGrpSpPr>
        <p:grpSpPr>
          <a:xfrm>
            <a:off x="7891781" y="5109787"/>
            <a:ext cx="941869" cy="895207"/>
            <a:chOff x="7891781" y="5109787"/>
            <a:chExt cx="941869" cy="895207"/>
          </a:xfrm>
        </p:grpSpPr>
        <p:pic>
          <p:nvPicPr>
            <p:cNvPr id="1026" name="Picture 6">
              <a:extLst>
                <a:ext uri="{FF2B5EF4-FFF2-40B4-BE49-F238E27FC236}">
                  <a16:creationId xmlns:a16="http://schemas.microsoft.com/office/drawing/2014/main" id="{3D83705E-D2AA-9CA7-D214-A630139C007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604" t="13694" r="5176" b="9161"/>
            <a:stretch>
              <a:fillRect/>
            </a:stretch>
          </p:blipFill>
          <p:spPr bwMode="auto">
            <a:xfrm>
              <a:off x="7891781" y="5109787"/>
              <a:ext cx="941869" cy="847541"/>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8">
              <a:extLst>
                <a:ext uri="{FF2B5EF4-FFF2-40B4-BE49-F238E27FC236}">
                  <a16:creationId xmlns:a16="http://schemas.microsoft.com/office/drawing/2014/main" id="{82F9EC82-8A76-7BB6-3A20-879C0C5F1C8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199" t="13378" r="11878" b="-265"/>
            <a:stretch>
              <a:fillRect/>
            </a:stretch>
          </p:blipFill>
          <p:spPr bwMode="auto">
            <a:xfrm>
              <a:off x="8299985" y="5404586"/>
              <a:ext cx="463683" cy="600408"/>
            </a:xfrm>
            <a:prstGeom prst="rect">
              <a:avLst/>
            </a:prstGeom>
            <a:noFill/>
            <a:extLst>
              <a:ext uri="{909E8E84-426E-40DD-AFC4-6F175D3DCCD1}">
                <a14:hiddenFill xmlns:a14="http://schemas.microsoft.com/office/drawing/2010/main">
                  <a:solidFill>
                    <a:srgbClr val="FFFFFF"/>
                  </a:solidFill>
                </a14:hiddenFill>
              </a:ext>
            </a:extLst>
          </p:spPr>
        </p:pic>
      </p:grpSp>
      <p:pic>
        <p:nvPicPr>
          <p:cNvPr id="1031" name="Picture 10">
            <a:extLst>
              <a:ext uri="{FF2B5EF4-FFF2-40B4-BE49-F238E27FC236}">
                <a16:creationId xmlns:a16="http://schemas.microsoft.com/office/drawing/2014/main" id="{219507E9-B8A2-285F-9A0E-536F0AB5CB0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5743" t="13503" r="8273" b="14667"/>
          <a:stretch>
            <a:fillRect/>
          </a:stretch>
        </p:blipFill>
        <p:spPr bwMode="auto">
          <a:xfrm>
            <a:off x="11150118" y="5105876"/>
            <a:ext cx="849378" cy="847542"/>
          </a:xfrm>
          <a:prstGeom prst="rect">
            <a:avLst/>
          </a:prstGeom>
          <a:noFill/>
          <a:extLst>
            <a:ext uri="{909E8E84-426E-40DD-AFC4-6F175D3DCCD1}">
              <a14:hiddenFill xmlns:a14="http://schemas.microsoft.com/office/drawing/2010/main">
                <a:solidFill>
                  <a:srgbClr val="FFFFFF"/>
                </a:solidFill>
              </a14:hiddenFill>
            </a:ext>
          </a:extLst>
        </p:spPr>
      </p:pic>
      <p:cxnSp>
        <p:nvCxnSpPr>
          <p:cNvPr id="1032" name="Straight Connector 1031">
            <a:extLst>
              <a:ext uri="{FF2B5EF4-FFF2-40B4-BE49-F238E27FC236}">
                <a16:creationId xmlns:a16="http://schemas.microsoft.com/office/drawing/2014/main" id="{4EE2B9EE-9E8E-5D54-BB68-7A523E7E8C62}"/>
              </a:ext>
            </a:extLst>
          </p:cNvPr>
          <p:cNvCxnSpPr>
            <a:cxnSpLocks/>
            <a:stCxn id="46" idx="3"/>
            <a:endCxn id="1029" idx="0"/>
          </p:cNvCxnSpPr>
          <p:nvPr/>
        </p:nvCxnSpPr>
        <p:spPr>
          <a:xfrm flipH="1">
            <a:off x="10236206" y="4748102"/>
            <a:ext cx="759232" cy="353487"/>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33" name="Straight Connector 1032">
            <a:extLst>
              <a:ext uri="{FF2B5EF4-FFF2-40B4-BE49-F238E27FC236}">
                <a16:creationId xmlns:a16="http://schemas.microsoft.com/office/drawing/2014/main" id="{8CFC8826-4442-AB70-07EA-D27E9E0AD123}"/>
              </a:ext>
            </a:extLst>
          </p:cNvPr>
          <p:cNvCxnSpPr>
            <a:cxnSpLocks/>
            <a:stCxn id="46" idx="5"/>
          </p:cNvCxnSpPr>
          <p:nvPr/>
        </p:nvCxnSpPr>
        <p:spPr>
          <a:xfrm>
            <a:off x="11248006" y="4748102"/>
            <a:ext cx="190410" cy="380375"/>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34" name="Straight Connector 1033">
            <a:extLst>
              <a:ext uri="{FF2B5EF4-FFF2-40B4-BE49-F238E27FC236}">
                <a16:creationId xmlns:a16="http://schemas.microsoft.com/office/drawing/2014/main" id="{2E7BF7EF-FAB0-81AD-49ED-F4FC1A0F78C3}"/>
              </a:ext>
            </a:extLst>
          </p:cNvPr>
          <p:cNvCxnSpPr>
            <a:cxnSpLocks/>
            <a:stCxn id="45" idx="7"/>
          </p:cNvCxnSpPr>
          <p:nvPr/>
        </p:nvCxnSpPr>
        <p:spPr>
          <a:xfrm flipV="1">
            <a:off x="8974426" y="4333480"/>
            <a:ext cx="662748" cy="202023"/>
          </a:xfrm>
          <a:prstGeom prst="line">
            <a:avLst/>
          </a:prstGeom>
          <a:ln>
            <a:solidFill>
              <a:schemeClr val="tx1"/>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35" name="Straight Connector 1034">
            <a:extLst>
              <a:ext uri="{FF2B5EF4-FFF2-40B4-BE49-F238E27FC236}">
                <a16:creationId xmlns:a16="http://schemas.microsoft.com/office/drawing/2014/main" id="{4F0AC9B2-3802-A5C3-A044-40585FB03B99}"/>
              </a:ext>
            </a:extLst>
          </p:cNvPr>
          <p:cNvCxnSpPr>
            <a:cxnSpLocks/>
            <a:endCxn id="46" idx="1"/>
          </p:cNvCxnSpPr>
          <p:nvPr/>
        </p:nvCxnSpPr>
        <p:spPr>
          <a:xfrm>
            <a:off x="10491851" y="4319331"/>
            <a:ext cx="503587" cy="162876"/>
          </a:xfrm>
          <a:prstGeom prst="line">
            <a:avLst/>
          </a:prstGeom>
          <a:ln>
            <a:solidFill>
              <a:schemeClr val="tx1"/>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36" name="Straight Connector 1035">
            <a:extLst>
              <a:ext uri="{FF2B5EF4-FFF2-40B4-BE49-F238E27FC236}">
                <a16:creationId xmlns:a16="http://schemas.microsoft.com/office/drawing/2014/main" id="{01B01573-D367-BF68-2E6B-4F5C9C13E545}"/>
              </a:ext>
            </a:extLst>
          </p:cNvPr>
          <p:cNvCxnSpPr>
            <a:cxnSpLocks/>
            <a:stCxn id="37" idx="4"/>
            <a:endCxn id="56" idx="0"/>
          </p:cNvCxnSpPr>
          <p:nvPr/>
        </p:nvCxnSpPr>
        <p:spPr>
          <a:xfrm>
            <a:off x="10313258" y="3555342"/>
            <a:ext cx="12496" cy="203757"/>
          </a:xfrm>
          <a:prstGeom prst="line">
            <a:avLst/>
          </a:prstGeom>
          <a:ln>
            <a:solidFill>
              <a:schemeClr val="tx1"/>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37" name="Straight Connector 1036">
            <a:extLst>
              <a:ext uri="{FF2B5EF4-FFF2-40B4-BE49-F238E27FC236}">
                <a16:creationId xmlns:a16="http://schemas.microsoft.com/office/drawing/2014/main" id="{5459C8F1-FEEA-5896-6231-A7F4247746F6}"/>
              </a:ext>
            </a:extLst>
          </p:cNvPr>
          <p:cNvCxnSpPr>
            <a:cxnSpLocks/>
            <a:endCxn id="45" idx="4"/>
          </p:cNvCxnSpPr>
          <p:nvPr/>
        </p:nvCxnSpPr>
        <p:spPr>
          <a:xfrm flipV="1">
            <a:off x="8848142" y="4856466"/>
            <a:ext cx="0" cy="1092664"/>
          </a:xfrm>
          <a:prstGeom prst="line">
            <a:avLst/>
          </a:prstGeom>
          <a:ln>
            <a:solidFill>
              <a:schemeClr val="tx1"/>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38" name="Rectangle 1037">
            <a:extLst>
              <a:ext uri="{FF2B5EF4-FFF2-40B4-BE49-F238E27FC236}">
                <a16:creationId xmlns:a16="http://schemas.microsoft.com/office/drawing/2014/main" id="{0CED1A9D-FDAC-EC3E-06CC-7924ED73D548}"/>
              </a:ext>
            </a:extLst>
          </p:cNvPr>
          <p:cNvSpPr/>
          <p:nvPr/>
        </p:nvSpPr>
        <p:spPr>
          <a:xfrm>
            <a:off x="7858963" y="4902090"/>
            <a:ext cx="882044" cy="21018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Foo.java</a:t>
            </a:r>
          </a:p>
        </p:txBody>
      </p:sp>
      <p:sp>
        <p:nvSpPr>
          <p:cNvPr id="1039" name="Rectangle 1038">
            <a:extLst>
              <a:ext uri="{FF2B5EF4-FFF2-40B4-BE49-F238E27FC236}">
                <a16:creationId xmlns:a16="http://schemas.microsoft.com/office/drawing/2014/main" id="{AC871BDB-F3AE-2382-057C-FA674E8C7C5F}"/>
              </a:ext>
            </a:extLst>
          </p:cNvPr>
          <p:cNvSpPr/>
          <p:nvPr/>
        </p:nvSpPr>
        <p:spPr>
          <a:xfrm>
            <a:off x="9112166" y="950527"/>
            <a:ext cx="882044" cy="21018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Foo.java</a:t>
            </a:r>
          </a:p>
        </p:txBody>
      </p:sp>
      <p:sp>
        <p:nvSpPr>
          <p:cNvPr id="1040" name="Rectangle 1039">
            <a:extLst>
              <a:ext uri="{FF2B5EF4-FFF2-40B4-BE49-F238E27FC236}">
                <a16:creationId xmlns:a16="http://schemas.microsoft.com/office/drawing/2014/main" id="{7FC0C1E9-E9D1-DA16-D452-54F82F4C5143}"/>
              </a:ext>
            </a:extLst>
          </p:cNvPr>
          <p:cNvSpPr/>
          <p:nvPr/>
        </p:nvSpPr>
        <p:spPr>
          <a:xfrm>
            <a:off x="9394115" y="4901150"/>
            <a:ext cx="882044" cy="21018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Foo.java</a:t>
            </a:r>
          </a:p>
        </p:txBody>
      </p:sp>
      <p:sp>
        <p:nvSpPr>
          <p:cNvPr id="1041" name="Rectangle 1040">
            <a:extLst>
              <a:ext uri="{FF2B5EF4-FFF2-40B4-BE49-F238E27FC236}">
                <a16:creationId xmlns:a16="http://schemas.microsoft.com/office/drawing/2014/main" id="{18A710B6-B9A3-17A6-E150-1BB29AD9F615}"/>
              </a:ext>
            </a:extLst>
          </p:cNvPr>
          <p:cNvSpPr/>
          <p:nvPr/>
        </p:nvSpPr>
        <p:spPr>
          <a:xfrm>
            <a:off x="11343211" y="4839161"/>
            <a:ext cx="882044" cy="21018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Foo.java</a:t>
            </a:r>
          </a:p>
        </p:txBody>
      </p:sp>
      <p:cxnSp>
        <p:nvCxnSpPr>
          <p:cNvPr id="1042" name="Straight Connector 1041">
            <a:extLst>
              <a:ext uri="{FF2B5EF4-FFF2-40B4-BE49-F238E27FC236}">
                <a16:creationId xmlns:a16="http://schemas.microsoft.com/office/drawing/2014/main" id="{CCF6FB55-6F13-ABE4-C650-F01DD8C1277A}"/>
              </a:ext>
            </a:extLst>
          </p:cNvPr>
          <p:cNvCxnSpPr>
            <a:cxnSpLocks/>
            <a:endCxn id="1026" idx="1"/>
          </p:cNvCxnSpPr>
          <p:nvPr/>
        </p:nvCxnSpPr>
        <p:spPr>
          <a:xfrm>
            <a:off x="7390649" y="5533558"/>
            <a:ext cx="501132" cy="0"/>
          </a:xfrm>
          <a:prstGeom prst="line">
            <a:avLst/>
          </a:prstGeom>
          <a:ln>
            <a:solidFill>
              <a:srgbClr val="FF000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43" name="Rectangle 1042">
            <a:extLst>
              <a:ext uri="{FF2B5EF4-FFF2-40B4-BE49-F238E27FC236}">
                <a16:creationId xmlns:a16="http://schemas.microsoft.com/office/drawing/2014/main" id="{6E60F20D-3EFC-97EA-71B0-FAB3B9820F17}"/>
              </a:ext>
            </a:extLst>
          </p:cNvPr>
          <p:cNvSpPr/>
          <p:nvPr/>
        </p:nvSpPr>
        <p:spPr>
          <a:xfrm>
            <a:off x="6550048" y="5399231"/>
            <a:ext cx="864793" cy="265323"/>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solidFill>
                  <a:srgbClr val="FF0000"/>
                </a:solidFill>
              </a:rPr>
              <a:t>Still buggy</a:t>
            </a:r>
          </a:p>
        </p:txBody>
      </p:sp>
      <p:sp>
        <p:nvSpPr>
          <p:cNvPr id="1044" name="Rectangle 1043">
            <a:extLst>
              <a:ext uri="{FF2B5EF4-FFF2-40B4-BE49-F238E27FC236}">
                <a16:creationId xmlns:a16="http://schemas.microsoft.com/office/drawing/2014/main" id="{5FE13AE6-B975-C738-DE15-99F010A9A149}"/>
              </a:ext>
            </a:extLst>
          </p:cNvPr>
          <p:cNvSpPr/>
          <p:nvPr/>
        </p:nvSpPr>
        <p:spPr>
          <a:xfrm>
            <a:off x="8217952" y="5949130"/>
            <a:ext cx="1301378" cy="375631"/>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b="1" dirty="0"/>
              <a:t>git_head </a:t>
            </a:r>
            <a:r>
              <a:rPr lang="en-US" sz="1100" dirty="0"/>
              <a:t>commit before cherry-pick</a:t>
            </a:r>
          </a:p>
        </p:txBody>
      </p:sp>
      <p:sp>
        <p:nvSpPr>
          <p:cNvPr id="1045" name="Rectangle 1044">
            <a:extLst>
              <a:ext uri="{FF2B5EF4-FFF2-40B4-BE49-F238E27FC236}">
                <a16:creationId xmlns:a16="http://schemas.microsoft.com/office/drawing/2014/main" id="{37215642-A1E1-D912-CBAB-9E5DDA2E6DAE}"/>
              </a:ext>
            </a:extLst>
          </p:cNvPr>
          <p:cNvSpPr/>
          <p:nvPr/>
        </p:nvSpPr>
        <p:spPr>
          <a:xfrm>
            <a:off x="9553188" y="5980366"/>
            <a:ext cx="1153952" cy="375631"/>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dirty="0"/>
              <a:t>Failure</a:t>
            </a:r>
          </a:p>
          <a:p>
            <a:pPr algn="ctr"/>
            <a:r>
              <a:rPr lang="en-US" sz="1100" dirty="0"/>
              <a:t>(merge conflict)</a:t>
            </a:r>
          </a:p>
        </p:txBody>
      </p:sp>
      <p:sp>
        <p:nvSpPr>
          <p:cNvPr id="1046" name="Rectangle 1045">
            <a:extLst>
              <a:ext uri="{FF2B5EF4-FFF2-40B4-BE49-F238E27FC236}">
                <a16:creationId xmlns:a16="http://schemas.microsoft.com/office/drawing/2014/main" id="{FC169742-020D-4CC8-3FBD-53A7CAA373C4}"/>
              </a:ext>
            </a:extLst>
          </p:cNvPr>
          <p:cNvSpPr/>
          <p:nvPr/>
        </p:nvSpPr>
        <p:spPr>
          <a:xfrm>
            <a:off x="10943129" y="5992235"/>
            <a:ext cx="1190527" cy="375631"/>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dirty="0"/>
              <a:t>Success</a:t>
            </a:r>
          </a:p>
          <a:p>
            <a:pPr algn="ctr"/>
            <a:r>
              <a:rPr lang="en-US" sz="1100" dirty="0"/>
              <a:t>(cleanly applied)</a:t>
            </a:r>
          </a:p>
        </p:txBody>
      </p:sp>
      <p:sp>
        <p:nvSpPr>
          <p:cNvPr id="1047" name="Rectangle 1046">
            <a:extLst>
              <a:ext uri="{FF2B5EF4-FFF2-40B4-BE49-F238E27FC236}">
                <a16:creationId xmlns:a16="http://schemas.microsoft.com/office/drawing/2014/main" id="{45964C56-779C-7498-92DD-5C627209D44A}"/>
              </a:ext>
            </a:extLst>
          </p:cNvPr>
          <p:cNvSpPr/>
          <p:nvPr/>
        </p:nvSpPr>
        <p:spPr>
          <a:xfrm>
            <a:off x="7003207" y="1834318"/>
            <a:ext cx="882044" cy="21018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Foo.java</a:t>
            </a:r>
          </a:p>
        </p:txBody>
      </p:sp>
      <p:cxnSp>
        <p:nvCxnSpPr>
          <p:cNvPr id="1048" name="Straight Connector 1047">
            <a:extLst>
              <a:ext uri="{FF2B5EF4-FFF2-40B4-BE49-F238E27FC236}">
                <a16:creationId xmlns:a16="http://schemas.microsoft.com/office/drawing/2014/main" id="{96DF62C5-CA49-D151-4C39-319D86222940}"/>
              </a:ext>
            </a:extLst>
          </p:cNvPr>
          <p:cNvCxnSpPr>
            <a:cxnSpLocks/>
            <a:stCxn id="1049" idx="1"/>
          </p:cNvCxnSpPr>
          <p:nvPr/>
        </p:nvCxnSpPr>
        <p:spPr>
          <a:xfrm flipH="1">
            <a:off x="10816106" y="1334682"/>
            <a:ext cx="334012" cy="15913"/>
          </a:xfrm>
          <a:prstGeom prst="line">
            <a:avLst/>
          </a:prstGeom>
          <a:ln>
            <a:solidFill>
              <a:schemeClr val="accent6"/>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49" name="Rectangle 1048">
            <a:extLst>
              <a:ext uri="{FF2B5EF4-FFF2-40B4-BE49-F238E27FC236}">
                <a16:creationId xmlns:a16="http://schemas.microsoft.com/office/drawing/2014/main" id="{E764B8A1-5927-CB39-511B-2BC8F4CEBB64}"/>
              </a:ext>
            </a:extLst>
          </p:cNvPr>
          <p:cNvSpPr/>
          <p:nvPr/>
        </p:nvSpPr>
        <p:spPr>
          <a:xfrm>
            <a:off x="11150118" y="1234090"/>
            <a:ext cx="795137" cy="201183"/>
          </a:xfrm>
          <a:prstGeom prst="rect">
            <a:avLst/>
          </a:prstGeom>
          <a:noFill/>
          <a:ln>
            <a:solidFill>
              <a:schemeClr val="accent3"/>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solidFill>
                  <a:schemeClr val="accent6"/>
                </a:solidFill>
              </a:rPr>
              <a:t>patched</a:t>
            </a:r>
          </a:p>
        </p:txBody>
      </p:sp>
      <p:cxnSp>
        <p:nvCxnSpPr>
          <p:cNvPr id="1050" name="Straight Connector 1049">
            <a:extLst>
              <a:ext uri="{FF2B5EF4-FFF2-40B4-BE49-F238E27FC236}">
                <a16:creationId xmlns:a16="http://schemas.microsoft.com/office/drawing/2014/main" id="{D7155619-8586-4EC4-38B3-D6D8E1F618D1}"/>
              </a:ext>
            </a:extLst>
          </p:cNvPr>
          <p:cNvCxnSpPr>
            <a:cxnSpLocks/>
            <a:endCxn id="37" idx="7"/>
          </p:cNvCxnSpPr>
          <p:nvPr/>
        </p:nvCxnSpPr>
        <p:spPr>
          <a:xfrm flipH="1">
            <a:off x="10439542" y="2696157"/>
            <a:ext cx="651442" cy="538222"/>
          </a:xfrm>
          <a:prstGeom prst="line">
            <a:avLst/>
          </a:prstGeom>
          <a:ln>
            <a:solidFill>
              <a:schemeClr val="tx1"/>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51" name="Rectangle 1050">
            <a:extLst>
              <a:ext uri="{FF2B5EF4-FFF2-40B4-BE49-F238E27FC236}">
                <a16:creationId xmlns:a16="http://schemas.microsoft.com/office/drawing/2014/main" id="{C0964894-B92E-090A-4FC8-844244ABC91E}"/>
              </a:ext>
            </a:extLst>
          </p:cNvPr>
          <p:cNvSpPr/>
          <p:nvPr/>
        </p:nvSpPr>
        <p:spPr>
          <a:xfrm>
            <a:off x="10612690" y="2485725"/>
            <a:ext cx="1105536" cy="23215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dirty="0"/>
              <a:t>merge commit</a:t>
            </a:r>
          </a:p>
        </p:txBody>
      </p:sp>
      <p:grpSp>
        <p:nvGrpSpPr>
          <p:cNvPr id="1078" name="Group 1077">
            <a:extLst>
              <a:ext uri="{FF2B5EF4-FFF2-40B4-BE49-F238E27FC236}">
                <a16:creationId xmlns:a16="http://schemas.microsoft.com/office/drawing/2014/main" id="{A6EC6A44-C07B-7AFB-549A-C0488245A7E6}"/>
              </a:ext>
            </a:extLst>
          </p:cNvPr>
          <p:cNvGrpSpPr/>
          <p:nvPr/>
        </p:nvGrpSpPr>
        <p:grpSpPr>
          <a:xfrm>
            <a:off x="9765271" y="5101589"/>
            <a:ext cx="941869" cy="895207"/>
            <a:chOff x="9765271" y="5101589"/>
            <a:chExt cx="941869" cy="895207"/>
          </a:xfrm>
        </p:grpSpPr>
        <p:pic>
          <p:nvPicPr>
            <p:cNvPr id="1029" name="Picture 6">
              <a:extLst>
                <a:ext uri="{FF2B5EF4-FFF2-40B4-BE49-F238E27FC236}">
                  <a16:creationId xmlns:a16="http://schemas.microsoft.com/office/drawing/2014/main" id="{0841BE5B-6359-13C5-B889-BAF631CD8D5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604" t="13694" r="5176" b="9161"/>
            <a:stretch>
              <a:fillRect/>
            </a:stretch>
          </p:blipFill>
          <p:spPr bwMode="auto">
            <a:xfrm>
              <a:off x="9765271" y="5101589"/>
              <a:ext cx="941869" cy="8475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8">
              <a:extLst>
                <a:ext uri="{FF2B5EF4-FFF2-40B4-BE49-F238E27FC236}">
                  <a16:creationId xmlns:a16="http://schemas.microsoft.com/office/drawing/2014/main" id="{DB1DE1DE-AFF9-2D57-12D0-C9B44DFB489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199" t="13378" r="11878" b="-265"/>
            <a:stretch>
              <a:fillRect/>
            </a:stretch>
          </p:blipFill>
          <p:spPr bwMode="auto">
            <a:xfrm>
              <a:off x="10173475" y="5396388"/>
              <a:ext cx="463683" cy="600408"/>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12">
              <a:extLst>
                <a:ext uri="{FF2B5EF4-FFF2-40B4-BE49-F238E27FC236}">
                  <a16:creationId xmlns:a16="http://schemas.microsoft.com/office/drawing/2014/main" id="{A2617935-495F-340F-7B70-543E9F6801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84043" y="5260180"/>
              <a:ext cx="246121" cy="457082"/>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14">
              <a:extLst>
                <a:ext uri="{FF2B5EF4-FFF2-40B4-BE49-F238E27FC236}">
                  <a16:creationId xmlns:a16="http://schemas.microsoft.com/office/drawing/2014/main" id="{11602AEF-9E84-3476-0285-DB69937267F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2179" t="24355" r="21997" b="22147"/>
            <a:stretch>
              <a:fillRect/>
            </a:stretch>
          </p:blipFill>
          <p:spPr bwMode="auto">
            <a:xfrm>
              <a:off x="10233007" y="5551938"/>
              <a:ext cx="258844" cy="248055"/>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extBox 1">
            <a:extLst>
              <a:ext uri="{FF2B5EF4-FFF2-40B4-BE49-F238E27FC236}">
                <a16:creationId xmlns:a16="http://schemas.microsoft.com/office/drawing/2014/main" id="{DEF10FE2-3DE8-C82D-0D69-8B0BD98EBA57}"/>
              </a:ext>
            </a:extLst>
          </p:cNvPr>
          <p:cNvSpPr txBox="1"/>
          <p:nvPr/>
        </p:nvSpPr>
        <p:spPr>
          <a:xfrm>
            <a:off x="476213" y="6450010"/>
            <a:ext cx="7582196" cy="276999"/>
          </a:xfrm>
          <a:prstGeom prst="rect">
            <a:avLst/>
          </a:prstGeom>
          <a:noFill/>
        </p:spPr>
        <p:txBody>
          <a:bodyPr wrap="square" rtlCol="0">
            <a:spAutoFit/>
          </a:bodyPr>
          <a:lstStyle/>
          <a:p>
            <a:r>
              <a:rPr lang="en-US" sz="1200" dirty="0"/>
              <a:t>D. </a:t>
            </a:r>
            <a:r>
              <a:rPr lang="en-US" sz="1200" dirty="0" err="1"/>
              <a:t>Ogenrwot</a:t>
            </a:r>
            <a:r>
              <a:rPr lang="en-US" sz="1200" dirty="0"/>
              <a:t> and J. Businge. </a:t>
            </a:r>
            <a:r>
              <a:rPr lang="en-US" sz="1200" i="1" dirty="0">
                <a:cs typeface="Calibri Light" panose="020F0302020204030204" pitchFamily="34" charset="0"/>
              </a:rPr>
              <a:t>Refactoring-Aware Patch Integration Across Structurally Divergent Java Forks</a:t>
            </a:r>
            <a:r>
              <a:rPr lang="en-US" sz="1200" dirty="0">
                <a:cs typeface="Calibri Light" panose="020F0302020204030204" pitchFamily="34" charset="0"/>
              </a:rPr>
              <a:t>, SCAM 2025</a:t>
            </a:r>
            <a:endParaRPr lang="en-US" sz="1200" dirty="0"/>
          </a:p>
        </p:txBody>
      </p:sp>
      <p:sp>
        <p:nvSpPr>
          <p:cNvPr id="4" name="TextBox 3">
            <a:extLst>
              <a:ext uri="{FF2B5EF4-FFF2-40B4-BE49-F238E27FC236}">
                <a16:creationId xmlns:a16="http://schemas.microsoft.com/office/drawing/2014/main" id="{DDFB1ECE-558D-98A6-68D0-E4A39BCBA119}"/>
              </a:ext>
            </a:extLst>
          </p:cNvPr>
          <p:cNvSpPr txBox="1"/>
          <p:nvPr/>
        </p:nvSpPr>
        <p:spPr>
          <a:xfrm>
            <a:off x="327842" y="1052670"/>
            <a:ext cx="6222206" cy="369332"/>
          </a:xfrm>
          <a:prstGeom prst="rect">
            <a:avLst/>
          </a:prstGeom>
          <a:noFill/>
        </p:spPr>
        <p:txBody>
          <a:bodyPr wrap="square">
            <a:spAutoFit/>
          </a:bodyPr>
          <a:lstStyle/>
          <a:p>
            <a:r>
              <a:rPr lang="en-BE" dirty="0"/>
              <a:t>We know what patch we need, but applying it may fail.</a:t>
            </a:r>
            <a:endParaRPr lang="en-US" dirty="0"/>
          </a:p>
        </p:txBody>
      </p:sp>
      <p:pic>
        <p:nvPicPr>
          <p:cNvPr id="5" name="Picture 4">
            <a:extLst>
              <a:ext uri="{FF2B5EF4-FFF2-40B4-BE49-F238E27FC236}">
                <a16:creationId xmlns:a16="http://schemas.microsoft.com/office/drawing/2014/main" id="{60193E9B-E5A8-F405-F747-1C194E27863E}"/>
              </a:ext>
            </a:extLst>
          </p:cNvPr>
          <p:cNvPicPr>
            <a:picLocks noChangeAspect="1"/>
          </p:cNvPicPr>
          <p:nvPr/>
        </p:nvPicPr>
        <p:blipFill>
          <a:blip r:embed="rId9"/>
          <a:stretch>
            <a:fillRect/>
          </a:stretch>
        </p:blipFill>
        <p:spPr>
          <a:xfrm>
            <a:off x="10930270" y="48128"/>
            <a:ext cx="1136947" cy="725711"/>
          </a:xfrm>
          <a:prstGeom prst="rect">
            <a:avLst/>
          </a:prstGeom>
        </p:spPr>
      </p:pic>
    </p:spTree>
    <p:extLst>
      <p:ext uri="{BB962C8B-B14F-4D97-AF65-F5344CB8AC3E}">
        <p14:creationId xmlns:p14="http://schemas.microsoft.com/office/powerpoint/2010/main" val="1696108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7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7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3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4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04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5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04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42"/>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3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04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03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3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03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103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041"/>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03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4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04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07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4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032"/>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0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41" grpId="0" animBg="1"/>
      <p:bldP spid="42" grpId="0" animBg="1"/>
      <p:bldP spid="43" grpId="0" animBg="1"/>
      <p:bldP spid="44" grpId="0" animBg="1"/>
      <p:bldP spid="45" grpId="0" animBg="1"/>
      <p:bldP spid="46" grpId="0" animBg="1"/>
      <p:bldP spid="47" grpId="0" animBg="1"/>
      <p:bldP spid="56" grpId="0" animBg="1"/>
      <p:bldP spid="57" grpId="0" animBg="1"/>
      <p:bldP spid="63" grpId="0" animBg="1"/>
      <p:bldP spid="1038" grpId="0"/>
      <p:bldP spid="1039" grpId="0"/>
      <p:bldP spid="1040" grpId="0"/>
      <p:bldP spid="1041" grpId="0"/>
      <p:bldP spid="1043" grpId="0"/>
      <p:bldP spid="1044" grpId="0"/>
      <p:bldP spid="1045" grpId="0"/>
      <p:bldP spid="1046" grpId="0"/>
      <p:bldP spid="1047" grpId="0"/>
      <p:bldP spid="1049" grpId="0" animBg="1"/>
      <p:bldP spid="105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CA425-B10A-8E6C-1BF9-18A0CBE98D4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47221DA-6A93-B399-89E2-9E6C2FF865CB}"/>
              </a:ext>
            </a:extLst>
          </p:cNvPr>
          <p:cNvSpPr/>
          <p:nvPr/>
        </p:nvSpPr>
        <p:spPr>
          <a:xfrm>
            <a:off x="6424" y="-8907"/>
            <a:ext cx="12192000" cy="817582"/>
          </a:xfrm>
          <a:prstGeom prst="rect">
            <a:avLst/>
          </a:prstGeom>
          <a:gradFill flip="none" rotWithShape="1">
            <a:gsLst>
              <a:gs pos="0">
                <a:srgbClr val="65757C"/>
              </a:gs>
              <a:gs pos="42000">
                <a:srgbClr val="65757C"/>
              </a:gs>
              <a:gs pos="73000">
                <a:srgbClr val="A0A2A5"/>
              </a:gs>
              <a:gs pos="100000">
                <a:schemeClr val="bg2">
                  <a:lumMod val="9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4000" dirty="0"/>
              <a:t> Why Patches Fail to Integrate Cleanly</a:t>
            </a:r>
            <a:endParaRPr lang="en-US" sz="4000" dirty="0"/>
          </a:p>
        </p:txBody>
      </p:sp>
      <p:graphicFrame>
        <p:nvGraphicFramePr>
          <p:cNvPr id="13" name="TextBox 3">
            <a:extLst>
              <a:ext uri="{FF2B5EF4-FFF2-40B4-BE49-F238E27FC236}">
                <a16:creationId xmlns:a16="http://schemas.microsoft.com/office/drawing/2014/main" id="{7EBE0758-D787-B852-1B7F-40FE071E4A25}"/>
              </a:ext>
            </a:extLst>
          </p:cNvPr>
          <p:cNvGraphicFramePr/>
          <p:nvPr>
            <p:extLst>
              <p:ext uri="{D42A27DB-BD31-4B8C-83A1-F6EECF244321}">
                <p14:modId xmlns:p14="http://schemas.microsoft.com/office/powerpoint/2010/main" val="1790293401"/>
              </p:ext>
            </p:extLst>
          </p:nvPr>
        </p:nvGraphicFramePr>
        <p:xfrm>
          <a:off x="429768" y="1278207"/>
          <a:ext cx="11210544" cy="5076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C1C4220D-A55B-3FB7-30FB-917F831EA5BB}"/>
              </a:ext>
            </a:extLst>
          </p:cNvPr>
          <p:cNvPicPr>
            <a:picLocks noChangeAspect="1"/>
          </p:cNvPicPr>
          <p:nvPr/>
        </p:nvPicPr>
        <p:blipFill>
          <a:blip r:embed="rId8"/>
          <a:stretch>
            <a:fillRect/>
          </a:stretch>
        </p:blipFill>
        <p:spPr>
          <a:xfrm>
            <a:off x="10930270" y="48128"/>
            <a:ext cx="1136947" cy="725711"/>
          </a:xfrm>
          <a:prstGeom prst="rect">
            <a:avLst/>
          </a:prstGeom>
        </p:spPr>
      </p:pic>
    </p:spTree>
    <p:extLst>
      <p:ext uri="{BB962C8B-B14F-4D97-AF65-F5344CB8AC3E}">
        <p14:creationId xmlns:p14="http://schemas.microsoft.com/office/powerpoint/2010/main" val="321672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graphicEl>
                                              <a:dgm id="{F50F15C0-F5DE-C740-924D-566BE110E0E1}"/>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graphicEl>
                                              <a:dgm id="{5E6055BA-981C-3A42-A816-229B5FDB92C8}"/>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graphicEl>
                                              <a:dgm id="{6D377462-BE73-044C-A387-EDBF085EB9B0}"/>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graphicEl>
                                              <a:dgm id="{2E7213F2-55F8-B842-8361-88D789533774}"/>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graphicEl>
                                              <a:dgm id="{839B87F8-C36B-9E4A-A425-A3C795BAB06E}"/>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graphicEl>
                                              <a:dgm id="{FA998EF7-FFF4-7D4C-9905-3FDDF6E333BD}"/>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graphicEl>
                                              <a:dgm id="{3A1D1B81-25E9-6F43-97F4-E52181B1ED82}"/>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graphicEl>
                                              <a:dgm id="{807F22B5-2476-A144-83CF-A47991129C1A}"/>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graphicEl>
                                              <a:dgm id="{AED84A6A-10C3-D649-BB17-EAAA782F671E}"/>
                                            </p:graphic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graphicEl>
                                              <a:dgm id="{56C7A14E-4AD6-754F-8115-576ECB94C8A2}"/>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graphicEl>
                                              <a:dgm id="{1E68E1A5-9FF9-E54D-8502-5553204715CF}"/>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graphicEl>
                                              <a:dgm id="{24D199DE-E947-A341-B030-C6CA44342209}"/>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graphicEl>
                                              <a:dgm id="{AD8EB510-2E7D-2649-9515-5C2E62043CA5}"/>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graphicEl>
                                              <a:dgm id="{49BE12DE-E6E9-614A-8A29-399ADD817FD1}"/>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graphicEl>
                                              <a:dgm id="{A37ABA92-C8AE-F04D-A035-0C00F2FEA4CA}"/>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Sub>
          <a:bldDgm bld="lvl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EF4A2-0C81-ABD9-3578-785BD9B54399}"/>
            </a:ext>
          </a:extLst>
        </p:cNvPr>
        <p:cNvGrpSpPr/>
        <p:nvPr/>
      </p:nvGrpSpPr>
      <p:grpSpPr>
        <a:xfrm>
          <a:off x="0" y="0"/>
          <a:ext cx="0" cy="0"/>
          <a:chOff x="0" y="0"/>
          <a:chExt cx="0" cy="0"/>
        </a:xfrm>
      </p:grpSpPr>
      <p:cxnSp>
        <p:nvCxnSpPr>
          <p:cNvPr id="1094" name="Straight Connector 1093">
            <a:extLst>
              <a:ext uri="{FF2B5EF4-FFF2-40B4-BE49-F238E27FC236}">
                <a16:creationId xmlns:a16="http://schemas.microsoft.com/office/drawing/2014/main" id="{75140A04-6E63-E50A-D702-A33FFE42A89A}"/>
              </a:ext>
            </a:extLst>
          </p:cNvPr>
          <p:cNvCxnSpPr>
            <a:cxnSpLocks/>
            <a:stCxn id="15" idx="3"/>
          </p:cNvCxnSpPr>
          <p:nvPr/>
        </p:nvCxnSpPr>
        <p:spPr>
          <a:xfrm>
            <a:off x="1581665" y="4747115"/>
            <a:ext cx="1853482" cy="0"/>
          </a:xfrm>
          <a:prstGeom prst="line">
            <a:avLst/>
          </a:prstGeom>
          <a:ln w="7620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070" name="Straight Connector 1069">
            <a:extLst>
              <a:ext uri="{FF2B5EF4-FFF2-40B4-BE49-F238E27FC236}">
                <a16:creationId xmlns:a16="http://schemas.microsoft.com/office/drawing/2014/main" id="{198C7113-BF8F-18B6-6961-3EC434F2212C}"/>
              </a:ext>
            </a:extLst>
          </p:cNvPr>
          <p:cNvCxnSpPr>
            <a:cxnSpLocks/>
          </p:cNvCxnSpPr>
          <p:nvPr/>
        </p:nvCxnSpPr>
        <p:spPr>
          <a:xfrm>
            <a:off x="5999716" y="3000353"/>
            <a:ext cx="0" cy="194390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106B5475-220D-D137-CE19-5EB408D39944}"/>
              </a:ext>
            </a:extLst>
          </p:cNvPr>
          <p:cNvSpPr/>
          <p:nvPr/>
        </p:nvSpPr>
        <p:spPr>
          <a:xfrm>
            <a:off x="6425" y="-8907"/>
            <a:ext cx="12192000" cy="817582"/>
          </a:xfrm>
          <a:prstGeom prst="rect">
            <a:avLst/>
          </a:prstGeom>
          <a:gradFill flip="none" rotWithShape="1">
            <a:gsLst>
              <a:gs pos="0">
                <a:srgbClr val="65757C"/>
              </a:gs>
              <a:gs pos="42000">
                <a:srgbClr val="65757C"/>
              </a:gs>
              <a:gs pos="73000">
                <a:srgbClr val="A0A2A5"/>
              </a:gs>
              <a:gs pos="100000">
                <a:schemeClr val="bg2">
                  <a:lumMod val="9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4000" b="1" dirty="0"/>
              <a:t>How Refactoring Creates Merge Conflicts</a:t>
            </a:r>
          </a:p>
        </p:txBody>
      </p:sp>
      <p:cxnSp>
        <p:nvCxnSpPr>
          <p:cNvPr id="12" name="Straight Arrow Connector 11">
            <a:extLst>
              <a:ext uri="{FF2B5EF4-FFF2-40B4-BE49-F238E27FC236}">
                <a16:creationId xmlns:a16="http://schemas.microsoft.com/office/drawing/2014/main" id="{4A68541A-1BDF-0F0C-228C-BE9912750DAB}"/>
              </a:ext>
            </a:extLst>
          </p:cNvPr>
          <p:cNvCxnSpPr>
            <a:cxnSpLocks/>
          </p:cNvCxnSpPr>
          <p:nvPr/>
        </p:nvCxnSpPr>
        <p:spPr>
          <a:xfrm>
            <a:off x="1581665" y="3374289"/>
            <a:ext cx="10417830" cy="22372"/>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C69F8DA-6B48-5342-7B63-8871F26EBB7A}"/>
              </a:ext>
            </a:extLst>
          </p:cNvPr>
          <p:cNvCxnSpPr>
            <a:cxnSpLocks/>
          </p:cNvCxnSpPr>
          <p:nvPr/>
        </p:nvCxnSpPr>
        <p:spPr>
          <a:xfrm flipV="1">
            <a:off x="3429000" y="4622287"/>
            <a:ext cx="8662987" cy="125815"/>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D0A4245E-CEB0-45ED-ACF9-5E67ABBC1EE3}"/>
              </a:ext>
            </a:extLst>
          </p:cNvPr>
          <p:cNvSpPr/>
          <p:nvPr/>
        </p:nvSpPr>
        <p:spPr>
          <a:xfrm>
            <a:off x="100013" y="3131401"/>
            <a:ext cx="1481652" cy="485775"/>
          </a:xfrm>
          <a:prstGeom prst="rect">
            <a:avLst/>
          </a:prstGeom>
          <a:solidFill>
            <a:schemeClr val="accent2">
              <a:lumMod val="20000"/>
              <a:lumOff val="80000"/>
            </a:schemeClr>
          </a:solidFill>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Source Variant</a:t>
            </a:r>
          </a:p>
        </p:txBody>
      </p:sp>
      <p:sp>
        <p:nvSpPr>
          <p:cNvPr id="15" name="Rectangle 14">
            <a:extLst>
              <a:ext uri="{FF2B5EF4-FFF2-40B4-BE49-F238E27FC236}">
                <a16:creationId xmlns:a16="http://schemas.microsoft.com/office/drawing/2014/main" id="{74D5D53F-221C-349A-14B6-105E3128E737}"/>
              </a:ext>
            </a:extLst>
          </p:cNvPr>
          <p:cNvSpPr/>
          <p:nvPr/>
        </p:nvSpPr>
        <p:spPr>
          <a:xfrm>
            <a:off x="100013" y="4504227"/>
            <a:ext cx="1481652" cy="485775"/>
          </a:xfrm>
          <a:prstGeom prst="rect">
            <a:avLst/>
          </a:prstGeom>
          <a:solidFill>
            <a:schemeClr val="accent2">
              <a:lumMod val="20000"/>
              <a:lumOff val="80000"/>
            </a:schemeClr>
          </a:solidFill>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Target Variant</a:t>
            </a:r>
          </a:p>
        </p:txBody>
      </p:sp>
      <p:sp>
        <p:nvSpPr>
          <p:cNvPr id="16" name="Oval 15">
            <a:extLst>
              <a:ext uri="{FF2B5EF4-FFF2-40B4-BE49-F238E27FC236}">
                <a16:creationId xmlns:a16="http://schemas.microsoft.com/office/drawing/2014/main" id="{D41C7888-2622-6C4F-7B4B-A2AED573CB1F}"/>
              </a:ext>
            </a:extLst>
          </p:cNvPr>
          <p:cNvSpPr/>
          <p:nvPr/>
        </p:nvSpPr>
        <p:spPr>
          <a:xfrm>
            <a:off x="1885952" y="3186272"/>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335629A-C06F-44AA-A364-3DF7ECEDDB83}"/>
              </a:ext>
            </a:extLst>
          </p:cNvPr>
          <p:cNvSpPr/>
          <p:nvPr/>
        </p:nvSpPr>
        <p:spPr>
          <a:xfrm>
            <a:off x="2376233" y="3186271"/>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7C19D20-325D-C1E5-465E-CB72340654AF}"/>
              </a:ext>
            </a:extLst>
          </p:cNvPr>
          <p:cNvSpPr/>
          <p:nvPr/>
        </p:nvSpPr>
        <p:spPr>
          <a:xfrm>
            <a:off x="2861750" y="3186272"/>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738556A-4CCE-3740-4CB2-9649B695CC0A}"/>
              </a:ext>
            </a:extLst>
          </p:cNvPr>
          <p:cNvSpPr/>
          <p:nvPr/>
        </p:nvSpPr>
        <p:spPr>
          <a:xfrm>
            <a:off x="1885952" y="4502626"/>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0D0665F-FE8F-F752-1BE5-B8E0983DE5D1}"/>
              </a:ext>
            </a:extLst>
          </p:cNvPr>
          <p:cNvSpPr/>
          <p:nvPr/>
        </p:nvSpPr>
        <p:spPr>
          <a:xfrm>
            <a:off x="2376233" y="4508891"/>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8BE9B6E-FF99-56CD-9A10-1D77B36528BC}"/>
              </a:ext>
            </a:extLst>
          </p:cNvPr>
          <p:cNvSpPr/>
          <p:nvPr/>
        </p:nvSpPr>
        <p:spPr>
          <a:xfrm>
            <a:off x="2861750" y="4523568"/>
            <a:ext cx="357186" cy="376031"/>
          </a:xfrm>
          <a:prstGeom prst="ellipse">
            <a:avLst/>
          </a:prstGeom>
          <a:solidFill>
            <a:srgbClr val="FF4E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3D6B0E57-02AF-F964-FD0D-27D2D066AF87}"/>
              </a:ext>
            </a:extLst>
          </p:cNvPr>
          <p:cNvCxnSpPr>
            <a:cxnSpLocks/>
          </p:cNvCxnSpPr>
          <p:nvPr/>
        </p:nvCxnSpPr>
        <p:spPr>
          <a:xfrm>
            <a:off x="3429000" y="2989992"/>
            <a:ext cx="0" cy="1943902"/>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EA2A2FB0-2104-B251-F153-F83F60C5FCC2}"/>
              </a:ext>
            </a:extLst>
          </p:cNvPr>
          <p:cNvSpPr/>
          <p:nvPr/>
        </p:nvSpPr>
        <p:spPr>
          <a:xfrm>
            <a:off x="3658955" y="3186271"/>
            <a:ext cx="357186" cy="37603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CFB690C-8AA3-21DA-B97E-011ED7F5EC3C}"/>
              </a:ext>
            </a:extLst>
          </p:cNvPr>
          <p:cNvSpPr/>
          <p:nvPr/>
        </p:nvSpPr>
        <p:spPr>
          <a:xfrm>
            <a:off x="3658650" y="4502626"/>
            <a:ext cx="357186" cy="37603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F58C22A3-AFDE-104C-C2C5-2BEBAE9FDDD6}"/>
              </a:ext>
            </a:extLst>
          </p:cNvPr>
          <p:cNvSpPr/>
          <p:nvPr/>
        </p:nvSpPr>
        <p:spPr>
          <a:xfrm>
            <a:off x="5457314" y="3200171"/>
            <a:ext cx="357186" cy="37603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60199E0-C256-BA0B-248F-276FF57A16A6}"/>
              </a:ext>
            </a:extLst>
          </p:cNvPr>
          <p:cNvSpPr/>
          <p:nvPr/>
        </p:nvSpPr>
        <p:spPr>
          <a:xfrm>
            <a:off x="5457314" y="4471568"/>
            <a:ext cx="357186" cy="376031"/>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2CAAE910-E5C2-0C17-4BB4-37BD873982A0}"/>
              </a:ext>
            </a:extLst>
          </p:cNvPr>
          <p:cNvSpPr/>
          <p:nvPr/>
        </p:nvSpPr>
        <p:spPr>
          <a:xfrm>
            <a:off x="4098134" y="3186270"/>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602C39C-5DE8-7704-F6C1-77E72A311E6A}"/>
              </a:ext>
            </a:extLst>
          </p:cNvPr>
          <p:cNvSpPr/>
          <p:nvPr/>
        </p:nvSpPr>
        <p:spPr>
          <a:xfrm>
            <a:off x="4535511" y="3200171"/>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11B4D34F-4063-8286-22F8-A653305EE9D9}"/>
              </a:ext>
            </a:extLst>
          </p:cNvPr>
          <p:cNvSpPr/>
          <p:nvPr/>
        </p:nvSpPr>
        <p:spPr>
          <a:xfrm>
            <a:off x="4973661" y="3208646"/>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839E2C33-75F1-6850-742B-07F9167F0753}"/>
              </a:ext>
            </a:extLst>
          </p:cNvPr>
          <p:cNvSpPr/>
          <p:nvPr/>
        </p:nvSpPr>
        <p:spPr>
          <a:xfrm>
            <a:off x="4088718" y="4467390"/>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40B97BCF-736B-27F9-A59D-55E28037EB4C}"/>
              </a:ext>
            </a:extLst>
          </p:cNvPr>
          <p:cNvSpPr/>
          <p:nvPr/>
        </p:nvSpPr>
        <p:spPr>
          <a:xfrm>
            <a:off x="4538374" y="4467390"/>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3DEF686-1254-04BE-9083-E5C7D47149E0}"/>
              </a:ext>
            </a:extLst>
          </p:cNvPr>
          <p:cNvSpPr/>
          <p:nvPr/>
        </p:nvSpPr>
        <p:spPr>
          <a:xfrm>
            <a:off x="4962739" y="4471567"/>
            <a:ext cx="357186" cy="376031"/>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54710D1-7D4C-3ECB-4A6C-5559F9A7C86E}"/>
              </a:ext>
            </a:extLst>
          </p:cNvPr>
          <p:cNvSpPr/>
          <p:nvPr/>
        </p:nvSpPr>
        <p:spPr>
          <a:xfrm>
            <a:off x="6474222" y="3185447"/>
            <a:ext cx="357186" cy="376031"/>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30148BC-4B61-E264-FC77-FF3B77A06864}"/>
              </a:ext>
            </a:extLst>
          </p:cNvPr>
          <p:cNvSpPr/>
          <p:nvPr/>
        </p:nvSpPr>
        <p:spPr>
          <a:xfrm>
            <a:off x="7461694" y="3184624"/>
            <a:ext cx="357186" cy="376031"/>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8D7D3BE-FB7B-71C2-2D45-632CFE380588}"/>
              </a:ext>
            </a:extLst>
          </p:cNvPr>
          <p:cNvSpPr/>
          <p:nvPr/>
        </p:nvSpPr>
        <p:spPr>
          <a:xfrm>
            <a:off x="9356631" y="3200170"/>
            <a:ext cx="357186" cy="376031"/>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D8612B61-5DE9-7778-4D4C-54C1EF56A866}"/>
              </a:ext>
            </a:extLst>
          </p:cNvPr>
          <p:cNvSpPr/>
          <p:nvPr/>
        </p:nvSpPr>
        <p:spPr>
          <a:xfrm>
            <a:off x="6196338" y="4480356"/>
            <a:ext cx="357186" cy="376031"/>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DAEE6047-8CB2-51BA-1384-5CCEABD1CBED}"/>
              </a:ext>
            </a:extLst>
          </p:cNvPr>
          <p:cNvSpPr/>
          <p:nvPr/>
        </p:nvSpPr>
        <p:spPr>
          <a:xfrm>
            <a:off x="6988873" y="4453802"/>
            <a:ext cx="357186" cy="376031"/>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BC7CDCE7-F9F1-ED1D-8ACC-4622DF8F62F1}"/>
              </a:ext>
            </a:extLst>
          </p:cNvPr>
          <p:cNvCxnSpPr>
            <a:stCxn id="16" idx="4"/>
            <a:endCxn id="19" idx="0"/>
          </p:cNvCxnSpPr>
          <p:nvPr/>
        </p:nvCxnSpPr>
        <p:spPr>
          <a:xfrm>
            <a:off x="2064545" y="3562303"/>
            <a:ext cx="0" cy="940323"/>
          </a:xfrm>
          <a:prstGeom prst="line">
            <a:avLst/>
          </a:prstGeom>
          <a:ln>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2308BDD0-FA75-AE10-EE4D-303432136EA8}"/>
              </a:ext>
            </a:extLst>
          </p:cNvPr>
          <p:cNvCxnSpPr>
            <a:cxnSpLocks/>
            <a:stCxn id="17" idx="4"/>
            <a:endCxn id="20" idx="0"/>
          </p:cNvCxnSpPr>
          <p:nvPr/>
        </p:nvCxnSpPr>
        <p:spPr>
          <a:xfrm>
            <a:off x="2554826" y="3562302"/>
            <a:ext cx="0" cy="946589"/>
          </a:xfrm>
          <a:prstGeom prst="line">
            <a:avLst/>
          </a:prstGeom>
          <a:ln>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E7ED2A22-2C3E-F04D-A88A-EF8D7F51AC6F}"/>
              </a:ext>
            </a:extLst>
          </p:cNvPr>
          <p:cNvCxnSpPr>
            <a:cxnSpLocks/>
            <a:stCxn id="18" idx="4"/>
            <a:endCxn id="21" idx="0"/>
          </p:cNvCxnSpPr>
          <p:nvPr/>
        </p:nvCxnSpPr>
        <p:spPr>
          <a:xfrm>
            <a:off x="3040343" y="3562303"/>
            <a:ext cx="0" cy="961265"/>
          </a:xfrm>
          <a:prstGeom prst="line">
            <a:avLst/>
          </a:prstGeom>
          <a:ln>
            <a:solidFill>
              <a:schemeClr val="tx1"/>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B37D7A52-3A2E-AC6B-9111-BDA067FEC065}"/>
              </a:ext>
            </a:extLst>
          </p:cNvPr>
          <p:cNvCxnSpPr>
            <a:cxnSpLocks/>
            <a:stCxn id="24" idx="4"/>
            <a:endCxn id="25" idx="0"/>
          </p:cNvCxnSpPr>
          <p:nvPr/>
        </p:nvCxnSpPr>
        <p:spPr>
          <a:xfrm flipH="1">
            <a:off x="3837243" y="3562302"/>
            <a:ext cx="305" cy="940324"/>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7A7CF6AC-C32A-89FA-F0F8-4DD1FEF1B949}"/>
              </a:ext>
            </a:extLst>
          </p:cNvPr>
          <p:cNvCxnSpPr>
            <a:cxnSpLocks/>
            <a:stCxn id="26" idx="4"/>
            <a:endCxn id="27" idx="0"/>
          </p:cNvCxnSpPr>
          <p:nvPr/>
        </p:nvCxnSpPr>
        <p:spPr>
          <a:xfrm>
            <a:off x="5635907" y="3576202"/>
            <a:ext cx="0" cy="895366"/>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872A0FE8-DBF4-7D76-4B65-48BBA5728B69}"/>
              </a:ext>
            </a:extLst>
          </p:cNvPr>
          <p:cNvCxnSpPr>
            <a:cxnSpLocks/>
            <a:stCxn id="30" idx="4"/>
            <a:endCxn id="33" idx="0"/>
          </p:cNvCxnSpPr>
          <p:nvPr/>
        </p:nvCxnSpPr>
        <p:spPr>
          <a:xfrm flipH="1">
            <a:off x="5141332" y="3584677"/>
            <a:ext cx="10922" cy="886890"/>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269D9DE1-441E-AECF-0C33-CB5E5529C1F5}"/>
              </a:ext>
            </a:extLst>
          </p:cNvPr>
          <p:cNvCxnSpPr>
            <a:cxnSpLocks/>
            <a:stCxn id="32" idx="0"/>
            <a:endCxn id="29" idx="4"/>
          </p:cNvCxnSpPr>
          <p:nvPr/>
        </p:nvCxnSpPr>
        <p:spPr>
          <a:xfrm flipH="1" flipV="1">
            <a:off x="4714104" y="3576202"/>
            <a:ext cx="2863" cy="891188"/>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0C808F5-9AE2-5A2C-5880-A622EE5AEB22}"/>
              </a:ext>
            </a:extLst>
          </p:cNvPr>
          <p:cNvCxnSpPr>
            <a:cxnSpLocks/>
            <a:stCxn id="31" idx="0"/>
            <a:endCxn id="28" idx="4"/>
          </p:cNvCxnSpPr>
          <p:nvPr/>
        </p:nvCxnSpPr>
        <p:spPr>
          <a:xfrm flipV="1">
            <a:off x="4267311" y="3562301"/>
            <a:ext cx="9416" cy="905089"/>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EEEB9391-DE18-2088-2060-663E381CDED0}"/>
              </a:ext>
            </a:extLst>
          </p:cNvPr>
          <p:cNvSpPr/>
          <p:nvPr/>
        </p:nvSpPr>
        <p:spPr>
          <a:xfrm>
            <a:off x="6611187" y="3774618"/>
            <a:ext cx="1481650" cy="430975"/>
          </a:xfrm>
          <a:prstGeom prst="rect">
            <a:avLst/>
          </a:prstGeom>
          <a:solidFill>
            <a:schemeClr val="bg1">
              <a:lumMod val="95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Unique commits</a:t>
            </a:r>
          </a:p>
        </p:txBody>
      </p:sp>
      <p:sp>
        <p:nvSpPr>
          <p:cNvPr id="58" name="Rectangle 57">
            <a:extLst>
              <a:ext uri="{FF2B5EF4-FFF2-40B4-BE49-F238E27FC236}">
                <a16:creationId xmlns:a16="http://schemas.microsoft.com/office/drawing/2014/main" id="{27DD2318-C428-06B7-19DF-49408272767F}"/>
              </a:ext>
            </a:extLst>
          </p:cNvPr>
          <p:cNvSpPr/>
          <p:nvPr/>
        </p:nvSpPr>
        <p:spPr>
          <a:xfrm>
            <a:off x="3982485" y="3777792"/>
            <a:ext cx="1478787" cy="422185"/>
          </a:xfrm>
          <a:prstGeom prst="rect">
            <a:avLst/>
          </a:prstGeom>
          <a:solidFill>
            <a:schemeClr val="bg1">
              <a:lumMod val="95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Synchronized commits</a:t>
            </a:r>
          </a:p>
        </p:txBody>
      </p:sp>
      <p:sp>
        <p:nvSpPr>
          <p:cNvPr id="59" name="Rectangle 58">
            <a:extLst>
              <a:ext uri="{FF2B5EF4-FFF2-40B4-BE49-F238E27FC236}">
                <a16:creationId xmlns:a16="http://schemas.microsoft.com/office/drawing/2014/main" id="{E3BC9FD5-93B3-CD91-CF62-BED6B67A7A06}"/>
              </a:ext>
            </a:extLst>
          </p:cNvPr>
          <p:cNvSpPr/>
          <p:nvPr/>
        </p:nvSpPr>
        <p:spPr>
          <a:xfrm>
            <a:off x="1627678" y="3768038"/>
            <a:ext cx="1681143" cy="450252"/>
          </a:xfrm>
          <a:prstGeom prst="rect">
            <a:avLst/>
          </a:prstGeom>
          <a:solidFill>
            <a:schemeClr val="bg1">
              <a:lumMod val="95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Shared commits common codebase</a:t>
            </a:r>
          </a:p>
        </p:txBody>
      </p:sp>
      <p:sp>
        <p:nvSpPr>
          <p:cNvPr id="1024" name="Rectangle 1023">
            <a:extLst>
              <a:ext uri="{FF2B5EF4-FFF2-40B4-BE49-F238E27FC236}">
                <a16:creationId xmlns:a16="http://schemas.microsoft.com/office/drawing/2014/main" id="{F0F0A3AC-FBF2-787A-27BD-4B046625F690}"/>
              </a:ext>
            </a:extLst>
          </p:cNvPr>
          <p:cNvSpPr/>
          <p:nvPr/>
        </p:nvSpPr>
        <p:spPr>
          <a:xfrm>
            <a:off x="2854720" y="2794788"/>
            <a:ext cx="1243414" cy="339426"/>
          </a:xfrm>
          <a:prstGeom prst="rect">
            <a:avLst/>
          </a:prstGeom>
          <a:solidFill>
            <a:srgbClr val="FFD28B"/>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Fork date</a:t>
            </a:r>
          </a:p>
        </p:txBody>
      </p:sp>
      <p:sp>
        <p:nvSpPr>
          <p:cNvPr id="1025" name="Rectangle 1024">
            <a:extLst>
              <a:ext uri="{FF2B5EF4-FFF2-40B4-BE49-F238E27FC236}">
                <a16:creationId xmlns:a16="http://schemas.microsoft.com/office/drawing/2014/main" id="{868D591C-2AD6-EDD7-3628-ED00BF2F4582}"/>
              </a:ext>
            </a:extLst>
          </p:cNvPr>
          <p:cNvSpPr/>
          <p:nvPr/>
        </p:nvSpPr>
        <p:spPr>
          <a:xfrm>
            <a:off x="5341651" y="2805358"/>
            <a:ext cx="1316130" cy="339426"/>
          </a:xfrm>
          <a:prstGeom prst="rect">
            <a:avLst/>
          </a:prstGeom>
          <a:solidFill>
            <a:srgbClr val="FFD28B"/>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Divergent date</a:t>
            </a:r>
          </a:p>
        </p:txBody>
      </p:sp>
      <p:pic>
        <p:nvPicPr>
          <p:cNvPr id="5" name="Picture 4" descr="Diagram&#10;&#10;Description automatically generated">
            <a:extLst>
              <a:ext uri="{FF2B5EF4-FFF2-40B4-BE49-F238E27FC236}">
                <a16:creationId xmlns:a16="http://schemas.microsoft.com/office/drawing/2014/main" id="{056CBAC3-CEC9-E87C-93BF-B51414CCF3EB}"/>
              </a:ext>
            </a:extLst>
          </p:cNvPr>
          <p:cNvPicPr>
            <a:picLocks noChangeAspect="1"/>
          </p:cNvPicPr>
          <p:nvPr/>
        </p:nvPicPr>
        <p:blipFill rotWithShape="1">
          <a:blip r:embed="rId3"/>
          <a:srcRect l="41210" r="35469" b="57032"/>
          <a:stretch/>
        </p:blipFill>
        <p:spPr>
          <a:xfrm>
            <a:off x="3969073" y="1252999"/>
            <a:ext cx="1348686" cy="1450397"/>
          </a:xfrm>
          <a:prstGeom prst="rect">
            <a:avLst/>
          </a:prstGeom>
        </p:spPr>
      </p:pic>
      <p:grpSp>
        <p:nvGrpSpPr>
          <p:cNvPr id="1115" name="Group 1114">
            <a:extLst>
              <a:ext uri="{FF2B5EF4-FFF2-40B4-BE49-F238E27FC236}">
                <a16:creationId xmlns:a16="http://schemas.microsoft.com/office/drawing/2014/main" id="{991473CC-5C76-8BC5-BE8A-2968F7EE2189}"/>
              </a:ext>
            </a:extLst>
          </p:cNvPr>
          <p:cNvGrpSpPr/>
          <p:nvPr/>
        </p:nvGrpSpPr>
        <p:grpSpPr>
          <a:xfrm>
            <a:off x="5598195" y="4480435"/>
            <a:ext cx="3428540" cy="1814384"/>
            <a:chOff x="5598195" y="4480435"/>
            <a:chExt cx="3428540" cy="1814384"/>
          </a:xfrm>
        </p:grpSpPr>
        <p:pic>
          <p:nvPicPr>
            <p:cNvPr id="23" name="Picture 16" descr="Bug Fix Icons - Download Free Vector Icons | Noun Project">
              <a:extLst>
                <a:ext uri="{FF2B5EF4-FFF2-40B4-BE49-F238E27FC236}">
                  <a16:creationId xmlns:a16="http://schemas.microsoft.com/office/drawing/2014/main" id="{3BCE4DA2-C67A-257A-E2F7-31910B12E1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8195" y="5613142"/>
              <a:ext cx="392002" cy="392002"/>
            </a:xfrm>
            <a:prstGeom prst="rect">
              <a:avLst/>
            </a:prstGeom>
            <a:noFill/>
            <a:extLst>
              <a:ext uri="{909E8E84-426E-40DD-AFC4-6F175D3DCCD1}">
                <a14:hiddenFill xmlns:a14="http://schemas.microsoft.com/office/drawing/2010/main">
                  <a:solidFill>
                    <a:srgbClr val="FFFFFF"/>
                  </a:solidFill>
                </a14:hiddenFill>
              </a:ext>
            </a:extLst>
          </p:spPr>
        </p:pic>
        <p:grpSp>
          <p:nvGrpSpPr>
            <p:cNvPr id="1113" name="Group 1112">
              <a:extLst>
                <a:ext uri="{FF2B5EF4-FFF2-40B4-BE49-F238E27FC236}">
                  <a16:creationId xmlns:a16="http://schemas.microsoft.com/office/drawing/2014/main" id="{AB6A379D-58FC-E4D7-08F1-8555CD7A6B7E}"/>
                </a:ext>
              </a:extLst>
            </p:cNvPr>
            <p:cNvGrpSpPr/>
            <p:nvPr/>
          </p:nvGrpSpPr>
          <p:grpSpPr>
            <a:xfrm>
              <a:off x="6014426" y="4480435"/>
              <a:ext cx="3012309" cy="1814384"/>
              <a:chOff x="6014426" y="4480435"/>
              <a:chExt cx="3012309" cy="1814384"/>
            </a:xfrm>
          </p:grpSpPr>
          <p:sp>
            <p:nvSpPr>
              <p:cNvPr id="45" name="Oval 44">
                <a:extLst>
                  <a:ext uri="{FF2B5EF4-FFF2-40B4-BE49-F238E27FC236}">
                    <a16:creationId xmlns:a16="http://schemas.microsoft.com/office/drawing/2014/main" id="{3845C30A-A0CA-8610-85A0-0C5F6B987D9C}"/>
                  </a:ext>
                </a:extLst>
              </p:cNvPr>
              <p:cNvSpPr/>
              <p:nvPr/>
            </p:nvSpPr>
            <p:spPr>
              <a:xfrm>
                <a:off x="8669549" y="4480435"/>
                <a:ext cx="357186" cy="376031"/>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3DC90A56-D72B-BA1B-3966-C9129C615161}"/>
                  </a:ext>
                </a:extLst>
              </p:cNvPr>
              <p:cNvCxnSpPr>
                <a:cxnSpLocks/>
              </p:cNvCxnSpPr>
              <p:nvPr/>
            </p:nvCxnSpPr>
            <p:spPr>
              <a:xfrm flipH="1" flipV="1">
                <a:off x="6723689" y="4705451"/>
                <a:ext cx="443777" cy="852481"/>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pic>
            <p:nvPicPr>
              <p:cNvPr id="7" name="Picture 6" descr="Diagram&#10;&#10;Description automatically generated">
                <a:extLst>
                  <a:ext uri="{FF2B5EF4-FFF2-40B4-BE49-F238E27FC236}">
                    <a16:creationId xmlns:a16="http://schemas.microsoft.com/office/drawing/2014/main" id="{175467DD-1364-55FC-00CF-B6A93D515614}"/>
                  </a:ext>
                </a:extLst>
              </p:cNvPr>
              <p:cNvPicPr>
                <a:picLocks noChangeAspect="1"/>
              </p:cNvPicPr>
              <p:nvPr/>
            </p:nvPicPr>
            <p:blipFill rotWithShape="1">
              <a:blip r:embed="rId3"/>
              <a:srcRect l="5268" t="27465" r="71410" b="26506"/>
              <a:stretch/>
            </p:blipFill>
            <p:spPr>
              <a:xfrm>
                <a:off x="6014426" y="5082174"/>
                <a:ext cx="831932" cy="1212645"/>
              </a:xfrm>
              <a:prstGeom prst="rect">
                <a:avLst/>
              </a:prstGeom>
            </p:spPr>
          </p:pic>
          <p:sp>
            <p:nvSpPr>
              <p:cNvPr id="9" name="TextBox 8">
                <a:extLst>
                  <a:ext uri="{FF2B5EF4-FFF2-40B4-BE49-F238E27FC236}">
                    <a16:creationId xmlns:a16="http://schemas.microsoft.com/office/drawing/2014/main" id="{6685AC0E-B2F5-341E-C36A-F3515E1DEFF7}"/>
                  </a:ext>
                </a:extLst>
              </p:cNvPr>
              <p:cNvSpPr txBox="1"/>
              <p:nvPr/>
            </p:nvSpPr>
            <p:spPr>
              <a:xfrm>
                <a:off x="6145073" y="4877881"/>
                <a:ext cx="512583" cy="307777"/>
              </a:xfrm>
              <a:prstGeom prst="rect">
                <a:avLst/>
              </a:prstGeom>
              <a:noFill/>
            </p:spPr>
            <p:txBody>
              <a:bodyPr wrap="square" rtlCol="0">
                <a:spAutoFit/>
              </a:bodyPr>
              <a:lstStyle/>
              <a:p>
                <a:r>
                  <a:rPr lang="en-US" sz="1400" dirty="0"/>
                  <a:t>Bob</a:t>
                </a:r>
              </a:p>
            </p:txBody>
          </p:sp>
          <p:cxnSp>
            <p:nvCxnSpPr>
              <p:cNvPr id="1055" name="Straight Connector 1054">
                <a:extLst>
                  <a:ext uri="{FF2B5EF4-FFF2-40B4-BE49-F238E27FC236}">
                    <a16:creationId xmlns:a16="http://schemas.microsoft.com/office/drawing/2014/main" id="{EBDDEE62-DAB5-8A7E-0A58-2871D40EA11F}"/>
                  </a:ext>
                </a:extLst>
              </p:cNvPr>
              <p:cNvCxnSpPr>
                <a:cxnSpLocks/>
              </p:cNvCxnSpPr>
              <p:nvPr/>
            </p:nvCxnSpPr>
            <p:spPr>
              <a:xfrm flipV="1">
                <a:off x="7141641" y="5531745"/>
                <a:ext cx="1885094" cy="17043"/>
              </a:xfrm>
              <a:prstGeom prst="line">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56" name="Straight Connector 1055">
                <a:extLst>
                  <a:ext uri="{FF2B5EF4-FFF2-40B4-BE49-F238E27FC236}">
                    <a16:creationId xmlns:a16="http://schemas.microsoft.com/office/drawing/2014/main" id="{2C30DD9D-738E-694A-6B47-39244B9F122C}"/>
                  </a:ext>
                </a:extLst>
              </p:cNvPr>
              <p:cNvCxnSpPr>
                <a:cxnSpLocks/>
                <a:stCxn id="45" idx="4"/>
              </p:cNvCxnSpPr>
              <p:nvPr/>
            </p:nvCxnSpPr>
            <p:spPr>
              <a:xfrm>
                <a:off x="8848142" y="4856466"/>
                <a:ext cx="0" cy="665408"/>
              </a:xfrm>
              <a:prstGeom prst="line">
                <a:avLst/>
              </a:prstGeom>
              <a:ln w="38100">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grpSp>
      </p:grpSp>
      <p:grpSp>
        <p:nvGrpSpPr>
          <p:cNvPr id="1114" name="Group 1113">
            <a:extLst>
              <a:ext uri="{FF2B5EF4-FFF2-40B4-BE49-F238E27FC236}">
                <a16:creationId xmlns:a16="http://schemas.microsoft.com/office/drawing/2014/main" id="{E4880CAB-6784-3DDB-A285-F659C2BE82E5}"/>
              </a:ext>
            </a:extLst>
          </p:cNvPr>
          <p:cNvGrpSpPr/>
          <p:nvPr/>
        </p:nvGrpSpPr>
        <p:grpSpPr>
          <a:xfrm>
            <a:off x="7925376" y="1071815"/>
            <a:ext cx="2749047" cy="2483527"/>
            <a:chOff x="7925376" y="1071815"/>
            <a:chExt cx="2749047" cy="2483527"/>
          </a:xfrm>
        </p:grpSpPr>
        <p:sp>
          <p:nvSpPr>
            <p:cNvPr id="37" name="Oval 36">
              <a:extLst>
                <a:ext uri="{FF2B5EF4-FFF2-40B4-BE49-F238E27FC236}">
                  <a16:creationId xmlns:a16="http://schemas.microsoft.com/office/drawing/2014/main" id="{5E9C42D2-F3AA-2443-2E22-DE24DB969268}"/>
                </a:ext>
              </a:extLst>
            </p:cNvPr>
            <p:cNvSpPr/>
            <p:nvPr/>
          </p:nvSpPr>
          <p:spPr>
            <a:xfrm>
              <a:off x="10134665" y="3179311"/>
              <a:ext cx="357186" cy="376031"/>
            </a:xfrm>
            <a:prstGeom prst="ellipse">
              <a:avLst/>
            </a:prstGeom>
            <a:solidFill>
              <a:srgbClr val="C79504"/>
            </a:solidFill>
            <a:ln w="28575">
              <a:solidFill>
                <a:srgbClr val="A9430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C0ED087E-DFB0-2D58-F000-252844D60DBB}"/>
                </a:ext>
              </a:extLst>
            </p:cNvPr>
            <p:cNvCxnSpPr>
              <a:cxnSpLocks/>
            </p:cNvCxnSpPr>
            <p:nvPr/>
          </p:nvCxnSpPr>
          <p:spPr>
            <a:xfrm flipV="1">
              <a:off x="7925376" y="2434592"/>
              <a:ext cx="321646" cy="953593"/>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746AB3F-A7B4-E0CE-B8A7-5EB4A7A12C15}"/>
                </a:ext>
              </a:extLst>
            </p:cNvPr>
            <p:cNvCxnSpPr>
              <a:cxnSpLocks/>
            </p:cNvCxnSpPr>
            <p:nvPr/>
          </p:nvCxnSpPr>
          <p:spPr>
            <a:xfrm flipV="1">
              <a:off x="8247022" y="2438832"/>
              <a:ext cx="2427401" cy="6523"/>
            </a:xfrm>
            <a:prstGeom prst="line">
              <a:avLst/>
            </a:prstGeom>
            <a:ln w="38100">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28" name="Straight Connector 1027">
              <a:extLst>
                <a:ext uri="{FF2B5EF4-FFF2-40B4-BE49-F238E27FC236}">
                  <a16:creationId xmlns:a16="http://schemas.microsoft.com/office/drawing/2014/main" id="{B8831F40-C607-2CF6-EFA5-E3196FD9C4E6}"/>
                </a:ext>
              </a:extLst>
            </p:cNvPr>
            <p:cNvCxnSpPr>
              <a:cxnSpLocks/>
            </p:cNvCxnSpPr>
            <p:nvPr/>
          </p:nvCxnSpPr>
          <p:spPr>
            <a:xfrm flipV="1">
              <a:off x="10313258" y="2454499"/>
              <a:ext cx="0" cy="724812"/>
            </a:xfrm>
            <a:prstGeom prst="line">
              <a:avLst/>
            </a:prstGeom>
            <a:ln w="38100">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pic>
          <p:nvPicPr>
            <p:cNvPr id="1061" name="Picture 1060" descr="A green square with black text&#10;&#10;AI-generated content may be incorrect.">
              <a:extLst>
                <a:ext uri="{FF2B5EF4-FFF2-40B4-BE49-F238E27FC236}">
                  <a16:creationId xmlns:a16="http://schemas.microsoft.com/office/drawing/2014/main" id="{14490013-BB86-355D-4D3F-9DDE1D586C85}"/>
                </a:ext>
              </a:extLst>
            </p:cNvPr>
            <p:cNvPicPr>
              <a:picLocks noChangeAspect="1"/>
            </p:cNvPicPr>
            <p:nvPr/>
          </p:nvPicPr>
          <p:blipFill>
            <a:blip r:embed="rId5"/>
            <a:stretch>
              <a:fillRect/>
            </a:stretch>
          </p:blipFill>
          <p:spPr>
            <a:xfrm>
              <a:off x="9440891" y="1379592"/>
              <a:ext cx="872367" cy="1026627"/>
            </a:xfrm>
            <a:prstGeom prst="rect">
              <a:avLst/>
            </a:prstGeom>
          </p:spPr>
        </p:pic>
        <p:pic>
          <p:nvPicPr>
            <p:cNvPr id="1062" name="Picture 1061" descr="Diagram&#10;&#10;Description automatically generated">
              <a:extLst>
                <a:ext uri="{FF2B5EF4-FFF2-40B4-BE49-F238E27FC236}">
                  <a16:creationId xmlns:a16="http://schemas.microsoft.com/office/drawing/2014/main" id="{0D85B32E-FDDE-6898-30D1-BF94FECF9E7C}"/>
                </a:ext>
              </a:extLst>
            </p:cNvPr>
            <p:cNvPicPr>
              <a:picLocks noChangeAspect="1"/>
            </p:cNvPicPr>
            <p:nvPr/>
          </p:nvPicPr>
          <p:blipFill rotWithShape="1">
            <a:blip r:embed="rId3"/>
            <a:srcRect l="77149" t="25969" b="26191"/>
            <a:stretch/>
          </p:blipFill>
          <p:spPr>
            <a:xfrm>
              <a:off x="8525600" y="1423290"/>
              <a:ext cx="898121" cy="939230"/>
            </a:xfrm>
            <a:prstGeom prst="rect">
              <a:avLst/>
            </a:prstGeom>
          </p:spPr>
        </p:pic>
        <p:sp>
          <p:nvSpPr>
            <p:cNvPr id="1063" name="TextBox 1062">
              <a:extLst>
                <a:ext uri="{FF2B5EF4-FFF2-40B4-BE49-F238E27FC236}">
                  <a16:creationId xmlns:a16="http://schemas.microsoft.com/office/drawing/2014/main" id="{36FF3685-DA47-A1C7-1420-66570BD4A84F}"/>
                </a:ext>
              </a:extLst>
            </p:cNvPr>
            <p:cNvSpPr txBox="1"/>
            <p:nvPr/>
          </p:nvSpPr>
          <p:spPr>
            <a:xfrm>
              <a:off x="9085561" y="1071815"/>
              <a:ext cx="643717" cy="307777"/>
            </a:xfrm>
            <a:prstGeom prst="rect">
              <a:avLst/>
            </a:prstGeom>
            <a:noFill/>
          </p:spPr>
          <p:txBody>
            <a:bodyPr wrap="square" rtlCol="0">
              <a:spAutoFit/>
            </a:bodyPr>
            <a:lstStyle/>
            <a:p>
              <a:r>
                <a:rPr lang="en-US" sz="1400" dirty="0"/>
                <a:t>Alice</a:t>
              </a:r>
            </a:p>
          </p:txBody>
        </p:sp>
        <p:pic>
          <p:nvPicPr>
            <p:cNvPr id="1064" name="Picture 1063" descr="Modernize, refactor, refactoring, refurbish, refurbished, restructure icon  - Download on Iconfinder">
              <a:extLst>
                <a:ext uri="{FF2B5EF4-FFF2-40B4-BE49-F238E27FC236}">
                  <a16:creationId xmlns:a16="http://schemas.microsoft.com/office/drawing/2014/main" id="{FACF4119-797F-A64C-4A84-10B17B8092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5400000">
              <a:off x="7932958" y="1614426"/>
              <a:ext cx="566579" cy="5665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12" name="Group 1111">
            <a:extLst>
              <a:ext uri="{FF2B5EF4-FFF2-40B4-BE49-F238E27FC236}">
                <a16:creationId xmlns:a16="http://schemas.microsoft.com/office/drawing/2014/main" id="{1B31C90B-31DA-81A2-5974-25843D1EDC6A}"/>
              </a:ext>
            </a:extLst>
          </p:cNvPr>
          <p:cNvGrpSpPr/>
          <p:nvPr/>
        </p:nvGrpSpPr>
        <p:grpSpPr>
          <a:xfrm>
            <a:off x="9153877" y="4748102"/>
            <a:ext cx="1841561" cy="1470259"/>
            <a:chOff x="9153877" y="4748102"/>
            <a:chExt cx="1841561" cy="1470259"/>
          </a:xfrm>
        </p:grpSpPr>
        <p:pic>
          <p:nvPicPr>
            <p:cNvPr id="1067" name="Picture 1066" descr="Diagram&#10;&#10;Description automatically generated">
              <a:extLst>
                <a:ext uri="{FF2B5EF4-FFF2-40B4-BE49-F238E27FC236}">
                  <a16:creationId xmlns:a16="http://schemas.microsoft.com/office/drawing/2014/main" id="{AB796279-6D2E-75F6-1D23-56BEFB2F9B2B}"/>
                </a:ext>
              </a:extLst>
            </p:cNvPr>
            <p:cNvPicPr>
              <a:picLocks noChangeAspect="1"/>
            </p:cNvPicPr>
            <p:nvPr/>
          </p:nvPicPr>
          <p:blipFill rotWithShape="1">
            <a:blip r:embed="rId3"/>
            <a:srcRect l="41773" t="45550" r="36042" b="764"/>
            <a:stretch/>
          </p:blipFill>
          <p:spPr>
            <a:xfrm>
              <a:off x="9566631" y="4865141"/>
              <a:ext cx="930468" cy="1353220"/>
            </a:xfrm>
            <a:prstGeom prst="rect">
              <a:avLst/>
            </a:prstGeom>
          </p:spPr>
        </p:pic>
        <p:pic>
          <p:nvPicPr>
            <p:cNvPr id="1068" name="Picture 8">
              <a:extLst>
                <a:ext uri="{FF2B5EF4-FFF2-40B4-BE49-F238E27FC236}">
                  <a16:creationId xmlns:a16="http://schemas.microsoft.com/office/drawing/2014/main" id="{5E19EDD5-01FD-F198-48BA-6BBA3F1437C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1199" t="13378" r="11878" b="-265"/>
            <a:stretch>
              <a:fillRect/>
            </a:stretch>
          </p:blipFill>
          <p:spPr bwMode="auto">
            <a:xfrm>
              <a:off x="9153877" y="5167500"/>
              <a:ext cx="463683" cy="600408"/>
            </a:xfrm>
            <a:prstGeom prst="rect">
              <a:avLst/>
            </a:prstGeom>
            <a:noFill/>
            <a:extLst>
              <a:ext uri="{909E8E84-426E-40DD-AFC4-6F175D3DCCD1}">
                <a14:hiddenFill xmlns:a14="http://schemas.microsoft.com/office/drawing/2010/main">
                  <a:solidFill>
                    <a:srgbClr val="FFFFFF"/>
                  </a:solidFill>
                </a14:hiddenFill>
              </a:ext>
            </a:extLst>
          </p:spPr>
        </p:pic>
        <p:pic>
          <p:nvPicPr>
            <p:cNvPr id="1069" name="Picture 14">
              <a:extLst>
                <a:ext uri="{FF2B5EF4-FFF2-40B4-BE49-F238E27FC236}">
                  <a16:creationId xmlns:a16="http://schemas.microsoft.com/office/drawing/2014/main" id="{AD780210-CC8E-42B1-109B-E26B5E82269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2179" t="24355" r="21997" b="22147"/>
            <a:stretch>
              <a:fillRect/>
            </a:stretch>
          </p:blipFill>
          <p:spPr bwMode="auto">
            <a:xfrm>
              <a:off x="9259129" y="5323050"/>
              <a:ext cx="258844" cy="248055"/>
            </a:xfrm>
            <a:prstGeom prst="rect">
              <a:avLst/>
            </a:prstGeom>
            <a:noFill/>
            <a:extLst>
              <a:ext uri="{909E8E84-426E-40DD-AFC4-6F175D3DCCD1}">
                <a14:hiddenFill xmlns:a14="http://schemas.microsoft.com/office/drawing/2010/main">
                  <a:solidFill>
                    <a:srgbClr val="FFFFFF"/>
                  </a:solidFill>
                </a14:hiddenFill>
              </a:ext>
            </a:extLst>
          </p:spPr>
        </p:pic>
        <p:cxnSp>
          <p:nvCxnSpPr>
            <p:cNvPr id="1105" name="Straight Connector 1104">
              <a:extLst>
                <a:ext uri="{FF2B5EF4-FFF2-40B4-BE49-F238E27FC236}">
                  <a16:creationId xmlns:a16="http://schemas.microsoft.com/office/drawing/2014/main" id="{76D93E47-DC5C-D40B-E621-29D9F33F3623}"/>
                </a:ext>
              </a:extLst>
            </p:cNvPr>
            <p:cNvCxnSpPr>
              <a:cxnSpLocks/>
            </p:cNvCxnSpPr>
            <p:nvPr/>
          </p:nvCxnSpPr>
          <p:spPr>
            <a:xfrm flipH="1">
              <a:off x="10491851" y="4748102"/>
              <a:ext cx="503587" cy="241900"/>
            </a:xfrm>
            <a:prstGeom prst="line">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grpSp>
        <p:nvGrpSpPr>
          <p:cNvPr id="1118" name="Group 1117">
            <a:extLst>
              <a:ext uri="{FF2B5EF4-FFF2-40B4-BE49-F238E27FC236}">
                <a16:creationId xmlns:a16="http://schemas.microsoft.com/office/drawing/2014/main" id="{9FA28647-6489-9628-F3FB-790FF246CEE8}"/>
              </a:ext>
            </a:extLst>
          </p:cNvPr>
          <p:cNvGrpSpPr/>
          <p:nvPr/>
        </p:nvGrpSpPr>
        <p:grpSpPr>
          <a:xfrm>
            <a:off x="9354658" y="3555342"/>
            <a:ext cx="1945657" cy="1247828"/>
            <a:chOff x="9354658" y="3555342"/>
            <a:chExt cx="1945657" cy="1247828"/>
          </a:xfrm>
        </p:grpSpPr>
        <p:sp>
          <p:nvSpPr>
            <p:cNvPr id="46" name="Oval 45">
              <a:extLst>
                <a:ext uri="{FF2B5EF4-FFF2-40B4-BE49-F238E27FC236}">
                  <a16:creationId xmlns:a16="http://schemas.microsoft.com/office/drawing/2014/main" id="{C561AFBB-5926-9C61-8C9B-C32A42870177}"/>
                </a:ext>
              </a:extLst>
            </p:cNvPr>
            <p:cNvSpPr/>
            <p:nvPr/>
          </p:nvSpPr>
          <p:spPr>
            <a:xfrm>
              <a:off x="10943129" y="4427139"/>
              <a:ext cx="357186" cy="376031"/>
            </a:xfrm>
            <a:prstGeom prst="ellipse">
              <a:avLst/>
            </a:prstGeom>
            <a:solidFill>
              <a:srgbClr val="FFC000"/>
            </a:solidFill>
            <a:ln w="571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Rectangle 1065">
              <a:extLst>
                <a:ext uri="{FF2B5EF4-FFF2-40B4-BE49-F238E27FC236}">
                  <a16:creationId xmlns:a16="http://schemas.microsoft.com/office/drawing/2014/main" id="{CE7B0075-0DFC-3749-804F-D8CAACCE40DE}"/>
                </a:ext>
              </a:extLst>
            </p:cNvPr>
            <p:cNvSpPr/>
            <p:nvPr/>
          </p:nvSpPr>
          <p:spPr>
            <a:xfrm>
              <a:off x="9354658" y="3759099"/>
              <a:ext cx="1942192" cy="567214"/>
            </a:xfrm>
            <a:prstGeom prst="rect">
              <a:avLst/>
            </a:prstGeom>
            <a:solidFill>
              <a:srgbClr val="A9430E"/>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solidFill>
                    <a:schemeClr val="bg1"/>
                  </a:solidFill>
                </a:rPr>
                <a:t>cherry-pick and apply to target</a:t>
              </a:r>
            </a:p>
          </p:txBody>
        </p:sp>
        <p:cxnSp>
          <p:nvCxnSpPr>
            <p:cNvPr id="1116" name="Straight Connector 1115">
              <a:extLst>
                <a:ext uri="{FF2B5EF4-FFF2-40B4-BE49-F238E27FC236}">
                  <a16:creationId xmlns:a16="http://schemas.microsoft.com/office/drawing/2014/main" id="{7F8B3E21-D18F-504A-9FF0-25FCC1A63B4C}"/>
                </a:ext>
              </a:extLst>
            </p:cNvPr>
            <p:cNvCxnSpPr>
              <a:cxnSpLocks/>
            </p:cNvCxnSpPr>
            <p:nvPr/>
          </p:nvCxnSpPr>
          <p:spPr>
            <a:xfrm>
              <a:off x="10491851" y="4319331"/>
              <a:ext cx="503587" cy="162876"/>
            </a:xfrm>
            <a:prstGeom prst="line">
              <a:avLst/>
            </a:prstGeom>
            <a:ln>
              <a:solidFill>
                <a:schemeClr val="tx1"/>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17" name="Straight Connector 1116">
              <a:extLst>
                <a:ext uri="{FF2B5EF4-FFF2-40B4-BE49-F238E27FC236}">
                  <a16:creationId xmlns:a16="http://schemas.microsoft.com/office/drawing/2014/main" id="{9F52F4D9-6911-0997-FCE7-A6F69C0CAEEE}"/>
                </a:ext>
              </a:extLst>
            </p:cNvPr>
            <p:cNvCxnSpPr>
              <a:cxnSpLocks/>
            </p:cNvCxnSpPr>
            <p:nvPr/>
          </p:nvCxnSpPr>
          <p:spPr>
            <a:xfrm>
              <a:off x="10313258" y="3555342"/>
              <a:ext cx="12496" cy="203757"/>
            </a:xfrm>
            <a:prstGeom prst="line">
              <a:avLst/>
            </a:prstGeom>
            <a:ln>
              <a:solidFill>
                <a:schemeClr val="tx1"/>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grpSp>
        <p:nvGrpSpPr>
          <p:cNvPr id="1120" name="Group 1119">
            <a:extLst>
              <a:ext uri="{FF2B5EF4-FFF2-40B4-BE49-F238E27FC236}">
                <a16:creationId xmlns:a16="http://schemas.microsoft.com/office/drawing/2014/main" id="{C1C0693A-BDE5-1656-E27F-3E45B2EBCE2D}"/>
              </a:ext>
            </a:extLst>
          </p:cNvPr>
          <p:cNvGrpSpPr/>
          <p:nvPr/>
        </p:nvGrpSpPr>
        <p:grpSpPr>
          <a:xfrm>
            <a:off x="10497099" y="4877881"/>
            <a:ext cx="1548437" cy="1340480"/>
            <a:chOff x="10497099" y="4877881"/>
            <a:chExt cx="1548437" cy="1340480"/>
          </a:xfrm>
        </p:grpSpPr>
        <p:grpSp>
          <p:nvGrpSpPr>
            <p:cNvPr id="1111" name="Group 1110">
              <a:extLst>
                <a:ext uri="{FF2B5EF4-FFF2-40B4-BE49-F238E27FC236}">
                  <a16:creationId xmlns:a16="http://schemas.microsoft.com/office/drawing/2014/main" id="{C2F6BECD-A233-7A66-E85E-B15C9DA1323B}"/>
                </a:ext>
              </a:extLst>
            </p:cNvPr>
            <p:cNvGrpSpPr/>
            <p:nvPr/>
          </p:nvGrpSpPr>
          <p:grpSpPr>
            <a:xfrm>
              <a:off x="10497099" y="4877881"/>
              <a:ext cx="1548437" cy="1340480"/>
              <a:chOff x="10497099" y="4877881"/>
              <a:chExt cx="1548437" cy="1340480"/>
            </a:xfrm>
          </p:grpSpPr>
          <p:pic>
            <p:nvPicPr>
              <p:cNvPr id="1104" name="Picture 1103" descr="A green and black math equations&#10;&#10;AI-generated content may be incorrect.">
                <a:extLst>
                  <a:ext uri="{FF2B5EF4-FFF2-40B4-BE49-F238E27FC236}">
                    <a16:creationId xmlns:a16="http://schemas.microsoft.com/office/drawing/2014/main" id="{20D63A94-9DCE-FA09-A9D8-D98C0120FE8E}"/>
                  </a:ext>
                </a:extLst>
              </p:cNvPr>
              <p:cNvPicPr>
                <a:picLocks noChangeAspect="1"/>
              </p:cNvPicPr>
              <p:nvPr/>
            </p:nvPicPr>
            <p:blipFill>
              <a:blip r:embed="rId9"/>
              <a:stretch>
                <a:fillRect/>
              </a:stretch>
            </p:blipFill>
            <p:spPr>
              <a:xfrm>
                <a:off x="11036791" y="4877881"/>
                <a:ext cx="1008745" cy="1340480"/>
              </a:xfrm>
              <a:prstGeom prst="rect">
                <a:avLst/>
              </a:prstGeom>
            </p:spPr>
          </p:pic>
          <p:cxnSp>
            <p:nvCxnSpPr>
              <p:cNvPr id="1108" name="Straight Arrow Connector 1107">
                <a:extLst>
                  <a:ext uri="{FF2B5EF4-FFF2-40B4-BE49-F238E27FC236}">
                    <a16:creationId xmlns:a16="http://schemas.microsoft.com/office/drawing/2014/main" id="{F00A55BD-2DDD-C6C4-A30C-66703BA416E9}"/>
                  </a:ext>
                </a:extLst>
              </p:cNvPr>
              <p:cNvCxnSpPr>
                <a:cxnSpLocks/>
                <a:stCxn id="1067" idx="3"/>
                <a:endCxn id="1104" idx="1"/>
              </p:cNvCxnSpPr>
              <p:nvPr/>
            </p:nvCxnSpPr>
            <p:spPr>
              <a:xfrm>
                <a:off x="10497099" y="5541751"/>
                <a:ext cx="539692" cy="6370"/>
              </a:xfrm>
              <a:prstGeom prst="straightConnector1">
                <a:avLst/>
              </a:prstGeom>
              <a:ln w="57150">
                <a:solidFill>
                  <a:srgbClr val="000000"/>
                </a:solidFill>
                <a:tailEnd type="triangle"/>
              </a:ln>
            </p:spPr>
            <p:style>
              <a:lnRef idx="2">
                <a:schemeClr val="accent1"/>
              </a:lnRef>
              <a:fillRef idx="0">
                <a:schemeClr val="accent1"/>
              </a:fillRef>
              <a:effectRef idx="1">
                <a:schemeClr val="accent1"/>
              </a:effectRef>
              <a:fontRef idx="minor">
                <a:schemeClr val="tx1"/>
              </a:fontRef>
            </p:style>
          </p:cxnSp>
        </p:grpSp>
        <p:sp>
          <p:nvSpPr>
            <p:cNvPr id="1119" name="TextBox 1118">
              <a:extLst>
                <a:ext uri="{FF2B5EF4-FFF2-40B4-BE49-F238E27FC236}">
                  <a16:creationId xmlns:a16="http://schemas.microsoft.com/office/drawing/2014/main" id="{3C721F6E-0C5E-BCE4-BB56-0348A1346175}"/>
                </a:ext>
              </a:extLst>
            </p:cNvPr>
            <p:cNvSpPr txBox="1"/>
            <p:nvPr/>
          </p:nvSpPr>
          <p:spPr>
            <a:xfrm>
              <a:off x="10546581" y="5185658"/>
              <a:ext cx="512583" cy="307777"/>
            </a:xfrm>
            <a:prstGeom prst="rect">
              <a:avLst/>
            </a:prstGeom>
            <a:noFill/>
          </p:spPr>
          <p:txBody>
            <a:bodyPr wrap="square" rtlCol="0">
              <a:spAutoFit/>
            </a:bodyPr>
            <a:lstStyle/>
            <a:p>
              <a:r>
                <a:rPr lang="en-US" sz="1400" dirty="0"/>
                <a:t>Bob</a:t>
              </a:r>
            </a:p>
          </p:txBody>
        </p:sp>
      </p:grpSp>
      <p:pic>
        <p:nvPicPr>
          <p:cNvPr id="3" name="Picture 2">
            <a:extLst>
              <a:ext uri="{FF2B5EF4-FFF2-40B4-BE49-F238E27FC236}">
                <a16:creationId xmlns:a16="http://schemas.microsoft.com/office/drawing/2014/main" id="{7A565611-586A-9D30-C8B0-19025C879697}"/>
              </a:ext>
            </a:extLst>
          </p:cNvPr>
          <p:cNvPicPr>
            <a:picLocks noChangeAspect="1"/>
          </p:cNvPicPr>
          <p:nvPr/>
        </p:nvPicPr>
        <p:blipFill>
          <a:blip r:embed="rId10"/>
          <a:stretch>
            <a:fillRect/>
          </a:stretch>
        </p:blipFill>
        <p:spPr>
          <a:xfrm>
            <a:off x="10930270" y="48128"/>
            <a:ext cx="1136947" cy="725711"/>
          </a:xfrm>
          <a:prstGeom prst="rect">
            <a:avLst/>
          </a:prstGeom>
        </p:spPr>
      </p:pic>
    </p:spTree>
    <p:extLst>
      <p:ext uri="{BB962C8B-B14F-4D97-AF65-F5344CB8AC3E}">
        <p14:creationId xmlns:p14="http://schemas.microsoft.com/office/powerpoint/2010/main" val="90091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04672"/>
          </a:xfrm>
          <a:prstGeom prst="rect">
            <a:avLst/>
          </a:prstGeom>
          <a:solidFill>
            <a:srgbClr val="6E7D82"/>
          </a:solidFill>
          <a:ln w="12700">
            <a:solidFill>
              <a:srgbClr val="6E7D82"/>
            </a:solidFill>
            <a:prstDash val="solid"/>
          </a:ln>
        </p:spPr>
        <p:txBody>
          <a:bodyPr/>
          <a:lstStyle/>
          <a:p>
            <a:endParaRPr lang="en-US"/>
          </a:p>
        </p:txBody>
      </p:sp>
      <p:sp>
        <p:nvSpPr>
          <p:cNvPr id="3" name="Text 1"/>
          <p:cNvSpPr/>
          <p:nvPr/>
        </p:nvSpPr>
        <p:spPr>
          <a:xfrm>
            <a:off x="502920" y="164592"/>
            <a:ext cx="7132320" cy="411480"/>
          </a:xfrm>
          <a:prstGeom prst="rect">
            <a:avLst/>
          </a:prstGeom>
          <a:noFill/>
          <a:ln/>
        </p:spPr>
        <p:txBody>
          <a:bodyPr wrap="square" lIns="0" tIns="0" rIns="0" bIns="0" rtlCol="0" anchor="ctr"/>
          <a:lstStyle/>
          <a:p>
            <a:pPr marL="0" indent="0">
              <a:buNone/>
            </a:pPr>
            <a:r>
              <a:rPr lang="en-US" sz="3000" dirty="0">
                <a:solidFill>
                  <a:srgbClr val="FFFFFF"/>
                </a:solidFill>
                <a:latin typeface="Aptos" pitchFamily="34" charset="0"/>
                <a:ea typeface="Aptos" pitchFamily="34" charset="-122"/>
                <a:cs typeface="Aptos" pitchFamily="34" charset="-120"/>
              </a:rPr>
              <a:t>Refactoring-Aware Merging</a:t>
            </a:r>
            <a:endParaRPr lang="en-US" sz="3000" dirty="0"/>
          </a:p>
        </p:txBody>
      </p:sp>
      <p:sp>
        <p:nvSpPr>
          <p:cNvPr id="4" name="Text 2"/>
          <p:cNvSpPr/>
          <p:nvPr/>
        </p:nvSpPr>
        <p:spPr>
          <a:xfrm>
            <a:off x="530352" y="987552"/>
            <a:ext cx="10789920" cy="310896"/>
          </a:xfrm>
          <a:prstGeom prst="rect">
            <a:avLst/>
          </a:prstGeom>
          <a:noFill/>
          <a:ln/>
        </p:spPr>
        <p:txBody>
          <a:bodyPr wrap="square" lIns="0" tIns="0" rIns="0" bIns="0" rtlCol="0" anchor="ctr"/>
          <a:lstStyle/>
          <a:p>
            <a:pPr marL="0" indent="0">
              <a:buNone/>
            </a:pPr>
            <a:r>
              <a:rPr lang="en-US" sz="2000" dirty="0">
                <a:solidFill>
                  <a:srgbClr val="202733"/>
                </a:solidFill>
                <a:latin typeface="Arial" panose="020B0604020202020204" pitchFamily="34" charset="0"/>
                <a:ea typeface="Aptos" pitchFamily="34" charset="-122"/>
                <a:cs typeface="Arial" panose="020B0604020202020204" pitchFamily="34" charset="0"/>
              </a:rPr>
              <a:t>Use code history and refactorings to explain conflicts before resolving them.</a:t>
            </a:r>
            <a:endParaRPr lang="en-US" sz="2000" dirty="0">
              <a:latin typeface="Arial" panose="020B0604020202020204" pitchFamily="34" charset="0"/>
              <a:cs typeface="Arial" panose="020B0604020202020204" pitchFamily="34" charset="0"/>
            </a:endParaRPr>
          </a:p>
        </p:txBody>
      </p:sp>
      <p:sp>
        <p:nvSpPr>
          <p:cNvPr id="5" name="Shape 3"/>
          <p:cNvSpPr/>
          <p:nvPr/>
        </p:nvSpPr>
        <p:spPr>
          <a:xfrm>
            <a:off x="658368" y="1847088"/>
            <a:ext cx="2450592" cy="3401568"/>
          </a:xfrm>
          <a:prstGeom prst="roundRect">
            <a:avLst>
              <a:gd name="adj" fmla="val 2985"/>
            </a:avLst>
          </a:prstGeom>
          <a:solidFill>
            <a:srgbClr val="FFFFFF"/>
          </a:solidFill>
          <a:ln w="19050">
            <a:solidFill>
              <a:srgbClr val="2F80ED"/>
            </a:solidFill>
            <a:prstDash val="solid"/>
          </a:ln>
        </p:spPr>
        <p:txBody>
          <a:bodyPr/>
          <a:lstStyle/>
          <a:p>
            <a:endParaRPr lang="en-US"/>
          </a:p>
        </p:txBody>
      </p:sp>
      <p:sp>
        <p:nvSpPr>
          <p:cNvPr id="6" name="Shape 4"/>
          <p:cNvSpPr/>
          <p:nvPr/>
        </p:nvSpPr>
        <p:spPr>
          <a:xfrm>
            <a:off x="822960" y="2011680"/>
            <a:ext cx="438912" cy="438912"/>
          </a:xfrm>
          <a:prstGeom prst="ellipse">
            <a:avLst/>
          </a:prstGeom>
          <a:solidFill>
            <a:srgbClr val="123FEA"/>
          </a:solidFill>
          <a:ln w="12700">
            <a:solidFill>
              <a:srgbClr val="123FEA"/>
            </a:solidFill>
            <a:prstDash val="solid"/>
          </a:ln>
        </p:spPr>
        <p:txBody>
          <a:bodyPr/>
          <a:lstStyle/>
          <a:p>
            <a:endParaRPr lang="en-US"/>
          </a:p>
        </p:txBody>
      </p:sp>
      <p:sp>
        <p:nvSpPr>
          <p:cNvPr id="7" name="Text 5"/>
          <p:cNvSpPr/>
          <p:nvPr/>
        </p:nvSpPr>
        <p:spPr>
          <a:xfrm>
            <a:off x="822960" y="2075688"/>
            <a:ext cx="438912" cy="20116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8" name="Text 6"/>
          <p:cNvSpPr/>
          <p:nvPr/>
        </p:nvSpPr>
        <p:spPr>
          <a:xfrm>
            <a:off x="1371600" y="2029968"/>
            <a:ext cx="1572768" cy="502920"/>
          </a:xfrm>
          <a:prstGeom prst="rect">
            <a:avLst/>
          </a:prstGeom>
          <a:noFill/>
          <a:ln/>
        </p:spPr>
        <p:txBody>
          <a:bodyPr wrap="square" lIns="0" tIns="0" rIns="0" bIns="0" rtlCol="0" anchor="ctr"/>
          <a:lstStyle/>
          <a:p>
            <a:pPr marL="0" indent="0">
              <a:buNone/>
            </a:pPr>
            <a:r>
              <a:rPr lang="en-US" sz="2000" b="1" dirty="0">
                <a:solidFill>
                  <a:srgbClr val="172033"/>
                </a:solidFill>
              </a:rPr>
              <a:t>Locate Conflict</a:t>
            </a:r>
            <a:endParaRPr lang="en-US" sz="2000" dirty="0"/>
          </a:p>
        </p:txBody>
      </p:sp>
      <p:sp>
        <p:nvSpPr>
          <p:cNvPr id="9" name="Shape 7"/>
          <p:cNvSpPr/>
          <p:nvPr/>
        </p:nvSpPr>
        <p:spPr>
          <a:xfrm>
            <a:off x="1033272" y="2834640"/>
            <a:ext cx="658368" cy="822960"/>
          </a:xfrm>
          <a:prstGeom prst="rect">
            <a:avLst/>
          </a:prstGeom>
          <a:solidFill>
            <a:srgbClr val="EAF3FC"/>
          </a:solidFill>
          <a:ln w="12700">
            <a:solidFill>
              <a:srgbClr val="1669C1"/>
            </a:solidFill>
            <a:prstDash val="solid"/>
          </a:ln>
        </p:spPr>
        <p:txBody>
          <a:bodyPr/>
          <a:lstStyle/>
          <a:p>
            <a:endParaRPr lang="en-US"/>
          </a:p>
        </p:txBody>
      </p:sp>
      <p:sp>
        <p:nvSpPr>
          <p:cNvPr id="10" name="Shape 8"/>
          <p:cNvSpPr/>
          <p:nvPr/>
        </p:nvSpPr>
        <p:spPr>
          <a:xfrm>
            <a:off x="2084832" y="2834640"/>
            <a:ext cx="658368" cy="822960"/>
          </a:xfrm>
          <a:prstGeom prst="rect">
            <a:avLst/>
          </a:prstGeom>
          <a:solidFill>
            <a:srgbClr val="EAF3FC"/>
          </a:solidFill>
          <a:ln w="12700">
            <a:solidFill>
              <a:srgbClr val="1669C1"/>
            </a:solidFill>
            <a:prstDash val="solid"/>
          </a:ln>
        </p:spPr>
        <p:txBody>
          <a:bodyPr/>
          <a:lstStyle/>
          <a:p>
            <a:endParaRPr lang="en-US"/>
          </a:p>
        </p:txBody>
      </p:sp>
      <p:sp>
        <p:nvSpPr>
          <p:cNvPr id="11" name="Shape 9"/>
          <p:cNvSpPr/>
          <p:nvPr/>
        </p:nvSpPr>
        <p:spPr>
          <a:xfrm>
            <a:off x="1124712" y="2990088"/>
            <a:ext cx="457200" cy="0"/>
          </a:xfrm>
          <a:prstGeom prst="line">
            <a:avLst/>
          </a:prstGeom>
          <a:noFill/>
          <a:ln w="12700">
            <a:solidFill>
              <a:srgbClr val="5B6674"/>
            </a:solidFill>
            <a:prstDash val="solid"/>
          </a:ln>
        </p:spPr>
        <p:txBody>
          <a:bodyPr/>
          <a:lstStyle/>
          <a:p>
            <a:endParaRPr lang="en-US"/>
          </a:p>
        </p:txBody>
      </p:sp>
      <p:sp>
        <p:nvSpPr>
          <p:cNvPr id="12" name="Shape 10"/>
          <p:cNvSpPr/>
          <p:nvPr/>
        </p:nvSpPr>
        <p:spPr>
          <a:xfrm>
            <a:off x="2176272" y="2990088"/>
            <a:ext cx="457200" cy="0"/>
          </a:xfrm>
          <a:prstGeom prst="line">
            <a:avLst/>
          </a:prstGeom>
          <a:noFill/>
          <a:ln w="12700">
            <a:solidFill>
              <a:srgbClr val="5B6674"/>
            </a:solidFill>
            <a:prstDash val="solid"/>
          </a:ln>
        </p:spPr>
        <p:txBody>
          <a:bodyPr/>
          <a:lstStyle/>
          <a:p>
            <a:endParaRPr lang="en-US"/>
          </a:p>
        </p:txBody>
      </p:sp>
      <p:sp>
        <p:nvSpPr>
          <p:cNvPr id="13" name="Shape 11"/>
          <p:cNvSpPr/>
          <p:nvPr/>
        </p:nvSpPr>
        <p:spPr>
          <a:xfrm>
            <a:off x="1124712" y="3127248"/>
            <a:ext cx="457200" cy="0"/>
          </a:xfrm>
          <a:prstGeom prst="line">
            <a:avLst/>
          </a:prstGeom>
          <a:noFill/>
          <a:ln w="12700">
            <a:solidFill>
              <a:srgbClr val="5B6674"/>
            </a:solidFill>
            <a:prstDash val="solid"/>
          </a:ln>
        </p:spPr>
        <p:txBody>
          <a:bodyPr/>
          <a:lstStyle/>
          <a:p>
            <a:endParaRPr lang="en-US"/>
          </a:p>
        </p:txBody>
      </p:sp>
      <p:sp>
        <p:nvSpPr>
          <p:cNvPr id="14" name="Shape 12"/>
          <p:cNvSpPr/>
          <p:nvPr/>
        </p:nvSpPr>
        <p:spPr>
          <a:xfrm>
            <a:off x="2176272" y="3127248"/>
            <a:ext cx="457200" cy="0"/>
          </a:xfrm>
          <a:prstGeom prst="line">
            <a:avLst/>
          </a:prstGeom>
          <a:noFill/>
          <a:ln w="25400">
            <a:solidFill>
              <a:srgbClr val="D84A4A"/>
            </a:solidFill>
            <a:prstDash val="solid"/>
          </a:ln>
        </p:spPr>
        <p:txBody>
          <a:bodyPr/>
          <a:lstStyle/>
          <a:p>
            <a:endParaRPr lang="en-US"/>
          </a:p>
        </p:txBody>
      </p:sp>
      <p:sp>
        <p:nvSpPr>
          <p:cNvPr id="15" name="Shape 13"/>
          <p:cNvSpPr/>
          <p:nvPr/>
        </p:nvSpPr>
        <p:spPr>
          <a:xfrm>
            <a:off x="1124712" y="3264408"/>
            <a:ext cx="457200" cy="0"/>
          </a:xfrm>
          <a:prstGeom prst="line">
            <a:avLst/>
          </a:prstGeom>
          <a:noFill/>
          <a:ln w="25400">
            <a:solidFill>
              <a:srgbClr val="D84A4A"/>
            </a:solidFill>
            <a:prstDash val="solid"/>
          </a:ln>
        </p:spPr>
        <p:txBody>
          <a:bodyPr/>
          <a:lstStyle/>
          <a:p>
            <a:endParaRPr lang="en-US"/>
          </a:p>
        </p:txBody>
      </p:sp>
      <p:sp>
        <p:nvSpPr>
          <p:cNvPr id="16" name="Shape 14"/>
          <p:cNvSpPr/>
          <p:nvPr/>
        </p:nvSpPr>
        <p:spPr>
          <a:xfrm>
            <a:off x="2176272" y="3264408"/>
            <a:ext cx="457200" cy="0"/>
          </a:xfrm>
          <a:prstGeom prst="line">
            <a:avLst/>
          </a:prstGeom>
          <a:noFill/>
          <a:ln w="12700">
            <a:solidFill>
              <a:srgbClr val="5B6674"/>
            </a:solidFill>
            <a:prstDash val="solid"/>
          </a:ln>
        </p:spPr>
        <p:txBody>
          <a:bodyPr/>
          <a:lstStyle/>
          <a:p>
            <a:endParaRPr lang="en-US"/>
          </a:p>
        </p:txBody>
      </p:sp>
      <p:sp>
        <p:nvSpPr>
          <p:cNvPr id="17" name="Shape 15"/>
          <p:cNvSpPr/>
          <p:nvPr/>
        </p:nvSpPr>
        <p:spPr>
          <a:xfrm>
            <a:off x="1124712" y="3401568"/>
            <a:ext cx="457200" cy="0"/>
          </a:xfrm>
          <a:prstGeom prst="line">
            <a:avLst/>
          </a:prstGeom>
          <a:noFill/>
          <a:ln w="12700">
            <a:solidFill>
              <a:srgbClr val="5B6674"/>
            </a:solidFill>
            <a:prstDash val="solid"/>
          </a:ln>
        </p:spPr>
        <p:txBody>
          <a:bodyPr/>
          <a:lstStyle/>
          <a:p>
            <a:endParaRPr lang="en-US"/>
          </a:p>
        </p:txBody>
      </p:sp>
      <p:sp>
        <p:nvSpPr>
          <p:cNvPr id="18" name="Shape 16"/>
          <p:cNvSpPr/>
          <p:nvPr/>
        </p:nvSpPr>
        <p:spPr>
          <a:xfrm>
            <a:off x="2176272" y="3401568"/>
            <a:ext cx="457200" cy="0"/>
          </a:xfrm>
          <a:prstGeom prst="line">
            <a:avLst/>
          </a:prstGeom>
          <a:noFill/>
          <a:ln w="12700">
            <a:solidFill>
              <a:srgbClr val="5B6674"/>
            </a:solidFill>
            <a:prstDash val="solid"/>
          </a:ln>
        </p:spPr>
        <p:txBody>
          <a:bodyPr/>
          <a:lstStyle/>
          <a:p>
            <a:endParaRPr lang="en-US"/>
          </a:p>
        </p:txBody>
      </p:sp>
      <p:sp>
        <p:nvSpPr>
          <p:cNvPr id="19" name="Shape 17"/>
          <p:cNvSpPr/>
          <p:nvPr/>
        </p:nvSpPr>
        <p:spPr>
          <a:xfrm>
            <a:off x="1691640" y="3264408"/>
            <a:ext cx="320040" cy="228600"/>
          </a:xfrm>
          <a:prstGeom prst="line">
            <a:avLst/>
          </a:prstGeom>
          <a:noFill/>
          <a:ln w="25400">
            <a:solidFill>
              <a:srgbClr val="5B6674"/>
            </a:solidFill>
            <a:prstDash val="solid"/>
            <a:headEnd type="none"/>
            <a:tailEnd type="triangle"/>
          </a:ln>
        </p:spPr>
        <p:txBody>
          <a:bodyPr/>
          <a:lstStyle/>
          <a:p>
            <a:endParaRPr lang="en-US"/>
          </a:p>
        </p:txBody>
      </p:sp>
      <p:sp>
        <p:nvSpPr>
          <p:cNvPr id="20" name="Shape 18"/>
          <p:cNvSpPr/>
          <p:nvPr/>
        </p:nvSpPr>
        <p:spPr>
          <a:xfrm>
            <a:off x="1728216" y="3749040"/>
            <a:ext cx="329184" cy="329184"/>
          </a:xfrm>
          <a:prstGeom prst="ellipse">
            <a:avLst/>
          </a:prstGeom>
          <a:solidFill>
            <a:srgbClr val="D84A4A"/>
          </a:solidFill>
          <a:ln w="12700">
            <a:solidFill>
              <a:srgbClr val="D84A4A"/>
            </a:solidFill>
            <a:prstDash val="solid"/>
          </a:ln>
        </p:spPr>
        <p:txBody>
          <a:bodyPr/>
          <a:lstStyle/>
          <a:p>
            <a:endParaRPr lang="en-US"/>
          </a:p>
        </p:txBody>
      </p:sp>
      <p:sp>
        <p:nvSpPr>
          <p:cNvPr id="21" name="Text 19"/>
          <p:cNvSpPr/>
          <p:nvPr/>
        </p:nvSpPr>
        <p:spPr>
          <a:xfrm>
            <a:off x="1728216" y="3749040"/>
            <a:ext cx="329184" cy="274320"/>
          </a:xfrm>
          <a:prstGeom prst="rect">
            <a:avLst/>
          </a:prstGeom>
          <a:noFill/>
          <a:ln/>
        </p:spPr>
        <p:txBody>
          <a:bodyPr wrap="square" lIns="0" tIns="0" rIns="0" bIns="0" rtlCol="0" anchor="ctr"/>
          <a:lstStyle/>
          <a:p>
            <a:pPr marL="0" indent="0" algn="ctr">
              <a:buNone/>
            </a:pPr>
            <a:r>
              <a:rPr lang="en-US" sz="2000" b="1" dirty="0">
                <a:solidFill>
                  <a:srgbClr val="FFFFFF"/>
                </a:solidFill>
              </a:rPr>
              <a:t>×</a:t>
            </a:r>
            <a:endParaRPr lang="en-US" sz="2000" dirty="0"/>
          </a:p>
        </p:txBody>
      </p:sp>
      <p:sp>
        <p:nvSpPr>
          <p:cNvPr id="22" name="Text 20"/>
          <p:cNvSpPr/>
          <p:nvPr/>
        </p:nvSpPr>
        <p:spPr>
          <a:xfrm>
            <a:off x="914400" y="4389120"/>
            <a:ext cx="1938528" cy="585216"/>
          </a:xfrm>
          <a:prstGeom prst="rect">
            <a:avLst/>
          </a:prstGeom>
          <a:noFill/>
          <a:ln/>
        </p:spPr>
        <p:txBody>
          <a:bodyPr wrap="square" lIns="381" tIns="381" rIns="381" bIns="381" rtlCol="0" anchor="ctr"/>
          <a:lstStyle/>
          <a:p>
            <a:pPr marL="0" indent="0" algn="ctr">
              <a:buNone/>
            </a:pPr>
            <a:r>
              <a:rPr lang="en-US" sz="1400" dirty="0">
                <a:solidFill>
                  <a:srgbClr val="5B6674"/>
                </a:solidFill>
              </a:rPr>
              <a:t>Identify the code region where patch integration fails.</a:t>
            </a:r>
            <a:endParaRPr lang="en-US" sz="1400" dirty="0"/>
          </a:p>
        </p:txBody>
      </p:sp>
      <p:sp>
        <p:nvSpPr>
          <p:cNvPr id="23" name="Shape 21"/>
          <p:cNvSpPr/>
          <p:nvPr/>
        </p:nvSpPr>
        <p:spPr>
          <a:xfrm>
            <a:off x="3447288" y="1847088"/>
            <a:ext cx="2450592" cy="3401568"/>
          </a:xfrm>
          <a:prstGeom prst="roundRect">
            <a:avLst>
              <a:gd name="adj" fmla="val 2985"/>
            </a:avLst>
          </a:prstGeom>
          <a:solidFill>
            <a:srgbClr val="FFFFFF"/>
          </a:solidFill>
          <a:ln w="19050">
            <a:solidFill>
              <a:srgbClr val="2F80ED"/>
            </a:solidFill>
            <a:prstDash val="solid"/>
          </a:ln>
        </p:spPr>
        <p:txBody>
          <a:bodyPr/>
          <a:lstStyle/>
          <a:p>
            <a:endParaRPr lang="en-US"/>
          </a:p>
        </p:txBody>
      </p:sp>
      <p:sp>
        <p:nvSpPr>
          <p:cNvPr id="24" name="Shape 22"/>
          <p:cNvSpPr/>
          <p:nvPr/>
        </p:nvSpPr>
        <p:spPr>
          <a:xfrm>
            <a:off x="3611880" y="2011680"/>
            <a:ext cx="438912" cy="438912"/>
          </a:xfrm>
          <a:prstGeom prst="ellipse">
            <a:avLst/>
          </a:prstGeom>
          <a:solidFill>
            <a:srgbClr val="123FEA"/>
          </a:solidFill>
          <a:ln w="12700">
            <a:solidFill>
              <a:srgbClr val="123FEA"/>
            </a:solidFill>
            <a:prstDash val="solid"/>
          </a:ln>
        </p:spPr>
        <p:txBody>
          <a:bodyPr/>
          <a:lstStyle/>
          <a:p>
            <a:endParaRPr lang="en-US"/>
          </a:p>
        </p:txBody>
      </p:sp>
      <p:sp>
        <p:nvSpPr>
          <p:cNvPr id="25" name="Text 23"/>
          <p:cNvSpPr/>
          <p:nvPr/>
        </p:nvSpPr>
        <p:spPr>
          <a:xfrm>
            <a:off x="3611880" y="2075688"/>
            <a:ext cx="438912" cy="20116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26" name="Text 24"/>
          <p:cNvSpPr/>
          <p:nvPr/>
        </p:nvSpPr>
        <p:spPr>
          <a:xfrm>
            <a:off x="4160520" y="2029968"/>
            <a:ext cx="1572768" cy="502920"/>
          </a:xfrm>
          <a:prstGeom prst="rect">
            <a:avLst/>
          </a:prstGeom>
          <a:noFill/>
          <a:ln/>
        </p:spPr>
        <p:txBody>
          <a:bodyPr wrap="square" lIns="0" tIns="0" rIns="0" bIns="0" rtlCol="0" anchor="ctr"/>
          <a:lstStyle/>
          <a:p>
            <a:pPr marL="0" indent="0">
              <a:buNone/>
            </a:pPr>
            <a:r>
              <a:rPr lang="en-US" sz="2000" b="1" dirty="0">
                <a:solidFill>
                  <a:srgbClr val="172033"/>
                </a:solidFill>
              </a:rPr>
              <a:t>Trace Evolution</a:t>
            </a:r>
            <a:endParaRPr lang="en-US" sz="2000" dirty="0"/>
          </a:p>
        </p:txBody>
      </p:sp>
      <p:sp>
        <p:nvSpPr>
          <p:cNvPr id="27" name="Shape 25"/>
          <p:cNvSpPr/>
          <p:nvPr/>
        </p:nvSpPr>
        <p:spPr>
          <a:xfrm>
            <a:off x="3730752" y="3383280"/>
            <a:ext cx="1874520" cy="0"/>
          </a:xfrm>
          <a:prstGeom prst="line">
            <a:avLst/>
          </a:prstGeom>
          <a:noFill/>
          <a:ln w="38100">
            <a:solidFill>
              <a:srgbClr val="202733"/>
            </a:solidFill>
            <a:prstDash val="solid"/>
          </a:ln>
        </p:spPr>
        <p:txBody>
          <a:bodyPr/>
          <a:lstStyle/>
          <a:p>
            <a:endParaRPr lang="en-US"/>
          </a:p>
        </p:txBody>
      </p:sp>
      <p:sp>
        <p:nvSpPr>
          <p:cNvPr id="28" name="Shape 26"/>
          <p:cNvSpPr/>
          <p:nvPr/>
        </p:nvSpPr>
        <p:spPr>
          <a:xfrm>
            <a:off x="3849624" y="3282696"/>
            <a:ext cx="201168" cy="201168"/>
          </a:xfrm>
          <a:prstGeom prst="ellipse">
            <a:avLst/>
          </a:prstGeom>
          <a:solidFill>
            <a:srgbClr val="43A047"/>
          </a:solidFill>
          <a:ln w="8890">
            <a:solidFill>
              <a:srgbClr val="FFFFFF"/>
            </a:solidFill>
            <a:prstDash val="solid"/>
          </a:ln>
        </p:spPr>
        <p:txBody>
          <a:bodyPr/>
          <a:lstStyle/>
          <a:p>
            <a:endParaRPr lang="en-US"/>
          </a:p>
        </p:txBody>
      </p:sp>
      <p:sp>
        <p:nvSpPr>
          <p:cNvPr id="29" name="Shape 27"/>
          <p:cNvSpPr/>
          <p:nvPr/>
        </p:nvSpPr>
        <p:spPr>
          <a:xfrm>
            <a:off x="4187952" y="3282696"/>
            <a:ext cx="201168" cy="201168"/>
          </a:xfrm>
          <a:prstGeom prst="ellipse">
            <a:avLst/>
          </a:prstGeom>
          <a:solidFill>
            <a:srgbClr val="43A047"/>
          </a:solidFill>
          <a:ln w="8890">
            <a:solidFill>
              <a:srgbClr val="FFFFFF"/>
            </a:solidFill>
            <a:prstDash val="solid"/>
          </a:ln>
        </p:spPr>
        <p:txBody>
          <a:bodyPr/>
          <a:lstStyle/>
          <a:p>
            <a:endParaRPr lang="en-US"/>
          </a:p>
        </p:txBody>
      </p:sp>
      <p:sp>
        <p:nvSpPr>
          <p:cNvPr id="30" name="Shape 28"/>
          <p:cNvSpPr/>
          <p:nvPr/>
        </p:nvSpPr>
        <p:spPr>
          <a:xfrm>
            <a:off x="4526280" y="3282696"/>
            <a:ext cx="201168" cy="201168"/>
          </a:xfrm>
          <a:prstGeom prst="ellipse">
            <a:avLst/>
          </a:prstGeom>
          <a:solidFill>
            <a:srgbClr val="2F80ED"/>
          </a:solidFill>
          <a:ln w="8890">
            <a:solidFill>
              <a:srgbClr val="FFFFFF"/>
            </a:solidFill>
            <a:prstDash val="solid"/>
          </a:ln>
        </p:spPr>
        <p:txBody>
          <a:bodyPr/>
          <a:lstStyle/>
          <a:p>
            <a:endParaRPr lang="en-US"/>
          </a:p>
        </p:txBody>
      </p:sp>
      <p:sp>
        <p:nvSpPr>
          <p:cNvPr id="31" name="Shape 29"/>
          <p:cNvSpPr/>
          <p:nvPr/>
        </p:nvSpPr>
        <p:spPr>
          <a:xfrm>
            <a:off x="4873752" y="3282696"/>
            <a:ext cx="201168" cy="201168"/>
          </a:xfrm>
          <a:prstGeom prst="ellipse">
            <a:avLst/>
          </a:prstGeom>
          <a:solidFill>
            <a:srgbClr val="D8781F"/>
          </a:solidFill>
          <a:ln w="8890">
            <a:solidFill>
              <a:srgbClr val="FFFFFF"/>
            </a:solidFill>
            <a:prstDash val="solid"/>
          </a:ln>
        </p:spPr>
        <p:txBody>
          <a:bodyPr/>
          <a:lstStyle/>
          <a:p>
            <a:endParaRPr lang="en-US"/>
          </a:p>
        </p:txBody>
      </p:sp>
      <p:sp>
        <p:nvSpPr>
          <p:cNvPr id="32" name="Shape 30"/>
          <p:cNvSpPr/>
          <p:nvPr/>
        </p:nvSpPr>
        <p:spPr>
          <a:xfrm>
            <a:off x="5257800" y="3282696"/>
            <a:ext cx="201168" cy="201168"/>
          </a:xfrm>
          <a:prstGeom prst="ellipse">
            <a:avLst/>
          </a:prstGeom>
          <a:solidFill>
            <a:srgbClr val="D8781F"/>
          </a:solidFill>
          <a:ln w="8890">
            <a:solidFill>
              <a:srgbClr val="FFFFFF"/>
            </a:solidFill>
            <a:prstDash val="solid"/>
          </a:ln>
        </p:spPr>
        <p:txBody>
          <a:bodyPr/>
          <a:lstStyle/>
          <a:p>
            <a:endParaRPr lang="en-US"/>
          </a:p>
        </p:txBody>
      </p:sp>
      <p:sp>
        <p:nvSpPr>
          <p:cNvPr id="33" name="Shape 31"/>
          <p:cNvSpPr/>
          <p:nvPr/>
        </p:nvSpPr>
        <p:spPr>
          <a:xfrm>
            <a:off x="4526280" y="3383280"/>
            <a:ext cx="420624" cy="0"/>
          </a:xfrm>
          <a:prstGeom prst="line">
            <a:avLst/>
          </a:prstGeom>
          <a:noFill/>
          <a:ln w="25400">
            <a:solidFill>
              <a:srgbClr val="2F80ED"/>
            </a:solidFill>
            <a:prstDash val="solid"/>
          </a:ln>
        </p:spPr>
        <p:txBody>
          <a:bodyPr/>
          <a:lstStyle/>
          <a:p>
            <a:endParaRPr lang="en-US"/>
          </a:p>
        </p:txBody>
      </p:sp>
      <p:sp>
        <p:nvSpPr>
          <p:cNvPr id="34" name="Shape 32"/>
          <p:cNvSpPr/>
          <p:nvPr/>
        </p:nvSpPr>
        <p:spPr>
          <a:xfrm>
            <a:off x="4946904" y="2944368"/>
            <a:ext cx="576072" cy="0"/>
          </a:xfrm>
          <a:prstGeom prst="line">
            <a:avLst/>
          </a:prstGeom>
          <a:noFill/>
          <a:ln w="25400">
            <a:solidFill>
              <a:srgbClr val="2F80ED"/>
            </a:solidFill>
            <a:prstDash val="solid"/>
          </a:ln>
        </p:spPr>
        <p:txBody>
          <a:bodyPr/>
          <a:lstStyle/>
          <a:p>
            <a:endParaRPr lang="en-US"/>
          </a:p>
        </p:txBody>
      </p:sp>
      <p:sp>
        <p:nvSpPr>
          <p:cNvPr id="35" name="Shape 33"/>
          <p:cNvSpPr/>
          <p:nvPr/>
        </p:nvSpPr>
        <p:spPr>
          <a:xfrm>
            <a:off x="4946904" y="2843784"/>
            <a:ext cx="201168" cy="201168"/>
          </a:xfrm>
          <a:prstGeom prst="ellipse">
            <a:avLst/>
          </a:prstGeom>
          <a:solidFill>
            <a:srgbClr val="2F80ED"/>
          </a:solidFill>
          <a:ln w="8890">
            <a:solidFill>
              <a:srgbClr val="FFFFFF"/>
            </a:solidFill>
            <a:prstDash val="solid"/>
          </a:ln>
        </p:spPr>
        <p:txBody>
          <a:bodyPr/>
          <a:lstStyle/>
          <a:p>
            <a:endParaRPr lang="en-US"/>
          </a:p>
        </p:txBody>
      </p:sp>
      <p:sp>
        <p:nvSpPr>
          <p:cNvPr id="36" name="Shape 34"/>
          <p:cNvSpPr/>
          <p:nvPr/>
        </p:nvSpPr>
        <p:spPr>
          <a:xfrm>
            <a:off x="5303520" y="2843784"/>
            <a:ext cx="201168" cy="201168"/>
          </a:xfrm>
          <a:prstGeom prst="ellipse">
            <a:avLst/>
          </a:prstGeom>
          <a:solidFill>
            <a:srgbClr val="2F80ED"/>
          </a:solidFill>
          <a:ln w="8890">
            <a:solidFill>
              <a:srgbClr val="FFFFFF"/>
            </a:solidFill>
            <a:prstDash val="solid"/>
          </a:ln>
        </p:spPr>
        <p:txBody>
          <a:bodyPr/>
          <a:lstStyle/>
          <a:p>
            <a:endParaRPr lang="en-US"/>
          </a:p>
        </p:txBody>
      </p:sp>
      <p:sp>
        <p:nvSpPr>
          <p:cNvPr id="37" name="Text 35"/>
          <p:cNvSpPr/>
          <p:nvPr/>
        </p:nvSpPr>
        <p:spPr>
          <a:xfrm>
            <a:off x="4343400" y="3602736"/>
            <a:ext cx="731520" cy="182880"/>
          </a:xfrm>
          <a:prstGeom prst="rect">
            <a:avLst/>
          </a:prstGeom>
          <a:noFill/>
          <a:ln/>
        </p:spPr>
        <p:txBody>
          <a:bodyPr wrap="square" lIns="0" tIns="0" rIns="0" bIns="0" rtlCol="0" anchor="ctr"/>
          <a:lstStyle/>
          <a:p>
            <a:pPr marL="0" indent="0" algn="ctr">
              <a:buNone/>
            </a:pPr>
            <a:r>
              <a:rPr lang="en-US" sz="1000" dirty="0">
                <a:solidFill>
                  <a:srgbClr val="5B6674"/>
                </a:solidFill>
              </a:rPr>
              <a:t>divergence</a:t>
            </a:r>
            <a:endParaRPr lang="en-US" sz="1000" dirty="0"/>
          </a:p>
        </p:txBody>
      </p:sp>
      <p:sp>
        <p:nvSpPr>
          <p:cNvPr id="38" name="Text 36"/>
          <p:cNvSpPr/>
          <p:nvPr/>
        </p:nvSpPr>
        <p:spPr>
          <a:xfrm>
            <a:off x="3703320" y="4389120"/>
            <a:ext cx="1938528" cy="585216"/>
          </a:xfrm>
          <a:prstGeom prst="rect">
            <a:avLst/>
          </a:prstGeom>
          <a:noFill/>
          <a:ln/>
        </p:spPr>
        <p:txBody>
          <a:bodyPr wrap="square" lIns="381" tIns="381" rIns="381" bIns="381" rtlCol="0" anchor="ctr"/>
          <a:lstStyle/>
          <a:p>
            <a:pPr marL="0" indent="0" algn="ctr">
              <a:buNone/>
            </a:pPr>
            <a:r>
              <a:rPr lang="en-US" sz="1400" dirty="0">
                <a:solidFill>
                  <a:srgbClr val="5B6674"/>
                </a:solidFill>
              </a:rPr>
              <a:t>Follow the source and target histories around the conflicting code.</a:t>
            </a:r>
            <a:endParaRPr lang="en-US" sz="1400" dirty="0"/>
          </a:p>
        </p:txBody>
      </p:sp>
      <p:sp>
        <p:nvSpPr>
          <p:cNvPr id="39" name="Shape 37"/>
          <p:cNvSpPr/>
          <p:nvPr/>
        </p:nvSpPr>
        <p:spPr>
          <a:xfrm>
            <a:off x="6236208" y="1847088"/>
            <a:ext cx="2450592" cy="3401568"/>
          </a:xfrm>
          <a:prstGeom prst="roundRect">
            <a:avLst>
              <a:gd name="adj" fmla="val 2985"/>
            </a:avLst>
          </a:prstGeom>
          <a:solidFill>
            <a:srgbClr val="FFFFFF"/>
          </a:solidFill>
          <a:ln w="19050">
            <a:solidFill>
              <a:srgbClr val="2F80ED"/>
            </a:solidFill>
            <a:prstDash val="solid"/>
          </a:ln>
        </p:spPr>
        <p:txBody>
          <a:bodyPr/>
          <a:lstStyle/>
          <a:p>
            <a:endParaRPr lang="en-US"/>
          </a:p>
        </p:txBody>
      </p:sp>
      <p:sp>
        <p:nvSpPr>
          <p:cNvPr id="40" name="Shape 38"/>
          <p:cNvSpPr/>
          <p:nvPr/>
        </p:nvSpPr>
        <p:spPr>
          <a:xfrm>
            <a:off x="6400800" y="2011680"/>
            <a:ext cx="438912" cy="438912"/>
          </a:xfrm>
          <a:prstGeom prst="ellipse">
            <a:avLst/>
          </a:prstGeom>
          <a:solidFill>
            <a:srgbClr val="123FEA"/>
          </a:solidFill>
          <a:ln w="12700">
            <a:solidFill>
              <a:srgbClr val="123FEA"/>
            </a:solidFill>
            <a:prstDash val="solid"/>
          </a:ln>
        </p:spPr>
        <p:txBody>
          <a:bodyPr/>
          <a:lstStyle/>
          <a:p>
            <a:endParaRPr lang="en-US"/>
          </a:p>
        </p:txBody>
      </p:sp>
      <p:sp>
        <p:nvSpPr>
          <p:cNvPr id="41" name="Text 39"/>
          <p:cNvSpPr/>
          <p:nvPr/>
        </p:nvSpPr>
        <p:spPr>
          <a:xfrm>
            <a:off x="6400800" y="2075688"/>
            <a:ext cx="438912" cy="20116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42" name="Text 40"/>
          <p:cNvSpPr/>
          <p:nvPr/>
        </p:nvSpPr>
        <p:spPr>
          <a:xfrm>
            <a:off x="6949440" y="2029968"/>
            <a:ext cx="1572768" cy="502920"/>
          </a:xfrm>
          <a:prstGeom prst="rect">
            <a:avLst/>
          </a:prstGeom>
          <a:noFill/>
          <a:ln/>
        </p:spPr>
        <p:txBody>
          <a:bodyPr wrap="square" lIns="0" tIns="0" rIns="0" bIns="0" rtlCol="0" anchor="ctr"/>
          <a:lstStyle/>
          <a:p>
            <a:pPr marL="0" indent="0">
              <a:buNone/>
            </a:pPr>
            <a:r>
              <a:rPr lang="en-US" sz="2000" b="1" dirty="0">
                <a:solidFill>
                  <a:srgbClr val="172033"/>
                </a:solidFill>
              </a:rPr>
              <a:t>Detect Refactorings</a:t>
            </a:r>
            <a:endParaRPr lang="en-US" sz="2000" dirty="0"/>
          </a:p>
        </p:txBody>
      </p:sp>
      <p:sp>
        <p:nvSpPr>
          <p:cNvPr id="43" name="Shape 41"/>
          <p:cNvSpPr/>
          <p:nvPr/>
        </p:nvSpPr>
        <p:spPr>
          <a:xfrm>
            <a:off x="6547104" y="2898648"/>
            <a:ext cx="713232" cy="804672"/>
          </a:xfrm>
          <a:prstGeom prst="roundRect">
            <a:avLst/>
          </a:prstGeom>
          <a:solidFill>
            <a:srgbClr val="E8F1FC"/>
          </a:solidFill>
          <a:ln w="16510">
            <a:solidFill>
              <a:srgbClr val="2F80ED"/>
            </a:solidFill>
            <a:prstDash val="solid"/>
          </a:ln>
        </p:spPr>
        <p:txBody>
          <a:bodyPr/>
          <a:lstStyle/>
          <a:p>
            <a:endParaRPr lang="en-US"/>
          </a:p>
        </p:txBody>
      </p:sp>
      <p:sp>
        <p:nvSpPr>
          <p:cNvPr id="44" name="Text 42"/>
          <p:cNvSpPr/>
          <p:nvPr/>
        </p:nvSpPr>
        <p:spPr>
          <a:xfrm>
            <a:off x="6638544" y="3154680"/>
            <a:ext cx="530352" cy="182880"/>
          </a:xfrm>
          <a:prstGeom prst="rect">
            <a:avLst/>
          </a:prstGeom>
          <a:noFill/>
          <a:ln/>
        </p:spPr>
        <p:txBody>
          <a:bodyPr wrap="square" lIns="0" tIns="0" rIns="0" bIns="0" rtlCol="0" anchor="ctr"/>
          <a:lstStyle/>
          <a:p>
            <a:pPr marL="0" indent="0" algn="ctr">
              <a:buNone/>
            </a:pPr>
            <a:r>
              <a:rPr lang="en-US" sz="1300" b="1" dirty="0">
                <a:solidFill>
                  <a:srgbClr val="172033"/>
                </a:solidFill>
              </a:rPr>
              <a:t>foo()</a:t>
            </a:r>
            <a:endParaRPr lang="en-US" sz="1300" dirty="0"/>
          </a:p>
        </p:txBody>
      </p:sp>
      <p:sp>
        <p:nvSpPr>
          <p:cNvPr id="45" name="Shape 43"/>
          <p:cNvSpPr/>
          <p:nvPr/>
        </p:nvSpPr>
        <p:spPr>
          <a:xfrm>
            <a:off x="7333488" y="3145536"/>
            <a:ext cx="384048" cy="310896"/>
          </a:xfrm>
          <a:prstGeom prst="chevron">
            <a:avLst/>
          </a:prstGeom>
          <a:solidFill>
            <a:srgbClr val="198F82"/>
          </a:solidFill>
          <a:ln w="12700">
            <a:solidFill>
              <a:srgbClr val="198F82"/>
            </a:solidFill>
            <a:prstDash val="solid"/>
          </a:ln>
        </p:spPr>
        <p:txBody>
          <a:bodyPr/>
          <a:lstStyle/>
          <a:p>
            <a:endParaRPr lang="en-US"/>
          </a:p>
        </p:txBody>
      </p:sp>
      <p:sp>
        <p:nvSpPr>
          <p:cNvPr id="46" name="Shape 44"/>
          <p:cNvSpPr/>
          <p:nvPr/>
        </p:nvSpPr>
        <p:spPr>
          <a:xfrm>
            <a:off x="7799832" y="2898648"/>
            <a:ext cx="713232" cy="804672"/>
          </a:xfrm>
          <a:prstGeom prst="roundRect">
            <a:avLst/>
          </a:prstGeom>
          <a:solidFill>
            <a:srgbClr val="E8F1FC"/>
          </a:solidFill>
          <a:ln w="16510">
            <a:solidFill>
              <a:srgbClr val="2F80ED"/>
            </a:solidFill>
            <a:prstDash val="solid"/>
          </a:ln>
        </p:spPr>
        <p:txBody>
          <a:bodyPr/>
          <a:lstStyle/>
          <a:p>
            <a:endParaRPr lang="en-US"/>
          </a:p>
        </p:txBody>
      </p:sp>
      <p:sp>
        <p:nvSpPr>
          <p:cNvPr id="47" name="Text 45"/>
          <p:cNvSpPr/>
          <p:nvPr/>
        </p:nvSpPr>
        <p:spPr>
          <a:xfrm>
            <a:off x="7854696" y="3154680"/>
            <a:ext cx="603504" cy="182880"/>
          </a:xfrm>
          <a:prstGeom prst="rect">
            <a:avLst/>
          </a:prstGeom>
          <a:noFill/>
          <a:ln/>
        </p:spPr>
        <p:txBody>
          <a:bodyPr wrap="square" lIns="0" tIns="0" rIns="0" bIns="0" rtlCol="0" anchor="ctr"/>
          <a:lstStyle/>
          <a:p>
            <a:pPr marL="0" indent="0" algn="ctr">
              <a:buNone/>
            </a:pPr>
            <a:r>
              <a:rPr lang="en-US" sz="1200" b="1" dirty="0">
                <a:solidFill>
                  <a:srgbClr val="172033"/>
                </a:solidFill>
              </a:rPr>
              <a:t>helper()</a:t>
            </a:r>
            <a:endParaRPr lang="en-US" sz="1200" dirty="0"/>
          </a:p>
        </p:txBody>
      </p:sp>
      <p:sp>
        <p:nvSpPr>
          <p:cNvPr id="48" name="Text 46"/>
          <p:cNvSpPr/>
          <p:nvPr/>
        </p:nvSpPr>
        <p:spPr>
          <a:xfrm>
            <a:off x="6958584" y="3813048"/>
            <a:ext cx="1143000" cy="201168"/>
          </a:xfrm>
          <a:prstGeom prst="rect">
            <a:avLst/>
          </a:prstGeom>
          <a:noFill/>
          <a:ln/>
        </p:spPr>
        <p:txBody>
          <a:bodyPr wrap="square" lIns="0" tIns="0" rIns="0" bIns="0" rtlCol="0" anchor="ctr"/>
          <a:lstStyle/>
          <a:p>
            <a:pPr marL="0" indent="0" algn="ctr">
              <a:buNone/>
            </a:pPr>
            <a:r>
              <a:rPr lang="en-US" sz="1000" b="1" dirty="0">
                <a:solidFill>
                  <a:srgbClr val="198F82"/>
                </a:solidFill>
              </a:rPr>
              <a:t>MOVE / RENAME</a:t>
            </a:r>
            <a:endParaRPr lang="en-US" sz="1000" dirty="0"/>
          </a:p>
        </p:txBody>
      </p:sp>
      <p:sp>
        <p:nvSpPr>
          <p:cNvPr id="49" name="Text 47"/>
          <p:cNvSpPr/>
          <p:nvPr/>
        </p:nvSpPr>
        <p:spPr>
          <a:xfrm>
            <a:off x="6492240" y="4389120"/>
            <a:ext cx="1938528" cy="585216"/>
          </a:xfrm>
          <a:prstGeom prst="rect">
            <a:avLst/>
          </a:prstGeom>
          <a:noFill/>
          <a:ln/>
        </p:spPr>
        <p:txBody>
          <a:bodyPr wrap="square" lIns="381" tIns="381" rIns="381" bIns="381" rtlCol="0" anchor="ctr"/>
          <a:lstStyle/>
          <a:p>
            <a:pPr marL="0" indent="0" algn="ctr">
              <a:buNone/>
            </a:pPr>
            <a:r>
              <a:rPr lang="en-US" sz="1400" dirty="0">
                <a:solidFill>
                  <a:srgbClr val="5B6674"/>
                </a:solidFill>
              </a:rPr>
              <a:t>Recognize structural changes such as Move, Rename, Extract, or Inline.</a:t>
            </a:r>
            <a:endParaRPr lang="en-US" sz="1400" dirty="0"/>
          </a:p>
        </p:txBody>
      </p:sp>
      <p:sp>
        <p:nvSpPr>
          <p:cNvPr id="50" name="Shape 48"/>
          <p:cNvSpPr/>
          <p:nvPr/>
        </p:nvSpPr>
        <p:spPr>
          <a:xfrm>
            <a:off x="9025128" y="1847088"/>
            <a:ext cx="2450592" cy="3401568"/>
          </a:xfrm>
          <a:prstGeom prst="roundRect">
            <a:avLst>
              <a:gd name="adj" fmla="val 2985"/>
            </a:avLst>
          </a:prstGeom>
          <a:solidFill>
            <a:srgbClr val="FFFFFF"/>
          </a:solidFill>
          <a:ln w="19050">
            <a:solidFill>
              <a:srgbClr val="2F80ED"/>
            </a:solidFill>
            <a:prstDash val="solid"/>
          </a:ln>
        </p:spPr>
        <p:txBody>
          <a:bodyPr/>
          <a:lstStyle/>
          <a:p>
            <a:endParaRPr lang="en-US"/>
          </a:p>
        </p:txBody>
      </p:sp>
      <p:sp>
        <p:nvSpPr>
          <p:cNvPr id="51" name="Shape 49"/>
          <p:cNvSpPr/>
          <p:nvPr/>
        </p:nvSpPr>
        <p:spPr>
          <a:xfrm>
            <a:off x="9189720" y="2011680"/>
            <a:ext cx="438912" cy="438912"/>
          </a:xfrm>
          <a:prstGeom prst="ellipse">
            <a:avLst/>
          </a:prstGeom>
          <a:solidFill>
            <a:srgbClr val="123FEA"/>
          </a:solidFill>
          <a:ln w="12700">
            <a:solidFill>
              <a:srgbClr val="123FEA"/>
            </a:solidFill>
            <a:prstDash val="solid"/>
          </a:ln>
        </p:spPr>
        <p:txBody>
          <a:bodyPr/>
          <a:lstStyle/>
          <a:p>
            <a:endParaRPr lang="en-US"/>
          </a:p>
        </p:txBody>
      </p:sp>
      <p:sp>
        <p:nvSpPr>
          <p:cNvPr id="52" name="Text 50"/>
          <p:cNvSpPr/>
          <p:nvPr/>
        </p:nvSpPr>
        <p:spPr>
          <a:xfrm>
            <a:off x="9189720" y="2075688"/>
            <a:ext cx="438912" cy="201168"/>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53" name="Text 51"/>
          <p:cNvSpPr/>
          <p:nvPr/>
        </p:nvSpPr>
        <p:spPr>
          <a:xfrm>
            <a:off x="9738360" y="2029968"/>
            <a:ext cx="1572768" cy="502920"/>
          </a:xfrm>
          <a:prstGeom prst="rect">
            <a:avLst/>
          </a:prstGeom>
          <a:noFill/>
          <a:ln/>
        </p:spPr>
        <p:txBody>
          <a:bodyPr wrap="square" lIns="0" tIns="0" rIns="0" bIns="0" rtlCol="0" anchor="ctr"/>
          <a:lstStyle/>
          <a:p>
            <a:pPr marL="0" indent="0">
              <a:buNone/>
            </a:pPr>
            <a:r>
              <a:rPr lang="en-US" sz="2000" b="1" dirty="0">
                <a:solidFill>
                  <a:srgbClr val="172033"/>
                </a:solidFill>
              </a:rPr>
              <a:t>Explain Conflict</a:t>
            </a:r>
            <a:endParaRPr lang="en-US" sz="2000" dirty="0"/>
          </a:p>
        </p:txBody>
      </p:sp>
      <p:sp>
        <p:nvSpPr>
          <p:cNvPr id="54" name="Shape 52"/>
          <p:cNvSpPr/>
          <p:nvPr/>
        </p:nvSpPr>
        <p:spPr>
          <a:xfrm>
            <a:off x="9308592" y="2898648"/>
            <a:ext cx="566928" cy="713232"/>
          </a:xfrm>
          <a:prstGeom prst="rect">
            <a:avLst/>
          </a:prstGeom>
          <a:solidFill>
            <a:srgbClr val="FCECEC"/>
          </a:solidFill>
          <a:ln w="15240">
            <a:solidFill>
              <a:srgbClr val="D84A4A"/>
            </a:solidFill>
            <a:prstDash val="solid"/>
          </a:ln>
        </p:spPr>
        <p:txBody>
          <a:bodyPr/>
          <a:lstStyle/>
          <a:p>
            <a:endParaRPr lang="en-US"/>
          </a:p>
        </p:txBody>
      </p:sp>
      <p:sp>
        <p:nvSpPr>
          <p:cNvPr id="55" name="Text 53"/>
          <p:cNvSpPr/>
          <p:nvPr/>
        </p:nvSpPr>
        <p:spPr>
          <a:xfrm>
            <a:off x="9372600" y="3145536"/>
            <a:ext cx="438912" cy="164592"/>
          </a:xfrm>
          <a:prstGeom prst="rect">
            <a:avLst/>
          </a:prstGeom>
          <a:noFill/>
          <a:ln/>
        </p:spPr>
        <p:txBody>
          <a:bodyPr wrap="square" lIns="0" tIns="0" rIns="0" bIns="0" rtlCol="0" anchor="ctr"/>
          <a:lstStyle/>
          <a:p>
            <a:pPr marL="0" indent="0" algn="ctr">
              <a:buNone/>
            </a:pPr>
            <a:r>
              <a:rPr lang="en-US" sz="1000" b="1" dirty="0">
                <a:solidFill>
                  <a:srgbClr val="D84A4A"/>
                </a:solidFill>
              </a:rPr>
              <a:t>PATCH</a:t>
            </a:r>
            <a:endParaRPr lang="en-US" sz="1000" dirty="0"/>
          </a:p>
        </p:txBody>
      </p:sp>
      <p:sp>
        <p:nvSpPr>
          <p:cNvPr id="56" name="Shape 54"/>
          <p:cNvSpPr/>
          <p:nvPr/>
        </p:nvSpPr>
        <p:spPr>
          <a:xfrm>
            <a:off x="9966960" y="3108960"/>
            <a:ext cx="347472" cy="347472"/>
          </a:xfrm>
          <a:prstGeom prst="ellipse">
            <a:avLst/>
          </a:prstGeom>
          <a:solidFill>
            <a:srgbClr val="D84A4A"/>
          </a:solidFill>
          <a:ln w="12700">
            <a:solidFill>
              <a:srgbClr val="D84A4A"/>
            </a:solidFill>
            <a:prstDash val="solid"/>
          </a:ln>
        </p:spPr>
        <p:txBody>
          <a:bodyPr/>
          <a:lstStyle/>
          <a:p>
            <a:endParaRPr lang="en-US"/>
          </a:p>
        </p:txBody>
      </p:sp>
      <p:sp>
        <p:nvSpPr>
          <p:cNvPr id="57" name="Text 55"/>
          <p:cNvSpPr/>
          <p:nvPr/>
        </p:nvSpPr>
        <p:spPr>
          <a:xfrm>
            <a:off x="9966960" y="3118104"/>
            <a:ext cx="347472" cy="256032"/>
          </a:xfrm>
          <a:prstGeom prst="rect">
            <a:avLst/>
          </a:prstGeom>
          <a:noFill/>
          <a:ln/>
        </p:spPr>
        <p:txBody>
          <a:bodyPr wrap="square" lIns="0" tIns="0" rIns="0" bIns="0" rtlCol="0" anchor="ctr"/>
          <a:lstStyle/>
          <a:p>
            <a:pPr marL="0" indent="0" algn="ctr">
              <a:buNone/>
            </a:pPr>
            <a:r>
              <a:rPr lang="en-US" sz="1900" b="1" dirty="0">
                <a:solidFill>
                  <a:srgbClr val="FFFFFF"/>
                </a:solidFill>
              </a:rPr>
              <a:t>×</a:t>
            </a:r>
            <a:endParaRPr lang="en-US" sz="1900" dirty="0"/>
          </a:p>
        </p:txBody>
      </p:sp>
      <p:sp>
        <p:nvSpPr>
          <p:cNvPr id="58" name="Shape 56"/>
          <p:cNvSpPr/>
          <p:nvPr/>
        </p:nvSpPr>
        <p:spPr>
          <a:xfrm>
            <a:off x="10387584" y="3118104"/>
            <a:ext cx="329184" cy="292608"/>
          </a:xfrm>
          <a:prstGeom prst="chevron">
            <a:avLst/>
          </a:prstGeom>
          <a:solidFill>
            <a:srgbClr val="198F82"/>
          </a:solidFill>
          <a:ln w="12700">
            <a:solidFill>
              <a:srgbClr val="198F82"/>
            </a:solidFill>
            <a:prstDash val="solid"/>
          </a:ln>
        </p:spPr>
        <p:txBody>
          <a:bodyPr/>
          <a:lstStyle/>
          <a:p>
            <a:endParaRPr lang="en-US"/>
          </a:p>
        </p:txBody>
      </p:sp>
      <p:sp>
        <p:nvSpPr>
          <p:cNvPr id="59" name="Shape 57"/>
          <p:cNvSpPr/>
          <p:nvPr/>
        </p:nvSpPr>
        <p:spPr>
          <a:xfrm>
            <a:off x="10799064" y="2898648"/>
            <a:ext cx="566928" cy="713232"/>
          </a:xfrm>
          <a:prstGeom prst="rect">
            <a:avLst/>
          </a:prstGeom>
          <a:solidFill>
            <a:srgbClr val="E8F7F4"/>
          </a:solidFill>
          <a:ln w="15240">
            <a:solidFill>
              <a:srgbClr val="198F82"/>
            </a:solidFill>
            <a:prstDash val="solid"/>
          </a:ln>
        </p:spPr>
        <p:txBody>
          <a:bodyPr/>
          <a:lstStyle/>
          <a:p>
            <a:endParaRPr lang="en-US"/>
          </a:p>
        </p:txBody>
      </p:sp>
      <p:sp>
        <p:nvSpPr>
          <p:cNvPr id="60" name="Text 58"/>
          <p:cNvSpPr/>
          <p:nvPr/>
        </p:nvSpPr>
        <p:spPr>
          <a:xfrm>
            <a:off x="10835640" y="3072384"/>
            <a:ext cx="493776" cy="347472"/>
          </a:xfrm>
          <a:prstGeom prst="rect">
            <a:avLst/>
          </a:prstGeom>
          <a:noFill/>
          <a:ln/>
        </p:spPr>
        <p:txBody>
          <a:bodyPr wrap="square" lIns="0" tIns="0" rIns="0" bIns="0" rtlCol="0" anchor="ctr"/>
          <a:lstStyle/>
          <a:p>
            <a:pPr marL="0" indent="0" algn="ctr">
              <a:buNone/>
            </a:pPr>
            <a:r>
              <a:rPr lang="en-US" sz="900" b="1" dirty="0">
                <a:solidFill>
                  <a:srgbClr val="198F82"/>
                </a:solidFill>
              </a:rPr>
              <a:t>NEW</a:t>
            </a:r>
            <a:endParaRPr lang="en-US" sz="900" dirty="0"/>
          </a:p>
          <a:p>
            <a:pPr marL="0" indent="0" algn="ctr">
              <a:buNone/>
            </a:pPr>
            <a:r>
              <a:rPr lang="en-US" sz="900" b="1" dirty="0">
                <a:solidFill>
                  <a:srgbClr val="198F82"/>
                </a:solidFill>
              </a:rPr>
              <a:t>LOCATION</a:t>
            </a:r>
            <a:endParaRPr lang="en-US" sz="900" dirty="0"/>
          </a:p>
        </p:txBody>
      </p:sp>
      <p:sp>
        <p:nvSpPr>
          <p:cNvPr id="61" name="Text 59"/>
          <p:cNvSpPr/>
          <p:nvPr/>
        </p:nvSpPr>
        <p:spPr>
          <a:xfrm>
            <a:off x="9281160" y="4389120"/>
            <a:ext cx="1938528" cy="585216"/>
          </a:xfrm>
          <a:prstGeom prst="rect">
            <a:avLst/>
          </a:prstGeom>
          <a:noFill/>
          <a:ln/>
        </p:spPr>
        <p:txBody>
          <a:bodyPr wrap="square" lIns="381" tIns="381" rIns="381" bIns="381" rtlCol="0" anchor="ctr"/>
          <a:lstStyle/>
          <a:p>
            <a:pPr marL="0" indent="0" algn="ctr">
              <a:buNone/>
            </a:pPr>
            <a:r>
              <a:rPr lang="en-US" sz="1400" dirty="0">
                <a:solidFill>
                  <a:srgbClr val="5B6674"/>
                </a:solidFill>
              </a:rPr>
              <a:t>Determine which refactoring changed the location or shape expected by the patch.</a:t>
            </a:r>
            <a:endParaRPr lang="en-US" sz="1400" dirty="0"/>
          </a:p>
        </p:txBody>
      </p:sp>
      <p:sp>
        <p:nvSpPr>
          <p:cNvPr id="62" name="Shape 60"/>
          <p:cNvSpPr/>
          <p:nvPr/>
        </p:nvSpPr>
        <p:spPr>
          <a:xfrm>
            <a:off x="3227832" y="3163824"/>
            <a:ext cx="347472" cy="493776"/>
          </a:xfrm>
          <a:prstGeom prst="chevron">
            <a:avLst/>
          </a:prstGeom>
          <a:solidFill>
            <a:srgbClr val="123FEA"/>
          </a:solidFill>
          <a:ln w="12700">
            <a:solidFill>
              <a:srgbClr val="123FEA"/>
            </a:solidFill>
            <a:prstDash val="solid"/>
          </a:ln>
        </p:spPr>
        <p:txBody>
          <a:bodyPr/>
          <a:lstStyle/>
          <a:p>
            <a:endParaRPr lang="en-US"/>
          </a:p>
        </p:txBody>
      </p:sp>
      <p:sp>
        <p:nvSpPr>
          <p:cNvPr id="63" name="Shape 61"/>
          <p:cNvSpPr/>
          <p:nvPr/>
        </p:nvSpPr>
        <p:spPr>
          <a:xfrm>
            <a:off x="6016752" y="3163824"/>
            <a:ext cx="347472" cy="493776"/>
          </a:xfrm>
          <a:prstGeom prst="chevron">
            <a:avLst/>
          </a:prstGeom>
          <a:solidFill>
            <a:srgbClr val="123FEA"/>
          </a:solidFill>
          <a:ln w="12700">
            <a:solidFill>
              <a:srgbClr val="123FEA"/>
            </a:solidFill>
            <a:prstDash val="solid"/>
          </a:ln>
        </p:spPr>
        <p:txBody>
          <a:bodyPr/>
          <a:lstStyle/>
          <a:p>
            <a:endParaRPr lang="en-US"/>
          </a:p>
        </p:txBody>
      </p:sp>
      <p:sp>
        <p:nvSpPr>
          <p:cNvPr id="64" name="Shape 62"/>
          <p:cNvSpPr/>
          <p:nvPr/>
        </p:nvSpPr>
        <p:spPr>
          <a:xfrm>
            <a:off x="8805672" y="3163824"/>
            <a:ext cx="347472" cy="493776"/>
          </a:xfrm>
          <a:prstGeom prst="chevron">
            <a:avLst/>
          </a:prstGeom>
          <a:solidFill>
            <a:srgbClr val="123FEA"/>
          </a:solidFill>
          <a:ln w="12700">
            <a:solidFill>
              <a:srgbClr val="123FEA"/>
            </a:solidFill>
            <a:prstDash val="solid"/>
          </a:ln>
        </p:spPr>
        <p:txBody>
          <a:bodyPr/>
          <a:lstStyle/>
          <a:p>
            <a:endParaRPr lang="en-US"/>
          </a:p>
        </p:txBody>
      </p:sp>
      <p:sp>
        <p:nvSpPr>
          <p:cNvPr id="65" name="Shape 63"/>
          <p:cNvSpPr/>
          <p:nvPr/>
        </p:nvSpPr>
        <p:spPr>
          <a:xfrm>
            <a:off x="914400" y="5623560"/>
            <a:ext cx="10360152" cy="621792"/>
          </a:xfrm>
          <a:prstGeom prst="roundRect">
            <a:avLst/>
          </a:prstGeom>
          <a:solidFill>
            <a:srgbClr val="EEF3F8"/>
          </a:solidFill>
          <a:ln w="17780">
            <a:solidFill>
              <a:srgbClr val="123FEA"/>
            </a:solidFill>
            <a:prstDash val="solid"/>
          </a:ln>
        </p:spPr>
        <p:txBody>
          <a:bodyPr/>
          <a:lstStyle/>
          <a:p>
            <a:endParaRPr lang="en-US"/>
          </a:p>
        </p:txBody>
      </p:sp>
      <p:sp>
        <p:nvSpPr>
          <p:cNvPr id="66" name="Text 64"/>
          <p:cNvSpPr/>
          <p:nvPr/>
        </p:nvSpPr>
        <p:spPr>
          <a:xfrm>
            <a:off x="1234440" y="5824728"/>
            <a:ext cx="9692640" cy="228600"/>
          </a:xfrm>
          <a:prstGeom prst="rect">
            <a:avLst/>
          </a:prstGeom>
          <a:noFill/>
          <a:ln/>
        </p:spPr>
        <p:txBody>
          <a:bodyPr wrap="square" lIns="0" tIns="0" rIns="0" bIns="0" rtlCol="0" anchor="ctr"/>
          <a:lstStyle/>
          <a:p>
            <a:pPr marL="0" indent="0" algn="ctr">
              <a:buNone/>
            </a:pPr>
            <a:r>
              <a:rPr lang="en-US" sz="1700" b="1" dirty="0">
                <a:solidFill>
                  <a:srgbClr val="202733"/>
                </a:solidFill>
              </a:rPr>
              <a:t>Key idea: </a:t>
            </a:r>
            <a:r>
              <a:rPr lang="en-US" sz="1700" dirty="0">
                <a:solidFill>
                  <a:srgbClr val="202733"/>
                </a:solidFill>
              </a:rPr>
              <a:t>the conflict is textual, but its cause may be structural.</a:t>
            </a:r>
            <a:endParaRPr lang="en-US" sz="1700" dirty="0"/>
          </a:p>
        </p:txBody>
      </p:sp>
      <p:pic>
        <p:nvPicPr>
          <p:cNvPr id="67" name="Picture 66">
            <a:extLst>
              <a:ext uri="{FF2B5EF4-FFF2-40B4-BE49-F238E27FC236}">
                <a16:creationId xmlns:a16="http://schemas.microsoft.com/office/drawing/2014/main" id="{EAC5E1B9-1572-9918-57CC-36E89E41340F}"/>
              </a:ext>
            </a:extLst>
          </p:cNvPr>
          <p:cNvPicPr>
            <a:picLocks noChangeAspect="1"/>
          </p:cNvPicPr>
          <p:nvPr/>
        </p:nvPicPr>
        <p:blipFill>
          <a:blip r:embed="rId3"/>
          <a:stretch>
            <a:fillRect/>
          </a:stretch>
        </p:blipFill>
        <p:spPr>
          <a:xfrm>
            <a:off x="10930270" y="48128"/>
            <a:ext cx="1136947" cy="72571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45D5C-9D12-D653-4E06-08D9DBDFFDE7}"/>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60DD4B31-725B-274D-AE48-8F7C91ED7829}"/>
              </a:ext>
            </a:extLst>
          </p:cNvPr>
          <p:cNvSpPr/>
          <p:nvPr/>
        </p:nvSpPr>
        <p:spPr>
          <a:xfrm>
            <a:off x="5524163" y="3210164"/>
            <a:ext cx="1139100" cy="348086"/>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30731A9-D8E1-CCF1-684E-26937F2CC04F}"/>
              </a:ext>
            </a:extLst>
          </p:cNvPr>
          <p:cNvSpPr/>
          <p:nvPr/>
        </p:nvSpPr>
        <p:spPr>
          <a:xfrm>
            <a:off x="0" y="6390042"/>
            <a:ext cx="12192000" cy="467958"/>
          </a:xfrm>
          <a:prstGeom prst="rect">
            <a:avLst/>
          </a:prstGeom>
          <a:solidFill>
            <a:srgbClr val="BA2C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E7B7EF8-617D-004C-DA1D-E85F5E7C0CA8}"/>
              </a:ext>
            </a:extLst>
          </p:cNvPr>
          <p:cNvSpPr/>
          <p:nvPr/>
        </p:nvSpPr>
        <p:spPr>
          <a:xfrm>
            <a:off x="6423" y="-8907"/>
            <a:ext cx="12192000" cy="817582"/>
          </a:xfrm>
          <a:prstGeom prst="rect">
            <a:avLst/>
          </a:prstGeom>
          <a:gradFill flip="none" rotWithShape="1">
            <a:gsLst>
              <a:gs pos="0">
                <a:srgbClr val="65757C"/>
              </a:gs>
              <a:gs pos="42000">
                <a:srgbClr val="65757C"/>
              </a:gs>
              <a:gs pos="73000">
                <a:srgbClr val="A0A2A5"/>
              </a:gs>
              <a:gs pos="100000">
                <a:schemeClr val="bg2">
                  <a:lumMod val="9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dirty="0"/>
              <a:t>     </a:t>
            </a:r>
            <a:r>
              <a:rPr lang="en-BE" sz="4000" dirty="0"/>
              <a:t>RePatch: Refactoring-Aware Patch Integration</a:t>
            </a:r>
            <a:endParaRPr lang="en-US" sz="4000" dirty="0"/>
          </a:p>
        </p:txBody>
      </p:sp>
      <p:pic>
        <p:nvPicPr>
          <p:cNvPr id="2052" name="Picture 4">
            <a:extLst>
              <a:ext uri="{FF2B5EF4-FFF2-40B4-BE49-F238E27FC236}">
                <a16:creationId xmlns:a16="http://schemas.microsoft.com/office/drawing/2014/main" id="{390AA490-24E9-9D2E-31FC-8F587E4D26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063" y="2364613"/>
            <a:ext cx="5279773" cy="215252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51F80C8A-FBAF-DECE-A94B-BF10BD69FD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5166" y="953966"/>
            <a:ext cx="5181092" cy="530065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EB4B6719-A72E-0B25-906C-58897D28AE69}"/>
              </a:ext>
            </a:extLst>
          </p:cNvPr>
          <p:cNvCxnSpPr/>
          <p:nvPr/>
        </p:nvCxnSpPr>
        <p:spPr>
          <a:xfrm>
            <a:off x="4297680" y="3604294"/>
            <a:ext cx="2432304"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6EE03C1-5FF2-9EB2-E2AD-37D12807CAB2}"/>
              </a:ext>
            </a:extLst>
          </p:cNvPr>
          <p:cNvSpPr txBox="1"/>
          <p:nvPr/>
        </p:nvSpPr>
        <p:spPr>
          <a:xfrm>
            <a:off x="5487618" y="3218873"/>
            <a:ext cx="1227899" cy="369332"/>
          </a:xfrm>
          <a:prstGeom prst="rect">
            <a:avLst/>
          </a:prstGeom>
          <a:noFill/>
        </p:spPr>
        <p:txBody>
          <a:bodyPr wrap="square" rtlCol="0">
            <a:spAutoFit/>
          </a:bodyPr>
          <a:lstStyle/>
          <a:p>
            <a:r>
              <a:rPr lang="en-US" dirty="0"/>
              <a:t>MO Cases</a:t>
            </a:r>
          </a:p>
        </p:txBody>
      </p:sp>
      <p:cxnSp>
        <p:nvCxnSpPr>
          <p:cNvPr id="20" name="Straight Arrow Connector 19">
            <a:extLst>
              <a:ext uri="{FF2B5EF4-FFF2-40B4-BE49-F238E27FC236}">
                <a16:creationId xmlns:a16="http://schemas.microsoft.com/office/drawing/2014/main" id="{9D27707F-47F8-691E-3AF8-340955668872}"/>
              </a:ext>
            </a:extLst>
          </p:cNvPr>
          <p:cNvCxnSpPr>
            <a:cxnSpLocks/>
          </p:cNvCxnSpPr>
          <p:nvPr/>
        </p:nvCxnSpPr>
        <p:spPr>
          <a:xfrm>
            <a:off x="2889949" y="3051299"/>
            <a:ext cx="335801" cy="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ECBC960-2C44-FA23-6DC0-0D22C55B89D4}"/>
              </a:ext>
            </a:extLst>
          </p:cNvPr>
          <p:cNvCxnSpPr>
            <a:cxnSpLocks/>
          </p:cNvCxnSpPr>
          <p:nvPr/>
        </p:nvCxnSpPr>
        <p:spPr>
          <a:xfrm>
            <a:off x="473320" y="2655060"/>
            <a:ext cx="335801" cy="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7F541D4C-3D3A-1E66-15FB-AFE9CC80D8CC}"/>
              </a:ext>
            </a:extLst>
          </p:cNvPr>
          <p:cNvCxnSpPr>
            <a:cxnSpLocks/>
          </p:cNvCxnSpPr>
          <p:nvPr/>
        </p:nvCxnSpPr>
        <p:spPr>
          <a:xfrm>
            <a:off x="6605166" y="1235837"/>
            <a:ext cx="335801" cy="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0937B9F6-0216-0D63-9249-027A1D0BA3C4}"/>
              </a:ext>
            </a:extLst>
          </p:cNvPr>
          <p:cNvCxnSpPr>
            <a:cxnSpLocks/>
          </p:cNvCxnSpPr>
          <p:nvPr/>
        </p:nvCxnSpPr>
        <p:spPr>
          <a:xfrm>
            <a:off x="9234054" y="1449197"/>
            <a:ext cx="335801" cy="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763479F8-5E1A-AF58-AE89-CAA33186FF49}"/>
              </a:ext>
            </a:extLst>
          </p:cNvPr>
          <p:cNvCxnSpPr>
            <a:cxnSpLocks/>
          </p:cNvCxnSpPr>
          <p:nvPr/>
        </p:nvCxnSpPr>
        <p:spPr>
          <a:xfrm>
            <a:off x="7557656" y="3470367"/>
            <a:ext cx="335801" cy="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54341186-9E76-F750-0105-D0FBBEF648E5}"/>
              </a:ext>
            </a:extLst>
          </p:cNvPr>
          <p:cNvCxnSpPr>
            <a:cxnSpLocks/>
          </p:cNvCxnSpPr>
          <p:nvPr/>
        </p:nvCxnSpPr>
        <p:spPr>
          <a:xfrm>
            <a:off x="10200707" y="4086498"/>
            <a:ext cx="335801" cy="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22AC88C9-0197-9920-E7A9-9D18CFB19E4B}"/>
              </a:ext>
            </a:extLst>
          </p:cNvPr>
          <p:cNvSpPr txBox="1"/>
          <p:nvPr/>
        </p:nvSpPr>
        <p:spPr>
          <a:xfrm>
            <a:off x="261343" y="1235837"/>
            <a:ext cx="6172200" cy="369332"/>
          </a:xfrm>
          <a:prstGeom prst="rect">
            <a:avLst/>
          </a:prstGeom>
          <a:noFill/>
        </p:spPr>
        <p:txBody>
          <a:bodyPr wrap="square">
            <a:spAutoFit/>
          </a:bodyPr>
          <a:lstStyle/>
          <a:p>
            <a:r>
              <a:rPr lang="en-BE" dirty="0"/>
              <a:t>Invert refactorings → apply the patch → replay refactorings</a:t>
            </a:r>
            <a:endParaRPr lang="en-US" dirty="0"/>
          </a:p>
        </p:txBody>
      </p:sp>
      <p:sp>
        <p:nvSpPr>
          <p:cNvPr id="4" name="Rectangle 3">
            <a:extLst>
              <a:ext uri="{FF2B5EF4-FFF2-40B4-BE49-F238E27FC236}">
                <a16:creationId xmlns:a16="http://schemas.microsoft.com/office/drawing/2014/main" id="{18A02751-63AF-6F58-BC3B-0D1A4BECE2DD}"/>
              </a:ext>
            </a:extLst>
          </p:cNvPr>
          <p:cNvSpPr/>
          <p:nvPr/>
        </p:nvSpPr>
        <p:spPr>
          <a:xfrm>
            <a:off x="0" y="418255"/>
            <a:ext cx="12192000" cy="817582"/>
          </a:xfrm>
          <a:prstGeom prst="rect">
            <a:avLst/>
          </a:prstGeom>
          <a:gradFill flip="none" rotWithShape="1">
            <a:gsLst>
              <a:gs pos="0">
                <a:srgbClr val="65757C"/>
              </a:gs>
              <a:gs pos="42000">
                <a:srgbClr val="65757C"/>
              </a:gs>
              <a:gs pos="73000">
                <a:srgbClr val="A0A2A5"/>
              </a:gs>
              <a:gs pos="100000">
                <a:schemeClr val="bg2">
                  <a:lumMod val="9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dirty="0"/>
              <a:t>     </a:t>
            </a:r>
            <a:r>
              <a:rPr lang="en-BE" sz="4000" dirty="0"/>
              <a:t>RePatch: Refactoring-Aware Patch Integration</a:t>
            </a:r>
            <a:endParaRPr lang="en-US" sz="4000" dirty="0"/>
          </a:p>
        </p:txBody>
      </p:sp>
      <p:pic>
        <p:nvPicPr>
          <p:cNvPr id="5" name="Picture 4">
            <a:extLst>
              <a:ext uri="{FF2B5EF4-FFF2-40B4-BE49-F238E27FC236}">
                <a16:creationId xmlns:a16="http://schemas.microsoft.com/office/drawing/2014/main" id="{EF5ABF59-8C75-0F43-E26C-45316CE6E709}"/>
              </a:ext>
            </a:extLst>
          </p:cNvPr>
          <p:cNvPicPr>
            <a:picLocks noChangeAspect="1"/>
          </p:cNvPicPr>
          <p:nvPr/>
        </p:nvPicPr>
        <p:blipFill>
          <a:blip r:embed="rId5"/>
          <a:stretch>
            <a:fillRect/>
          </a:stretch>
        </p:blipFill>
        <p:spPr>
          <a:xfrm>
            <a:off x="10930270" y="48128"/>
            <a:ext cx="1136947" cy="725711"/>
          </a:xfrm>
          <a:prstGeom prst="rect">
            <a:avLst/>
          </a:prstGeom>
        </p:spPr>
      </p:pic>
    </p:spTree>
    <p:extLst>
      <p:ext uri="{BB962C8B-B14F-4D97-AF65-F5344CB8AC3E}">
        <p14:creationId xmlns:p14="http://schemas.microsoft.com/office/powerpoint/2010/main" val="509658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5FB24-B6EE-F9B7-1170-EB0049A52DD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0BB99ED-39F5-36A4-7FC2-2183BB952BA2}"/>
              </a:ext>
            </a:extLst>
          </p:cNvPr>
          <p:cNvSpPr/>
          <p:nvPr/>
        </p:nvSpPr>
        <p:spPr>
          <a:xfrm>
            <a:off x="0" y="6390042"/>
            <a:ext cx="12192000" cy="467958"/>
          </a:xfrm>
          <a:prstGeom prst="rect">
            <a:avLst/>
          </a:prstGeom>
          <a:solidFill>
            <a:srgbClr val="BA2C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A20E3BC-51CA-82D9-A456-3A95E7835472}"/>
              </a:ext>
            </a:extLst>
          </p:cNvPr>
          <p:cNvSpPr/>
          <p:nvPr/>
        </p:nvSpPr>
        <p:spPr>
          <a:xfrm>
            <a:off x="6424" y="-8907"/>
            <a:ext cx="12191999" cy="817582"/>
          </a:xfrm>
          <a:prstGeom prst="rect">
            <a:avLst/>
          </a:prstGeom>
          <a:gradFill flip="none" rotWithShape="1">
            <a:gsLst>
              <a:gs pos="0">
                <a:srgbClr val="65757C"/>
              </a:gs>
              <a:gs pos="42000">
                <a:srgbClr val="65757C"/>
              </a:gs>
              <a:gs pos="73000">
                <a:srgbClr val="A0A2A5"/>
              </a:gs>
              <a:gs pos="100000">
                <a:schemeClr val="bg2">
                  <a:lumMod val="9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3200" b="1" dirty="0"/>
              <a:t>    Git Cherry-Pick Frequently Fails Across Divergent Variants</a:t>
            </a:r>
            <a:endParaRPr lang="en-BE" sz="3200" dirty="0"/>
          </a:p>
        </p:txBody>
      </p:sp>
      <p:sp>
        <p:nvSpPr>
          <p:cNvPr id="3" name="TextBox 2">
            <a:extLst>
              <a:ext uri="{FF2B5EF4-FFF2-40B4-BE49-F238E27FC236}">
                <a16:creationId xmlns:a16="http://schemas.microsoft.com/office/drawing/2014/main" id="{922E8B90-0CB1-D375-A2CC-BD1E808A554F}"/>
              </a:ext>
            </a:extLst>
          </p:cNvPr>
          <p:cNvSpPr txBox="1"/>
          <p:nvPr/>
        </p:nvSpPr>
        <p:spPr>
          <a:xfrm>
            <a:off x="511636" y="1063858"/>
            <a:ext cx="11079472" cy="830997"/>
          </a:xfrm>
          <a:prstGeom prst="rect">
            <a:avLst/>
          </a:prstGeom>
          <a:solidFill>
            <a:schemeClr val="bg2"/>
          </a:solidFill>
          <a:ln>
            <a:solidFill>
              <a:schemeClr val="tx1"/>
            </a:solidFill>
          </a:ln>
        </p:spPr>
        <p:txBody>
          <a:bodyPr wrap="square">
            <a:spAutoFit/>
          </a:bodyPr>
          <a:lstStyle/>
          <a:p>
            <a:pPr>
              <a:buNone/>
            </a:pPr>
            <a:r>
              <a:rPr lang="en-US" sz="2400" dirty="0">
                <a:effectLst/>
                <a:latin typeface="Calibri Light" panose="020F0302020204030204" pitchFamily="34" charset="0"/>
                <a:cs typeface="Calibri Light" panose="020F0302020204030204" pitchFamily="34" charset="0"/>
              </a:rPr>
              <a:t>RQ1: How often do source variant bug-fix patches fail to apply cleanly to target variants using Git’s cherry-pick? </a:t>
            </a:r>
          </a:p>
        </p:txBody>
      </p:sp>
      <p:pic>
        <p:nvPicPr>
          <p:cNvPr id="5" name="Picture 4" descr="A table with numbers and text&#10;&#10;AI-generated content may be incorrect.">
            <a:extLst>
              <a:ext uri="{FF2B5EF4-FFF2-40B4-BE49-F238E27FC236}">
                <a16:creationId xmlns:a16="http://schemas.microsoft.com/office/drawing/2014/main" id="{9BA14B04-BAD7-2B09-4AAB-8CDE843F7229}"/>
              </a:ext>
            </a:extLst>
          </p:cNvPr>
          <p:cNvPicPr>
            <a:picLocks noChangeAspect="1"/>
          </p:cNvPicPr>
          <p:nvPr/>
        </p:nvPicPr>
        <p:blipFill>
          <a:blip r:embed="rId3"/>
          <a:srcRect l="4144" t="11936" r="3548" b="2852"/>
          <a:stretch>
            <a:fillRect/>
          </a:stretch>
        </p:blipFill>
        <p:spPr>
          <a:xfrm>
            <a:off x="511636" y="2190581"/>
            <a:ext cx="4280498" cy="4010570"/>
          </a:xfrm>
          <a:prstGeom prst="rect">
            <a:avLst/>
          </a:prstGeom>
          <a:ln>
            <a:noFill/>
          </a:ln>
          <a:effectLst>
            <a:outerShdw blurRad="190500" algn="tl" rotWithShape="0">
              <a:srgbClr val="000000">
                <a:alpha val="70000"/>
              </a:srgbClr>
            </a:outerShdw>
          </a:effectLst>
        </p:spPr>
      </p:pic>
      <p:pic>
        <p:nvPicPr>
          <p:cNvPr id="15" name="Picture 14">
            <a:extLst>
              <a:ext uri="{FF2B5EF4-FFF2-40B4-BE49-F238E27FC236}">
                <a16:creationId xmlns:a16="http://schemas.microsoft.com/office/drawing/2014/main" id="{E0E32650-F542-C7F8-A461-90BD8D08DAD6}"/>
              </a:ext>
            </a:extLst>
          </p:cNvPr>
          <p:cNvPicPr>
            <a:picLocks noChangeAspect="1"/>
          </p:cNvPicPr>
          <p:nvPr/>
        </p:nvPicPr>
        <p:blipFill>
          <a:blip r:embed="rId4"/>
          <a:stretch>
            <a:fillRect/>
          </a:stretch>
        </p:blipFill>
        <p:spPr>
          <a:xfrm>
            <a:off x="10930270" y="48128"/>
            <a:ext cx="1136947" cy="725711"/>
          </a:xfrm>
          <a:prstGeom prst="rect">
            <a:avLst/>
          </a:prstGeom>
        </p:spPr>
      </p:pic>
      <p:graphicFrame>
        <p:nvGraphicFramePr>
          <p:cNvPr id="17" name="TextBox 12">
            <a:extLst>
              <a:ext uri="{FF2B5EF4-FFF2-40B4-BE49-F238E27FC236}">
                <a16:creationId xmlns:a16="http://schemas.microsoft.com/office/drawing/2014/main" id="{15E9AEBE-FC45-06DE-A5E0-FB3F149DC490}"/>
              </a:ext>
            </a:extLst>
          </p:cNvPr>
          <p:cNvGraphicFramePr/>
          <p:nvPr/>
        </p:nvGraphicFramePr>
        <p:xfrm>
          <a:off x="5262147" y="2672372"/>
          <a:ext cx="6328961" cy="30469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74795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graphicEl>
                                              <a:dgm id="{D279A25C-FAD0-49C8-8DD9-0DD2904FFD44}"/>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graphicEl>
                                              <a:dgm id="{8CEC65FE-A7E2-4D5E-A675-1D5576DDB3D7}"/>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graphicEl>
                                              <a:dgm id="{F5B13224-11F8-4DAA-8789-19F5F042B415}"/>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graphicEl>
                                              <a:dgm id="{2CA01719-F2C4-48AF-A1E3-B4745950CAAF}"/>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graphicEl>
                                              <a:dgm id="{4592AA4D-0518-45C2-AE55-57CA31680C08}"/>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graphicEl>
                                              <a:dgm id="{9078CB21-506B-4005-85F0-02684A9E68CB}"/>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graphicEl>
                                              <a:dgm id="{FD661443-17E5-4D43-B5DE-399DB0576D9D}"/>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graphicEl>
                                              <a:dgm id="{018C04C5-8F9E-4C37-9B8F-558303DD5CCA}"/>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graphicEl>
                                              <a:dgm id="{BEBFFCEE-0B9D-46DD-A170-6D131156692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Graphic spid="17"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98572-C640-6969-38B8-29CD6FBB74B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8591F72-30E1-1DBD-335C-977C03A4B7ED}"/>
              </a:ext>
            </a:extLst>
          </p:cNvPr>
          <p:cNvSpPr/>
          <p:nvPr/>
        </p:nvSpPr>
        <p:spPr>
          <a:xfrm>
            <a:off x="0" y="6390042"/>
            <a:ext cx="12192000" cy="467958"/>
          </a:xfrm>
          <a:prstGeom prst="rect">
            <a:avLst/>
          </a:prstGeom>
          <a:solidFill>
            <a:srgbClr val="BA2C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0A05A0F-4588-D466-161C-3841470BF673}"/>
              </a:ext>
            </a:extLst>
          </p:cNvPr>
          <p:cNvSpPr/>
          <p:nvPr/>
        </p:nvSpPr>
        <p:spPr>
          <a:xfrm>
            <a:off x="6424" y="-8907"/>
            <a:ext cx="12191999" cy="817582"/>
          </a:xfrm>
          <a:prstGeom prst="rect">
            <a:avLst/>
          </a:prstGeom>
          <a:gradFill flip="none" rotWithShape="1">
            <a:gsLst>
              <a:gs pos="0">
                <a:srgbClr val="65757C"/>
              </a:gs>
              <a:gs pos="42000">
                <a:srgbClr val="65757C"/>
              </a:gs>
              <a:gs pos="73000">
                <a:srgbClr val="A0A2A5"/>
              </a:gs>
              <a:gs pos="100000">
                <a:schemeClr val="bg2">
                  <a:lumMod val="9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BE" sz="3200" b="1" dirty="0"/>
              <a:t>  RePatch Recovers More Than Half of Failed Patches</a:t>
            </a:r>
            <a:endParaRPr lang="en-BE" sz="3200" dirty="0"/>
          </a:p>
        </p:txBody>
      </p:sp>
      <p:sp>
        <p:nvSpPr>
          <p:cNvPr id="3" name="TextBox 2">
            <a:extLst>
              <a:ext uri="{FF2B5EF4-FFF2-40B4-BE49-F238E27FC236}">
                <a16:creationId xmlns:a16="http://schemas.microsoft.com/office/drawing/2014/main" id="{BF4601F9-90A0-A73A-4BD1-B6EEE42ACF94}"/>
              </a:ext>
            </a:extLst>
          </p:cNvPr>
          <p:cNvSpPr txBox="1"/>
          <p:nvPr/>
        </p:nvSpPr>
        <p:spPr>
          <a:xfrm>
            <a:off x="391973" y="1478358"/>
            <a:ext cx="11106770" cy="830997"/>
          </a:xfrm>
          <a:prstGeom prst="rect">
            <a:avLst/>
          </a:prstGeom>
          <a:solidFill>
            <a:schemeClr val="bg2"/>
          </a:solidFill>
          <a:ln>
            <a:solidFill>
              <a:schemeClr val="tx1"/>
            </a:solidFill>
          </a:ln>
        </p:spPr>
        <p:txBody>
          <a:bodyPr wrap="square">
            <a:spAutoFit/>
          </a:bodyPr>
          <a:lstStyle/>
          <a:p>
            <a:r>
              <a:rPr lang="en-US" sz="2400" dirty="0">
                <a:latin typeface="Calibri Light" panose="020F0302020204030204" pitchFamily="34" charset="0"/>
                <a:cs typeface="Calibri Light" panose="020F0302020204030204" pitchFamily="34" charset="0"/>
              </a:rPr>
              <a:t>RQ3: Can a refactoring-aware integration approach reduce merge conflicts and increase the success rate of applying patches across divergent variants? </a:t>
            </a:r>
          </a:p>
        </p:txBody>
      </p:sp>
      <p:pic>
        <p:nvPicPr>
          <p:cNvPr id="2" name="Picture 1">
            <a:extLst>
              <a:ext uri="{FF2B5EF4-FFF2-40B4-BE49-F238E27FC236}">
                <a16:creationId xmlns:a16="http://schemas.microsoft.com/office/drawing/2014/main" id="{055D5394-37CA-84CC-2C47-37FA5C520C44}"/>
              </a:ext>
            </a:extLst>
          </p:cNvPr>
          <p:cNvPicPr>
            <a:picLocks noChangeAspect="1"/>
          </p:cNvPicPr>
          <p:nvPr/>
        </p:nvPicPr>
        <p:blipFill>
          <a:blip r:embed="rId3"/>
          <a:stretch>
            <a:fillRect/>
          </a:stretch>
        </p:blipFill>
        <p:spPr>
          <a:xfrm>
            <a:off x="10930270" y="48128"/>
            <a:ext cx="1136947" cy="725711"/>
          </a:xfrm>
          <a:prstGeom prst="rect">
            <a:avLst/>
          </a:prstGeom>
        </p:spPr>
      </p:pic>
      <p:graphicFrame>
        <p:nvGraphicFramePr>
          <p:cNvPr id="13" name="TextBox 8">
            <a:extLst>
              <a:ext uri="{FF2B5EF4-FFF2-40B4-BE49-F238E27FC236}">
                <a16:creationId xmlns:a16="http://schemas.microsoft.com/office/drawing/2014/main" id="{1B200A4B-FB03-50FD-BF7A-86CD70842198}"/>
              </a:ext>
            </a:extLst>
          </p:cNvPr>
          <p:cNvGraphicFramePr/>
          <p:nvPr/>
        </p:nvGraphicFramePr>
        <p:xfrm>
          <a:off x="414670" y="2667370"/>
          <a:ext cx="11106770" cy="28346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15835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graphicEl>
                                              <a:dgm id="{5C42ED28-DF58-0844-A8E0-AD2317C1216F}"/>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graphicEl>
                                              <a:dgm id="{40039C22-6A2A-8641-865F-0D66910D19DF}"/>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graphicEl>
                                              <a:dgm id="{2F4DF706-84ED-0B4B-B031-01C2171FFEF4}"/>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graphicEl>
                                              <a:dgm id="{AE487379-C35A-E847-9BF5-805827FA3A4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graphicEl>
                                              <a:dgm id="{0BB15B16-F99F-AA46-94D2-C98A3B2EDA65}"/>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graphicEl>
                                              <a:dgm id="{78FB5BF6-7B46-784C-BDB1-AF3F9B6638C6}"/>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graphicEl>
                                              <a:dgm id="{49D5C668-FDEF-FC4F-99EF-EA43282622EF}"/>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graphicEl>
                                              <a:dgm id="{0475CD1A-E3F8-A64A-B63E-982B1A5675B9}"/>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Graphic spid="13" grpId="0">
        <p:bldSub>
          <a:bldDgm bld="lvl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804672"/>
          </a:xfrm>
          <a:prstGeom prst="rect">
            <a:avLst/>
          </a:prstGeom>
          <a:solidFill>
            <a:srgbClr val="6F7D83"/>
          </a:solidFill>
          <a:ln w="12700">
            <a:solidFill>
              <a:srgbClr val="6F7D83"/>
            </a:solidFill>
            <a:prstDash val="solid"/>
          </a:ln>
        </p:spPr>
        <p:txBody>
          <a:bodyPr/>
          <a:lstStyle/>
          <a:p>
            <a:endParaRPr lang="en-US"/>
          </a:p>
        </p:txBody>
      </p:sp>
      <p:sp>
        <p:nvSpPr>
          <p:cNvPr id="3" name="Text 1"/>
          <p:cNvSpPr/>
          <p:nvPr/>
        </p:nvSpPr>
        <p:spPr>
          <a:xfrm>
            <a:off x="502920" y="146304"/>
            <a:ext cx="11155680" cy="420624"/>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A Clean Merge Does Not Guarantee a Correct Patch</a:t>
            </a:r>
            <a:endParaRPr lang="en-US" sz="2700" dirty="0"/>
          </a:p>
        </p:txBody>
      </p:sp>
      <p:sp>
        <p:nvSpPr>
          <p:cNvPr id="4" name="Text 2"/>
          <p:cNvSpPr/>
          <p:nvPr/>
        </p:nvSpPr>
        <p:spPr>
          <a:xfrm>
            <a:off x="594360" y="960120"/>
            <a:ext cx="10972800" cy="411480"/>
          </a:xfrm>
          <a:prstGeom prst="rect">
            <a:avLst/>
          </a:prstGeom>
          <a:noFill/>
          <a:ln/>
        </p:spPr>
        <p:txBody>
          <a:bodyPr wrap="square" lIns="0" tIns="0" rIns="0" bIns="0" rtlCol="0" anchor="ctr"/>
          <a:lstStyle/>
          <a:p>
            <a:pPr marL="0" indent="0">
              <a:buNone/>
            </a:pPr>
            <a:r>
              <a:rPr lang="en-US" sz="1600" b="1" dirty="0">
                <a:solidFill>
                  <a:srgbClr val="172033"/>
                </a:solidFill>
                <a:latin typeface="Arial" panose="020B0604020202020204" pitchFamily="34" charset="0"/>
                <a:cs typeface="Arial" panose="020B0604020202020204" pitchFamily="34" charset="0"/>
              </a:rPr>
              <a:t>Conflict resolution only tells us the patch can be applied. We still need evidence behaves correctly.</a:t>
            </a:r>
            <a:endParaRPr lang="en-US" sz="1600" dirty="0">
              <a:latin typeface="Arial" panose="020B0604020202020204" pitchFamily="34" charset="0"/>
              <a:cs typeface="Arial" panose="020B0604020202020204" pitchFamily="34" charset="0"/>
            </a:endParaRPr>
          </a:p>
        </p:txBody>
      </p:sp>
      <p:sp>
        <p:nvSpPr>
          <p:cNvPr id="5" name="Shape 3"/>
          <p:cNvSpPr/>
          <p:nvPr/>
        </p:nvSpPr>
        <p:spPr>
          <a:xfrm>
            <a:off x="411480" y="1572768"/>
            <a:ext cx="2176272" cy="2212848"/>
          </a:xfrm>
          <a:prstGeom prst="roundRect">
            <a:avLst>
              <a:gd name="adj" fmla="val 3361"/>
            </a:avLst>
          </a:prstGeom>
          <a:solidFill>
            <a:srgbClr val="EEF4FF"/>
          </a:solidFill>
          <a:ln w="17780">
            <a:solidFill>
              <a:srgbClr val="AFC5EB"/>
            </a:solidFill>
            <a:prstDash val="solid"/>
          </a:ln>
          <a:effectLst>
            <a:outerShdw blurRad="12700" dist="50800" dir="2700000" algn="bl" rotWithShape="0">
              <a:srgbClr val="D5DCE8">
                <a:alpha val="22000"/>
              </a:srgbClr>
            </a:outerShdw>
          </a:effectLst>
        </p:spPr>
        <p:txBody>
          <a:bodyPr/>
          <a:lstStyle/>
          <a:p>
            <a:endParaRPr lang="en-US"/>
          </a:p>
        </p:txBody>
      </p:sp>
      <p:sp>
        <p:nvSpPr>
          <p:cNvPr id="6" name="Shape 4"/>
          <p:cNvSpPr/>
          <p:nvPr/>
        </p:nvSpPr>
        <p:spPr>
          <a:xfrm>
            <a:off x="521208" y="1682496"/>
            <a:ext cx="384048" cy="384048"/>
          </a:xfrm>
          <a:prstGeom prst="ellipse">
            <a:avLst/>
          </a:prstGeom>
          <a:solidFill>
            <a:srgbClr val="2563D8"/>
          </a:solidFill>
          <a:ln w="12700">
            <a:solidFill>
              <a:srgbClr val="2563D8"/>
            </a:solidFill>
            <a:prstDash val="solid"/>
          </a:ln>
        </p:spPr>
        <p:txBody>
          <a:bodyPr/>
          <a:lstStyle/>
          <a:p>
            <a:endParaRPr lang="en-US"/>
          </a:p>
        </p:txBody>
      </p:sp>
      <p:sp>
        <p:nvSpPr>
          <p:cNvPr id="7" name="Text 5"/>
          <p:cNvSpPr/>
          <p:nvPr/>
        </p:nvSpPr>
        <p:spPr>
          <a:xfrm>
            <a:off x="521208" y="1746504"/>
            <a:ext cx="384048" cy="16459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8" name="Text 6"/>
          <p:cNvSpPr/>
          <p:nvPr/>
        </p:nvSpPr>
        <p:spPr>
          <a:xfrm>
            <a:off x="914400" y="1700784"/>
            <a:ext cx="1554480" cy="384048"/>
          </a:xfrm>
          <a:prstGeom prst="rect">
            <a:avLst/>
          </a:prstGeom>
          <a:noFill/>
          <a:ln/>
        </p:spPr>
        <p:txBody>
          <a:bodyPr wrap="square" lIns="0" tIns="0" rIns="0" bIns="0" rtlCol="0" anchor="ctr"/>
          <a:lstStyle/>
          <a:p>
            <a:pPr marL="0" indent="0" algn="ctr">
              <a:buNone/>
            </a:pPr>
            <a:r>
              <a:rPr lang="en-US" sz="1800" b="1" dirty="0">
                <a:solidFill>
                  <a:srgbClr val="172033"/>
                </a:solidFill>
              </a:rPr>
              <a:t>Integrated Patch</a:t>
            </a:r>
            <a:endParaRPr lang="en-US" sz="1800" dirty="0"/>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848" y="2167128"/>
            <a:ext cx="868680" cy="621792"/>
          </a:xfrm>
          <a:prstGeom prst="rect">
            <a:avLst/>
          </a:prstGeom>
        </p:spPr>
      </p:pic>
      <p:sp>
        <p:nvSpPr>
          <p:cNvPr id="10" name="Text 7"/>
          <p:cNvSpPr/>
          <p:nvPr/>
        </p:nvSpPr>
        <p:spPr>
          <a:xfrm>
            <a:off x="612648" y="2916936"/>
            <a:ext cx="1773936" cy="594360"/>
          </a:xfrm>
          <a:prstGeom prst="rect">
            <a:avLst/>
          </a:prstGeom>
          <a:noFill/>
          <a:ln/>
        </p:spPr>
        <p:txBody>
          <a:bodyPr wrap="square" lIns="254" tIns="254" rIns="254" bIns="254" rtlCol="0" anchor="ctr"/>
          <a:lstStyle/>
          <a:p>
            <a:pPr marL="0" indent="0" algn="ctr">
              <a:buNone/>
            </a:pPr>
            <a:r>
              <a:rPr lang="en-US" sz="1320" dirty="0">
                <a:solidFill>
                  <a:srgbClr val="172033"/>
                </a:solidFill>
              </a:rPr>
              <a:t>Patch is applied to the target repository.</a:t>
            </a:r>
            <a:endParaRPr lang="en-US" sz="1320" dirty="0"/>
          </a:p>
        </p:txBody>
      </p:sp>
      <p:sp>
        <p:nvSpPr>
          <p:cNvPr id="11" name="Text 8"/>
          <p:cNvSpPr/>
          <p:nvPr/>
        </p:nvSpPr>
        <p:spPr>
          <a:xfrm>
            <a:off x="2601468" y="2432304"/>
            <a:ext cx="118872" cy="292608"/>
          </a:xfrm>
          <a:prstGeom prst="rect">
            <a:avLst/>
          </a:prstGeom>
          <a:noFill/>
          <a:ln/>
        </p:spPr>
        <p:txBody>
          <a:bodyPr wrap="square" lIns="0" tIns="0" rIns="0" bIns="0" rtlCol="0" anchor="ctr"/>
          <a:lstStyle/>
          <a:p>
            <a:pPr marL="0" indent="0" algn="ctr">
              <a:buNone/>
            </a:pPr>
            <a:r>
              <a:rPr lang="en-US" sz="2300" b="1" dirty="0">
                <a:solidFill>
                  <a:srgbClr val="2563D8"/>
                </a:solidFill>
              </a:rPr>
              <a:t>→</a:t>
            </a:r>
            <a:endParaRPr lang="en-US" sz="2300" dirty="0"/>
          </a:p>
        </p:txBody>
      </p:sp>
      <p:sp>
        <p:nvSpPr>
          <p:cNvPr id="12" name="Shape 9"/>
          <p:cNvSpPr/>
          <p:nvPr/>
        </p:nvSpPr>
        <p:spPr>
          <a:xfrm>
            <a:off x="2734056" y="1572768"/>
            <a:ext cx="2176272" cy="2212848"/>
          </a:xfrm>
          <a:prstGeom prst="roundRect">
            <a:avLst>
              <a:gd name="adj" fmla="val 3361"/>
            </a:avLst>
          </a:prstGeom>
          <a:solidFill>
            <a:srgbClr val="EEF4FF"/>
          </a:solidFill>
          <a:ln w="17780">
            <a:solidFill>
              <a:srgbClr val="AFC5EB"/>
            </a:solidFill>
            <a:prstDash val="solid"/>
          </a:ln>
          <a:effectLst>
            <a:outerShdw blurRad="12700" dist="50800" dir="2700000" algn="bl" rotWithShape="0">
              <a:srgbClr val="D5DCE8">
                <a:alpha val="22000"/>
              </a:srgbClr>
            </a:outerShdw>
          </a:effectLst>
        </p:spPr>
        <p:txBody>
          <a:bodyPr/>
          <a:lstStyle/>
          <a:p>
            <a:endParaRPr lang="en-US"/>
          </a:p>
        </p:txBody>
      </p:sp>
      <p:sp>
        <p:nvSpPr>
          <p:cNvPr id="13" name="Shape 10"/>
          <p:cNvSpPr/>
          <p:nvPr/>
        </p:nvSpPr>
        <p:spPr>
          <a:xfrm>
            <a:off x="2843784" y="1682496"/>
            <a:ext cx="384048" cy="384048"/>
          </a:xfrm>
          <a:prstGeom prst="ellipse">
            <a:avLst/>
          </a:prstGeom>
          <a:solidFill>
            <a:srgbClr val="2563D8"/>
          </a:solidFill>
          <a:ln w="12700">
            <a:solidFill>
              <a:srgbClr val="2563D8"/>
            </a:solidFill>
            <a:prstDash val="solid"/>
          </a:ln>
        </p:spPr>
        <p:txBody>
          <a:bodyPr/>
          <a:lstStyle/>
          <a:p>
            <a:endParaRPr lang="en-US"/>
          </a:p>
        </p:txBody>
      </p:sp>
      <p:sp>
        <p:nvSpPr>
          <p:cNvPr id="14" name="Text 11"/>
          <p:cNvSpPr/>
          <p:nvPr/>
        </p:nvSpPr>
        <p:spPr>
          <a:xfrm>
            <a:off x="2843784" y="1746504"/>
            <a:ext cx="384048" cy="16459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5" name="Text 12"/>
          <p:cNvSpPr/>
          <p:nvPr/>
        </p:nvSpPr>
        <p:spPr>
          <a:xfrm>
            <a:off x="3236976" y="1700784"/>
            <a:ext cx="1554480" cy="384048"/>
          </a:xfrm>
          <a:prstGeom prst="rect">
            <a:avLst/>
          </a:prstGeom>
          <a:noFill/>
          <a:ln/>
        </p:spPr>
        <p:txBody>
          <a:bodyPr wrap="square" lIns="0" tIns="0" rIns="0" bIns="0" rtlCol="0" anchor="ctr"/>
          <a:lstStyle/>
          <a:p>
            <a:pPr marL="0" indent="0" algn="ctr">
              <a:buNone/>
            </a:pPr>
            <a:r>
              <a:rPr lang="en-US" sz="1800" b="1" dirty="0">
                <a:solidFill>
                  <a:srgbClr val="172033"/>
                </a:solidFill>
              </a:rPr>
              <a:t>Build Project</a:t>
            </a:r>
            <a:endParaRPr lang="en-US" sz="1800" dirty="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92424" y="2167128"/>
            <a:ext cx="868680" cy="621792"/>
          </a:xfrm>
          <a:prstGeom prst="rect">
            <a:avLst/>
          </a:prstGeom>
        </p:spPr>
      </p:pic>
      <p:sp>
        <p:nvSpPr>
          <p:cNvPr id="17" name="Text 13"/>
          <p:cNvSpPr/>
          <p:nvPr/>
        </p:nvSpPr>
        <p:spPr>
          <a:xfrm>
            <a:off x="2935224" y="2916936"/>
            <a:ext cx="1773936" cy="594360"/>
          </a:xfrm>
          <a:prstGeom prst="rect">
            <a:avLst/>
          </a:prstGeom>
          <a:noFill/>
          <a:ln/>
        </p:spPr>
        <p:txBody>
          <a:bodyPr wrap="square" lIns="254" tIns="254" rIns="254" bIns="254" rtlCol="0" anchor="ctr"/>
          <a:lstStyle/>
          <a:p>
            <a:pPr marL="0" indent="0" algn="ctr">
              <a:buNone/>
            </a:pPr>
            <a:r>
              <a:rPr lang="en-US" sz="1320" dirty="0">
                <a:solidFill>
                  <a:srgbClr val="172033"/>
                </a:solidFill>
              </a:rPr>
              <a:t>Compile/build the target after integration.</a:t>
            </a:r>
            <a:endParaRPr lang="en-US" sz="1320" dirty="0"/>
          </a:p>
        </p:txBody>
      </p:sp>
      <p:sp>
        <p:nvSpPr>
          <p:cNvPr id="18" name="Text 14"/>
          <p:cNvSpPr/>
          <p:nvPr/>
        </p:nvSpPr>
        <p:spPr>
          <a:xfrm>
            <a:off x="4924044" y="2432304"/>
            <a:ext cx="118872" cy="292608"/>
          </a:xfrm>
          <a:prstGeom prst="rect">
            <a:avLst/>
          </a:prstGeom>
          <a:noFill/>
          <a:ln/>
        </p:spPr>
        <p:txBody>
          <a:bodyPr wrap="square" lIns="0" tIns="0" rIns="0" bIns="0" rtlCol="0" anchor="ctr"/>
          <a:lstStyle/>
          <a:p>
            <a:pPr marL="0" indent="0" algn="ctr">
              <a:buNone/>
            </a:pPr>
            <a:r>
              <a:rPr lang="en-US" sz="2300" b="1" dirty="0">
                <a:solidFill>
                  <a:srgbClr val="2563D8"/>
                </a:solidFill>
              </a:rPr>
              <a:t>→</a:t>
            </a:r>
            <a:endParaRPr lang="en-US" sz="2300" dirty="0"/>
          </a:p>
        </p:txBody>
      </p:sp>
      <p:sp>
        <p:nvSpPr>
          <p:cNvPr id="19" name="Shape 15"/>
          <p:cNvSpPr/>
          <p:nvPr/>
        </p:nvSpPr>
        <p:spPr>
          <a:xfrm>
            <a:off x="5056632" y="1572768"/>
            <a:ext cx="2176272" cy="2212848"/>
          </a:xfrm>
          <a:prstGeom prst="roundRect">
            <a:avLst>
              <a:gd name="adj" fmla="val 3361"/>
            </a:avLst>
          </a:prstGeom>
          <a:solidFill>
            <a:srgbClr val="EEF4FF"/>
          </a:solidFill>
          <a:ln w="17780">
            <a:solidFill>
              <a:srgbClr val="AFC5EB"/>
            </a:solidFill>
            <a:prstDash val="solid"/>
          </a:ln>
          <a:effectLst>
            <a:outerShdw blurRad="12700" dist="50800" dir="2700000" algn="bl" rotWithShape="0">
              <a:srgbClr val="D5DCE8">
                <a:alpha val="22000"/>
              </a:srgbClr>
            </a:outerShdw>
          </a:effectLst>
        </p:spPr>
        <p:txBody>
          <a:bodyPr/>
          <a:lstStyle/>
          <a:p>
            <a:endParaRPr lang="en-US"/>
          </a:p>
        </p:txBody>
      </p:sp>
      <p:sp>
        <p:nvSpPr>
          <p:cNvPr id="20" name="Shape 16"/>
          <p:cNvSpPr/>
          <p:nvPr/>
        </p:nvSpPr>
        <p:spPr>
          <a:xfrm>
            <a:off x="5166360" y="1682496"/>
            <a:ext cx="384048" cy="384048"/>
          </a:xfrm>
          <a:prstGeom prst="ellipse">
            <a:avLst/>
          </a:prstGeom>
          <a:solidFill>
            <a:srgbClr val="2563D8"/>
          </a:solidFill>
          <a:ln w="12700">
            <a:solidFill>
              <a:srgbClr val="2563D8"/>
            </a:solidFill>
            <a:prstDash val="solid"/>
          </a:ln>
        </p:spPr>
        <p:txBody>
          <a:bodyPr/>
          <a:lstStyle/>
          <a:p>
            <a:endParaRPr lang="en-US"/>
          </a:p>
        </p:txBody>
      </p:sp>
      <p:sp>
        <p:nvSpPr>
          <p:cNvPr id="21" name="Text 17"/>
          <p:cNvSpPr/>
          <p:nvPr/>
        </p:nvSpPr>
        <p:spPr>
          <a:xfrm>
            <a:off x="5166360" y="1746504"/>
            <a:ext cx="384048" cy="16459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22" name="Text 18"/>
          <p:cNvSpPr/>
          <p:nvPr/>
        </p:nvSpPr>
        <p:spPr>
          <a:xfrm>
            <a:off x="5559552" y="1700784"/>
            <a:ext cx="1554480" cy="384048"/>
          </a:xfrm>
          <a:prstGeom prst="rect">
            <a:avLst/>
          </a:prstGeom>
          <a:noFill/>
          <a:ln/>
        </p:spPr>
        <p:txBody>
          <a:bodyPr wrap="square" lIns="0" tIns="0" rIns="0" bIns="0" rtlCol="0" anchor="ctr"/>
          <a:lstStyle/>
          <a:p>
            <a:pPr marL="0" indent="0" algn="ctr">
              <a:buNone/>
            </a:pPr>
            <a:r>
              <a:rPr lang="en-US" sz="1800" b="1" dirty="0">
                <a:solidFill>
                  <a:srgbClr val="172033"/>
                </a:solidFill>
              </a:rPr>
              <a:t>Targeted Tests</a:t>
            </a:r>
            <a:endParaRPr lang="en-US" sz="1800" dirty="0"/>
          </a:p>
        </p:txBody>
      </p:sp>
      <p:pic>
        <p:nvPicPr>
          <p:cNvPr id="2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15000" y="2167128"/>
            <a:ext cx="868680" cy="621792"/>
          </a:xfrm>
          <a:prstGeom prst="rect">
            <a:avLst/>
          </a:prstGeom>
        </p:spPr>
      </p:pic>
      <p:sp>
        <p:nvSpPr>
          <p:cNvPr id="24" name="Text 19"/>
          <p:cNvSpPr/>
          <p:nvPr/>
        </p:nvSpPr>
        <p:spPr>
          <a:xfrm>
            <a:off x="5257800" y="2916936"/>
            <a:ext cx="1773936" cy="594360"/>
          </a:xfrm>
          <a:prstGeom prst="rect">
            <a:avLst/>
          </a:prstGeom>
          <a:noFill/>
          <a:ln/>
        </p:spPr>
        <p:txBody>
          <a:bodyPr wrap="square" lIns="254" tIns="254" rIns="254" bIns="254" rtlCol="0" anchor="ctr"/>
          <a:lstStyle/>
          <a:p>
            <a:pPr marL="0" indent="0" algn="ctr">
              <a:buNone/>
            </a:pPr>
            <a:r>
              <a:rPr lang="en-US" sz="1320" dirty="0">
                <a:solidFill>
                  <a:srgbClr val="172033"/>
                </a:solidFill>
              </a:rPr>
              <a:t>Test the changed behavior and nearby collaborators.</a:t>
            </a:r>
            <a:endParaRPr lang="en-US" sz="1320" dirty="0"/>
          </a:p>
        </p:txBody>
      </p:sp>
      <p:sp>
        <p:nvSpPr>
          <p:cNvPr id="25" name="Text 20"/>
          <p:cNvSpPr/>
          <p:nvPr/>
        </p:nvSpPr>
        <p:spPr>
          <a:xfrm>
            <a:off x="7246620" y="2432304"/>
            <a:ext cx="118872" cy="292608"/>
          </a:xfrm>
          <a:prstGeom prst="rect">
            <a:avLst/>
          </a:prstGeom>
          <a:noFill/>
          <a:ln/>
        </p:spPr>
        <p:txBody>
          <a:bodyPr wrap="square" lIns="0" tIns="0" rIns="0" bIns="0" rtlCol="0" anchor="ctr"/>
          <a:lstStyle/>
          <a:p>
            <a:pPr marL="0" indent="0" algn="ctr">
              <a:buNone/>
            </a:pPr>
            <a:r>
              <a:rPr lang="en-US" sz="2300" b="1" dirty="0">
                <a:solidFill>
                  <a:srgbClr val="2563D8"/>
                </a:solidFill>
              </a:rPr>
              <a:t>→</a:t>
            </a:r>
            <a:endParaRPr lang="en-US" sz="2300" dirty="0"/>
          </a:p>
        </p:txBody>
      </p:sp>
      <p:sp>
        <p:nvSpPr>
          <p:cNvPr id="26" name="Shape 21"/>
          <p:cNvSpPr/>
          <p:nvPr/>
        </p:nvSpPr>
        <p:spPr>
          <a:xfrm>
            <a:off x="7379208" y="1572768"/>
            <a:ext cx="2176272" cy="2212848"/>
          </a:xfrm>
          <a:prstGeom prst="roundRect">
            <a:avLst>
              <a:gd name="adj" fmla="val 3361"/>
            </a:avLst>
          </a:prstGeom>
          <a:solidFill>
            <a:srgbClr val="EEF4FF"/>
          </a:solidFill>
          <a:ln w="17780">
            <a:solidFill>
              <a:srgbClr val="AFC5EB"/>
            </a:solidFill>
            <a:prstDash val="solid"/>
          </a:ln>
          <a:effectLst>
            <a:outerShdw blurRad="12700" dist="50800" dir="2700000" algn="bl" rotWithShape="0">
              <a:srgbClr val="D5DCE8">
                <a:alpha val="22000"/>
              </a:srgbClr>
            </a:outerShdw>
          </a:effectLst>
        </p:spPr>
        <p:txBody>
          <a:bodyPr/>
          <a:lstStyle/>
          <a:p>
            <a:endParaRPr lang="en-US"/>
          </a:p>
        </p:txBody>
      </p:sp>
      <p:sp>
        <p:nvSpPr>
          <p:cNvPr id="27" name="Shape 22"/>
          <p:cNvSpPr/>
          <p:nvPr/>
        </p:nvSpPr>
        <p:spPr>
          <a:xfrm>
            <a:off x="7488936" y="1682496"/>
            <a:ext cx="384048" cy="384048"/>
          </a:xfrm>
          <a:prstGeom prst="ellipse">
            <a:avLst/>
          </a:prstGeom>
          <a:solidFill>
            <a:srgbClr val="2563D8"/>
          </a:solidFill>
          <a:ln w="12700">
            <a:solidFill>
              <a:srgbClr val="2563D8"/>
            </a:solidFill>
            <a:prstDash val="solid"/>
          </a:ln>
        </p:spPr>
        <p:txBody>
          <a:bodyPr/>
          <a:lstStyle/>
          <a:p>
            <a:endParaRPr lang="en-US"/>
          </a:p>
        </p:txBody>
      </p:sp>
      <p:sp>
        <p:nvSpPr>
          <p:cNvPr id="28" name="Text 23"/>
          <p:cNvSpPr/>
          <p:nvPr/>
        </p:nvSpPr>
        <p:spPr>
          <a:xfrm>
            <a:off x="7488936" y="1746504"/>
            <a:ext cx="384048" cy="164592"/>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9" name="Text 24"/>
          <p:cNvSpPr/>
          <p:nvPr/>
        </p:nvSpPr>
        <p:spPr>
          <a:xfrm>
            <a:off x="7882128" y="1700784"/>
            <a:ext cx="1554480" cy="384048"/>
          </a:xfrm>
          <a:prstGeom prst="rect">
            <a:avLst/>
          </a:prstGeom>
          <a:noFill/>
          <a:ln/>
        </p:spPr>
        <p:txBody>
          <a:bodyPr wrap="square" lIns="0" tIns="0" rIns="0" bIns="0" rtlCol="0" anchor="ctr"/>
          <a:lstStyle/>
          <a:p>
            <a:pPr marL="0" indent="0" algn="ctr">
              <a:buNone/>
            </a:pPr>
            <a:r>
              <a:rPr lang="en-US" sz="1800" b="1" dirty="0">
                <a:solidFill>
                  <a:srgbClr val="172033"/>
                </a:solidFill>
              </a:rPr>
              <a:t>Regression Suite</a:t>
            </a:r>
            <a:endParaRPr lang="en-US" sz="1800" dirty="0"/>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37576" y="2167128"/>
            <a:ext cx="868680" cy="621792"/>
          </a:xfrm>
          <a:prstGeom prst="rect">
            <a:avLst/>
          </a:prstGeom>
        </p:spPr>
      </p:pic>
      <p:sp>
        <p:nvSpPr>
          <p:cNvPr id="31" name="Text 25"/>
          <p:cNvSpPr/>
          <p:nvPr/>
        </p:nvSpPr>
        <p:spPr>
          <a:xfrm>
            <a:off x="7580376" y="2916936"/>
            <a:ext cx="1773936" cy="594360"/>
          </a:xfrm>
          <a:prstGeom prst="rect">
            <a:avLst/>
          </a:prstGeom>
          <a:noFill/>
          <a:ln/>
        </p:spPr>
        <p:txBody>
          <a:bodyPr wrap="square" lIns="254" tIns="254" rIns="254" bIns="254" rtlCol="0" anchor="ctr"/>
          <a:lstStyle/>
          <a:p>
            <a:pPr marL="0" indent="0" algn="ctr">
              <a:buNone/>
            </a:pPr>
            <a:r>
              <a:rPr lang="en-US" sz="1320" dirty="0">
                <a:solidFill>
                  <a:srgbClr val="172033"/>
                </a:solidFill>
              </a:rPr>
              <a:t>Run the existing suite to detect regressions.</a:t>
            </a:r>
            <a:endParaRPr lang="en-US" sz="1320" dirty="0"/>
          </a:p>
        </p:txBody>
      </p:sp>
      <p:sp>
        <p:nvSpPr>
          <p:cNvPr id="32" name="Text 26"/>
          <p:cNvSpPr/>
          <p:nvPr/>
        </p:nvSpPr>
        <p:spPr>
          <a:xfrm>
            <a:off x="9569196" y="2432304"/>
            <a:ext cx="118872" cy="292608"/>
          </a:xfrm>
          <a:prstGeom prst="rect">
            <a:avLst/>
          </a:prstGeom>
          <a:noFill/>
          <a:ln/>
        </p:spPr>
        <p:txBody>
          <a:bodyPr wrap="square" lIns="0" tIns="0" rIns="0" bIns="0" rtlCol="0" anchor="ctr"/>
          <a:lstStyle/>
          <a:p>
            <a:pPr marL="0" indent="0" algn="ctr">
              <a:buNone/>
            </a:pPr>
            <a:r>
              <a:rPr lang="en-US" sz="2300" b="1" dirty="0">
                <a:solidFill>
                  <a:srgbClr val="2563D8"/>
                </a:solidFill>
              </a:rPr>
              <a:t>→</a:t>
            </a:r>
            <a:endParaRPr lang="en-US" sz="2300" dirty="0"/>
          </a:p>
        </p:txBody>
      </p:sp>
      <p:sp>
        <p:nvSpPr>
          <p:cNvPr id="33" name="Shape 27"/>
          <p:cNvSpPr/>
          <p:nvPr/>
        </p:nvSpPr>
        <p:spPr>
          <a:xfrm>
            <a:off x="9701784" y="1572768"/>
            <a:ext cx="2176272" cy="2212848"/>
          </a:xfrm>
          <a:prstGeom prst="roundRect">
            <a:avLst>
              <a:gd name="adj" fmla="val 3361"/>
            </a:avLst>
          </a:prstGeom>
          <a:solidFill>
            <a:srgbClr val="EEF4FF"/>
          </a:solidFill>
          <a:ln w="17780">
            <a:solidFill>
              <a:srgbClr val="AFC5EB"/>
            </a:solidFill>
            <a:prstDash val="solid"/>
          </a:ln>
          <a:effectLst>
            <a:outerShdw blurRad="12700" dist="50800" dir="2700000" algn="bl" rotWithShape="0">
              <a:srgbClr val="D5DCE8">
                <a:alpha val="22000"/>
              </a:srgbClr>
            </a:outerShdw>
          </a:effectLst>
        </p:spPr>
        <p:txBody>
          <a:bodyPr/>
          <a:lstStyle/>
          <a:p>
            <a:endParaRPr lang="en-US"/>
          </a:p>
        </p:txBody>
      </p:sp>
      <p:sp>
        <p:nvSpPr>
          <p:cNvPr id="34" name="Shape 28"/>
          <p:cNvSpPr/>
          <p:nvPr/>
        </p:nvSpPr>
        <p:spPr>
          <a:xfrm>
            <a:off x="9811512" y="1682496"/>
            <a:ext cx="384048" cy="384048"/>
          </a:xfrm>
          <a:prstGeom prst="ellipse">
            <a:avLst/>
          </a:prstGeom>
          <a:solidFill>
            <a:srgbClr val="2563D8"/>
          </a:solidFill>
          <a:ln w="12700">
            <a:solidFill>
              <a:srgbClr val="2563D8"/>
            </a:solidFill>
            <a:prstDash val="solid"/>
          </a:ln>
        </p:spPr>
        <p:txBody>
          <a:bodyPr/>
          <a:lstStyle/>
          <a:p>
            <a:endParaRPr lang="en-US"/>
          </a:p>
        </p:txBody>
      </p:sp>
      <p:sp>
        <p:nvSpPr>
          <p:cNvPr id="35" name="Text 29"/>
          <p:cNvSpPr/>
          <p:nvPr/>
        </p:nvSpPr>
        <p:spPr>
          <a:xfrm>
            <a:off x="9811512" y="1746504"/>
            <a:ext cx="384048" cy="164592"/>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36" name="Text 30"/>
          <p:cNvSpPr/>
          <p:nvPr/>
        </p:nvSpPr>
        <p:spPr>
          <a:xfrm>
            <a:off x="10204704" y="1700784"/>
            <a:ext cx="1554480" cy="384048"/>
          </a:xfrm>
          <a:prstGeom prst="rect">
            <a:avLst/>
          </a:prstGeom>
          <a:noFill/>
          <a:ln/>
        </p:spPr>
        <p:txBody>
          <a:bodyPr wrap="square" lIns="0" tIns="0" rIns="0" bIns="0" rtlCol="0" anchor="ctr"/>
          <a:lstStyle/>
          <a:p>
            <a:pPr marL="0" indent="0" algn="ctr">
              <a:buNone/>
            </a:pPr>
            <a:r>
              <a:rPr lang="en-US" sz="1800" b="1" dirty="0">
                <a:solidFill>
                  <a:srgbClr val="172033"/>
                </a:solidFill>
              </a:rPr>
              <a:t>Validated Integration</a:t>
            </a:r>
            <a:endParaRPr lang="en-US" sz="1800" dirty="0"/>
          </a:p>
        </p:txBody>
      </p:sp>
      <p:pic>
        <p:nvPicPr>
          <p:cNvPr id="37"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60152" y="2167128"/>
            <a:ext cx="868680" cy="621792"/>
          </a:xfrm>
          <a:prstGeom prst="rect">
            <a:avLst/>
          </a:prstGeom>
        </p:spPr>
      </p:pic>
      <p:sp>
        <p:nvSpPr>
          <p:cNvPr id="38" name="Text 31"/>
          <p:cNvSpPr/>
          <p:nvPr/>
        </p:nvSpPr>
        <p:spPr>
          <a:xfrm>
            <a:off x="9902952" y="2916936"/>
            <a:ext cx="1773936" cy="594360"/>
          </a:xfrm>
          <a:prstGeom prst="rect">
            <a:avLst/>
          </a:prstGeom>
          <a:noFill/>
          <a:ln/>
        </p:spPr>
        <p:txBody>
          <a:bodyPr wrap="square" lIns="254" tIns="254" rIns="254" bIns="254" rtlCol="0" anchor="ctr"/>
          <a:lstStyle/>
          <a:p>
            <a:pPr marL="0" indent="0" algn="ctr">
              <a:buNone/>
            </a:pPr>
            <a:r>
              <a:rPr lang="en-US" sz="1320" dirty="0">
                <a:solidFill>
                  <a:srgbClr val="172033"/>
                </a:solidFill>
              </a:rPr>
              <a:t>Accept only when build and tests provide evidence.</a:t>
            </a:r>
            <a:endParaRPr lang="en-US" sz="1320" dirty="0"/>
          </a:p>
        </p:txBody>
      </p:sp>
      <p:sp>
        <p:nvSpPr>
          <p:cNvPr id="39" name="Shape 32"/>
          <p:cNvSpPr/>
          <p:nvPr/>
        </p:nvSpPr>
        <p:spPr>
          <a:xfrm>
            <a:off x="685800" y="3977640"/>
            <a:ext cx="10817352" cy="813816"/>
          </a:xfrm>
          <a:prstGeom prst="roundRect">
            <a:avLst/>
          </a:prstGeom>
          <a:solidFill>
            <a:srgbClr val="FFF4F1"/>
          </a:solidFill>
          <a:ln w="15240">
            <a:solidFill>
              <a:srgbClr val="E8A59D"/>
            </a:solidFill>
            <a:prstDash val="solid"/>
          </a:ln>
        </p:spPr>
        <p:txBody>
          <a:bodyPr/>
          <a:lstStyle/>
          <a:p>
            <a:endParaRPr lang="en-US"/>
          </a:p>
        </p:txBody>
      </p:sp>
      <p:sp>
        <p:nvSpPr>
          <p:cNvPr id="40" name="Text 33"/>
          <p:cNvSpPr/>
          <p:nvPr/>
        </p:nvSpPr>
        <p:spPr>
          <a:xfrm>
            <a:off x="914400" y="4242816"/>
            <a:ext cx="10332720" cy="201168"/>
          </a:xfrm>
          <a:prstGeom prst="rect">
            <a:avLst/>
          </a:prstGeom>
          <a:noFill/>
          <a:ln/>
        </p:spPr>
        <p:txBody>
          <a:bodyPr wrap="square" lIns="0" tIns="0" rIns="0" bIns="0" rtlCol="0" anchor="ctr"/>
          <a:lstStyle/>
          <a:p>
            <a:pPr marL="0" indent="0" algn="ctr">
              <a:buNone/>
            </a:pPr>
            <a:r>
              <a:rPr lang="en-US" sz="1650" dirty="0">
                <a:solidFill>
                  <a:srgbClr val="172033"/>
                </a:solidFill>
              </a:rPr>
              <a:t>A patch may merge and still </a:t>
            </a:r>
            <a:r>
              <a:rPr lang="en-US" sz="1650" b="1" dirty="0">
                <a:solidFill>
                  <a:srgbClr val="C92E21"/>
                </a:solidFill>
              </a:rPr>
              <a:t>fail to build</a:t>
            </a:r>
            <a:r>
              <a:rPr lang="en-US" sz="1650" dirty="0">
                <a:solidFill>
                  <a:srgbClr val="172033"/>
                </a:solidFill>
              </a:rPr>
              <a:t>, </a:t>
            </a:r>
            <a:r>
              <a:rPr lang="en-US" sz="1650" b="1" dirty="0">
                <a:solidFill>
                  <a:srgbClr val="C92E21"/>
                </a:solidFill>
              </a:rPr>
              <a:t>fail its intended behavior</a:t>
            </a:r>
            <a:r>
              <a:rPr lang="en-US" sz="1650" dirty="0">
                <a:solidFill>
                  <a:srgbClr val="172033"/>
                </a:solidFill>
              </a:rPr>
              <a:t>, or </a:t>
            </a:r>
            <a:r>
              <a:rPr lang="en-US" sz="1650" b="1" dirty="0">
                <a:solidFill>
                  <a:srgbClr val="C92E21"/>
                </a:solidFill>
              </a:rPr>
              <a:t>regress existing tests</a:t>
            </a:r>
            <a:r>
              <a:rPr lang="en-US" sz="1650" dirty="0">
                <a:solidFill>
                  <a:srgbClr val="172033"/>
                </a:solidFill>
              </a:rPr>
              <a:t>.</a:t>
            </a:r>
          </a:p>
          <a:p>
            <a:pPr algn="ctr"/>
            <a:r>
              <a:rPr lang="en-US" sz="1600" b="1" dirty="0">
                <a:solidFill>
                  <a:srgbClr val="2563D8"/>
                </a:solidFill>
              </a:rPr>
              <a:t>Integration is complete only after the patch is applied, builds successfully, and passes appropriate tests.</a:t>
            </a:r>
            <a:endParaRPr lang="en-US" sz="1600" dirty="0"/>
          </a:p>
        </p:txBody>
      </p:sp>
      <p:sp>
        <p:nvSpPr>
          <p:cNvPr id="41" name="Text 34"/>
          <p:cNvSpPr/>
          <p:nvPr/>
        </p:nvSpPr>
        <p:spPr>
          <a:xfrm>
            <a:off x="658368" y="5002305"/>
            <a:ext cx="5539232" cy="274320"/>
          </a:xfrm>
          <a:prstGeom prst="rect">
            <a:avLst/>
          </a:prstGeom>
          <a:noFill/>
          <a:ln/>
        </p:spPr>
        <p:txBody>
          <a:bodyPr wrap="square" lIns="0" tIns="0" rIns="0" bIns="0" rtlCol="0" anchor="ctr"/>
          <a:lstStyle/>
          <a:p>
            <a:pPr marL="0" indent="0">
              <a:buNone/>
            </a:pPr>
            <a:r>
              <a:rPr lang="en-US" sz="1900" b="1" dirty="0">
                <a:solidFill>
                  <a:srgbClr val="172033"/>
                </a:solidFill>
                <a:latin typeface="Arial" panose="020B0604020202020204" pitchFamily="34" charset="0"/>
                <a:cs typeface="Arial" panose="020B0604020202020204" pitchFamily="34" charset="0"/>
              </a:rPr>
              <a:t>OORP patterns that guide validation</a:t>
            </a:r>
            <a:endParaRPr lang="en-US" sz="1900" dirty="0">
              <a:latin typeface="Arial" panose="020B0604020202020204" pitchFamily="34" charset="0"/>
              <a:cs typeface="Arial" panose="020B0604020202020204" pitchFamily="34" charset="0"/>
            </a:endParaRPr>
          </a:p>
        </p:txBody>
      </p:sp>
      <p:sp>
        <p:nvSpPr>
          <p:cNvPr id="42" name="Shape 35"/>
          <p:cNvSpPr/>
          <p:nvPr/>
        </p:nvSpPr>
        <p:spPr>
          <a:xfrm>
            <a:off x="658368" y="5413785"/>
            <a:ext cx="3456432" cy="960120"/>
          </a:xfrm>
          <a:prstGeom prst="roundRect">
            <a:avLst/>
          </a:prstGeom>
          <a:solidFill>
            <a:srgbClr val="F7F9FC"/>
          </a:solidFill>
          <a:ln w="12700">
            <a:solidFill>
              <a:srgbClr val="D5DCE8"/>
            </a:solidFill>
            <a:prstDash val="solid"/>
          </a:ln>
        </p:spPr>
        <p:txBody>
          <a:bodyPr/>
          <a:lstStyle/>
          <a:p>
            <a:endParaRPr lang="en-US"/>
          </a:p>
        </p:txBody>
      </p:sp>
      <p:sp>
        <p:nvSpPr>
          <p:cNvPr id="43" name="Text 36"/>
          <p:cNvSpPr/>
          <p:nvPr/>
        </p:nvSpPr>
        <p:spPr>
          <a:xfrm>
            <a:off x="822960" y="5541801"/>
            <a:ext cx="3108960" cy="256032"/>
          </a:xfrm>
          <a:prstGeom prst="rect">
            <a:avLst/>
          </a:prstGeom>
          <a:noFill/>
          <a:ln/>
        </p:spPr>
        <p:txBody>
          <a:bodyPr wrap="square" lIns="0" tIns="0" rIns="0" bIns="0" rtlCol="0" anchor="ctr"/>
          <a:lstStyle/>
          <a:p>
            <a:pPr marL="0" indent="0" algn="ctr">
              <a:buNone/>
            </a:pPr>
            <a:r>
              <a:rPr lang="en-US" sz="1520" b="1" i="1" dirty="0">
                <a:solidFill>
                  <a:srgbClr val="172033"/>
                </a:solidFill>
              </a:rPr>
              <a:t>Tests: Your Life Insurance</a:t>
            </a:r>
            <a:endParaRPr lang="en-US" sz="1520" dirty="0"/>
          </a:p>
        </p:txBody>
      </p:sp>
      <p:sp>
        <p:nvSpPr>
          <p:cNvPr id="44" name="Text 37"/>
          <p:cNvSpPr/>
          <p:nvPr/>
        </p:nvSpPr>
        <p:spPr>
          <a:xfrm>
            <a:off x="822960" y="5889273"/>
            <a:ext cx="3108960" cy="228600"/>
          </a:xfrm>
          <a:prstGeom prst="rect">
            <a:avLst/>
          </a:prstGeom>
          <a:noFill/>
          <a:ln/>
        </p:spPr>
        <p:txBody>
          <a:bodyPr wrap="square" lIns="0" tIns="0" rIns="0" bIns="0" rtlCol="0" anchor="ctr"/>
          <a:lstStyle/>
          <a:p>
            <a:pPr marL="0" indent="0" algn="ctr">
              <a:buNone/>
            </a:pPr>
            <a:r>
              <a:rPr lang="en-US" sz="1270" dirty="0">
                <a:solidFill>
                  <a:srgbClr val="536074"/>
                </a:solidFill>
              </a:rPr>
              <a:t>(p.149)  Protect against regressions</a:t>
            </a:r>
            <a:endParaRPr lang="en-US" sz="1270" dirty="0"/>
          </a:p>
        </p:txBody>
      </p:sp>
      <p:sp>
        <p:nvSpPr>
          <p:cNvPr id="45" name="Shape 38"/>
          <p:cNvSpPr/>
          <p:nvPr/>
        </p:nvSpPr>
        <p:spPr>
          <a:xfrm>
            <a:off x="4453128" y="5413785"/>
            <a:ext cx="3456432" cy="960120"/>
          </a:xfrm>
          <a:prstGeom prst="roundRect">
            <a:avLst/>
          </a:prstGeom>
          <a:solidFill>
            <a:srgbClr val="F7F9FC"/>
          </a:solidFill>
          <a:ln w="12700">
            <a:solidFill>
              <a:srgbClr val="D5DCE8"/>
            </a:solidFill>
            <a:prstDash val="solid"/>
          </a:ln>
        </p:spPr>
        <p:txBody>
          <a:bodyPr/>
          <a:lstStyle/>
          <a:p>
            <a:endParaRPr lang="en-US"/>
          </a:p>
        </p:txBody>
      </p:sp>
      <p:sp>
        <p:nvSpPr>
          <p:cNvPr id="46" name="Text 39"/>
          <p:cNvSpPr/>
          <p:nvPr/>
        </p:nvSpPr>
        <p:spPr>
          <a:xfrm>
            <a:off x="4617720" y="5541801"/>
            <a:ext cx="3108960" cy="256032"/>
          </a:xfrm>
          <a:prstGeom prst="rect">
            <a:avLst/>
          </a:prstGeom>
          <a:noFill/>
          <a:ln/>
        </p:spPr>
        <p:txBody>
          <a:bodyPr wrap="square" lIns="0" tIns="0" rIns="0" bIns="0" rtlCol="0" anchor="ctr"/>
          <a:lstStyle/>
          <a:p>
            <a:pPr marL="0" indent="0" algn="ctr">
              <a:buNone/>
            </a:pPr>
            <a:r>
              <a:rPr lang="en-US" sz="1520" b="1" i="1" dirty="0">
                <a:solidFill>
                  <a:srgbClr val="172033"/>
                </a:solidFill>
              </a:rPr>
              <a:t>Grow Your Test Base Incrementally</a:t>
            </a:r>
            <a:endParaRPr lang="en-US" sz="1520" dirty="0"/>
          </a:p>
        </p:txBody>
      </p:sp>
      <p:sp>
        <p:nvSpPr>
          <p:cNvPr id="47" name="Text 40"/>
          <p:cNvSpPr/>
          <p:nvPr/>
        </p:nvSpPr>
        <p:spPr>
          <a:xfrm>
            <a:off x="4617720" y="5889273"/>
            <a:ext cx="3108960" cy="228600"/>
          </a:xfrm>
          <a:prstGeom prst="rect">
            <a:avLst/>
          </a:prstGeom>
          <a:noFill/>
          <a:ln/>
        </p:spPr>
        <p:txBody>
          <a:bodyPr wrap="square" lIns="0" tIns="0" rIns="0" bIns="0" rtlCol="0" anchor="ctr"/>
          <a:lstStyle/>
          <a:p>
            <a:pPr marL="0" indent="0" algn="ctr">
              <a:buNone/>
            </a:pPr>
            <a:r>
              <a:rPr lang="en-US" sz="1270" dirty="0">
                <a:solidFill>
                  <a:srgbClr val="536074"/>
                </a:solidFill>
              </a:rPr>
              <a:t>(p.159)  Add focused tests around the patch</a:t>
            </a:r>
            <a:endParaRPr lang="en-US" sz="1270" dirty="0"/>
          </a:p>
        </p:txBody>
      </p:sp>
      <p:sp>
        <p:nvSpPr>
          <p:cNvPr id="48" name="Shape 41"/>
          <p:cNvSpPr/>
          <p:nvPr/>
        </p:nvSpPr>
        <p:spPr>
          <a:xfrm>
            <a:off x="8247888" y="5413785"/>
            <a:ext cx="3456432" cy="960120"/>
          </a:xfrm>
          <a:prstGeom prst="roundRect">
            <a:avLst/>
          </a:prstGeom>
          <a:solidFill>
            <a:srgbClr val="F7F9FC"/>
          </a:solidFill>
          <a:ln w="12700">
            <a:solidFill>
              <a:srgbClr val="D5DCE8"/>
            </a:solidFill>
            <a:prstDash val="solid"/>
          </a:ln>
        </p:spPr>
        <p:txBody>
          <a:bodyPr/>
          <a:lstStyle/>
          <a:p>
            <a:endParaRPr lang="en-US"/>
          </a:p>
        </p:txBody>
      </p:sp>
      <p:sp>
        <p:nvSpPr>
          <p:cNvPr id="49" name="Text 42"/>
          <p:cNvSpPr/>
          <p:nvPr/>
        </p:nvSpPr>
        <p:spPr>
          <a:xfrm>
            <a:off x="8412480" y="5541801"/>
            <a:ext cx="3108960" cy="256032"/>
          </a:xfrm>
          <a:prstGeom prst="rect">
            <a:avLst/>
          </a:prstGeom>
          <a:noFill/>
          <a:ln/>
        </p:spPr>
        <p:txBody>
          <a:bodyPr wrap="square" lIns="0" tIns="0" rIns="0" bIns="0" rtlCol="0" anchor="ctr"/>
          <a:lstStyle/>
          <a:p>
            <a:pPr marL="0" indent="0" algn="ctr">
              <a:buNone/>
            </a:pPr>
            <a:r>
              <a:rPr lang="en-US" sz="1520" b="1" i="1" dirty="0">
                <a:solidFill>
                  <a:srgbClr val="172033"/>
                </a:solidFill>
              </a:rPr>
              <a:t>Write Tests to Understand</a:t>
            </a:r>
            <a:endParaRPr lang="en-US" sz="1520" dirty="0"/>
          </a:p>
        </p:txBody>
      </p:sp>
      <p:sp>
        <p:nvSpPr>
          <p:cNvPr id="50" name="Text 43"/>
          <p:cNvSpPr/>
          <p:nvPr/>
        </p:nvSpPr>
        <p:spPr>
          <a:xfrm>
            <a:off x="8412480" y="5889273"/>
            <a:ext cx="3108960" cy="228600"/>
          </a:xfrm>
          <a:prstGeom prst="rect">
            <a:avLst/>
          </a:prstGeom>
          <a:noFill/>
          <a:ln/>
        </p:spPr>
        <p:txBody>
          <a:bodyPr wrap="square" lIns="0" tIns="0" rIns="0" bIns="0" rtlCol="0" anchor="ctr"/>
          <a:lstStyle/>
          <a:p>
            <a:pPr marL="0" indent="0" algn="ctr">
              <a:buNone/>
            </a:pPr>
            <a:r>
              <a:rPr lang="en-US" sz="1270" dirty="0">
                <a:solidFill>
                  <a:srgbClr val="536074"/>
                </a:solidFill>
              </a:rPr>
              <a:t>(p.179)  Clarify the intended behavior</a:t>
            </a:r>
            <a:endParaRPr lang="en-US" sz="127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500"/>
                                        <p:tgtEl>
                                          <p:spTgt spid="2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par>
                                <p:cTn id="54" presetID="10" presetClass="entr" presetSubtype="0" fill="hold"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500"/>
                                        <p:tgtEl>
                                          <p:spTgt spid="3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fade">
                                      <p:cBhvr>
                                        <p:cTn id="73" dur="500"/>
                                        <p:tgtEl>
                                          <p:spTgt spid="36"/>
                                        </p:tgtEl>
                                      </p:cBhvr>
                                    </p:animEffect>
                                  </p:childTnLst>
                                </p:cTn>
                              </p:par>
                              <p:par>
                                <p:cTn id="74" presetID="10" presetClass="entr" presetSubtype="0" fill="hold"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500"/>
                                        <p:tgtEl>
                                          <p:spTgt spid="3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fade">
                                      <p:cBhvr>
                                        <p:cTn id="79" dur="500"/>
                                        <p:tgtEl>
                                          <p:spTgt spid="3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3"/>
                                        </p:tgtEl>
                                        <p:attrNameLst>
                                          <p:attrName>style.visibility</p:attrName>
                                        </p:attrNameLst>
                                      </p:cBhvr>
                                      <p:to>
                                        <p:strVal val="visible"/>
                                      </p:to>
                                    </p:set>
                                    <p:animEffect transition="in" filter="fade">
                                      <p:cBhvr>
                                        <p:cTn id="82" dur="500"/>
                                        <p:tgtEl>
                                          <p:spTgt spid="3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animEffect transition="in" filter="fade">
                                      <p:cBhvr>
                                        <p:cTn id="87" dur="500"/>
                                        <p:tgtEl>
                                          <p:spTgt spid="3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1"/>
                                        </p:tgtEl>
                                        <p:attrNameLst>
                                          <p:attrName>style.visibility</p:attrName>
                                        </p:attrNameLst>
                                      </p:cBhvr>
                                      <p:to>
                                        <p:strVal val="visible"/>
                                      </p:to>
                                    </p:set>
                                    <p:animEffect transition="in" filter="fade">
                                      <p:cBhvr>
                                        <p:cTn id="92" dur="500"/>
                                        <p:tgtEl>
                                          <p:spTgt spid="41"/>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2"/>
                                        </p:tgtEl>
                                        <p:attrNameLst>
                                          <p:attrName>style.visibility</p:attrName>
                                        </p:attrNameLst>
                                      </p:cBhvr>
                                      <p:to>
                                        <p:strVal val="visible"/>
                                      </p:to>
                                    </p:set>
                                    <p:animEffect transition="in" filter="fade">
                                      <p:cBhvr>
                                        <p:cTn id="95" dur="500"/>
                                        <p:tgtEl>
                                          <p:spTgt spid="4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3"/>
                                        </p:tgtEl>
                                        <p:attrNameLst>
                                          <p:attrName>style.visibility</p:attrName>
                                        </p:attrNameLst>
                                      </p:cBhvr>
                                      <p:to>
                                        <p:strVal val="visible"/>
                                      </p:to>
                                    </p:set>
                                    <p:animEffect transition="in" filter="fade">
                                      <p:cBhvr>
                                        <p:cTn id="98" dur="500"/>
                                        <p:tgtEl>
                                          <p:spTgt spid="4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4"/>
                                        </p:tgtEl>
                                        <p:attrNameLst>
                                          <p:attrName>style.visibility</p:attrName>
                                        </p:attrNameLst>
                                      </p:cBhvr>
                                      <p:to>
                                        <p:strVal val="visible"/>
                                      </p:to>
                                    </p:set>
                                    <p:animEffect transition="in" filter="fade">
                                      <p:cBhvr>
                                        <p:cTn id="101" dur="500"/>
                                        <p:tgtEl>
                                          <p:spTgt spid="4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fade">
                                      <p:cBhvr>
                                        <p:cTn id="104" dur="500"/>
                                        <p:tgtEl>
                                          <p:spTgt spid="45"/>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500"/>
                                        <p:tgtEl>
                                          <p:spTgt spid="46"/>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7"/>
                                        </p:tgtEl>
                                        <p:attrNameLst>
                                          <p:attrName>style.visibility</p:attrName>
                                        </p:attrNameLst>
                                      </p:cBhvr>
                                      <p:to>
                                        <p:strVal val="visible"/>
                                      </p:to>
                                    </p:set>
                                    <p:animEffect transition="in" filter="fade">
                                      <p:cBhvr>
                                        <p:cTn id="110" dur="500"/>
                                        <p:tgtEl>
                                          <p:spTgt spid="4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8"/>
                                        </p:tgtEl>
                                        <p:attrNameLst>
                                          <p:attrName>style.visibility</p:attrName>
                                        </p:attrNameLst>
                                      </p:cBhvr>
                                      <p:to>
                                        <p:strVal val="visible"/>
                                      </p:to>
                                    </p:set>
                                    <p:animEffect transition="in" filter="fade">
                                      <p:cBhvr>
                                        <p:cTn id="113" dur="500"/>
                                        <p:tgtEl>
                                          <p:spTgt spid="48"/>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9"/>
                                        </p:tgtEl>
                                        <p:attrNameLst>
                                          <p:attrName>style.visibility</p:attrName>
                                        </p:attrNameLst>
                                      </p:cBhvr>
                                      <p:to>
                                        <p:strVal val="visible"/>
                                      </p:to>
                                    </p:set>
                                    <p:animEffect transition="in" filter="fade">
                                      <p:cBhvr>
                                        <p:cTn id="116" dur="500"/>
                                        <p:tgtEl>
                                          <p:spTgt spid="49"/>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50"/>
                                        </p:tgtEl>
                                        <p:attrNameLst>
                                          <p:attrName>style.visibility</p:attrName>
                                        </p:attrNameLst>
                                      </p:cBhvr>
                                      <p:to>
                                        <p:strVal val="visible"/>
                                      </p:to>
                                    </p:set>
                                    <p:animEffect transition="in" filter="fade">
                                      <p:cBhvr>
                                        <p:cTn id="11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5" grpId="0" animBg="1"/>
      <p:bldP spid="17" grpId="0" animBg="1"/>
      <p:bldP spid="18" grpId="0" animBg="1"/>
      <p:bldP spid="19" grpId="0" animBg="1"/>
      <p:bldP spid="20" grpId="0" animBg="1"/>
      <p:bldP spid="22" grpId="0" animBg="1"/>
      <p:bldP spid="24" grpId="0" animBg="1"/>
      <p:bldP spid="25" grpId="0" animBg="1"/>
      <p:bldP spid="26" grpId="0" animBg="1"/>
      <p:bldP spid="27" grpId="0" animBg="1"/>
      <p:bldP spid="29" grpId="0" animBg="1"/>
      <p:bldP spid="31" grpId="0" animBg="1"/>
      <p:bldP spid="32" grpId="0" animBg="1"/>
      <p:bldP spid="33" grpId="0" animBg="1"/>
      <p:bldP spid="34" grpId="0" animBg="1"/>
      <p:bldP spid="36" grpId="0" animBg="1"/>
      <p:bldP spid="38" grpId="0" animBg="1"/>
      <p:bldP spid="39"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1F77D-36A6-F7CB-5AB1-3667731CE503}"/>
              </a:ext>
            </a:extLst>
          </p:cNvPr>
          <p:cNvSpPr>
            <a:spLocks noGrp="1"/>
          </p:cNvSpPr>
          <p:nvPr>
            <p:ph type="title"/>
          </p:nvPr>
        </p:nvSpPr>
        <p:spPr/>
        <p:txBody>
          <a:bodyPr/>
          <a:lstStyle/>
          <a:p>
            <a:r>
              <a:rPr lang="en-BE" b="1" dirty="0"/>
              <a:t>The Project</a:t>
            </a:r>
          </a:p>
        </p:txBody>
      </p:sp>
      <p:sp>
        <p:nvSpPr>
          <p:cNvPr id="3" name="Content Placeholder 2">
            <a:extLst>
              <a:ext uri="{FF2B5EF4-FFF2-40B4-BE49-F238E27FC236}">
                <a16:creationId xmlns:a16="http://schemas.microsoft.com/office/drawing/2014/main" id="{F1669D34-FC72-EB53-B446-B17DD97A5BA6}"/>
              </a:ext>
            </a:extLst>
          </p:cNvPr>
          <p:cNvSpPr>
            <a:spLocks noGrp="1"/>
          </p:cNvSpPr>
          <p:nvPr>
            <p:ph idx="1"/>
          </p:nvPr>
        </p:nvSpPr>
        <p:spPr/>
        <p:txBody>
          <a:bodyPr>
            <a:normAutofit/>
          </a:bodyPr>
          <a:lstStyle/>
          <a:p>
            <a:r>
              <a:rPr lang="en-BE" sz="3600" dirty="0"/>
              <a:t>You will use </a:t>
            </a:r>
            <a:r>
              <a:rPr lang="en-GB" sz="3600" b="1" dirty="0" err="1"/>
              <a:t>RePatch</a:t>
            </a:r>
            <a:r>
              <a:rPr lang="en-BE" sz="3600" dirty="0"/>
              <a:t> with the </a:t>
            </a:r>
            <a:r>
              <a:rPr lang="en-BE" sz="3600" b="1" dirty="0"/>
              <a:t>git cherry-pick</a:t>
            </a:r>
            <a:endParaRPr lang="en-BE" sz="3600" dirty="0"/>
          </a:p>
          <a:p>
            <a:endParaRPr lang="en-BE" sz="3600" dirty="0"/>
          </a:p>
          <a:p>
            <a:r>
              <a:rPr lang="en-BE" sz="3600" dirty="0"/>
              <a:t>You will employ the same approach of mining git logs to extract interesting data for the project.</a:t>
            </a:r>
          </a:p>
          <a:p>
            <a:endParaRPr lang="en-BE" sz="3600" dirty="0"/>
          </a:p>
          <a:p>
            <a:r>
              <a:rPr lang="en-BE" sz="3600" dirty="0"/>
              <a:t>Let us go to the Lab.</a:t>
            </a:r>
          </a:p>
        </p:txBody>
      </p:sp>
    </p:spTree>
    <p:extLst>
      <p:ext uri="{BB962C8B-B14F-4D97-AF65-F5344CB8AC3E}">
        <p14:creationId xmlns:p14="http://schemas.microsoft.com/office/powerpoint/2010/main" val="1448159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7901</TotalTime>
  <Words>3715</Words>
  <Application>Microsoft Macintosh PowerPoint</Application>
  <PresentationFormat>Widescreen</PresentationFormat>
  <Paragraphs>333</Paragraphs>
  <Slides>19</Slides>
  <Notes>17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19</vt:i4>
      </vt:variant>
    </vt:vector>
  </HeadingPairs>
  <TitlesOfParts>
    <vt:vector size="31" baseType="lpstr">
      <vt:lpstr>-apple-system</vt:lpstr>
      <vt:lpstr>Aptos</vt:lpstr>
      <vt:lpstr>Aptos Display</vt:lpstr>
      <vt:lpstr>Arial</vt:lpstr>
      <vt:lpstr>Calibri</vt:lpstr>
      <vt:lpstr>Calibri Light</vt:lpstr>
      <vt:lpstr>Courier New</vt:lpstr>
      <vt:lpstr>NimbusMonL</vt:lpstr>
      <vt:lpstr>NimbusRomNo9L</vt:lpstr>
      <vt:lpstr>Times New Roman</vt:lpstr>
      <vt:lpstr>Wingdings</vt:lpstr>
      <vt:lpstr>Office Theme</vt:lpstr>
      <vt:lpstr>Software Integration</vt:lpstr>
      <vt:lpstr>PowerPoint Presentation</vt:lpstr>
      <vt:lpstr>PowerPoint Presentation</vt:lpstr>
      <vt:lpstr>PowerPoint Presentation</vt:lpstr>
      <vt:lpstr>A Real-World Variant: LinkedIn's Fork of Apache Kafka</vt:lpstr>
      <vt:lpstr>Concrete Example: Missed Opportunity</vt:lpstr>
      <vt:lpstr>  Complex Example 1</vt:lpstr>
      <vt:lpstr>  Complex Example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Integration</dc:title>
  <dc:creator>John Businge</dc:creator>
  <cp:lastModifiedBy>John Businge</cp:lastModifiedBy>
  <cp:revision>47</cp:revision>
  <dcterms:created xsi:type="dcterms:W3CDTF">2022-08-01T13:11:23Z</dcterms:created>
  <dcterms:modified xsi:type="dcterms:W3CDTF">2026-09-24T00:22:28Z</dcterms:modified>
</cp:coreProperties>
</file>